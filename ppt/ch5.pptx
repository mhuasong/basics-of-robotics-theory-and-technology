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5.xml" ContentType="application/vnd.openxmlformats-officedocument.presentationml.tags+xml"/>
  <Override PartName="/ppt/notesSlides/notesSlide28.xml" ContentType="application/vnd.openxmlformats-officedocument.presentationml.notesSlide+xml"/>
  <Override PartName="/ppt/tags/tag36.xml" ContentType="application/vnd.openxmlformats-officedocument.presentationml.tags+xml"/>
  <Override PartName="/ppt/notesSlides/notesSlide29.xml" ContentType="application/vnd.openxmlformats-officedocument.presentationml.notesSlide+xml"/>
  <Override PartName="/ppt/tags/tag37.xml" ContentType="application/vnd.openxmlformats-officedocument.presentationml.tags+xml"/>
  <Override PartName="/ppt/notesSlides/notesSlide30.xml" ContentType="application/vnd.openxmlformats-officedocument.presentationml.notesSlide+xml"/>
  <Override PartName="/ppt/tags/tag38.xml" ContentType="application/vnd.openxmlformats-officedocument.presentationml.tags+xml"/>
  <Override PartName="/ppt/notesSlides/notesSlide31.xml" ContentType="application/vnd.openxmlformats-officedocument.presentationml.notesSlide+xml"/>
  <Override PartName="/ppt/tags/tag39.xml" ContentType="application/vnd.openxmlformats-officedocument.presentationml.tags+xml"/>
  <Override PartName="/ppt/notesSlides/notesSlide32.xml" ContentType="application/vnd.openxmlformats-officedocument.presentationml.notesSlide+xml"/>
  <Override PartName="/ppt/tags/tag40.xml" ContentType="application/vnd.openxmlformats-officedocument.presentationml.tags+xml"/>
  <Override PartName="/ppt/notesSlides/notesSlide33.xml" ContentType="application/vnd.openxmlformats-officedocument.presentationml.notesSlide+xml"/>
  <Override PartName="/ppt/tags/tag41.xml" ContentType="application/vnd.openxmlformats-officedocument.presentationml.tags+xml"/>
  <Override PartName="/ppt/notesSlides/notesSlide34.xml" ContentType="application/vnd.openxmlformats-officedocument.presentationml.notesSlide+xml"/>
  <Override PartName="/ppt/tags/tag42.xml" ContentType="application/vnd.openxmlformats-officedocument.presentationml.tags+xml"/>
  <Override PartName="/ppt/notesSlides/notesSlide35.xml" ContentType="application/vnd.openxmlformats-officedocument.presentationml.notesSlide+xml"/>
  <Override PartName="/ppt/tags/tag43.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44.xml" ContentType="application/vnd.openxmlformats-officedocument.presentationml.tags+xml"/>
  <Override PartName="/ppt/notesSlides/notesSlide39.xml" ContentType="application/vnd.openxmlformats-officedocument.presentationml.notesSlide+xml"/>
  <Override PartName="/ppt/tags/tag45.xml" ContentType="application/vnd.openxmlformats-officedocument.presentationml.tags+xml"/>
  <Override PartName="/ppt/notesSlides/notesSlide40.xml" ContentType="application/vnd.openxmlformats-officedocument.presentationml.notesSlide+xml"/>
  <Override PartName="/ppt/tags/tag46.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47.xml" ContentType="application/vnd.openxmlformats-officedocument.presentationml.tags+xml"/>
  <Override PartName="/ppt/notesSlides/notesSlide45.xml" ContentType="application/vnd.openxmlformats-officedocument.presentationml.notesSlide+xml"/>
  <Override PartName="/ppt/tags/tag48.xml" ContentType="application/vnd.openxmlformats-officedocument.presentationml.tags+xml"/>
  <Override PartName="/ppt/notesSlides/notesSlide46.xml" ContentType="application/vnd.openxmlformats-officedocument.presentationml.notesSlide+xml"/>
  <Override PartName="/ppt/tags/tag49.xml" ContentType="application/vnd.openxmlformats-officedocument.presentationml.tags+xml"/>
  <Override PartName="/ppt/notesSlides/notesSlide47.xml" ContentType="application/vnd.openxmlformats-officedocument.presentationml.notesSlide+xml"/>
  <Override PartName="/ppt/tags/tag50.xml" ContentType="application/vnd.openxmlformats-officedocument.presentationml.tags+xml"/>
  <Override PartName="/ppt/notesSlides/notesSlide48.xml" ContentType="application/vnd.openxmlformats-officedocument.presentationml.notesSlide+xml"/>
  <Override PartName="/ppt/tags/tag51.xml" ContentType="application/vnd.openxmlformats-officedocument.presentationml.tags+xml"/>
  <Override PartName="/ppt/notesSlides/notesSlide49.xml" ContentType="application/vnd.openxmlformats-officedocument.presentationml.notesSlide+xml"/>
  <Override PartName="/ppt/tags/tag52.xml" ContentType="application/vnd.openxmlformats-officedocument.presentationml.tags+xml"/>
  <Override PartName="/ppt/notesSlides/notesSlide50.xml" ContentType="application/vnd.openxmlformats-officedocument.presentationml.notesSlide+xml"/>
  <Override PartName="/ppt/tags/tag53.xml" ContentType="application/vnd.openxmlformats-officedocument.presentationml.tags+xml"/>
  <Override PartName="/ppt/notesSlides/notesSlide51.xml" ContentType="application/vnd.openxmlformats-officedocument.presentationml.notesSlide+xml"/>
  <Override PartName="/ppt/tags/tag54.xml" ContentType="application/vnd.openxmlformats-officedocument.presentationml.tags+xml"/>
  <Override PartName="/ppt/notesSlides/notesSlide52.xml" ContentType="application/vnd.openxmlformats-officedocument.presentationml.notesSlide+xml"/>
  <Override PartName="/ppt/tags/tag55.xml" ContentType="application/vnd.openxmlformats-officedocument.presentationml.tags+xml"/>
  <Override PartName="/ppt/notesSlides/notesSlide53.xml" ContentType="application/vnd.openxmlformats-officedocument.presentationml.notesSlide+xml"/>
  <Override PartName="/ppt/tags/tag56.xml" ContentType="application/vnd.openxmlformats-officedocument.presentationml.tags+xml"/>
  <Override PartName="/ppt/notesSlides/notesSlide54.xml" ContentType="application/vnd.openxmlformats-officedocument.presentationml.notesSlide+xml"/>
  <Override PartName="/ppt/tags/tag57.xml" ContentType="application/vnd.openxmlformats-officedocument.presentationml.tags+xml"/>
  <Override PartName="/ppt/notesSlides/notesSlide55.xml" ContentType="application/vnd.openxmlformats-officedocument.presentationml.notesSlide+xml"/>
  <Override PartName="/ppt/tags/tag58.xml" ContentType="application/vnd.openxmlformats-officedocument.presentationml.tags+xml"/>
  <Override PartName="/ppt/notesSlides/notesSlide56.xml" ContentType="application/vnd.openxmlformats-officedocument.presentationml.notesSlide+xml"/>
  <Override PartName="/ppt/tags/tag59.xml" ContentType="application/vnd.openxmlformats-officedocument.presentationml.tags+xml"/>
  <Override PartName="/ppt/notesSlides/notesSlide57.xml" ContentType="application/vnd.openxmlformats-officedocument.presentationml.notesSlide+xml"/>
  <Override PartName="/ppt/tags/tag60.xml" ContentType="application/vnd.openxmlformats-officedocument.presentationml.tags+xml"/>
  <Override PartName="/ppt/notesSlides/notesSlide58.xml" ContentType="application/vnd.openxmlformats-officedocument.presentationml.notesSlide+xml"/>
  <Override PartName="/ppt/tags/tag61.xml" ContentType="application/vnd.openxmlformats-officedocument.presentationml.tags+xml"/>
  <Override PartName="/ppt/notesSlides/notesSlide59.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60.xml" ContentType="application/vnd.openxmlformats-officedocument.presentationml.notesSlide+xml"/>
  <Override PartName="/ppt/tags/tag64.xml" ContentType="application/vnd.openxmlformats-officedocument.presentationml.tags+xml"/>
  <Override PartName="/ppt/notesSlides/notesSlide61.xml" ContentType="application/vnd.openxmlformats-officedocument.presentationml.notesSlide+xml"/>
  <Override PartName="/ppt/tags/tag65.xml" ContentType="application/vnd.openxmlformats-officedocument.presentationml.tags+xml"/>
  <Override PartName="/ppt/notesSlides/notesSlide62.xml" ContentType="application/vnd.openxmlformats-officedocument.presentationml.notesSlide+xml"/>
  <Override PartName="/ppt/tags/tag66.xml" ContentType="application/vnd.openxmlformats-officedocument.presentationml.tags+xml"/>
  <Override PartName="/ppt/notesSlides/notesSlide63.xml" ContentType="application/vnd.openxmlformats-officedocument.presentationml.notesSlide+xml"/>
  <Override PartName="/ppt/tags/tag67.xml" ContentType="application/vnd.openxmlformats-officedocument.presentationml.tags+xml"/>
  <Override PartName="/ppt/notesSlides/notesSlide64.xml" ContentType="application/vnd.openxmlformats-officedocument.presentationml.notesSlide+xml"/>
  <Override PartName="/ppt/tags/tag68.xml" ContentType="application/vnd.openxmlformats-officedocument.presentationml.tags+xml"/>
  <Override PartName="/ppt/notesSlides/notesSlide65.xml" ContentType="application/vnd.openxmlformats-officedocument.presentationml.notesSlide+xml"/>
  <Override PartName="/ppt/tags/tag69.xml" ContentType="application/vnd.openxmlformats-officedocument.presentationml.tags+xml"/>
  <Override PartName="/ppt/notesSlides/notesSlide66.xml" ContentType="application/vnd.openxmlformats-officedocument.presentationml.notesSlide+xml"/>
  <Override PartName="/ppt/tags/tag70.xml" ContentType="application/vnd.openxmlformats-officedocument.presentationml.tags+xml"/>
  <Override PartName="/ppt/notesSlides/notesSlide67.xml" ContentType="application/vnd.openxmlformats-officedocument.presentationml.notesSlide+xml"/>
  <Override PartName="/ppt/tags/tag71.xml" ContentType="application/vnd.openxmlformats-officedocument.presentationml.tags+xml"/>
  <Override PartName="/ppt/notesSlides/notesSlide68.xml" ContentType="application/vnd.openxmlformats-officedocument.presentationml.notesSlide+xml"/>
  <Override PartName="/ppt/tags/tag72.xml" ContentType="application/vnd.openxmlformats-officedocument.presentationml.tags+xml"/>
  <Override PartName="/ppt/notesSlides/notesSlide69.xml" ContentType="application/vnd.openxmlformats-officedocument.presentationml.notesSlide+xml"/>
  <Override PartName="/ppt/tags/tag73.xml" ContentType="application/vnd.openxmlformats-officedocument.presentationml.tags+xml"/>
  <Override PartName="/ppt/notesSlides/notesSlide70.xml" ContentType="application/vnd.openxmlformats-officedocument.presentationml.notesSlide+xml"/>
  <Override PartName="/ppt/tags/tag74.xml" ContentType="application/vnd.openxmlformats-officedocument.presentationml.tags+xml"/>
  <Override PartName="/ppt/notesSlides/notesSlide71.xml" ContentType="application/vnd.openxmlformats-officedocument.presentationml.notesSlide+xml"/>
  <Override PartName="/ppt/tags/tag75.xml" ContentType="application/vnd.openxmlformats-officedocument.presentationml.tags+xml"/>
  <Override PartName="/ppt/notesSlides/notesSlide72.xml" ContentType="application/vnd.openxmlformats-officedocument.presentationml.notesSlide+xml"/>
  <Override PartName="/ppt/tags/tag76.xml" ContentType="application/vnd.openxmlformats-officedocument.presentationml.tags+xml"/>
  <Override PartName="/ppt/notesSlides/notesSlide73.xml" ContentType="application/vnd.openxmlformats-officedocument.presentationml.notesSlide+xml"/>
  <Override PartName="/ppt/tags/tag77.xml" ContentType="application/vnd.openxmlformats-officedocument.presentationml.tags+xml"/>
  <Override PartName="/ppt/notesSlides/notesSlide74.xml" ContentType="application/vnd.openxmlformats-officedocument.presentationml.notesSlide+xml"/>
  <Override PartName="/ppt/tags/tag78.xml" ContentType="application/vnd.openxmlformats-officedocument.presentationml.tags+xml"/>
  <Override PartName="/ppt/notesSlides/notesSlide75.xml" ContentType="application/vnd.openxmlformats-officedocument.presentationml.notesSlide+xml"/>
  <Override PartName="/ppt/tags/tag79.xml" ContentType="application/vnd.openxmlformats-officedocument.presentationml.tags+xml"/>
  <Override PartName="/ppt/notesSlides/notesSlide76.xml" ContentType="application/vnd.openxmlformats-officedocument.presentationml.notesSlide+xml"/>
  <Override PartName="/ppt/tags/tag80.xml" ContentType="application/vnd.openxmlformats-officedocument.presentationml.tags+xml"/>
  <Override PartName="/ppt/notesSlides/notesSlide77.xml" ContentType="application/vnd.openxmlformats-officedocument.presentationml.notesSlide+xml"/>
  <Override PartName="/ppt/tags/tag81.xml" ContentType="application/vnd.openxmlformats-officedocument.presentationml.tags+xml"/>
  <Override PartName="/ppt/notesSlides/notesSlide78.xml" ContentType="application/vnd.openxmlformats-officedocument.presentationml.notesSlide+xml"/>
  <Override PartName="/ppt/tags/tag82.xml" ContentType="application/vnd.openxmlformats-officedocument.presentationml.tags+xml"/>
  <Override PartName="/ppt/notesSlides/notesSlide79.xml" ContentType="application/vnd.openxmlformats-officedocument.presentationml.notesSlide+xml"/>
  <Override PartName="/ppt/tags/tag83.xml" ContentType="application/vnd.openxmlformats-officedocument.presentationml.tags+xml"/>
  <Override PartName="/ppt/notesSlides/notesSlide80.xml" ContentType="application/vnd.openxmlformats-officedocument.presentationml.notesSlide+xml"/>
  <Override PartName="/ppt/tags/tag84.xml" ContentType="application/vnd.openxmlformats-officedocument.presentationml.tags+xml"/>
  <Override PartName="/ppt/notesSlides/notesSlide81.xml" ContentType="application/vnd.openxmlformats-officedocument.presentationml.notesSlide+xml"/>
  <Override PartName="/ppt/tags/tag85.xml" ContentType="application/vnd.openxmlformats-officedocument.presentationml.tags+xml"/>
  <Override PartName="/ppt/notesSlides/notesSlide82.xml" ContentType="application/vnd.openxmlformats-officedocument.presentationml.notesSlide+xml"/>
  <Override PartName="/ppt/tags/tag86.xml" ContentType="application/vnd.openxmlformats-officedocument.presentationml.tags+xml"/>
  <Override PartName="/ppt/notesSlides/notesSlide83.xml" ContentType="application/vnd.openxmlformats-officedocument.presentationml.notesSlide+xml"/>
  <Override PartName="/ppt/tags/tag87.xml" ContentType="application/vnd.openxmlformats-officedocument.presentationml.tags+xml"/>
  <Override PartName="/ppt/notesSlides/notesSlide84.xml" ContentType="application/vnd.openxmlformats-officedocument.presentationml.notesSlide+xml"/>
  <Override PartName="/ppt/tags/tag88.xml" ContentType="application/vnd.openxmlformats-officedocument.presentationml.tags+xml"/>
  <Override PartName="/ppt/notesSlides/notesSlide85.xml" ContentType="application/vnd.openxmlformats-officedocument.presentationml.notesSlide+xml"/>
  <Override PartName="/ppt/tags/tag89.xml" ContentType="application/vnd.openxmlformats-officedocument.presentationml.tags+xml"/>
  <Override PartName="/ppt/notesSlides/notesSlide86.xml" ContentType="application/vnd.openxmlformats-officedocument.presentationml.notesSlide+xml"/>
  <Override PartName="/ppt/tags/tag90.xml" ContentType="application/vnd.openxmlformats-officedocument.presentationml.tags+xml"/>
  <Override PartName="/ppt/notesSlides/notesSlide87.xml" ContentType="application/vnd.openxmlformats-officedocument.presentationml.notesSlide+xml"/>
  <Override PartName="/ppt/tags/tag91.xml" ContentType="application/vnd.openxmlformats-officedocument.presentationml.tags+xml"/>
  <Override PartName="/ppt/notesSlides/notesSlide88.xml" ContentType="application/vnd.openxmlformats-officedocument.presentationml.notesSlide+xml"/>
  <Override PartName="/ppt/tags/tag92.xml" ContentType="application/vnd.openxmlformats-officedocument.presentationml.tags+xml"/>
  <Override PartName="/ppt/notesSlides/notesSlide89.xml" ContentType="application/vnd.openxmlformats-officedocument.presentationml.notesSlide+xml"/>
  <Override PartName="/ppt/tags/tag93.xml" ContentType="application/vnd.openxmlformats-officedocument.presentationml.tags+xml"/>
  <Override PartName="/ppt/notesSlides/notesSlide90.xml" ContentType="application/vnd.openxmlformats-officedocument.presentationml.notesSlide+xml"/>
  <Override PartName="/ppt/tags/tag94.xml" ContentType="application/vnd.openxmlformats-officedocument.presentationml.tags+xml"/>
  <Override PartName="/ppt/notesSlides/notesSlide91.xml" ContentType="application/vnd.openxmlformats-officedocument.presentationml.notesSlide+xml"/>
  <Override PartName="/ppt/tags/tag95.xml" ContentType="application/vnd.openxmlformats-officedocument.presentationml.tags+xml"/>
  <Override PartName="/ppt/notesSlides/notesSlide92.xml" ContentType="application/vnd.openxmlformats-officedocument.presentationml.notesSlide+xml"/>
  <Override PartName="/ppt/tags/tag96.xml" ContentType="application/vnd.openxmlformats-officedocument.presentationml.tags+xml"/>
  <Override PartName="/ppt/notesSlides/notesSlide93.xml" ContentType="application/vnd.openxmlformats-officedocument.presentationml.notesSlide+xml"/>
  <Override PartName="/ppt/tags/tag97.xml" ContentType="application/vnd.openxmlformats-officedocument.presentationml.tags+xml"/>
  <Override PartName="/ppt/notesSlides/notesSlide94.xml" ContentType="application/vnd.openxmlformats-officedocument.presentationml.notesSlide+xml"/>
  <Override PartName="/ppt/tags/tag98.xml" ContentType="application/vnd.openxmlformats-officedocument.presentationml.tags+xml"/>
  <Override PartName="/ppt/notesSlides/notesSlide95.xml" ContentType="application/vnd.openxmlformats-officedocument.presentationml.notesSlide+xml"/>
  <Override PartName="/ppt/tags/tag99.xml" ContentType="application/vnd.openxmlformats-officedocument.presentationml.tags+xml"/>
  <Override PartName="/ppt/notesSlides/notesSlide96.xml" ContentType="application/vnd.openxmlformats-officedocument.presentationml.notesSlide+xml"/>
  <Override PartName="/ppt/tags/tag100.xml" ContentType="application/vnd.openxmlformats-officedocument.presentationml.tags+xml"/>
  <Override PartName="/ppt/notesSlides/notesSlide97.xml" ContentType="application/vnd.openxmlformats-officedocument.presentationml.notesSlide+xml"/>
  <Override PartName="/ppt/tags/tag101.xml" ContentType="application/vnd.openxmlformats-officedocument.presentationml.tags+xml"/>
  <Override PartName="/ppt/notesSlides/notesSlide98.xml" ContentType="application/vnd.openxmlformats-officedocument.presentationml.notesSlide+xml"/>
  <Override PartName="/ppt/tags/tag102.xml" ContentType="application/vnd.openxmlformats-officedocument.presentationml.tags+xml"/>
  <Override PartName="/ppt/notesSlides/notesSlide99.xml" ContentType="application/vnd.openxmlformats-officedocument.presentationml.notesSlide+xml"/>
  <Override PartName="/ppt/tags/tag103.xml" ContentType="application/vnd.openxmlformats-officedocument.presentationml.tags+xml"/>
  <Override PartName="/ppt/notesSlides/notesSlide100.xml" ContentType="application/vnd.openxmlformats-officedocument.presentationml.notesSlide+xml"/>
  <Override PartName="/ppt/tags/tag104.xml" ContentType="application/vnd.openxmlformats-officedocument.presentationml.tags+xml"/>
  <Override PartName="/ppt/notesSlides/notesSlide101.xml" ContentType="application/vnd.openxmlformats-officedocument.presentationml.notesSlide+xml"/>
  <Override PartName="/ppt/tags/tag105.xml" ContentType="application/vnd.openxmlformats-officedocument.presentationml.tags+xml"/>
  <Override PartName="/ppt/notesSlides/notesSlide102.xml" ContentType="application/vnd.openxmlformats-officedocument.presentationml.notesSlide+xml"/>
  <Override PartName="/ppt/tags/tag106.xml" ContentType="application/vnd.openxmlformats-officedocument.presentationml.tags+xml"/>
  <Override PartName="/ppt/notesSlides/notesSlide103.xml" ContentType="application/vnd.openxmlformats-officedocument.presentationml.notesSlide+xml"/>
  <Override PartName="/ppt/tags/tag107.xml" ContentType="application/vnd.openxmlformats-officedocument.presentationml.tags+xml"/>
  <Override PartName="/ppt/notesSlides/notesSlide104.xml" ContentType="application/vnd.openxmlformats-officedocument.presentationml.notesSlide+xml"/>
  <Override PartName="/ppt/tags/tag108.xml" ContentType="application/vnd.openxmlformats-officedocument.presentationml.tags+xml"/>
  <Override PartName="/ppt/notesSlides/notesSlide105.xml" ContentType="application/vnd.openxmlformats-officedocument.presentationml.notesSlide+xml"/>
  <Override PartName="/ppt/tags/tag109.xml" ContentType="application/vnd.openxmlformats-officedocument.presentationml.tags+xml"/>
  <Override PartName="/ppt/notesSlides/notesSlide106.xml" ContentType="application/vnd.openxmlformats-officedocument.presentationml.notesSlide+xml"/>
  <Override PartName="/ppt/tags/tag110.xml" ContentType="application/vnd.openxmlformats-officedocument.presentationml.tags+xml"/>
  <Override PartName="/ppt/notesSlides/notesSlide107.xml" ContentType="application/vnd.openxmlformats-officedocument.presentationml.notesSlide+xml"/>
  <Override PartName="/ppt/tags/tag111.xml" ContentType="application/vnd.openxmlformats-officedocument.presentationml.tags+xml"/>
  <Override PartName="/ppt/notesSlides/notesSlide108.xml" ContentType="application/vnd.openxmlformats-officedocument.presentationml.notesSlide+xml"/>
  <Override PartName="/ppt/tags/tag112.xml" ContentType="application/vnd.openxmlformats-officedocument.presentationml.tags+xml"/>
  <Override PartName="/ppt/notesSlides/notesSlide109.xml" ContentType="application/vnd.openxmlformats-officedocument.presentationml.notesSlide+xml"/>
  <Override PartName="/ppt/tags/tag113.xml" ContentType="application/vnd.openxmlformats-officedocument.presentationml.tags+xml"/>
  <Override PartName="/ppt/notesSlides/notesSlide110.xml" ContentType="application/vnd.openxmlformats-officedocument.presentationml.notesSlide+xml"/>
  <Override PartName="/ppt/tags/tag114.xml" ContentType="application/vnd.openxmlformats-officedocument.presentationml.tags+xml"/>
  <Override PartName="/ppt/notesSlides/notesSlide111.xml" ContentType="application/vnd.openxmlformats-officedocument.presentationml.notesSlide+xml"/>
  <Override PartName="/ppt/tags/tag115.xml" ContentType="application/vnd.openxmlformats-officedocument.presentationml.tags+xml"/>
  <Override PartName="/ppt/notesSlides/notesSlide112.xml" ContentType="application/vnd.openxmlformats-officedocument.presentationml.notesSlide+xml"/>
  <Override PartName="/ppt/tags/tag116.xml" ContentType="application/vnd.openxmlformats-officedocument.presentationml.tags+xml"/>
  <Override PartName="/ppt/notesSlides/notesSlide113.xml" ContentType="application/vnd.openxmlformats-officedocument.presentationml.notesSlide+xml"/>
  <Override PartName="/ppt/tags/tag117.xml" ContentType="application/vnd.openxmlformats-officedocument.presentationml.tags+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tags/tag118.xml" ContentType="application/vnd.openxmlformats-officedocument.presentationml.tags+xml"/>
  <Override PartName="/ppt/notesSlides/notesSlide116.xml" ContentType="application/vnd.openxmlformats-officedocument.presentationml.notesSlide+xml"/>
  <Override PartName="/ppt/tags/tag119.xml" ContentType="application/vnd.openxmlformats-officedocument.presentationml.tags+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tags/tag120.xml" ContentType="application/vnd.openxmlformats-officedocument.presentationml.tags+xml"/>
  <Override PartName="/ppt/notesSlides/notesSlide119.xml" ContentType="application/vnd.openxmlformats-officedocument.presentationml.notesSlide+xml"/>
  <Override PartName="/ppt/tags/tag121.xml" ContentType="application/vnd.openxmlformats-officedocument.presentationml.tags+xml"/>
  <Override PartName="/ppt/notesSlides/notesSlide120.xml" ContentType="application/vnd.openxmlformats-officedocument.presentationml.notesSlide+xml"/>
  <Override PartName="/ppt/tags/tag122.xml" ContentType="application/vnd.openxmlformats-officedocument.presentationml.tags+xml"/>
  <Override PartName="/ppt/notesSlides/notesSlide121.xml" ContentType="application/vnd.openxmlformats-officedocument.presentationml.notesSlide+xml"/>
  <Override PartName="/ppt/tags/tag123.xml" ContentType="application/vnd.openxmlformats-officedocument.presentationml.tags+xml"/>
  <Override PartName="/ppt/notesSlides/notesSlide122.xml" ContentType="application/vnd.openxmlformats-officedocument.presentationml.notesSlide+xml"/>
  <Override PartName="/ppt/tags/tag124.xml" ContentType="application/vnd.openxmlformats-officedocument.presentationml.tags+xml"/>
  <Override PartName="/ppt/notesSlides/notesSlide123.xml" ContentType="application/vnd.openxmlformats-officedocument.presentationml.notesSlide+xml"/>
  <Override PartName="/ppt/tags/tag125.xml" ContentType="application/vnd.openxmlformats-officedocument.presentationml.tags+xml"/>
  <Override PartName="/ppt/notesSlides/notesSlide124.xml" ContentType="application/vnd.openxmlformats-officedocument.presentationml.notesSlide+xml"/>
  <Override PartName="/ppt/tags/tag126.xml" ContentType="application/vnd.openxmlformats-officedocument.presentationml.tags+xml"/>
  <Override PartName="/ppt/notesSlides/notesSlide125.xml" ContentType="application/vnd.openxmlformats-officedocument.presentationml.notesSlide+xml"/>
  <Override PartName="/ppt/tags/tag127.xml" ContentType="application/vnd.openxmlformats-officedocument.presentationml.tags+xml"/>
  <Override PartName="/ppt/notesSlides/notesSlide126.xml" ContentType="application/vnd.openxmlformats-officedocument.presentationml.notesSlide+xml"/>
  <Override PartName="/ppt/tags/tag128.xml" ContentType="application/vnd.openxmlformats-officedocument.presentationml.tags+xml"/>
  <Override PartName="/ppt/notesSlides/notesSlide127.xml" ContentType="application/vnd.openxmlformats-officedocument.presentationml.notesSlide+xml"/>
  <Override PartName="/ppt/tags/tag129.xml" ContentType="application/vnd.openxmlformats-officedocument.presentationml.tags+xml"/>
  <Override PartName="/ppt/notesSlides/notesSlide128.xml" ContentType="application/vnd.openxmlformats-officedocument.presentationml.notesSlide+xml"/>
  <Override PartName="/ppt/tags/tag130.xml" ContentType="application/vnd.openxmlformats-officedocument.presentationml.tags+xml"/>
  <Override PartName="/ppt/notesSlides/notesSlide129.xml" ContentType="application/vnd.openxmlformats-officedocument.presentationml.notesSlide+xml"/>
  <Override PartName="/ppt/tags/tag131.xml" ContentType="application/vnd.openxmlformats-officedocument.presentationml.tags+xml"/>
  <Override PartName="/ppt/notesSlides/notesSlide130.xml" ContentType="application/vnd.openxmlformats-officedocument.presentationml.notesSlide+xml"/>
  <Override PartName="/ppt/tags/tag132.xml" ContentType="application/vnd.openxmlformats-officedocument.presentationml.tags+xml"/>
  <Override PartName="/ppt/notesSlides/notesSlide131.xml" ContentType="application/vnd.openxmlformats-officedocument.presentationml.notesSlide+xml"/>
  <Override PartName="/ppt/tags/tag133.xml" ContentType="application/vnd.openxmlformats-officedocument.presentationml.tags+xml"/>
  <Override PartName="/ppt/notesSlides/notesSlide132.xml" ContentType="application/vnd.openxmlformats-officedocument.presentationml.notesSlide+xml"/>
  <Override PartName="/ppt/tags/tag134.xml" ContentType="application/vnd.openxmlformats-officedocument.presentationml.tags+xml"/>
  <Override PartName="/ppt/notesSlides/notesSlide133.xml" ContentType="application/vnd.openxmlformats-officedocument.presentationml.notesSlide+xml"/>
  <Override PartName="/ppt/tags/tag135.xml" ContentType="application/vnd.openxmlformats-officedocument.presentationml.tags+xml"/>
  <Override PartName="/ppt/notesSlides/notesSlide134.xml" ContentType="application/vnd.openxmlformats-officedocument.presentationml.notesSlide+xml"/>
  <Override PartName="/ppt/tags/tag136.xml" ContentType="application/vnd.openxmlformats-officedocument.presentationml.tags+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tags/tag137.xml" ContentType="application/vnd.openxmlformats-officedocument.presentationml.tags+xml"/>
  <Override PartName="/ppt/notesSlides/notesSlide137.xml" ContentType="application/vnd.openxmlformats-officedocument.presentationml.notesSlide+xml"/>
  <Override PartName="/ppt/tags/tag138.xml" ContentType="application/vnd.openxmlformats-officedocument.presentationml.tags+xml"/>
  <Override PartName="/ppt/notesSlides/notesSlide138.xml" ContentType="application/vnd.openxmlformats-officedocument.presentationml.notesSlide+xml"/>
  <Override PartName="/ppt/tags/tag139.xml" ContentType="application/vnd.openxmlformats-officedocument.presentationml.tags+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tags/tag140.xml" ContentType="application/vnd.openxmlformats-officedocument.presentationml.tags+xml"/>
  <Override PartName="/ppt/notesSlides/notesSlide141.xml" ContentType="application/vnd.openxmlformats-officedocument.presentationml.notesSlide+xml"/>
  <Override PartName="/ppt/tags/tag141.xml" ContentType="application/vnd.openxmlformats-officedocument.presentationml.tags+xml"/>
  <Override PartName="/ppt/notesSlides/notesSlide142.xml" ContentType="application/vnd.openxmlformats-officedocument.presentationml.notesSlide+xml"/>
  <Override PartName="/ppt/tags/tag142.xml" ContentType="application/vnd.openxmlformats-officedocument.presentationml.tags+xml"/>
  <Override PartName="/ppt/notesSlides/notesSlide143.xml" ContentType="application/vnd.openxmlformats-officedocument.presentationml.notesSlide+xml"/>
  <Override PartName="/ppt/tags/tag143.xml" ContentType="application/vnd.openxmlformats-officedocument.presentationml.tags+xml"/>
  <Override PartName="/ppt/notesSlides/notesSlide144.xml" ContentType="application/vnd.openxmlformats-officedocument.presentationml.notesSlide+xml"/>
  <Override PartName="/ppt/tags/tag144.xml" ContentType="application/vnd.openxmlformats-officedocument.presentationml.tags+xml"/>
  <Override PartName="/ppt/notesSlides/notesSlide145.xml" ContentType="application/vnd.openxmlformats-officedocument.presentationml.notesSlide+xml"/>
  <Override PartName="/ppt/tags/tag145.xml" ContentType="application/vnd.openxmlformats-officedocument.presentationml.tags+xml"/>
  <Override PartName="/ppt/notesSlides/notesSlide146.xml" ContentType="application/vnd.openxmlformats-officedocument.presentationml.notesSlide+xml"/>
  <Override PartName="/ppt/notesSlides/notesSlide1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2"/>
  </p:sldMasterIdLst>
  <p:notesMasterIdLst>
    <p:notesMasterId r:id="rId152"/>
  </p:notesMasterIdLst>
  <p:handoutMasterIdLst>
    <p:handoutMasterId r:id="rId153"/>
  </p:handoutMasterIdLst>
  <p:sldIdLst>
    <p:sldId id="565" r:id="rId3"/>
    <p:sldId id="568" r:id="rId4"/>
    <p:sldId id="403" r:id="rId5"/>
    <p:sldId id="284" r:id="rId6"/>
    <p:sldId id="404" r:id="rId7"/>
    <p:sldId id="406" r:id="rId8"/>
    <p:sldId id="407"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540" r:id="rId38"/>
    <p:sldId id="436" r:id="rId39"/>
    <p:sldId id="437" r:id="rId40"/>
    <p:sldId id="438" r:id="rId41"/>
    <p:sldId id="439" r:id="rId42"/>
    <p:sldId id="440" r:id="rId43"/>
    <p:sldId id="442" r:id="rId44"/>
    <p:sldId id="443" r:id="rId45"/>
    <p:sldId id="444" r:id="rId46"/>
    <p:sldId id="445" r:id="rId47"/>
    <p:sldId id="459" r:id="rId48"/>
    <p:sldId id="460" r:id="rId49"/>
    <p:sldId id="461" r:id="rId50"/>
    <p:sldId id="462" r:id="rId51"/>
    <p:sldId id="463" r:id="rId52"/>
    <p:sldId id="464" r:id="rId53"/>
    <p:sldId id="465" r:id="rId54"/>
    <p:sldId id="446" r:id="rId55"/>
    <p:sldId id="447" r:id="rId56"/>
    <p:sldId id="448" r:id="rId57"/>
    <p:sldId id="449" r:id="rId58"/>
    <p:sldId id="450" r:id="rId59"/>
    <p:sldId id="451" r:id="rId60"/>
    <p:sldId id="452" r:id="rId61"/>
    <p:sldId id="566" r:id="rId62"/>
    <p:sldId id="453" r:id="rId63"/>
    <p:sldId id="454" r:id="rId64"/>
    <p:sldId id="455" r:id="rId65"/>
    <p:sldId id="456" r:id="rId66"/>
    <p:sldId id="457" r:id="rId67"/>
    <p:sldId id="458" r:id="rId68"/>
    <p:sldId id="466" r:id="rId69"/>
    <p:sldId id="467" r:id="rId70"/>
    <p:sldId id="468" r:id="rId71"/>
    <p:sldId id="469" r:id="rId72"/>
    <p:sldId id="470" r:id="rId73"/>
    <p:sldId id="471" r:id="rId74"/>
    <p:sldId id="472" r:id="rId75"/>
    <p:sldId id="473" r:id="rId76"/>
    <p:sldId id="474" r:id="rId77"/>
    <p:sldId id="475" r:id="rId78"/>
    <p:sldId id="476" r:id="rId79"/>
    <p:sldId id="477" r:id="rId80"/>
    <p:sldId id="478" r:id="rId81"/>
    <p:sldId id="479" r:id="rId82"/>
    <p:sldId id="480" r:id="rId83"/>
    <p:sldId id="481" r:id="rId84"/>
    <p:sldId id="482" r:id="rId85"/>
    <p:sldId id="483" r:id="rId86"/>
    <p:sldId id="484" r:id="rId87"/>
    <p:sldId id="485" r:id="rId88"/>
    <p:sldId id="486" r:id="rId89"/>
    <p:sldId id="487" r:id="rId90"/>
    <p:sldId id="488" r:id="rId91"/>
    <p:sldId id="489" r:id="rId92"/>
    <p:sldId id="490" r:id="rId93"/>
    <p:sldId id="491" r:id="rId94"/>
    <p:sldId id="492" r:id="rId95"/>
    <p:sldId id="493" r:id="rId96"/>
    <p:sldId id="494" r:id="rId97"/>
    <p:sldId id="542" r:id="rId98"/>
    <p:sldId id="496" r:id="rId99"/>
    <p:sldId id="497" r:id="rId100"/>
    <p:sldId id="498" r:id="rId101"/>
    <p:sldId id="499" r:id="rId102"/>
    <p:sldId id="500" r:id="rId103"/>
    <p:sldId id="501" r:id="rId104"/>
    <p:sldId id="502" r:id="rId105"/>
    <p:sldId id="503" r:id="rId106"/>
    <p:sldId id="504" r:id="rId107"/>
    <p:sldId id="505" r:id="rId108"/>
    <p:sldId id="506" r:id="rId109"/>
    <p:sldId id="507" r:id="rId110"/>
    <p:sldId id="508" r:id="rId111"/>
    <p:sldId id="509" r:id="rId112"/>
    <p:sldId id="510" r:id="rId113"/>
    <p:sldId id="511" r:id="rId114"/>
    <p:sldId id="512" r:id="rId115"/>
    <p:sldId id="513" r:id="rId116"/>
    <p:sldId id="514" r:id="rId117"/>
    <p:sldId id="515" r:id="rId118"/>
    <p:sldId id="516" r:id="rId119"/>
    <p:sldId id="517" r:id="rId120"/>
    <p:sldId id="555" r:id="rId121"/>
    <p:sldId id="556" r:id="rId122"/>
    <p:sldId id="557" r:id="rId123"/>
    <p:sldId id="558" r:id="rId124"/>
    <p:sldId id="559" r:id="rId125"/>
    <p:sldId id="543" r:id="rId126"/>
    <p:sldId id="544" r:id="rId127"/>
    <p:sldId id="545" r:id="rId128"/>
    <p:sldId id="546" r:id="rId129"/>
    <p:sldId id="547" r:id="rId130"/>
    <p:sldId id="548" r:id="rId131"/>
    <p:sldId id="549" r:id="rId132"/>
    <p:sldId id="550" r:id="rId133"/>
    <p:sldId id="551" r:id="rId134"/>
    <p:sldId id="552" r:id="rId135"/>
    <p:sldId id="560" r:id="rId136"/>
    <p:sldId id="553" r:id="rId137"/>
    <p:sldId id="554" r:id="rId138"/>
    <p:sldId id="534" r:id="rId139"/>
    <p:sldId id="535" r:id="rId140"/>
    <p:sldId id="536" r:id="rId141"/>
    <p:sldId id="537" r:id="rId142"/>
    <p:sldId id="561" r:id="rId143"/>
    <p:sldId id="562" r:id="rId144"/>
    <p:sldId id="563" r:id="rId145"/>
    <p:sldId id="564" r:id="rId146"/>
    <p:sldId id="538" r:id="rId147"/>
    <p:sldId id="539" r:id="rId148"/>
    <p:sldId id="567" r:id="rId149"/>
    <p:sldId id="541" r:id="rId150"/>
    <p:sldId id="399" r:id="rId151"/>
  </p:sldIdLst>
  <p:sldSz cx="9144000" cy="5143500" type="screen16x9"/>
  <p:notesSz cx="6797675" cy="9928225"/>
  <p:custDataLst>
    <p:tags r:id="rId1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8" userDrawn="1">
          <p15:clr>
            <a:srgbClr val="A4A3A4"/>
          </p15:clr>
        </p15:guide>
        <p15:guide id="2" pos="27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FFFF"/>
    <a:srgbClr val="558ED5"/>
    <a:srgbClr val="0065B0"/>
    <a:srgbClr val="268099"/>
    <a:srgbClr val="005CA8"/>
    <a:srgbClr val="4EE5FA"/>
    <a:srgbClr val="0060A8"/>
    <a:srgbClr val="19C3FF"/>
    <a:srgbClr val="00C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81509" autoAdjust="0"/>
  </p:normalViewPr>
  <p:slideViewPr>
    <p:cSldViewPr showGuides="1">
      <p:cViewPr varScale="1">
        <p:scale>
          <a:sx n="118" d="100"/>
          <a:sy n="118" d="100"/>
        </p:scale>
        <p:origin x="612" y="108"/>
      </p:cViewPr>
      <p:guideLst>
        <p:guide orient="horz" pos="1618"/>
        <p:guide pos="2799"/>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tableStyles" Target="tableStyle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commentAuthors" Target="commentAuthor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handoutMaster" Target="handoutMasters/handout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tags" Target="tags/tag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2026/6/2</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2026/6/2</a:t>
            </a:fld>
            <a:endParaRPr lang="zh-CN" altLang="en-US"/>
          </a:p>
        </p:txBody>
      </p:sp>
      <p:sp>
        <p:nvSpPr>
          <p:cNvPr id="4" name="幻灯片图像占位符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8" Type="http://schemas.openxmlformats.org/officeDocument/2006/relationships/hyperlink" Target="http://idm-lab.org/bib/abstracts/papers/aaai02b.pdf" TargetMode="External"/><Relationship Id="rId13" Type="http://schemas.openxmlformats.org/officeDocument/2006/relationships/hyperlink" Target="http://robots.stanford.edu/isrr-papers/final/final-23.pdf" TargetMode="External"/><Relationship Id="rId18" Type="http://schemas.openxmlformats.org/officeDocument/2006/relationships/hyperlink" Target="http://www.springerlink.com/content/n0561782w7008m03/" TargetMode="External"/><Relationship Id="rId3" Type="http://schemas.openxmlformats.org/officeDocument/2006/relationships/hyperlink" Target="http://www.frc.ri.cmu.edu/~axs/doc/icra94.pdf" TargetMode="External"/><Relationship Id="rId21" Type="http://schemas.openxmlformats.org/officeDocument/2006/relationships/hyperlink" Target="http://idm-lab.org/bib/abstracts/papers/aamas10a.pdf" TargetMode="External"/><Relationship Id="rId7" Type="http://schemas.openxmlformats.org/officeDocument/2006/relationships/hyperlink" Target="http://idm-lab.org/bib/abstracts/papers/nips2001.pdf" TargetMode="External"/><Relationship Id="rId12" Type="http://schemas.openxmlformats.org/officeDocument/2006/relationships/hyperlink" Target="http://www.societyofrobots.com/robottheory/Partial_Pathfinding_Using_Map_Abstraction_and_Refinement.pdf" TargetMode="External"/><Relationship Id="rId17" Type="http://schemas.openxmlformats.org/officeDocument/2006/relationships/hyperlink" Target="http://www.springerlink.com/content/b8m2765x57155226/?p=9286afb6eee64ea5b896fbc2c85353e8&amp;pi=24" TargetMode="External"/><Relationship Id="rId2" Type="http://schemas.openxmlformats.org/officeDocument/2006/relationships/slide" Target="../slides/slide106.xml"/><Relationship Id="rId16" Type="http://schemas.openxmlformats.org/officeDocument/2006/relationships/hyperlink" Target="http://www.aamas-conference.org/Proceedings/aamas08/proceedings/pdf/paper/AAMAS08_0026.pdf" TargetMode="External"/><Relationship Id="rId20" Type="http://schemas.openxmlformats.org/officeDocument/2006/relationships/hyperlink" Target="http://www-scf.usc.edu/~xiaoxuns/GFRAstar.pdf" TargetMode="External"/><Relationship Id="rId1" Type="http://schemas.openxmlformats.org/officeDocument/2006/relationships/notesMaster" Target="../notesMasters/notesMaster1.xml"/><Relationship Id="rId6" Type="http://schemas.openxmlformats.org/officeDocument/2006/relationships/hyperlink" Target="http://ccrg.soe.ucsc.edu/publications/shree.ton.pdf" TargetMode="External"/><Relationship Id="rId11" Type="http://schemas.openxmlformats.org/officeDocument/2006/relationships/hyperlink" Target="http://www.cs.cmu.edu/~ggordon/likhachev-etal.anytime-dstar.pdf" TargetMode="External"/><Relationship Id="rId5" Type="http://schemas.openxmlformats.org/officeDocument/2006/relationships/hyperlink" Target="https://docs.google.com/viewer?a=v&amp;q=cache:zl5DSeqQDvIJ:citeseerx.ist.psu.edu/viewdoc/download?doi%3D10.1.1.45.1855%26rep%3Drep1%26type%3Dpdf+&amp;hl=en&amp;gl=us&amp;pid=bl&amp;srcid=ADGEEShxCQw5-dAwiIbERPrsN3LB1ASudaoLuWVkYCmzdnPaai5jfXfnQ8T-XnJHsJDtgY51R24QKbh5S4WfoeLytltIdhDlJ_t294suLQmfDHdVSZO2spndfP2xNF_9KDr0-XQG2tYR&amp;sig=AHIEtbStD21euXGQyOGW75Sk_s_FgtgF7Q&amp;pli=1" TargetMode="External"/><Relationship Id="rId15" Type="http://schemas.openxmlformats.org/officeDocument/2006/relationships/hyperlink" Target="http://harablog.files.wordpress.com/2009/01/haa.pdf" TargetMode="External"/><Relationship Id="rId10" Type="http://schemas.openxmlformats.org/officeDocument/2006/relationships/hyperlink" Target="http://abotea.rsise.anu.edu.au/data/hpastar.pdf" TargetMode="External"/><Relationship Id="rId19" Type="http://schemas.openxmlformats.org/officeDocument/2006/relationships/hyperlink" Target="http://idm-lab.org/bib/abstracts/papers/ijcai09d.pdf" TargetMode="External"/><Relationship Id="rId4" Type="http://schemas.openxmlformats.org/officeDocument/2006/relationships/hyperlink" Target="http://www.frc.ri.cmu.edu/~axs/doc/ijcai95.pdf" TargetMode="External"/><Relationship Id="rId9" Type="http://schemas.openxmlformats.org/officeDocument/2006/relationships/hyperlink" Target="http://www.cs.cmu.edu/~mmv/papers/02aaai-rune.pdf" TargetMode="External"/><Relationship Id="rId14" Type="http://schemas.openxmlformats.org/officeDocument/2006/relationships/hyperlink" Target="http://idm-lab.org/bib/abstracts/papers/jair10b.pdf" TargetMode="External"/><Relationship Id="rId22" Type="http://schemas.openxmlformats.org/officeDocument/2006/relationships/hyperlink" Target="http://www.ifaamas.org/Proceedings/aamas2011/papers/A1_B44.pdf" TargetMode="Externa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前面的运动学章节中，我们描述机器人运动空间的时候，基于是否有非完整运动学约束，定义了“非完整机器人”、“完整机器人”的概念。所谓“完整机器人”，指的是没有非完整运动学约束的机器人，反之，一个非完整机器人具有一个或多个非完整运动学约束。</a:t>
            </a:r>
          </a:p>
          <a:p>
            <a:r>
              <a:rPr lang="zh-CN" altLang="zh-CN" sz="1200" kern="1200" dirty="0" smtClean="0">
                <a:solidFill>
                  <a:schemeClr val="tx1"/>
                </a:solidFill>
                <a:effectLst/>
                <a:latin typeface="+mn-lt"/>
                <a:ea typeface="+mn-ea"/>
                <a:cs typeface="+mn-cs"/>
              </a:rPr>
              <a:t>完整的运动学约束可以被表示为位形变量的显函数，而非完整运动学约束则需要微分关系，通常是非可积的。如果机器人受非完整约束时，由于其不可积性，运动位形约束比较困难，无法通过位形变量的显函数直接控制，需要通过设计某种控制率</a:t>
            </a:r>
            <a:r>
              <a:rPr lang="en-US" altLang="zh-CN" sz="1200" kern="1200" dirty="0" smtClean="0">
                <a:solidFill>
                  <a:schemeClr val="tx1"/>
                </a:solidFill>
                <a:effectLst/>
                <a:latin typeface="+mn-lt"/>
                <a:ea typeface="+mn-ea"/>
                <a:cs typeface="+mn-cs"/>
              </a:rPr>
              <a:t>(control law)</a:t>
            </a:r>
            <a:r>
              <a:rPr lang="zh-CN" altLang="zh-CN" sz="1200" kern="1200" dirty="0" smtClean="0">
                <a:solidFill>
                  <a:schemeClr val="tx1"/>
                </a:solidFill>
                <a:effectLst/>
                <a:latin typeface="+mn-lt"/>
                <a:ea typeface="+mn-ea"/>
                <a:cs typeface="+mn-cs"/>
              </a:rPr>
              <a:t>来减小运动的位形误差。</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所谓机器人</a:t>
            </a:r>
            <a:r>
              <a:rPr lang="zh-CN" altLang="zh-CN" sz="1200" b="1" kern="1200" dirty="0" smtClean="0">
                <a:solidFill>
                  <a:schemeClr val="tx1"/>
                </a:solidFill>
                <a:effectLst/>
                <a:latin typeface="+mn-lt"/>
                <a:ea typeface="+mn-ea"/>
                <a:cs typeface="+mn-cs"/>
              </a:rPr>
              <a:t>路径</a:t>
            </a:r>
            <a:r>
              <a:rPr lang="zh-CN" altLang="zh-CN" sz="1200" kern="1200" dirty="0" smtClean="0">
                <a:solidFill>
                  <a:schemeClr val="tx1"/>
                </a:solidFill>
                <a:effectLst/>
                <a:latin typeface="+mn-lt"/>
                <a:ea typeface="+mn-ea"/>
                <a:cs typeface="+mn-cs"/>
              </a:rPr>
              <a:t>，指机器人从初始位形到目标位形的位形序列，它只是在纯几何尺度上描述这个位形序列。计算这个路径的策略称之为路径规划</a:t>
            </a:r>
            <a:r>
              <a:rPr lang="en-US" altLang="zh-CN" sz="1200" kern="1200" dirty="0" smtClean="0">
                <a:solidFill>
                  <a:schemeClr val="tx1"/>
                </a:solidFill>
                <a:effectLst/>
                <a:latin typeface="+mn-lt"/>
                <a:ea typeface="+mn-ea"/>
                <a:cs typeface="+mn-cs"/>
              </a:rPr>
              <a:t>(path planning)</a:t>
            </a:r>
            <a:r>
              <a:rPr lang="zh-CN" altLang="zh-CN" sz="1200" kern="1200" dirty="0" smtClean="0">
                <a:solidFill>
                  <a:schemeClr val="tx1"/>
                </a:solidFill>
                <a:effectLst/>
                <a:latin typeface="+mn-lt"/>
                <a:ea typeface="+mn-ea"/>
                <a:cs typeface="+mn-cs"/>
              </a:rPr>
              <a:t>。机器人的路径规划问题被描述成，已知机器人的几何描述与环境（机器人工作空间以及障碍物），求解机器人从初始位形运动到目标位形的一条路径，同时机器人在运动的过程中不会碰到任何障碍。</a:t>
            </a:r>
          </a:p>
          <a:p>
            <a:r>
              <a:rPr lang="zh-CN" altLang="zh-CN" sz="1200" kern="1200" dirty="0" smtClean="0">
                <a:solidFill>
                  <a:schemeClr val="tx1"/>
                </a:solidFill>
                <a:effectLst/>
                <a:latin typeface="+mn-lt"/>
                <a:ea typeface="+mn-ea"/>
                <a:cs typeface="+mn-cs"/>
              </a:rPr>
              <a:t>路径规划按其策略地图的适应范围，可分为全局路径规划和局部路径规划。得到规划路径后，需要我们根据实际的机器人运动学模型和约束，设计适当的路径跟随控制算法，将可行路径转化为可行轨迹，使机器人能鲁棒地跟随期望路径。</a:t>
            </a:r>
          </a:p>
          <a:p>
            <a:r>
              <a:rPr lang="zh-CN" altLang="zh-CN" sz="1200" kern="1200" dirty="0" smtClean="0">
                <a:solidFill>
                  <a:schemeClr val="tx1"/>
                </a:solidFill>
                <a:effectLst/>
                <a:latin typeface="+mn-lt"/>
                <a:ea typeface="+mn-ea"/>
                <a:cs typeface="+mn-cs"/>
              </a:rPr>
              <a:t>轨迹则是指机器人从初始位形到目标位形的位形序列和时间标度</a:t>
            </a:r>
            <a:r>
              <a:rPr lang="en-US" altLang="zh-CN" sz="1200" kern="1200" dirty="0" smtClean="0">
                <a:solidFill>
                  <a:schemeClr val="tx1"/>
                </a:solidFill>
                <a:effectLst/>
                <a:latin typeface="+mn-lt"/>
                <a:ea typeface="+mn-ea"/>
                <a:cs typeface="+mn-cs"/>
              </a:rPr>
              <a:t>(time scaling)</a:t>
            </a:r>
            <a:r>
              <a:rPr lang="zh-CN" altLang="zh-CN" sz="1200" kern="1200" dirty="0" smtClean="0">
                <a:solidFill>
                  <a:schemeClr val="tx1"/>
                </a:solidFill>
                <a:effectLst/>
                <a:latin typeface="+mn-lt"/>
                <a:ea typeface="+mn-ea"/>
                <a:cs typeface="+mn-cs"/>
              </a:rPr>
              <a:t>的组合，不仅包含几何尺度的描述，还包含时间约束。</a:t>
            </a:r>
          </a:p>
          <a:p>
            <a:r>
              <a:rPr lang="zh-CN" altLang="zh-CN" sz="1200" kern="1200" dirty="0" smtClean="0">
                <a:solidFill>
                  <a:schemeClr val="tx1"/>
                </a:solidFill>
                <a:effectLst/>
                <a:latin typeface="+mn-lt"/>
                <a:ea typeface="+mn-ea"/>
                <a:cs typeface="+mn-cs"/>
              </a:rPr>
              <a:t>轨迹规划表示为针对机器人以某种前向速度（包括加速度）从初始位形运动到目标位形的路径求解，并且加入了时间约束。同样的，得到规划轨迹后，需要我们根据实际的机器人运动学模型和约束，设计适当的轨迹跟踪控制算法，基于速度控制、位置控制以及航向角控制等方式，控制机器人实现期望的运动。</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包含所有可能机器人位形的</a:t>
                </a:r>
                <a:r>
                  <a:rPr lang="en-US" altLang="zh-CN" sz="1200" i="1"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维空间定义为位形空间</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。此空间的拓扑通常不是笛卡尔空间的拓扑，如图</a:t>
                </a:r>
                <a:r>
                  <a:rPr lang="en-US" altLang="zh-CN" sz="1200" kern="1200" dirty="0">
                    <a:solidFill>
                      <a:schemeClr val="tx1"/>
                    </a:solidFill>
                    <a:effectLst/>
                    <a:latin typeface="+mn-lt"/>
                    <a:ea typeface="+mn-ea"/>
                    <a:cs typeface="+mn-cs"/>
                  </a:rPr>
                  <a:t>5.2</a:t>
                </a:r>
                <a:r>
                  <a:rPr lang="zh-CN" altLang="zh-CN" sz="1200" kern="1200" dirty="0">
                    <a:solidFill>
                      <a:schemeClr val="tx1"/>
                    </a:solidFill>
                    <a:effectLst/>
                    <a:latin typeface="+mn-lt"/>
                    <a:ea typeface="+mn-ea"/>
                    <a:cs typeface="+mn-cs"/>
                  </a:rPr>
                  <a:t>所示，一个平面</a:t>
                </a:r>
                <a:r>
                  <a:rPr lang="en-US" altLang="zh-CN" sz="1200" kern="1200" dirty="0">
                    <a:solidFill>
                      <a:schemeClr val="tx1"/>
                    </a:solidFill>
                    <a:effectLst/>
                    <a:latin typeface="+mn-lt"/>
                    <a:ea typeface="+mn-ea"/>
                    <a:cs typeface="+mn-cs"/>
                  </a:rPr>
                  <a:t>2R</a:t>
                </a:r>
                <a:r>
                  <a:rPr lang="zh-CN" altLang="zh-CN" sz="1200" kern="1200" dirty="0">
                    <a:solidFill>
                      <a:schemeClr val="tx1"/>
                    </a:solidFill>
                    <a:effectLst/>
                    <a:latin typeface="+mn-lt"/>
                    <a:ea typeface="+mn-ea"/>
                    <a:cs typeface="+mn-cs"/>
                  </a:rPr>
                  <a:t>机械臂，其工作空间为一个环面</a:t>
                </a:r>
                <a:r>
                  <a:rPr lang="en-US" altLang="zh-CN" sz="1200" kern="1200" dirty="0">
                    <a:solidFill>
                      <a:schemeClr val="tx1"/>
                    </a:solidFill>
                    <a:effectLst/>
                    <a:latin typeface="+mn-lt"/>
                    <a:ea typeface="+mn-ea"/>
                    <a:cs typeface="+mn-cs"/>
                  </a:rPr>
                  <a:t>(torus)</a:t>
                </a:r>
                <a:r>
                  <a:rPr lang="zh-CN" altLang="zh-CN" sz="1200" kern="1200" dirty="0">
                    <a:solidFill>
                      <a:schemeClr val="tx1"/>
                    </a:solidFill>
                    <a:effectLst/>
                    <a:latin typeface="+mn-lt"/>
                    <a:ea typeface="+mn-ea"/>
                    <a:cs typeface="+mn-cs"/>
                  </a:rPr>
                  <a:t>，等效为两个一维球的笛卡尔积</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C</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𝒮</m:t>
                        </m:r>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𝒮</m:t>
                        </m:r>
                      </m:e>
                      <m:sup>
                        <m:r>
                          <a:rPr lang="en-US" altLang="zh-CN" sz="1200" i="1" kern="1200">
                            <a:solidFill>
                              <a:schemeClr val="tx1"/>
                            </a:solidFill>
                            <a:effectLst/>
                            <a:latin typeface="Cambria Math" panose="02040503050406030204" pitchFamily="18" charset="0"/>
                            <a:ea typeface="+mn-ea"/>
                            <a:cs typeface="+mn-cs"/>
                          </a:rPr>
                          <m:t>1</m:t>
                        </m:r>
                      </m:sup>
                    </m:sSup>
                  </m:oMath>
                </a14:m>
                <a:r>
                  <a:rPr lang="zh-CN" altLang="zh-CN" sz="1200" kern="1200" dirty="0">
                    <a:solidFill>
                      <a:schemeClr val="tx1"/>
                    </a:solidFill>
                    <a:effectLst/>
                    <a:latin typeface="+mn-lt"/>
                    <a:ea typeface="+mn-ea"/>
                    <a:cs typeface="+mn-cs"/>
                  </a:rPr>
                  <a:t>，而位形空间</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描述为一种拓扑流形， 通过在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的地方将环面切割两次，将其置于平面得到的是一个</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2</m:t>
                        </m:r>
                      </m:sup>
                    </m:sSup>
                  </m:oMath>
                </a14:m>
                <a:r>
                  <a:rPr lang="zh-CN" altLang="zh-CN" sz="1200" kern="1200" dirty="0">
                    <a:solidFill>
                      <a:schemeClr val="tx1"/>
                    </a:solidFill>
                    <a:effectLst/>
                    <a:latin typeface="+mn-lt"/>
                    <a:ea typeface="+mn-ea"/>
                    <a:cs typeface="+mn-cs"/>
                  </a:rPr>
                  <a:t>内的正方形区域。</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如果障碍物将自由空间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划分为相互隔离的联通分支，并且起始位形</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𝑠𝑡𝑎𝑟𝑡</m:t>
                        </m:r>
                      </m:sub>
                    </m:sSub>
                  </m:oMath>
                </a14:m>
                <a:r>
                  <a:rPr lang="zh-CN" altLang="zh-CN" sz="1200" kern="1200" dirty="0">
                    <a:solidFill>
                      <a:schemeClr val="tx1"/>
                    </a:solidFill>
                    <a:effectLst/>
                    <a:latin typeface="+mn-lt"/>
                    <a:ea typeface="+mn-ea"/>
                    <a:cs typeface="+mn-cs"/>
                  </a:rPr>
                  <a:t>和目标位形</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𝑔𝑜𝑎𝑙</m:t>
                        </m:r>
                      </m:sub>
                    </m:sSub>
                  </m:oMath>
                </a14:m>
                <a:r>
                  <a:rPr lang="zh-CN" altLang="zh-CN" sz="1200" kern="1200" dirty="0">
                    <a:solidFill>
                      <a:schemeClr val="tx1"/>
                    </a:solidFill>
                    <a:effectLst/>
                    <a:latin typeface="+mn-lt"/>
                    <a:ea typeface="+mn-ea"/>
                    <a:cs typeface="+mn-cs"/>
                  </a:rPr>
                  <a:t>不处在同一个联通分支内，那么这条轨迹就是一条无碰轨迹。</a:t>
                </a:r>
              </a:p>
              <a:p>
                <a:r>
                  <a:rPr lang="en-US" altLang="zh-CN" sz="1200" kern="1200" dirty="0">
                    <a:solidFill>
                      <a:schemeClr val="tx1"/>
                    </a:solidFill>
                    <a:effectLst/>
                    <a:latin typeface="+mn-lt"/>
                    <a:ea typeface="+mn-ea"/>
                    <a:cs typeface="+mn-cs"/>
                  </a:rPr>
                  <a:t>	</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Ⅽ</m:t>
                    </m:r>
                  </m:oMath>
                </a14:m>
                <a:r>
                  <a:rPr lang="zh-CN" altLang="zh-CN" sz="1200" kern="1200" dirty="0">
                    <a:solidFill>
                      <a:schemeClr val="tx1"/>
                    </a:solidFill>
                    <a:effectLst/>
                    <a:latin typeface="+mn-lt"/>
                    <a:ea typeface="+mn-ea"/>
                    <a:cs typeface="+mn-cs"/>
                  </a:rPr>
                  <a:t>空间障碍物的明确数学表示可能会十分复杂，因此我们很少使用其精确表示，但</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Ⅽ</m:t>
                    </m:r>
                  </m:oMath>
                </a14:m>
                <a:r>
                  <a:rPr lang="zh-CN" altLang="zh-CN" sz="1200" kern="1200" dirty="0">
                    <a:solidFill>
                      <a:schemeClr val="tx1"/>
                    </a:solidFill>
                    <a:effectLst/>
                    <a:latin typeface="+mn-lt"/>
                    <a:ea typeface="+mn-ea"/>
                    <a:cs typeface="+mn-cs"/>
                  </a:rPr>
                  <a:t>空间障碍物的概念对于运动规划算法的理解非常重要，下面使用一些实例进行说明。</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5.3</a:t>
                </a:r>
                <a:r>
                  <a:rPr lang="zh-CN" altLang="zh-CN" sz="1200" kern="1200" dirty="0">
                    <a:solidFill>
                      <a:schemeClr val="tx1"/>
                    </a:solidFill>
                    <a:effectLst/>
                    <a:latin typeface="+mn-lt"/>
                    <a:ea typeface="+mn-ea"/>
                    <a:cs typeface="+mn-cs"/>
                  </a:rPr>
                  <a:t>给出的</a:t>
                </a:r>
                <a:r>
                  <a:rPr lang="en-US" altLang="zh-CN" sz="1200" kern="1200" dirty="0">
                    <a:solidFill>
                      <a:schemeClr val="tx1"/>
                    </a:solidFill>
                    <a:effectLst/>
                    <a:latin typeface="+mn-lt"/>
                    <a:ea typeface="+mn-ea"/>
                    <a:cs typeface="+mn-cs"/>
                  </a:rPr>
                  <a:t>2R</a:t>
                </a:r>
                <a:r>
                  <a:rPr lang="zh-CN" altLang="zh-CN" sz="1200" kern="1200" dirty="0">
                    <a:solidFill>
                      <a:schemeClr val="tx1"/>
                    </a:solidFill>
                    <a:effectLst/>
                    <a:latin typeface="+mn-lt"/>
                    <a:ea typeface="+mn-ea"/>
                    <a:cs typeface="+mn-cs"/>
                  </a:rPr>
                  <a:t>平面机械臂，其位形为</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q</m:t>
                    </m:r>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，在其工作空间中有障碍物</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5.3(b)</a:t>
                </a:r>
                <a:r>
                  <a:rPr lang="zh-CN" altLang="zh-CN" sz="1200" kern="1200" dirty="0">
                    <a:solidFill>
                      <a:schemeClr val="tx1"/>
                    </a:solidFill>
                    <a:effectLst/>
                    <a:latin typeface="+mn-lt"/>
                    <a:ea typeface="+mn-ea"/>
                    <a:cs typeface="+mn-cs"/>
                  </a:rPr>
                  <a:t>示意了工作空间的无碰撞自由路径，。图</a:t>
                </a:r>
                <a:r>
                  <a:rPr lang="en-US" altLang="zh-CN" sz="1200" kern="1200" dirty="0">
                    <a:solidFill>
                      <a:schemeClr val="tx1"/>
                    </a:solidFill>
                    <a:effectLst/>
                    <a:latin typeface="+mn-lt"/>
                    <a:ea typeface="+mn-ea"/>
                    <a:cs typeface="+mn-cs"/>
                  </a:rPr>
                  <a:t>5.3(c)</a:t>
                </a:r>
                <a:r>
                  <a:rPr lang="zh-CN" altLang="zh-CN" sz="1200" kern="1200" dirty="0">
                    <a:solidFill>
                      <a:schemeClr val="tx1"/>
                    </a:solidFill>
                    <a:effectLst/>
                    <a:latin typeface="+mn-lt"/>
                    <a:ea typeface="+mn-ea"/>
                    <a:cs typeface="+mn-cs"/>
                  </a:rPr>
                  <a:t>示意了</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空间的无碰撞自由路径。注意到，障碍物将自由空间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划分为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个联通分支。</a:t>
                </a: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5.4(a)</a:t>
                </a:r>
                <a:r>
                  <a:rPr lang="zh-CN" altLang="zh-CN" sz="1200" kern="1200" dirty="0">
                    <a:solidFill>
                      <a:schemeClr val="tx1"/>
                    </a:solidFill>
                    <a:effectLst/>
                    <a:latin typeface="+mn-lt"/>
                    <a:ea typeface="+mn-ea"/>
                    <a:cs typeface="+mn-cs"/>
                  </a:rPr>
                  <a:t>所示的平面圆形移动机器人（用圆表示）和障碍物（用灰色的三角形表示），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Ⅽ</m:t>
                    </m:r>
                  </m:oMath>
                </a14:m>
                <a:r>
                  <a:rPr lang="zh-CN" altLang="zh-CN" sz="1200" kern="1200" dirty="0">
                    <a:solidFill>
                      <a:schemeClr val="tx1"/>
                    </a:solidFill>
                    <a:effectLst/>
                    <a:latin typeface="+mn-lt"/>
                    <a:ea typeface="+mn-ea"/>
                    <a:cs typeface="+mn-cs"/>
                  </a:rPr>
                  <a:t>空间障碍物就是以机器人的尺寸（半径）为基础，绕障碍物对其进行一定的膨胀即可得到，障碍物几何尺寸被沿边沿增长了机器人的半径，同时机器人被当做为一个点进行处理，图图</a:t>
                </a:r>
                <a:r>
                  <a:rPr lang="en-US" altLang="zh-CN" sz="1200" kern="1200" dirty="0">
                    <a:solidFill>
                      <a:schemeClr val="tx1"/>
                    </a:solidFill>
                    <a:effectLst/>
                    <a:latin typeface="+mn-lt"/>
                    <a:ea typeface="+mn-ea"/>
                    <a:cs typeface="+mn-cs"/>
                  </a:rPr>
                  <a:t>5.4(b)</a:t>
                </a:r>
                <a:r>
                  <a:rPr lang="zh-CN" altLang="zh-CN" sz="1200" kern="1200" dirty="0">
                    <a:solidFill>
                      <a:schemeClr val="tx1"/>
                    </a:solidFill>
                    <a:effectLst/>
                    <a:latin typeface="+mn-lt"/>
                    <a:ea typeface="+mn-ea"/>
                    <a:cs typeface="+mn-cs"/>
                  </a:rPr>
                  <a:t>粗线外的任何位形</a:t>
                </a:r>
                <a14:m>
                  <m:oMath xmlns:m="http://schemas.openxmlformats.org/officeDocument/2006/math">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d>
                  </m:oMath>
                </a14:m>
                <a:r>
                  <a:rPr lang="zh-CN" altLang="zh-CN" sz="1200" kern="1200" dirty="0">
                    <a:solidFill>
                      <a:schemeClr val="tx1"/>
                    </a:solidFill>
                    <a:effectLst/>
                    <a:latin typeface="+mn-lt"/>
                    <a:ea typeface="+mn-ea"/>
                    <a:cs typeface="+mn-cs"/>
                  </a:rPr>
                  <a:t>都是无碰撞的</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5.5</a:t>
                </a:r>
                <a:r>
                  <a:rPr lang="zh-CN" altLang="zh-CN" sz="1200" kern="1200" dirty="0" smtClean="0">
                    <a:solidFill>
                      <a:schemeClr val="tx1"/>
                    </a:solidFill>
                    <a:effectLst/>
                    <a:latin typeface="+mn-lt"/>
                    <a:ea typeface="+mn-ea"/>
                    <a:cs typeface="+mn-cs"/>
                  </a:rPr>
                  <a:t>所示，如果对工作空间中的障碍物进行膨胀后产生了重叠的部分，则表示机器人不能通过那个区域。</a:t>
                </a: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与机器人实际形状和尺寸有关，从图</a:t>
                </a:r>
                <a:r>
                  <a:rPr lang="en-US" altLang="zh-CN" sz="1200" kern="1200" dirty="0">
                    <a:solidFill>
                      <a:schemeClr val="tx1"/>
                    </a:solidFill>
                    <a:effectLst/>
                    <a:latin typeface="+mn-lt"/>
                    <a:ea typeface="+mn-ea"/>
                    <a:cs typeface="+mn-cs"/>
                  </a:rPr>
                  <a:t>5.6</a:t>
                </a:r>
                <a:r>
                  <a:rPr lang="zh-CN" altLang="zh-CN" sz="1200" kern="1200" dirty="0">
                    <a:solidFill>
                      <a:schemeClr val="tx1"/>
                    </a:solidFill>
                    <a:effectLst/>
                    <a:latin typeface="+mn-lt"/>
                    <a:ea typeface="+mn-ea"/>
                    <a:cs typeface="+mn-cs"/>
                  </a:rPr>
                  <a:t>可以看出中间和右边的两个机器人由于尺寸（直径）太大而不能通过工作空间的某些区域（</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中的白色区域表示可通过的自由区域</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5.7</a:t>
                </a:r>
                <a:r>
                  <a:rPr lang="zh-CN" altLang="zh-CN" sz="1200" kern="1200" dirty="0">
                    <a:solidFill>
                      <a:schemeClr val="tx1"/>
                    </a:solidFill>
                    <a:effectLst/>
                    <a:latin typeface="+mn-lt"/>
                    <a:ea typeface="+mn-ea"/>
                    <a:cs typeface="+mn-cs"/>
                  </a:rPr>
                  <a:t>所示，机器人的形状也会影响</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5.7(a)</a:t>
                </a:r>
                <a:r>
                  <a:rPr lang="zh-CN" altLang="zh-CN" sz="1200" kern="1200" dirty="0">
                    <a:solidFill>
                      <a:schemeClr val="tx1"/>
                    </a:solidFill>
                    <a:effectLst/>
                    <a:latin typeface="+mn-lt"/>
                    <a:ea typeface="+mn-ea"/>
                    <a:cs typeface="+mn-cs"/>
                  </a:rPr>
                  <a:t>中的直角三角形代表一个三角形状的机器人，其只能在平面内平移，其参考位置点在图中的</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处。灰色矩形是工作空间内的障碍物，将机器人贴着障碍物边界滑行一圈，追踪参考点的位置可以画出一个黑色粗线框的多边形区域如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5.7(b)</a:t>
                </a:r>
                <a:r>
                  <a:rPr lang="zh-CN" altLang="zh-CN" sz="1200" kern="1200" dirty="0">
                    <a:solidFill>
                      <a:schemeClr val="tx1"/>
                    </a:solidFill>
                    <a:effectLst/>
                    <a:latin typeface="+mn-lt"/>
                    <a:ea typeface="+mn-ea"/>
                    <a:cs typeface="+mn-cs"/>
                  </a:rPr>
                  <a:t>所示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。这个区域就是该三角形机器人</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中的障碍区域。</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5.7</a:t>
                </a:r>
                <a:r>
                  <a:rPr lang="zh-CN" altLang="zh-CN" sz="1200" kern="1200" dirty="0">
                    <a:solidFill>
                      <a:schemeClr val="tx1"/>
                    </a:solidFill>
                    <a:effectLst/>
                    <a:latin typeface="+mn-lt"/>
                    <a:ea typeface="+mn-ea"/>
                    <a:cs typeface="+mn-cs"/>
                  </a:rPr>
                  <a:t>所示，如果还允许机器人旋转，那么</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就是三维的，其</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由</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𝒮</m:t>
                        </m:r>
                      </m:e>
                      <m:sup>
                        <m:r>
                          <a:rPr lang="en-US" altLang="zh-CN" sz="1200" i="1" kern="1200">
                            <a:solidFill>
                              <a:schemeClr val="tx1"/>
                            </a:solidFill>
                            <a:effectLst/>
                            <a:latin typeface="Cambria Math" panose="02040503050406030204" pitchFamily="18" charset="0"/>
                            <a:ea typeface="+mn-ea"/>
                            <a:cs typeface="+mn-cs"/>
                          </a:rPr>
                          <m:t>1</m:t>
                        </m:r>
                      </m:sup>
                    </m:sSup>
                  </m:oMath>
                </a14:m>
                <a:r>
                  <a:rPr lang="zh-CN" altLang="zh-CN" sz="1200" kern="1200" dirty="0">
                    <a:solidFill>
                      <a:schemeClr val="tx1"/>
                    </a:solidFill>
                    <a:effectLst/>
                    <a:latin typeface="+mn-lt"/>
                    <a:ea typeface="+mn-ea"/>
                    <a:cs typeface="+mn-cs"/>
                  </a:rPr>
                  <a:t>给出，三维</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空间障碍是角度为</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d>
                          <m:dPr>
                            <m:beg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0, 2</m:t>
                            </m:r>
                            <m:r>
                              <a:rPr lang="en-US" altLang="zh-CN" sz="1200" i="1" kern="1200">
                                <a:solidFill>
                                  <a:schemeClr val="tx1"/>
                                </a:solidFill>
                                <a:effectLst/>
                                <a:latin typeface="Cambria Math" panose="02040503050406030204" pitchFamily="18" charset="0"/>
                                <a:ea typeface="+mn-ea"/>
                                <a:cs typeface="+mn-cs"/>
                              </a:rPr>
                              <m:t>𝜋</m:t>
                            </m:r>
                          </m:e>
                        </m:d>
                      </m:e>
                    </m:d>
                  </m:oMath>
                </a14:m>
                <a:r>
                  <a:rPr lang="zh-CN" altLang="zh-CN" sz="1200" kern="1200" dirty="0">
                    <a:solidFill>
                      <a:schemeClr val="tx1"/>
                    </a:solidFill>
                    <a:effectLst/>
                    <a:latin typeface="+mn-lt"/>
                    <a:ea typeface="+mn-ea"/>
                    <a:cs typeface="+mn-cs"/>
                  </a:rPr>
                  <a:t>的二维障碍物切片组成的并集，如图</a:t>
                </a:r>
                <a:r>
                  <a:rPr lang="en-US" altLang="zh-CN" sz="1200" kern="1200" dirty="0">
                    <a:solidFill>
                      <a:schemeClr val="tx1"/>
                    </a:solidFill>
                    <a:effectLst/>
                    <a:latin typeface="+mn-lt"/>
                    <a:ea typeface="+mn-ea"/>
                    <a:cs typeface="+mn-cs"/>
                  </a:rPr>
                  <a:t>5.7</a:t>
                </a:r>
                <a:r>
                  <a:rPr lang="zh-CN" altLang="zh-CN" sz="1200" kern="1200" dirty="0">
                    <a:solidFill>
                      <a:schemeClr val="tx1"/>
                    </a:solidFill>
                    <a:effectLst/>
                    <a:latin typeface="+mn-lt"/>
                    <a:ea typeface="+mn-ea"/>
                    <a:cs typeface="+mn-cs"/>
                  </a:rPr>
                  <a:t>右边所示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从上面的例子中可知，即使是维度相对较低的</a:t>
                </a:r>
                <a:r>
                  <a:rPr lang="en-US" altLang="zh-CN" sz="1200" kern="1200" dirty="0" smtClean="0">
                    <a:solidFill>
                      <a:schemeClr val="tx1"/>
                    </a:solidFill>
                    <a:effectLst/>
                    <a:latin typeface="+mn-lt"/>
                    <a:ea typeface="+mn-ea"/>
                    <a:cs typeface="+mn-cs"/>
                  </a:rPr>
                  <a:t>C-Space</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障碍物的精确表示也非常复杂。因此，我们实际很少对</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空间障碍进行精确表述。</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5.8</a:t>
                </a:r>
                <a:r>
                  <a:rPr lang="zh-CN" altLang="zh-CN" sz="1200" kern="1200" dirty="0">
                    <a:solidFill>
                      <a:schemeClr val="tx1"/>
                    </a:solidFill>
                    <a:effectLst/>
                    <a:latin typeface="+mn-lt"/>
                    <a:ea typeface="+mn-ea"/>
                    <a:cs typeface="+mn-cs"/>
                  </a:rPr>
                  <a:t>所示，在</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A</m:t>
                    </m:r>
                    <m:r>
                      <a:rPr lang="zh-CN"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B</m:t>
                    </m:r>
                  </m:oMath>
                </a14:m>
                <a:r>
                  <a:rPr lang="zh-CN" altLang="zh-CN" sz="1200" kern="1200" dirty="0">
                    <a:solidFill>
                      <a:schemeClr val="tx1"/>
                    </a:solidFill>
                    <a:effectLst/>
                    <a:latin typeface="+mn-lt"/>
                    <a:ea typeface="+mn-ea"/>
                    <a:cs typeface="+mn-cs"/>
                  </a:rPr>
                  <a:t>之间，黄线、橙线都表示曼哈顿距离，而红线、</a:t>
                </a:r>
                <a:r>
                  <a:rPr lang="zh-CN" altLang="zh-CN" sz="1200" kern="1200" dirty="0" smtClean="0">
                    <a:solidFill>
                      <a:schemeClr val="tx1"/>
                    </a:solidFill>
                    <a:effectLst/>
                    <a:latin typeface="+mn-lt"/>
                    <a:ea typeface="+mn-ea"/>
                    <a:cs typeface="+mn-cs"/>
                  </a:rPr>
                  <a:t>蓝线</a:t>
                </a:r>
                <a:r>
                  <a:rPr lang="zh-CN" altLang="zh-CN" sz="1200" kern="1200" dirty="0">
                    <a:solidFill>
                      <a:schemeClr val="tx1"/>
                    </a:solidFill>
                    <a:effectLst/>
                    <a:latin typeface="+mn-lt"/>
                    <a:ea typeface="+mn-ea"/>
                    <a:cs typeface="+mn-cs"/>
                  </a:rPr>
                  <a:t>表示等价的曼哈顿距离，绿线表示欧氏距离</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相比较曼哈顿距离与欧氏距离这两种几何距离，切比雪夫距离（</a:t>
                </a:r>
                <a:r>
                  <a:rPr lang="en-US" altLang="zh-CN" sz="1200" kern="1200" dirty="0" err="1" smtClean="0">
                    <a:solidFill>
                      <a:schemeClr val="tx1"/>
                    </a:solidFill>
                    <a:effectLst/>
                    <a:latin typeface="+mn-lt"/>
                    <a:ea typeface="+mn-ea"/>
                    <a:cs typeface="+mn-cs"/>
                  </a:rPr>
                  <a:t>Chebyshev</a:t>
                </a:r>
                <a:r>
                  <a:rPr lang="en-US" altLang="zh-CN" sz="1200" kern="1200" dirty="0" smtClean="0">
                    <a:solidFill>
                      <a:schemeClr val="tx1"/>
                    </a:solidFill>
                    <a:effectLst/>
                    <a:latin typeface="+mn-lt"/>
                    <a:ea typeface="+mn-ea"/>
                    <a:cs typeface="+mn-cs"/>
                  </a:rPr>
                  <a:t> distance</a:t>
                </a:r>
                <a:r>
                  <a:rPr lang="zh-CN" altLang="zh-CN" sz="1200" kern="1200" dirty="0" smtClean="0">
                    <a:solidFill>
                      <a:schemeClr val="tx1"/>
                    </a:solidFill>
                    <a:effectLst/>
                    <a:latin typeface="+mn-lt"/>
                    <a:ea typeface="+mn-ea"/>
                    <a:cs typeface="+mn-cs"/>
                  </a:rPr>
                  <a:t>）是向量空间中的一种度量，其定义二个点之间的距离为其各坐标数值差的最大值。</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在机器人运动规划中，我们可以将</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空间表达为一个图</a:t>
                </a:r>
                <a:r>
                  <a:rPr lang="en-US" altLang="zh-CN" sz="1200" kern="1200" dirty="0">
                    <a:solidFill>
                      <a:schemeClr val="tx1"/>
                    </a:solidFill>
                    <a:effectLst/>
                    <a:latin typeface="+mn-lt"/>
                    <a:ea typeface="+mn-ea"/>
                    <a:cs typeface="+mn-cs"/>
                  </a:rPr>
                  <a:t>(graph)</a:t>
                </a:r>
                <a:r>
                  <a:rPr lang="zh-CN" altLang="zh-CN" sz="1200" kern="1200" dirty="0">
                    <a:solidFill>
                      <a:schemeClr val="tx1"/>
                    </a:solidFill>
                    <a:effectLst/>
                    <a:latin typeface="+mn-lt"/>
                    <a:ea typeface="+mn-ea"/>
                    <a:cs typeface="+mn-cs"/>
                  </a:rPr>
                  <a:t>。一个图由</a:t>
                </a:r>
                <a:r>
                  <a:rPr lang="en-US" altLang="zh-CN" sz="1200" i="1"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个节点和</a:t>
                </a:r>
                <a:r>
                  <a:rPr lang="en-US" altLang="zh-CN" sz="1200" kern="1200" dirty="0">
                    <a:solidFill>
                      <a:schemeClr val="tx1"/>
                    </a:solidFill>
                    <a:effectLst/>
                    <a:latin typeface="+mn-lt"/>
                    <a:ea typeface="+mn-ea"/>
                    <a:cs typeface="+mn-cs"/>
                  </a:rPr>
                  <a:t>ℇ</a:t>
                </a:r>
                <a:r>
                  <a:rPr lang="zh-CN" altLang="zh-CN" sz="1200" kern="1200" dirty="0">
                    <a:solidFill>
                      <a:schemeClr val="tx1"/>
                    </a:solidFill>
                    <a:effectLst/>
                    <a:latin typeface="+mn-lt"/>
                    <a:ea typeface="+mn-ea"/>
                    <a:cs typeface="+mn-cs"/>
                  </a:rPr>
                  <a:t>条边组成，其中每条边</a:t>
                </a:r>
                <a:r>
                  <a:rPr lang="en-US" altLang="zh-CN" sz="1200" i="1"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连接两个节点。节点表示位形，而节点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之间的边表示在不穿透障碍物或违反其他约束条件情况下从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的直接运动。</a:t>
                </a:r>
              </a:p>
              <a:p>
                <a:r>
                  <a:rPr lang="zh-CN" altLang="zh-CN" sz="1200" kern="1200" dirty="0">
                    <a:solidFill>
                      <a:schemeClr val="tx1"/>
                    </a:solidFill>
                    <a:effectLst/>
                    <a:latin typeface="+mn-lt"/>
                    <a:ea typeface="+mn-ea"/>
                    <a:cs typeface="+mn-cs"/>
                  </a:rPr>
                  <a:t>图可以是有向的，也可以是无向的，无向图的边是双向的，而有向图则仅允许沿一个方向运动，对于特点的两个节点而言，它们之间可以有两条边，允许沿相反方向行进。</a:t>
                </a:r>
              </a:p>
              <a:p>
                <a:r>
                  <a:rPr lang="zh-CN" altLang="zh-CN" sz="1200" kern="1200" dirty="0">
                    <a:solidFill>
                      <a:schemeClr val="tx1"/>
                    </a:solidFill>
                    <a:effectLst/>
                    <a:latin typeface="+mn-lt"/>
                    <a:ea typeface="+mn-ea"/>
                    <a:cs typeface="+mn-cs"/>
                  </a:rPr>
                  <a:t>图也可以是加权的或不加权的，在加权图中，每条边具有与遍历该边相关的正成本，而在不加权图中，每条边的成本相同。</a:t>
                </a:r>
              </a:p>
              <a:p>
                <a:r>
                  <a:rPr lang="zh-CN" altLang="zh-CN" sz="1200" kern="1200" dirty="0">
                    <a:solidFill>
                      <a:schemeClr val="tx1"/>
                    </a:solidFill>
                    <a:effectLst/>
                    <a:latin typeface="+mn-lt"/>
                    <a:ea typeface="+mn-ea"/>
                    <a:cs typeface="+mn-cs"/>
                  </a:rPr>
                  <a:t>树</a:t>
                </a:r>
                <a:r>
                  <a:rPr lang="en-US" altLang="zh-CN" sz="1200" kern="1200" dirty="0">
                    <a:solidFill>
                      <a:schemeClr val="tx1"/>
                    </a:solidFill>
                    <a:effectLst/>
                    <a:latin typeface="+mn-lt"/>
                    <a:ea typeface="+mn-ea"/>
                    <a:cs typeface="+mn-cs"/>
                  </a:rPr>
                  <a:t>(tree)</a:t>
                </a:r>
                <a:r>
                  <a:rPr lang="zh-CN" altLang="zh-CN" sz="1200" kern="1200" dirty="0">
                    <a:solidFill>
                      <a:schemeClr val="tx1"/>
                    </a:solidFill>
                    <a:effectLst/>
                    <a:latin typeface="+mn-lt"/>
                    <a:ea typeface="+mn-ea"/>
                    <a:cs typeface="+mn-cs"/>
                  </a:rPr>
                  <a:t>是一种特定的有向图：没有循环，且每个节点最多只能有一个父节点。树有一个没有父节点的根</a:t>
                </a:r>
                <a:r>
                  <a:rPr lang="en-US" altLang="zh-CN" sz="1200" kern="1200" dirty="0">
                    <a:solidFill>
                      <a:schemeClr val="tx1"/>
                    </a:solidFill>
                    <a:effectLst/>
                    <a:latin typeface="+mn-lt"/>
                    <a:ea typeface="+mn-ea"/>
                    <a:cs typeface="+mn-cs"/>
                  </a:rPr>
                  <a:t>(root)</a:t>
                </a:r>
                <a:r>
                  <a:rPr lang="zh-CN" altLang="zh-CN" sz="1200" kern="1200" dirty="0">
                    <a:solidFill>
                      <a:schemeClr val="tx1"/>
                    </a:solidFill>
                    <a:effectLst/>
                    <a:latin typeface="+mn-lt"/>
                    <a:ea typeface="+mn-ea"/>
                    <a:cs typeface="+mn-cs"/>
                  </a:rPr>
                  <a:t>节点和一些没有子节点（</a:t>
                </a:r>
                <a:r>
                  <a:rPr lang="en-US" altLang="zh-CN" sz="1200" kern="1200" dirty="0">
                    <a:solidFill>
                      <a:schemeClr val="tx1"/>
                    </a:solidFill>
                    <a:effectLst/>
                    <a:latin typeface="+mn-lt"/>
                    <a:ea typeface="+mn-ea"/>
                    <a:cs typeface="+mn-cs"/>
                  </a:rPr>
                  <a:t>child</a:t>
                </a:r>
                <a:r>
                  <a:rPr lang="zh-CN" altLang="zh-CN" sz="1200" kern="1200" dirty="0">
                    <a:solidFill>
                      <a:schemeClr val="tx1"/>
                    </a:solidFill>
                    <a:effectLst/>
                    <a:latin typeface="+mn-lt"/>
                    <a:ea typeface="+mn-ea"/>
                    <a:cs typeface="+mn-cs"/>
                  </a:rPr>
                  <a:t>）的叶子节点（</a:t>
                </a:r>
                <a:r>
                  <a:rPr lang="en-US" altLang="zh-CN" sz="1200" kern="1200" dirty="0">
                    <a:solidFill>
                      <a:schemeClr val="tx1"/>
                    </a:solidFill>
                    <a:effectLst/>
                    <a:latin typeface="+mn-lt"/>
                    <a:ea typeface="+mn-ea"/>
                    <a:cs typeface="+mn-cs"/>
                  </a:rPr>
                  <a:t>leaf</a:t>
                </a:r>
                <a:r>
                  <a:rPr lang="zh-CN" altLang="zh-CN" sz="1200" kern="1200" dirty="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5.9</a:t>
                </a:r>
                <a:r>
                  <a:rPr lang="zh-CN" altLang="zh-CN" sz="1200" kern="1200" dirty="0" smtClean="0">
                    <a:solidFill>
                      <a:schemeClr val="tx1"/>
                    </a:solidFill>
                    <a:effectLst/>
                    <a:latin typeface="+mn-lt"/>
                    <a:ea typeface="+mn-ea"/>
                    <a:cs typeface="+mn-cs"/>
                  </a:rPr>
                  <a:t>为加权有向图、加权无向图和树的实例。将</a:t>
                </a:r>
                <a:r>
                  <a:rPr lang="en-US" altLang="zh-CN" sz="1200" kern="1200" dirty="0" smtClean="0">
                    <a:solidFill>
                      <a:schemeClr val="tx1"/>
                    </a:solidFill>
                    <a:effectLst/>
                    <a:latin typeface="+mn-lt"/>
                    <a:ea typeface="+mn-ea"/>
                    <a:cs typeface="+mn-cs"/>
                  </a:rPr>
                  <a:t>C-Space</a:t>
                </a:r>
                <a:r>
                  <a:rPr lang="zh-CN" altLang="zh-CN" sz="1200" kern="1200" dirty="0" smtClean="0">
                    <a:solidFill>
                      <a:schemeClr val="tx1"/>
                    </a:solidFill>
                    <a:effectLst/>
                    <a:latin typeface="+mn-lt"/>
                    <a:ea typeface="+mn-ea"/>
                    <a:cs typeface="+mn-cs"/>
                  </a:rPr>
                  <a:t>表达为图之后，我们可以采用计算机科学中的图搜索算法寻找机器人路径，进行运动规划。</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5.10</a:t>
                </a:r>
                <a:r>
                  <a:rPr lang="zh-CN" altLang="zh-CN" sz="1200" kern="1200" dirty="0">
                    <a:solidFill>
                      <a:schemeClr val="tx1"/>
                    </a:solidFill>
                    <a:effectLst/>
                    <a:latin typeface="+mn-lt"/>
                    <a:ea typeface="+mn-ea"/>
                    <a:cs typeface="+mn-cs"/>
                  </a:rPr>
                  <a:t>所示，工业机械臂的作业路径</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𝑥</m:t>
                            </m:r>
                          </m:e>
                          <m:sup>
                            <m:r>
                              <a:rPr lang="en-US" altLang="zh-CN" sz="1200" i="1" kern="1200">
                                <a:solidFill>
                                  <a:schemeClr val="tx1"/>
                                </a:solidFill>
                                <a:effectLst/>
                                <a:latin typeface="Cambria Math" panose="02040503050406030204" pitchFamily="18" charset="0"/>
                                <a:ea typeface="+mn-ea"/>
                                <a:cs typeface="+mn-cs"/>
                              </a:rPr>
                              <m:t>𝑘</m:t>
                            </m:r>
                          </m:sup>
                        </m:sSup>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𝑘</m:t>
                        </m:r>
                      </m:sup>
                    </m:sSup>
                  </m:oMath>
                </a14:m>
                <a:r>
                  <a:rPr lang="zh-CN" altLang="zh-CN" sz="1200" kern="1200" dirty="0">
                    <a:solidFill>
                      <a:schemeClr val="tx1"/>
                    </a:solidFill>
                    <a:effectLst/>
                    <a:latin typeface="+mn-lt"/>
                    <a:ea typeface="+mn-ea"/>
                    <a:cs typeface="+mn-cs"/>
                  </a:rPr>
                  <a:t>，可以是离线预设好的，也可能由视觉等传感器获取。该路径将由轨迹规划算法进行求解，给出关节的位置、速度、加速度控制量（如果是笛卡尔空间轨迹规划，需要用运动学逆解转换到关节变量），由机器人控制器执行，如果需要控制精度，可以采取位置传感器进行反馈，执行位置闭环控制算法，如果对操作力或力矩有要求，可以采用力传感器，结合动力学执行力反馈控制。轨迹规划除了空间轨迹的平滑约束外，还需要满足对机器人的速度、加速度甚至加加速</a:t>
                </a:r>
                <a:r>
                  <a:rPr lang="en-US" altLang="zh-CN" sz="1200" kern="1200" dirty="0">
                    <a:solidFill>
                      <a:schemeClr val="tx1"/>
                    </a:solidFill>
                    <a:effectLst/>
                    <a:latin typeface="+mn-lt"/>
                    <a:ea typeface="+mn-ea"/>
                    <a:cs typeface="+mn-cs"/>
                  </a:rPr>
                  <a:t>(jerk</a:t>
                </a:r>
                <a:r>
                  <a:rPr lang="zh-CN" altLang="zh-CN" sz="1200" kern="1200" dirty="0">
                    <a:solidFill>
                      <a:schemeClr val="tx1"/>
                    </a:solidFill>
                    <a:effectLst/>
                    <a:latin typeface="+mn-lt"/>
                    <a:ea typeface="+mn-ea"/>
                    <a:cs typeface="+mn-cs"/>
                  </a:rPr>
                  <a:t>，加速度的导数，反应了机器人冲击可能导致的振动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的约束。</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由上面三个位形、速度、加速度规划函数可知，等时间间隔的线性插值仅仅只是位形空间的等时间间隔离散，速度项为常数（平均速度），加速度项为零</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代表无法解出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。由于这个时间尺度函数不能添加速度和加速度约束，其并没有规划速度和加速度，所以需要重新规划速度和加速度，保证在起始点速度为零，在终点处速度也为零</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并且在中间段前后的速度和加速度连续。</a:t>
            </a: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5.11</a:t>
                </a:r>
                <a:r>
                  <a:rPr lang="zh-CN" altLang="zh-CN" sz="1200" kern="1200" dirty="0">
                    <a:solidFill>
                      <a:schemeClr val="tx1"/>
                    </a:solidFill>
                    <a:effectLst/>
                    <a:latin typeface="+mn-lt"/>
                    <a:ea typeface="+mn-ea"/>
                    <a:cs typeface="+mn-cs"/>
                  </a:rPr>
                  <a:t>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𝑠</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为一条直线，所以又称直线规划，实际如果是在笛卡尔空间规划，末端轨迹是一条直线，但如果在关节空间规划，只能保证每个关节的变换是“直线”，而机器人末端轨迹会是一条圆弧。</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如果机器人的最大关节速度和最大关节加速度存在已知极限，即</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sub>
                        <m:r>
                          <a:rPr lang="en-US" altLang="zh-CN" sz="1200" i="1" kern="1200">
                            <a:solidFill>
                              <a:schemeClr val="tx1"/>
                            </a:solidFill>
                            <a:effectLst/>
                            <a:latin typeface="Cambria Math" panose="02040503050406030204" pitchFamily="18" charset="0"/>
                            <a:ea typeface="+mn-ea"/>
                            <a:cs typeface="+mn-cs"/>
                          </a:rPr>
                          <m:t>𝑙𝑖𝑚𝑖𝑡</m:t>
                        </m:r>
                      </m:sub>
                    </m:sSub>
                  </m:oMath>
                </a14:m>
                <a:r>
                  <a:rPr lang="zh-CN" altLang="zh-CN" sz="1200" kern="1200" dirty="0">
                    <a:solidFill>
                      <a:schemeClr val="tx1"/>
                    </a:solidFill>
                    <a:effectLst/>
                    <a:latin typeface="+mn-lt"/>
                    <a:ea typeface="+mn-ea"/>
                    <a:cs typeface="+mn-cs"/>
                  </a:rPr>
                  <a:t>、</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sub>
                        <m:r>
                          <a:rPr lang="en-US" altLang="zh-CN" sz="1200" i="1" kern="1200">
                            <a:solidFill>
                              <a:schemeClr val="tx1"/>
                            </a:solidFill>
                            <a:effectLst/>
                            <a:latin typeface="Cambria Math" panose="02040503050406030204" pitchFamily="18" charset="0"/>
                            <a:ea typeface="+mn-ea"/>
                            <a:cs typeface="+mn-cs"/>
                          </a:rPr>
                          <m:t>𝑙𝑖𝑚𝑖𝑡</m:t>
                        </m:r>
                      </m:sub>
                    </m:sSub>
                  </m:oMath>
                </a14:m>
                <a:r>
                  <a:rPr lang="zh-CN" altLang="zh-CN" sz="1200" kern="1200" dirty="0">
                    <a:solidFill>
                      <a:schemeClr val="tx1"/>
                    </a:solidFill>
                    <a:effectLst/>
                    <a:latin typeface="+mn-lt"/>
                    <a:ea typeface="+mn-ea"/>
                    <a:cs typeface="+mn-cs"/>
                  </a:rPr>
                  <a:t>，则可以检查这些界限以查看所请求的运动时间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oMath>
                </a14:m>
                <a:r>
                  <a:rPr lang="zh-CN" altLang="zh-CN" sz="1200" kern="1200" dirty="0">
                    <a:solidFill>
                      <a:schemeClr val="tx1"/>
                    </a:solidFill>
                    <a:effectLst/>
                    <a:latin typeface="+mn-lt"/>
                    <a:ea typeface="+mn-ea"/>
                    <a:cs typeface="+mn-cs"/>
                  </a:rPr>
                  <a:t>是否可行。当然据此也可以求解</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oMath>
                </a14:m>
                <a:r>
                  <a:rPr lang="zh-CN" altLang="zh-CN" sz="1200" kern="1200" dirty="0">
                    <a:solidFill>
                      <a:schemeClr val="tx1"/>
                    </a:solidFill>
                    <a:effectLst/>
                    <a:latin typeface="+mn-lt"/>
                    <a:ea typeface="+mn-ea"/>
                    <a:cs typeface="+mn-cs"/>
                  </a:rPr>
                  <a:t>，以便找到满足最严格速度或加速度约束的最小可能运行时间。</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同上，将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𝑠</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3</m:t>
                        </m:r>
                      </m:sub>
                    </m:s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𝑡</m:t>
                        </m:r>
                      </m:e>
                      <m:sup>
                        <m:r>
                          <a:rPr lang="en-US" altLang="zh-CN" sz="1200" i="1" kern="1200">
                            <a:solidFill>
                              <a:schemeClr val="tx1"/>
                            </a:solidFill>
                            <a:effectLst/>
                            <a:latin typeface="Cambria Math" panose="02040503050406030204" pitchFamily="18" charset="0"/>
                            <a:ea typeface="+mn-ea"/>
                            <a:cs typeface="+mn-cs"/>
                          </a:rPr>
                          <m:t>3</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4</m:t>
                        </m:r>
                      </m:sub>
                    </m:s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𝑡</m:t>
                        </m:r>
                      </m:e>
                      <m:sup>
                        <m:r>
                          <a:rPr lang="en-US" altLang="zh-CN" sz="1200" i="1" kern="1200">
                            <a:solidFill>
                              <a:schemeClr val="tx1"/>
                            </a:solidFill>
                            <a:effectLst/>
                            <a:latin typeface="Cambria Math" panose="02040503050406030204" pitchFamily="18" charset="0"/>
                            <a:ea typeface="+mn-ea"/>
                            <a:cs typeface="+mn-cs"/>
                          </a:rPr>
                          <m:t>4</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5</m:t>
                        </m:r>
                      </m:sub>
                    </m:s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𝑡</m:t>
                        </m:r>
                      </m:e>
                      <m:sup>
                        <m:r>
                          <a:rPr lang="en-US" altLang="zh-CN" sz="1200" i="1" kern="1200">
                            <a:solidFill>
                              <a:schemeClr val="tx1"/>
                            </a:solidFill>
                            <a:effectLst/>
                            <a:latin typeface="Cambria Math" panose="02040503050406030204" pitchFamily="18" charset="0"/>
                            <a:ea typeface="+mn-ea"/>
                            <a:cs typeface="+mn-cs"/>
                          </a:rPr>
                          <m:t>5</m:t>
                        </m:r>
                      </m:sup>
                    </m:sSup>
                  </m:oMath>
                </a14:m>
                <a:r>
                  <a:rPr lang="zh-CN" altLang="zh-CN" sz="1200" kern="1200" dirty="0">
                    <a:solidFill>
                      <a:schemeClr val="tx1"/>
                    </a:solidFill>
                    <a:effectLst/>
                    <a:latin typeface="+mn-lt"/>
                    <a:ea typeface="+mn-ea"/>
                    <a:cs typeface="+mn-cs"/>
                  </a:rPr>
                  <a:t>代入式（</a:t>
                </a:r>
                <a:r>
                  <a:rPr lang="en-US" altLang="zh-CN" sz="1200" kern="1200" dirty="0">
                    <a:solidFill>
                      <a:schemeClr val="tx1"/>
                    </a:solidFill>
                    <a:effectLst/>
                    <a:latin typeface="+mn-lt"/>
                    <a:ea typeface="+mn-ea"/>
                    <a:cs typeface="+mn-cs"/>
                  </a:rPr>
                  <a:t>5-6</a:t>
                </a:r>
                <a:r>
                  <a:rPr lang="zh-CN" altLang="zh-CN" sz="1200" kern="1200" dirty="0">
                    <a:solidFill>
                      <a:schemeClr val="tx1"/>
                    </a:solidFill>
                    <a:effectLst/>
                    <a:latin typeface="+mn-lt"/>
                    <a:ea typeface="+mn-ea"/>
                    <a:cs typeface="+mn-cs"/>
                  </a:rPr>
                  <a:t>），可以得到五次多项式下的位形、速度、加速度规划具有时间约束的函数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，与三次多项式插值相比，五次多项式时间时间尺度所产生的最大速度更高、运动更平滑。其时间尺度图如图</a:t>
                </a:r>
                <a:r>
                  <a:rPr lang="en-US" altLang="zh-CN" sz="1200" kern="1200" dirty="0">
                    <a:solidFill>
                      <a:schemeClr val="tx1"/>
                    </a:solidFill>
                    <a:effectLst/>
                    <a:latin typeface="+mn-lt"/>
                    <a:ea typeface="+mn-ea"/>
                    <a:cs typeface="+mn-cs"/>
                  </a:rPr>
                  <a:t>5.14</a:t>
                </a:r>
                <a:r>
                  <a:rPr lang="zh-CN" altLang="zh-CN" sz="1200" kern="1200" dirty="0">
                    <a:solidFill>
                      <a:schemeClr val="tx1"/>
                    </a:solidFill>
                    <a:effectLst/>
                    <a:latin typeface="+mn-lt"/>
                    <a:ea typeface="+mn-ea"/>
                    <a:cs typeface="+mn-cs"/>
                  </a:rPr>
                  <a:t>所示。</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梯形加减速的时间尺度方案虽然没有三项多项式平滑，但我们可以通过速度极限约束和加速度极限约束，求取最大速度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和加减速的斜率</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𝑎</m:t>
                    </m:r>
                  </m:oMath>
                </a14:m>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𝑒𝑛𝑑</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𝑠𝑡𝑎𝑟𝑡</m:t>
                              </m:r>
                            </m:sub>
                          </m:sSub>
                        </m:e>
                      </m:d>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sub>
                          <m:r>
                            <a:rPr lang="en-US" altLang="zh-CN" sz="1200" i="1" kern="1200">
                              <a:solidFill>
                                <a:schemeClr val="tx1"/>
                              </a:solidFill>
                              <a:effectLst/>
                              <a:latin typeface="Cambria Math" panose="02040503050406030204" pitchFamily="18" charset="0"/>
                              <a:ea typeface="+mn-ea"/>
                              <a:cs typeface="+mn-cs"/>
                            </a:rPr>
                            <m:t>𝑙𝑖𝑚𝑖𝑡</m:t>
                          </m:r>
                        </m:sub>
                      </m:sSub>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𝑒𝑛𝑑</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𝑠𝑡𝑎𝑟𝑡</m:t>
                              </m:r>
                            </m:sub>
                          </m:sSub>
                        </m:e>
                      </m:d>
                      <m:r>
                        <a:rPr lang="en-US" altLang="zh-CN" sz="1200" i="1" kern="1200">
                          <a:solidFill>
                            <a:schemeClr val="tx1"/>
                          </a:solidFill>
                          <a:effectLst/>
                          <a:latin typeface="Cambria Math" panose="02040503050406030204" pitchFamily="18" charset="0"/>
                          <a:ea typeface="+mn-ea"/>
                          <a:cs typeface="+mn-cs"/>
                        </a:rPr>
                        <m:t>𝑎</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sub>
                          <m:r>
                            <a:rPr lang="en-US" altLang="zh-CN" sz="1200" i="1" kern="1200">
                              <a:solidFill>
                                <a:schemeClr val="tx1"/>
                              </a:solidFill>
                              <a:effectLst/>
                              <a:latin typeface="Cambria Math" panose="02040503050406030204" pitchFamily="18" charset="0"/>
                              <a:ea typeface="+mn-ea"/>
                              <a:cs typeface="+mn-cs"/>
                            </a:rPr>
                            <m:t>𝑙𝑖𝑚𝑖𝑡</m:t>
                          </m:r>
                        </m:sub>
                      </m:sSub>
                    </m:oMath>
                  </m:oMathPara>
                </a14:m>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从以上的分析中，我们知道三次多项式时间尺度在起始和结束处会产生无限大的加速度，三段式的梯形加减速运动在</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t</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0,</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a:rPr lang="en-US" altLang="zh-CN" sz="1200" i="1" kern="1200">
                                <a:solidFill>
                                  <a:schemeClr val="tx1"/>
                                </a:solidFill>
                                <a:effectLst/>
                                <a:latin typeface="Cambria Math" panose="02040503050406030204" pitchFamily="18" charset="0"/>
                                <a:ea typeface="+mn-ea"/>
                                <a:cs typeface="+mn-cs"/>
                              </a:rPr>
                              <m:t>𝑎</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a:rPr lang="en-US" altLang="zh-CN" sz="1200" i="1" kern="1200">
                                <a:solidFill>
                                  <a:schemeClr val="tx1"/>
                                </a:solidFill>
                                <a:effectLst/>
                                <a:latin typeface="Cambria Math" panose="02040503050406030204" pitchFamily="18" charset="0"/>
                                <a:ea typeface="+mn-ea"/>
                                <a:cs typeface="+mn-cs"/>
                              </a:rPr>
                              <m:t>𝑎</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𝑇</m:t>
                        </m:r>
                      </m:e>
                    </m:d>
                  </m:oMath>
                </a14:m>
                <a:r>
                  <a:rPr lang="zh-CN" altLang="zh-CN" sz="1200" kern="1200" dirty="0">
                    <a:solidFill>
                      <a:schemeClr val="tx1"/>
                    </a:solidFill>
                    <a:effectLst/>
                    <a:latin typeface="+mn-lt"/>
                    <a:ea typeface="+mn-ea"/>
                    <a:cs typeface="+mn-cs"/>
                  </a:rPr>
                  <a:t>这四个过渡点处也会引起加速度的不连续跳变。在这种情况下，如果直接用时间尺度函数进行关节电机的伺服控制，由于伺服电机加速度突变会导致电机转矩的突变，导致关节力平衡瞬时失步而引起机械臂整体的短时抖动。</a:t>
                </a:r>
              </a:p>
              <a:p>
                <a:r>
                  <a:rPr lang="zh-CN" altLang="zh-CN" sz="1200" kern="1200" dirty="0">
                    <a:solidFill>
                      <a:schemeClr val="tx1"/>
                    </a:solidFill>
                    <a:effectLst/>
                    <a:latin typeface="+mn-lt"/>
                    <a:ea typeface="+mn-ea"/>
                    <a:cs typeface="+mn-cs"/>
                  </a:rPr>
                  <a:t>针对抖动的问题，我们可以借鉴电机控制的加减速优化算法进行轨迹规划的时间尺度函数优化。比如采用</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型加减速算法引入</a:t>
                </a:r>
                <a:r>
                  <a:rPr lang="en-US" altLang="zh-CN" sz="1200" kern="1200" dirty="0">
                    <a:solidFill>
                      <a:schemeClr val="tx1"/>
                    </a:solidFill>
                    <a:effectLst/>
                    <a:latin typeface="+mn-lt"/>
                    <a:ea typeface="+mn-ea"/>
                    <a:cs typeface="+mn-cs"/>
                  </a:rPr>
                  <a:t>S-curve</a:t>
                </a:r>
                <a:r>
                  <a:rPr lang="zh-CN" altLang="zh-CN" sz="1200" kern="1200" dirty="0">
                    <a:solidFill>
                      <a:schemeClr val="tx1"/>
                    </a:solidFill>
                    <a:effectLst/>
                    <a:latin typeface="+mn-lt"/>
                    <a:ea typeface="+mn-ea"/>
                    <a:cs typeface="+mn-cs"/>
                  </a:rPr>
                  <a:t>作为时间尺度函数。</a:t>
                </a:r>
                <a:r>
                  <a:rPr lang="en-US" altLang="zh-CN" sz="1200" kern="1200" dirty="0">
                    <a:solidFill>
                      <a:schemeClr val="tx1"/>
                    </a:solidFill>
                    <a:effectLst/>
                    <a:latin typeface="+mn-lt"/>
                    <a:ea typeface="+mn-ea"/>
                    <a:cs typeface="+mn-cs"/>
                  </a:rPr>
                  <a:t>S-curve</a:t>
                </a:r>
                <a:r>
                  <a:rPr lang="zh-CN" altLang="zh-CN" sz="1200" kern="1200" dirty="0">
                    <a:solidFill>
                      <a:schemeClr val="tx1"/>
                    </a:solidFill>
                    <a:effectLst/>
                    <a:latin typeface="+mn-lt"/>
                    <a:ea typeface="+mn-ea"/>
                    <a:cs typeface="+mn-cs"/>
                  </a:rPr>
                  <a:t>时间尺度由</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个阶段组成：</a:t>
                </a:r>
              </a:p>
              <a:p>
                <a:r>
                  <a:rPr lang="en-US" altLang="zh-CN" sz="1200" kern="1200" dirty="0">
                    <a:solidFill>
                      <a:schemeClr val="tx1"/>
                    </a:solidFill>
                    <a:effectLst/>
                    <a:latin typeface="+mn-lt"/>
                    <a:ea typeface="+mn-ea"/>
                    <a:cs typeface="+mn-cs"/>
                  </a:rPr>
                  <a:t>① </a:t>
                </a:r>
                <a:r>
                  <a:rPr lang="zh-CN" altLang="zh-CN" sz="1200" kern="1200" dirty="0">
                    <a:solidFill>
                      <a:schemeClr val="tx1"/>
                    </a:solidFill>
                    <a:effectLst/>
                    <a:latin typeface="+mn-lt"/>
                    <a:ea typeface="+mn-ea"/>
                    <a:cs typeface="+mn-cs"/>
                  </a:rPr>
                  <a:t>加加速恒定为</a:t>
                </a:r>
                <a14:m>
                  <m:oMath xmlns:m="http://schemas.openxmlformats.org/officeDocument/2006/math">
                    <m:f>
                      <m:fPr>
                        <m:type m:val="skw"/>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𝑑</m:t>
                            </m:r>
                          </m:e>
                          <m:sup>
                            <m:r>
                              <a:rPr lang="en-US" altLang="zh-CN" sz="1200" i="1" kern="1200">
                                <a:solidFill>
                                  <a:schemeClr val="tx1"/>
                                </a:solidFill>
                                <a:effectLst/>
                                <a:latin typeface="Cambria Math" panose="02040503050406030204" pitchFamily="18" charset="0"/>
                                <a:ea typeface="+mn-ea"/>
                                <a:cs typeface="+mn-cs"/>
                              </a:rPr>
                              <m:t>3</m:t>
                            </m:r>
                          </m:sup>
                        </m:sSup>
                        <m:r>
                          <a:rPr lang="en-US" altLang="zh-CN" sz="1200" i="1" kern="1200">
                            <a:solidFill>
                              <a:schemeClr val="tx1"/>
                            </a:solidFill>
                            <a:effectLst/>
                            <a:latin typeface="Cambria Math" panose="02040503050406030204" pitchFamily="18" charset="0"/>
                            <a:ea typeface="+mn-ea"/>
                            <a:cs typeface="+mn-cs"/>
                          </a:rPr>
                          <m:t>𝑠</m:t>
                        </m:r>
                      </m:num>
                      <m:den>
                        <m:r>
                          <a:rPr lang="en-US" altLang="zh-CN" sz="1200" i="1" kern="1200">
                            <a:solidFill>
                              <a:schemeClr val="tx1"/>
                            </a:solidFill>
                            <a:effectLst/>
                            <a:latin typeface="Cambria Math" panose="02040503050406030204" pitchFamily="18" charset="0"/>
                            <a:ea typeface="+mn-ea"/>
                            <a:cs typeface="+mn-cs"/>
                          </a:rPr>
                          <m:t>𝑑</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𝑡</m:t>
                            </m:r>
                          </m:e>
                          <m:sup>
                            <m:r>
                              <a:rPr lang="en-US" altLang="zh-CN" sz="1200" i="1" kern="1200">
                                <a:solidFill>
                                  <a:schemeClr val="tx1"/>
                                </a:solidFill>
                                <a:effectLst/>
                                <a:latin typeface="Cambria Math" panose="02040503050406030204" pitchFamily="18" charset="0"/>
                                <a:ea typeface="+mn-ea"/>
                                <a:cs typeface="+mn-cs"/>
                              </a:rPr>
                              <m:t>3</m:t>
                            </m:r>
                          </m:sup>
                        </m:sSup>
                      </m:den>
                    </m:f>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𝐽</m:t>
                    </m:r>
                  </m:oMath>
                </a14:m>
                <a:r>
                  <a:rPr lang="zh-CN" altLang="zh-CN" sz="1200" kern="1200" dirty="0">
                    <a:solidFill>
                      <a:schemeClr val="tx1"/>
                    </a:solidFill>
                    <a:effectLst/>
                    <a:latin typeface="+mn-lt"/>
                    <a:ea typeface="+mn-ea"/>
                    <a:cs typeface="+mn-cs"/>
                  </a:rPr>
                  <a:t>的阶段，直至达到期望加速度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m:t>
                    </m:r>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② </a:t>
                </a:r>
                <a:r>
                  <a:rPr lang="zh-CN" altLang="zh-CN" sz="1200" kern="1200" dirty="0">
                    <a:solidFill>
                      <a:schemeClr val="tx1"/>
                    </a:solidFill>
                    <a:effectLst/>
                    <a:latin typeface="+mn-lt"/>
                    <a:ea typeface="+mn-ea"/>
                    <a:cs typeface="+mn-cs"/>
                  </a:rPr>
                  <a:t>加速度恒定为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𝑎</m:t>
                    </m:r>
                  </m:oMath>
                </a14:m>
                <a:r>
                  <a:rPr lang="zh-CN" altLang="zh-CN" sz="1200" kern="1200" dirty="0">
                    <a:solidFill>
                      <a:schemeClr val="tx1"/>
                    </a:solidFill>
                    <a:effectLst/>
                    <a:latin typeface="+mn-lt"/>
                    <a:ea typeface="+mn-ea"/>
                    <a:cs typeface="+mn-cs"/>
                  </a:rPr>
                  <a:t>的阶段，直至接近期望速度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③ </a:t>
                </a:r>
                <a:r>
                  <a:rPr lang="zh-CN" altLang="zh-CN" sz="1200" kern="1200" dirty="0">
                    <a:solidFill>
                      <a:schemeClr val="tx1"/>
                    </a:solidFill>
                    <a:effectLst/>
                    <a:latin typeface="+mn-lt"/>
                    <a:ea typeface="+mn-ea"/>
                    <a:cs typeface="+mn-cs"/>
                  </a:rPr>
                  <a:t>加加速恒定为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𝐽</m:t>
                    </m:r>
                  </m:oMath>
                </a14:m>
                <a:r>
                  <a:rPr lang="zh-CN" altLang="zh-CN" sz="1200" kern="1200" dirty="0">
                    <a:solidFill>
                      <a:schemeClr val="tx1"/>
                    </a:solidFill>
                    <a:effectLst/>
                    <a:latin typeface="+mn-lt"/>
                    <a:ea typeface="+mn-ea"/>
                    <a:cs typeface="+mn-cs"/>
                  </a:rPr>
                  <a:t>（负值）的阶段，直至加速度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oMath>
                </a14:m>
                <a:r>
                  <a:rPr lang="zh-CN" altLang="zh-CN" sz="1200" kern="1200" dirty="0">
                    <a:solidFill>
                      <a:schemeClr val="tx1"/>
                    </a:solidFill>
                    <a:effectLst/>
                    <a:latin typeface="+mn-lt"/>
                    <a:ea typeface="+mn-ea"/>
                    <a:cs typeface="+mn-cs"/>
                  </a:rPr>
                  <a:t>在</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时严格等于零；</a:t>
                </a:r>
              </a:p>
              <a:p>
                <a:r>
                  <a:rPr lang="en-US" altLang="zh-CN" sz="1200" kern="1200" dirty="0">
                    <a:solidFill>
                      <a:schemeClr val="tx1"/>
                    </a:solidFill>
                    <a:effectLst/>
                    <a:latin typeface="+mn-lt"/>
                    <a:ea typeface="+mn-ea"/>
                    <a:cs typeface="+mn-cs"/>
                  </a:rPr>
                  <a:t>④ </a:t>
                </a:r>
                <a:r>
                  <a:rPr lang="zh-CN" altLang="zh-CN" sz="1200" kern="1200" dirty="0">
                    <a:solidFill>
                      <a:schemeClr val="tx1"/>
                    </a:solidFill>
                    <a:effectLst/>
                    <a:latin typeface="+mn-lt"/>
                    <a:ea typeface="+mn-ea"/>
                    <a:cs typeface="+mn-cs"/>
                  </a:rPr>
                  <a:t>以恒定速度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滑行的阶段；</a:t>
                </a:r>
              </a:p>
              <a:p>
                <a:r>
                  <a:rPr lang="en-US" altLang="zh-CN" sz="1200" kern="1200" dirty="0">
                    <a:solidFill>
                      <a:schemeClr val="tx1"/>
                    </a:solidFill>
                    <a:effectLst/>
                    <a:latin typeface="+mn-lt"/>
                    <a:ea typeface="+mn-ea"/>
                    <a:cs typeface="+mn-cs"/>
                  </a:rPr>
                  <a:t>⑤ </a:t>
                </a:r>
                <a:r>
                  <a:rPr lang="zh-CN" altLang="zh-CN" sz="1200" kern="1200" dirty="0">
                    <a:solidFill>
                      <a:schemeClr val="tx1"/>
                    </a:solidFill>
                    <a:effectLst/>
                    <a:latin typeface="+mn-lt"/>
                    <a:ea typeface="+mn-ea"/>
                    <a:cs typeface="+mn-cs"/>
                  </a:rPr>
                  <a:t>加加速度恒定为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𝐽</m:t>
                    </m:r>
                  </m:oMath>
                </a14:m>
                <a:r>
                  <a:rPr lang="zh-CN" altLang="zh-CN" sz="1200" kern="1200" dirty="0">
                    <a:solidFill>
                      <a:schemeClr val="tx1"/>
                    </a:solidFill>
                    <a:effectLst/>
                    <a:latin typeface="+mn-lt"/>
                    <a:ea typeface="+mn-ea"/>
                    <a:cs typeface="+mn-cs"/>
                  </a:rPr>
                  <a:t>（负值）的阶段；</a:t>
                </a:r>
              </a:p>
              <a:p>
                <a:r>
                  <a:rPr lang="en-US" altLang="zh-CN" sz="1200" kern="1200" dirty="0">
                    <a:solidFill>
                      <a:schemeClr val="tx1"/>
                    </a:solidFill>
                    <a:effectLst/>
                    <a:latin typeface="+mn-lt"/>
                    <a:ea typeface="+mn-ea"/>
                    <a:cs typeface="+mn-cs"/>
                  </a:rPr>
                  <a:t>⑥ </a:t>
                </a:r>
                <a:r>
                  <a:rPr lang="zh-CN" altLang="zh-CN" sz="1200" kern="1200" dirty="0">
                    <a:solidFill>
                      <a:schemeClr val="tx1"/>
                    </a:solidFill>
                    <a:effectLst/>
                    <a:latin typeface="+mn-lt"/>
                    <a:ea typeface="+mn-ea"/>
                    <a:cs typeface="+mn-cs"/>
                  </a:rPr>
                  <a:t>加速度恒定为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m:t>
                    </m:r>
                  </m:oMath>
                </a14:m>
                <a:r>
                  <a:rPr lang="zh-CN" altLang="zh-CN" sz="1200" kern="1200" dirty="0">
                    <a:solidFill>
                      <a:schemeClr val="tx1"/>
                    </a:solidFill>
                    <a:effectLst/>
                    <a:latin typeface="+mn-lt"/>
                    <a:ea typeface="+mn-ea"/>
                    <a:cs typeface="+mn-cs"/>
                  </a:rPr>
                  <a:t>的阶段；</a:t>
                </a:r>
              </a:p>
              <a:p>
                <a:r>
                  <a:rPr lang="en-US" altLang="zh-CN" sz="1200" kern="1200" dirty="0">
                    <a:solidFill>
                      <a:schemeClr val="tx1"/>
                    </a:solidFill>
                    <a:effectLst/>
                    <a:latin typeface="+mn-lt"/>
                    <a:ea typeface="+mn-ea"/>
                    <a:cs typeface="+mn-cs"/>
                  </a:rPr>
                  <a:t>⑦ </a:t>
                </a:r>
                <a:r>
                  <a:rPr lang="zh-CN" altLang="zh-CN" sz="1200" kern="1200" dirty="0">
                    <a:solidFill>
                      <a:schemeClr val="tx1"/>
                    </a:solidFill>
                    <a:effectLst/>
                    <a:latin typeface="+mn-lt"/>
                    <a:ea typeface="+mn-ea"/>
                    <a:cs typeface="+mn-cs"/>
                  </a:rPr>
                  <a:t>加加速恒定为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𝐽</m:t>
                    </m:r>
                  </m:oMath>
                </a14:m>
                <a:r>
                  <a:rPr lang="zh-CN" altLang="zh-CN" sz="1200" kern="1200" dirty="0">
                    <a:solidFill>
                      <a:schemeClr val="tx1"/>
                    </a:solidFill>
                    <a:effectLst/>
                    <a:latin typeface="+mn-lt"/>
                    <a:ea typeface="+mn-ea"/>
                    <a:cs typeface="+mn-cs"/>
                  </a:rPr>
                  <a:t>（正值）的阶段，直至加速度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oMath>
                </a14:m>
                <a:r>
                  <a:rPr lang="zh-CN" altLang="zh-CN" sz="1200" kern="1200" dirty="0">
                    <a:solidFill>
                      <a:schemeClr val="tx1"/>
                    </a:solidFill>
                    <a:effectLst/>
                    <a:latin typeface="+mn-lt"/>
                    <a:ea typeface="+mn-ea"/>
                    <a:cs typeface="+mn-cs"/>
                  </a:rPr>
                  <a:t>和</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oMath>
                </a14:m>
                <a:r>
                  <a:rPr lang="zh-CN" altLang="zh-CN" sz="1200" kern="1200" dirty="0">
                    <a:solidFill>
                      <a:schemeClr val="tx1"/>
                    </a:solidFill>
                    <a:effectLst/>
                    <a:latin typeface="+mn-lt"/>
                    <a:ea typeface="+mn-ea"/>
                    <a:cs typeface="+mn-cs"/>
                  </a:rPr>
                  <a:t>在位形终点处（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𝑠</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𝑇</m:t>
                        </m:r>
                      </m:e>
                    </m:d>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）为零。</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5.15</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S-curve</a:t>
                </a:r>
                <a:r>
                  <a:rPr lang="zh-CN" altLang="zh-CN" sz="1200" kern="1200" dirty="0">
                    <a:solidFill>
                      <a:schemeClr val="tx1"/>
                    </a:solidFill>
                    <a:effectLst/>
                    <a:latin typeface="+mn-lt"/>
                    <a:ea typeface="+mn-ea"/>
                    <a:cs typeface="+mn-cs"/>
                  </a:rPr>
                  <a:t>方法的时间尺度函数的一阶导（可看作是速度）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𝑠</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曲线，同理，我们通过加速度约束、速度约束以及起始点处的位形约束计算出各个阶段时间尺度函数的二阶导、一阶导以及时间尺度完整方程（分别对应加速度、速度、位形相对于时间的分段规划函数）</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1068"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第一种方法只是点到点规划的一种扩展，如果能较好地规划好路经点的速度，可以很较容易推导实现。</a:t>
            </a:r>
          </a:p>
          <a:p>
            <a:r>
              <a:rPr lang="zh-CN" altLang="zh-CN" sz="1200" kern="1200" dirty="0" smtClean="0">
                <a:solidFill>
                  <a:schemeClr val="tx1"/>
                </a:solidFill>
                <a:effectLst/>
                <a:latin typeface="+mn-lt"/>
                <a:ea typeface="+mn-ea"/>
                <a:cs typeface="+mn-cs"/>
              </a:rPr>
              <a:t>第二种方法只是轨迹逼近路点，例如三阶贝塞尔曲线方程如公式</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另外，在实际的应用中，如果不要求机器人严格经过路点，也可简单规划机器人在路径点前后连续走两条直线轨迹，只是在两条直线过渡处设置一个转弯半径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zh-CN" altLang="zh-CN" sz="1200" kern="1200" dirty="0">
                    <a:solidFill>
                      <a:schemeClr val="tx1"/>
                    </a:solidFill>
                    <a:effectLst/>
                    <a:latin typeface="+mn-lt"/>
                    <a:ea typeface="+mn-ea"/>
                    <a:cs typeface="+mn-cs"/>
                  </a:rPr>
                  <a:t>（交融半径），在过渡段规划一个半径为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zh-CN" altLang="zh-CN" sz="1200" kern="1200" dirty="0">
                    <a:solidFill>
                      <a:schemeClr val="tx1"/>
                    </a:solidFill>
                    <a:effectLst/>
                    <a:latin typeface="+mn-lt"/>
                    <a:ea typeface="+mn-ea"/>
                    <a:cs typeface="+mn-cs"/>
                  </a:rPr>
                  <a:t>的</a:t>
                </a:r>
                <a:r>
                  <a:rPr lang="zh-CN" altLang="zh-CN" sz="1200" kern="1200" dirty="0" smtClean="0">
                    <a:solidFill>
                      <a:schemeClr val="tx1"/>
                    </a:solidFill>
                    <a:effectLst/>
                    <a:latin typeface="+mn-lt"/>
                    <a:ea typeface="+mn-ea"/>
                    <a:cs typeface="+mn-cs"/>
                  </a:rPr>
                  <a:t>圆弧</a:t>
                </a:r>
                <a:r>
                  <a:rPr lang="zh-CN" altLang="en-US"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或者采用抛物线过渡函数或者三次（五次）多项式函数进行插值。</a:t>
                </a:r>
                <a:r>
                  <a:rPr lang="zh-CN" altLang="en-US" sz="1200" kern="1200" dirty="0" smtClean="0">
                    <a:solidFill>
                      <a:schemeClr val="tx1"/>
                    </a:solidFill>
                    <a:effectLst/>
                    <a:latin typeface="+mn-lt"/>
                    <a:ea typeface="+mn-ea"/>
                    <a:cs typeface="+mn-cs"/>
                  </a:rPr>
                  <a:t>如果我们希望轨迹严格通过某个路点，也可以设置一些“伪路点”，而在抛物线插值方法的直线段严格经过原始路点。</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在轨迹生成算法中，需要根据作业要求采取不同的轨迹规划算法，满足不同程度的作业轨迹、速度控制等要求。当然我们也可以采用时间尺度函数进行时间最优的求解，但需要注意加速度的连续性。</a:t>
                </a: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在这种情况下，我们将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按前面介绍过的规则进行处理之后，机器人表示为一个不能旋转的点，它处于一个多边形的世界中。如图</a:t>
                </a:r>
                <a:r>
                  <a:rPr lang="en-US" altLang="zh-CN" sz="1200" kern="1200" dirty="0">
                    <a:solidFill>
                      <a:schemeClr val="tx1"/>
                    </a:solidFill>
                    <a:effectLst/>
                    <a:latin typeface="+mn-lt"/>
                    <a:ea typeface="+mn-ea"/>
                    <a:cs typeface="+mn-cs"/>
                  </a:rPr>
                  <a:t>5.20</a:t>
                </a:r>
                <a:r>
                  <a:rPr lang="zh-CN" altLang="zh-CN" sz="1200" kern="1200" dirty="0">
                    <a:solidFill>
                      <a:schemeClr val="tx1"/>
                    </a:solidFill>
                    <a:effectLst/>
                    <a:latin typeface="+mn-lt"/>
                    <a:ea typeface="+mn-ea"/>
                    <a:cs typeface="+mn-cs"/>
                  </a:rPr>
                  <a:t>所示</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机器人为多变形障碍物世界中的一个点，组合路径规划方法需要找出一条在从起点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𝐼</m:t>
                        </m:r>
                      </m:sub>
                    </m:sSub>
                  </m:oMath>
                </a14:m>
                <a:r>
                  <a:rPr lang="zh-CN" altLang="zh-CN" sz="1200" kern="1200" dirty="0">
                    <a:solidFill>
                      <a:schemeClr val="tx1"/>
                    </a:solidFill>
                    <a:effectLst/>
                    <a:latin typeface="+mn-lt"/>
                    <a:ea typeface="+mn-ea"/>
                    <a:cs typeface="+mn-cs"/>
                  </a:rPr>
                  <a:t>到目标点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𝐺</m:t>
                        </m:r>
                      </m:sub>
                    </m:sSub>
                  </m:oMath>
                </a14:m>
                <a:r>
                  <a:rPr lang="zh-CN" altLang="zh-CN" sz="1200" kern="1200" dirty="0">
                    <a:solidFill>
                      <a:schemeClr val="tx1"/>
                    </a:solidFill>
                    <a:effectLst/>
                    <a:latin typeface="+mn-lt"/>
                    <a:ea typeface="+mn-ea"/>
                    <a:cs typeface="+mn-cs"/>
                  </a:rPr>
                  <a:t>的一条无碰路径。</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b="1" kern="1200" dirty="0" smtClean="0">
                    <a:solidFill>
                      <a:schemeClr val="tx1"/>
                    </a:solidFill>
                    <a:effectLst/>
                    <a:latin typeface="+mn-lt"/>
                    <a:ea typeface="+mn-ea"/>
                    <a:cs typeface="+mn-cs"/>
                  </a:rPr>
                  <a:t>可视图法</a:t>
                </a:r>
                <a:r>
                  <a:rPr lang="zh-CN" altLang="zh-CN" sz="1200" kern="1200" dirty="0">
                    <a:solidFill>
                      <a:schemeClr val="tx1"/>
                    </a:solidFill>
                    <a:effectLst/>
                    <a:latin typeface="+mn-lt"/>
                    <a:ea typeface="+mn-ea"/>
                    <a:cs typeface="+mn-cs"/>
                  </a:rPr>
                  <a:t>的思想是将可行的路径构造成通过</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顶点，从起点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𝐼</m:t>
                        </m:r>
                      </m:sub>
                    </m:sSub>
                  </m:oMath>
                </a14:m>
                <a:r>
                  <a:rPr lang="zh-CN" altLang="zh-CN" sz="1200" kern="1200" dirty="0">
                    <a:solidFill>
                      <a:schemeClr val="tx1"/>
                    </a:solidFill>
                    <a:effectLst/>
                    <a:latin typeface="+mn-lt"/>
                    <a:ea typeface="+mn-ea"/>
                    <a:cs typeface="+mn-cs"/>
                  </a:rPr>
                  <a:t>到目标点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𝐺</m:t>
                        </m:r>
                      </m:sub>
                    </m:sSub>
                  </m:oMath>
                </a14:m>
                <a:r>
                  <a:rPr lang="zh-CN" altLang="zh-CN" sz="1200" kern="1200" dirty="0">
                    <a:solidFill>
                      <a:schemeClr val="tx1"/>
                    </a:solidFill>
                    <a:effectLst/>
                    <a:latin typeface="+mn-lt"/>
                    <a:ea typeface="+mn-ea"/>
                    <a:cs typeface="+mn-cs"/>
                  </a:rPr>
                  <a:t>的一系列折线，然后再在所有可能的折线中，采用图搜索算法如</a:t>
                </a:r>
                <a:r>
                  <a:rPr lang="en-US" altLang="zh-CN" sz="1200" kern="1200" dirty="0" err="1">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最短路径算法寻找一条最优路径。如图</a:t>
                </a:r>
                <a:r>
                  <a:rPr lang="en-US" altLang="zh-CN" sz="1200" kern="1200" dirty="0">
                    <a:solidFill>
                      <a:schemeClr val="tx1"/>
                    </a:solidFill>
                    <a:effectLst/>
                    <a:latin typeface="+mn-lt"/>
                    <a:ea typeface="+mn-ea"/>
                    <a:cs typeface="+mn-cs"/>
                  </a:rPr>
                  <a:t>5.21</a:t>
                </a:r>
                <a:r>
                  <a:rPr lang="zh-CN" altLang="zh-CN" sz="1200" kern="1200" dirty="0">
                    <a:solidFill>
                      <a:schemeClr val="tx1"/>
                    </a:solidFill>
                    <a:effectLst/>
                    <a:latin typeface="+mn-lt"/>
                    <a:ea typeface="+mn-ea"/>
                    <a:cs typeface="+mn-cs"/>
                  </a:rPr>
                  <a:t>所示，这是一种最早的地图构建方法之一</a:t>
                </a:r>
                <a:r>
                  <a:rPr lang="zh-CN" altLang="zh-CN" sz="1200" strike="sngStrike" kern="1200" dirty="0">
                    <a:solidFill>
                      <a:schemeClr val="tx1"/>
                    </a:solidFill>
                    <a:effectLst/>
                    <a:latin typeface="+mn-lt"/>
                    <a:ea typeface="+mn-ea"/>
                    <a:cs typeface="+mn-cs"/>
                  </a:rPr>
                  <a:t>，该算法的时间复杂度为</a:t>
                </a:r>
                <a14:m>
                  <m:oMath xmlns:m="http://schemas.openxmlformats.org/officeDocument/2006/math">
                    <m:r>
                      <m:rPr>
                        <m:sty m:val="p"/>
                      </m:rPr>
                      <a:rPr lang="en-US" altLang="zh-CN" sz="1200" strike="sngStrike" kern="1200">
                        <a:solidFill>
                          <a:schemeClr val="tx1"/>
                        </a:solidFill>
                        <a:effectLst/>
                        <a:latin typeface="Cambria Math" panose="02040503050406030204" pitchFamily="18" charset="0"/>
                        <a:ea typeface="+mn-ea"/>
                        <a:cs typeface="+mn-cs"/>
                      </a:rPr>
                      <m:t>O</m:t>
                    </m:r>
                    <m:r>
                      <a:rPr lang="en-US" altLang="zh-CN" sz="1200" strike="sngStrike" kern="1200">
                        <a:solidFill>
                          <a:schemeClr val="tx1"/>
                        </a:solidFill>
                        <a:effectLst/>
                        <a:latin typeface="Cambria Math" panose="02040503050406030204" pitchFamily="18" charset="0"/>
                        <a:ea typeface="+mn-ea"/>
                        <a:cs typeface="+mn-cs"/>
                      </a:rPr>
                      <m:t>(</m:t>
                    </m:r>
                    <m:sSup>
                      <m:sSupPr>
                        <m:ctrlPr>
                          <a:rPr lang="zh-CN" altLang="zh-CN" sz="1200" i="1" strike="sngStrike" kern="1200">
                            <a:solidFill>
                              <a:schemeClr val="tx1"/>
                            </a:solidFill>
                            <a:effectLst/>
                            <a:latin typeface="Cambria Math" panose="02040503050406030204" pitchFamily="18" charset="0"/>
                            <a:ea typeface="+mn-ea"/>
                            <a:cs typeface="+mn-cs"/>
                          </a:rPr>
                        </m:ctrlPr>
                      </m:sSupPr>
                      <m:e>
                        <m:r>
                          <a:rPr lang="en-US" altLang="zh-CN" sz="1200" i="1" strike="sngStrike" kern="1200">
                            <a:solidFill>
                              <a:schemeClr val="tx1"/>
                            </a:solidFill>
                            <a:effectLst/>
                            <a:latin typeface="Cambria Math" panose="02040503050406030204" pitchFamily="18" charset="0"/>
                            <a:ea typeface="+mn-ea"/>
                            <a:cs typeface="+mn-cs"/>
                          </a:rPr>
                          <m:t>𝑛</m:t>
                        </m:r>
                      </m:e>
                      <m:sup>
                        <m:r>
                          <a:rPr lang="en-US" altLang="zh-CN" sz="1200" i="1" strike="sngStrike" kern="1200">
                            <a:solidFill>
                              <a:schemeClr val="tx1"/>
                            </a:solidFill>
                            <a:effectLst/>
                            <a:latin typeface="Cambria Math" panose="02040503050406030204" pitchFamily="18" charset="0"/>
                            <a:ea typeface="+mn-ea"/>
                            <a:cs typeface="+mn-cs"/>
                          </a:rPr>
                          <m:t>2</m:t>
                        </m:r>
                      </m:sup>
                    </m:sSup>
                    <m:func>
                      <m:funcPr>
                        <m:ctrlPr>
                          <a:rPr lang="zh-CN" altLang="zh-CN" sz="1200" i="1" strike="sngStrike" kern="1200">
                            <a:solidFill>
                              <a:schemeClr val="tx1"/>
                            </a:solidFill>
                            <a:effectLst/>
                            <a:latin typeface="Cambria Math" panose="02040503050406030204" pitchFamily="18" charset="0"/>
                            <a:ea typeface="+mn-ea"/>
                            <a:cs typeface="+mn-cs"/>
                          </a:rPr>
                        </m:ctrlPr>
                      </m:funcPr>
                      <m:fName>
                        <m:r>
                          <m:rPr>
                            <m:sty m:val="p"/>
                          </m:rPr>
                          <a:rPr lang="en-US" altLang="zh-CN" sz="1200" strike="sngStrike" kern="1200">
                            <a:solidFill>
                              <a:schemeClr val="tx1"/>
                            </a:solidFill>
                            <a:effectLst/>
                            <a:latin typeface="Cambria Math" panose="02040503050406030204" pitchFamily="18" charset="0"/>
                            <a:ea typeface="+mn-ea"/>
                            <a:cs typeface="+mn-cs"/>
                          </a:rPr>
                          <m:t>log</m:t>
                        </m:r>
                      </m:fName>
                      <m:e>
                        <m:r>
                          <a:rPr lang="en-US" altLang="zh-CN" sz="1200" i="1" strike="sngStrike" kern="1200">
                            <a:solidFill>
                              <a:schemeClr val="tx1"/>
                            </a:solidFill>
                            <a:effectLst/>
                            <a:latin typeface="Cambria Math" panose="02040503050406030204" pitchFamily="18" charset="0"/>
                            <a:ea typeface="+mn-ea"/>
                            <a:cs typeface="+mn-cs"/>
                          </a:rPr>
                          <m:t>𝑛</m:t>
                        </m:r>
                      </m:e>
                    </m:func>
                    <m:r>
                      <a:rPr lang="en-US" altLang="zh-CN" sz="1200" strike="sngStrike" kern="1200">
                        <a:solidFill>
                          <a:schemeClr val="tx1"/>
                        </a:solidFill>
                        <a:effectLst/>
                        <a:latin typeface="Cambria Math" panose="02040503050406030204" pitchFamily="18" charset="0"/>
                        <a:ea typeface="+mn-ea"/>
                        <a:cs typeface="+mn-cs"/>
                      </a:rPr>
                      <m:t>)</m:t>
                    </m:r>
                  </m:oMath>
                </a14:m>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5.21</a:t>
                </a:r>
                <a:r>
                  <a:rPr lang="zh-CN" altLang="zh-CN" sz="1200" kern="1200" dirty="0">
                    <a:solidFill>
                      <a:schemeClr val="tx1"/>
                    </a:solidFill>
                    <a:effectLst/>
                    <a:latin typeface="+mn-lt"/>
                    <a:ea typeface="+mn-ea"/>
                    <a:cs typeface="+mn-cs"/>
                  </a:rPr>
                  <a:t>中，可视图为一种无向图，图中的可行路径节点由起始节点以及所有</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顶点组成，每两个节点连接的边不能穿过</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，即直线是“可视”的，其边长权重欧几里得距离。</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First, draw lines of sight from the start and goal to all “visible” vertices and corners of the world. </a:t>
            </a:r>
            <a:endParaRPr lang="zh-CN" altLang="en-US" dirty="0" smtClean="0"/>
          </a:p>
          <a:p>
            <a:r>
              <a:rPr lang="zh-CN" altLang="en-US" dirty="0" smtClean="0"/>
              <a:t>首先从起点和目标点向所有障碍物和环境的可视顶点或拐角画线</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This is an error</a:t>
            </a:r>
            <a:r>
              <a:rPr lang="en-US" altLang="zh-CN" baseline="0" dirty="0" smtClean="0"/>
              <a:t> link, the obstacle middle </a:t>
            </a:r>
            <a:r>
              <a:rPr lang="en-US" altLang="zh-CN" dirty="0" smtClean="0"/>
              <a:t>vertex</a:t>
            </a:r>
            <a:r>
              <a:rPr lang="en-US" altLang="zh-CN" baseline="0" dirty="0" smtClean="0"/>
              <a:t> is ‘</a:t>
            </a:r>
            <a:r>
              <a:rPr lang="en-US" altLang="zh-CN" dirty="0" smtClean="0"/>
              <a:t>Invisible’ to start point</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继续第二步，从每个障碍物的顶点向其余所有可见障碍物的顶点和环境的拐角画线，注意边线是可见的。</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Continue, Second step , draw lines of sight from every vertex of every obstacle like before. Remember lines along edges are also lines of sight.</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继续第二步，从每个障碍物的顶点向其余所有可见障碍物的顶点和环境的拐角画线，注意边线是可见的。</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Continue, Second step , draw lines of sight from every vertex of every obstacle like before. Remember lines along edges are also lines of sight.</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最后直至所有的顶点都与其余可视顶点连接，即可得到完整的可视图</a:t>
            </a:r>
            <a:endParaRPr lang="en-US" altLang="zh-CN" dirty="0" smtClean="0"/>
          </a:p>
          <a:p>
            <a:r>
              <a:rPr lang="en-US" altLang="zh-CN" dirty="0" smtClean="0"/>
              <a:t>Repeat until you’re done.</a:t>
            </a:r>
          </a:p>
          <a:p>
            <a:r>
              <a:rPr lang="en-US" altLang="zh-CN" dirty="0" smtClean="0"/>
              <a:t>Since the map was in C-space, each line potentially represents part of a path from the start to the goal.</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smtClean="0"/>
          </a:p>
          <a:p>
            <a:r>
              <a:rPr lang="zh-CN" altLang="en-US" sz="1200" b="0" i="0" kern="1200" dirty="0" smtClean="0">
                <a:solidFill>
                  <a:schemeClr val="tx1"/>
                </a:solidFill>
                <a:effectLst/>
                <a:latin typeface="+mn-lt"/>
                <a:ea typeface="+mn-ea"/>
                <a:cs typeface="+mn-cs"/>
              </a:rPr>
              <a:t>可视图法视移动机器人为一点，将机器人、目标点和多边形障碍物的各顶点进行组合连接，并保证这些直线均不与障碍物相交，这就形成了一张图，称为可视图。由于任意两直线的顶点都是可见的，从起点沿着这些直线到达目标点的所有路径均是运动物体的无碰路径。搜索最优路径的问题就转化为从起点到目标点经过这些可视直线的最短距离问题。运用优化算法，可删除一些不必要的连线以简化可视图，缩短搜索时间。该法能够求得最短路径，但假设忽略移动机器人的尺寸大小，使得机器人通过障碍物顶点时离障碍物太近甚至接触，并且搜索时间长。</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dirty="0" smtClean="0"/>
              <a:t>Visibility graph drawbacks</a:t>
            </a:r>
          </a:p>
          <a:p>
            <a:r>
              <a:rPr lang="en-US" altLang="zh-CN" dirty="0" smtClean="0"/>
              <a:t> Visibility graphs do not preserve their optimality in higher dimensions.</a:t>
            </a:r>
          </a:p>
          <a:p>
            <a:r>
              <a:rPr lang="en-US" altLang="zh-CN" dirty="0" smtClean="0"/>
              <a:t>In addition, the paths they find are “semi-free,” i.e. in contact with obstacles.  </a:t>
            </a:r>
          </a:p>
          <a:p>
            <a:r>
              <a:rPr lang="en-US" altLang="zh-CN" dirty="0" smtClean="0"/>
              <a:t>No clearance.</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dirty="0" smtClean="0"/>
              <a:t>•	It turns out we need only keep</a:t>
            </a:r>
          </a:p>
          <a:p>
            <a:r>
              <a:rPr lang="en-US" altLang="zh-CN" dirty="0" smtClean="0"/>
              <a:t>–	convex vertices of C-obstacle</a:t>
            </a:r>
          </a:p>
          <a:p>
            <a:r>
              <a:rPr lang="en-US" altLang="zh-CN" dirty="0" smtClean="0"/>
              <a:t>–	non-CB edges that are tangent segments</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图法是由俄国数学家</a:t>
            </a:r>
            <a:r>
              <a:rPr lang="en-US" altLang="zh-CN" sz="1200" kern="1200" dirty="0" smtClean="0">
                <a:solidFill>
                  <a:schemeClr val="tx1"/>
                </a:solidFill>
                <a:effectLst/>
                <a:latin typeface="+mn-lt"/>
                <a:ea typeface="+mn-ea"/>
                <a:cs typeface="+mn-cs"/>
              </a:rPr>
              <a:t>Georgy </a:t>
            </a:r>
            <a:r>
              <a:rPr lang="en-US" altLang="zh-CN" sz="1200" kern="1200" dirty="0" err="1" smtClean="0">
                <a:solidFill>
                  <a:schemeClr val="tx1"/>
                </a:solidFill>
                <a:effectLst/>
                <a:latin typeface="+mn-lt"/>
                <a:ea typeface="+mn-ea"/>
                <a:cs typeface="+mn-cs"/>
              </a:rPr>
              <a:t>Fedoseevich</a:t>
            </a:r>
            <a:r>
              <a:rPr lang="en-US" altLang="zh-CN" sz="1200" kern="1200" dirty="0" smtClean="0">
                <a:solidFill>
                  <a:schemeClr val="tx1"/>
                </a:solidFill>
                <a:effectLst/>
                <a:latin typeface="+mn-lt"/>
                <a:ea typeface="+mn-ea"/>
                <a:cs typeface="+mn-cs"/>
              </a:rPr>
              <a:t> </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建立的空间分割算法，狭义</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图以一些离散点为基，生成一系列图元，每个图元到其对应基的距离比到其他基的距离都要短，而图元边界上的点到两个或者多个基的距离相等。在路径规划中，考虑到所规划路径的安全性，需要建立广义的</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图，即</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图上的节点到两个或多个障碍物的距离是相等的，也就是</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图的节点是距离障碍物最远的点。</a:t>
            </a:r>
          </a:p>
          <a:p>
            <a:r>
              <a:rPr lang="zh-CN" altLang="zh-CN" sz="1200" kern="1200" dirty="0" smtClean="0">
                <a:solidFill>
                  <a:schemeClr val="tx1"/>
                </a:solidFill>
                <a:effectLst/>
                <a:latin typeface="+mn-lt"/>
                <a:ea typeface="+mn-ea"/>
                <a:cs typeface="+mn-cs"/>
              </a:rPr>
              <a:t>广义</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图是对可视图法的一种改进，可视图法仅适用于多边形障碍物，对圆形障碍物失效。</a:t>
            </a:r>
            <a:r>
              <a:rPr lang="en-US" altLang="zh-CN" sz="1200" kern="1200" dirty="0" err="1"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图将生成元两两相连接，并且对连接线段作垂直平分线，若干条垂直平分线之间的交线形成一些多边形，这样就把一个整区域划分成了一些分区域，每一个分区域中都只包含一个生成元。如图</a:t>
            </a:r>
            <a:r>
              <a:rPr lang="en-US" altLang="zh-CN" sz="1200" kern="1200" dirty="0" smtClean="0">
                <a:solidFill>
                  <a:schemeClr val="tx1"/>
                </a:solidFill>
                <a:effectLst/>
                <a:latin typeface="+mn-lt"/>
                <a:ea typeface="+mn-ea"/>
                <a:cs typeface="+mn-cs"/>
              </a:rPr>
              <a:t>5.22</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得到</a:t>
                </a:r>
                <a:r>
                  <a:rPr lang="en-US" altLang="zh-CN" sz="1200" kern="1200" dirty="0" err="1">
                    <a:solidFill>
                      <a:schemeClr val="tx1"/>
                    </a:solidFill>
                    <a:effectLst/>
                    <a:latin typeface="+mn-lt"/>
                    <a:ea typeface="+mn-ea"/>
                    <a:cs typeface="+mn-cs"/>
                  </a:rPr>
                  <a:t>Voronoi</a:t>
                </a:r>
                <a:r>
                  <a:rPr lang="zh-CN" altLang="zh-CN" sz="1200" kern="1200" dirty="0">
                    <a:solidFill>
                      <a:schemeClr val="tx1"/>
                    </a:solidFill>
                    <a:effectLst/>
                    <a:latin typeface="+mn-lt"/>
                    <a:ea typeface="+mn-ea"/>
                    <a:cs typeface="+mn-cs"/>
                  </a:rPr>
                  <a:t>图之后，确定起点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𝐼</m:t>
                        </m:r>
                      </m:sub>
                    </m:sSub>
                  </m:oMath>
                </a14:m>
                <a:r>
                  <a:rPr lang="zh-CN" altLang="zh-CN" sz="1200" kern="1200" dirty="0">
                    <a:solidFill>
                      <a:schemeClr val="tx1"/>
                    </a:solidFill>
                    <a:effectLst/>
                    <a:latin typeface="+mn-lt"/>
                    <a:ea typeface="+mn-ea"/>
                    <a:cs typeface="+mn-cs"/>
                  </a:rPr>
                  <a:t>、目标点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𝐺</m:t>
                        </m:r>
                      </m:sub>
                    </m:sSub>
                  </m:oMath>
                </a14:m>
                <a:r>
                  <a:rPr lang="zh-CN" altLang="zh-CN" sz="1200" kern="1200" dirty="0" smtClean="0">
                    <a:solidFill>
                      <a:schemeClr val="tx1"/>
                    </a:solidFill>
                    <a:effectLst/>
                    <a:latin typeface="+mn-lt"/>
                    <a:ea typeface="+mn-ea"/>
                    <a:cs typeface="+mn-cs"/>
                  </a:rPr>
                  <a:t>到</a:t>
                </a:r>
                <a:r>
                  <a:rPr lang="en-US" altLang="zh-CN" sz="1200" kern="1200" dirty="0" smtClean="0">
                    <a:solidFill>
                      <a:schemeClr val="tx1"/>
                    </a:solidFill>
                    <a:effectLst/>
                    <a:latin typeface="+mn-lt"/>
                    <a:ea typeface="+mn-ea"/>
                    <a:cs typeface="+mn-cs"/>
                  </a:rPr>
                  <a:t>Voronoi</a:t>
                </a:r>
                <a:r>
                  <a:rPr lang="zh-CN" altLang="zh-CN" sz="1200" kern="1200" dirty="0" smtClean="0">
                    <a:solidFill>
                      <a:schemeClr val="tx1"/>
                    </a:solidFill>
                    <a:effectLst/>
                    <a:latin typeface="+mn-lt"/>
                    <a:ea typeface="+mn-ea"/>
                    <a:cs typeface="+mn-cs"/>
                  </a:rPr>
                  <a:t>子图</a:t>
                </a:r>
                <a:r>
                  <a:rPr lang="zh-CN" altLang="zh-CN" sz="1200" kern="1200" dirty="0">
                    <a:solidFill>
                      <a:schemeClr val="tx1"/>
                    </a:solidFill>
                    <a:effectLst/>
                    <a:latin typeface="+mn-lt"/>
                    <a:ea typeface="+mn-ea"/>
                    <a:cs typeface="+mn-cs"/>
                  </a:rPr>
                  <a:t>的最近点，并将其连接，然后通过图搜索算法如</a:t>
                </a:r>
                <a:r>
                  <a:rPr lang="en-US" altLang="zh-CN" sz="1200" kern="1200" dirty="0" err="1">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算法寻找最优路径路径。</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en-US" dirty="0" smtClean="0"/>
              <a:t>初始化地图数据，其中红色色块为障碍物，绿色圆圈表示圆形运动体，它在起点的位置上，红色*表示目标点。</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en-US" dirty="0" smtClean="0">
                <a:effectLst/>
              </a:rPr>
              <a:t>之后，得到障碍物的外接圆，并“增长”外接圆，此时与运动体可作为单点处理。</a:t>
            </a:r>
          </a:p>
        </p:txBody>
      </p:sp>
      <p:sp>
        <p:nvSpPr>
          <p:cNvPr id="4" name="灯片编号占位符 3"/>
          <p:cNvSpPr>
            <a:spLocks noGrp="1"/>
          </p:cNvSpPr>
          <p:nvPr>
            <p:ph type="sldNum" sz="quarter" idx="10"/>
          </p:nvPr>
        </p:nvSpPr>
        <p:spPr/>
        <p:txBody>
          <a:bodyPr/>
          <a:lstStyle/>
          <a:p>
            <a:fld id="{1C147A23-5BA8-44CE-9215-79B767159C41}"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精确单元分解法</a:t>
                </a:r>
                <a:r>
                  <a:rPr lang="en-US" altLang="zh-CN" sz="1200" kern="1200" dirty="0">
                    <a:solidFill>
                      <a:schemeClr val="tx1"/>
                    </a:solidFill>
                    <a:effectLst/>
                    <a:latin typeface="+mn-lt"/>
                    <a:ea typeface="+mn-ea"/>
                    <a:cs typeface="+mn-cs"/>
                  </a:rPr>
                  <a:t>ECD</a:t>
                </a:r>
                <a:r>
                  <a:rPr lang="zh-CN" altLang="zh-CN" sz="1200" kern="1200" dirty="0">
                    <a:solidFill>
                      <a:schemeClr val="tx1"/>
                    </a:solidFill>
                    <a:effectLst/>
                    <a:latin typeface="+mn-lt"/>
                    <a:ea typeface="+mn-ea"/>
                    <a:cs typeface="+mn-cs"/>
                  </a:rPr>
                  <a:t>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分解为互不重叠的单元栅格，构造连通图（</a:t>
                </a:r>
                <a:r>
                  <a:rPr lang="en-US" altLang="zh-CN" sz="1200" kern="1200" dirty="0">
                    <a:solidFill>
                      <a:schemeClr val="tx1"/>
                    </a:solidFill>
                    <a:effectLst/>
                    <a:latin typeface="+mn-lt"/>
                    <a:ea typeface="+mn-ea"/>
                    <a:cs typeface="+mn-cs"/>
                  </a:rPr>
                  <a:t>connectivity graph</a:t>
                </a:r>
                <a:r>
                  <a:rPr lang="zh-CN" altLang="zh-CN" sz="1200" kern="1200" dirty="0">
                    <a:solidFill>
                      <a:schemeClr val="tx1"/>
                    </a:solidFill>
                    <a:effectLst/>
                    <a:latin typeface="+mn-lt"/>
                    <a:ea typeface="+mn-ea"/>
                    <a:cs typeface="+mn-cs"/>
                  </a:rPr>
                  <a:t>）来表示邻接关系，然后通过图搜索算法如</a:t>
                </a:r>
                <a:r>
                  <a:rPr lang="en-US" altLang="zh-CN" sz="1200" kern="1200" dirty="0" err="1">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算法寻找最优路径路径。</a:t>
                </a:r>
              </a:p>
              <a:p>
                <a:r>
                  <a:rPr lang="zh-CN" altLang="zh-CN" sz="1200" kern="1200" dirty="0">
                    <a:solidFill>
                      <a:schemeClr val="tx1"/>
                    </a:solidFill>
                    <a:effectLst/>
                    <a:latin typeface="+mn-lt"/>
                    <a:ea typeface="+mn-ea"/>
                    <a:cs typeface="+mn-cs"/>
                  </a:rPr>
                  <a:t>其中一种典型的算法实现步骤如下：</a:t>
                </a:r>
              </a:p>
              <a:p>
                <a:pPr lvl="0"/>
                <a:r>
                  <a:rPr lang="zh-CN" altLang="zh-CN" sz="1200" kern="1200" dirty="0">
                    <a:solidFill>
                      <a:schemeClr val="tx1"/>
                    </a:solidFill>
                    <a:effectLst/>
                    <a:latin typeface="+mn-lt"/>
                    <a:ea typeface="+mn-ea"/>
                    <a:cs typeface="+mn-cs"/>
                  </a:rPr>
                  <a:t>通过从每个</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多边形顶点向上和向下发射垂直光线（垂直线不能透过障碍物</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分解为具有垂直边段的梯形；</a:t>
                </a:r>
              </a:p>
              <a:p>
                <a:pPr lvl="0"/>
                <a:r>
                  <a:rPr lang="zh-CN" altLang="zh-CN" sz="1200" kern="1200" dirty="0">
                    <a:solidFill>
                      <a:schemeClr val="tx1"/>
                    </a:solidFill>
                    <a:effectLst/>
                    <a:latin typeface="+mn-lt"/>
                    <a:ea typeface="+mn-ea"/>
                    <a:cs typeface="+mn-cs"/>
                  </a:rPr>
                  <a:t>在每个梯形的内部放置一个顶点，例如中心点；</a:t>
                </a:r>
              </a:p>
              <a:p>
                <a:pPr lvl="0"/>
                <a:r>
                  <a:rPr lang="zh-CN" altLang="zh-CN" sz="1200" kern="1200" dirty="0">
                    <a:solidFill>
                      <a:schemeClr val="tx1"/>
                    </a:solidFill>
                    <a:effectLst/>
                    <a:latin typeface="+mn-lt"/>
                    <a:ea typeface="+mn-ea"/>
                    <a:cs typeface="+mn-cs"/>
                  </a:rPr>
                  <a:t>在每个垂直线段中放置一个顶点；</a:t>
                </a:r>
              </a:p>
              <a:p>
                <a:pPr lvl="0"/>
                <a:r>
                  <a:rPr lang="zh-CN" altLang="zh-CN" sz="1200" kern="1200" dirty="0">
                    <a:solidFill>
                      <a:schemeClr val="tx1"/>
                    </a:solidFill>
                    <a:effectLst/>
                    <a:latin typeface="+mn-lt"/>
                    <a:ea typeface="+mn-ea"/>
                    <a:cs typeface="+mn-cs"/>
                  </a:rPr>
                  <a:t>连接顶点；</a:t>
                </a:r>
              </a:p>
              <a:p>
                <a:pPr lvl="0"/>
                <a:r>
                  <a:rPr lang="zh-CN" altLang="zh-CN" sz="1200" kern="1200" dirty="0">
                    <a:solidFill>
                      <a:schemeClr val="tx1"/>
                    </a:solidFill>
                    <a:effectLst/>
                    <a:latin typeface="+mn-lt"/>
                    <a:ea typeface="+mn-ea"/>
                    <a:cs typeface="+mn-cs"/>
                  </a:rPr>
                  <a:t>寻找从起点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𝐼</m:t>
                        </m:r>
                      </m:sub>
                    </m:sSub>
                  </m:oMath>
                </a14:m>
                <a:r>
                  <a:rPr lang="zh-CN" altLang="zh-CN" sz="1200" kern="1200" dirty="0">
                    <a:solidFill>
                      <a:schemeClr val="tx1"/>
                    </a:solidFill>
                    <a:effectLst/>
                    <a:latin typeface="+mn-lt"/>
                    <a:ea typeface="+mn-ea"/>
                    <a:cs typeface="+mn-cs"/>
                  </a:rPr>
                  <a:t>到目标点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𝐺</m:t>
                        </m:r>
                      </m:sub>
                    </m:sSub>
                  </m:oMath>
                </a14:m>
                <a:r>
                  <a:rPr lang="zh-CN" altLang="zh-CN" sz="1200" kern="1200" dirty="0">
                    <a:solidFill>
                      <a:schemeClr val="tx1"/>
                    </a:solidFill>
                    <a:effectLst/>
                    <a:latin typeface="+mn-lt"/>
                    <a:ea typeface="+mn-ea"/>
                    <a:cs typeface="+mn-cs"/>
                  </a:rPr>
                  <a:t>的一条最优路径。</a:t>
                </a:r>
              </a:p>
              <a:p>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精确单元分解法</a:t>
                </a:r>
                <a:r>
                  <a:rPr lang="en-US" altLang="zh-CN" sz="1200" kern="1200" dirty="0">
                    <a:solidFill>
                      <a:schemeClr val="tx1"/>
                    </a:solidFill>
                    <a:effectLst/>
                    <a:latin typeface="+mn-lt"/>
                    <a:ea typeface="+mn-ea"/>
                    <a:cs typeface="+mn-cs"/>
                  </a:rPr>
                  <a:t>ECD</a:t>
                </a:r>
                <a:r>
                  <a:rPr lang="zh-CN" altLang="zh-CN" sz="1200" kern="1200" dirty="0">
                    <a:solidFill>
                      <a:schemeClr val="tx1"/>
                    </a:solidFill>
                    <a:effectLst/>
                    <a:latin typeface="+mn-lt"/>
                    <a:ea typeface="+mn-ea"/>
                    <a:cs typeface="+mn-cs"/>
                  </a:rPr>
                  <a:t>对于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具有复杂几何形状的环境来说会导致算法效率的低下。而近似单元分解法</a:t>
                </a:r>
                <a:r>
                  <a:rPr lang="en-US" altLang="zh-CN" sz="1200" kern="1200" dirty="0">
                    <a:solidFill>
                      <a:schemeClr val="tx1"/>
                    </a:solidFill>
                    <a:effectLst/>
                    <a:latin typeface="+mn-lt"/>
                    <a:ea typeface="+mn-ea"/>
                    <a:cs typeface="+mn-cs"/>
                  </a:rPr>
                  <a:t>ACD</a:t>
                </a:r>
                <a:r>
                  <a:rPr lang="zh-CN" altLang="zh-CN" sz="1200" kern="1200" dirty="0">
                    <a:solidFill>
                      <a:schemeClr val="tx1"/>
                    </a:solidFill>
                    <a:effectLst/>
                    <a:latin typeface="+mn-lt"/>
                    <a:ea typeface="+mn-ea"/>
                    <a:cs typeface="+mn-cs"/>
                  </a:rPr>
                  <a:t>使用具有相同预定义的简单形状单元来对</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进行分解，如图</a:t>
                </a:r>
                <a:r>
                  <a:rPr lang="en-US" altLang="zh-CN" sz="1200" kern="1200" dirty="0">
                    <a:solidFill>
                      <a:schemeClr val="tx1"/>
                    </a:solidFill>
                    <a:effectLst/>
                    <a:latin typeface="+mn-lt"/>
                    <a:ea typeface="+mn-ea"/>
                    <a:cs typeface="+mn-cs"/>
                  </a:rPr>
                  <a:t>5.24</a:t>
                </a:r>
                <a:r>
                  <a:rPr lang="zh-CN" altLang="zh-CN" sz="1200" kern="1200" dirty="0">
                    <a:solidFill>
                      <a:schemeClr val="tx1"/>
                    </a:solidFill>
                    <a:effectLst/>
                    <a:latin typeface="+mn-lt"/>
                    <a:ea typeface="+mn-ea"/>
                    <a:cs typeface="+mn-cs"/>
                  </a:rPr>
                  <a:t>所示的栅格图（四叉树分解：</a:t>
                </a:r>
                <a:r>
                  <a:rPr lang="en-US" altLang="zh-CN" sz="1200" kern="1200" dirty="0" err="1">
                    <a:solidFill>
                      <a:schemeClr val="tx1"/>
                    </a:solidFill>
                    <a:effectLst/>
                    <a:latin typeface="+mn-lt"/>
                    <a:ea typeface="+mn-ea"/>
                    <a:cs typeface="+mn-cs"/>
                  </a:rPr>
                  <a:t>Quadtree</a:t>
                </a:r>
                <a:r>
                  <a:rPr lang="en-US" altLang="zh-CN" sz="1200" kern="1200" dirty="0">
                    <a:solidFill>
                      <a:schemeClr val="tx1"/>
                    </a:solidFill>
                    <a:effectLst/>
                    <a:latin typeface="+mn-lt"/>
                    <a:ea typeface="+mn-ea"/>
                    <a:cs typeface="+mn-cs"/>
                  </a:rPr>
                  <a:t> decomposition</a:t>
                </a:r>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这种分解如果采用</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连通栅格，可以根据罗盘的基点确定东南西北四个方向的运动，如果允许对角线运动，可定义</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连通栅格，如果东南西北方向的运动成本为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，则对角运动的成本可以是</a:t>
                </a:r>
                <a14:m>
                  <m:oMath xmlns:m="http://schemas.openxmlformats.org/officeDocument/2006/math">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oMath>
                </a14:m>
                <a:r>
                  <a:rPr lang="zh-CN" altLang="zh-CN" sz="1200" kern="1200" dirty="0">
                    <a:solidFill>
                      <a:schemeClr val="tx1"/>
                    </a:solidFill>
                    <a:effectLst/>
                    <a:latin typeface="+mn-lt"/>
                    <a:ea typeface="+mn-ea"/>
                    <a:cs typeface="+mn-cs"/>
                  </a:rPr>
                  <a:t>。如果机器人只能沿轴线直行，则图搜索算法的距离应基于曼哈顿距离公式进行计算，而不是欧氏距离。</a:t>
                </a:r>
                <a:endParaRPr lang="en-US" altLang="zh-CN" sz="1200" kern="1200" dirty="0" smtClean="0">
                  <a:solidFill>
                    <a:schemeClr val="tx1"/>
                  </a:solidFill>
                  <a:effectLst/>
                  <a:latin typeface="+mn-lt"/>
                  <a:ea typeface="+mn-ea"/>
                  <a:cs typeface="+mn-cs"/>
                </a:endParaRPr>
              </a:p>
              <a:p>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以网格点为中心的直线单元的任何部分接触到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，该网格点就必须被标记为障碍物。近似单元分解法</a:t>
                </a:r>
                <a:r>
                  <a:rPr lang="en-US" altLang="zh-CN" sz="1200" kern="1200" dirty="0">
                    <a:solidFill>
                      <a:schemeClr val="tx1"/>
                    </a:solidFill>
                    <a:effectLst/>
                    <a:latin typeface="+mn-lt"/>
                    <a:ea typeface="+mn-ea"/>
                    <a:cs typeface="+mn-cs"/>
                  </a:rPr>
                  <a:t>(ACD)</a:t>
                </a:r>
                <a:r>
                  <a:rPr lang="zh-CN" altLang="zh-CN" sz="1200" kern="1200" dirty="0">
                    <a:solidFill>
                      <a:schemeClr val="tx1"/>
                    </a:solidFill>
                    <a:effectLst/>
                    <a:latin typeface="+mn-lt"/>
                    <a:ea typeface="+mn-ea"/>
                    <a:cs typeface="+mn-cs"/>
                  </a:rPr>
                  <a:t>栅格的数量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oMath>
                </a14:m>
                <a:r>
                  <a:rPr lang="zh-CN" altLang="zh-CN" sz="1200" kern="1200" dirty="0">
                    <a:solidFill>
                      <a:schemeClr val="tx1"/>
                    </a:solidFill>
                    <a:effectLst/>
                    <a:latin typeface="+mn-lt"/>
                    <a:ea typeface="+mn-ea"/>
                    <a:cs typeface="+mn-cs"/>
                  </a:rPr>
                  <a:t>会随着分辨率</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𝑘</m:t>
                    </m:r>
                  </m:oMath>
                </a14:m>
                <a:r>
                  <a:rPr lang="zh-CN" altLang="zh-CN" sz="1200" kern="1200" dirty="0">
                    <a:solidFill>
                      <a:schemeClr val="tx1"/>
                    </a:solidFill>
                    <a:effectLst/>
                    <a:latin typeface="+mn-lt"/>
                    <a:ea typeface="+mn-ea"/>
                    <a:cs typeface="+mn-cs"/>
                  </a:rPr>
                  <a:t>增加线性增长，而随机器人维度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的增加而呈指数级增长，</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m</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𝑘</m:t>
                        </m:r>
                      </m:e>
                      <m:sup>
                        <m:r>
                          <a:rPr lang="en-US" altLang="zh-CN" sz="1200" i="1" kern="1200">
                            <a:solidFill>
                              <a:schemeClr val="tx1"/>
                            </a:solidFill>
                            <a:effectLst/>
                            <a:latin typeface="Cambria Math" panose="02040503050406030204" pitchFamily="18" charset="0"/>
                            <a:ea typeface="+mn-ea"/>
                            <a:cs typeface="+mn-cs"/>
                          </a:rPr>
                          <m:t>𝑛</m:t>
                        </m:r>
                      </m:sup>
                    </m:sSup>
                  </m:oMath>
                </a14:m>
                <a:r>
                  <a:rPr lang="zh-CN" altLang="zh-CN" sz="1200" kern="1200" dirty="0">
                    <a:solidFill>
                      <a:schemeClr val="tx1"/>
                    </a:solidFill>
                    <a:effectLst/>
                    <a:latin typeface="+mn-lt"/>
                    <a:ea typeface="+mn-ea"/>
                    <a:cs typeface="+mn-cs"/>
                  </a:rPr>
                  <a:t>。分辨率高控制越精确，计算代价越大，分辨率降低，将会使</a:t>
                </a:r>
                <a:r>
                  <a:rPr lang="en-US" altLang="zh-CN" sz="1200" kern="1200" dirty="0">
                    <a:solidFill>
                      <a:schemeClr val="tx1"/>
                    </a:solidFill>
                    <a:effectLst/>
                    <a:latin typeface="+mn-lt"/>
                    <a:ea typeface="+mn-ea"/>
                    <a:cs typeface="+mn-cs"/>
                  </a:rPr>
                  <a:t>C-Space</a:t>
                </a:r>
                <a:r>
                  <a:rPr lang="zh-CN" altLang="zh-CN" sz="1200" kern="1200" dirty="0">
                    <a:solidFill>
                      <a:schemeClr val="tx1"/>
                    </a:solidFill>
                    <a:effectLst/>
                    <a:latin typeface="+mn-lt"/>
                    <a:ea typeface="+mn-ea"/>
                    <a:cs typeface="+mn-cs"/>
                  </a:rPr>
                  <a:t>空间的表达变粗略，可能会错过自由路径。一种替代方案是可以采用多分辨率网格进行分解，如图</a:t>
                </a:r>
                <a:r>
                  <a:rPr lang="en-US" altLang="zh-CN" sz="1200" kern="1200" dirty="0">
                    <a:solidFill>
                      <a:schemeClr val="tx1"/>
                    </a:solidFill>
                    <a:effectLst/>
                    <a:latin typeface="+mn-lt"/>
                    <a:ea typeface="+mn-ea"/>
                    <a:cs typeface="+mn-cs"/>
                  </a:rPr>
                  <a:t>5.24</a:t>
                </a:r>
                <a:r>
                  <a:rPr lang="zh-CN" altLang="zh-CN" sz="1200" kern="1200" dirty="0">
                    <a:solidFill>
                      <a:schemeClr val="tx1"/>
                    </a:solidFill>
                    <a:effectLst/>
                    <a:latin typeface="+mn-lt"/>
                    <a:ea typeface="+mn-ea"/>
                    <a:cs typeface="+mn-cs"/>
                  </a:rPr>
                  <a:t>所示，对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进行细分为更小的单元，而远离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m:t>
                        </m:r>
                      </m:sub>
                    </m:sSub>
                  </m:oMath>
                </a14:m>
                <a:r>
                  <a:rPr lang="zh-CN" altLang="zh-CN" sz="1200" kern="1200" dirty="0">
                    <a:solidFill>
                      <a:schemeClr val="tx1"/>
                    </a:solidFill>
                    <a:effectLst/>
                    <a:latin typeface="+mn-lt"/>
                    <a:ea typeface="+mn-ea"/>
                    <a:cs typeface="+mn-cs"/>
                  </a:rPr>
                  <a:t>的地方采用较粗分辨率的网格表示。原始网格单元的每个维度被划分为两半，从而又产生</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维空间中的</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2</m:t>
                        </m:r>
                      </m:e>
                      <m:sup>
                        <m:r>
                          <a:rPr lang="en-US" altLang="zh-CN" sz="1200" i="1" kern="1200">
                            <a:solidFill>
                              <a:schemeClr val="tx1"/>
                            </a:solidFill>
                            <a:effectLst/>
                            <a:latin typeface="Cambria Math" panose="02040503050406030204" pitchFamily="18" charset="0"/>
                            <a:ea typeface="+mn-ea"/>
                            <a:cs typeface="+mn-cs"/>
                          </a:rPr>
                          <m:t>𝑛</m:t>
                        </m:r>
                      </m:sup>
                    </m:sSup>
                  </m:oMath>
                </a14:m>
                <a:r>
                  <a:rPr lang="zh-CN" altLang="zh-CN" sz="1200" kern="1200" dirty="0">
                    <a:solidFill>
                      <a:schemeClr val="tx1"/>
                    </a:solidFill>
                    <a:effectLst/>
                    <a:latin typeface="+mn-lt"/>
                    <a:ea typeface="+mn-ea"/>
                    <a:cs typeface="+mn-cs"/>
                  </a:rPr>
                  <a:t>个子单元。图</a:t>
                </a:r>
                <a:r>
                  <a:rPr lang="en-US" altLang="zh-CN" sz="1200" kern="1200" dirty="0">
                    <a:solidFill>
                      <a:schemeClr val="tx1"/>
                    </a:solidFill>
                    <a:effectLst/>
                    <a:latin typeface="+mn-lt"/>
                    <a:ea typeface="+mn-ea"/>
                    <a:cs typeface="+mn-cs"/>
                  </a:rPr>
                  <a:t>5.24</a:t>
                </a:r>
                <a:r>
                  <a:rPr lang="zh-CN" altLang="zh-CN" sz="1200" kern="1200" dirty="0">
                    <a:solidFill>
                      <a:schemeClr val="tx1"/>
                    </a:solidFill>
                    <a:effectLst/>
                    <a:latin typeface="+mn-lt"/>
                    <a:ea typeface="+mn-ea"/>
                    <a:cs typeface="+mn-cs"/>
                  </a:rPr>
                  <a:t>每个障碍单元被细分为四个单元。如果</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，每个障碍单元被细分为</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2</m:t>
                        </m:r>
                      </m:e>
                      <m:sup>
                        <m:r>
                          <a:rPr lang="en-US" altLang="zh-CN" sz="1200" i="1" kern="1200">
                            <a:solidFill>
                              <a:schemeClr val="tx1"/>
                            </a:solidFill>
                            <a:effectLst/>
                            <a:latin typeface="Cambria Math" panose="02040503050406030204" pitchFamily="18" charset="0"/>
                            <a:ea typeface="+mn-ea"/>
                            <a:cs typeface="+mn-cs"/>
                          </a:rPr>
                          <m:t>𝑛</m:t>
                        </m:r>
                      </m:sup>
                    </m:sSup>
                    <m:r>
                      <a:rPr lang="en-US" altLang="zh-CN" sz="1200" i="1" kern="1200">
                        <a:solidFill>
                          <a:schemeClr val="tx1"/>
                        </a:solidFill>
                        <a:effectLst/>
                        <a:latin typeface="Cambria Math" panose="02040503050406030204" pitchFamily="18" charset="0"/>
                        <a:ea typeface="+mn-ea"/>
                        <a:cs typeface="+mn-cs"/>
                      </a:rPr>
                      <m:t>=8</m:t>
                    </m:r>
                  </m:oMath>
                </a14:m>
                <a:r>
                  <a:rPr lang="zh-CN" altLang="zh-CN" sz="1200" kern="1200" dirty="0">
                    <a:solidFill>
                      <a:schemeClr val="tx1"/>
                    </a:solidFill>
                    <a:effectLst/>
                    <a:latin typeface="+mn-lt"/>
                    <a:ea typeface="+mn-ea"/>
                    <a:cs typeface="+mn-cs"/>
                  </a:rPr>
                  <a:t>个子单元，该表示被称为八叉树</a:t>
                </a:r>
                <a:r>
                  <a:rPr lang="en-US" altLang="zh-CN" sz="1200" kern="1200" dirty="0">
                    <a:solidFill>
                      <a:schemeClr val="tx1"/>
                    </a:solidFill>
                    <a:effectLst/>
                    <a:latin typeface="+mn-lt"/>
                    <a:ea typeface="+mn-ea"/>
                    <a:cs typeface="+mn-cs"/>
                  </a:rPr>
                  <a:t>(octree)</a:t>
                </a:r>
                <a:r>
                  <a:rPr lang="zh-CN" altLang="zh-CN" sz="1200" kern="1200" dirty="0">
                    <a:solidFill>
                      <a:schemeClr val="tx1"/>
                    </a:solidFill>
                    <a:effectLst/>
                    <a:latin typeface="+mn-lt"/>
                    <a:ea typeface="+mn-ea"/>
                    <a:cs typeface="+mn-cs"/>
                  </a:rPr>
                  <a:t>分解。图</a:t>
                </a:r>
                <a:r>
                  <a:rPr lang="en-US" altLang="zh-CN" sz="1200" kern="1200" dirty="0">
                    <a:solidFill>
                      <a:schemeClr val="tx1"/>
                    </a:solidFill>
                    <a:effectLst/>
                    <a:latin typeface="+mn-lt"/>
                    <a:ea typeface="+mn-ea"/>
                    <a:cs typeface="+mn-cs"/>
                  </a:rPr>
                  <a:t>5.25</a:t>
                </a:r>
                <a:r>
                  <a:rPr lang="zh-CN" altLang="zh-CN" sz="1200" kern="1200" dirty="0">
                    <a:solidFill>
                      <a:schemeClr val="tx1"/>
                    </a:solidFill>
                    <a:effectLst/>
                    <a:latin typeface="+mn-lt"/>
                    <a:ea typeface="+mn-ea"/>
                    <a:cs typeface="+mn-cs"/>
                  </a:rPr>
                  <a:t>演示了原始单元中接触到障碍的网格四叉树细分过程。</a:t>
                </a:r>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64</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65</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算法是由荷兰计算机科学家</a:t>
                </a:r>
                <a:r>
                  <a:rPr lang="en-US" altLang="zh-CN" sz="1200" kern="1200" dirty="0" err="1">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于</a:t>
                </a:r>
                <a:r>
                  <a:rPr lang="en-US" altLang="zh-CN" sz="1200" kern="1200" dirty="0">
                    <a:solidFill>
                      <a:schemeClr val="tx1"/>
                    </a:solidFill>
                    <a:effectLst/>
                    <a:latin typeface="+mn-lt"/>
                    <a:ea typeface="+mn-ea"/>
                    <a:cs typeface="+mn-cs"/>
                  </a:rPr>
                  <a:t>1959</a:t>
                </a:r>
                <a:r>
                  <a:rPr lang="zh-CN" altLang="zh-CN" sz="1200" kern="1200" dirty="0">
                    <a:solidFill>
                      <a:schemeClr val="tx1"/>
                    </a:solidFill>
                    <a:effectLst/>
                    <a:latin typeface="+mn-lt"/>
                    <a:ea typeface="+mn-ea"/>
                    <a:cs typeface="+mn-cs"/>
                  </a:rPr>
                  <a:t>年提出的解决两点之间最短路径的一种算法。其算法思想为：</a:t>
                </a:r>
              </a:p>
              <a:p>
                <a:r>
                  <a:rPr lang="zh-CN" altLang="zh-CN" sz="1200" kern="1200" dirty="0">
                    <a:solidFill>
                      <a:schemeClr val="tx1"/>
                    </a:solidFill>
                    <a:effectLst/>
                    <a:latin typeface="+mn-lt"/>
                    <a:ea typeface="+mn-ea"/>
                    <a:cs typeface="+mn-cs"/>
                  </a:rPr>
                  <a:t>设</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𝑉</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𝐸</m:t>
                        </m:r>
                      </m:e>
                    </m:d>
                  </m:oMath>
                </a14:m>
                <a:r>
                  <a:rPr lang="zh-CN" altLang="zh-CN" sz="1200" kern="1200" dirty="0">
                    <a:solidFill>
                      <a:schemeClr val="tx1"/>
                    </a:solidFill>
                    <a:effectLst/>
                    <a:latin typeface="+mn-lt"/>
                    <a:ea typeface="+mn-ea"/>
                    <a:cs typeface="+mn-cs"/>
                  </a:rPr>
                  <a:t>为加权有向图，我们把图中顶点集合</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V</m:t>
                    </m:r>
                  </m:oMath>
                </a14:m>
                <a:r>
                  <a:rPr lang="zh-CN" altLang="zh-CN" sz="1200" kern="1200" dirty="0">
                    <a:solidFill>
                      <a:schemeClr val="tx1"/>
                    </a:solidFill>
                    <a:effectLst/>
                    <a:latin typeface="+mn-lt"/>
                    <a:ea typeface="+mn-ea"/>
                    <a:cs typeface="+mn-cs"/>
                  </a:rPr>
                  <a:t>分成两组，第一组为已求出最短路径的顶点集合，用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表示，初始时</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中只有一个源点，以后每求得一条最短路径</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就将其加入到集合</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中，直到全部顶点都加入到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中，算法就结束了）。第二组为其余未确定最短路径的顶点集合（用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m:t>
                    </m:r>
                  </m:oMath>
                </a14:m>
                <a:r>
                  <a:rPr lang="zh-CN" altLang="zh-CN" sz="1200" kern="1200" dirty="0">
                    <a:solidFill>
                      <a:schemeClr val="tx1"/>
                    </a:solidFill>
                    <a:effectLst/>
                    <a:latin typeface="+mn-lt"/>
                    <a:ea typeface="+mn-ea"/>
                    <a:cs typeface="+mn-cs"/>
                  </a:rPr>
                  <a:t>表示），按最短路径长度的递增次序依次把第二组的顶点加入</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中。在加入的过程中，总保持从源点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𝑠</m:t>
                    </m:r>
                  </m:oMath>
                </a14:m>
                <a:r>
                  <a:rPr lang="zh-CN" altLang="zh-CN" sz="1200" kern="1200" dirty="0">
                    <a:solidFill>
                      <a:schemeClr val="tx1"/>
                    </a:solidFill>
                    <a:effectLst/>
                    <a:latin typeface="+mn-lt"/>
                    <a:ea typeface="+mn-ea"/>
                    <a:cs typeface="+mn-cs"/>
                  </a:rPr>
                  <a:t>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中各顶点的最短路径长度不大于从源点</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m:t>
                    </m:r>
                  </m:oMath>
                </a14:m>
                <a:r>
                  <a:rPr lang="zh-CN" altLang="zh-CN" sz="1200" kern="1200" dirty="0">
                    <a:solidFill>
                      <a:schemeClr val="tx1"/>
                    </a:solidFill>
                    <a:effectLst/>
                    <a:latin typeface="+mn-lt"/>
                    <a:ea typeface="+mn-ea"/>
                    <a:cs typeface="+mn-cs"/>
                  </a:rPr>
                  <a:t>中任何顶点的最短路径长度。此外，每个顶点对应一个距离，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中的顶点的距离就是从</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到此顶点的最短路径长度，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m:t>
                    </m:r>
                  </m:oMath>
                </a14:m>
                <a:r>
                  <a:rPr lang="zh-CN" altLang="zh-CN" sz="1200" kern="1200" dirty="0">
                    <a:solidFill>
                      <a:schemeClr val="tx1"/>
                    </a:solidFill>
                    <a:effectLst/>
                    <a:latin typeface="+mn-lt"/>
                    <a:ea typeface="+mn-ea"/>
                    <a:cs typeface="+mn-cs"/>
                  </a:rPr>
                  <a:t>中的顶点的距离，是从</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到此顶点只包括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中的顶点为中间顶点的当前最短路径长度。</a:t>
                </a:r>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67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smtClean="0">
                <a:solidFill>
                  <a:schemeClr val="tx1"/>
                </a:solidFill>
                <a:effectLst/>
                <a:latin typeface="+mn-lt"/>
                <a:ea typeface="+mn-ea"/>
                <a:cs typeface="+mn-cs"/>
              </a:rPr>
              <a:t>For a given source node in the graph, the algorithm finds the shortest path between that node and every other.</a:t>
            </a:r>
          </a:p>
          <a:p>
            <a:r>
              <a:rPr lang="en-US" altLang="zh-CN" sz="1200" b="0" i="0" kern="1200" dirty="0" smtClean="0">
                <a:solidFill>
                  <a:schemeClr val="tx1"/>
                </a:solidFill>
                <a:effectLst/>
                <a:latin typeface="+mn-lt"/>
                <a:ea typeface="+mn-ea"/>
                <a:cs typeface="+mn-cs"/>
              </a:rPr>
              <a:t>Let the node at which we are starting be called the </a:t>
            </a:r>
            <a:r>
              <a:rPr lang="en-US" altLang="zh-CN" sz="1200" b="1" i="0" kern="1200" dirty="0" smtClean="0">
                <a:solidFill>
                  <a:schemeClr val="tx1"/>
                </a:solidFill>
                <a:effectLst/>
                <a:latin typeface="+mn-lt"/>
                <a:ea typeface="+mn-ea"/>
                <a:cs typeface="+mn-cs"/>
              </a:rPr>
              <a:t>initial node</a:t>
            </a:r>
            <a:r>
              <a:rPr lang="en-US" altLang="zh-CN" sz="1200" b="0" i="0" kern="1200" dirty="0" smtClean="0">
                <a:solidFill>
                  <a:schemeClr val="tx1"/>
                </a:solidFill>
                <a:effectLst/>
                <a:latin typeface="+mn-lt"/>
                <a:ea typeface="+mn-ea"/>
                <a:cs typeface="+mn-cs"/>
              </a:rPr>
              <a:t>. </a:t>
            </a:r>
          </a:p>
          <a:p>
            <a:r>
              <a:rPr lang="en-US" altLang="zh-CN" sz="1200" b="0" i="0" kern="1200" dirty="0" smtClean="0">
                <a:solidFill>
                  <a:schemeClr val="tx1"/>
                </a:solidFill>
                <a:effectLst/>
                <a:latin typeface="+mn-lt"/>
                <a:ea typeface="+mn-ea"/>
                <a:cs typeface="+mn-cs"/>
              </a:rPr>
              <a:t>known con: </a:t>
            </a:r>
          </a:p>
          <a:p>
            <a:pPr marL="228600" indent="-228600">
              <a:buAutoNum type="arabicParenR"/>
            </a:pPr>
            <a:r>
              <a:rPr lang="en-US" altLang="zh-CN" sz="1200" b="0" i="0" kern="1200" dirty="0" smtClean="0">
                <a:solidFill>
                  <a:schemeClr val="tx1"/>
                </a:solidFill>
                <a:effectLst/>
                <a:latin typeface="+mn-lt"/>
                <a:ea typeface="+mn-ea"/>
                <a:cs typeface="+mn-cs"/>
              </a:rPr>
              <a:t>A set of nodes in a directed graph: Q</a:t>
            </a:r>
          </a:p>
          <a:p>
            <a:pPr marL="228600" indent="-228600">
              <a:buAutoNum type="arabicParenR"/>
            </a:pPr>
            <a:r>
              <a:rPr lang="en-US" altLang="zh-CN" dirty="0" smtClean="0"/>
              <a:t>Connect two points of weight: w</a:t>
            </a:r>
          </a:p>
          <a:p>
            <a:pPr marL="228600" indent="-228600">
              <a:buAutoNum type="arabicParenR"/>
            </a:pPr>
            <a:r>
              <a:rPr lang="en-US" altLang="zh-CN" dirty="0" smtClean="0"/>
              <a:t>The connecting direction of the two points</a:t>
            </a:r>
          </a:p>
          <a:p>
            <a:pPr marL="228600" indent="-228600">
              <a:buAutoNum type="arabicParenR"/>
            </a:pPr>
            <a:r>
              <a:rPr lang="en-US" altLang="zh-CN" dirty="0" smtClean="0"/>
              <a:t>Starting node number is s</a:t>
            </a:r>
          </a:p>
          <a:p>
            <a:pPr marL="0" indent="0">
              <a:buNone/>
            </a:pPr>
            <a:r>
              <a:rPr lang="en-US" altLang="zh-CN" sz="1200" kern="1200" dirty="0" smtClean="0">
                <a:solidFill>
                  <a:schemeClr val="tx1"/>
                </a:solidFill>
                <a:effectLst/>
                <a:latin typeface="+mn-lt"/>
                <a:ea typeface="+mn-ea"/>
                <a:cs typeface="+mn-cs"/>
              </a:rPr>
              <a:t>To find the shortest path between that start node and goal node</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smtClean="0"/>
          </a:p>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68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69</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70</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71</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72</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73</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74</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75</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76</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77</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78</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79</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80</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81</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82</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83</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84</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85</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86</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87</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88</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89</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90</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91</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92</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93</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94</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95</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dirty="0" smtClean="0"/>
              <a:t>Generate</a:t>
            </a:r>
            <a:r>
              <a:rPr lang="en-US" altLang="zh-CN" baseline="0" dirty="0" smtClean="0"/>
              <a:t> a </a:t>
            </a:r>
            <a:r>
              <a:rPr lang="en-US" altLang="zh-CN" dirty="0" smtClean="0"/>
              <a:t>Closed list</a:t>
            </a:r>
          </a:p>
          <a:p>
            <a:r>
              <a:rPr lang="en-US" altLang="zh-CN" dirty="0" smtClean="0"/>
              <a:t>Delete S from</a:t>
            </a:r>
            <a:r>
              <a:rPr lang="en-US" altLang="zh-CN" baseline="0" dirty="0" smtClean="0"/>
              <a:t> opened list, add in closed list </a:t>
            </a:r>
            <a:endParaRPr lang="zh-CN" altLang="en-US" dirty="0" smtClean="0"/>
          </a:p>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96</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97</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98</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99</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100</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101</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102</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103</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104</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105</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These are so</a:t>
            </a:r>
            <a:r>
              <a:rPr lang="en-US" altLang="zh-CN" sz="1200" b="0" i="0" u="none" strike="noStrike" kern="1200" baseline="0" dirty="0" smtClean="0">
                <a:solidFill>
                  <a:schemeClr val="tx1"/>
                </a:solidFill>
                <a:effectLst/>
                <a:latin typeface="+mn-lt"/>
                <a:ea typeface="+mn-ea"/>
                <a:cs typeface="+mn-cs"/>
              </a:rPr>
              <a:t> many algorithms:</a:t>
            </a:r>
            <a:endParaRPr lang="en-US" altLang="zh-CN" sz="1200" b="0" i="0" u="none" strike="noStrike" kern="1200" dirty="0" smtClean="0">
              <a:solidFill>
                <a:schemeClr val="tx1"/>
              </a:solidFill>
              <a:effectLst/>
              <a:latin typeface="+mn-lt"/>
              <a:ea typeface="+mn-ea"/>
              <a:cs typeface="+mn-cs"/>
            </a:endParaRPr>
          </a:p>
          <a:p>
            <a:pPr latinLnBrk="1"/>
            <a:r>
              <a:rPr lang="en-US" altLang="zh-CN" sz="1200" b="0" i="0" u="none" strike="noStrike" kern="1200" dirty="0" smtClean="0">
                <a:solidFill>
                  <a:schemeClr val="tx1"/>
                </a:solidFill>
                <a:effectLst/>
                <a:latin typeface="+mn-lt"/>
                <a:ea typeface="+mn-ea"/>
                <a:cs typeface="+mn-cs"/>
                <a:hlinkClick r:id="rId3"/>
              </a:rPr>
              <a:t>D*</a:t>
            </a:r>
            <a:r>
              <a:rPr lang="en-US" altLang="zh-CN" sz="1200" b="0" i="0" kern="1200" dirty="0" smtClean="0">
                <a:solidFill>
                  <a:schemeClr val="tx1"/>
                </a:solidFill>
                <a:effectLst/>
                <a:latin typeface="+mn-lt"/>
                <a:ea typeface="+mn-ea"/>
                <a:cs typeface="+mn-cs"/>
              </a:rPr>
              <a:t> (1994)</a:t>
            </a:r>
          </a:p>
          <a:p>
            <a:pPr latinLnBrk="1"/>
            <a:r>
              <a:rPr lang="en-US" altLang="zh-CN" sz="1200" b="0" i="0" u="none" strike="noStrike" kern="1200" dirty="0" smtClean="0">
                <a:solidFill>
                  <a:schemeClr val="tx1"/>
                </a:solidFill>
                <a:effectLst/>
                <a:latin typeface="+mn-lt"/>
                <a:ea typeface="+mn-ea"/>
                <a:cs typeface="+mn-cs"/>
                <a:hlinkClick r:id="rId4"/>
              </a:rPr>
              <a:t>Focused D*</a:t>
            </a:r>
            <a:r>
              <a:rPr lang="en-US" altLang="zh-CN" sz="1200" b="0" i="0" kern="1200" dirty="0" smtClean="0">
                <a:solidFill>
                  <a:schemeClr val="tx1"/>
                </a:solidFill>
                <a:effectLst/>
                <a:latin typeface="+mn-lt"/>
                <a:ea typeface="+mn-ea"/>
                <a:cs typeface="+mn-cs"/>
              </a:rPr>
              <a:t> (1995)</a:t>
            </a:r>
          </a:p>
          <a:p>
            <a:pPr latinLnBrk="1"/>
            <a:r>
              <a:rPr lang="en-US" altLang="zh-CN" sz="1200" b="0" i="0" u="none" strike="noStrike" kern="1200" dirty="0" err="1" smtClean="0">
                <a:solidFill>
                  <a:schemeClr val="tx1"/>
                </a:solidFill>
                <a:effectLst/>
                <a:latin typeface="+mn-lt"/>
                <a:ea typeface="+mn-ea"/>
                <a:cs typeface="+mn-cs"/>
                <a:hlinkClick r:id="rId5"/>
              </a:rPr>
              <a:t>DynamicSWSF</a:t>
            </a:r>
            <a:r>
              <a:rPr lang="en-US" altLang="zh-CN" sz="1200" b="0" i="0" u="none" strike="noStrike" kern="1200" dirty="0" smtClean="0">
                <a:solidFill>
                  <a:schemeClr val="tx1"/>
                </a:solidFill>
                <a:effectLst/>
                <a:latin typeface="+mn-lt"/>
                <a:ea typeface="+mn-ea"/>
                <a:cs typeface="+mn-cs"/>
                <a:hlinkClick r:id="rId5"/>
              </a:rPr>
              <a:t>-FP</a:t>
            </a:r>
            <a:r>
              <a:rPr lang="en-US" altLang="zh-CN" sz="1200" b="0" i="0" kern="1200" dirty="0" smtClean="0">
                <a:solidFill>
                  <a:schemeClr val="tx1"/>
                </a:solidFill>
                <a:effectLst/>
                <a:latin typeface="+mn-lt"/>
                <a:ea typeface="+mn-ea"/>
                <a:cs typeface="+mn-cs"/>
              </a:rPr>
              <a:t> (1996)</a:t>
            </a:r>
          </a:p>
          <a:p>
            <a:pPr latinLnBrk="1"/>
            <a:r>
              <a:rPr lang="en-US" altLang="zh-CN" sz="1200" b="0" i="0" u="none" strike="noStrike" kern="1200" dirty="0" smtClean="0">
                <a:solidFill>
                  <a:schemeClr val="tx1"/>
                </a:solidFill>
                <a:effectLst/>
                <a:latin typeface="+mn-lt"/>
                <a:ea typeface="+mn-ea"/>
                <a:cs typeface="+mn-cs"/>
                <a:hlinkClick r:id="rId6"/>
              </a:rPr>
              <a:t>LPA</a:t>
            </a:r>
            <a:r>
              <a:rPr lang="en-US" altLang="zh-CN" sz="1200" b="0" i="0" kern="1200" dirty="0" smtClean="0">
                <a:solidFill>
                  <a:schemeClr val="tx1"/>
                </a:solidFill>
                <a:effectLst/>
                <a:latin typeface="+mn-lt"/>
                <a:ea typeface="+mn-ea"/>
                <a:cs typeface="+mn-cs"/>
              </a:rPr>
              <a:t> (1997)</a:t>
            </a:r>
          </a:p>
          <a:p>
            <a:pPr latinLnBrk="1"/>
            <a:r>
              <a:rPr lang="en-US" altLang="zh-CN" sz="1200" b="0" i="0" u="none" strike="noStrike" kern="1200" dirty="0" smtClean="0">
                <a:solidFill>
                  <a:schemeClr val="tx1"/>
                </a:solidFill>
                <a:effectLst/>
                <a:latin typeface="+mn-lt"/>
                <a:ea typeface="+mn-ea"/>
                <a:cs typeface="+mn-cs"/>
                <a:hlinkClick r:id="rId7"/>
              </a:rPr>
              <a:t>LPA*/Incremental A*</a:t>
            </a:r>
            <a:r>
              <a:rPr lang="en-US" altLang="zh-CN" sz="1200" b="0" i="0" kern="1200" dirty="0" smtClean="0">
                <a:solidFill>
                  <a:schemeClr val="tx1"/>
                </a:solidFill>
                <a:effectLst/>
                <a:latin typeface="+mn-lt"/>
                <a:ea typeface="+mn-ea"/>
                <a:cs typeface="+mn-cs"/>
              </a:rPr>
              <a:t> (2001)</a:t>
            </a:r>
          </a:p>
          <a:p>
            <a:pPr latinLnBrk="1"/>
            <a:r>
              <a:rPr lang="en-US" altLang="zh-CN" sz="1200" b="0" i="0" u="none" strike="noStrike" kern="1200" dirty="0" smtClean="0">
                <a:solidFill>
                  <a:schemeClr val="tx1"/>
                </a:solidFill>
                <a:effectLst/>
                <a:latin typeface="+mn-lt"/>
                <a:ea typeface="+mn-ea"/>
                <a:cs typeface="+mn-cs"/>
                <a:hlinkClick r:id="rId8"/>
              </a:rPr>
              <a:t>D* Lite</a:t>
            </a:r>
            <a:r>
              <a:rPr lang="en-US" altLang="zh-CN" sz="1200" b="0" i="0" kern="1200" dirty="0" smtClean="0">
                <a:solidFill>
                  <a:schemeClr val="tx1"/>
                </a:solidFill>
                <a:effectLst/>
                <a:latin typeface="+mn-lt"/>
                <a:ea typeface="+mn-ea"/>
                <a:cs typeface="+mn-cs"/>
              </a:rPr>
              <a:t> (2002)</a:t>
            </a:r>
          </a:p>
          <a:p>
            <a:pPr latinLnBrk="1"/>
            <a:r>
              <a:rPr lang="en-US" altLang="zh-CN" sz="1200" b="0" i="0" u="none" strike="noStrike" kern="1200" dirty="0" err="1" smtClean="0">
                <a:solidFill>
                  <a:schemeClr val="tx1"/>
                </a:solidFill>
                <a:effectLst/>
                <a:latin typeface="+mn-lt"/>
                <a:ea typeface="+mn-ea"/>
                <a:cs typeface="+mn-cs"/>
                <a:hlinkClick r:id="rId9"/>
              </a:rPr>
              <a:t>SetA</a:t>
            </a:r>
            <a:r>
              <a:rPr lang="en-US" altLang="zh-CN" sz="1200" b="0" i="0" u="none" strike="noStrike" kern="1200" dirty="0" smtClean="0">
                <a:solidFill>
                  <a:schemeClr val="tx1"/>
                </a:solidFill>
                <a:effectLst/>
                <a:latin typeface="+mn-lt"/>
                <a:ea typeface="+mn-ea"/>
                <a:cs typeface="+mn-cs"/>
                <a:hlinkClick r:id="rId9"/>
              </a:rPr>
              <a:t>*</a:t>
            </a:r>
            <a:r>
              <a:rPr lang="en-US" altLang="zh-CN" sz="1200" b="0" i="0" kern="1200" dirty="0" smtClean="0">
                <a:solidFill>
                  <a:schemeClr val="tx1"/>
                </a:solidFill>
                <a:effectLst/>
                <a:latin typeface="+mn-lt"/>
                <a:ea typeface="+mn-ea"/>
                <a:cs typeface="+mn-cs"/>
              </a:rPr>
              <a:t> (2002)</a:t>
            </a:r>
          </a:p>
          <a:p>
            <a:pPr latinLnBrk="1"/>
            <a:r>
              <a:rPr lang="en-US" altLang="zh-CN" sz="1200" b="0" i="0" u="none" strike="noStrike" kern="1200" dirty="0" smtClean="0">
                <a:solidFill>
                  <a:schemeClr val="tx1"/>
                </a:solidFill>
                <a:effectLst/>
                <a:latin typeface="+mn-lt"/>
                <a:ea typeface="+mn-ea"/>
                <a:cs typeface="+mn-cs"/>
                <a:hlinkClick r:id="rId10"/>
              </a:rPr>
              <a:t>HPA*</a:t>
            </a:r>
            <a:r>
              <a:rPr lang="en-US" altLang="zh-CN" sz="1200" b="0" i="0" kern="1200" dirty="0" smtClean="0">
                <a:solidFill>
                  <a:schemeClr val="tx1"/>
                </a:solidFill>
                <a:effectLst/>
                <a:latin typeface="+mn-lt"/>
                <a:ea typeface="+mn-ea"/>
                <a:cs typeface="+mn-cs"/>
              </a:rPr>
              <a:t> (2004)</a:t>
            </a:r>
          </a:p>
          <a:p>
            <a:pPr latinLnBrk="1"/>
            <a:r>
              <a:rPr lang="en-US" altLang="zh-CN" sz="1200" b="0" i="0" u="none" strike="noStrike" kern="1200" dirty="0" smtClean="0">
                <a:solidFill>
                  <a:schemeClr val="tx1"/>
                </a:solidFill>
                <a:effectLst/>
                <a:latin typeface="+mn-lt"/>
                <a:ea typeface="+mn-ea"/>
                <a:cs typeface="+mn-cs"/>
                <a:hlinkClick r:id="rId11"/>
              </a:rPr>
              <a:t>Anytime D*</a:t>
            </a:r>
            <a:r>
              <a:rPr lang="en-US" altLang="zh-CN" sz="1200" b="0" i="0" kern="1200" dirty="0" smtClean="0">
                <a:solidFill>
                  <a:schemeClr val="tx1"/>
                </a:solidFill>
                <a:effectLst/>
                <a:latin typeface="+mn-lt"/>
                <a:ea typeface="+mn-ea"/>
                <a:cs typeface="+mn-cs"/>
              </a:rPr>
              <a:t> (2005)</a:t>
            </a:r>
          </a:p>
          <a:p>
            <a:pPr latinLnBrk="1"/>
            <a:r>
              <a:rPr lang="en-US" altLang="zh-CN" sz="1200" b="0" i="0" u="none" strike="noStrike" kern="1200" dirty="0" smtClean="0">
                <a:solidFill>
                  <a:schemeClr val="tx1"/>
                </a:solidFill>
                <a:effectLst/>
                <a:latin typeface="+mn-lt"/>
                <a:ea typeface="+mn-ea"/>
                <a:cs typeface="+mn-cs"/>
                <a:hlinkClick r:id="rId12"/>
              </a:rPr>
              <a:t>PRA*</a:t>
            </a:r>
            <a:r>
              <a:rPr lang="en-US" altLang="zh-CN" sz="1200" b="0" i="0" kern="1200" dirty="0" smtClean="0">
                <a:solidFill>
                  <a:schemeClr val="tx1"/>
                </a:solidFill>
                <a:effectLst/>
                <a:latin typeface="+mn-lt"/>
                <a:ea typeface="+mn-ea"/>
                <a:cs typeface="+mn-cs"/>
              </a:rPr>
              <a:t> (2005)</a:t>
            </a:r>
          </a:p>
          <a:p>
            <a:pPr latinLnBrk="1"/>
            <a:r>
              <a:rPr lang="en-US" altLang="zh-CN" sz="1200" b="0" i="0" u="none" strike="noStrike" kern="1200" dirty="0" smtClean="0">
                <a:solidFill>
                  <a:schemeClr val="tx1"/>
                </a:solidFill>
                <a:effectLst/>
                <a:latin typeface="+mn-lt"/>
                <a:ea typeface="+mn-ea"/>
                <a:cs typeface="+mn-cs"/>
                <a:hlinkClick r:id="rId13"/>
              </a:rPr>
              <a:t>Field D*</a:t>
            </a:r>
            <a:r>
              <a:rPr lang="en-US" altLang="zh-CN" sz="1200" b="0" i="0" kern="1200" dirty="0" smtClean="0">
                <a:solidFill>
                  <a:schemeClr val="tx1"/>
                </a:solidFill>
                <a:effectLst/>
                <a:latin typeface="+mn-lt"/>
                <a:ea typeface="+mn-ea"/>
                <a:cs typeface="+mn-cs"/>
              </a:rPr>
              <a:t> (2007)</a:t>
            </a:r>
          </a:p>
          <a:p>
            <a:pPr latinLnBrk="1"/>
            <a:r>
              <a:rPr lang="en-US" altLang="zh-CN" sz="1200" b="0" i="0" u="none" strike="noStrike" kern="1200" dirty="0" smtClean="0">
                <a:solidFill>
                  <a:schemeClr val="tx1"/>
                </a:solidFill>
                <a:effectLst/>
                <a:latin typeface="+mn-lt"/>
                <a:ea typeface="+mn-ea"/>
                <a:cs typeface="+mn-cs"/>
                <a:hlinkClick r:id="rId14"/>
              </a:rPr>
              <a:t>Theta*</a:t>
            </a:r>
            <a:r>
              <a:rPr lang="en-US" altLang="zh-CN" sz="1200" b="0" i="0" kern="1200" dirty="0" smtClean="0">
                <a:solidFill>
                  <a:schemeClr val="tx1"/>
                </a:solidFill>
                <a:effectLst/>
                <a:latin typeface="+mn-lt"/>
                <a:ea typeface="+mn-ea"/>
                <a:cs typeface="+mn-cs"/>
              </a:rPr>
              <a:t> (2007)</a:t>
            </a:r>
          </a:p>
          <a:p>
            <a:pPr latinLnBrk="1"/>
            <a:r>
              <a:rPr lang="en-US" altLang="zh-CN" sz="1200" b="0" i="0" u="none" strike="noStrike" kern="1200" dirty="0" smtClean="0">
                <a:solidFill>
                  <a:schemeClr val="tx1"/>
                </a:solidFill>
                <a:effectLst/>
                <a:latin typeface="+mn-lt"/>
                <a:ea typeface="+mn-ea"/>
                <a:cs typeface="+mn-cs"/>
                <a:hlinkClick r:id="rId15"/>
              </a:rPr>
              <a:t>HAA*</a:t>
            </a:r>
            <a:r>
              <a:rPr lang="en-US" altLang="zh-CN" sz="1200" b="0" i="0" kern="1200" dirty="0" smtClean="0">
                <a:solidFill>
                  <a:schemeClr val="tx1"/>
                </a:solidFill>
                <a:effectLst/>
                <a:latin typeface="+mn-lt"/>
                <a:ea typeface="+mn-ea"/>
                <a:cs typeface="+mn-cs"/>
              </a:rPr>
              <a:t> (2008)</a:t>
            </a:r>
          </a:p>
          <a:p>
            <a:pPr latinLnBrk="1"/>
            <a:r>
              <a:rPr lang="en-US" altLang="zh-CN" sz="1200" b="0" i="0" u="none" strike="noStrike" kern="1200" dirty="0" smtClean="0">
                <a:solidFill>
                  <a:schemeClr val="tx1"/>
                </a:solidFill>
                <a:effectLst/>
                <a:latin typeface="+mn-lt"/>
                <a:ea typeface="+mn-ea"/>
                <a:cs typeface="+mn-cs"/>
                <a:hlinkClick r:id="rId16"/>
              </a:rPr>
              <a:t>GAA*</a:t>
            </a:r>
            <a:r>
              <a:rPr lang="en-US" altLang="zh-CN" sz="1200" b="0" i="0" kern="1200" dirty="0" smtClean="0">
                <a:solidFill>
                  <a:schemeClr val="tx1"/>
                </a:solidFill>
                <a:effectLst/>
                <a:latin typeface="+mn-lt"/>
                <a:ea typeface="+mn-ea"/>
                <a:cs typeface="+mn-cs"/>
              </a:rPr>
              <a:t> (2008)</a:t>
            </a:r>
          </a:p>
          <a:p>
            <a:pPr latinLnBrk="1"/>
            <a:r>
              <a:rPr lang="en-US" altLang="zh-CN" sz="1200" b="0" i="0" u="none" strike="noStrike" kern="1200" dirty="0" smtClean="0">
                <a:solidFill>
                  <a:schemeClr val="tx1"/>
                </a:solidFill>
                <a:effectLst/>
                <a:latin typeface="+mn-lt"/>
                <a:ea typeface="+mn-ea"/>
                <a:cs typeface="+mn-cs"/>
                <a:hlinkClick r:id="rId17"/>
              </a:rPr>
              <a:t>LEARCH</a:t>
            </a:r>
            <a:r>
              <a:rPr lang="en-US" altLang="zh-CN" sz="1200" b="0" i="0" kern="1200" dirty="0" smtClean="0">
                <a:solidFill>
                  <a:schemeClr val="tx1"/>
                </a:solidFill>
                <a:effectLst/>
                <a:latin typeface="+mn-lt"/>
                <a:ea typeface="+mn-ea"/>
                <a:cs typeface="+mn-cs"/>
              </a:rPr>
              <a:t> (2009)</a:t>
            </a:r>
          </a:p>
          <a:p>
            <a:pPr latinLnBrk="1"/>
            <a:r>
              <a:rPr lang="en-US" altLang="zh-CN" sz="1200" b="0" i="0" u="none" strike="noStrike" kern="1200" dirty="0" smtClean="0">
                <a:solidFill>
                  <a:schemeClr val="tx1"/>
                </a:solidFill>
                <a:effectLst/>
                <a:latin typeface="+mn-lt"/>
                <a:ea typeface="+mn-ea"/>
                <a:cs typeface="+mn-cs"/>
                <a:hlinkClick r:id="rId18"/>
              </a:rPr>
              <a:t>BDDD*</a:t>
            </a:r>
            <a:r>
              <a:rPr lang="en-US" altLang="zh-CN" sz="1200" b="0" i="0" kern="1200" dirty="0" smtClean="0">
                <a:solidFill>
                  <a:schemeClr val="tx1"/>
                </a:solidFill>
                <a:effectLst/>
                <a:latin typeface="+mn-lt"/>
                <a:ea typeface="+mn-ea"/>
                <a:cs typeface="+mn-cs"/>
              </a:rPr>
              <a:t> (2009 - I cannot access this paper :|)</a:t>
            </a:r>
          </a:p>
          <a:p>
            <a:pPr latinLnBrk="1"/>
            <a:r>
              <a:rPr lang="en-US" altLang="zh-CN" sz="1200" b="0" i="0" u="none" strike="noStrike" kern="1200" dirty="0" smtClean="0">
                <a:solidFill>
                  <a:schemeClr val="tx1"/>
                </a:solidFill>
                <a:effectLst/>
                <a:latin typeface="+mn-lt"/>
                <a:ea typeface="+mn-ea"/>
                <a:cs typeface="+mn-cs"/>
                <a:hlinkClick r:id="rId19"/>
              </a:rPr>
              <a:t>Incremental Phi*</a:t>
            </a:r>
            <a:r>
              <a:rPr lang="en-US" altLang="zh-CN" sz="1200" b="0" i="0" kern="1200" dirty="0" smtClean="0">
                <a:solidFill>
                  <a:schemeClr val="tx1"/>
                </a:solidFill>
                <a:effectLst/>
                <a:latin typeface="+mn-lt"/>
                <a:ea typeface="+mn-ea"/>
                <a:cs typeface="+mn-cs"/>
              </a:rPr>
              <a:t> (2009)</a:t>
            </a:r>
          </a:p>
          <a:p>
            <a:pPr latinLnBrk="1"/>
            <a:r>
              <a:rPr lang="en-US" altLang="zh-CN" sz="1200" b="0" i="0" u="none" strike="noStrike" kern="1200" dirty="0" smtClean="0">
                <a:solidFill>
                  <a:schemeClr val="tx1"/>
                </a:solidFill>
                <a:effectLst/>
                <a:latin typeface="+mn-lt"/>
                <a:ea typeface="+mn-ea"/>
                <a:cs typeface="+mn-cs"/>
                <a:hlinkClick r:id="rId20"/>
              </a:rPr>
              <a:t>GFRA*</a:t>
            </a:r>
            <a:r>
              <a:rPr lang="en-US" altLang="zh-CN" sz="1200" b="0" i="0" kern="1200" dirty="0" smtClean="0">
                <a:solidFill>
                  <a:schemeClr val="tx1"/>
                </a:solidFill>
                <a:effectLst/>
                <a:latin typeface="+mn-lt"/>
                <a:ea typeface="+mn-ea"/>
                <a:cs typeface="+mn-cs"/>
              </a:rPr>
              <a:t> (2010)</a:t>
            </a:r>
          </a:p>
          <a:p>
            <a:pPr latinLnBrk="1"/>
            <a:r>
              <a:rPr lang="en-US" altLang="zh-CN" sz="1200" b="0" i="0" u="none" strike="noStrike" kern="1200" dirty="0" smtClean="0">
                <a:solidFill>
                  <a:schemeClr val="tx1"/>
                </a:solidFill>
                <a:effectLst/>
                <a:latin typeface="+mn-lt"/>
                <a:ea typeface="+mn-ea"/>
                <a:cs typeface="+mn-cs"/>
                <a:hlinkClick r:id="rId21"/>
              </a:rPr>
              <a:t>MTD*-Lite</a:t>
            </a:r>
            <a:r>
              <a:rPr lang="en-US" altLang="zh-CN" sz="1200" b="0" i="0" kern="1200" dirty="0" smtClean="0">
                <a:solidFill>
                  <a:schemeClr val="tx1"/>
                </a:solidFill>
                <a:effectLst/>
                <a:latin typeface="+mn-lt"/>
                <a:ea typeface="+mn-ea"/>
                <a:cs typeface="+mn-cs"/>
              </a:rPr>
              <a:t> (2010)</a:t>
            </a:r>
          </a:p>
          <a:p>
            <a:pPr latinLnBrk="1"/>
            <a:r>
              <a:rPr lang="en-US" altLang="zh-CN" sz="1200" b="0" i="0" u="none" strike="noStrike" kern="1200" dirty="0" smtClean="0">
                <a:solidFill>
                  <a:schemeClr val="tx1"/>
                </a:solidFill>
                <a:effectLst/>
                <a:latin typeface="+mn-lt"/>
                <a:ea typeface="+mn-ea"/>
                <a:cs typeface="+mn-cs"/>
                <a:hlinkClick r:id="rId22"/>
              </a:rPr>
              <a:t>Tree-AA*</a:t>
            </a:r>
            <a:r>
              <a:rPr lang="en-US" altLang="zh-CN" sz="1200" b="0" i="0" kern="1200" dirty="0" smtClean="0">
                <a:solidFill>
                  <a:schemeClr val="tx1"/>
                </a:solidFill>
                <a:effectLst/>
                <a:latin typeface="+mn-lt"/>
                <a:ea typeface="+mn-ea"/>
                <a:cs typeface="+mn-cs"/>
              </a:rPr>
              <a:t> (2011)</a:t>
            </a:r>
          </a:p>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106</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107</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108</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109</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smtClean="0">
                <a:solidFill>
                  <a:schemeClr val="tx1"/>
                </a:solidFill>
                <a:effectLst/>
                <a:latin typeface="+mn-lt"/>
                <a:ea typeface="+mn-ea"/>
                <a:cs typeface="+mn-cs"/>
              </a:rPr>
              <a:t>The probabilistic roadmap planner consists of two phases: a construction and a query phase. </a:t>
            </a:r>
            <a:r>
              <a:rPr lang="zh-CN" altLang="en-US" sz="1200" b="0" i="0" kern="1200" dirty="0" smtClean="0">
                <a:solidFill>
                  <a:schemeClr val="tx1"/>
                </a:solidFill>
                <a:effectLst/>
                <a:latin typeface="+mn-lt"/>
                <a:ea typeface="+mn-ea"/>
                <a:cs typeface="+mn-cs"/>
              </a:rPr>
              <a:t>学习阶段：在给定图的自由空间里随机撒点（自定义个数），构建一个路径网络图。查询阶段：采用图搜索算法（比如</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）寻找从起点到终点的路径。</a:t>
            </a:r>
          </a:p>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110</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111</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112</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RRT</a:t>
            </a:r>
            <a:r>
              <a:rPr lang="zh-CN" altLang="en-US" sz="1200" b="0" i="0" kern="1200" dirty="0" smtClean="0">
                <a:solidFill>
                  <a:schemeClr val="tx1"/>
                </a:solidFill>
                <a:effectLst/>
                <a:latin typeface="+mn-lt"/>
                <a:ea typeface="+mn-ea"/>
                <a:cs typeface="+mn-cs"/>
              </a:rPr>
              <a:t>是一种多维空间中有效率的规划方法。它以一个初始点作为根节点，通过随机采样增加叶子节点的方式，生成一个随机扩展树，当随机树中的叶子节点包含了目标点或进入了目标区域，便可以在随机树中找到一条由从初始点到目标点的路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初始化时随机树</a:t>
            </a:r>
            <a:r>
              <a:rPr lang="en-US" altLang="zh-CN" sz="1200" b="0" i="0" kern="1200" dirty="0" smtClean="0">
                <a:solidFill>
                  <a:schemeClr val="tx1"/>
                </a:solidFill>
                <a:effectLst/>
                <a:latin typeface="+mn-lt"/>
                <a:ea typeface="+mn-ea"/>
                <a:cs typeface="+mn-cs"/>
              </a:rPr>
              <a:t>T</a:t>
            </a:r>
            <a:r>
              <a:rPr lang="zh-CN" altLang="en-US" sz="1200" b="0" i="0" kern="1200" dirty="0" smtClean="0">
                <a:solidFill>
                  <a:schemeClr val="tx1"/>
                </a:solidFill>
                <a:effectLst/>
                <a:latin typeface="+mn-lt"/>
                <a:ea typeface="+mn-ea"/>
                <a:cs typeface="+mn-cs"/>
              </a:rPr>
              <a:t>只包含一个节点：根节点</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init</a:t>
            </a:r>
            <a:r>
              <a:rPr lang="zh-CN" altLang="en-US" sz="1200" b="0" i="0" kern="1200" dirty="0" smtClean="0">
                <a:solidFill>
                  <a:schemeClr val="tx1"/>
                </a:solidFill>
                <a:effectLst/>
                <a:latin typeface="+mn-lt"/>
                <a:ea typeface="+mn-ea"/>
                <a:cs typeface="+mn-cs"/>
              </a:rPr>
              <a:t>。首先</a:t>
            </a:r>
            <a:r>
              <a:rPr lang="en-US" altLang="zh-CN" sz="1200" b="0" i="0" kern="1200" dirty="0" smtClean="0">
                <a:solidFill>
                  <a:schemeClr val="tx1"/>
                </a:solidFill>
                <a:effectLst/>
                <a:latin typeface="+mn-lt"/>
                <a:ea typeface="+mn-ea"/>
                <a:cs typeface="+mn-cs"/>
              </a:rPr>
              <a:t>Sample</a:t>
            </a:r>
            <a:r>
              <a:rPr lang="zh-CN" altLang="en-US" sz="1200" b="0" i="0" kern="1200" dirty="0" smtClean="0">
                <a:solidFill>
                  <a:schemeClr val="tx1"/>
                </a:solidFill>
                <a:effectLst/>
                <a:latin typeface="+mn-lt"/>
                <a:ea typeface="+mn-ea"/>
                <a:cs typeface="+mn-cs"/>
              </a:rPr>
              <a:t>函数从状态空间中随机选择一个采样点</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rand</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行）；</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然后</a:t>
            </a:r>
            <a:r>
              <a:rPr lang="en-US" altLang="zh-CN" sz="1200" b="0" i="0" kern="1200" dirty="0" smtClean="0">
                <a:solidFill>
                  <a:schemeClr val="tx1"/>
                </a:solidFill>
                <a:effectLst/>
                <a:latin typeface="+mn-lt"/>
                <a:ea typeface="+mn-ea"/>
                <a:cs typeface="+mn-cs"/>
              </a:rPr>
              <a:t>Nearest</a:t>
            </a:r>
            <a:r>
              <a:rPr lang="zh-CN" altLang="en-US" sz="1200" b="0" i="0" kern="1200" dirty="0" smtClean="0">
                <a:solidFill>
                  <a:schemeClr val="tx1"/>
                </a:solidFill>
                <a:effectLst/>
                <a:latin typeface="+mn-lt"/>
                <a:ea typeface="+mn-ea"/>
                <a:cs typeface="+mn-cs"/>
              </a:rPr>
              <a:t>函数从随机树中选择一个距离</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rand</a:t>
            </a:r>
            <a:r>
              <a:rPr lang="zh-CN" altLang="en-US" sz="1200" b="0" i="0" kern="1200" dirty="0" smtClean="0">
                <a:solidFill>
                  <a:schemeClr val="tx1"/>
                </a:solidFill>
                <a:effectLst/>
                <a:latin typeface="+mn-lt"/>
                <a:ea typeface="+mn-ea"/>
                <a:cs typeface="+mn-cs"/>
              </a:rPr>
              <a:t>最近的节点</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nearest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行）；</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最后</a:t>
            </a:r>
            <a:r>
              <a:rPr lang="en-US" altLang="zh-CN" sz="1200" b="0" i="0" kern="1200" dirty="0" smtClean="0">
                <a:solidFill>
                  <a:schemeClr val="tx1"/>
                </a:solidFill>
                <a:effectLst/>
                <a:latin typeface="+mn-lt"/>
                <a:ea typeface="+mn-ea"/>
                <a:cs typeface="+mn-cs"/>
              </a:rPr>
              <a:t>Extend</a:t>
            </a:r>
            <a:r>
              <a:rPr lang="zh-CN" altLang="en-US" sz="1200" b="0" i="0" kern="1200" dirty="0" smtClean="0">
                <a:solidFill>
                  <a:schemeClr val="tx1"/>
                </a:solidFill>
                <a:effectLst/>
                <a:latin typeface="+mn-lt"/>
                <a:ea typeface="+mn-ea"/>
                <a:cs typeface="+mn-cs"/>
              </a:rPr>
              <a:t>函数通过从</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nearest</a:t>
            </a:r>
            <a:r>
              <a:rPr lang="zh-CN" altLang="en-US" sz="1200" b="0" i="0" kern="1200" dirty="0" smtClean="0">
                <a:solidFill>
                  <a:schemeClr val="tx1"/>
                </a:solidFill>
                <a:effectLst/>
                <a:latin typeface="+mn-lt"/>
                <a:ea typeface="+mn-ea"/>
                <a:cs typeface="+mn-cs"/>
              </a:rPr>
              <a:t>向</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rand</a:t>
            </a:r>
            <a:r>
              <a:rPr lang="zh-CN" altLang="en-US" sz="1200" b="0" i="0" kern="1200" dirty="0" smtClean="0">
                <a:solidFill>
                  <a:schemeClr val="tx1"/>
                </a:solidFill>
                <a:effectLst/>
                <a:latin typeface="+mn-lt"/>
                <a:ea typeface="+mn-ea"/>
                <a:cs typeface="+mn-cs"/>
              </a:rPr>
              <a:t>扩展一段距离，得到一个新的节点</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new</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行）。</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如果</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new</a:t>
            </a:r>
            <a:r>
              <a:rPr lang="zh-CN" altLang="en-US" sz="1200" b="0" i="0" kern="1200" dirty="0" smtClean="0">
                <a:solidFill>
                  <a:schemeClr val="tx1"/>
                </a:solidFill>
                <a:effectLst/>
                <a:latin typeface="+mn-lt"/>
                <a:ea typeface="+mn-ea"/>
                <a:cs typeface="+mn-cs"/>
              </a:rPr>
              <a:t>与障碍物发生碰撞，则</a:t>
            </a:r>
            <a:r>
              <a:rPr lang="en-US" altLang="zh-CN" sz="1200" b="0" i="0" kern="1200" dirty="0" smtClean="0">
                <a:solidFill>
                  <a:schemeClr val="tx1"/>
                </a:solidFill>
                <a:effectLst/>
                <a:latin typeface="+mn-lt"/>
                <a:ea typeface="+mn-ea"/>
                <a:cs typeface="+mn-cs"/>
              </a:rPr>
              <a:t>Extend</a:t>
            </a:r>
            <a:r>
              <a:rPr lang="zh-CN" altLang="en-US" sz="1200" b="0" i="0" kern="1200" dirty="0" smtClean="0">
                <a:solidFill>
                  <a:schemeClr val="tx1"/>
                </a:solidFill>
                <a:effectLst/>
                <a:latin typeface="+mn-lt"/>
                <a:ea typeface="+mn-ea"/>
                <a:cs typeface="+mn-cs"/>
              </a:rPr>
              <a:t>函数返回空，放弃这次生长，否则将</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new</a:t>
            </a:r>
            <a:r>
              <a:rPr lang="zh-CN" altLang="en-US" sz="1200" b="0" i="0" kern="1200" dirty="0" smtClean="0">
                <a:solidFill>
                  <a:schemeClr val="tx1"/>
                </a:solidFill>
                <a:effectLst/>
                <a:latin typeface="+mn-lt"/>
                <a:ea typeface="+mn-ea"/>
                <a:cs typeface="+mn-cs"/>
              </a:rPr>
              <a:t>加入到随机树中。</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重复上述步骤直到</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nearest</a:t>
            </a:r>
            <a:r>
              <a:rPr lang="zh-CN" altLang="en-US" sz="1200" b="0" i="0" kern="1200" dirty="0" smtClean="0">
                <a:solidFill>
                  <a:schemeClr val="tx1"/>
                </a:solidFill>
                <a:effectLst/>
                <a:latin typeface="+mn-lt"/>
                <a:ea typeface="+mn-ea"/>
                <a:cs typeface="+mn-cs"/>
              </a:rPr>
              <a:t>和目标点</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gaol</a:t>
            </a:r>
            <a:r>
              <a:rPr lang="zh-CN" altLang="en-US" sz="1200" b="0" i="0" kern="1200" dirty="0" smtClean="0">
                <a:solidFill>
                  <a:schemeClr val="tx1"/>
                </a:solidFill>
                <a:effectLst/>
                <a:latin typeface="+mn-lt"/>
                <a:ea typeface="+mn-ea"/>
                <a:cs typeface="+mn-cs"/>
              </a:rPr>
              <a:t>距离小于一个阈值，则代表随机树到达了目标点，算法返回成功（</a:t>
            </a:r>
            <a:r>
              <a:rPr lang="en-US" altLang="zh-CN" sz="1200" b="0" i="0" kern="1200" dirty="0" smtClean="0">
                <a:solidFill>
                  <a:schemeClr val="tx1"/>
                </a:solidFill>
                <a:effectLst/>
                <a:latin typeface="+mn-lt"/>
                <a:ea typeface="+mn-ea"/>
                <a:cs typeface="+mn-cs"/>
              </a:rPr>
              <a:t>6~7</a:t>
            </a:r>
            <a:r>
              <a:rPr lang="zh-CN" altLang="en-US" sz="1200" b="0" i="0" kern="1200" dirty="0" smtClean="0">
                <a:solidFill>
                  <a:schemeClr val="tx1"/>
                </a:solidFill>
                <a:effectLst/>
                <a:latin typeface="+mn-lt"/>
                <a:ea typeface="+mn-ea"/>
                <a:cs typeface="+mn-cs"/>
              </a:rPr>
              <a:t>行）。</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为了使算法可控，可以设定运行时间上限或搜索次数上限（</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行）。如果在限制次数内无法到达目标点，则算法返回失败。</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　　</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为了加快随机树到达目标点的速度，简单的改进方法是：</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在随机树每次的生长过程中，根据随机概率来决定</a:t>
            </a:r>
            <a:r>
              <a:rPr lang="en-US" altLang="zh-CN" sz="1200" b="0" i="0" kern="1200" dirty="0" err="1" smtClean="0">
                <a:solidFill>
                  <a:schemeClr val="tx1"/>
                </a:solidFill>
                <a:effectLst/>
                <a:latin typeface="+mn-lt"/>
                <a:ea typeface="+mn-ea"/>
                <a:cs typeface="+mn-cs"/>
              </a:rPr>
              <a:t>q</a:t>
            </a:r>
            <a:r>
              <a:rPr lang="en-US" altLang="zh-CN" sz="1200" b="0" i="0" kern="1200" baseline="-25000" dirty="0" err="1" smtClean="0">
                <a:solidFill>
                  <a:schemeClr val="tx1"/>
                </a:solidFill>
                <a:effectLst/>
                <a:latin typeface="+mn-lt"/>
                <a:ea typeface="+mn-ea"/>
                <a:cs typeface="+mn-cs"/>
              </a:rPr>
              <a:t>rand</a:t>
            </a:r>
            <a:r>
              <a:rPr lang="zh-CN" altLang="en-US" sz="1200" b="0" i="0" kern="1200" dirty="0" smtClean="0">
                <a:solidFill>
                  <a:schemeClr val="tx1"/>
                </a:solidFill>
                <a:effectLst/>
                <a:latin typeface="+mn-lt"/>
                <a:ea typeface="+mn-ea"/>
                <a:cs typeface="+mn-cs"/>
              </a:rPr>
              <a:t>是目标点还是随机点。</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a:t>
            </a:r>
            <a:r>
              <a:rPr lang="en-US" altLang="zh-CN" sz="1200" b="0" i="0" kern="1200" dirty="0" smtClean="0">
                <a:solidFill>
                  <a:schemeClr val="tx1"/>
                </a:solidFill>
                <a:effectLst/>
                <a:latin typeface="+mn-lt"/>
                <a:ea typeface="+mn-ea"/>
                <a:cs typeface="+mn-cs"/>
              </a:rPr>
              <a:t>Sample</a:t>
            </a:r>
            <a:r>
              <a:rPr lang="zh-CN" altLang="en-US" sz="1200" b="0" i="0" kern="1200" dirty="0" smtClean="0">
                <a:solidFill>
                  <a:schemeClr val="tx1"/>
                </a:solidFill>
                <a:effectLst/>
                <a:latin typeface="+mn-lt"/>
                <a:ea typeface="+mn-ea"/>
                <a:cs typeface="+mn-cs"/>
              </a:rPr>
              <a:t>函数中设定参数</a:t>
            </a:r>
            <a:r>
              <a:rPr lang="en-US" altLang="zh-CN" sz="1200" b="0" i="0" kern="1200" dirty="0" err="1" smtClean="0">
                <a:solidFill>
                  <a:schemeClr val="tx1"/>
                </a:solidFill>
                <a:effectLst/>
                <a:latin typeface="+mn-lt"/>
                <a:ea typeface="+mn-ea"/>
                <a:cs typeface="+mn-cs"/>
              </a:rPr>
              <a:t>Prob</a:t>
            </a:r>
            <a:r>
              <a:rPr lang="zh-CN" altLang="en-US" sz="1200" b="0" i="0" kern="1200" dirty="0" smtClean="0">
                <a:solidFill>
                  <a:schemeClr val="tx1"/>
                </a:solidFill>
                <a:effectLst/>
                <a:latin typeface="+mn-lt"/>
                <a:ea typeface="+mn-ea"/>
                <a:cs typeface="+mn-cs"/>
              </a:rPr>
              <a:t>，每次得到一个</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到</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的随机值</a:t>
            </a:r>
            <a:r>
              <a:rPr lang="en-US" altLang="zh-CN" sz="1200" b="0" i="0" kern="1200" dirty="0" smtClean="0">
                <a:solidFill>
                  <a:schemeClr val="tx1"/>
                </a:solidFill>
                <a:effectLst/>
                <a:latin typeface="+mn-lt"/>
                <a:ea typeface="+mn-ea"/>
                <a:cs typeface="+mn-cs"/>
              </a:rPr>
              <a:t>p</a:t>
            </a:r>
            <a:r>
              <a:rPr lang="zh-CN" altLang="en-US" sz="1200" b="0" i="0" kern="1200" dirty="0" smtClean="0">
                <a:solidFill>
                  <a:schemeClr val="tx1"/>
                </a:solidFill>
                <a:effectLst/>
                <a:latin typeface="+mn-lt"/>
                <a:ea typeface="+mn-ea"/>
                <a:cs typeface="+mn-cs"/>
              </a:rPr>
              <a:t>，当</a:t>
            </a:r>
            <a:r>
              <a:rPr lang="en-US" altLang="zh-CN" sz="1200" b="0" i="0" kern="1200" dirty="0" smtClean="0">
                <a:solidFill>
                  <a:schemeClr val="tx1"/>
                </a:solidFill>
                <a:effectLst/>
                <a:latin typeface="+mn-lt"/>
                <a:ea typeface="+mn-ea"/>
                <a:cs typeface="+mn-cs"/>
              </a:rPr>
              <a:t>0&lt;p&lt;</a:t>
            </a:r>
            <a:r>
              <a:rPr lang="en-US" altLang="zh-CN" sz="1200" b="0" i="0" kern="1200" dirty="0" err="1" smtClean="0">
                <a:solidFill>
                  <a:schemeClr val="tx1"/>
                </a:solidFill>
                <a:effectLst/>
                <a:latin typeface="+mn-lt"/>
                <a:ea typeface="+mn-ea"/>
                <a:cs typeface="+mn-cs"/>
              </a:rPr>
              <a:t>Prob</a:t>
            </a:r>
            <a:r>
              <a:rPr lang="zh-CN" altLang="en-US" sz="1200" b="0" i="0" kern="1200" dirty="0" smtClean="0">
                <a:solidFill>
                  <a:schemeClr val="tx1"/>
                </a:solidFill>
                <a:effectLst/>
                <a:latin typeface="+mn-lt"/>
                <a:ea typeface="+mn-ea"/>
                <a:cs typeface="+mn-cs"/>
              </a:rPr>
              <a:t>的时候，随机树朝目标点生长行；</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当</a:t>
            </a:r>
            <a:r>
              <a:rPr lang="en-US" altLang="zh-CN" sz="1200" b="0" i="0" kern="1200" dirty="0" err="1" smtClean="0">
                <a:solidFill>
                  <a:schemeClr val="tx1"/>
                </a:solidFill>
                <a:effectLst/>
                <a:latin typeface="+mn-lt"/>
                <a:ea typeface="+mn-ea"/>
                <a:cs typeface="+mn-cs"/>
              </a:rPr>
              <a:t>Prob</a:t>
            </a:r>
            <a:r>
              <a:rPr lang="en-US" altLang="zh-CN" sz="1200" b="0" i="0" kern="1200" dirty="0" smtClean="0">
                <a:solidFill>
                  <a:schemeClr val="tx1"/>
                </a:solidFill>
                <a:effectLst/>
                <a:latin typeface="+mn-lt"/>
                <a:ea typeface="+mn-ea"/>
                <a:cs typeface="+mn-cs"/>
              </a:rPr>
              <a:t>&lt;p&lt;1.0</a:t>
            </a:r>
            <a:r>
              <a:rPr lang="zh-CN" altLang="en-US" sz="1200" b="0" i="0" kern="1200" dirty="0" smtClean="0">
                <a:solidFill>
                  <a:schemeClr val="tx1"/>
                </a:solidFill>
                <a:effectLst/>
                <a:latin typeface="+mn-lt"/>
                <a:ea typeface="+mn-ea"/>
                <a:cs typeface="+mn-cs"/>
              </a:rPr>
              <a:t>时，随机树朝一个随机方向生长。</a:t>
            </a:r>
          </a:p>
          <a:p>
            <a:r>
              <a:rPr lang="zh-CN" altLang="en-US" sz="1200" b="0" i="0" kern="1200" dirty="0" smtClean="0">
                <a:solidFill>
                  <a:schemeClr val="tx1"/>
                </a:solidFill>
                <a:effectLst/>
                <a:latin typeface="+mn-lt"/>
                <a:ea typeface="+mn-ea"/>
                <a:cs typeface="+mn-cs"/>
              </a:rPr>
              <a:t>　　上述算法的效果是随机采样点会“拉着”树向外生长，这样能更快、更有效地探索空间（</a:t>
            </a:r>
            <a:r>
              <a:rPr lang="en-US" altLang="zh-CN" sz="1200" b="0" i="0" kern="1200" dirty="0" smtClean="0">
                <a:solidFill>
                  <a:schemeClr val="tx1"/>
                </a:solidFill>
                <a:effectLst/>
                <a:latin typeface="+mn-lt"/>
                <a:ea typeface="+mn-ea"/>
                <a:cs typeface="+mn-cs"/>
              </a:rPr>
              <a:t>The effect is that the nearly uniformly distributed samples “pull” the tree toward them, causing the tree to rapidly explore C-Space</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随机探索也讲究策略，如果我们从树中随机取一个点，然后向着随机的方向生长，那么结果是什么样的呢？</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见下图（</a:t>
            </a:r>
            <a:r>
              <a:rPr lang="en-US" altLang="zh-CN" sz="1200" b="0" i="0" kern="1200" dirty="0" smtClean="0">
                <a:solidFill>
                  <a:schemeClr val="tx1"/>
                </a:solidFill>
                <a:effectLst/>
                <a:latin typeface="+mn-lt"/>
                <a:ea typeface="+mn-ea"/>
                <a:cs typeface="+mn-cs"/>
              </a:rPr>
              <a:t>Left: A tree generated by applying a uniformly-distributed random motion from a randomly chosen tree node does not explore very far. Right: A tree generated by the RRT algorithm using samples drawn randomly from a uniform distribution. Both trees have 2000 nodes </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可以看到，同样是随机树，但是这棵树并没很好地探索空间。</a:t>
            </a:r>
          </a:p>
          <a:p>
            <a:endParaRPr lang="zh-CN" altLang="en-US" dirty="0" smtClean="0"/>
          </a:p>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113</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RRT</a:t>
            </a:r>
            <a:r>
              <a:rPr lang="zh-CN" altLang="en-US" sz="1200" b="0" i="0" kern="1200" dirty="0" smtClean="0">
                <a:solidFill>
                  <a:schemeClr val="tx1"/>
                </a:solidFill>
                <a:effectLst/>
                <a:latin typeface="+mn-lt"/>
                <a:ea typeface="+mn-ea"/>
                <a:cs typeface="+mn-cs"/>
              </a:rPr>
              <a:t>算法也有一些缺点，它是一种纯粹的随机搜索算法对环境类型不敏感，当</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空间中包含大量障碍物或狭窄通道约束时，算法的收敛速度慢，效率会大幅下降</a:t>
            </a:r>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114</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smtClean="0">
                <a:solidFill>
                  <a:schemeClr val="tx1"/>
                </a:solidFill>
                <a:effectLst/>
                <a:latin typeface="+mn-lt"/>
                <a:ea typeface="+mn-ea"/>
                <a:cs typeface="+mn-cs"/>
              </a:rPr>
              <a:t>RRT </a:t>
            </a:r>
            <a:r>
              <a:rPr lang="zh-CN" altLang="en-US" sz="1200" b="0" i="0" kern="1200" dirty="0" smtClean="0">
                <a:solidFill>
                  <a:schemeClr val="tx1"/>
                </a:solidFill>
                <a:effectLst/>
                <a:latin typeface="+mn-lt"/>
                <a:ea typeface="+mn-ea"/>
                <a:cs typeface="+mn-cs"/>
              </a:rPr>
              <a:t>的一个弱点是难以在有狭窄通道的环境找到路径。因为狭窄通道面积小，被碰到的概率高。下图展示的例子是 </a:t>
            </a:r>
            <a:r>
              <a:rPr lang="en-US" altLang="zh-CN" sz="1200" b="0" i="0" kern="1200" dirty="0" smtClean="0">
                <a:solidFill>
                  <a:schemeClr val="tx1"/>
                </a:solidFill>
                <a:effectLst/>
                <a:latin typeface="+mn-lt"/>
                <a:ea typeface="+mn-ea"/>
                <a:cs typeface="+mn-cs"/>
              </a:rPr>
              <a:t>RRT </a:t>
            </a:r>
            <a:r>
              <a:rPr lang="zh-CN" altLang="en-US" sz="1200" b="0" i="0" kern="1200" dirty="0" smtClean="0">
                <a:solidFill>
                  <a:schemeClr val="tx1"/>
                </a:solidFill>
                <a:effectLst/>
                <a:latin typeface="+mn-lt"/>
                <a:ea typeface="+mn-ea"/>
                <a:cs typeface="+mn-cs"/>
              </a:rPr>
              <a:t>应对一个人为制作的很短的狭窄通道，有时</a:t>
            </a:r>
            <a:r>
              <a:rPr lang="en-US" altLang="zh-CN" sz="1200" b="0" i="0" kern="1200" dirty="0" smtClean="0">
                <a:solidFill>
                  <a:schemeClr val="tx1"/>
                </a:solidFill>
                <a:effectLst/>
                <a:latin typeface="+mn-lt"/>
                <a:ea typeface="+mn-ea"/>
                <a:cs typeface="+mn-cs"/>
              </a:rPr>
              <a:t>RRT</a:t>
            </a:r>
            <a:r>
              <a:rPr lang="zh-CN" altLang="en-US" sz="1200" b="0" i="0" kern="1200" dirty="0" smtClean="0">
                <a:solidFill>
                  <a:schemeClr val="tx1"/>
                </a:solidFill>
                <a:effectLst/>
                <a:latin typeface="+mn-lt"/>
                <a:ea typeface="+mn-ea"/>
                <a:cs typeface="+mn-cs"/>
              </a:rPr>
              <a:t>很快就找到了出路，有时则一直被困在障碍物里面：</a:t>
            </a:r>
            <a:endParaRPr lang="zh-CN" altLang="en-US" dirty="0" smtClean="0"/>
          </a:p>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115</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116</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en-US" dirty="0" smtClean="0">
                <a:effectLst/>
              </a:rPr>
              <a:t>只需简单执行梯度下降</a:t>
            </a:r>
          </a:p>
          <a:p>
            <a:r>
              <a:rPr lang="en-US" altLang="zh-CN" dirty="0" smtClean="0">
                <a:effectLst/>
              </a:rPr>
              <a:t>C-Space</a:t>
            </a:r>
            <a:r>
              <a:rPr lang="zh-CN" altLang="en-US" dirty="0" smtClean="0">
                <a:effectLst/>
              </a:rPr>
              <a:t>通常在用网格离散化</a:t>
            </a: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117</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en-US" sz="2000" dirty="0" smtClean="0">
                <a:solidFill>
                  <a:srgbClr val="000000"/>
                </a:solidFill>
                <a:ea typeface="宋体" panose="02010600030101010101" pitchFamily="2" charset="-122"/>
              </a:rPr>
              <a:t>目标不可达的主要原因</a:t>
            </a:r>
          </a:p>
          <a:p>
            <a:pPr lvl="1"/>
            <a:r>
              <a:rPr lang="zh-CN" altLang="en-US" sz="1800" dirty="0" smtClean="0">
                <a:solidFill>
                  <a:srgbClr val="000000"/>
                </a:solidFill>
                <a:ea typeface="宋体" panose="02010600030101010101" pitchFamily="2" charset="-122"/>
              </a:rPr>
              <a:t>当目标在障碍物的影响范围之内时，整个势场的全局最小点并不是目标点。</a:t>
            </a:r>
          </a:p>
          <a:p>
            <a:pPr lvl="1"/>
            <a:endParaRPr lang="zh-CN" altLang="en-US" sz="1800" dirty="0" smtClean="0">
              <a:solidFill>
                <a:srgbClr val="000000"/>
              </a:solidFill>
              <a:ea typeface="宋体" panose="02010600030101010101" pitchFamily="2" charset="-122"/>
            </a:endParaRPr>
          </a:p>
          <a:p>
            <a:r>
              <a:rPr lang="zh-CN" altLang="en-US" sz="2000" dirty="0" smtClean="0">
                <a:solidFill>
                  <a:srgbClr val="000000"/>
                </a:solidFill>
                <a:ea typeface="宋体" panose="02010600030101010101" pitchFamily="2" charset="-122"/>
              </a:rPr>
              <a:t>局部极小的主要原因</a:t>
            </a:r>
          </a:p>
          <a:p>
            <a:pPr lvl="1"/>
            <a:r>
              <a:rPr lang="zh-CN" altLang="en-US" sz="1800" dirty="0" smtClean="0">
                <a:solidFill>
                  <a:srgbClr val="000000"/>
                </a:solidFill>
                <a:ea typeface="宋体" panose="02010600030101010101" pitchFamily="2" charset="-122"/>
              </a:rPr>
              <a:t>机器人在向目标点和障碍物移动过程中</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引力不断减小</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斥力不断增大</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因此</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必然存在一点使得机器人所受的斥力与引力恰好大小相等、方向相反</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此时</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机器人所受合力为零</a:t>
            </a:r>
            <a:r>
              <a:rPr lang="en-US" altLang="zh-CN" sz="1800" dirty="0" smtClean="0">
                <a:solidFill>
                  <a:srgbClr val="000000"/>
                </a:solidFill>
                <a:ea typeface="宋体" panose="02010600030101010101" pitchFamily="2" charset="-122"/>
              </a:rPr>
              <a:t>,</a:t>
            </a:r>
            <a:r>
              <a:rPr lang="zh-CN" altLang="en-US" sz="1800" dirty="0" smtClean="0">
                <a:solidFill>
                  <a:srgbClr val="000000"/>
                </a:solidFill>
                <a:ea typeface="宋体" panose="02010600030101010101" pitchFamily="2" charset="-122"/>
              </a:rPr>
              <a:t>机器人将停在障碍物前。</a:t>
            </a:r>
          </a:p>
          <a:p>
            <a:pPr lvl="1"/>
            <a:endParaRPr lang="zh-CN" altLang="en-US" sz="1800" dirty="0" smtClean="0">
              <a:solidFill>
                <a:srgbClr val="000000"/>
              </a:solidFill>
              <a:ea typeface="宋体" panose="02010600030101010101" pitchFamily="2" charset="-122"/>
            </a:endParaRPr>
          </a:p>
          <a:p>
            <a:r>
              <a:rPr lang="zh-CN" altLang="en-US" sz="2000" dirty="0" smtClean="0">
                <a:solidFill>
                  <a:srgbClr val="000000"/>
                </a:solidFill>
                <a:ea typeface="宋体" panose="02010600030101010101" pitchFamily="2" charset="-122"/>
              </a:rPr>
              <a:t>避免两者的改进算法</a:t>
            </a:r>
          </a:p>
          <a:p>
            <a:pPr lvl="1"/>
            <a:r>
              <a:rPr lang="zh-CN" altLang="en-US" sz="1800" dirty="0" smtClean="0">
                <a:solidFill>
                  <a:srgbClr val="000000"/>
                </a:solidFill>
                <a:ea typeface="宋体" panose="02010600030101010101" pitchFamily="2" charset="-122"/>
              </a:rPr>
              <a:t>改进势力场函数，使整个势场极小值仅在目标点出现</a:t>
            </a:r>
          </a:p>
          <a:p>
            <a:pPr lvl="1"/>
            <a:r>
              <a:rPr lang="zh-CN" altLang="en-US" sz="1800" dirty="0" smtClean="0">
                <a:solidFill>
                  <a:srgbClr val="000000"/>
                </a:solidFill>
                <a:ea typeface="宋体" panose="02010600030101010101" pitchFamily="2" charset="-122"/>
              </a:rPr>
              <a:t>将</a:t>
            </a:r>
            <a:r>
              <a:rPr lang="en-US" altLang="zh-CN" sz="1800" dirty="0" smtClean="0">
                <a:solidFill>
                  <a:srgbClr val="000000"/>
                </a:solidFill>
                <a:ea typeface="宋体" panose="02010600030101010101" pitchFamily="2" charset="-122"/>
              </a:rPr>
              <a:t>APF</a:t>
            </a:r>
            <a:r>
              <a:rPr lang="zh-CN" altLang="en-US" sz="1800" dirty="0" smtClean="0">
                <a:solidFill>
                  <a:srgbClr val="000000"/>
                </a:solidFill>
                <a:ea typeface="宋体" panose="02010600030101010101" pitchFamily="2" charset="-122"/>
              </a:rPr>
              <a:t>同别的方法融合来克服人工势场的缺点</a:t>
            </a:r>
            <a:endParaRPr lang="en-US" altLang="zh-CN" sz="1800" dirty="0" smtClean="0">
              <a:solidFill>
                <a:srgbClr val="000000"/>
              </a:solidFill>
              <a:ea typeface="宋体" panose="02010600030101010101" pitchFamily="2" charset="-122"/>
            </a:endParaRPr>
          </a:p>
          <a:p>
            <a:pPr lvl="1"/>
            <a:r>
              <a:rPr lang="zh-CN" altLang="en-US" sz="1800" dirty="0" smtClean="0">
                <a:solidFill>
                  <a:srgbClr val="000000"/>
                </a:solidFill>
                <a:ea typeface="宋体" panose="02010600030101010101" pitchFamily="2" charset="-122"/>
              </a:rPr>
              <a:t>这部分的改进讲解见讲义</a:t>
            </a:r>
            <a:endParaRPr lang="en-US" altLang="zh-CN" sz="1800" dirty="0" smtClean="0">
              <a:solidFill>
                <a:srgbClr val="000000"/>
              </a:solidFill>
              <a:ea typeface="宋体" panose="02010600030101010101" pitchFamily="2" charset="-122"/>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118</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119</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5.28</a:t>
            </a:r>
            <a:r>
              <a:rPr lang="zh-CN" altLang="zh-CN" sz="1200" kern="1200" dirty="0" smtClean="0">
                <a:solidFill>
                  <a:schemeClr val="tx1"/>
                </a:solidFill>
                <a:effectLst/>
                <a:latin typeface="+mn-lt"/>
                <a:ea typeface="+mn-ea"/>
                <a:cs typeface="+mn-cs"/>
              </a:rPr>
              <a:t>所示，移动机器人在走廊中行进，机器人要到达目标位置，需要右转通过两面墙之间的缝隙。</a:t>
            </a:r>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120</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假设该移动机器人的速度空间为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，最大线速度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𝑚𝑎𝑥</m:t>
                        </m:r>
                      </m:sub>
                    </m:sSub>
                    <m:r>
                      <a:rPr lang="en-US" altLang="zh-CN" sz="1200" kern="1200">
                        <a:solidFill>
                          <a:schemeClr val="tx1"/>
                        </a:solidFill>
                        <a:effectLst/>
                        <a:latin typeface="Cambria Math" panose="02040503050406030204" pitchFamily="18" charset="0"/>
                        <a:ea typeface="+mn-ea"/>
                        <a:cs typeface="+mn-cs"/>
                      </a:rPr>
                      <m:t>=90</m:t>
                    </m:r>
                    <m:r>
                      <m:rPr>
                        <m:sty m:val="p"/>
                      </m:rPr>
                      <a:rPr lang="en-US" altLang="zh-CN" sz="1200" kern="1200">
                        <a:solidFill>
                          <a:schemeClr val="tx1"/>
                        </a:solidFill>
                        <a:effectLst/>
                        <a:latin typeface="Cambria Math" panose="02040503050406030204" pitchFamily="18" charset="0"/>
                        <a:ea typeface="+mn-ea"/>
                        <a:cs typeface="+mn-cs"/>
                      </a:rPr>
                      <m:t>cm</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s</m:t>
                    </m:r>
                  </m:oMath>
                </a14:m>
                <a:r>
                  <a:rPr lang="zh-CN" altLang="zh-CN" sz="1200" kern="1200" dirty="0">
                    <a:solidFill>
                      <a:schemeClr val="tx1"/>
                    </a:solidFill>
                    <a:effectLst/>
                    <a:latin typeface="+mn-lt"/>
                    <a:ea typeface="+mn-ea"/>
                    <a:cs typeface="+mn-cs"/>
                  </a:rPr>
                  <a:t>，最大角速度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𝑚𝑎𝑥</m:t>
                        </m:r>
                      </m:sub>
                    </m:sSub>
                    <m:r>
                      <a:rPr lang="en-US" altLang="zh-CN" sz="1200" kern="1200">
                        <a:solidFill>
                          <a:schemeClr val="tx1"/>
                        </a:solidFill>
                        <a:effectLst/>
                        <a:latin typeface="Cambria Math" panose="02040503050406030204" pitchFamily="18" charset="0"/>
                        <a:ea typeface="+mn-ea"/>
                        <a:cs typeface="+mn-cs"/>
                      </a:rPr>
                      <m:t>=±90</m:t>
                    </m:r>
                    <m:r>
                      <m:rPr>
                        <m:sty m:val="p"/>
                      </m:rPr>
                      <a:rPr lang="en-US" altLang="zh-CN" sz="1200" kern="1200">
                        <a:solidFill>
                          <a:schemeClr val="tx1"/>
                        </a:solidFill>
                        <a:effectLst/>
                        <a:latin typeface="Cambria Math" panose="02040503050406030204" pitchFamily="18" charset="0"/>
                        <a:ea typeface="+mn-ea"/>
                        <a:cs typeface="+mn-cs"/>
                      </a:rPr>
                      <m:t>deg</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s</m:t>
                    </m:r>
                  </m:oMath>
                </a14:m>
                <a:r>
                  <a:rPr lang="zh-CN" altLang="zh-CN" sz="1200" kern="1200" dirty="0">
                    <a:solidFill>
                      <a:schemeClr val="tx1"/>
                    </a:solidFill>
                    <a:effectLst/>
                    <a:latin typeface="+mn-lt"/>
                    <a:ea typeface="+mn-ea"/>
                    <a:cs typeface="+mn-cs"/>
                  </a:rPr>
                  <a:t>。首先我们对这个速度空间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𝑠</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d>
                  </m:oMath>
                </a14:m>
                <a:r>
                  <a:rPr lang="zh-CN" altLang="zh-CN" sz="1200" kern="1200" dirty="0">
                    <a:solidFill>
                      <a:schemeClr val="tx1"/>
                    </a:solidFill>
                    <a:effectLst/>
                    <a:latin typeface="+mn-lt"/>
                    <a:ea typeface="+mn-ea"/>
                    <a:cs typeface="+mn-cs"/>
                  </a:rPr>
                  <a:t>进行障碍物约束。当机器人前方有障碍物时，要保证当前的速度不要过大，避免以最大加速度制停时机器人无法在障碍物前停下的情况发生。这个障碍物速度约束公式表达如公式</a:t>
                </a:r>
                <a:r>
                  <a:rPr lang="en-US" altLang="zh-CN" sz="1200" kern="1200" dirty="0">
                    <a:solidFill>
                      <a:schemeClr val="tx1"/>
                    </a:solidFill>
                    <a:effectLst/>
                    <a:latin typeface="+mn-lt"/>
                    <a:ea typeface="+mn-ea"/>
                    <a:cs typeface="+mn-cs"/>
                  </a:rPr>
                  <a:t>(5-40)</a:t>
                </a:r>
                <a:r>
                  <a:rPr lang="zh-CN" altLang="zh-CN" sz="1200" kern="1200" dirty="0">
                    <a:solidFill>
                      <a:schemeClr val="tx1"/>
                    </a:solidFill>
                    <a:effectLst/>
                    <a:latin typeface="+mn-lt"/>
                    <a:ea typeface="+mn-ea"/>
                    <a:cs typeface="+mn-cs"/>
                  </a:rPr>
                  <a:t>。</a:t>
                </a:r>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121</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𝑑𝑖𝑠𝑡</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d>
                  </m:oMath>
                </a14:m>
                <a:r>
                  <a:rPr lang="zh-CN" altLang="zh-CN" sz="1200" kern="1200" dirty="0">
                    <a:solidFill>
                      <a:schemeClr val="tx1"/>
                    </a:solidFill>
                    <a:effectLst/>
                    <a:latin typeface="+mn-lt"/>
                    <a:ea typeface="+mn-ea"/>
                    <a:cs typeface="+mn-cs"/>
                  </a:rPr>
                  <a:t>为以该速度和角速度拟合出的圆弧上，机器人到障碍物的距离。 经过障碍物约束之后的允许速度</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Admissable</a:t>
                </a:r>
                <a:r>
                  <a:rPr lang="en-US" altLang="zh-CN" sz="1200" kern="1200" dirty="0">
                    <a:solidFill>
                      <a:schemeClr val="tx1"/>
                    </a:solidFill>
                    <a:effectLst/>
                    <a:latin typeface="+mn-lt"/>
                    <a:ea typeface="+mn-ea"/>
                    <a:cs typeface="+mn-cs"/>
                  </a:rPr>
                  <a:t> Velocities)</a:t>
                </a:r>
                <a:r>
                  <a:rPr lang="zh-CN" altLang="zh-CN" sz="1200" kern="1200" dirty="0">
                    <a:solidFill>
                      <a:schemeClr val="tx1"/>
                    </a:solidFill>
                    <a:effectLst/>
                    <a:latin typeface="+mn-lt"/>
                    <a:ea typeface="+mn-ea"/>
                    <a:cs typeface="+mn-cs"/>
                  </a:rPr>
                  <a:t>空间为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𝑎</m:t>
                        </m:r>
                      </m:sub>
                    </m:sSub>
                  </m:oMath>
                </a14:m>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5.29</a:t>
                </a:r>
                <a:r>
                  <a:rPr lang="zh-CN" altLang="zh-CN" sz="1200" kern="1200" dirty="0">
                    <a:solidFill>
                      <a:schemeClr val="tx1"/>
                    </a:solidFill>
                    <a:effectLst/>
                    <a:latin typeface="+mn-lt"/>
                    <a:ea typeface="+mn-ea"/>
                    <a:cs typeface="+mn-cs"/>
                  </a:rPr>
                  <a:t>所示，为去掉灰色部分的其余空间。</a:t>
                </a:r>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415"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122</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进一步进行动态窗口约束，限制搜索空间为短时间内可达的速度和角速度，约束方程为公式（</a:t>
                </a:r>
                <a:r>
                  <a:rPr lang="en-US" altLang="zh-CN" sz="1200" kern="1200" dirty="0" smtClean="0">
                    <a:solidFill>
                      <a:schemeClr val="tx1"/>
                    </a:solidFill>
                    <a:effectLst/>
                    <a:latin typeface="+mn-lt"/>
                    <a:ea typeface="+mn-ea"/>
                    <a:cs typeface="+mn-cs"/>
                  </a:rPr>
                  <a:t> 5-41</a:t>
                </a:r>
                <a:r>
                  <a:rPr lang="zh-CN" altLang="zh-CN" sz="1200" kern="1200" dirty="0" smtClean="0">
                    <a:solidFill>
                      <a:schemeClr val="tx1"/>
                    </a:solidFill>
                    <a:effectLst/>
                    <a:latin typeface="+mn-lt"/>
                    <a:ea typeface="+mn-ea"/>
                    <a:cs typeface="+mn-cs"/>
                  </a:rPr>
                  <a:t>）。</a:t>
                </a:r>
                <a:r>
                  <a:rPr lang="zh-CN" altLang="zh-CN" dirty="0" smtClean="0">
                    <a:effectLst/>
                  </a:rPr>
                  <a:t> </a:t>
                </a:r>
                <a:r>
                  <a:rPr lang="en-US" altLang="zh-CN" sz="1200" kern="1200" dirty="0" smtClean="0">
                    <a:solidFill>
                      <a:schemeClr val="tx1"/>
                    </a:solidFill>
                    <a:effectLst/>
                    <a:latin typeface="+mn-lt"/>
                    <a:ea typeface="+mn-ea"/>
                    <a:cs typeface="+mn-cs"/>
                  </a:rPr>
                  <a:t> </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搜索空间逐步缩小，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𝑆𝑝𝑎𝑐𝑒</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𝑎</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𝑑</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𝑑</m:t>
                        </m:r>
                      </m:sub>
                    </m:sSub>
                  </m:oMath>
                </a14:m>
                <a:r>
                  <a:rPr lang="zh-CN" altLang="zh-CN" sz="1200" kern="1200" dirty="0">
                    <a:solidFill>
                      <a:schemeClr val="tx1"/>
                    </a:solidFill>
                    <a:effectLst/>
                    <a:latin typeface="+mn-lt"/>
                    <a:ea typeface="+mn-ea"/>
                    <a:cs typeface="+mn-cs"/>
                  </a:rPr>
                  <a:t>最终为一个动态窗口</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图中小矩形内的白色部分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，表示速度的可达范围，如图</a:t>
                </a:r>
                <a:r>
                  <a:rPr lang="en-US" altLang="zh-CN" sz="1200" kern="1200" dirty="0">
                    <a:solidFill>
                      <a:schemeClr val="tx1"/>
                    </a:solidFill>
                    <a:effectLst/>
                    <a:latin typeface="+mn-lt"/>
                    <a:ea typeface="+mn-ea"/>
                    <a:cs typeface="+mn-cs"/>
                  </a:rPr>
                  <a:t>5.30</a:t>
                </a:r>
                <a:r>
                  <a:rPr lang="zh-CN" altLang="zh-CN" sz="1200" kern="1200" dirty="0">
                    <a:solidFill>
                      <a:schemeClr val="tx1"/>
                    </a:solidFill>
                    <a:effectLst/>
                    <a:latin typeface="+mn-lt"/>
                    <a:ea typeface="+mn-ea"/>
                    <a:cs typeface="+mn-cs"/>
                  </a:rPr>
                  <a:t>所示。</a:t>
                </a:r>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123</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en-US" dirty="0" smtClean="0">
                <a:effectLst/>
              </a:rPr>
              <a:t>如何选择（</a:t>
            </a:r>
            <a:r>
              <a:rPr lang="en-US" altLang="zh-CN" dirty="0" smtClean="0">
                <a:effectLst/>
              </a:rPr>
              <a:t>v</a:t>
            </a:r>
            <a:r>
              <a:rPr lang="zh-CN" altLang="en-US" dirty="0" smtClean="0">
                <a:effectLst/>
              </a:rPr>
              <a:t>，</a:t>
            </a:r>
            <a:r>
              <a:rPr lang="en-US" altLang="zh-CN" dirty="0" smtClean="0">
                <a:effectLst/>
              </a:rPr>
              <a:t>ω</a:t>
            </a:r>
            <a:r>
              <a:rPr lang="zh-CN" altLang="en-US" dirty="0" smtClean="0">
                <a:effectLst/>
              </a:rPr>
              <a:t>）？</a:t>
            </a:r>
            <a:endParaRPr lang="en-US" altLang="zh-CN" dirty="0" smtClean="0">
              <a:effectLst/>
            </a:endParaRPr>
          </a:p>
          <a:p>
            <a:r>
              <a:rPr lang="zh-CN" altLang="en-US" dirty="0" smtClean="0">
                <a:effectLst/>
              </a:rPr>
              <a:t>将问题作为动态窗口内目标函数的优化问题，搜索最大值</a:t>
            </a:r>
            <a:endParaRPr lang="en-US" altLang="zh-CN" dirty="0" smtClean="0">
              <a:effectLst/>
            </a:endParaRPr>
          </a:p>
          <a:p>
            <a:r>
              <a:rPr lang="zh-CN" altLang="en-US" dirty="0" smtClean="0">
                <a:effectLst/>
              </a:rPr>
              <a:t>目标函数是一个启发式导航函数</a:t>
            </a:r>
            <a:endParaRPr lang="en-US" altLang="zh-CN" dirty="0" smtClean="0">
              <a:effectLst/>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effectLst/>
              </a:rPr>
              <a:t>该功能通过“在正确的方向上快速、安全地驾驶”来设置激励措施，最大限度减少运动耗费时间</a:t>
            </a: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124</a:t>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确定了速度搜索空间之后，对短时间内速度的轨迹进行模拟，并对轨迹进行评价，找到最优的轨迹，则对应的速度即为</a:t>
                </a:r>
                <a:r>
                  <a:rPr lang="en-US" altLang="zh-CN" sz="1200" kern="1200" dirty="0" smtClean="0">
                    <a:solidFill>
                      <a:schemeClr val="tx1"/>
                    </a:solidFill>
                    <a:effectLst/>
                    <a:latin typeface="+mn-lt"/>
                    <a:ea typeface="+mn-ea"/>
                    <a:cs typeface="+mn-cs"/>
                  </a:rPr>
                  <a:t>DWA</a:t>
                </a:r>
                <a:r>
                  <a:rPr lang="zh-CN" altLang="zh-CN" sz="1200" kern="1200" dirty="0" smtClean="0">
                    <a:solidFill>
                      <a:schemeClr val="tx1"/>
                    </a:solidFill>
                    <a:effectLst/>
                    <a:latin typeface="+mn-lt"/>
                    <a:ea typeface="+mn-ea"/>
                    <a:cs typeface="+mn-cs"/>
                  </a:rPr>
                  <a:t>规划的结果。轨迹评价目标函数见公式</a:t>
                </a:r>
                <a:r>
                  <a:rPr lang="en-US" altLang="zh-CN" sz="1200" kern="1200" dirty="0" smtClean="0">
                    <a:solidFill>
                      <a:schemeClr val="tx1"/>
                    </a:solidFill>
                    <a:effectLst/>
                    <a:latin typeface="+mn-lt"/>
                    <a:ea typeface="+mn-ea"/>
                    <a:cs typeface="+mn-cs"/>
                  </a:rPr>
                  <a:t>(5-42)</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其中，评价目标函数的第一部分为朝向评价</a:t>
                </a:r>
                <a:r>
                  <a:rPr lang="en-US" altLang="zh-CN" sz="1200" kern="1200" dirty="0">
                    <a:solidFill>
                      <a:schemeClr val="tx1"/>
                    </a:solidFill>
                    <a:effectLst/>
                    <a:latin typeface="+mn-lt"/>
                    <a:ea typeface="+mn-ea"/>
                    <a:cs typeface="+mn-cs"/>
                  </a:rPr>
                  <a:t>(target heading)</a:t>
                </a:r>
                <a:r>
                  <a:rPr lang="zh-CN" altLang="zh-CN" sz="1200" kern="1200" dirty="0">
                    <a:solidFill>
                      <a:schemeClr val="tx1"/>
                    </a:solidFill>
                    <a:effectLst/>
                    <a:latin typeface="+mn-lt"/>
                    <a:ea typeface="+mn-ea"/>
                    <a:cs typeface="+mn-cs"/>
                  </a:rPr>
                  <a:t>，代表目标点的引力，权重为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h𝑒𝑎𝑑𝑖𝑛𝑔</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d>
                  </m:oMath>
                </a14:m>
                <a:r>
                  <a:rPr lang="zh-CN" altLang="zh-CN" sz="1200" kern="1200" dirty="0">
                    <a:solidFill>
                      <a:schemeClr val="tx1"/>
                    </a:solidFill>
                    <a:effectLst/>
                    <a:latin typeface="+mn-lt"/>
                    <a:ea typeface="+mn-ea"/>
                    <a:cs typeface="+mn-cs"/>
                  </a:rPr>
                  <a:t>为轨迹末端机器人的朝向和一根连线（机器人与目标点的连线）之间的夹角，这个夹角越小越好。第二部分为障碍物评价</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间隙</a:t>
                </a:r>
                <a:r>
                  <a:rPr lang="en-US" altLang="zh-CN" sz="1200" kern="1200" dirty="0">
                    <a:solidFill>
                      <a:schemeClr val="tx1"/>
                    </a:solidFill>
                    <a:effectLst/>
                    <a:latin typeface="+mn-lt"/>
                    <a:ea typeface="+mn-ea"/>
                    <a:cs typeface="+mn-cs"/>
                  </a:rPr>
                  <a:t>clearance)</a:t>
                </a:r>
                <a:r>
                  <a:rPr lang="zh-CN" altLang="zh-CN" sz="1200" kern="1200" dirty="0">
                    <a:solidFill>
                      <a:schemeClr val="tx1"/>
                    </a:solidFill>
                    <a:effectLst/>
                    <a:latin typeface="+mn-lt"/>
                    <a:ea typeface="+mn-ea"/>
                    <a:cs typeface="+mn-cs"/>
                  </a:rPr>
                  <a:t>，代表障碍物产生的斥力，权重为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𝑑𝑖𝑠𝑡</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d>
                  </m:oMath>
                </a14:m>
                <a:r>
                  <a:rPr lang="zh-CN" altLang="zh-CN" sz="1200" kern="1200" dirty="0">
                    <a:solidFill>
                      <a:schemeClr val="tx1"/>
                    </a:solidFill>
                    <a:effectLst/>
                    <a:latin typeface="+mn-lt"/>
                    <a:ea typeface="+mn-ea"/>
                    <a:cs typeface="+mn-cs"/>
                  </a:rPr>
                  <a:t>为机器人在当前轨迹上与最近的障碍物之间的间隙距离。如果在这条轨迹上没有障碍物，那就将其设定一个常数。第三部分为速度评价，代表对机器人的驱动。如果机器人自转到一个和目标对齐的朝向时，它可以原地不动就能满足前两项评价标准，这是需要避免的结果。为了克服机器人的这种“惰性”，引入速度评价</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𝑣𝑒𝑙</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d>
                  </m:oMath>
                </a14:m>
                <a:r>
                  <a:rPr lang="zh-CN" altLang="zh-CN" sz="1200" kern="1200" dirty="0">
                    <a:solidFill>
                      <a:schemeClr val="tx1"/>
                    </a:solidFill>
                    <a:effectLst/>
                    <a:latin typeface="+mn-lt"/>
                    <a:ea typeface="+mn-ea"/>
                    <a:cs typeface="+mn-cs"/>
                  </a:rPr>
                  <a:t>，选择速度和角速度的幅度越大，该函数值越大，该函数将使机器人在合理范围内尽可能以更大的速度和角速度移动。</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一般来说这三部分的评价不会直接进行相加，而需要进行归一化，也即每一项除以每一项的总和之后，变为一个小于</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的百分比，然后再加权相加。其目的是为了避免某项评价值太大，导致其在评价目标函数中太占优势，引起评价目标函数的不连续。</a:t>
                </a:r>
                <a:endParaRPr lang="zh-CN" altLang="en-US" dirty="0" smtClean="0">
                  <a:effectLst/>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125</a:t>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126</a:t>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127</a:t>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128</a:t>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129</a:t>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130</a:t>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131</a:t>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132</a:t>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133</a:t>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134</a:t>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DWA</a:t>
            </a:r>
            <a:r>
              <a:rPr lang="zh-CN" altLang="zh-CN" sz="1200" kern="1200" dirty="0" smtClean="0">
                <a:solidFill>
                  <a:schemeClr val="tx1"/>
                </a:solidFill>
                <a:effectLst/>
                <a:latin typeface="+mn-lt"/>
                <a:ea typeface="+mn-ea"/>
                <a:cs typeface="+mn-cs"/>
              </a:rPr>
              <a:t>法同样会发生局部最小值</a:t>
            </a:r>
            <a:r>
              <a:rPr lang="en-US" altLang="zh-CN" sz="1200" kern="1200" dirty="0" smtClean="0">
                <a:solidFill>
                  <a:schemeClr val="tx1"/>
                </a:solidFill>
                <a:effectLst/>
                <a:latin typeface="+mn-lt"/>
                <a:ea typeface="+mn-ea"/>
                <a:cs typeface="+mn-cs"/>
              </a:rPr>
              <a:t>(local minima)</a:t>
            </a:r>
            <a:r>
              <a:rPr lang="zh-CN" altLang="zh-CN" sz="1200" kern="1200" dirty="0" smtClean="0">
                <a:solidFill>
                  <a:schemeClr val="tx1"/>
                </a:solidFill>
                <a:effectLst/>
                <a:latin typeface="+mn-lt"/>
                <a:ea typeface="+mn-ea"/>
                <a:cs typeface="+mn-cs"/>
              </a:rPr>
              <a:t>问题，而且当机器人移动速度过快时，也会导致机器人错过转向，而无法进入狭窄通道的现象发生。</a:t>
            </a:r>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135</a:t>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136</a:t>
            </a:fld>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137</a:t>
            </a:fld>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en-US" altLang="zh-CN" sz="1200" b="1" dirty="0" smtClean="0">
              <a:solidFill>
                <a:srgbClr val="FF0000"/>
              </a:solidFill>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138</a:t>
            </a:fld>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上式中，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𝑜𝑐𝑐</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𝑛</m:t>
                        </m:r>
                      </m:e>
                    </m:d>
                  </m:oMath>
                </a14:m>
                <a:r>
                  <a:rPr lang="zh-CN" altLang="zh-CN" sz="1200" kern="1200" dirty="0">
                    <a:solidFill>
                      <a:schemeClr val="tx1"/>
                    </a:solidFill>
                    <a:effectLst/>
                    <a:latin typeface="+mn-lt"/>
                    <a:ea typeface="+mn-ea"/>
                    <a:cs typeface="+mn-cs"/>
                  </a:rPr>
                  <a:t>为卷积地图中节点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的障碍物碰撞概率。在原始格栅地图中执行</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搜索算法找到的路径如图</a:t>
                </a:r>
                <a:r>
                  <a:rPr lang="en-US" altLang="zh-CN" sz="1200" kern="1200" dirty="0">
                    <a:solidFill>
                      <a:schemeClr val="tx1"/>
                    </a:solidFill>
                    <a:effectLst/>
                    <a:latin typeface="+mn-lt"/>
                    <a:ea typeface="+mn-ea"/>
                    <a:cs typeface="+mn-cs"/>
                  </a:rPr>
                  <a:t>5.33(a)</a:t>
                </a:r>
                <a:r>
                  <a:rPr lang="zh-CN" altLang="zh-CN" sz="1200" kern="1200" dirty="0">
                    <a:solidFill>
                      <a:schemeClr val="tx1"/>
                    </a:solidFill>
                    <a:effectLst/>
                    <a:latin typeface="+mn-lt"/>
                    <a:ea typeface="+mn-ea"/>
                    <a:cs typeface="+mn-cs"/>
                  </a:rPr>
                  <a:t>所示，采用卷积地图执行</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搜索算法找到的路径如图</a:t>
                </a:r>
                <a:r>
                  <a:rPr lang="en-US" altLang="zh-CN" sz="1200" kern="1200" dirty="0">
                    <a:solidFill>
                      <a:schemeClr val="tx1"/>
                    </a:solidFill>
                    <a:effectLst/>
                    <a:latin typeface="+mn-lt"/>
                    <a:ea typeface="+mn-ea"/>
                    <a:cs typeface="+mn-cs"/>
                  </a:rPr>
                  <a:t>5.33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）所示。</a:t>
                </a:r>
                <a:r>
                  <a:rPr lang="zh-CN" altLang="zh-CN" dirty="0">
                    <a:effectLst/>
                  </a:rPr>
                  <a:t> </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en-US" altLang="zh-CN" sz="1200" b="1" dirty="0" smtClean="0">
                  <a:solidFill>
                    <a:srgbClr val="FF0000"/>
                  </a:solidFill>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6" t="-9" r="6" b="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139</a:t>
            </a:fld>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en-US" altLang="zh-CN" sz="1200" b="1" dirty="0" smtClean="0">
              <a:solidFill>
                <a:srgbClr val="FF0000"/>
              </a:solidFill>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140</a:t>
            </a:fld>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141</a:t>
            </a:fld>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142</a:t>
            </a:fld>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effectLst/>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143</a:t>
            </a:fld>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r>
              <a:rPr lang="zh-CN" altLang="en-US" dirty="0" smtClean="0">
                <a:effectLst/>
              </a:rPr>
              <a:t>它的任务是达到</a:t>
            </a:r>
            <a:r>
              <a:rPr lang="en-US" altLang="zh-CN" dirty="0" smtClean="0">
                <a:effectLst/>
              </a:rPr>
              <a:t>+1</a:t>
            </a:r>
            <a:r>
              <a:rPr lang="zh-CN" altLang="en-US" dirty="0" smtClean="0">
                <a:effectLst/>
              </a:rPr>
              <a:t>标记的目标，避开标记为</a:t>
            </a:r>
            <a:r>
              <a:rPr lang="en-US" altLang="zh-CN" dirty="0" smtClean="0">
                <a:effectLst/>
              </a:rPr>
              <a:t>-1</a:t>
            </a:r>
            <a:r>
              <a:rPr lang="zh-CN" altLang="en-US" dirty="0" smtClean="0">
                <a:effectLst/>
              </a:rPr>
              <a:t>的单元</a:t>
            </a:r>
            <a:endParaRPr lang="en-US" altLang="zh-CN" dirty="0" smtClean="0">
              <a:effectLst/>
            </a:endParaRPr>
          </a:p>
          <a:p>
            <a:endParaRPr lang="en-US" altLang="zh-CN" dirty="0" smtClean="0">
              <a:effectLst/>
            </a:endParaRPr>
          </a:p>
          <a:p>
            <a:r>
              <a:rPr lang="zh-CN" altLang="en-US" sz="1200" b="1" dirty="0" smtClean="0">
                <a:solidFill>
                  <a:srgbClr val="FF0000"/>
                </a:solidFill>
              </a:rPr>
              <a:t>Markov Decision Process</a:t>
            </a:r>
            <a:endParaRPr lang="en-US" altLang="zh-CN" sz="1200" b="1" dirty="0" smtClean="0">
              <a:solidFill>
                <a:srgbClr val="FF0000"/>
              </a:solidFill>
            </a:endParaRPr>
          </a:p>
          <a:p>
            <a:r>
              <a:rPr lang="zh-CN" altLang="en-US" sz="1200" b="1" dirty="0" smtClean="0">
                <a:solidFill>
                  <a:srgbClr val="FF0000"/>
                </a:solidFill>
              </a:rPr>
              <a:t>动态规划</a:t>
            </a:r>
            <a:r>
              <a:rPr lang="en-US" altLang="zh-CN" sz="1200" b="1" dirty="0" smtClean="0">
                <a:solidFill>
                  <a:srgbClr val="FF0000"/>
                </a:solidFill>
              </a:rPr>
              <a:t>(DP)</a:t>
            </a: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144</a:t>
            </a:fld>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en-US" altLang="zh-CN" sz="1200" b="1" dirty="0" smtClean="0">
              <a:solidFill>
                <a:srgbClr val="FF0000"/>
              </a:solidFill>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145</a:t>
            </a:fld>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en-US" altLang="zh-CN" sz="1200" b="1" dirty="0" smtClean="0">
              <a:solidFill>
                <a:srgbClr val="FF0000"/>
              </a:solidFill>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146</a:t>
            </a:fld>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en-US" altLang="zh-CN" sz="1200" b="1" dirty="0" smtClean="0">
              <a:solidFill>
                <a:srgbClr val="FF0000"/>
              </a:solidFill>
            </a:endParaRPr>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147</a:t>
            </a:fld>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huasong@wust.edu.c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mhuasong/Basics-of-Robotics-Theory-and-Technology" TargetMode="Externa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1.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1.png"/><Relationship Id="rId7" Type="http://schemas.openxmlformats.org/officeDocument/2006/relationships/image" Target="../media/image66.png"/><Relationship Id="rId12"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23.xml"/><Relationship Id="rId7" Type="http://schemas.openxmlformats.org/officeDocument/2006/relationships/image" Target="../media/image62.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9.png"/><Relationship Id="rId5" Type="http://schemas.openxmlformats.org/officeDocument/2006/relationships/image" Target="../media/image57.emf"/><Relationship Id="rId4" Type="http://schemas.openxmlformats.org/officeDocument/2006/relationships/oleObject" Target="../embeddings/oleObject2.bin"/><Relationship Id="rId9" Type="http://schemas.openxmlformats.org/officeDocument/2006/relationships/image" Target="../media/image73.png"/></Relationships>
</file>

<file path=ppt/slides/_rels/slide24.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notesSlide" Target="../notesSlides/notesSlide24.xml"/><Relationship Id="rId5" Type="http://schemas.openxmlformats.org/officeDocument/2006/relationships/tags" Target="../tags/tag30.xml"/><Relationship Id="rId10" Type="http://schemas.openxmlformats.org/officeDocument/2006/relationships/slideLayout" Target="../slideLayouts/slideLayout7.xml"/><Relationship Id="rId4" Type="http://schemas.openxmlformats.org/officeDocument/2006/relationships/tags" Target="../tags/tag29.xml"/><Relationship Id="rId9" Type="http://schemas.openxmlformats.org/officeDocument/2006/relationships/tags" Target="../tags/tag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2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slideLayout" Target="../slideLayouts/slideLayout7.xml"/><Relationship Id="rId7" Type="http://schemas.openxmlformats.org/officeDocument/2006/relationships/image" Target="../media/image85.png"/><Relationship Id="rId2" Type="http://schemas.openxmlformats.org/officeDocument/2006/relationships/tags" Target="../tags/tag35.xml"/><Relationship Id="rId1" Type="http://schemas.openxmlformats.org/officeDocument/2006/relationships/vmlDrawing" Target="../drawings/vmlDrawing3.v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74.emf"/><Relationship Id="rId4" Type="http://schemas.openxmlformats.org/officeDocument/2006/relationships/notesSlide" Target="../notesSlides/notesSlide28.xml"/><Relationship Id="rId9"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notesSlide" Target="../notesSlides/notesSlide29.xml"/><Relationship Id="rId7" Type="http://schemas.openxmlformats.org/officeDocument/2006/relationships/image" Target="../media/image89.png"/><Relationship Id="rId2" Type="http://schemas.openxmlformats.org/officeDocument/2006/relationships/slideLayout" Target="../slideLayouts/slideLayout7.xml"/><Relationship Id="rId1" Type="http://schemas.openxmlformats.org/officeDocument/2006/relationships/tags" Target="../tags/tag36.xml"/><Relationship Id="rId6" Type="http://schemas.openxmlformats.org/officeDocument/2006/relationships/image" Target="../media/image85.png"/><Relationship Id="rId11" Type="http://schemas.openxmlformats.org/officeDocument/2006/relationships/image" Target="../media/image82.png"/><Relationship Id="rId5" Type="http://schemas.openxmlformats.org/officeDocument/2006/relationships/image" Target="../media/image88.png"/><Relationship Id="rId10" Type="http://schemas.openxmlformats.org/officeDocument/2006/relationships/image" Target="../media/image81.png"/><Relationship Id="rId4" Type="http://schemas.openxmlformats.org/officeDocument/2006/relationships/image" Target="../media/image83.png"/><Relationship Id="rId9" Type="http://schemas.openxmlformats.org/officeDocument/2006/relationships/image" Target="../media/image76.png"/></Relationships>
</file>

<file path=ppt/slides/_rels/slide30.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102.png"/><Relationship Id="rId3" Type="http://schemas.openxmlformats.org/officeDocument/2006/relationships/notesSlide" Target="../notesSlides/notesSlide30.xml"/><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78.png"/><Relationship Id="rId2" Type="http://schemas.openxmlformats.org/officeDocument/2006/relationships/slideLayout" Target="../slideLayouts/slideLayout7.xml"/><Relationship Id="rId16" Type="http://schemas.openxmlformats.org/officeDocument/2006/relationships/image" Target="../media/image105.png"/><Relationship Id="rId1" Type="http://schemas.openxmlformats.org/officeDocument/2006/relationships/tags" Target="../tags/tag37.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0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s>
</file>

<file path=ppt/slides/_rels/slide3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video" Target="../media/media1.mp4"/><Relationship Id="rId7" Type="http://schemas.openxmlformats.org/officeDocument/2006/relationships/image" Target="../media/image79.jpeg"/><Relationship Id="rId2" Type="http://schemas.microsoft.com/office/2007/relationships/media" Target="../media/media1.mp4"/><Relationship Id="rId1" Type="http://schemas.openxmlformats.org/officeDocument/2006/relationships/tags" Target="../tags/tag38.xml"/><Relationship Id="rId6" Type="http://schemas.openxmlformats.org/officeDocument/2006/relationships/image" Target="../media/image108.png"/><Relationship Id="rId5" Type="http://schemas.openxmlformats.org/officeDocument/2006/relationships/notesSlide" Target="../notesSlides/notesSlide31.xml"/><Relationship Id="rId4"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notesSlide" Target="../notesSlides/notesSlide32.xml"/><Relationship Id="rId7" Type="http://schemas.openxmlformats.org/officeDocument/2006/relationships/image" Target="../media/image114.png"/><Relationship Id="rId2" Type="http://schemas.openxmlformats.org/officeDocument/2006/relationships/slideLayout" Target="../slideLayouts/slideLayout7.xml"/><Relationship Id="rId1" Type="http://schemas.openxmlformats.org/officeDocument/2006/relationships/tags" Target="../tags/tag39.xml"/><Relationship Id="rId6" Type="http://schemas.openxmlformats.org/officeDocument/2006/relationships/image" Target="../media/image113.png"/><Relationship Id="rId5" Type="http://schemas.openxmlformats.org/officeDocument/2006/relationships/image" Target="../media/image112.png"/><Relationship Id="rId10" Type="http://schemas.openxmlformats.org/officeDocument/2006/relationships/image" Target="../media/image90.png"/><Relationship Id="rId4" Type="http://schemas.openxmlformats.org/officeDocument/2006/relationships/image" Target="../media/image111.png"/><Relationship Id="rId9" Type="http://schemas.openxmlformats.org/officeDocument/2006/relationships/image" Target="../media/image116.png"/></Relationships>
</file>

<file path=ppt/slides/_rels/slide33.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slideLayout" Target="../slideLayouts/slideLayout7.xml"/><Relationship Id="rId7" Type="http://schemas.openxmlformats.org/officeDocument/2006/relationships/image" Target="../media/image121.png"/><Relationship Id="rId2" Type="http://schemas.openxmlformats.org/officeDocument/2006/relationships/tags" Target="../tags/tag40.xml"/><Relationship Id="rId1" Type="http://schemas.openxmlformats.org/officeDocument/2006/relationships/vmlDrawing" Target="../drawings/vmlDrawing4.vml"/><Relationship Id="rId6" Type="http://schemas.openxmlformats.org/officeDocument/2006/relationships/image" Target="../media/image120.png"/><Relationship Id="rId11" Type="http://schemas.openxmlformats.org/officeDocument/2006/relationships/image" Target="../media/image124.png"/><Relationship Id="rId5" Type="http://schemas.openxmlformats.org/officeDocument/2006/relationships/image" Target="../media/image119.png"/><Relationship Id="rId10" Type="http://schemas.openxmlformats.org/officeDocument/2006/relationships/image" Target="../media/image91.emf"/><Relationship Id="rId4" Type="http://schemas.openxmlformats.org/officeDocument/2006/relationships/notesSlide" Target="../notesSlides/notesSlide33.xml"/><Relationship Id="rId9"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41.xml"/><Relationship Id="rId4" Type="http://schemas.openxmlformats.org/officeDocument/2006/relationships/image" Target="../media/image12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42.xml"/><Relationship Id="rId5" Type="http://schemas.openxmlformats.org/officeDocument/2006/relationships/image" Target="../media/image128.png"/><Relationship Id="rId4" Type="http://schemas.openxmlformats.org/officeDocument/2006/relationships/image" Target="../media/image9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43.xml"/><Relationship Id="rId4" Type="http://schemas.openxmlformats.org/officeDocument/2006/relationships/image" Target="../media/image10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107.emf"/><Relationship Id="rId3" Type="http://schemas.openxmlformats.org/officeDocument/2006/relationships/slideLayout" Target="../slideLayouts/slideLayout7.xml"/><Relationship Id="rId7" Type="http://schemas.openxmlformats.org/officeDocument/2006/relationships/oleObject" Target="../embeddings/oleObject5.bin"/><Relationship Id="rId2" Type="http://schemas.openxmlformats.org/officeDocument/2006/relationships/tags" Target="../tags/tag44.xml"/><Relationship Id="rId1" Type="http://schemas.openxmlformats.org/officeDocument/2006/relationships/vmlDrawing" Target="../drawings/vmlDrawing5.vml"/><Relationship Id="rId6" Type="http://schemas.openxmlformats.org/officeDocument/2006/relationships/image" Target="../media/image108.GIF"/><Relationship Id="rId5" Type="http://schemas.openxmlformats.org/officeDocument/2006/relationships/image" Target="../media/image131.png"/><Relationship Id="rId4" Type="http://schemas.openxmlformats.org/officeDocument/2006/relationships/notesSlide" Target="../notesSlides/notesSlide39.xml"/><Relationship Id="rId9" Type="http://schemas.openxmlformats.org/officeDocument/2006/relationships/image" Target="../media/image13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45.xml"/><Relationship Id="rId4" Type="http://schemas.openxmlformats.org/officeDocument/2006/relationships/image" Target="../media/image135.png"/></Relationships>
</file>

<file path=ppt/slides/_rels/slide41.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tags" Target="../tags/tag46.xml"/><Relationship Id="rId7" Type="http://schemas.openxmlformats.org/officeDocument/2006/relationships/image" Target="../media/image137.png"/><Relationship Id="rId12" Type="http://schemas.openxmlformats.org/officeDocument/2006/relationships/image" Target="../media/image117.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09.png"/><Relationship Id="rId11" Type="http://schemas.openxmlformats.org/officeDocument/2006/relationships/image" Target="../media/image141.png"/><Relationship Id="rId5" Type="http://schemas.openxmlformats.org/officeDocument/2006/relationships/notesSlide" Target="../notesSlides/notesSlide41.xml"/><Relationship Id="rId10" Type="http://schemas.openxmlformats.org/officeDocument/2006/relationships/image" Target="../media/image110.png"/><Relationship Id="rId4" Type="http://schemas.openxmlformats.org/officeDocument/2006/relationships/slideLayout" Target="../slideLayouts/slideLayout7.xml"/><Relationship Id="rId9" Type="http://schemas.openxmlformats.org/officeDocument/2006/relationships/image" Target="../media/image139.png"/></Relationships>
</file>

<file path=ppt/slides/_rels/slide4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30.png"/><Relationship Id="rId5" Type="http://schemas.openxmlformats.org/officeDocument/2006/relationships/image" Target="../media/image127.png"/><Relationship Id="rId4" Type="http://schemas.openxmlformats.org/officeDocument/2006/relationships/image" Target="../media/image144.png"/></Relationships>
</file>

<file path=ppt/slides/_rels/slide4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47.xml"/><Relationship Id="rId4" Type="http://schemas.openxmlformats.org/officeDocument/2006/relationships/image" Target="../media/image133.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48.xml"/><Relationship Id="rId4" Type="http://schemas.openxmlformats.org/officeDocument/2006/relationships/image" Target="../media/image134.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ags" Target="../tags/tag49.xml"/><Relationship Id="rId4" Type="http://schemas.openxmlformats.org/officeDocument/2006/relationships/image" Target="../media/image135.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50.xml"/><Relationship Id="rId4" Type="http://schemas.openxmlformats.org/officeDocument/2006/relationships/image" Target="../media/image136.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51.xml"/><Relationship Id="rId4" Type="http://schemas.openxmlformats.org/officeDocument/2006/relationships/image" Target="../media/image14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ags" Target="../tags/tag52.xml"/><Relationship Id="rId4" Type="http://schemas.openxmlformats.org/officeDocument/2006/relationships/image" Target="../media/image141.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ags" Target="../tags/tag53.xml"/><Relationship Id="rId4" Type="http://schemas.openxmlformats.org/officeDocument/2006/relationships/image" Target="../media/image14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ags" Target="../tags/tag54.xml"/><Relationship Id="rId4" Type="http://schemas.openxmlformats.org/officeDocument/2006/relationships/image" Target="../media/image14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ags" Target="../tags/tag55.xml"/><Relationship Id="rId4" Type="http://schemas.openxmlformats.org/officeDocument/2006/relationships/image" Target="../media/image14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ags" Target="../tags/tag56.xml"/><Relationship Id="rId4" Type="http://schemas.openxmlformats.org/officeDocument/2006/relationships/image" Target="../media/image14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ags" Target="../tags/tag57.xml"/><Relationship Id="rId4" Type="http://schemas.openxmlformats.org/officeDocument/2006/relationships/image" Target="../media/image150.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58.xml"/><Relationship Id="rId5" Type="http://schemas.openxmlformats.org/officeDocument/2006/relationships/image" Target="../media/image166.png"/><Relationship Id="rId4" Type="http://schemas.openxmlformats.org/officeDocument/2006/relationships/image" Target="../media/image15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59.xml"/><Relationship Id="rId5" Type="http://schemas.openxmlformats.org/officeDocument/2006/relationships/image" Target="../media/image154.png"/><Relationship Id="rId4" Type="http://schemas.openxmlformats.org/officeDocument/2006/relationships/image" Target="../media/image166.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60.xml"/><Relationship Id="rId5" Type="http://schemas.openxmlformats.org/officeDocument/2006/relationships/image" Target="../media/image155.jpeg"/><Relationship Id="rId4" Type="http://schemas.openxmlformats.org/officeDocument/2006/relationships/image" Target="../media/image168.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tags" Target="../tags/tag61.xml"/><Relationship Id="rId4" Type="http://schemas.openxmlformats.org/officeDocument/2006/relationships/image" Target="../media/image156.jpeg"/></Relationships>
</file>

<file path=ppt/slides/_rels/slide60.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63.xml"/><Relationship Id="rId4" Type="http://schemas.openxmlformats.org/officeDocument/2006/relationships/image" Target="../media/image158.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ags" Target="../tags/tag64.xml"/><Relationship Id="rId4" Type="http://schemas.openxmlformats.org/officeDocument/2006/relationships/image" Target="../media/image159.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65.xml"/><Relationship Id="rId4" Type="http://schemas.openxmlformats.org/officeDocument/2006/relationships/image" Target="../media/image160.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ags" Target="../tags/tag66.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tags" Target="../tags/tag67.xml"/><Relationship Id="rId4" Type="http://schemas.openxmlformats.org/officeDocument/2006/relationships/image" Target="../media/image178.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ags" Target="../tags/tag68.xml"/><Relationship Id="rId4" Type="http://schemas.openxmlformats.org/officeDocument/2006/relationships/image" Target="../media/image161.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tags" Target="../tags/tag69.xml"/><Relationship Id="rId5" Type="http://schemas.openxmlformats.org/officeDocument/2006/relationships/image" Target="../media/image182.png"/><Relationship Id="rId4" Type="http://schemas.openxmlformats.org/officeDocument/2006/relationships/image" Target="../media/image18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7.xml"/><Relationship Id="rId1" Type="http://schemas.openxmlformats.org/officeDocument/2006/relationships/tags" Target="../tags/tag70.xml"/><Relationship Id="rId4" Type="http://schemas.openxmlformats.org/officeDocument/2006/relationships/image" Target="../media/image162.jpe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tags" Target="../tags/tag71.xml"/><Relationship Id="rId4" Type="http://schemas.openxmlformats.org/officeDocument/2006/relationships/image" Target="../media/image164.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ags" Target="../tags/tag72.xml"/><Relationship Id="rId4" Type="http://schemas.openxmlformats.org/officeDocument/2006/relationships/image" Target="../media/image165.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tags" Target="../tags/tag73.xml"/><Relationship Id="rId4" Type="http://schemas.openxmlformats.org/officeDocument/2006/relationships/image" Target="../media/image167.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tags" Target="../tags/tag74.xml"/><Relationship Id="rId4" Type="http://schemas.openxmlformats.org/officeDocument/2006/relationships/image" Target="../media/image169.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tags" Target="../tags/tag75.xml"/><Relationship Id="rId4" Type="http://schemas.openxmlformats.org/officeDocument/2006/relationships/image" Target="../media/image17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tags" Target="../tags/tag76.xml"/><Relationship Id="rId4" Type="http://schemas.openxmlformats.org/officeDocument/2006/relationships/image" Target="../media/image171.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7.xml"/><Relationship Id="rId1" Type="http://schemas.openxmlformats.org/officeDocument/2006/relationships/tags" Target="../tags/tag77.xml"/><Relationship Id="rId4" Type="http://schemas.openxmlformats.org/officeDocument/2006/relationships/image" Target="../media/image172.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tags" Target="../tags/tag78.xml"/><Relationship Id="rId4" Type="http://schemas.openxmlformats.org/officeDocument/2006/relationships/image" Target="../media/image17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7.xml"/><Relationship Id="rId1" Type="http://schemas.openxmlformats.org/officeDocument/2006/relationships/tags" Target="../tags/tag79.xml"/><Relationship Id="rId4" Type="http://schemas.openxmlformats.org/officeDocument/2006/relationships/image" Target="../media/image175.jpe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7.xml"/><Relationship Id="rId1" Type="http://schemas.openxmlformats.org/officeDocument/2006/relationships/tags" Target="../tags/tag80.xml"/><Relationship Id="rId4" Type="http://schemas.openxmlformats.org/officeDocument/2006/relationships/image" Target="../media/image176.jpe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7.xml"/><Relationship Id="rId1" Type="http://schemas.openxmlformats.org/officeDocument/2006/relationships/tags" Target="../tags/tag81.xml"/><Relationship Id="rId4" Type="http://schemas.openxmlformats.org/officeDocument/2006/relationships/image" Target="../media/image177.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7.xml"/><Relationship Id="rId1" Type="http://schemas.openxmlformats.org/officeDocument/2006/relationships/tags" Target="../tags/tag82.xml"/><Relationship Id="rId4" Type="http://schemas.openxmlformats.org/officeDocument/2006/relationships/image" Target="../media/image178.jpe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7.xml"/><Relationship Id="rId1" Type="http://schemas.openxmlformats.org/officeDocument/2006/relationships/tags" Target="../tags/tag83.xml"/><Relationship Id="rId4" Type="http://schemas.openxmlformats.org/officeDocument/2006/relationships/image" Target="../media/image179.jpe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7.xml"/><Relationship Id="rId1" Type="http://schemas.openxmlformats.org/officeDocument/2006/relationships/tags" Target="../tags/tag84.xml"/><Relationship Id="rId4" Type="http://schemas.openxmlformats.org/officeDocument/2006/relationships/image" Target="../media/image180.jpe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7.xml"/><Relationship Id="rId1" Type="http://schemas.openxmlformats.org/officeDocument/2006/relationships/tags" Target="../tags/tag85.xml"/><Relationship Id="rId4" Type="http://schemas.openxmlformats.org/officeDocument/2006/relationships/image" Target="../media/image181.jpe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7.xml"/><Relationship Id="rId1" Type="http://schemas.openxmlformats.org/officeDocument/2006/relationships/tags" Target="../tags/tag86.xml"/><Relationship Id="rId4" Type="http://schemas.openxmlformats.org/officeDocument/2006/relationships/image" Target="../media/image182.jpe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7.xml"/><Relationship Id="rId1" Type="http://schemas.openxmlformats.org/officeDocument/2006/relationships/tags" Target="../tags/tag87.xml"/><Relationship Id="rId4" Type="http://schemas.openxmlformats.org/officeDocument/2006/relationships/image" Target="../media/image183.jpe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7.xml"/><Relationship Id="rId1" Type="http://schemas.openxmlformats.org/officeDocument/2006/relationships/tags" Target="../tags/tag88.xml"/><Relationship Id="rId4" Type="http://schemas.openxmlformats.org/officeDocument/2006/relationships/image" Target="../media/image184.jpe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7.xml"/><Relationship Id="rId1" Type="http://schemas.openxmlformats.org/officeDocument/2006/relationships/tags" Target="../tags/tag89.xml"/><Relationship Id="rId4" Type="http://schemas.openxmlformats.org/officeDocument/2006/relationships/image" Target="../media/image183.jpe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7.xml"/><Relationship Id="rId1" Type="http://schemas.openxmlformats.org/officeDocument/2006/relationships/tags" Target="../tags/tag90.xml"/><Relationship Id="rId4" Type="http://schemas.openxmlformats.org/officeDocument/2006/relationships/image" Target="../media/image179.jpe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7.xml"/><Relationship Id="rId1" Type="http://schemas.openxmlformats.org/officeDocument/2006/relationships/tags" Target="../tags/tag91.xml"/><Relationship Id="rId4" Type="http://schemas.openxmlformats.org/officeDocument/2006/relationships/image" Target="../media/image177.jpe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7.xml"/><Relationship Id="rId1" Type="http://schemas.openxmlformats.org/officeDocument/2006/relationships/tags" Target="../tags/tag92.xml"/><Relationship Id="rId4" Type="http://schemas.openxmlformats.org/officeDocument/2006/relationships/image" Target="../media/image172.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tags" Target="../tags/tag93.xml"/><Relationship Id="rId4" Type="http://schemas.openxmlformats.org/officeDocument/2006/relationships/image" Target="../media/image162.jpe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7.xml"/><Relationship Id="rId1" Type="http://schemas.openxmlformats.org/officeDocument/2006/relationships/tags" Target="../tags/tag94.xml"/><Relationship Id="rId4" Type="http://schemas.openxmlformats.org/officeDocument/2006/relationships/image" Target="../media/image185.jpe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7.xml"/><Relationship Id="rId1" Type="http://schemas.openxmlformats.org/officeDocument/2006/relationships/tags" Target="../tags/tag95.xml"/><Relationship Id="rId4" Type="http://schemas.openxmlformats.org/officeDocument/2006/relationships/image" Target="../media/image186.jpe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7.xml"/><Relationship Id="rId1" Type="http://schemas.openxmlformats.org/officeDocument/2006/relationships/tags" Target="../tags/tag96.xml"/><Relationship Id="rId4" Type="http://schemas.openxmlformats.org/officeDocument/2006/relationships/image" Target="../media/image187.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7.xml"/><Relationship Id="rId1" Type="http://schemas.openxmlformats.org/officeDocument/2006/relationships/tags" Target="../tags/tag97.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7.xml"/><Relationship Id="rId1" Type="http://schemas.openxmlformats.org/officeDocument/2006/relationships/tags" Target="../tags/tag98.xml"/><Relationship Id="rId4" Type="http://schemas.openxmlformats.org/officeDocument/2006/relationships/image" Target="../media/image188.jpe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7.xml"/><Relationship Id="rId1" Type="http://schemas.openxmlformats.org/officeDocument/2006/relationships/tags" Target="../tags/tag99.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7.xml"/><Relationship Id="rId1" Type="http://schemas.openxmlformats.org/officeDocument/2006/relationships/tags" Target="../tags/tag100.xml"/><Relationship Id="rId4" Type="http://schemas.openxmlformats.org/officeDocument/2006/relationships/image" Target="../media/image189.jpe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7.xml"/><Relationship Id="rId1" Type="http://schemas.openxmlformats.org/officeDocument/2006/relationships/tags" Target="../tags/tag101.xml"/><Relationship Id="rId4" Type="http://schemas.openxmlformats.org/officeDocument/2006/relationships/image" Target="../media/image190.jpe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7.xml"/><Relationship Id="rId1" Type="http://schemas.openxmlformats.org/officeDocument/2006/relationships/tags" Target="../tags/tag102.xml"/><Relationship Id="rId4" Type="http://schemas.openxmlformats.org/officeDocument/2006/relationships/image" Target="../media/image191.jpe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7.xml"/><Relationship Id="rId1" Type="http://schemas.openxmlformats.org/officeDocument/2006/relationships/tags" Target="../tags/tag103.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7.xml"/><Relationship Id="rId1" Type="http://schemas.openxmlformats.org/officeDocument/2006/relationships/tags" Target="../tags/tag104.xml"/><Relationship Id="rId4" Type="http://schemas.openxmlformats.org/officeDocument/2006/relationships/image" Target="../media/image192.jpe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7.xml"/><Relationship Id="rId1" Type="http://schemas.openxmlformats.org/officeDocument/2006/relationships/tags" Target="../tags/tag105.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7.xml"/><Relationship Id="rId1" Type="http://schemas.openxmlformats.org/officeDocument/2006/relationships/tags" Target="../tags/tag106.xml"/><Relationship Id="rId4" Type="http://schemas.openxmlformats.org/officeDocument/2006/relationships/image" Target="../media/image193.jpe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7.xml"/><Relationship Id="rId1" Type="http://schemas.openxmlformats.org/officeDocument/2006/relationships/tags" Target="../tags/tag108.xml"/><Relationship Id="rId4" Type="http://schemas.openxmlformats.org/officeDocument/2006/relationships/image" Target="../media/image194.jpe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7.xml"/><Relationship Id="rId1" Type="http://schemas.openxmlformats.org/officeDocument/2006/relationships/tags" Target="../tags/tag109.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7.xml"/><Relationship Id="rId1" Type="http://schemas.openxmlformats.org/officeDocument/2006/relationships/tags" Target="../tags/tag110.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7.xml"/><Relationship Id="rId1" Type="http://schemas.openxmlformats.org/officeDocument/2006/relationships/tags" Target="../tags/tag111.xml"/><Relationship Id="rId5" Type="http://schemas.openxmlformats.org/officeDocument/2006/relationships/image" Target="../media/image196.emf"/><Relationship Id="rId4" Type="http://schemas.openxmlformats.org/officeDocument/2006/relationships/image" Target="../media/image195.emf"/></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7.xml"/><Relationship Id="rId1" Type="http://schemas.openxmlformats.org/officeDocument/2006/relationships/tags" Target="../tags/tag112.xml"/><Relationship Id="rId4" Type="http://schemas.openxmlformats.org/officeDocument/2006/relationships/image" Target="../media/image197.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7.xml"/><Relationship Id="rId1" Type="http://schemas.openxmlformats.org/officeDocument/2006/relationships/tags" Target="../tags/tag113.xml"/><Relationship Id="rId4" Type="http://schemas.openxmlformats.org/officeDocument/2006/relationships/image" Target="../media/image198.GIF"/></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7.xml"/><Relationship Id="rId1" Type="http://schemas.openxmlformats.org/officeDocument/2006/relationships/tags" Target="../tags/tag114.xml"/><Relationship Id="rId4" Type="http://schemas.openxmlformats.org/officeDocument/2006/relationships/image" Target="../media/image199.GIF"/></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7.xml"/><Relationship Id="rId1" Type="http://schemas.openxmlformats.org/officeDocument/2006/relationships/tags" Target="../tags/tag115.xml"/><Relationship Id="rId5" Type="http://schemas.openxmlformats.org/officeDocument/2006/relationships/image" Target="../media/image201.png"/><Relationship Id="rId4" Type="http://schemas.openxmlformats.org/officeDocument/2006/relationships/image" Target="../media/image200.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7.xml"/><Relationship Id="rId1" Type="http://schemas.openxmlformats.org/officeDocument/2006/relationships/tags" Target="../tags/tag116.xml"/><Relationship Id="rId5" Type="http://schemas.openxmlformats.org/officeDocument/2006/relationships/image" Target="../media/image203.GIF"/><Relationship Id="rId4" Type="http://schemas.openxmlformats.org/officeDocument/2006/relationships/image" Target="../media/image202.GIF"/></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7.xml"/><Relationship Id="rId1" Type="http://schemas.openxmlformats.org/officeDocument/2006/relationships/tags" Target="../tags/tag117.xml"/><Relationship Id="rId5" Type="http://schemas.openxmlformats.org/officeDocument/2006/relationships/image" Target="../media/image205.GIF"/><Relationship Id="rId4" Type="http://schemas.openxmlformats.org/officeDocument/2006/relationships/image" Target="../media/image204.GIF"/></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8" Type="http://schemas.openxmlformats.org/officeDocument/2006/relationships/image" Target="../media/image227.png"/><Relationship Id="rId3" Type="http://schemas.openxmlformats.org/officeDocument/2006/relationships/notesSlide" Target="../notesSlides/notesSlide116.xml"/><Relationship Id="rId7" Type="http://schemas.openxmlformats.org/officeDocument/2006/relationships/image" Target="../media/image226.png"/><Relationship Id="rId2" Type="http://schemas.openxmlformats.org/officeDocument/2006/relationships/slideLayout" Target="../slideLayouts/slideLayout7.xml"/><Relationship Id="rId1" Type="http://schemas.openxmlformats.org/officeDocument/2006/relationships/tags" Target="../tags/tag118.xml"/><Relationship Id="rId6" Type="http://schemas.openxmlformats.org/officeDocument/2006/relationships/image" Target="../media/image208.emf"/><Relationship Id="rId5" Type="http://schemas.openxmlformats.org/officeDocument/2006/relationships/image" Target="../media/image207.emf"/><Relationship Id="rId4" Type="http://schemas.openxmlformats.org/officeDocument/2006/relationships/image" Target="../media/image206.emf"/></Relationships>
</file>

<file path=ppt/slides/_rels/slide118.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slideLayout" Target="../slideLayouts/slideLayout7.xml"/><Relationship Id="rId7" Type="http://schemas.openxmlformats.org/officeDocument/2006/relationships/image" Target="../media/image209.wmf"/><Relationship Id="rId2" Type="http://schemas.openxmlformats.org/officeDocument/2006/relationships/tags" Target="../tags/tag119.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image" Target="../media/image210.png"/><Relationship Id="rId4" Type="http://schemas.openxmlformats.org/officeDocument/2006/relationships/notesSlide" Target="../notesSlides/notesSlide11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7.xml"/><Relationship Id="rId1" Type="http://schemas.openxmlformats.org/officeDocument/2006/relationships/tags" Target="../tags/tag120.xml"/><Relationship Id="rId4" Type="http://schemas.openxmlformats.org/officeDocument/2006/relationships/image" Target="../media/image212.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7.xml"/><Relationship Id="rId1" Type="http://schemas.openxmlformats.org/officeDocument/2006/relationships/tags" Target="../tags/tag121.xml"/><Relationship Id="rId5" Type="http://schemas.openxmlformats.org/officeDocument/2006/relationships/image" Target="../media/image232.png"/><Relationship Id="rId4" Type="http://schemas.openxmlformats.org/officeDocument/2006/relationships/image" Target="../media/image212.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7.xml"/><Relationship Id="rId1" Type="http://schemas.openxmlformats.org/officeDocument/2006/relationships/tags" Target="../tags/tag122.xml"/><Relationship Id="rId5" Type="http://schemas.openxmlformats.org/officeDocument/2006/relationships/image" Target="../media/image232.png"/><Relationship Id="rId4" Type="http://schemas.openxmlformats.org/officeDocument/2006/relationships/image" Target="../media/image213.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7.xml"/><Relationship Id="rId1" Type="http://schemas.openxmlformats.org/officeDocument/2006/relationships/tags" Target="../tags/tag123.xml"/><Relationship Id="rId5" Type="http://schemas.openxmlformats.org/officeDocument/2006/relationships/image" Target="../media/image237.png"/><Relationship Id="rId4" Type="http://schemas.openxmlformats.org/officeDocument/2006/relationships/image" Target="../media/image214.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7.xml"/><Relationship Id="rId1" Type="http://schemas.openxmlformats.org/officeDocument/2006/relationships/tags" Target="../tags/tag124.xml"/><Relationship Id="rId6" Type="http://schemas.openxmlformats.org/officeDocument/2006/relationships/image" Target="../media/image241.png"/><Relationship Id="rId5" Type="http://schemas.openxmlformats.org/officeDocument/2006/relationships/image" Target="../media/image216.emf"/><Relationship Id="rId4" Type="http://schemas.openxmlformats.org/officeDocument/2006/relationships/image" Target="../media/image215.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7.xml"/><Relationship Id="rId1" Type="http://schemas.openxmlformats.org/officeDocument/2006/relationships/tags" Target="../tags/tag125.xml"/><Relationship Id="rId5" Type="http://schemas.openxmlformats.org/officeDocument/2006/relationships/image" Target="../media/image243.png"/><Relationship Id="rId4" Type="http://schemas.openxmlformats.org/officeDocument/2006/relationships/image" Target="../media/image242.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7.xml"/><Relationship Id="rId1" Type="http://schemas.openxmlformats.org/officeDocument/2006/relationships/tags" Target="../tags/tag126.xml"/><Relationship Id="rId5" Type="http://schemas.openxmlformats.org/officeDocument/2006/relationships/image" Target="../media/image246.png"/><Relationship Id="rId4" Type="http://schemas.openxmlformats.org/officeDocument/2006/relationships/image" Target="../media/image217.emf"/></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7.xml"/><Relationship Id="rId1" Type="http://schemas.openxmlformats.org/officeDocument/2006/relationships/tags" Target="../tags/tag127.xml"/><Relationship Id="rId5" Type="http://schemas.openxmlformats.org/officeDocument/2006/relationships/image" Target="../media/image246.png"/><Relationship Id="rId4" Type="http://schemas.openxmlformats.org/officeDocument/2006/relationships/image" Target="../media/image217.emf"/></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7.xml"/><Relationship Id="rId1" Type="http://schemas.openxmlformats.org/officeDocument/2006/relationships/tags" Target="../tags/tag128.xml"/><Relationship Id="rId5" Type="http://schemas.openxmlformats.org/officeDocument/2006/relationships/image" Target="../media/image218.emf"/><Relationship Id="rId4" Type="http://schemas.openxmlformats.org/officeDocument/2006/relationships/image" Target="../media/image246.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7.xml"/><Relationship Id="rId1" Type="http://schemas.openxmlformats.org/officeDocument/2006/relationships/tags" Target="../tags/tag129.xml"/><Relationship Id="rId5" Type="http://schemas.openxmlformats.org/officeDocument/2006/relationships/image" Target="../media/image219.emf"/><Relationship Id="rId4" Type="http://schemas.openxmlformats.org/officeDocument/2006/relationships/image" Target="../media/image246.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7.xml"/><Relationship Id="rId1" Type="http://schemas.openxmlformats.org/officeDocument/2006/relationships/tags" Target="../tags/tag130.xml"/><Relationship Id="rId5" Type="http://schemas.openxmlformats.org/officeDocument/2006/relationships/image" Target="../media/image220.emf"/><Relationship Id="rId4" Type="http://schemas.openxmlformats.org/officeDocument/2006/relationships/image" Target="../media/image246.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7.xml"/><Relationship Id="rId1" Type="http://schemas.openxmlformats.org/officeDocument/2006/relationships/tags" Target="../tags/tag131.xml"/><Relationship Id="rId5" Type="http://schemas.openxmlformats.org/officeDocument/2006/relationships/image" Target="../media/image221.emf"/><Relationship Id="rId4" Type="http://schemas.openxmlformats.org/officeDocument/2006/relationships/image" Target="../media/image246.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7.xml"/><Relationship Id="rId1" Type="http://schemas.openxmlformats.org/officeDocument/2006/relationships/tags" Target="../tags/tag132.xml"/><Relationship Id="rId5" Type="http://schemas.openxmlformats.org/officeDocument/2006/relationships/image" Target="../media/image222.emf"/><Relationship Id="rId4" Type="http://schemas.openxmlformats.org/officeDocument/2006/relationships/image" Target="../media/image246.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7.xml"/><Relationship Id="rId1" Type="http://schemas.openxmlformats.org/officeDocument/2006/relationships/tags" Target="../tags/tag133.xml"/><Relationship Id="rId5" Type="http://schemas.openxmlformats.org/officeDocument/2006/relationships/image" Target="../media/image223.emf"/><Relationship Id="rId4" Type="http://schemas.openxmlformats.org/officeDocument/2006/relationships/image" Target="../media/image246.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7.xml"/><Relationship Id="rId1" Type="http://schemas.openxmlformats.org/officeDocument/2006/relationships/tags" Target="../tags/tag134.xml"/><Relationship Id="rId4" Type="http://schemas.openxmlformats.org/officeDocument/2006/relationships/image" Target="../media/image224.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7.xml"/><Relationship Id="rId1" Type="http://schemas.openxmlformats.org/officeDocument/2006/relationships/tags" Target="../tags/tag135.xml"/><Relationship Id="rId4" Type="http://schemas.openxmlformats.org/officeDocument/2006/relationships/image" Target="../media/image225.emf"/></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7.xml"/><Relationship Id="rId1" Type="http://schemas.openxmlformats.org/officeDocument/2006/relationships/tags" Target="../tags/tag136.xml"/><Relationship Id="rId6" Type="http://schemas.openxmlformats.org/officeDocument/2006/relationships/image" Target="../media/image228.emf"/><Relationship Id="rId5" Type="http://schemas.openxmlformats.org/officeDocument/2006/relationships/image" Target="../media/image227.emf"/><Relationship Id="rId4" Type="http://schemas.openxmlformats.org/officeDocument/2006/relationships/image" Target="../media/image226.emf"/></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8" Type="http://schemas.openxmlformats.org/officeDocument/2006/relationships/image" Target="../media/image231.emf"/><Relationship Id="rId3" Type="http://schemas.openxmlformats.org/officeDocument/2006/relationships/notesSlide" Target="../notesSlides/notesSlide137.xml"/><Relationship Id="rId7" Type="http://schemas.openxmlformats.org/officeDocument/2006/relationships/image" Target="../media/image230.png"/><Relationship Id="rId2" Type="http://schemas.openxmlformats.org/officeDocument/2006/relationships/slideLayout" Target="../slideLayouts/slideLayout7.xml"/><Relationship Id="rId1" Type="http://schemas.openxmlformats.org/officeDocument/2006/relationships/tags" Target="../tags/tag137.xml"/><Relationship Id="rId6" Type="http://schemas.openxmlformats.org/officeDocument/2006/relationships/image" Target="../media/image229.png"/><Relationship Id="rId5" Type="http://schemas.openxmlformats.org/officeDocument/2006/relationships/image" Target="../media/image259.png"/><Relationship Id="rId4" Type="http://schemas.openxmlformats.org/officeDocument/2006/relationships/image" Target="../media/image258.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7.xml"/><Relationship Id="rId1" Type="http://schemas.openxmlformats.org/officeDocument/2006/relationships/tags" Target="../tags/tag138.xml"/><Relationship Id="rId5" Type="http://schemas.openxmlformats.org/officeDocument/2006/relationships/image" Target="../media/image233.emf"/><Relationship Id="rId4" Type="http://schemas.openxmlformats.org/officeDocument/2006/relationships/image" Target="../media/image232.emf"/></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9.xml"/><Relationship Id="rId7" Type="http://schemas.openxmlformats.org/officeDocument/2006/relationships/image" Target="../media/image240.emf"/><Relationship Id="rId2" Type="http://schemas.openxmlformats.org/officeDocument/2006/relationships/slideLayout" Target="../slideLayouts/slideLayout7.xml"/><Relationship Id="rId1" Type="http://schemas.openxmlformats.org/officeDocument/2006/relationships/tags" Target="../tags/tag139.xml"/><Relationship Id="rId6" Type="http://schemas.openxmlformats.org/officeDocument/2006/relationships/image" Target="../media/image239.png"/><Relationship Id="rId5" Type="http://schemas.openxmlformats.org/officeDocument/2006/relationships/image" Target="../media/image236.png"/><Relationship Id="rId4" Type="http://schemas.openxmlformats.org/officeDocument/2006/relationships/image" Target="../media/image234.emf"/></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7.xml"/><Relationship Id="rId1" Type="http://schemas.openxmlformats.org/officeDocument/2006/relationships/tags" Target="../tags/tag140.xml"/></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7.xml"/><Relationship Id="rId1" Type="http://schemas.openxmlformats.org/officeDocument/2006/relationships/tags" Target="../tags/tag141.xml"/><Relationship Id="rId4" Type="http://schemas.openxmlformats.org/officeDocument/2006/relationships/image" Target="../media/image245.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7.xml"/><Relationship Id="rId1" Type="http://schemas.openxmlformats.org/officeDocument/2006/relationships/tags" Target="../tags/tag142.xml"/><Relationship Id="rId5" Type="http://schemas.openxmlformats.org/officeDocument/2006/relationships/image" Target="../media/image247.emf"/><Relationship Id="rId4" Type="http://schemas.openxmlformats.org/officeDocument/2006/relationships/image" Target="../media/image246.emf"/></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7.xml"/><Relationship Id="rId1" Type="http://schemas.openxmlformats.org/officeDocument/2006/relationships/tags" Target="../tags/tag143.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7.xml"/><Relationship Id="rId1" Type="http://schemas.openxmlformats.org/officeDocument/2006/relationships/tags" Target="../tags/tag144.xml"/><Relationship Id="rId4" Type="http://schemas.openxmlformats.org/officeDocument/2006/relationships/image" Target="../media/image248.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7.xml"/><Relationship Id="rId1" Type="http://schemas.openxmlformats.org/officeDocument/2006/relationships/tags" Target="../tags/tag14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a:t>Instructor:</a:t>
            </a:r>
            <a:r>
              <a:rPr lang="zh-CN" altLang="en-US" sz="1600" dirty="0">
                <a:ea typeface="楷体_GB2312" pitchFamily="49" charset="-122"/>
              </a:rPr>
              <a:t> </a:t>
            </a:r>
            <a:r>
              <a:rPr lang="en-US" altLang="zh-CN" sz="1600" dirty="0">
                <a:ea typeface="楷体_GB2312" pitchFamily="49" charset="-122"/>
              </a:rPr>
              <a:t>Dr. </a:t>
            </a:r>
            <a:r>
              <a:rPr lang="zh-CN" altLang="en-US" sz="1600" dirty="0" smtClean="0">
                <a:latin typeface="楷体" panose="02010609060101010101" pitchFamily="49" charset="-122"/>
                <a:ea typeface="楷体" panose="02010609060101010101" pitchFamily="49" charset="-122"/>
              </a:rPr>
              <a:t>闵华松</a:t>
            </a:r>
            <a:r>
              <a:rPr lang="en-US" altLang="zh-CN" sz="1600" dirty="0" smtClean="0">
                <a:ea typeface="楷体_GB2312" pitchFamily="49" charset="-122"/>
              </a:rPr>
              <a:t>(</a:t>
            </a:r>
            <a:r>
              <a:rPr lang="en-US" altLang="zh-CN" sz="1600" dirty="0" err="1" smtClean="0">
                <a:ea typeface="楷体_GB2312" pitchFamily="49" charset="-122"/>
              </a:rPr>
              <a:t>Huasong</a:t>
            </a:r>
            <a:r>
              <a:rPr lang="en-US" altLang="zh-CN" sz="1600" dirty="0" smtClean="0">
                <a:ea typeface="楷体_GB2312" pitchFamily="49" charset="-122"/>
              </a:rPr>
              <a:t> Min)</a:t>
            </a:r>
            <a:r>
              <a:rPr lang="en-US" altLang="zh-CN" sz="1600" dirty="0">
                <a:ea typeface="楷体_GB2312" pitchFamily="49" charset="-122"/>
              </a:rPr>
              <a:t>.</a:t>
            </a:r>
            <a:r>
              <a:rPr lang="en-US" altLang="zh-CN" sz="1600" dirty="0" smtClean="0">
                <a:ea typeface="楷体_GB2312" pitchFamily="49" charset="-122"/>
              </a:rPr>
              <a:t> Professor </a:t>
            </a:r>
            <a:endParaRPr lang="zh-CN" altLang="en-US" sz="1600" dirty="0">
              <a:ea typeface="楷体_GB2312" pitchFamily="49" charset="-122"/>
            </a:endParaRPr>
          </a:p>
          <a:p>
            <a:pPr eaLnBrk="1" hangingPunct="1">
              <a:spcBef>
                <a:spcPct val="0"/>
              </a:spcBef>
              <a:buFontTx/>
              <a:buNone/>
            </a:pPr>
            <a:r>
              <a:rPr lang="en-US" altLang="zh-CN" sz="1600" b="1" dirty="0"/>
              <a:t>Office Location</a:t>
            </a:r>
            <a:r>
              <a:rPr lang="zh-CN" altLang="en-US" sz="1600" dirty="0" smtClean="0">
                <a:ea typeface="楷体_GB2312" pitchFamily="49" charset="-122"/>
              </a:rPr>
              <a:t>：</a:t>
            </a:r>
            <a:r>
              <a:rPr lang="zh-CN" altLang="en-US" sz="1600" dirty="0" smtClean="0">
                <a:latin typeface="楷体" panose="02010609060101010101" pitchFamily="49" charset="-122"/>
                <a:ea typeface="楷体" panose="02010609060101010101" pitchFamily="49" charset="-122"/>
              </a:rPr>
              <a:t>钢铁楼</a:t>
            </a:r>
            <a:r>
              <a:rPr lang="en-US" altLang="zh-CN" sz="1600" dirty="0" smtClean="0">
                <a:ea typeface="楷体_GB2312" pitchFamily="49" charset="-122"/>
              </a:rPr>
              <a:t>1110</a:t>
            </a:r>
            <a:r>
              <a:rPr lang="en-US" altLang="zh-CN" sz="1600" dirty="0">
                <a:ea typeface="楷体_GB2312" pitchFamily="49" charset="-122"/>
              </a:rPr>
              <a:t>(</a:t>
            </a:r>
            <a:r>
              <a:rPr lang="en-US" altLang="zh-CN" sz="1600" dirty="0" smtClean="0">
                <a:ea typeface="楷体_GB2312" pitchFamily="49" charset="-122"/>
              </a:rPr>
              <a:t>Room </a:t>
            </a:r>
            <a:r>
              <a:rPr lang="en-US" altLang="zh-CN" sz="1600" dirty="0">
                <a:ea typeface="楷体_GB2312" pitchFamily="49" charset="-122"/>
              </a:rPr>
              <a:t>No. 1110, </a:t>
            </a:r>
            <a:r>
              <a:rPr lang="en-US" altLang="zh-CN" sz="1600" dirty="0" smtClean="0">
                <a:ea typeface="楷体_GB2312" pitchFamily="49" charset="-122"/>
              </a:rPr>
              <a:t>GANGTIE Building)</a:t>
            </a:r>
          </a:p>
          <a:p>
            <a:pPr eaLnBrk="1" hangingPunct="1">
              <a:spcBef>
                <a:spcPct val="0"/>
              </a:spcBef>
              <a:buFontTx/>
              <a:buNone/>
            </a:pPr>
            <a:r>
              <a:rPr lang="en-US" altLang="zh-CN" sz="1600" b="1" dirty="0" smtClean="0"/>
              <a:t>Class </a:t>
            </a:r>
            <a:r>
              <a:rPr lang="en-US" altLang="zh-CN" sz="1600" b="1" dirty="0"/>
              <a:t>venue:  </a:t>
            </a:r>
            <a:r>
              <a:rPr lang="en-US" altLang="zh-CN" sz="1600" dirty="0">
                <a:ea typeface="楷体_GB2312" pitchFamily="49" charset="-122"/>
              </a:rPr>
              <a:t>Room No. </a:t>
            </a:r>
            <a:r>
              <a:rPr lang="en-US" altLang="zh-CN" sz="1600" dirty="0" smtClean="0">
                <a:ea typeface="楷体_GB2312" pitchFamily="49" charset="-122"/>
              </a:rPr>
              <a:t>F4201</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Email:  </a:t>
            </a:r>
            <a:r>
              <a:rPr lang="en-US" altLang="zh-CN" sz="1600" dirty="0" smtClean="0">
                <a:ea typeface="楷体_GB2312" pitchFamily="49" charset="-122"/>
                <a:hlinkClick r:id="rId3"/>
              </a:rPr>
              <a:t>mhuasong@wust.edu.cn</a:t>
            </a:r>
            <a:r>
              <a:rPr lang="en-US" altLang="zh-CN" sz="1600" dirty="0">
                <a:ea typeface="楷体_GB2312" pitchFamily="49" charset="-122"/>
              </a:rPr>
              <a:t> </a:t>
            </a:r>
            <a:endParaRPr lang="en-US" altLang="zh-CN" sz="1600" dirty="0" smtClean="0">
              <a:ea typeface="楷体_GB2312" pitchFamily="49" charset="-122"/>
            </a:endParaRPr>
          </a:p>
          <a:p>
            <a:pPr eaLnBrk="1" hangingPunct="1">
              <a:spcBef>
                <a:spcPct val="0"/>
              </a:spcBef>
              <a:buFontTx/>
              <a:buNone/>
            </a:pPr>
            <a:r>
              <a:rPr lang="en-US" altLang="zh-CN" sz="1600" b="1" dirty="0" smtClean="0">
                <a:ea typeface="楷体_GB2312" pitchFamily="49" charset="-122"/>
              </a:rPr>
              <a:t>Website</a:t>
            </a:r>
            <a:r>
              <a:rPr lang="en-US" altLang="zh-CN" sz="1600" dirty="0">
                <a:ea typeface="楷体_GB2312" pitchFamily="49" charset="-122"/>
              </a:rPr>
              <a:t>: </a:t>
            </a:r>
            <a:r>
              <a:rPr lang="en-US" altLang="zh-CN" sz="1600" dirty="0">
                <a:ea typeface="楷体_GB2312" pitchFamily="49" charset="-122"/>
                <a:hlinkClick r:id="rId4"/>
              </a:rPr>
              <a:t>https://</a:t>
            </a:r>
            <a:r>
              <a:rPr lang="en-US" altLang="zh-CN" sz="1600" dirty="0" smtClean="0">
                <a:ea typeface="楷体_GB2312" pitchFamily="49" charset="-122"/>
                <a:hlinkClick r:id="rId4"/>
              </a:rPr>
              <a:t>github.com/mhuasong/Basics-of-Robotics-Theory-and-Technology</a:t>
            </a:r>
            <a:r>
              <a:rPr lang="en-US" altLang="zh-CN" sz="1600" dirty="0" smtClean="0">
                <a:ea typeface="楷体_GB2312" pitchFamily="49" charset="-122"/>
              </a:rPr>
              <a:t> </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Mobile</a:t>
            </a:r>
            <a:r>
              <a:rPr lang="en-US" altLang="zh-CN" sz="1600" b="1" dirty="0" smtClean="0">
                <a:ea typeface="楷体_GB2312" pitchFamily="49" charset="-122"/>
              </a:rPr>
              <a:t>:</a:t>
            </a:r>
            <a:endParaRPr lang="en-US" altLang="zh-CN" sz="1600" dirty="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System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Model of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chemeClr val="tx1"/>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95536"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矩形 5"/>
              <p:cNvSpPr/>
              <p:nvPr/>
            </p:nvSpPr>
            <p:spPr>
              <a:xfrm>
                <a:off x="3347864" y="915566"/>
                <a:ext cx="5694607" cy="4247317"/>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1000" dirty="0" smtClean="0">
                    <a:latin typeface="Arial" panose="020B0604020202020204" pitchFamily="34" charset="0"/>
                    <a:ea typeface="微软雅黑" panose="020B0503020204020204" charset="-122"/>
                    <a:sym typeface="+mn-ea"/>
                  </a:rPr>
                  <a:t>机器人</a:t>
                </a:r>
                <a:r>
                  <a:rPr lang="zh-CN" altLang="en-US" sz="1000" dirty="0">
                    <a:latin typeface="Arial" panose="020B0604020202020204" pitchFamily="34" charset="0"/>
                    <a:ea typeface="微软雅黑" panose="020B0503020204020204" charset="-122"/>
                    <a:sym typeface="+mn-ea"/>
                  </a:rPr>
                  <a:t>位形空间表达</a:t>
                </a:r>
                <a:r>
                  <a:rPr lang="zh-CN" altLang="en-US" sz="1000" dirty="0" smtClean="0">
                    <a:latin typeface="Arial" panose="020B0604020202020204" pitchFamily="34" charset="0"/>
                    <a:ea typeface="微软雅黑" panose="020B0503020204020204" charset="-122"/>
                    <a:sym typeface="+mn-ea"/>
                  </a:rPr>
                  <a:t>方法</a:t>
                </a:r>
                <a:endParaRPr lang="en-US" altLang="zh-CN" sz="10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位形空间障碍</a:t>
                </a:r>
                <a14:m>
                  <m:oMath xmlns:m="http://schemas.openxmlformats.org/officeDocument/2006/math">
                    <m:sSub>
                      <m:sSubPr>
                        <m:ctrlPr>
                          <a:rPr lang="zh-CN" altLang="zh-CN" sz="1000" b="1" i="1" smtClean="0">
                            <a:solidFill>
                              <a:srgbClr val="002060"/>
                            </a:solidFill>
                            <a:latin typeface="Cambria Math" panose="02040503050406030204" pitchFamily="18" charset="0"/>
                          </a:rPr>
                        </m:ctrlPr>
                      </m:sSubPr>
                      <m:e>
                        <m:r>
                          <a:rPr lang="en-US" altLang="zh-CN" sz="1000" b="1" i="1">
                            <a:solidFill>
                              <a:srgbClr val="002060"/>
                            </a:solidFill>
                            <a:latin typeface="Cambria Math" panose="02040503050406030204" pitchFamily="18" charset="0"/>
                          </a:rPr>
                          <m:t>𝑪</m:t>
                        </m:r>
                      </m:e>
                      <m:sub>
                        <m:r>
                          <a:rPr lang="en-US" altLang="zh-CN" sz="1000" b="1" i="1">
                            <a:solidFill>
                              <a:srgbClr val="002060"/>
                            </a:solidFill>
                            <a:latin typeface="Cambria Math" panose="02040503050406030204" pitchFamily="18" charset="0"/>
                          </a:rPr>
                          <m:t>𝒐𝒃𝒔</m:t>
                        </m:r>
                      </m:sub>
                    </m:sSub>
                    <m:r>
                      <a:rPr lang="zh-CN" altLang="en-US" sz="1000" i="1">
                        <a:latin typeface="Cambria Math" panose="02040503050406030204" pitchFamily="18" charset="0"/>
                      </a:rPr>
                      <m:t>、</m:t>
                    </m:r>
                  </m:oMath>
                </a14:m>
                <a:r>
                  <a:rPr lang="zh-CN" altLang="en-US" sz="1000" dirty="0" smtClean="0">
                    <a:latin typeface="Arial" panose="020B0604020202020204" pitchFamily="34" charset="0"/>
                    <a:ea typeface="微软雅黑" panose="020B0503020204020204" charset="-122"/>
                    <a:sym typeface="+mn-ea"/>
                  </a:rPr>
                  <a:t>到</a:t>
                </a:r>
                <a:r>
                  <a:rPr lang="zh-CN" altLang="en-US" sz="1000" dirty="0">
                    <a:latin typeface="Arial" panose="020B0604020202020204" pitchFamily="34" charset="0"/>
                    <a:ea typeface="微软雅黑" panose="020B0503020204020204" charset="-122"/>
                    <a:sym typeface="+mn-ea"/>
                  </a:rPr>
                  <a:t>障碍物的</a:t>
                </a:r>
                <a:r>
                  <a:rPr lang="zh-CN" altLang="en-US" sz="1000" b="1" dirty="0">
                    <a:solidFill>
                      <a:srgbClr val="002060"/>
                    </a:solidFill>
                    <a:latin typeface="Arial" panose="020B0604020202020204" pitchFamily="34" charset="0"/>
                    <a:ea typeface="微软雅黑" panose="020B0503020204020204" charset="-122"/>
                    <a:sym typeface="+mn-ea"/>
                  </a:rPr>
                  <a:t>距离</a:t>
                </a:r>
                <a:r>
                  <a:rPr lang="zh-CN" altLang="en-US" sz="1000" dirty="0">
                    <a:latin typeface="Arial" panose="020B0604020202020204" pitchFamily="34" charset="0"/>
                    <a:ea typeface="微软雅黑" panose="020B0503020204020204" charset="-122"/>
                    <a:sym typeface="+mn-ea"/>
                  </a:rPr>
                  <a:t>与</a:t>
                </a:r>
                <a:r>
                  <a:rPr lang="zh-CN" altLang="en-US" sz="1000" b="1" dirty="0">
                    <a:solidFill>
                      <a:srgbClr val="002060"/>
                    </a:solidFill>
                    <a:latin typeface="Arial" panose="020B0604020202020204" pitchFamily="34" charset="0"/>
                    <a:ea typeface="微软雅黑" panose="020B0503020204020204" charset="-122"/>
                    <a:sym typeface="+mn-ea"/>
                  </a:rPr>
                  <a:t>碰撞</a:t>
                </a:r>
                <a:r>
                  <a:rPr lang="zh-CN" altLang="en-US" sz="1000" b="1" dirty="0" smtClean="0">
                    <a:solidFill>
                      <a:srgbClr val="002060"/>
                    </a:solidFill>
                    <a:latin typeface="Arial" panose="020B0604020202020204" pitchFamily="34" charset="0"/>
                    <a:ea typeface="微软雅黑" panose="020B0503020204020204" charset="-122"/>
                    <a:sym typeface="+mn-ea"/>
                  </a:rPr>
                  <a:t>检测</a:t>
                </a:r>
                <a:r>
                  <a:rPr lang="zh-CN" altLang="en-US" sz="1000" dirty="0">
                    <a:latin typeface="Arial" panose="020B0604020202020204" pitchFamily="34" charset="0"/>
                    <a:ea typeface="微软雅黑" panose="020B0503020204020204" charset="-122"/>
                    <a:sym typeface="+mn-ea"/>
                  </a:rPr>
                  <a:t>、</a:t>
                </a:r>
                <a:r>
                  <a:rPr lang="zh-CN" altLang="en-US" sz="1000" dirty="0" smtClean="0">
                    <a:latin typeface="Arial" panose="020B0604020202020204" pitchFamily="34" charset="0"/>
                    <a:ea typeface="微软雅黑" panose="020B0503020204020204" charset="-122"/>
                    <a:sym typeface="+mn-ea"/>
                  </a:rPr>
                  <a:t>图</a:t>
                </a:r>
                <a:r>
                  <a:rPr lang="en-US" altLang="zh-CN" sz="1000" b="1" dirty="0">
                    <a:solidFill>
                      <a:srgbClr val="002060"/>
                    </a:solidFill>
                    <a:latin typeface="Arial" panose="020B0604020202020204" pitchFamily="34" charset="0"/>
                    <a:ea typeface="微软雅黑" panose="020B0503020204020204" charset="-122"/>
                    <a:sym typeface="+mn-ea"/>
                  </a:rPr>
                  <a:t>Graph</a:t>
                </a:r>
                <a:r>
                  <a:rPr lang="zh-CN" altLang="en-US" sz="1000" dirty="0">
                    <a:latin typeface="Arial" panose="020B0604020202020204" pitchFamily="34" charset="0"/>
                    <a:ea typeface="微软雅黑" panose="020B0503020204020204" charset="-122"/>
                    <a:sym typeface="+mn-ea"/>
                  </a:rPr>
                  <a:t>和树</a:t>
                </a:r>
                <a:r>
                  <a:rPr lang="en-US" altLang="zh-CN" sz="1000" b="1" dirty="0" smtClean="0">
                    <a:solidFill>
                      <a:srgbClr val="002060"/>
                    </a:solidFill>
                    <a:latin typeface="Arial" panose="020B0604020202020204" pitchFamily="34" charset="0"/>
                    <a:ea typeface="微软雅黑" panose="020B0503020204020204" charset="-122"/>
                    <a:sym typeface="+mn-ea"/>
                  </a:rPr>
                  <a:t>Tree</a:t>
                </a:r>
              </a:p>
              <a:p>
                <a:pPr marL="171450"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轨迹生成</a:t>
                </a:r>
                <a:r>
                  <a:rPr lang="zh-CN" altLang="en-US" sz="1000" dirty="0" smtClean="0">
                    <a:latin typeface="Arial" panose="020B0604020202020204" pitchFamily="34" charset="0"/>
                    <a:ea typeface="微软雅黑" panose="020B0503020204020204" charset="-122"/>
                    <a:sym typeface="+mn-ea"/>
                  </a:rPr>
                  <a:t>算法（基于时间尺度）</a:t>
                </a:r>
                <a:endParaRPr lang="en-US" altLang="zh-CN" sz="10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点到点轨迹</a:t>
                </a:r>
                <a:r>
                  <a:rPr lang="zh-CN" altLang="en-US" sz="1000" dirty="0" smtClean="0">
                    <a:latin typeface="Arial" panose="020B0604020202020204" pitchFamily="34" charset="0"/>
                    <a:ea typeface="微软雅黑" panose="020B0503020204020204" charset="-122"/>
                    <a:sym typeface="+mn-ea"/>
                  </a:rPr>
                  <a:t>生成</a:t>
                </a:r>
                <a:r>
                  <a:rPr lang="en-US" altLang="zh-CN" sz="1000" dirty="0" smtClean="0">
                    <a:latin typeface="Arial" panose="020B0604020202020204" pitchFamily="34" charset="0"/>
                    <a:ea typeface="微软雅黑" panose="020B0503020204020204" charset="-122"/>
                    <a:sym typeface="+mn-ea"/>
                  </a:rPr>
                  <a:t>(</a:t>
                </a:r>
                <a:r>
                  <a:rPr lang="zh-CN" altLang="en-US" sz="1000" dirty="0">
                    <a:solidFill>
                      <a:srgbClr val="002060"/>
                    </a:solidFill>
                    <a:latin typeface="Arial" panose="020B0604020202020204" pitchFamily="34" charset="0"/>
                    <a:ea typeface="微软雅黑" panose="020B0503020204020204" charset="-122"/>
                    <a:sym typeface="+mn-ea"/>
                  </a:rPr>
                  <a:t>线性插值、三次多项式插值 、五次多项式插值、梯形加速与</a:t>
                </a:r>
                <a:r>
                  <a:rPr lang="en-US" altLang="zh-CN" sz="1000" dirty="0">
                    <a:solidFill>
                      <a:srgbClr val="002060"/>
                    </a:solidFill>
                    <a:latin typeface="Arial" panose="020B0604020202020204" pitchFamily="34" charset="0"/>
                    <a:ea typeface="微软雅黑" panose="020B0503020204020204" charset="-122"/>
                    <a:sym typeface="+mn-ea"/>
                  </a:rPr>
                  <a:t>S</a:t>
                </a:r>
                <a:r>
                  <a:rPr lang="zh-CN" altLang="en-US" sz="1000" dirty="0">
                    <a:solidFill>
                      <a:srgbClr val="002060"/>
                    </a:solidFill>
                    <a:latin typeface="Arial" panose="020B0604020202020204" pitchFamily="34" charset="0"/>
                    <a:ea typeface="微软雅黑" panose="020B0503020204020204" charset="-122"/>
                    <a:sym typeface="+mn-ea"/>
                  </a:rPr>
                  <a:t>型</a:t>
                </a:r>
                <a:r>
                  <a:rPr lang="zh-CN" altLang="en-US" sz="1000" dirty="0" smtClean="0">
                    <a:solidFill>
                      <a:srgbClr val="002060"/>
                    </a:solidFill>
                    <a:latin typeface="Arial" panose="020B0604020202020204" pitchFamily="34" charset="0"/>
                    <a:ea typeface="微软雅黑" panose="020B0503020204020204" charset="-122"/>
                    <a:sym typeface="+mn-ea"/>
                  </a:rPr>
                  <a:t>曲线</a:t>
                </a:r>
                <a:r>
                  <a:rPr lang="en-US" altLang="zh-CN" sz="1000" dirty="0" smtClean="0">
                    <a:latin typeface="Arial" panose="020B0604020202020204" pitchFamily="34" charset="0"/>
                    <a:ea typeface="微软雅黑" panose="020B0503020204020204" charset="-122"/>
                    <a:sym typeface="+mn-ea"/>
                  </a:rPr>
                  <a:t>)</a:t>
                </a:r>
              </a:p>
              <a:p>
                <a:pPr marL="628650" lvl="1"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具有中间路点的轨迹</a:t>
                </a:r>
                <a:r>
                  <a:rPr lang="zh-CN" altLang="en-US" sz="1000" dirty="0" smtClean="0">
                    <a:latin typeface="Arial" panose="020B0604020202020204" pitchFamily="34" charset="0"/>
                    <a:ea typeface="微软雅黑" panose="020B0503020204020204" charset="-122"/>
                    <a:sym typeface="+mn-ea"/>
                  </a:rPr>
                  <a:t>生成</a:t>
                </a:r>
                <a:endParaRPr lang="en-US" altLang="zh-CN" sz="1000" dirty="0" smtClean="0">
                  <a:latin typeface="Arial" panose="020B0604020202020204" pitchFamily="34" charset="0"/>
                  <a:ea typeface="微软雅黑" panose="020B0503020204020204" charset="-122"/>
                  <a:sym typeface="+mn-ea"/>
                </a:endParaRPr>
              </a:p>
              <a:p>
                <a:pPr marL="1085850" lvl="2"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轨迹</a:t>
                </a:r>
                <a:r>
                  <a:rPr lang="zh-CN" altLang="en-US" sz="1000" dirty="0" smtClean="0">
                    <a:latin typeface="Arial" panose="020B0604020202020204" pitchFamily="34" charset="0"/>
                    <a:ea typeface="微软雅黑" panose="020B0503020204020204" charset="-122"/>
                    <a:sym typeface="+mn-ea"/>
                  </a:rPr>
                  <a:t>逼近</a:t>
                </a:r>
                <a:r>
                  <a:rPr lang="en-US" altLang="zh-CN" sz="1000" dirty="0">
                    <a:latin typeface="Arial" panose="020B0604020202020204" pitchFamily="34" charset="0"/>
                    <a:ea typeface="微软雅黑" panose="020B0503020204020204" charset="-122"/>
                    <a:sym typeface="+mn-ea"/>
                  </a:rPr>
                  <a:t>(</a:t>
                </a:r>
                <a:r>
                  <a:rPr lang="zh-CN" altLang="en-US" sz="1000" dirty="0" smtClean="0">
                    <a:solidFill>
                      <a:srgbClr val="002060"/>
                    </a:solidFill>
                    <a:latin typeface="Arial" panose="020B0604020202020204" pitchFamily="34" charset="0"/>
                    <a:ea typeface="微软雅黑" panose="020B0503020204020204" charset="-122"/>
                    <a:sym typeface="+mn-ea"/>
                  </a:rPr>
                  <a:t>三</a:t>
                </a:r>
                <a:r>
                  <a:rPr lang="zh-CN" altLang="en-US" sz="1000" dirty="0">
                    <a:solidFill>
                      <a:srgbClr val="002060"/>
                    </a:solidFill>
                    <a:latin typeface="Arial" panose="020B0604020202020204" pitchFamily="34" charset="0"/>
                    <a:ea typeface="微软雅黑" panose="020B0503020204020204" charset="-122"/>
                    <a:sym typeface="+mn-ea"/>
                  </a:rPr>
                  <a:t>阶贝塞尔曲线、</a:t>
                </a:r>
                <a:r>
                  <a:rPr lang="en-US" altLang="zh-CN" sz="1000" dirty="0">
                    <a:solidFill>
                      <a:srgbClr val="002060"/>
                    </a:solidFill>
                    <a:latin typeface="Arial" panose="020B0604020202020204" pitchFamily="34" charset="0"/>
                    <a:ea typeface="微软雅黑" panose="020B0503020204020204" charset="-122"/>
                    <a:sym typeface="+mn-ea"/>
                  </a:rPr>
                  <a:t>n</a:t>
                </a:r>
                <a:r>
                  <a:rPr lang="zh-CN" altLang="en-US" sz="1000" dirty="0">
                    <a:solidFill>
                      <a:srgbClr val="002060"/>
                    </a:solidFill>
                    <a:latin typeface="Arial" panose="020B0604020202020204" pitchFamily="34" charset="0"/>
                    <a:ea typeface="微软雅黑" panose="020B0503020204020204" charset="-122"/>
                    <a:sym typeface="+mn-ea"/>
                  </a:rPr>
                  <a:t>阶贝塞尔曲线、</a:t>
                </a:r>
                <a:r>
                  <a:rPr lang="en-US" altLang="zh-CN" sz="1000" dirty="0">
                    <a:solidFill>
                      <a:srgbClr val="002060"/>
                    </a:solidFill>
                    <a:latin typeface="Arial" panose="020B0604020202020204" pitchFamily="34" charset="0"/>
                    <a:ea typeface="微软雅黑" panose="020B0503020204020204" charset="-122"/>
                    <a:sym typeface="+mn-ea"/>
                  </a:rPr>
                  <a:t>B</a:t>
                </a:r>
                <a:r>
                  <a:rPr lang="zh-CN" altLang="en-US" sz="1000" dirty="0">
                    <a:solidFill>
                      <a:srgbClr val="002060"/>
                    </a:solidFill>
                    <a:latin typeface="Arial" panose="020B0604020202020204" pitchFamily="34" charset="0"/>
                    <a:ea typeface="微软雅黑" panose="020B0503020204020204" charset="-122"/>
                    <a:sym typeface="+mn-ea"/>
                  </a:rPr>
                  <a:t>样条曲线</a:t>
                </a:r>
                <a:r>
                  <a:rPr lang="zh-CN" altLang="en-US" sz="1000" dirty="0" smtClean="0">
                    <a:latin typeface="Arial" panose="020B0604020202020204" pitchFamily="34" charset="0"/>
                    <a:ea typeface="微软雅黑" panose="020B0503020204020204" charset="-122"/>
                    <a:sym typeface="+mn-ea"/>
                  </a:rPr>
                  <a:t>等</a:t>
                </a:r>
                <a:r>
                  <a:rPr lang="en-US" altLang="zh-CN" sz="1000" dirty="0" smtClean="0">
                    <a:latin typeface="Arial" panose="020B0604020202020204" pitchFamily="34" charset="0"/>
                    <a:ea typeface="微软雅黑" panose="020B0503020204020204" charset="-122"/>
                    <a:sym typeface="+mn-ea"/>
                  </a:rPr>
                  <a:t>)</a:t>
                </a:r>
                <a:r>
                  <a:rPr lang="zh-CN" altLang="en-US" sz="1000" dirty="0" smtClean="0">
                    <a:latin typeface="Arial" panose="020B0604020202020204" pitchFamily="34" charset="0"/>
                    <a:ea typeface="微软雅黑" panose="020B0503020204020204" charset="-122"/>
                    <a:sym typeface="+mn-ea"/>
                  </a:rPr>
                  <a:t>、严格经过路点（</a:t>
                </a:r>
                <a:r>
                  <a:rPr lang="en-US" altLang="zh-CN" sz="1000" dirty="0" err="1">
                    <a:solidFill>
                      <a:srgbClr val="002060"/>
                    </a:solidFill>
                    <a:latin typeface="Arial" panose="020B0604020202020204" pitchFamily="34" charset="0"/>
                    <a:ea typeface="微软雅黑" panose="020B0503020204020204" charset="-122"/>
                    <a:sym typeface="+mn-ea"/>
                  </a:rPr>
                  <a:t>Catmull</a:t>
                </a:r>
                <a:r>
                  <a:rPr lang="en-US" altLang="zh-CN" sz="1000" dirty="0">
                    <a:solidFill>
                      <a:srgbClr val="002060"/>
                    </a:solidFill>
                    <a:latin typeface="Arial" panose="020B0604020202020204" pitchFamily="34" charset="0"/>
                    <a:ea typeface="微软雅黑" panose="020B0503020204020204" charset="-122"/>
                    <a:sym typeface="+mn-ea"/>
                  </a:rPr>
                  <a:t>-Rom</a:t>
                </a:r>
                <a:r>
                  <a:rPr lang="zh-CN" altLang="en-US" sz="1000" dirty="0" smtClean="0">
                    <a:solidFill>
                      <a:srgbClr val="002060"/>
                    </a:solidFill>
                    <a:latin typeface="Arial" panose="020B0604020202020204" pitchFamily="34" charset="0"/>
                    <a:ea typeface="微软雅黑" panose="020B0503020204020204" charset="-122"/>
                    <a:sym typeface="+mn-ea"/>
                  </a:rPr>
                  <a:t>曲线</a:t>
                </a:r>
                <a:r>
                  <a:rPr lang="zh-CN" altLang="en-US" sz="1000" dirty="0" smtClean="0">
                    <a:latin typeface="Arial" panose="020B0604020202020204" pitchFamily="34" charset="0"/>
                    <a:ea typeface="微软雅黑" panose="020B0503020204020204" charset="-122"/>
                    <a:sym typeface="+mn-ea"/>
                  </a:rPr>
                  <a:t>）</a:t>
                </a:r>
                <a:endParaRPr lang="en-US" altLang="zh-CN" sz="10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位形空间离散化规划方法（</a:t>
                </a: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r>
                  <a:rPr lang="zh-CN" altLang="en-US" sz="1000" dirty="0" smtClean="0">
                    <a:latin typeface="Arial" panose="020B0604020202020204" pitchFamily="34" charset="0"/>
                    <a:ea typeface="微软雅黑" panose="020B0503020204020204" charset="-122"/>
                    <a:sym typeface="+mn-ea"/>
                  </a:rPr>
                  <a:t>）</a:t>
                </a:r>
                <a:endParaRPr lang="en-US" altLang="zh-CN" sz="10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000" dirty="0">
                    <a:solidFill>
                      <a:srgbClr val="002060"/>
                    </a:solidFill>
                    <a:latin typeface="Arial" panose="020B0604020202020204" pitchFamily="34" charset="0"/>
                    <a:ea typeface="微软雅黑" panose="020B0503020204020204" charset="-122"/>
                    <a:sym typeface="+mn-ea"/>
                  </a:rPr>
                  <a:t>组合规划</a:t>
                </a:r>
                <a:r>
                  <a:rPr lang="zh-CN" altLang="en-US" sz="1000" dirty="0">
                    <a:latin typeface="Arial" panose="020B0604020202020204" pitchFamily="34" charset="0"/>
                    <a:ea typeface="微软雅黑" panose="020B0503020204020204" charset="-122"/>
                    <a:sym typeface="+mn-ea"/>
                  </a:rPr>
                  <a:t>方法（</a:t>
                </a:r>
                <a:r>
                  <a:rPr lang="en-US" altLang="zh-CN" sz="1000" dirty="0">
                    <a:latin typeface="Arial" panose="020B0604020202020204" pitchFamily="34" charset="0"/>
                    <a:ea typeface="微软雅黑" panose="020B0503020204020204" charset="-122"/>
                    <a:sym typeface="+mn-ea"/>
                  </a:rPr>
                  <a:t>Combinatorial planning</a:t>
                </a:r>
                <a:r>
                  <a:rPr lang="zh-CN" altLang="en-US" sz="1000" dirty="0" smtClean="0">
                    <a:latin typeface="Arial" panose="020B0604020202020204" pitchFamily="34" charset="0"/>
                    <a:ea typeface="微软雅黑" panose="020B0503020204020204" charset="-122"/>
                    <a:sym typeface="+mn-ea"/>
                  </a:rPr>
                  <a:t>）</a:t>
                </a:r>
                <a:endParaRPr lang="en-US" altLang="zh-CN" sz="1000" dirty="0" smtClean="0">
                  <a:latin typeface="Arial" panose="020B0604020202020204" pitchFamily="34" charset="0"/>
                  <a:ea typeface="微软雅黑" panose="020B0503020204020204" charset="-122"/>
                  <a:sym typeface="+mn-ea"/>
                </a:endParaRPr>
              </a:p>
              <a:p>
                <a:pPr marL="1085850" lvl="2" indent="-171450">
                  <a:lnSpc>
                    <a:spcPct val="150000"/>
                  </a:lnSpc>
                  <a:buFont typeface="Wingdings" panose="05000000000000000000" pitchFamily="2" charset="2"/>
                  <a:buChar char="Ø"/>
                </a:pPr>
                <a:r>
                  <a:rPr lang="zh-CN" altLang="en-US" sz="1000" dirty="0">
                    <a:latin typeface="Arial" panose="020B0604020202020204" pitchFamily="34" charset="0"/>
                    <a:ea typeface="微软雅黑" panose="020B0503020204020204" charset="-122"/>
                    <a:sym typeface="+mn-ea"/>
                  </a:rPr>
                  <a:t>四种常用的地图表示方法：可视图</a:t>
                </a:r>
                <a:r>
                  <a:rPr lang="en-US" altLang="zh-CN" sz="1000" dirty="0">
                    <a:latin typeface="Arial" panose="020B0604020202020204" pitchFamily="34" charset="0"/>
                    <a:ea typeface="微软雅黑" panose="020B0503020204020204" charset="-122"/>
                    <a:sym typeface="+mn-ea"/>
                  </a:rPr>
                  <a:t>(Visibility graphs)</a:t>
                </a:r>
                <a:r>
                  <a:rPr lang="zh-CN" altLang="en-US" sz="1000" dirty="0">
                    <a:latin typeface="Arial" panose="020B0604020202020204" pitchFamily="34" charset="0"/>
                    <a:ea typeface="微软雅黑" panose="020B0503020204020204" charset="-122"/>
                    <a:sym typeface="+mn-ea"/>
                  </a:rPr>
                  <a:t>、</a:t>
                </a:r>
                <a:r>
                  <a:rPr lang="en-US" altLang="zh-CN" sz="1000" dirty="0" err="1">
                    <a:latin typeface="Arial" panose="020B0604020202020204" pitchFamily="34" charset="0"/>
                    <a:ea typeface="微软雅黑" panose="020B0503020204020204" charset="-122"/>
                    <a:sym typeface="+mn-ea"/>
                  </a:rPr>
                  <a:t>Voronoi</a:t>
                </a:r>
                <a:r>
                  <a:rPr lang="zh-CN" altLang="en-US" sz="1000" dirty="0">
                    <a:latin typeface="Arial" panose="020B0604020202020204" pitchFamily="34" charset="0"/>
                    <a:ea typeface="微软雅黑" panose="020B0503020204020204" charset="-122"/>
                    <a:sym typeface="+mn-ea"/>
                  </a:rPr>
                  <a:t>图</a:t>
                </a:r>
                <a:r>
                  <a:rPr lang="en-US" altLang="zh-CN" sz="1000" dirty="0">
                    <a:latin typeface="Arial" panose="020B0604020202020204" pitchFamily="34" charset="0"/>
                    <a:ea typeface="微软雅黑" panose="020B0503020204020204" charset="-122"/>
                    <a:sym typeface="+mn-ea"/>
                  </a:rPr>
                  <a:t>(</a:t>
                </a:r>
                <a:r>
                  <a:rPr lang="en-US" altLang="zh-CN" sz="1000" dirty="0" err="1">
                    <a:latin typeface="Arial" panose="020B0604020202020204" pitchFamily="34" charset="0"/>
                    <a:ea typeface="微软雅黑" panose="020B0503020204020204" charset="-122"/>
                    <a:sym typeface="+mn-ea"/>
                  </a:rPr>
                  <a:t>Voronoi</a:t>
                </a:r>
                <a:r>
                  <a:rPr lang="en-US" altLang="zh-CN" sz="1000" dirty="0">
                    <a:latin typeface="Arial" panose="020B0604020202020204" pitchFamily="34" charset="0"/>
                    <a:ea typeface="微软雅黑" panose="020B0503020204020204" charset="-122"/>
                    <a:sym typeface="+mn-ea"/>
                  </a:rPr>
                  <a:t> diagrams)</a:t>
                </a:r>
                <a:r>
                  <a:rPr lang="zh-CN" altLang="en-US" sz="1000" dirty="0">
                    <a:latin typeface="Arial" panose="020B0604020202020204" pitchFamily="34" charset="0"/>
                    <a:ea typeface="微软雅黑" panose="020B0503020204020204" charset="-122"/>
                    <a:sym typeface="+mn-ea"/>
                  </a:rPr>
                  <a:t>、精确单元分解</a:t>
                </a:r>
                <a:r>
                  <a:rPr lang="en-US" altLang="zh-CN" sz="1000" dirty="0">
                    <a:latin typeface="Arial" panose="020B0604020202020204" pitchFamily="34" charset="0"/>
                    <a:ea typeface="微软雅黑" panose="020B0503020204020204" charset="-122"/>
                    <a:sym typeface="+mn-ea"/>
                  </a:rPr>
                  <a:t>ECD(Exact cell decomposition)</a:t>
                </a:r>
                <a:r>
                  <a:rPr lang="zh-CN" altLang="en-US" sz="1000" dirty="0">
                    <a:latin typeface="Arial" panose="020B0604020202020204" pitchFamily="34" charset="0"/>
                    <a:ea typeface="微软雅黑" panose="020B0503020204020204" charset="-122"/>
                    <a:sym typeface="+mn-ea"/>
                  </a:rPr>
                  <a:t>、近似单元分解</a:t>
                </a:r>
                <a:r>
                  <a:rPr lang="en-US" altLang="zh-CN" sz="1000" dirty="0">
                    <a:latin typeface="Arial" panose="020B0604020202020204" pitchFamily="34" charset="0"/>
                    <a:ea typeface="微软雅黑" panose="020B0503020204020204" charset="-122"/>
                    <a:sym typeface="+mn-ea"/>
                  </a:rPr>
                  <a:t>ACD(Approximate cell decomposition</a:t>
                </a:r>
                <a:r>
                  <a:rPr lang="en-US" altLang="zh-CN" sz="1000" dirty="0" smtClean="0">
                    <a:latin typeface="Arial" panose="020B0604020202020204" pitchFamily="34" charset="0"/>
                    <a:ea typeface="微软雅黑" panose="020B0503020204020204" charset="-122"/>
                    <a:sym typeface="+mn-ea"/>
                  </a:rPr>
                  <a:t>)</a:t>
                </a:r>
              </a:p>
              <a:p>
                <a:pPr marL="628650" lvl="1" indent="-171450">
                  <a:lnSpc>
                    <a:spcPct val="150000"/>
                  </a:lnSpc>
                  <a:buFont typeface="Wingdings" panose="05000000000000000000" pitchFamily="2" charset="2"/>
                  <a:buChar char="Ø"/>
                </a:pPr>
                <a:r>
                  <a:rPr lang="zh-CN" altLang="en-US" sz="1000" dirty="0">
                    <a:solidFill>
                      <a:srgbClr val="002060"/>
                    </a:solidFill>
                    <a:latin typeface="Arial" panose="020B0604020202020204" pitchFamily="34" charset="0"/>
                    <a:ea typeface="微软雅黑" panose="020B0503020204020204" charset="-122"/>
                    <a:sym typeface="+mn-ea"/>
                  </a:rPr>
                  <a:t>图搜索</a:t>
                </a:r>
                <a:r>
                  <a:rPr lang="zh-CN" altLang="en-US" sz="1000" dirty="0" smtClean="0">
                    <a:solidFill>
                      <a:srgbClr val="002060"/>
                    </a:solidFill>
                    <a:latin typeface="Arial" panose="020B0604020202020204" pitchFamily="34" charset="0"/>
                    <a:ea typeface="微软雅黑" panose="020B0503020204020204" charset="-122"/>
                    <a:sym typeface="+mn-ea"/>
                  </a:rPr>
                  <a:t>算法</a:t>
                </a:r>
                <a:r>
                  <a:rPr lang="zh-CN" altLang="en-US" sz="1000" dirty="0" smtClean="0">
                    <a:latin typeface="Arial" panose="020B0604020202020204" pitchFamily="34" charset="0"/>
                    <a:ea typeface="微软雅黑" panose="020B0503020204020204" charset="-122"/>
                    <a:sym typeface="+mn-ea"/>
                  </a:rPr>
                  <a:t>：</a:t>
                </a:r>
                <a:r>
                  <a:rPr lang="en-US" altLang="zh-CN" sz="1000" dirty="0" err="1">
                    <a:latin typeface="Arial" panose="020B0604020202020204" pitchFamily="34" charset="0"/>
                    <a:ea typeface="微软雅黑" panose="020B0503020204020204" charset="-122"/>
                    <a:sym typeface="+mn-ea"/>
                  </a:rPr>
                  <a:t>Dijkstra</a:t>
                </a:r>
                <a:r>
                  <a:rPr lang="zh-CN" altLang="en-US" sz="1000" dirty="0">
                    <a:latin typeface="Arial" panose="020B0604020202020204" pitchFamily="34" charset="0"/>
                    <a:ea typeface="微软雅黑" panose="020B0503020204020204" charset="-122"/>
                    <a:sym typeface="+mn-ea"/>
                  </a:rPr>
                  <a:t>算法、广度优先搜索、</a:t>
                </a:r>
                <a:r>
                  <a:rPr lang="en-US" altLang="zh-CN" sz="1000" dirty="0">
                    <a:latin typeface="Arial" panose="020B0604020202020204" pitchFamily="34" charset="0"/>
                    <a:ea typeface="微软雅黑" panose="020B0503020204020204" charset="-122"/>
                    <a:sym typeface="+mn-ea"/>
                  </a:rPr>
                  <a:t>A^*</a:t>
                </a:r>
                <a:r>
                  <a:rPr lang="zh-CN" altLang="en-US" sz="1000" dirty="0">
                    <a:latin typeface="Arial" panose="020B0604020202020204" pitchFamily="34" charset="0"/>
                    <a:ea typeface="微软雅黑" panose="020B0503020204020204" charset="-122"/>
                    <a:sym typeface="+mn-ea"/>
                  </a:rPr>
                  <a:t>搜索、</a:t>
                </a:r>
                <a:r>
                  <a:rPr lang="en-US" altLang="zh-CN" sz="1000" dirty="0">
                    <a:latin typeface="Arial" panose="020B0604020202020204" pitchFamily="34" charset="0"/>
                    <a:ea typeface="微软雅黑" panose="020B0503020204020204" charset="-122"/>
                    <a:sym typeface="+mn-ea"/>
                  </a:rPr>
                  <a:t>D^*</a:t>
                </a:r>
                <a:r>
                  <a:rPr lang="zh-CN" altLang="en-US" sz="1000" dirty="0">
                    <a:latin typeface="Arial" panose="020B0604020202020204" pitchFamily="34" charset="0"/>
                    <a:ea typeface="微软雅黑" panose="020B0503020204020204" charset="-122"/>
                    <a:sym typeface="+mn-ea"/>
                  </a:rPr>
                  <a:t>搜索</a:t>
                </a:r>
                <a:r>
                  <a:rPr lang="zh-CN" altLang="en-US" sz="1000" dirty="0" smtClean="0">
                    <a:latin typeface="Arial" panose="020B0604020202020204" pitchFamily="34" charset="0"/>
                    <a:ea typeface="微软雅黑" panose="020B0503020204020204" charset="-122"/>
                    <a:sym typeface="+mn-ea"/>
                  </a:rPr>
                  <a:t>等</a:t>
                </a:r>
                <a:endParaRPr lang="en-US" altLang="zh-CN" sz="1000" dirty="0" smtClean="0">
                  <a:latin typeface="Arial" panose="020B0604020202020204" pitchFamily="34" charset="0"/>
                  <a:ea typeface="微软雅黑" panose="020B0503020204020204" charset="-122"/>
                  <a:sym typeface="+mn-ea"/>
                </a:endParaRPr>
              </a:p>
              <a:p>
                <a:pPr marL="628650" lvl="2" indent="-171450">
                  <a:lnSpc>
                    <a:spcPct val="150000"/>
                  </a:lnSpc>
                  <a:buFont typeface="Wingdings" panose="05000000000000000000" pitchFamily="2" charset="2"/>
                  <a:buChar char="Ø"/>
                </a:pPr>
                <a:r>
                  <a:rPr lang="zh-CN" altLang="en-US" sz="1000" dirty="0">
                    <a:solidFill>
                      <a:srgbClr val="002060"/>
                    </a:solidFill>
                    <a:latin typeface="Arial" panose="020B0604020202020204" pitchFamily="34" charset="0"/>
                    <a:ea typeface="微软雅黑" panose="020B0503020204020204" charset="-122"/>
                    <a:sym typeface="+mn-ea"/>
                  </a:rPr>
                  <a:t>基于采样的规划方法</a:t>
                </a:r>
                <a:r>
                  <a:rPr lang="zh-CN" altLang="en-US" sz="1000" dirty="0">
                    <a:latin typeface="Arial" panose="020B0604020202020204" pitchFamily="34" charset="0"/>
                    <a:ea typeface="微软雅黑" panose="020B0503020204020204" charset="-122"/>
                    <a:sym typeface="+mn-ea"/>
                  </a:rPr>
                  <a:t>（</a:t>
                </a:r>
                <a:r>
                  <a:rPr lang="en-US" altLang="zh-CN" sz="1000" dirty="0">
                    <a:latin typeface="Arial" panose="020B0604020202020204" pitchFamily="34" charset="0"/>
                    <a:ea typeface="微软雅黑" panose="020B0503020204020204" charset="-122"/>
                    <a:sym typeface="+mn-ea"/>
                  </a:rPr>
                  <a:t>Sampling-Based Planning</a:t>
                </a:r>
                <a:r>
                  <a:rPr lang="zh-CN" altLang="en-US" sz="1000" dirty="0" smtClean="0">
                    <a:latin typeface="Arial" panose="020B0604020202020204" pitchFamily="34" charset="0"/>
                    <a:ea typeface="微软雅黑" panose="020B0503020204020204" charset="-122"/>
                    <a:sym typeface="+mn-ea"/>
                  </a:rPr>
                  <a:t>）：</a:t>
                </a:r>
                <a:r>
                  <a:rPr lang="en-US" altLang="zh-CN" sz="1000" dirty="0">
                    <a:latin typeface="Arial" panose="020B0604020202020204" pitchFamily="34" charset="0"/>
                    <a:ea typeface="微软雅黑" panose="020B0503020204020204" charset="-122"/>
                    <a:sym typeface="+mn-ea"/>
                  </a:rPr>
                  <a:t>PRM</a:t>
                </a:r>
                <a:r>
                  <a:rPr lang="zh-CN" altLang="en-US" sz="1000" dirty="0">
                    <a:latin typeface="Arial" panose="020B0604020202020204" pitchFamily="34" charset="0"/>
                    <a:ea typeface="微软雅黑" panose="020B0503020204020204" charset="-122"/>
                    <a:sym typeface="+mn-ea"/>
                  </a:rPr>
                  <a:t>、</a:t>
                </a:r>
                <a:r>
                  <a:rPr lang="en-US" altLang="zh-CN" sz="1000" dirty="0" smtClean="0">
                    <a:latin typeface="Arial" panose="020B0604020202020204" pitchFamily="34" charset="0"/>
                    <a:ea typeface="微软雅黑" panose="020B0503020204020204" charset="-122"/>
                    <a:sym typeface="+mn-ea"/>
                  </a:rPr>
                  <a:t>RRT</a:t>
                </a:r>
              </a:p>
              <a:p>
                <a:pPr marL="171450" indent="-171450">
                  <a:lnSpc>
                    <a:spcPct val="150000"/>
                  </a:lnSpc>
                  <a:buFont typeface="Wingdings" panose="05000000000000000000" pitchFamily="2" charset="2"/>
                  <a:buChar char="Ø"/>
                </a:pPr>
                <a:r>
                  <a:rPr lang="zh-CN" altLang="en-US" sz="1000" dirty="0" smtClean="0">
                    <a:solidFill>
                      <a:srgbClr val="002060"/>
                    </a:solidFill>
                    <a:latin typeface="Arial" panose="020B0604020202020204" pitchFamily="34" charset="0"/>
                    <a:ea typeface="微软雅黑" panose="020B0503020204020204" charset="-122"/>
                    <a:sym typeface="+mn-ea"/>
                  </a:rPr>
                  <a:t>势场法</a:t>
                </a:r>
                <a:r>
                  <a:rPr lang="en-US" altLang="zh-CN" sz="1000" dirty="0">
                    <a:latin typeface="Arial" panose="020B0604020202020204" pitchFamily="34" charset="0"/>
                    <a:ea typeface="微软雅黑" panose="020B0503020204020204" charset="-122"/>
                    <a:sym typeface="+mn-ea"/>
                  </a:rPr>
                  <a:t>(Potential Field </a:t>
                </a:r>
                <a:r>
                  <a:rPr lang="en-US" altLang="zh-CN" sz="1000" dirty="0" smtClean="0">
                    <a:latin typeface="Arial" panose="020B0604020202020204" pitchFamily="34" charset="0"/>
                    <a:ea typeface="微软雅黑" panose="020B0503020204020204" charset="-122"/>
                    <a:sym typeface="+mn-ea"/>
                  </a:rPr>
                  <a:t>Methods)</a:t>
                </a:r>
              </a:p>
              <a:p>
                <a:pPr marL="171450" indent="-171450">
                  <a:lnSpc>
                    <a:spcPct val="150000"/>
                  </a:lnSpc>
                  <a:buFont typeface="Wingdings" panose="05000000000000000000" pitchFamily="2" charset="2"/>
                  <a:buChar char="Ø"/>
                </a:pPr>
                <a:r>
                  <a:rPr lang="en-US" altLang="zh-CN" sz="1000" dirty="0">
                    <a:latin typeface="Arial" panose="020B0604020202020204" pitchFamily="34" charset="0"/>
                    <a:ea typeface="微软雅黑" panose="020B0503020204020204" charset="-122"/>
                    <a:sym typeface="+mn-ea"/>
                  </a:rPr>
                  <a:t>Dynamic Window Approach (</a:t>
                </a:r>
                <a:r>
                  <a:rPr lang="en-US" altLang="zh-CN" sz="1000" dirty="0">
                    <a:solidFill>
                      <a:srgbClr val="002060"/>
                    </a:solidFill>
                    <a:latin typeface="Arial" panose="020B0604020202020204" pitchFamily="34" charset="0"/>
                    <a:ea typeface="微软雅黑" panose="020B0503020204020204" charset="-122"/>
                    <a:sym typeface="+mn-ea"/>
                  </a:rPr>
                  <a:t>DWA</a:t>
                </a:r>
                <a:r>
                  <a:rPr lang="en-US" altLang="zh-CN" sz="1000" dirty="0" smtClean="0">
                    <a:latin typeface="Arial" panose="020B0604020202020204" pitchFamily="34" charset="0"/>
                    <a:ea typeface="微软雅黑" panose="020B0503020204020204" charset="-122"/>
                    <a:sym typeface="+mn-ea"/>
                  </a:rPr>
                  <a:t>)</a:t>
                </a:r>
              </a:p>
              <a:p>
                <a:pPr marL="171450" indent="-171450">
                  <a:lnSpc>
                    <a:spcPct val="150000"/>
                  </a:lnSpc>
                  <a:buFont typeface="Wingdings" panose="05000000000000000000" pitchFamily="2" charset="2"/>
                  <a:buChar char="Ø"/>
                </a:pPr>
                <a:r>
                  <a:rPr lang="zh-CN" altLang="en-US" sz="1000" dirty="0" smtClean="0">
                    <a:latin typeface="Arial" panose="020B0604020202020204" pitchFamily="34" charset="0"/>
                    <a:ea typeface="微软雅黑" panose="020B0503020204020204" charset="-122"/>
                    <a:sym typeface="+mn-ea"/>
                  </a:rPr>
                  <a:t>运动轨迹平滑</a:t>
                </a:r>
                <a:endParaRPr lang="en-US" altLang="zh-CN" sz="10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000" dirty="0" smtClean="0">
                    <a:latin typeface="Arial" panose="020B0604020202020204" pitchFamily="34" charset="0"/>
                    <a:ea typeface="微软雅黑" panose="020B0503020204020204" charset="-122"/>
                    <a:sym typeface="+mn-ea"/>
                  </a:rPr>
                  <a:t>全局规划和局部规划</a:t>
                </a:r>
                <a:endParaRPr lang="en-US" altLang="zh-CN" sz="1000" dirty="0">
                  <a:latin typeface="Arial" panose="020B0604020202020204" pitchFamily="34" charset="0"/>
                  <a:ea typeface="微软雅黑" panose="020B0503020204020204" charset="-122"/>
                  <a:sym typeface="+mn-ea"/>
                </a:endParaRPr>
              </a:p>
            </p:txBody>
          </p:sp>
        </mc:Choice>
        <mc:Fallback xmlns="">
          <p:sp>
            <p:nvSpPr>
              <p:cNvPr id="6" name="矩形 5"/>
              <p:cNvSpPr>
                <a:spLocks noRot="1" noChangeAspect="1" noMove="1" noResize="1" noEditPoints="1" noAdjustHandles="1" noChangeArrowheads="1" noChangeShapeType="1" noTextEdit="1"/>
              </p:cNvSpPr>
              <p:nvPr/>
            </p:nvSpPr>
            <p:spPr>
              <a:xfrm>
                <a:off x="3347864" y="915566"/>
                <a:ext cx="5694607" cy="4247317"/>
              </a:xfrm>
              <a:prstGeom prst="rect">
                <a:avLst/>
              </a:prstGeom>
              <a:blipFill rotWithShape="1">
                <a:blip r:embed="rId3"/>
                <a:stretch>
                  <a:fillRect l="-3" t="-13" r="1" b="8"/>
                </a:stretch>
              </a:blipFill>
            </p:spPr>
            <p:txBody>
              <a:bodyPr/>
              <a:lstStyle/>
              <a:p>
                <a:r>
                  <a:rPr lang="zh-CN" altLang="en-US">
                    <a:noFill/>
                  </a:rPr>
                  <a:t> </a:t>
                </a:r>
              </a:p>
            </p:txBody>
          </p:sp>
        </mc:Fallback>
      </mc:AlternateContent>
      <p:sp>
        <p:nvSpPr>
          <p:cNvPr id="7" name="文本框 6"/>
          <p:cNvSpPr txBox="1"/>
          <p:nvPr/>
        </p:nvSpPr>
        <p:spPr>
          <a:xfrm>
            <a:off x="3491880" y="321588"/>
            <a:ext cx="3335655" cy="521970"/>
          </a:xfrm>
          <a:prstGeom prst="rect">
            <a:avLst/>
          </a:prstGeom>
          <a:noFill/>
        </p:spPr>
        <p:txBody>
          <a:bodyPr wrap="square" rtlCol="0" anchor="t">
            <a:spAutoFit/>
          </a:bodyPr>
          <a:lstStyle/>
          <a:p>
            <a:pPr algn="l"/>
            <a:r>
              <a:rPr lang="zh-CN" altLang="en-US" sz="2800" b="1" dirty="0" smtClean="0">
                <a:solidFill>
                  <a:srgbClr val="002060"/>
                </a:solidFill>
                <a:latin typeface="Arial" panose="020B0604020202020204" pitchFamily="34" charset="0"/>
                <a:ea typeface="微软雅黑" panose="020B0503020204020204" charset="-122"/>
                <a:sym typeface="+mn-ea"/>
              </a:rPr>
              <a:t>运动规划</a:t>
            </a:r>
            <a:endParaRPr lang="zh-CN" altLang="en-US" sz="2400" b="1" dirty="0">
              <a:solidFill>
                <a:srgbClr val="002060"/>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205796"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59038" y="1861809"/>
            <a:ext cx="3849370" cy="3139321"/>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机器人运动规划主要研究机器人在</a:t>
            </a:r>
            <a:r>
              <a:rPr lang="en-US" altLang="zh-CN" sz="1200" dirty="0">
                <a:latin typeface="Arial" panose="020B0604020202020204" pitchFamily="34" charset="0"/>
                <a:ea typeface="微软雅黑" panose="020B0503020204020204" charset="-122"/>
                <a:sym typeface="+mn-ea"/>
              </a:rPr>
              <a:t>n</a:t>
            </a:r>
            <a:r>
              <a:rPr lang="zh-CN" altLang="en-US" sz="1200" dirty="0">
                <a:latin typeface="Arial" panose="020B0604020202020204" pitchFamily="34" charset="0"/>
                <a:ea typeface="微软雅黑" panose="020B0503020204020204" charset="-122"/>
                <a:sym typeface="+mn-ea"/>
              </a:rPr>
              <a:t>维空间的运动及避障问题，包含路径规划和轨迹规划</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a:latin typeface="Arial" panose="020B0604020202020204" pitchFamily="34" charset="0"/>
                <a:ea typeface="微软雅黑" panose="020B0503020204020204" charset="-122"/>
                <a:sym typeface="+mn-ea"/>
              </a:rPr>
              <a:t>将运动规划问题表达为三个方面的</a:t>
            </a:r>
            <a:r>
              <a:rPr lang="zh-CN" altLang="en-US" sz="1200" dirty="0" smtClean="0">
                <a:latin typeface="Arial" panose="020B0604020202020204" pitchFamily="34" charset="0"/>
                <a:ea typeface="微软雅黑" panose="020B0503020204020204" charset="-122"/>
                <a:sym typeface="+mn-ea"/>
              </a:rPr>
              <a:t>问题</a:t>
            </a:r>
            <a:r>
              <a:rPr lang="en-US" altLang="zh-CN" sz="1200" dirty="0" smtClean="0">
                <a:latin typeface="Arial" panose="020B0604020202020204" pitchFamily="34" charset="0"/>
                <a:ea typeface="微软雅黑" panose="020B0503020204020204" charset="-122"/>
                <a:sym typeface="+mn-ea"/>
              </a:rPr>
              <a:t>:</a:t>
            </a: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机器人</a:t>
            </a:r>
            <a:r>
              <a:rPr lang="zh-CN" altLang="en-US" sz="1200" dirty="0">
                <a:latin typeface="Arial" panose="020B0604020202020204" pitchFamily="34" charset="0"/>
                <a:ea typeface="微软雅黑" panose="020B0503020204020204" charset="-122"/>
                <a:sym typeface="+mn-ea"/>
              </a:rPr>
              <a:t>环境的表示方法，即机器人环境</a:t>
            </a:r>
            <a:r>
              <a:rPr lang="zh-CN" altLang="en-US" sz="1200" dirty="0" smtClean="0">
                <a:latin typeface="Arial" panose="020B0604020202020204" pitchFamily="34" charset="0"/>
                <a:ea typeface="微软雅黑" panose="020B0503020204020204" charset="-122"/>
                <a:sym typeface="+mn-ea"/>
              </a:rPr>
              <a:t>建模</a:t>
            </a:r>
            <a:r>
              <a:rPr lang="en-US" altLang="zh-CN" sz="1200" dirty="0" smtClean="0">
                <a:latin typeface="Arial" panose="020B0604020202020204" pitchFamily="34" charset="0"/>
                <a:ea typeface="微软雅黑" panose="020B0503020204020204" charset="-122"/>
                <a:sym typeface="+mn-ea"/>
              </a:rPr>
              <a:t>(</a:t>
            </a:r>
            <a:r>
              <a:rPr lang="zh-CN" altLang="en-US" sz="1200" dirty="0" smtClean="0">
                <a:latin typeface="Arial" panose="020B0604020202020204" pitchFamily="34" charset="0"/>
                <a:ea typeface="微软雅黑" panose="020B0503020204020204" charset="-122"/>
                <a:sym typeface="+mn-ea"/>
              </a:rPr>
              <a:t>位形表达方法</a:t>
            </a:r>
            <a:r>
              <a:rPr lang="en-US" altLang="zh-CN" sz="1200" dirty="0" smtClean="0">
                <a:latin typeface="Arial" panose="020B0604020202020204" pitchFamily="34" charset="0"/>
                <a:ea typeface="微软雅黑" panose="020B0503020204020204" charset="-122"/>
                <a:sym typeface="+mn-ea"/>
              </a:rPr>
              <a:t>:C-space</a:t>
            </a:r>
            <a:r>
              <a:rPr lang="zh-CN" altLang="en-US" sz="1200" dirty="0" smtClean="0">
                <a:latin typeface="Arial" panose="020B0604020202020204" pitchFamily="34" charset="0"/>
                <a:ea typeface="微软雅黑" panose="020B0503020204020204" charset="-122"/>
                <a:sym typeface="+mn-ea"/>
              </a:rPr>
              <a:t>、</a:t>
            </a:r>
            <a:r>
              <a:rPr lang="en-US" altLang="zh-CN" sz="1200" dirty="0" smtClean="0">
                <a:latin typeface="Arial" panose="020B0604020202020204" pitchFamily="34" charset="0"/>
                <a:ea typeface="微软雅黑" panose="020B0503020204020204" charset="-122"/>
                <a:sym typeface="+mn-ea"/>
              </a:rPr>
              <a:t>C-free</a:t>
            </a:r>
            <a:r>
              <a:rPr lang="zh-CN" altLang="en-US" sz="1200" dirty="0" smtClean="0">
                <a:latin typeface="Arial" panose="020B0604020202020204" pitchFamily="34" charset="0"/>
                <a:ea typeface="微软雅黑" panose="020B0503020204020204" charset="-122"/>
                <a:sym typeface="+mn-ea"/>
              </a:rPr>
              <a:t>、</a:t>
            </a:r>
            <a:r>
              <a:rPr lang="en-US" altLang="zh-CN" sz="1200" dirty="0" smtClean="0">
                <a:latin typeface="Arial" panose="020B0604020202020204" pitchFamily="34" charset="0"/>
                <a:ea typeface="微软雅黑" panose="020B0503020204020204" charset="-122"/>
                <a:sym typeface="+mn-ea"/>
              </a:rPr>
              <a:t>C-Obstacle)</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其次</a:t>
            </a:r>
            <a:r>
              <a:rPr lang="zh-CN" altLang="en-US" sz="1200" dirty="0">
                <a:latin typeface="Arial" panose="020B0604020202020204" pitchFamily="34" charset="0"/>
                <a:ea typeface="微软雅黑" panose="020B0503020204020204" charset="-122"/>
                <a:sym typeface="+mn-ea"/>
              </a:rPr>
              <a:t>是如何在这个环境中寻找无碰撞的可行轨迹（这个轨迹可能采用某种等式（本教程尽可能统一到时间尺度函数）直接生成，也可能是基于某种搜索算法得到）</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最后</a:t>
            </a:r>
            <a:r>
              <a:rPr lang="zh-CN" altLang="en-US" sz="1200" dirty="0">
                <a:latin typeface="Arial" panose="020B0604020202020204" pitchFamily="34" charset="0"/>
                <a:ea typeface="微软雅黑" panose="020B0503020204020204" charset="-122"/>
                <a:sym typeface="+mn-ea"/>
              </a:rPr>
              <a:t>可能还需要对求解得到的轨迹进行处理与平滑等优化</a:t>
            </a:r>
            <a:r>
              <a:rPr lang="zh-CN" altLang="en-US" sz="1200" dirty="0" smtClean="0">
                <a:latin typeface="Arial" panose="020B0604020202020204" pitchFamily="34" charset="0"/>
                <a:ea typeface="微软雅黑" panose="020B0503020204020204" charset="-122"/>
                <a:sym typeface="+mn-ea"/>
              </a:rPr>
              <a:t>。</a:t>
            </a:r>
            <a:endParaRPr lang="zh-CN" altLang="en-US"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319270" y="1339839"/>
            <a:ext cx="3335655" cy="521970"/>
          </a:xfrm>
          <a:prstGeom prst="rect">
            <a:avLst/>
          </a:prstGeom>
          <a:noFill/>
        </p:spPr>
        <p:txBody>
          <a:bodyPr wrap="square" rtlCol="0" anchor="t">
            <a:spAutoFit/>
          </a:bodyPr>
          <a:lstStyle/>
          <a:p>
            <a:pPr algn="l"/>
            <a:r>
              <a:rPr lang="zh-CN" altLang="en-US" sz="2800" b="1" dirty="0" smtClean="0">
                <a:solidFill>
                  <a:schemeClr val="tx1"/>
                </a:solidFill>
                <a:latin typeface="Arial" panose="020B0604020202020204" pitchFamily="34" charset="0"/>
                <a:ea typeface="微软雅黑" panose="020B0503020204020204" charset="-122"/>
                <a:sym typeface="+mn-ea"/>
              </a:rPr>
              <a:t>引言</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01</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双波形 113"/>
          <p:cNvSpPr/>
          <p:nvPr/>
        </p:nvSpPr>
        <p:spPr>
          <a:xfrm>
            <a:off x="5292080" y="1493268"/>
            <a:ext cx="3312368" cy="1942577"/>
          </a:xfrm>
          <a:prstGeom prst="doubleWave">
            <a:avLst/>
          </a:prstGeom>
          <a:blipFill dpi="0" rotWithShape="1">
            <a:blip r:embed="rId3"/>
            <a:srcRect/>
            <a:stretch>
              <a:fillRect/>
            </a:stretch>
          </a:blipFill>
          <a:ln w="28575">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0" name="双波形 109"/>
          <p:cNvSpPr/>
          <p:nvPr/>
        </p:nvSpPr>
        <p:spPr>
          <a:xfrm>
            <a:off x="614715" y="1519924"/>
            <a:ext cx="3115102" cy="1915922"/>
          </a:xfrm>
          <a:prstGeom prst="doubleWave">
            <a:avLst/>
          </a:prstGeom>
          <a:blipFill dpi="0" rotWithShape="1">
            <a:blip r:embed="rId4"/>
            <a:srcRect/>
            <a:stretch>
              <a:fillRect/>
            </a:stretch>
          </a:blipFill>
          <a:ln w="28575">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12" name="图片 111"/>
          <p:cNvPicPr>
            <a:picLocks noChangeAspect="1"/>
          </p:cNvPicPr>
          <p:nvPr/>
        </p:nvPicPr>
        <p:blipFill rotWithShape="1">
          <a:blip r:embed="rId5">
            <a:grayscl/>
            <a:extLst>
              <a:ext uri="{BEBA8EAE-BF5A-486C-A8C5-ECC9F3942E4B}">
                <a14:imgProps xmlns:a14="http://schemas.microsoft.com/office/drawing/2010/main">
                  <a14:imgLayer r:embed="rId6">
                    <a14:imgEffect>
                      <a14:colorTemperature colorTemp="2000"/>
                    </a14:imgEffect>
                    <a14:imgEffect>
                      <a14:saturation sat="66000"/>
                    </a14:imgEffect>
                  </a14:imgLayer>
                </a14:imgProps>
              </a:ext>
            </a:extLst>
          </a:blip>
          <a:srcRect b="72279"/>
          <a:stretch>
            <a:fillRect/>
          </a:stretch>
        </p:blipFill>
        <p:spPr>
          <a:xfrm rot="5400000" flipV="1">
            <a:off x="1889315" y="2737759"/>
            <a:ext cx="4555391" cy="378101"/>
          </a:xfrm>
          <a:prstGeom prst="rect">
            <a:avLst/>
          </a:prstGeom>
        </p:spPr>
      </p:pic>
      <p:grpSp>
        <p:nvGrpSpPr>
          <p:cNvPr id="107" name="组合 106"/>
          <p:cNvGrpSpPr/>
          <p:nvPr/>
        </p:nvGrpSpPr>
        <p:grpSpPr>
          <a:xfrm>
            <a:off x="-236220" y="219075"/>
            <a:ext cx="5153660" cy="627380"/>
            <a:chOff x="-372" y="345"/>
            <a:chExt cx="8116" cy="988"/>
          </a:xfrm>
        </p:grpSpPr>
        <p:sp>
          <p:nvSpPr>
            <p:cNvPr id="28" name="矩形 27"/>
            <p:cNvSpPr/>
            <p:nvPr/>
          </p:nvSpPr>
          <p:spPr>
            <a:xfrm>
              <a:off x="443" y="824"/>
              <a:ext cx="6313" cy="509"/>
            </a:xfrm>
            <a:prstGeom prst="rect">
              <a:avLst/>
            </a:prstGeom>
          </p:spPr>
          <p:txBody>
            <a:bodyPr wrap="square">
              <a:spAutoFit/>
            </a:bodyPr>
            <a:lstStyle/>
            <a:p>
              <a:pPr algn="l">
                <a:lnSpc>
                  <a:spcPct val="150000"/>
                </a:lnSpc>
              </a:pPr>
              <a:r>
                <a:rPr lang="zh-CN" altLang="en-US" sz="1000" dirty="0" smtClean="0">
                  <a:solidFill>
                    <a:schemeClr val="tx1"/>
                  </a:solidFill>
                  <a:latin typeface="Arial" panose="020B0604020202020204" pitchFamily="34" charset="0"/>
                  <a:ea typeface="微软雅黑" panose="020B0503020204020204" charset="-122"/>
                  <a:sym typeface="+mn-ea"/>
                </a:rPr>
                <a:t>运动规划的基本概念</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9" name="文本框 28"/>
            <p:cNvSpPr txBox="1"/>
            <p:nvPr/>
          </p:nvSpPr>
          <p:spPr>
            <a:xfrm>
              <a:off x="443" y="363"/>
              <a:ext cx="7301" cy="628"/>
            </a:xfrm>
            <a:prstGeom prst="rect">
              <a:avLst/>
            </a:prstGeom>
            <a:noFill/>
          </p:spPr>
          <p:txBody>
            <a:bodyPr wrap="square" rtlCol="0" anchor="t">
              <a:spAutoFit/>
            </a:bodyPr>
            <a:lstStyle/>
            <a:p>
              <a:pPr algn="l"/>
              <a:r>
                <a:rPr lang="zh-CN" altLang="en-US" sz="2000" b="1" dirty="0">
                  <a:latin typeface="Arial" panose="020B0604020202020204" pitchFamily="34" charset="0"/>
                  <a:ea typeface="微软雅黑" panose="020B0503020204020204" charset="-122"/>
                  <a:sym typeface="+mn-ea"/>
                </a:rPr>
                <a:t>引言</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0" name="椭圆 2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2483768" y="707236"/>
            <a:ext cx="3920560" cy="461665"/>
          </a:xfrm>
          <a:prstGeom prst="rect">
            <a:avLst/>
          </a:prstGeom>
        </p:spPr>
        <p:txBody>
          <a:bodyPr wrap="none">
            <a:spAutoFit/>
          </a:bodyPr>
          <a:lstStyle/>
          <a:p>
            <a:r>
              <a:rPr lang="zh-CN" altLang="en-US" sz="2400" dirty="0" smtClean="0">
                <a:solidFill>
                  <a:srgbClr val="002060"/>
                </a:solidFill>
              </a:rPr>
              <a:t>完整</a:t>
            </a:r>
            <a:r>
              <a:rPr lang="zh-CN" altLang="en-US" sz="2400" dirty="0">
                <a:solidFill>
                  <a:srgbClr val="002060"/>
                </a:solidFill>
              </a:rPr>
              <a:t>机器人 </a:t>
            </a:r>
            <a:r>
              <a:rPr lang="zh-CN" altLang="en-US" sz="2400" dirty="0" smtClean="0">
                <a:solidFill>
                  <a:srgbClr val="002060"/>
                </a:solidFill>
              </a:rPr>
              <a:t>Vs</a:t>
            </a:r>
            <a:r>
              <a:rPr lang="zh-CN" altLang="en-US" sz="2400" dirty="0">
                <a:solidFill>
                  <a:srgbClr val="002060"/>
                </a:solidFill>
              </a:rPr>
              <a:t>非</a:t>
            </a:r>
            <a:r>
              <a:rPr lang="zh-CN" altLang="en-US" sz="2400" dirty="0" smtClean="0">
                <a:solidFill>
                  <a:srgbClr val="002060"/>
                </a:solidFill>
              </a:rPr>
              <a:t>完整</a:t>
            </a:r>
            <a:r>
              <a:rPr lang="zh-CN" altLang="en-US" sz="2400" dirty="0">
                <a:solidFill>
                  <a:srgbClr val="002060"/>
                </a:solidFill>
              </a:rPr>
              <a:t>机器人</a:t>
            </a:r>
          </a:p>
        </p:txBody>
      </p:sp>
      <p:sp>
        <p:nvSpPr>
          <p:cNvPr id="12" name="双波形 11"/>
          <p:cNvSpPr/>
          <p:nvPr/>
        </p:nvSpPr>
        <p:spPr>
          <a:xfrm>
            <a:off x="2633876" y="3166600"/>
            <a:ext cx="3312368" cy="1942577"/>
          </a:xfrm>
          <a:prstGeom prst="doubleWave">
            <a:avLst/>
          </a:prstGeom>
          <a:blipFill dpi="0" rotWithShape="1">
            <a:blip r:embed="rId7"/>
            <a:srcRect/>
            <a:stretch>
              <a:fillRect/>
            </a:stretch>
          </a:blipFill>
          <a:ln w="28575">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文本框 3"/>
          <p:cNvSpPr txBox="1"/>
          <p:nvPr/>
        </p:nvSpPr>
        <p:spPr>
          <a:xfrm>
            <a:off x="6228184" y="4515966"/>
            <a:ext cx="1210588" cy="338554"/>
          </a:xfrm>
          <a:prstGeom prst="rect">
            <a:avLst/>
          </a:prstGeom>
          <a:noFill/>
        </p:spPr>
        <p:txBody>
          <a:bodyPr wrap="none" rtlCol="0">
            <a:spAutoFit/>
          </a:bodyPr>
          <a:lstStyle/>
          <a:p>
            <a:r>
              <a:rPr lang="zh-CN" altLang="en-US" sz="1600" dirty="0" smtClean="0">
                <a:solidFill>
                  <a:srgbClr val="002060"/>
                </a:solidFill>
              </a:rPr>
              <a:t>复合机器人</a:t>
            </a:r>
            <a:endParaRPr lang="zh-CN" altLang="en-US" sz="16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barn(outHorizontal)">
                                      <p:cBhvr>
                                        <p:cTn id="7" dur="500"/>
                                        <p:tgtEl>
                                          <p:spTgt spid="11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wipe(right)">
                                      <p:cBhvr>
                                        <p:cTn id="11" dur="1000"/>
                                        <p:tgtEl>
                                          <p:spTgt spid="114"/>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wipe(left)">
                                      <p:cBhvr>
                                        <p:cTn id="15" dur="1000"/>
                                        <p:tgtEl>
                                          <p:spTgt spid="110"/>
                                        </p:tgtEl>
                                      </p:cBhvr>
                                    </p:animEffect>
                                  </p:childTnLst>
                                </p:cTn>
                              </p:par>
                            </p:childTnLst>
                          </p:cTn>
                        </p:par>
                        <p:par>
                          <p:cTn id="16" fill="hold">
                            <p:stCondLst>
                              <p:cond delay="2500"/>
                            </p:stCondLst>
                            <p:childTnLst>
                              <p:par>
                                <p:cTn id="17" presetID="22" presetClass="entr" presetSubtype="2"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right)">
                                      <p:cBhvr>
                                        <p:cTn id="1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bldLvl="0" animBg="1"/>
      <p:bldP spid="110" grpId="0" bldLvl="0" animBg="1"/>
      <p:bldP spid="1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219075"/>
            <a:ext cx="5153660" cy="627380"/>
            <a:chOff x="-372" y="345"/>
            <a:chExt cx="8116" cy="988"/>
          </a:xfrm>
        </p:grpSpPr>
        <p:sp>
          <p:nvSpPr>
            <p:cNvPr id="28" name="矩形 27"/>
            <p:cNvSpPr/>
            <p:nvPr/>
          </p:nvSpPr>
          <p:spPr>
            <a:xfrm>
              <a:off x="443" y="824"/>
              <a:ext cx="6313" cy="509"/>
            </a:xfrm>
            <a:prstGeom prst="rect">
              <a:avLst/>
            </a:prstGeom>
          </p:spPr>
          <p:txBody>
            <a:bodyPr wrap="square">
              <a:spAutoFit/>
            </a:bodyPr>
            <a:lstStyle/>
            <a:p>
              <a:pPr algn="l">
                <a:lnSpc>
                  <a:spcPct val="150000"/>
                </a:lnSpc>
              </a:pPr>
              <a:r>
                <a:rPr lang="zh-CN" altLang="en-US" sz="1000" dirty="0" smtClean="0">
                  <a:solidFill>
                    <a:schemeClr val="tx1"/>
                  </a:solidFill>
                  <a:latin typeface="Arial" panose="020B0604020202020204" pitchFamily="34" charset="0"/>
                  <a:ea typeface="微软雅黑" panose="020B0503020204020204" charset="-122"/>
                  <a:sym typeface="+mn-ea"/>
                </a:rPr>
                <a:t>运动规划的基本概念</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9" name="文本框 28"/>
            <p:cNvSpPr txBox="1"/>
            <p:nvPr/>
          </p:nvSpPr>
          <p:spPr>
            <a:xfrm>
              <a:off x="443" y="363"/>
              <a:ext cx="7301" cy="628"/>
            </a:xfrm>
            <a:prstGeom prst="rect">
              <a:avLst/>
            </a:prstGeom>
            <a:noFill/>
          </p:spPr>
          <p:txBody>
            <a:bodyPr wrap="square" rtlCol="0" anchor="t">
              <a:spAutoFit/>
            </a:bodyPr>
            <a:lstStyle/>
            <a:p>
              <a:pPr algn="l"/>
              <a:r>
                <a:rPr lang="zh-CN" altLang="en-US" sz="2000" b="1" dirty="0">
                  <a:latin typeface="Arial" panose="020B0604020202020204" pitchFamily="34" charset="0"/>
                  <a:ea typeface="微软雅黑" panose="020B0503020204020204" charset="-122"/>
                  <a:sym typeface="+mn-ea"/>
                </a:rPr>
                <a:t>引言</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0" name="椭圆 2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586397" y="1445608"/>
            <a:ext cx="7407325" cy="830997"/>
          </a:xfrm>
          <a:prstGeom prst="rect">
            <a:avLst/>
          </a:prstGeom>
        </p:spPr>
        <p:txBody>
          <a:bodyPr wrap="square">
            <a:spAutoFit/>
          </a:bodyPr>
          <a:lstStyle/>
          <a:p>
            <a:r>
              <a:rPr lang="zh-CN" altLang="en-US" sz="1600" b="1" dirty="0" smtClean="0">
                <a:solidFill>
                  <a:srgbClr val="002060"/>
                </a:solidFill>
              </a:rPr>
              <a:t>目的</a:t>
            </a:r>
            <a:r>
              <a:rPr lang="en-US" altLang="zh-CN" sz="1600" b="1" dirty="0" smtClean="0">
                <a:solidFill>
                  <a:srgbClr val="002060"/>
                </a:solidFill>
              </a:rPr>
              <a:t>(Goals)</a:t>
            </a:r>
            <a:endParaRPr lang="en-US" altLang="zh-CN" sz="1600" b="1" dirty="0">
              <a:solidFill>
                <a:srgbClr val="002060"/>
              </a:solidFill>
            </a:endParaRPr>
          </a:p>
          <a:p>
            <a:r>
              <a:rPr lang="en-US" altLang="zh-CN" sz="1600" dirty="0" smtClean="0">
                <a:solidFill>
                  <a:srgbClr val="002060"/>
                </a:solidFill>
                <a:latin typeface="楷体" panose="02010609060101010101" pitchFamily="49" charset="-122"/>
                <a:ea typeface="楷体" panose="02010609060101010101" pitchFamily="49" charset="-122"/>
              </a:rPr>
              <a:t>★</a:t>
            </a:r>
            <a:r>
              <a:rPr lang="zh-CN" altLang="en-US" sz="1600" dirty="0" smtClean="0">
                <a:solidFill>
                  <a:srgbClr val="002060"/>
                </a:solidFill>
              </a:rPr>
              <a:t>寻找一条无碰轨迹</a:t>
            </a:r>
            <a:r>
              <a:rPr lang="en-US" altLang="zh-CN" sz="1600" dirty="0" smtClean="0">
                <a:solidFill>
                  <a:srgbClr val="002060"/>
                </a:solidFill>
              </a:rPr>
              <a:t>(Collision-free trajectories)</a:t>
            </a:r>
            <a:endParaRPr lang="en-US" altLang="zh-CN" sz="1600" dirty="0">
              <a:solidFill>
                <a:srgbClr val="002060"/>
              </a:solidFill>
            </a:endParaRPr>
          </a:p>
          <a:p>
            <a:r>
              <a:rPr lang="en-US" altLang="zh-CN" sz="1600" dirty="0" smtClean="0">
                <a:solidFill>
                  <a:srgbClr val="002060"/>
                </a:solidFill>
                <a:latin typeface="楷体" panose="02010609060101010101" pitchFamily="49" charset="-122"/>
                <a:ea typeface="楷体" panose="02010609060101010101" pitchFamily="49" charset="-122"/>
              </a:rPr>
              <a:t>★</a:t>
            </a:r>
            <a:r>
              <a:rPr lang="zh-CN" altLang="en-US" sz="1600" dirty="0" smtClean="0">
                <a:solidFill>
                  <a:srgbClr val="002060"/>
                </a:solidFill>
              </a:rPr>
              <a:t>最优轨迹</a:t>
            </a:r>
            <a:r>
              <a:rPr lang="en-US" altLang="zh-CN" sz="1600" dirty="0" smtClean="0">
                <a:solidFill>
                  <a:srgbClr val="002060"/>
                </a:solidFill>
              </a:rPr>
              <a:t>(Ex: Robot </a:t>
            </a:r>
            <a:r>
              <a:rPr lang="en-US" altLang="zh-CN" sz="1600" dirty="0">
                <a:solidFill>
                  <a:srgbClr val="002060"/>
                </a:solidFill>
              </a:rPr>
              <a:t>should reach the goal location as fast as </a:t>
            </a:r>
            <a:r>
              <a:rPr lang="en-US" altLang="zh-CN" sz="1600" dirty="0" smtClean="0">
                <a:solidFill>
                  <a:srgbClr val="002060"/>
                </a:solidFill>
              </a:rPr>
              <a:t>possible?)</a:t>
            </a:r>
            <a:endParaRPr lang="en-US" altLang="zh-CN" sz="1600" dirty="0">
              <a:solidFill>
                <a:srgbClr val="002060"/>
              </a:solidFill>
            </a:endParaRPr>
          </a:p>
        </p:txBody>
      </p:sp>
      <p:sp>
        <p:nvSpPr>
          <p:cNvPr id="14" name="矩形 13"/>
          <p:cNvSpPr/>
          <p:nvPr/>
        </p:nvSpPr>
        <p:spPr>
          <a:xfrm>
            <a:off x="2289234" y="679867"/>
            <a:ext cx="5448535" cy="523220"/>
          </a:xfrm>
          <a:prstGeom prst="rect">
            <a:avLst/>
          </a:prstGeom>
        </p:spPr>
        <p:txBody>
          <a:bodyPr wrap="square">
            <a:spAutoFit/>
          </a:bodyPr>
          <a:lstStyle/>
          <a:p>
            <a:r>
              <a:rPr lang="en-US" altLang="zh-CN" sz="2800" dirty="0" smtClean="0"/>
              <a:t>Introduction-</a:t>
            </a:r>
            <a:r>
              <a:rPr lang="en-US" altLang="zh-CN" sz="2800" b="1" dirty="0" smtClean="0">
                <a:solidFill>
                  <a:srgbClr val="FF0000"/>
                </a:solidFill>
              </a:rPr>
              <a:t>Problem </a:t>
            </a:r>
            <a:r>
              <a:rPr lang="en-US" altLang="zh-CN" sz="2800" b="1" dirty="0">
                <a:solidFill>
                  <a:srgbClr val="FF0000"/>
                </a:solidFill>
              </a:rPr>
              <a:t>Formulation</a:t>
            </a:r>
            <a:endParaRPr lang="zh-CN" altLang="en-US" sz="2800" b="1" dirty="0">
              <a:solidFill>
                <a:srgbClr val="FF0000"/>
              </a:solidFill>
            </a:endParaRPr>
          </a:p>
        </p:txBody>
      </p:sp>
      <mc:AlternateContent xmlns:mc="http://schemas.openxmlformats.org/markup-compatibility/2006" xmlns:a14="http://schemas.microsoft.com/office/drawing/2010/main">
        <mc:Choice Requires="a14">
          <p:sp>
            <p:nvSpPr>
              <p:cNvPr id="15" name="矩形 14"/>
              <p:cNvSpPr/>
              <p:nvPr/>
            </p:nvSpPr>
            <p:spPr>
              <a:xfrm>
                <a:off x="465677" y="2519127"/>
                <a:ext cx="8485179" cy="2624373"/>
              </a:xfrm>
              <a:prstGeom prst="rect">
                <a:avLst/>
              </a:prstGeom>
            </p:spPr>
            <p:txBody>
              <a:bodyPr wrap="square">
                <a:spAutoFit/>
              </a:bodyPr>
              <a:lstStyle/>
              <a:p>
                <a:pPr marL="285750" indent="-285750">
                  <a:buFont typeface="Wingdings" panose="05000000000000000000" pitchFamily="2" charset="2"/>
                  <a:buChar char="u"/>
                </a:pPr>
                <a:r>
                  <a:rPr lang="en-US" altLang="zh-CN" sz="1800" dirty="0" smtClean="0"/>
                  <a:t>The </a:t>
                </a:r>
                <a:r>
                  <a:rPr lang="en-US" altLang="zh-CN" sz="1800" b="1" dirty="0"/>
                  <a:t>problem of motion planning </a:t>
                </a:r>
                <a:r>
                  <a:rPr lang="en-US" altLang="zh-CN" sz="1800" dirty="0"/>
                  <a:t>can be stated as follows. Given:</a:t>
                </a:r>
              </a:p>
              <a:p>
                <a:pPr marL="742950" lvl="1" indent="-285750">
                  <a:buFont typeface="Wingdings" panose="05000000000000000000" pitchFamily="2" charset="2"/>
                  <a:buChar char="Ø"/>
                </a:pPr>
                <a:r>
                  <a:rPr lang="en-US" altLang="zh-CN" dirty="0" smtClean="0"/>
                  <a:t>A </a:t>
                </a:r>
                <a:r>
                  <a:rPr lang="en-US" altLang="zh-CN" b="1" dirty="0"/>
                  <a:t>start</a:t>
                </a:r>
                <a:r>
                  <a:rPr lang="en-US" altLang="zh-CN" dirty="0"/>
                  <a:t> </a:t>
                </a:r>
                <a:r>
                  <a:rPr lang="en-US" altLang="zh-CN" dirty="0" smtClean="0"/>
                  <a:t>Configuration(pose) </a:t>
                </a:r>
                <a:r>
                  <a:rPr lang="en-US" altLang="zh-CN" dirty="0"/>
                  <a:t>of the robot</a:t>
                </a:r>
              </a:p>
              <a:p>
                <a:pPr marL="742950" lvl="1" indent="-285750">
                  <a:buFont typeface="Wingdings" panose="05000000000000000000" pitchFamily="2" charset="2"/>
                  <a:buChar char="Ø"/>
                </a:pPr>
                <a:r>
                  <a:rPr lang="en-US" altLang="zh-CN" dirty="0" smtClean="0"/>
                  <a:t>A </a:t>
                </a:r>
                <a:r>
                  <a:rPr lang="en-US" altLang="zh-CN" dirty="0"/>
                  <a:t>desired </a:t>
                </a:r>
                <a:r>
                  <a:rPr lang="en-US" altLang="zh-CN" b="1" dirty="0"/>
                  <a:t>goal</a:t>
                </a:r>
                <a:r>
                  <a:rPr lang="en-US" altLang="zh-CN" dirty="0"/>
                  <a:t> </a:t>
                </a:r>
                <a:r>
                  <a:rPr lang="en-US" altLang="zh-CN" dirty="0" smtClean="0"/>
                  <a:t>Configuration(pose)</a:t>
                </a:r>
                <a:endParaRPr lang="en-US" altLang="zh-CN" dirty="0"/>
              </a:p>
              <a:p>
                <a:pPr marL="742950" lvl="1" indent="-285750">
                  <a:buFont typeface="Wingdings" panose="05000000000000000000" pitchFamily="2" charset="2"/>
                  <a:buChar char="Ø"/>
                </a:pPr>
                <a:r>
                  <a:rPr lang="en-US" altLang="zh-CN" dirty="0" smtClean="0"/>
                  <a:t> A </a:t>
                </a:r>
                <a:r>
                  <a:rPr lang="en-US" altLang="zh-CN" dirty="0"/>
                  <a:t>geometric description of the </a:t>
                </a:r>
                <a:r>
                  <a:rPr lang="en-US" altLang="zh-CN" b="1" dirty="0" smtClean="0"/>
                  <a:t>robot /Obstacle</a:t>
                </a:r>
                <a:r>
                  <a:rPr lang="en-US" altLang="zh-CN" dirty="0" smtClean="0"/>
                  <a:t>(</a:t>
                </a:r>
                <a:r>
                  <a:rPr lang="en-US" altLang="zh-CN" dirty="0" err="1" smtClean="0"/>
                  <a:t>rigid?dot</a:t>
                </a:r>
                <a:r>
                  <a:rPr lang="en-US" altLang="zh-CN" dirty="0" smtClean="0"/>
                  <a:t>?)</a:t>
                </a:r>
                <a:endParaRPr lang="en-US" altLang="zh-CN" b="1" dirty="0"/>
              </a:p>
              <a:p>
                <a:pPr marL="742950" lvl="1" indent="-285750">
                  <a:buFont typeface="Wingdings" panose="05000000000000000000" pitchFamily="2" charset="2"/>
                  <a:buChar char="Ø"/>
                </a:pPr>
                <a:r>
                  <a:rPr lang="en-US" altLang="zh-CN" dirty="0" smtClean="0"/>
                  <a:t> A </a:t>
                </a:r>
                <a:r>
                  <a:rPr lang="en-US" altLang="zh-CN" dirty="0"/>
                  <a:t>geometric description of the </a:t>
                </a:r>
                <a:r>
                  <a:rPr lang="en-US" altLang="zh-CN" b="1" dirty="0" smtClean="0"/>
                  <a:t>world (</a:t>
                </a:r>
                <a:r>
                  <a:rPr lang="en-US" altLang="zh-CN" dirty="0" smtClean="0">
                    <a:solidFill>
                      <a:srgbClr val="FF0000"/>
                    </a:solidFill>
                  </a:rPr>
                  <a:t>change</a:t>
                </a:r>
                <a:r>
                  <a:rPr lang="en-US" altLang="zh-CN" b="1" dirty="0" smtClean="0">
                    <a:solidFill>
                      <a:srgbClr val="FF0000"/>
                    </a:solidFill>
                  </a:rPr>
                  <a:t> </a:t>
                </a:r>
                <a:r>
                  <a:rPr lang="en-US" altLang="zh-CN" dirty="0" smtClean="0">
                    <a:solidFill>
                      <a:srgbClr val="FF0000"/>
                    </a:solidFill>
                  </a:rPr>
                  <a:t>to</a:t>
                </a:r>
                <a:r>
                  <a:rPr lang="en-US" altLang="zh-CN" b="1" dirty="0" smtClean="0">
                    <a:solidFill>
                      <a:srgbClr val="FF0000"/>
                    </a:solidFill>
                  </a:rPr>
                  <a:t> </a:t>
                </a:r>
                <a:r>
                  <a:rPr lang="en-US" altLang="zh-CN" dirty="0" smtClean="0">
                    <a:solidFill>
                      <a:srgbClr val="FF0000"/>
                    </a:solidFill>
                  </a:rPr>
                  <a:t>C-space </a:t>
                </a:r>
                <a14:m>
                  <m:oMath xmlns:m="http://schemas.openxmlformats.org/officeDocument/2006/math">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𝐶</m:t>
                        </m:r>
                      </m:e>
                      <m:sub>
                        <m:r>
                          <a:rPr lang="en-US" altLang="zh-CN" i="1">
                            <a:solidFill>
                              <a:srgbClr val="FF0000"/>
                            </a:solidFill>
                            <a:latin typeface="Cambria Math" panose="02040503050406030204" pitchFamily="18" charset="0"/>
                          </a:rPr>
                          <m:t>𝑜𝑏𝑠</m:t>
                        </m:r>
                      </m:sub>
                    </m:sSub>
                  </m:oMath>
                </a14:m>
                <a:r>
                  <a:rPr lang="en-US" altLang="zh-CN" b="1" dirty="0" smtClean="0">
                    <a:solidFill>
                      <a:srgbClr val="FF0000"/>
                    </a:solidFill>
                  </a:rPr>
                  <a:t> </a:t>
                </a:r>
                <a14:m>
                  <m:oMath xmlns:m="http://schemas.openxmlformats.org/officeDocument/2006/math">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𝐶</m:t>
                        </m:r>
                      </m:e>
                      <m:sub>
                        <m:r>
                          <a:rPr lang="en-US" altLang="zh-CN" i="1">
                            <a:solidFill>
                              <a:srgbClr val="FF0000"/>
                            </a:solidFill>
                            <a:latin typeface="Cambria Math" panose="02040503050406030204" pitchFamily="18" charset="0"/>
                          </a:rPr>
                          <m:t>𝑓𝑟𝑒𝑒</m:t>
                        </m:r>
                      </m:sub>
                    </m:sSub>
                  </m:oMath>
                </a14:m>
                <a:r>
                  <a:rPr lang="en-US" altLang="zh-CN" b="1" dirty="0" smtClean="0"/>
                  <a:t>)</a:t>
                </a:r>
                <a:endParaRPr lang="en-US" altLang="zh-CN" b="1" dirty="0"/>
              </a:p>
              <a:p>
                <a:pPr marL="742950" lvl="1" indent="-285750">
                  <a:buFont typeface="Wingdings" panose="05000000000000000000" pitchFamily="2" charset="2"/>
                  <a:buChar char="Ø"/>
                </a:pPr>
                <a:r>
                  <a:rPr lang="en-US" altLang="zh-CN" dirty="0" smtClean="0"/>
                  <a:t>Find </a:t>
                </a:r>
                <a:r>
                  <a:rPr lang="en-US" altLang="zh-CN" dirty="0"/>
                  <a:t>a path that moves the robot gradually from </a:t>
                </a:r>
                <a:r>
                  <a:rPr lang="en-US" altLang="zh-CN" b="1" dirty="0"/>
                  <a:t>start</a:t>
                </a:r>
                <a:r>
                  <a:rPr lang="en-US" altLang="zh-CN" dirty="0"/>
                  <a:t> to </a:t>
                </a:r>
                <a:r>
                  <a:rPr lang="en-US" altLang="zh-CN" b="1" dirty="0"/>
                  <a:t>goal</a:t>
                </a:r>
                <a:r>
                  <a:rPr lang="en-US" altLang="zh-CN" dirty="0"/>
                  <a:t> while </a:t>
                </a:r>
                <a:r>
                  <a:rPr lang="en-US" altLang="zh-CN" dirty="0">
                    <a:solidFill>
                      <a:srgbClr val="FF0000"/>
                    </a:solidFill>
                  </a:rPr>
                  <a:t>never touching </a:t>
                </a:r>
                <a:r>
                  <a:rPr lang="en-US" altLang="zh-CN" dirty="0"/>
                  <a:t>any </a:t>
                </a:r>
                <a:r>
                  <a:rPr lang="en-US" altLang="zh-CN" b="1" dirty="0" smtClean="0"/>
                  <a:t>obstacle</a:t>
                </a:r>
              </a:p>
              <a:p>
                <a:pPr marL="742950" lvl="1" indent="-285750">
                  <a:buFont typeface="Wingdings" panose="05000000000000000000" pitchFamily="2" charset="2"/>
                  <a:buChar char="Ø"/>
                </a:pPr>
                <a:r>
                  <a:rPr lang="en-US" altLang="zh-CN" b="1" dirty="0" smtClean="0"/>
                  <a:t>Planning the configuration</a:t>
                </a:r>
                <a14:m>
                  <m:oMath xmlns:m="http://schemas.openxmlformats.org/officeDocument/2006/math">
                    <m:r>
                      <a:rPr lang="en-US" altLang="zh-CN" i="1">
                        <a:latin typeface="Cambria Math" panose="02040503050406030204" pitchFamily="18" charset="0"/>
                      </a:rPr>
                      <m:t>𝜃</m:t>
                    </m:r>
                    <m:d>
                      <m:dPr>
                        <m:ctrlPr>
                          <a:rPr lang="zh-CN" altLang="zh-CN" i="1">
                            <a:latin typeface="Cambria Math" panose="02040503050406030204" pitchFamily="18" charset="0"/>
                          </a:rPr>
                        </m:ctrlPr>
                      </m:dPr>
                      <m:e>
                        <m:r>
                          <a:rPr lang="en-US" altLang="zh-CN" i="1">
                            <a:latin typeface="Cambria Math" panose="02040503050406030204" pitchFamily="18" charset="0"/>
                          </a:rPr>
                          <m:t>𝑡</m:t>
                        </m:r>
                      </m:e>
                    </m:d>
                  </m:oMath>
                </a14:m>
                <a:r>
                  <a:rPr lang="zh-CN" altLang="en-US" b="1" dirty="0" smtClean="0"/>
                  <a:t>、</a:t>
                </a:r>
                <a:r>
                  <a:rPr lang="en-US" altLang="zh-CN" b="1" dirty="0" smtClean="0"/>
                  <a:t> velocity</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𝜃</m:t>
                        </m:r>
                      </m:e>
                    </m:acc>
                    <m:d>
                      <m:dPr>
                        <m:ctrlPr>
                          <a:rPr lang="zh-CN" altLang="zh-CN" i="1">
                            <a:latin typeface="Cambria Math" panose="02040503050406030204" pitchFamily="18" charset="0"/>
                          </a:rPr>
                        </m:ctrlPr>
                      </m:dPr>
                      <m:e>
                        <m:r>
                          <a:rPr lang="en-US" altLang="zh-CN" i="1">
                            <a:latin typeface="Cambria Math" panose="02040503050406030204" pitchFamily="18" charset="0"/>
                          </a:rPr>
                          <m:t>𝑡</m:t>
                        </m:r>
                      </m:e>
                    </m:d>
                  </m:oMath>
                </a14:m>
                <a:r>
                  <a:rPr lang="zh-CN" altLang="en-US" b="1" dirty="0" smtClean="0"/>
                  <a:t>、</a:t>
                </a:r>
                <a:r>
                  <a:rPr lang="en-US" altLang="zh-CN" b="1" dirty="0" smtClean="0"/>
                  <a:t>Acceleration</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𝜃</m:t>
                        </m:r>
                      </m:e>
                    </m:acc>
                    <m:d>
                      <m:dPr>
                        <m:ctrlPr>
                          <a:rPr lang="zh-CN" altLang="zh-CN" i="1">
                            <a:latin typeface="Cambria Math" panose="02040503050406030204" pitchFamily="18" charset="0"/>
                          </a:rPr>
                        </m:ctrlPr>
                      </m:dPr>
                      <m:e>
                        <m:r>
                          <a:rPr lang="en-US" altLang="zh-CN" i="1">
                            <a:latin typeface="Cambria Math" panose="02040503050406030204" pitchFamily="18" charset="0"/>
                          </a:rPr>
                          <m:t>𝑡</m:t>
                        </m:r>
                      </m:e>
                    </m:d>
                  </m:oMath>
                </a14:m>
                <a:r>
                  <a:rPr lang="en-US" altLang="zh-CN" b="1" dirty="0" smtClean="0"/>
                  <a:t> with time scaling</a:t>
                </a:r>
                <a:endParaRPr lang="en-US" altLang="zh-CN" b="1" dirty="0"/>
              </a:p>
            </p:txBody>
          </p:sp>
        </mc:Choice>
        <mc:Fallback xmlns="">
          <p:sp>
            <p:nvSpPr>
              <p:cNvPr id="15" name="矩形 14"/>
              <p:cNvSpPr>
                <a:spLocks noRot="1" noChangeAspect="1" noMove="1" noResize="1" noEditPoints="1" noAdjustHandles="1" noChangeArrowheads="1" noChangeShapeType="1" noTextEdit="1"/>
              </p:cNvSpPr>
              <p:nvPr/>
            </p:nvSpPr>
            <p:spPr>
              <a:xfrm>
                <a:off x="465677" y="2519127"/>
                <a:ext cx="8485179" cy="2624373"/>
              </a:xfrm>
              <a:prstGeom prst="rect">
                <a:avLst/>
              </a:prstGeom>
              <a:blipFill rotWithShape="1">
                <a:blip r:embed="rId3"/>
                <a:stretch>
                  <a:fillRect l="-3" t="-3" r="6"/>
                </a:stretch>
              </a:blipFill>
            </p:spPr>
            <p:txBody>
              <a:bodyPr/>
              <a:lstStyle/>
              <a:p>
                <a:r>
                  <a:rPr lang="zh-CN" altLang="en-US">
                    <a:noFill/>
                  </a:rPr>
                  <a:t> </a:t>
                </a:r>
              </a:p>
            </p:txBody>
          </p:sp>
        </mc:Fallback>
      </mc:AlternateContent>
      <p:cxnSp>
        <p:nvCxnSpPr>
          <p:cNvPr id="5" name="直接连接符 4"/>
          <p:cNvCxnSpPr/>
          <p:nvPr/>
        </p:nvCxnSpPr>
        <p:spPr>
          <a:xfrm>
            <a:off x="395536" y="1203087"/>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219075"/>
            <a:ext cx="5153660" cy="627380"/>
            <a:chOff x="-372" y="345"/>
            <a:chExt cx="8116" cy="988"/>
          </a:xfrm>
        </p:grpSpPr>
        <p:sp>
          <p:nvSpPr>
            <p:cNvPr id="28" name="矩形 27"/>
            <p:cNvSpPr/>
            <p:nvPr/>
          </p:nvSpPr>
          <p:spPr>
            <a:xfrm>
              <a:off x="443" y="824"/>
              <a:ext cx="6313" cy="509"/>
            </a:xfrm>
            <a:prstGeom prst="rect">
              <a:avLst/>
            </a:prstGeom>
          </p:spPr>
          <p:txBody>
            <a:bodyPr wrap="square">
              <a:spAutoFit/>
            </a:bodyPr>
            <a:lstStyle/>
            <a:p>
              <a:pPr algn="l">
                <a:lnSpc>
                  <a:spcPct val="150000"/>
                </a:lnSpc>
              </a:pPr>
              <a:r>
                <a:rPr lang="zh-CN" altLang="en-US" sz="1000" dirty="0" smtClean="0">
                  <a:solidFill>
                    <a:schemeClr val="tx1"/>
                  </a:solidFill>
                  <a:latin typeface="Arial" panose="020B0604020202020204" pitchFamily="34" charset="0"/>
                  <a:ea typeface="微软雅黑" panose="020B0503020204020204" charset="-122"/>
                  <a:sym typeface="+mn-ea"/>
                </a:rPr>
                <a:t>运动规划的基本概念</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9" name="文本框 28"/>
            <p:cNvSpPr txBox="1"/>
            <p:nvPr/>
          </p:nvSpPr>
          <p:spPr>
            <a:xfrm>
              <a:off x="443" y="363"/>
              <a:ext cx="7301" cy="628"/>
            </a:xfrm>
            <a:prstGeom prst="rect">
              <a:avLst/>
            </a:prstGeom>
            <a:noFill/>
          </p:spPr>
          <p:txBody>
            <a:bodyPr wrap="square" rtlCol="0" anchor="t">
              <a:spAutoFit/>
            </a:bodyPr>
            <a:lstStyle/>
            <a:p>
              <a:pPr algn="l"/>
              <a:r>
                <a:rPr lang="zh-CN" altLang="en-US" sz="2000" b="1" dirty="0">
                  <a:latin typeface="Arial" panose="020B0604020202020204" pitchFamily="34" charset="0"/>
                  <a:ea typeface="微软雅黑" panose="020B0503020204020204" charset="-122"/>
                  <a:sym typeface="+mn-ea"/>
                </a:rPr>
                <a:t>引言</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0" name="椭圆 2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p:nvSpPr>
        <p:spPr>
          <a:xfrm>
            <a:off x="2289234" y="679867"/>
            <a:ext cx="5448535" cy="523220"/>
          </a:xfrm>
          <a:prstGeom prst="rect">
            <a:avLst/>
          </a:prstGeom>
        </p:spPr>
        <p:txBody>
          <a:bodyPr wrap="square">
            <a:spAutoFit/>
          </a:bodyPr>
          <a:lstStyle/>
          <a:p>
            <a:r>
              <a:rPr lang="en-US" altLang="zh-CN" sz="2800" dirty="0" smtClean="0"/>
              <a:t>Introduction-</a:t>
            </a:r>
            <a:r>
              <a:rPr lang="en-US" altLang="zh-CN" sz="2800" b="1" dirty="0" smtClean="0">
                <a:solidFill>
                  <a:srgbClr val="FF0000"/>
                </a:solidFill>
              </a:rPr>
              <a:t>Problem </a:t>
            </a:r>
            <a:r>
              <a:rPr lang="en-US" altLang="zh-CN" sz="2800" b="1" dirty="0">
                <a:solidFill>
                  <a:srgbClr val="FF0000"/>
                </a:solidFill>
              </a:rPr>
              <a:t>Formulation</a:t>
            </a:r>
            <a:endParaRPr lang="zh-CN" altLang="en-US" sz="2800" b="1" dirty="0">
              <a:solidFill>
                <a:srgbClr val="FF0000"/>
              </a:solidFill>
            </a:endParaRPr>
          </a:p>
        </p:txBody>
      </p:sp>
      <p:cxnSp>
        <p:nvCxnSpPr>
          <p:cNvPr id="5" name="直接连接符 4"/>
          <p:cNvCxnSpPr/>
          <p:nvPr/>
        </p:nvCxnSpPr>
        <p:spPr>
          <a:xfrm>
            <a:off x="395536" y="1203087"/>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3500" y="1347614"/>
            <a:ext cx="162877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0230" y="1347614"/>
            <a:ext cx="162877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0072" y="1393483"/>
            <a:ext cx="2558974" cy="125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0479" y="2778819"/>
            <a:ext cx="524827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1331640" y="4638714"/>
            <a:ext cx="6609724" cy="369332"/>
          </a:xfrm>
          <a:prstGeom prst="rect">
            <a:avLst/>
          </a:prstGeom>
        </p:spPr>
        <p:txBody>
          <a:bodyPr wrap="square">
            <a:spAutoFit/>
          </a:bodyPr>
          <a:lstStyle/>
          <a:p>
            <a:r>
              <a:rPr lang="en-US" altLang="zh-CN" dirty="0"/>
              <a:t>Motion planning is sometimes also called </a:t>
            </a:r>
            <a:r>
              <a:rPr lang="en-US" altLang="zh-CN" b="1" dirty="0"/>
              <a:t>piano mover's problem </a:t>
            </a:r>
            <a:endParaRPr lang="zh-CN" altLang="en-US" b="1" dirty="0"/>
          </a:p>
        </p:txBody>
      </p:sp>
      <p:sp>
        <p:nvSpPr>
          <p:cNvPr id="18" name="矩形 17"/>
          <p:cNvSpPr/>
          <p:nvPr/>
        </p:nvSpPr>
        <p:spPr>
          <a:xfrm>
            <a:off x="6660232" y="3063948"/>
            <a:ext cx="1693220" cy="307777"/>
          </a:xfrm>
          <a:prstGeom prst="rect">
            <a:avLst/>
          </a:prstGeom>
        </p:spPr>
        <p:txBody>
          <a:bodyPr wrap="none">
            <a:spAutoFit/>
          </a:bodyPr>
          <a:lstStyle/>
          <a:p>
            <a:r>
              <a:rPr lang="en-US" altLang="zh-CN" b="1" dirty="0">
                <a:solidFill>
                  <a:srgbClr val="FF0000"/>
                </a:solidFill>
              </a:rPr>
              <a:t>navigation </a:t>
            </a:r>
            <a:r>
              <a:rPr lang="en-US" altLang="zh-CN" b="1" dirty="0" smtClean="0">
                <a:solidFill>
                  <a:srgbClr val="FF0000"/>
                </a:solidFill>
              </a:rPr>
              <a:t>problem!</a:t>
            </a:r>
            <a:endParaRPr lang="zh-CN" altLang="en-US"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219075"/>
            <a:ext cx="5153660" cy="627380"/>
            <a:chOff x="-372" y="345"/>
            <a:chExt cx="8116" cy="988"/>
          </a:xfrm>
        </p:grpSpPr>
        <p:sp>
          <p:nvSpPr>
            <p:cNvPr id="28" name="矩形 27"/>
            <p:cNvSpPr/>
            <p:nvPr/>
          </p:nvSpPr>
          <p:spPr>
            <a:xfrm>
              <a:off x="443" y="824"/>
              <a:ext cx="6313" cy="509"/>
            </a:xfrm>
            <a:prstGeom prst="rect">
              <a:avLst/>
            </a:prstGeom>
          </p:spPr>
          <p:txBody>
            <a:bodyPr wrap="square">
              <a:spAutoFit/>
            </a:bodyPr>
            <a:lstStyle/>
            <a:p>
              <a:pPr algn="l">
                <a:lnSpc>
                  <a:spcPct val="150000"/>
                </a:lnSpc>
              </a:pPr>
              <a:r>
                <a:rPr lang="zh-CN" altLang="en-US" sz="1000" dirty="0" smtClean="0">
                  <a:solidFill>
                    <a:schemeClr val="tx1"/>
                  </a:solidFill>
                  <a:latin typeface="Arial" panose="020B0604020202020204" pitchFamily="34" charset="0"/>
                  <a:ea typeface="微软雅黑" panose="020B0503020204020204" charset="-122"/>
                  <a:sym typeface="+mn-ea"/>
                </a:rPr>
                <a:t>运动规划的基本概念</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9" name="文本框 28"/>
            <p:cNvSpPr txBox="1"/>
            <p:nvPr/>
          </p:nvSpPr>
          <p:spPr>
            <a:xfrm>
              <a:off x="443" y="363"/>
              <a:ext cx="7301" cy="628"/>
            </a:xfrm>
            <a:prstGeom prst="rect">
              <a:avLst/>
            </a:prstGeom>
            <a:noFill/>
          </p:spPr>
          <p:txBody>
            <a:bodyPr wrap="square" rtlCol="0" anchor="t">
              <a:spAutoFit/>
            </a:bodyPr>
            <a:lstStyle/>
            <a:p>
              <a:pPr algn="l"/>
              <a:r>
                <a:rPr lang="zh-CN" altLang="en-US" sz="2000" b="1" dirty="0">
                  <a:latin typeface="Arial" panose="020B0604020202020204" pitchFamily="34" charset="0"/>
                  <a:ea typeface="微软雅黑" panose="020B0503020204020204" charset="-122"/>
                  <a:sym typeface="+mn-ea"/>
                </a:rPr>
                <a:t>引言</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0" name="椭圆 2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p:nvSpPr>
        <p:spPr>
          <a:xfrm>
            <a:off x="2411760" y="283568"/>
            <a:ext cx="5448535" cy="523220"/>
          </a:xfrm>
          <a:prstGeom prst="rect">
            <a:avLst/>
          </a:prstGeom>
        </p:spPr>
        <p:txBody>
          <a:bodyPr wrap="square">
            <a:spAutoFit/>
          </a:bodyPr>
          <a:lstStyle/>
          <a:p>
            <a:r>
              <a:rPr lang="en-US" altLang="zh-CN" sz="2800" dirty="0" smtClean="0"/>
              <a:t>Introduction-</a:t>
            </a:r>
            <a:r>
              <a:rPr lang="en-US" altLang="zh-CN" sz="2800" b="1" dirty="0" smtClean="0">
                <a:solidFill>
                  <a:srgbClr val="FF0000"/>
                </a:solidFill>
              </a:rPr>
              <a:t>Problem </a:t>
            </a:r>
            <a:r>
              <a:rPr lang="en-US" altLang="zh-CN" sz="2800" b="1" dirty="0">
                <a:solidFill>
                  <a:srgbClr val="FF0000"/>
                </a:solidFill>
              </a:rPr>
              <a:t>Formulation</a:t>
            </a:r>
            <a:endParaRPr lang="zh-CN" altLang="en-US" sz="2800" b="1" dirty="0">
              <a:solidFill>
                <a:srgbClr val="FF0000"/>
              </a:solidFill>
            </a:endParaRPr>
          </a:p>
        </p:txBody>
      </p:sp>
      <p:cxnSp>
        <p:nvCxnSpPr>
          <p:cNvPr id="5" name="直接连接符 4"/>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Rectangle 3"/>
          <p:cNvSpPr>
            <a:spLocks noGrp="1" noChangeArrowheads="1"/>
          </p:cNvSpPr>
          <p:nvPr/>
        </p:nvSpPr>
        <p:spPr bwMode="auto">
          <a:xfrm>
            <a:off x="281305" y="953388"/>
            <a:ext cx="8467159" cy="4011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9pPr>
          </a:lstStyle>
          <a:p>
            <a:pPr>
              <a:lnSpc>
                <a:spcPct val="80000"/>
              </a:lnSpc>
            </a:pPr>
            <a:r>
              <a:rPr lang="en-US" altLang="zh-CN" sz="1600" b="1" dirty="0">
                <a:solidFill>
                  <a:schemeClr val="accent1"/>
                </a:solidFill>
                <a:latin typeface="Times New Roman" panose="02020603050405020304" pitchFamily="18" charset="0"/>
                <a:cs typeface="Times New Roman" panose="02020603050405020304" pitchFamily="18" charset="0"/>
              </a:rPr>
              <a:t>Path planning</a:t>
            </a:r>
          </a:p>
          <a:p>
            <a:pPr lvl="1">
              <a:lnSpc>
                <a:spcPct val="80000"/>
              </a:lnSpc>
              <a:buFont typeface="Wingdings" panose="05000000000000000000" pitchFamily="2" charset="2"/>
              <a:buChar char="Ø"/>
            </a:pPr>
            <a:r>
              <a:rPr lang="zh-CN" altLang="zh-CN" sz="1200" dirty="0" smtClean="0"/>
              <a:t>所谓</a:t>
            </a:r>
            <a:r>
              <a:rPr lang="zh-CN" altLang="zh-CN" sz="1200" dirty="0"/>
              <a:t>机器人</a:t>
            </a:r>
            <a:r>
              <a:rPr lang="zh-CN" altLang="zh-CN" sz="1200" b="1" dirty="0">
                <a:solidFill>
                  <a:srgbClr val="002060"/>
                </a:solidFill>
              </a:rPr>
              <a:t>路径</a:t>
            </a:r>
            <a:r>
              <a:rPr lang="zh-CN" altLang="zh-CN" sz="1200" dirty="0"/>
              <a:t>，指机器人从初始位形到目标位形的位形序列，它只是在纯几何尺度上描述这个位形</a:t>
            </a:r>
            <a:r>
              <a:rPr lang="zh-CN" altLang="zh-CN" sz="1200" dirty="0" smtClean="0"/>
              <a:t>序列</a:t>
            </a:r>
            <a:r>
              <a:rPr lang="zh-CN" altLang="en-US" sz="1200" dirty="0" smtClean="0"/>
              <a:t>。</a:t>
            </a:r>
            <a:endParaRPr lang="en-US" altLang="zh-CN" sz="1200" dirty="0" smtClean="0"/>
          </a:p>
          <a:p>
            <a:pPr lvl="1">
              <a:lnSpc>
                <a:spcPct val="80000"/>
              </a:lnSpc>
              <a:buFont typeface="Wingdings" panose="05000000000000000000" pitchFamily="2" charset="2"/>
              <a:buChar char="Ø"/>
            </a:pPr>
            <a:endParaRPr lang="en-US" altLang="zh-CN" sz="800" dirty="0" smtClean="0"/>
          </a:p>
          <a:p>
            <a:pPr lvl="1">
              <a:buFont typeface="Wingdings" panose="05000000000000000000" pitchFamily="2" charset="2"/>
              <a:buChar char="Ø"/>
            </a:pPr>
            <a:r>
              <a:rPr lang="zh-CN" altLang="zh-CN" sz="1200" dirty="0" smtClean="0"/>
              <a:t>计算</a:t>
            </a:r>
            <a:r>
              <a:rPr lang="zh-CN" altLang="zh-CN" sz="1200" dirty="0"/>
              <a:t>这个路径的策略称之为</a:t>
            </a:r>
            <a:r>
              <a:rPr lang="zh-CN" altLang="zh-CN" sz="1200" b="1" dirty="0">
                <a:solidFill>
                  <a:srgbClr val="002060"/>
                </a:solidFill>
              </a:rPr>
              <a:t>路径规划</a:t>
            </a:r>
            <a:r>
              <a:rPr lang="en-US" altLang="zh-CN" sz="1200" dirty="0"/>
              <a:t>(path planning)</a:t>
            </a:r>
            <a:r>
              <a:rPr lang="zh-CN" altLang="zh-CN" sz="1200" dirty="0"/>
              <a:t>。机器人的路径规划问题被描述成，已知机器人的几何描述与环境（机器人工作空间以及障碍物），求解机器人从初始位形运动到目标位形的一条路径，同时机器人在运动的过程中不会碰到任何障碍</a:t>
            </a:r>
            <a:r>
              <a:rPr lang="zh-CN" altLang="zh-CN" sz="1200" dirty="0" smtClean="0"/>
              <a:t>。</a:t>
            </a:r>
            <a:endParaRPr lang="en-US" altLang="zh-CN" sz="800" dirty="0">
              <a:latin typeface="Times New Roman" panose="02020603050405020304" pitchFamily="18" charset="0"/>
              <a:cs typeface="Times New Roman" panose="02020603050405020304" pitchFamily="18" charset="0"/>
            </a:endParaRPr>
          </a:p>
          <a:p>
            <a:pPr>
              <a:lnSpc>
                <a:spcPct val="80000"/>
              </a:lnSpc>
            </a:pPr>
            <a:r>
              <a:rPr lang="en-US" altLang="zh-CN" sz="1600" b="1" dirty="0">
                <a:latin typeface="Times New Roman" panose="02020603050405020304" pitchFamily="18" charset="0"/>
                <a:cs typeface="Times New Roman" panose="02020603050405020304" pitchFamily="18" charset="0"/>
              </a:rPr>
              <a:t>Trajectory = Path</a:t>
            </a:r>
            <a:r>
              <a:rPr lang="en-US" altLang="zh-CN" sz="1600" i="1" dirty="0">
                <a:latin typeface="Times New Roman" panose="02020603050405020304" pitchFamily="18" charset="0"/>
                <a:cs typeface="Times New Roman" panose="02020603050405020304" pitchFamily="18" charset="0"/>
              </a:rPr>
              <a:t> + </a:t>
            </a:r>
            <a:r>
              <a:rPr lang="en-US" altLang="zh-CN" sz="1600" dirty="0">
                <a:latin typeface="Times New Roman" panose="02020603050405020304" pitchFamily="18" charset="0"/>
                <a:cs typeface="Times New Roman" panose="02020603050405020304" pitchFamily="18" charset="0"/>
              </a:rPr>
              <a:t>assignment of </a:t>
            </a:r>
            <a:r>
              <a:rPr lang="en-US" altLang="zh-CN" sz="1600" b="1" dirty="0">
                <a:latin typeface="Times New Roman" panose="02020603050405020304" pitchFamily="18" charset="0"/>
                <a:cs typeface="Times New Roman" panose="02020603050405020304" pitchFamily="18" charset="0"/>
              </a:rPr>
              <a:t>time </a:t>
            </a:r>
            <a:r>
              <a:rPr lang="en-US" altLang="zh-CN" sz="1600" dirty="0">
                <a:latin typeface="Times New Roman" panose="02020603050405020304" pitchFamily="18" charset="0"/>
                <a:cs typeface="Times New Roman" panose="02020603050405020304" pitchFamily="18" charset="0"/>
              </a:rPr>
              <a:t>to points along the </a:t>
            </a:r>
            <a:r>
              <a:rPr lang="en-US" altLang="zh-CN" sz="1600" dirty="0" smtClean="0">
                <a:latin typeface="Times New Roman" panose="02020603050405020304" pitchFamily="18" charset="0"/>
                <a:cs typeface="Times New Roman" panose="02020603050405020304" pitchFamily="18" charset="0"/>
              </a:rPr>
              <a:t>path</a:t>
            </a:r>
          </a:p>
          <a:p>
            <a:pPr lvl="1">
              <a:buFont typeface="Wingdings" panose="05000000000000000000" pitchFamily="2" charset="2"/>
              <a:buChar char="Ø"/>
            </a:pPr>
            <a:r>
              <a:rPr lang="zh-CN" altLang="en-US" sz="1200" dirty="0">
                <a:latin typeface="Times New Roman" panose="02020603050405020304" pitchFamily="18" charset="0"/>
                <a:cs typeface="Times New Roman" panose="02020603050405020304" pitchFamily="18" charset="0"/>
              </a:rPr>
              <a:t>轨迹则是指机器人从初始位形到目标位形的位形序列和时间标度</a:t>
            </a:r>
            <a:r>
              <a:rPr lang="en-US" altLang="zh-CN" sz="1200" dirty="0">
                <a:latin typeface="Times New Roman" panose="02020603050405020304" pitchFamily="18" charset="0"/>
                <a:cs typeface="Times New Roman" panose="02020603050405020304" pitchFamily="18" charset="0"/>
              </a:rPr>
              <a:t>(time scaling)</a:t>
            </a:r>
            <a:r>
              <a:rPr lang="zh-CN" altLang="en-US" sz="1200" dirty="0">
                <a:latin typeface="Times New Roman" panose="02020603050405020304" pitchFamily="18" charset="0"/>
                <a:cs typeface="Times New Roman" panose="02020603050405020304" pitchFamily="18" charset="0"/>
              </a:rPr>
              <a:t>的组合，不仅包含几何尺度的描述，还包含时间约束</a:t>
            </a:r>
            <a:r>
              <a:rPr lang="zh-CN" altLang="en-US" sz="1200" dirty="0" smtClean="0">
                <a:latin typeface="Times New Roman" panose="02020603050405020304" pitchFamily="18" charset="0"/>
                <a:cs typeface="Times New Roman" panose="02020603050405020304" pitchFamily="18" charset="0"/>
              </a:rPr>
              <a:t>。</a:t>
            </a:r>
            <a:endParaRPr lang="en-US" altLang="zh-CN" sz="800" dirty="0">
              <a:latin typeface="Times New Roman" panose="02020603050405020304" pitchFamily="18" charset="0"/>
              <a:cs typeface="Times New Roman" panose="02020603050405020304" pitchFamily="18" charset="0"/>
            </a:endParaRPr>
          </a:p>
          <a:p>
            <a:pPr>
              <a:lnSpc>
                <a:spcPct val="80000"/>
              </a:lnSpc>
            </a:pPr>
            <a:r>
              <a:rPr lang="en-US" altLang="zh-CN" sz="1600" b="1" dirty="0">
                <a:solidFill>
                  <a:schemeClr val="accent1"/>
                </a:solidFill>
                <a:latin typeface="Times New Roman" panose="02020603050405020304" pitchFamily="18" charset="0"/>
                <a:cs typeface="Times New Roman" panose="02020603050405020304" pitchFamily="18" charset="0"/>
              </a:rPr>
              <a:t>Trajectory planning</a:t>
            </a:r>
          </a:p>
          <a:p>
            <a:pPr>
              <a:lnSpc>
                <a:spcPct val="80000"/>
              </a:lnSpc>
              <a:buFont typeface="Wingdings" panose="05000000000000000000" pitchFamily="2" charset="2"/>
              <a:buNone/>
            </a:pPr>
            <a:r>
              <a:rPr lang="en-US" altLang="zh-CN" sz="1600" b="1" dirty="0">
                <a:latin typeface="Times New Roman" panose="02020603050405020304" pitchFamily="18" charset="0"/>
                <a:cs typeface="Times New Roman" panose="02020603050405020304" pitchFamily="18" charset="0"/>
              </a:rPr>
              <a:t>      path planning</a:t>
            </a:r>
            <a:r>
              <a:rPr lang="en-US" altLang="zh-CN" sz="1600" dirty="0">
                <a:latin typeface="Times New Roman" panose="02020603050405020304" pitchFamily="18" charset="0"/>
                <a:cs typeface="Times New Roman" panose="02020603050405020304" pitchFamily="18" charset="0"/>
              </a:rPr>
              <a:t> + design of </a:t>
            </a:r>
            <a:r>
              <a:rPr lang="en-US" altLang="zh-CN" sz="1600" b="1" dirty="0">
                <a:latin typeface="Times New Roman" panose="02020603050405020304" pitchFamily="18" charset="0"/>
                <a:cs typeface="Times New Roman" panose="02020603050405020304" pitchFamily="18" charset="0"/>
              </a:rPr>
              <a:t>linear</a:t>
            </a:r>
            <a:r>
              <a:rPr lang="en-US" altLang="zh-CN" sz="1600" dirty="0">
                <a:latin typeface="Times New Roman" panose="02020603050405020304" pitchFamily="18" charset="0"/>
                <a:cs typeface="Times New Roman" panose="02020603050405020304" pitchFamily="18" charset="0"/>
              </a:rPr>
              <a:t> and </a:t>
            </a:r>
            <a:r>
              <a:rPr lang="en-US" altLang="zh-CN" sz="1600" b="1" dirty="0">
                <a:latin typeface="Times New Roman" panose="02020603050405020304" pitchFamily="18" charset="0"/>
                <a:cs typeface="Times New Roman" panose="02020603050405020304" pitchFamily="18" charset="0"/>
              </a:rPr>
              <a:t>angular</a:t>
            </a:r>
            <a:r>
              <a:rPr lang="en-US" altLang="zh-CN" sz="1600" dirty="0">
                <a:latin typeface="Times New Roman" panose="02020603050405020304" pitchFamily="18" charset="0"/>
                <a:cs typeface="Times New Roman" panose="02020603050405020304" pitchFamily="18" charset="0"/>
              </a:rPr>
              <a:t> </a:t>
            </a:r>
            <a:r>
              <a:rPr lang="en-US" altLang="zh-CN" sz="1600" b="1" dirty="0" smtClean="0">
                <a:latin typeface="Times New Roman" panose="02020603050405020304" pitchFamily="18" charset="0"/>
                <a:cs typeface="Times New Roman" panose="02020603050405020304" pitchFamily="18" charset="0"/>
              </a:rPr>
              <a:t>velocities(also acceleration)</a:t>
            </a:r>
          </a:p>
          <a:p>
            <a:pPr lvl="1">
              <a:buFont typeface="Wingdings" panose="05000000000000000000" pitchFamily="2" charset="2"/>
              <a:buChar char="Ø"/>
            </a:pPr>
            <a:r>
              <a:rPr lang="zh-CN" altLang="en-US" sz="1200" b="1" dirty="0">
                <a:solidFill>
                  <a:srgbClr val="002060"/>
                </a:solidFill>
                <a:latin typeface="Times New Roman" panose="02020603050405020304" pitchFamily="18" charset="0"/>
                <a:cs typeface="Times New Roman" panose="02020603050405020304" pitchFamily="18" charset="0"/>
              </a:rPr>
              <a:t>轨迹</a:t>
            </a:r>
            <a:r>
              <a:rPr lang="zh-CN" altLang="en-US" sz="1200" dirty="0">
                <a:latin typeface="Times New Roman" panose="02020603050405020304" pitchFamily="18" charset="0"/>
                <a:cs typeface="Times New Roman" panose="02020603050405020304" pitchFamily="18" charset="0"/>
              </a:rPr>
              <a:t>则是指机器人从初始位形到目标位形的位形序列和时间标度</a:t>
            </a:r>
            <a:r>
              <a:rPr lang="en-US" altLang="zh-CN" sz="1200" dirty="0">
                <a:latin typeface="Times New Roman" panose="02020603050405020304" pitchFamily="18" charset="0"/>
                <a:cs typeface="Times New Roman" panose="02020603050405020304" pitchFamily="18" charset="0"/>
              </a:rPr>
              <a:t>(time scaling)</a:t>
            </a:r>
            <a:r>
              <a:rPr lang="zh-CN" altLang="en-US" sz="1200" dirty="0">
                <a:latin typeface="Times New Roman" panose="02020603050405020304" pitchFamily="18" charset="0"/>
                <a:cs typeface="Times New Roman" panose="02020603050405020304" pitchFamily="18" charset="0"/>
              </a:rPr>
              <a:t>的组合，不仅包含几何尺度的描述，还包含时间约束</a:t>
            </a:r>
            <a:r>
              <a:rPr lang="zh-CN" altLang="en-US" sz="1200" dirty="0" smtClean="0">
                <a:latin typeface="Times New Roman" panose="02020603050405020304" pitchFamily="18" charset="0"/>
                <a:cs typeface="Times New Roman" panose="02020603050405020304" pitchFamily="18" charset="0"/>
              </a:rPr>
              <a:t>。</a:t>
            </a:r>
            <a:endParaRPr lang="en-US" altLang="zh-CN" sz="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zh-CN" altLang="en-US" sz="1200" b="1" dirty="0" smtClean="0">
                <a:solidFill>
                  <a:srgbClr val="002060"/>
                </a:solidFill>
                <a:latin typeface="Times New Roman" panose="02020603050405020304" pitchFamily="18" charset="0"/>
                <a:cs typeface="Times New Roman" panose="02020603050405020304" pitchFamily="18" charset="0"/>
              </a:rPr>
              <a:t>轨迹</a:t>
            </a:r>
            <a:r>
              <a:rPr lang="zh-CN" altLang="en-US" sz="1200" b="1" dirty="0">
                <a:solidFill>
                  <a:srgbClr val="002060"/>
                </a:solidFill>
                <a:latin typeface="Times New Roman" panose="02020603050405020304" pitchFamily="18" charset="0"/>
                <a:cs typeface="Times New Roman" panose="02020603050405020304" pitchFamily="18" charset="0"/>
              </a:rPr>
              <a:t>规划</a:t>
            </a:r>
            <a:r>
              <a:rPr lang="zh-CN" altLang="en-US" sz="1200" dirty="0">
                <a:latin typeface="Times New Roman" panose="02020603050405020304" pitchFamily="18" charset="0"/>
                <a:cs typeface="Times New Roman" panose="02020603050405020304" pitchFamily="18" charset="0"/>
              </a:rPr>
              <a:t>表示为针对机器人以某种前向速度（包括加速度）从初始位形运动到目标位形的路径求解，并且加入了时间约束。</a:t>
            </a:r>
            <a:endParaRPr lang="en-US" altLang="zh-CN" sz="1200" dirty="0">
              <a:latin typeface="Times New Roman" panose="02020603050405020304" pitchFamily="18" charset="0"/>
              <a:cs typeface="Times New Roman" panose="02020603050405020304" pitchFamily="18" charset="0"/>
            </a:endParaRPr>
          </a:p>
          <a:p>
            <a:pPr>
              <a:lnSpc>
                <a:spcPct val="80000"/>
              </a:lnSpc>
            </a:pPr>
            <a:r>
              <a:rPr lang="en-US" altLang="zh-CN" sz="1600" b="1" dirty="0">
                <a:solidFill>
                  <a:schemeClr val="accent1"/>
                </a:solidFill>
                <a:latin typeface="Times New Roman" panose="02020603050405020304" pitchFamily="18" charset="0"/>
                <a:cs typeface="Times New Roman" panose="02020603050405020304" pitchFamily="18" charset="0"/>
              </a:rPr>
              <a:t>Motion Planning (MP),</a:t>
            </a:r>
            <a:r>
              <a:rPr lang="en-US" altLang="zh-CN" sz="1600" b="1"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 general term, either:</a:t>
            </a:r>
            <a:endParaRPr lang="en-US" altLang="zh-CN" sz="1600" b="1" dirty="0">
              <a:latin typeface="Times New Roman" panose="02020603050405020304" pitchFamily="18" charset="0"/>
              <a:cs typeface="Times New Roman" panose="02020603050405020304" pitchFamily="18" charset="0"/>
            </a:endParaRPr>
          </a:p>
          <a:p>
            <a:pPr lvl="2">
              <a:lnSpc>
                <a:spcPct val="80000"/>
              </a:lnSpc>
            </a:pPr>
            <a:r>
              <a:rPr lang="en-US" altLang="zh-CN" sz="1400" dirty="0">
                <a:latin typeface="Times New Roman" panose="02020603050405020304" pitchFamily="18" charset="0"/>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Path</a:t>
            </a:r>
            <a:r>
              <a:rPr lang="en-US" altLang="zh-CN" sz="1400" dirty="0">
                <a:latin typeface="Times New Roman" panose="02020603050405020304" pitchFamily="18" charset="0"/>
                <a:cs typeface="Times New Roman" panose="02020603050405020304" pitchFamily="18" charset="0"/>
              </a:rPr>
              <a:t> planning, or</a:t>
            </a:r>
          </a:p>
          <a:p>
            <a:pPr lvl="2">
              <a:lnSpc>
                <a:spcPct val="80000"/>
              </a:lnSpc>
            </a:pPr>
            <a:r>
              <a:rPr lang="en-US" altLang="zh-CN" sz="1400" b="1" dirty="0">
                <a:latin typeface="Times New Roman" panose="02020603050405020304" pitchFamily="18" charset="0"/>
                <a:cs typeface="Times New Roman" panose="02020603050405020304" pitchFamily="18" charset="0"/>
              </a:rPr>
              <a:t> Trajectory</a:t>
            </a:r>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planning</a:t>
            </a:r>
            <a:endParaRPr lang="en-US" altLang="zh-CN" sz="1800" dirty="0">
              <a:latin typeface="Times New Roman" panose="02020603050405020304" pitchFamily="18" charset="0"/>
              <a:cs typeface="Times New Roman" panose="02020603050405020304" pitchFamily="18" charset="0"/>
            </a:endParaRPr>
          </a:p>
          <a:p>
            <a:pPr>
              <a:lnSpc>
                <a:spcPct val="80000"/>
              </a:lnSpc>
            </a:pPr>
            <a:r>
              <a:rPr lang="en-US" altLang="zh-CN" sz="1600" b="1" dirty="0">
                <a:latin typeface="Times New Roman" panose="02020603050405020304" pitchFamily="18" charset="0"/>
                <a:cs typeface="Times New Roman" panose="02020603050405020304" pitchFamily="18" charset="0"/>
              </a:rPr>
              <a:t>Path planning &lt; Trajectory planning</a:t>
            </a:r>
          </a:p>
          <a:p>
            <a:pPr lvl="2">
              <a:lnSpc>
                <a:spcPct val="80000"/>
              </a:lnSpc>
            </a:pPr>
            <a:endParaRPr lang="en-US" altLang="zh-CN" sz="1400" b="1" dirty="0">
              <a:latin typeface="Times New Roman" panose="02020603050405020304" pitchFamily="18" charset="0"/>
              <a:cs typeface="Times New Roman" panose="02020603050405020304" pitchFamily="18" charset="0"/>
            </a:endParaRPr>
          </a:p>
          <a:p>
            <a:pPr>
              <a:lnSpc>
                <a:spcPct val="80000"/>
              </a:lnSpc>
            </a:pP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433100" y="1226057"/>
            <a:ext cx="1701669" cy="1670708"/>
            <a:chOff x="3032012" y="1199038"/>
            <a:chExt cx="2268537" cy="2227263"/>
          </a:xfrm>
          <a:blipFill>
            <a:blip r:embed="rId3"/>
            <a:stretch>
              <a:fillRect/>
            </a:stretch>
          </a:blipFill>
        </p:grpSpPr>
        <p:sp>
          <p:nvSpPr>
            <p:cNvPr id="3" name="椭圆 2"/>
            <p:cNvSpPr/>
            <p:nvPr/>
          </p:nvSpPr>
          <p:spPr bwMode="auto">
            <a:xfrm>
              <a:off x="3032012" y="1199038"/>
              <a:ext cx="2268537" cy="22272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4" name="椭圆 3"/>
            <p:cNvSpPr/>
            <p:nvPr/>
          </p:nvSpPr>
          <p:spPr bwMode="auto">
            <a:xfrm>
              <a:off x="3223594" y="1387313"/>
              <a:ext cx="1885371" cy="18507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grpSp>
        <p:nvGrpSpPr>
          <p:cNvPr id="5" name="组合 4"/>
          <p:cNvGrpSpPr/>
          <p:nvPr/>
        </p:nvGrpSpPr>
        <p:grpSpPr>
          <a:xfrm>
            <a:off x="6009230" y="1084827"/>
            <a:ext cx="1912008" cy="1810375"/>
            <a:chOff x="6754924" y="1199038"/>
            <a:chExt cx="2268537" cy="2227263"/>
          </a:xfrm>
        </p:grpSpPr>
        <p:sp>
          <p:nvSpPr>
            <p:cNvPr id="6" name="椭圆 5"/>
            <p:cNvSpPr/>
            <p:nvPr/>
          </p:nvSpPr>
          <p:spPr bwMode="auto">
            <a:xfrm>
              <a:off x="6754924" y="1199038"/>
              <a:ext cx="2268537" cy="2227263"/>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p>
          </p:txBody>
        </p:sp>
        <p:sp>
          <p:nvSpPr>
            <p:cNvPr id="7" name="椭圆 6"/>
            <p:cNvSpPr/>
            <p:nvPr/>
          </p:nvSpPr>
          <p:spPr bwMode="auto">
            <a:xfrm>
              <a:off x="6902239" y="1345992"/>
              <a:ext cx="1973906" cy="1937619"/>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cxnSp>
        <p:nvCxnSpPr>
          <p:cNvPr id="8" name="直接连接符 7"/>
          <p:cNvCxnSpPr>
            <a:endCxn id="11" idx="1"/>
          </p:cNvCxnSpPr>
          <p:nvPr/>
        </p:nvCxnSpPr>
        <p:spPr bwMode="auto">
          <a:xfrm flipV="1">
            <a:off x="2192883" y="3651601"/>
            <a:ext cx="4303590" cy="13099"/>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bwMode="auto">
          <a:xfrm>
            <a:off x="1790384" y="3389624"/>
            <a:ext cx="1048510"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smtClean="0">
                <a:solidFill>
                  <a:schemeClr val="bg1"/>
                </a:solidFill>
                <a:latin typeface="宋体" panose="02010600030101010101" pitchFamily="2" charset="-122"/>
                <a:ea typeface="宋体" panose="02010600030101010101" pitchFamily="2" charset="-122"/>
                <a:sym typeface="+mn-ea"/>
              </a:rPr>
              <a:t>C-Space</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sp>
        <p:nvSpPr>
          <p:cNvPr id="10" name="圆角矩形 9"/>
          <p:cNvSpPr/>
          <p:nvPr/>
        </p:nvSpPr>
        <p:spPr bwMode="auto">
          <a:xfrm>
            <a:off x="3923929" y="3389624"/>
            <a:ext cx="1224136"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a:solidFill>
                  <a:schemeClr val="bg1"/>
                </a:solidFill>
                <a:latin typeface="宋体" panose="02010600030101010101" pitchFamily="2" charset="-122"/>
                <a:ea typeface="宋体" panose="02010600030101010101" pitchFamily="2" charset="-122"/>
                <a:sym typeface="+mn-ea"/>
              </a:rPr>
              <a:t>Trajectory</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sp>
        <p:nvSpPr>
          <p:cNvPr id="11" name="圆角矩形 10"/>
          <p:cNvSpPr/>
          <p:nvPr/>
        </p:nvSpPr>
        <p:spPr bwMode="auto">
          <a:xfrm>
            <a:off x="6496472" y="3408677"/>
            <a:ext cx="1171871" cy="485847"/>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smtClean="0">
                <a:solidFill>
                  <a:schemeClr val="bg1"/>
                </a:solidFill>
                <a:latin typeface="宋体" panose="02010600030101010101" pitchFamily="2" charset="-122"/>
                <a:ea typeface="宋体" panose="02010600030101010101" pitchFamily="2" charset="-122"/>
                <a:sym typeface="+mn-ea"/>
              </a:rPr>
              <a:t>Smoothing</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cxnSp>
        <p:nvCxnSpPr>
          <p:cNvPr id="12" name="直接连接符 11"/>
          <p:cNvCxnSpPr/>
          <p:nvPr/>
        </p:nvCxnSpPr>
        <p:spPr bwMode="auto">
          <a:xfrm flipV="1">
            <a:off x="4553065" y="3021666"/>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3635895" y="1137920"/>
            <a:ext cx="1872209" cy="1757282"/>
            <a:chOff x="4537868" y="829469"/>
            <a:chExt cx="2996729" cy="2941638"/>
          </a:xfrm>
        </p:grpSpPr>
        <p:sp>
          <p:nvSpPr>
            <p:cNvPr id="14" name="椭圆 13"/>
            <p:cNvSpPr/>
            <p:nvPr/>
          </p:nvSpPr>
          <p:spPr bwMode="auto">
            <a:xfrm>
              <a:off x="4537868" y="829469"/>
              <a:ext cx="2996729" cy="2941638"/>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15" name="椭圆 14"/>
            <p:cNvSpPr/>
            <p:nvPr/>
          </p:nvSpPr>
          <p:spPr bwMode="auto">
            <a:xfrm>
              <a:off x="4734827" y="1007346"/>
              <a:ext cx="2611900" cy="2563884"/>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sp>
        <p:nvSpPr>
          <p:cNvPr id="16" name="矩形 15"/>
          <p:cNvSpPr/>
          <p:nvPr/>
        </p:nvSpPr>
        <p:spPr>
          <a:xfrm>
            <a:off x="1497562" y="4000744"/>
            <a:ext cx="1664689" cy="424732"/>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首先是机器人环境的表示方法，即机器人环境</a:t>
            </a:r>
            <a:r>
              <a:rPr lang="zh-CN" altLang="en-US" sz="900" dirty="0" smtClean="0">
                <a:solidFill>
                  <a:schemeClr val="tx1">
                    <a:lumMod val="65000"/>
                    <a:lumOff val="35000"/>
                  </a:schemeClr>
                </a:solidFill>
                <a:latin typeface="Arial" panose="020B0604020202020204" pitchFamily="34" charset="0"/>
                <a:cs typeface="+mn-ea"/>
                <a:sym typeface="Arial" panose="020B0604020202020204" pitchFamily="34" charset="0"/>
              </a:rPr>
              <a:t>建模。</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sp>
        <p:nvSpPr>
          <p:cNvPr id="17" name="矩形 16"/>
          <p:cNvSpPr/>
          <p:nvPr/>
        </p:nvSpPr>
        <p:spPr>
          <a:xfrm>
            <a:off x="3721911" y="4000744"/>
            <a:ext cx="1664689" cy="1072986"/>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其次是如何在这个环境中寻找无碰撞的可行轨迹（这个轨迹可能采用某种等式（本教程尽可能统一到时间尺度函数）直接生成，也可能是基于某种搜索算法得到</a:t>
            </a:r>
            <a:r>
              <a:rPr lang="zh-CN" altLang="en-US" sz="900" dirty="0" smtClean="0">
                <a:solidFill>
                  <a:schemeClr val="tx1">
                    <a:lumMod val="65000"/>
                    <a:lumOff val="35000"/>
                  </a:schemeClr>
                </a:solidFill>
                <a:latin typeface="Arial" panose="020B0604020202020204" pitchFamily="34" charset="0"/>
                <a:cs typeface="+mn-ea"/>
                <a:sym typeface="Arial" panose="020B0604020202020204" pitchFamily="34" charset="0"/>
              </a:rPr>
              <a:t>）。</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sp>
        <p:nvSpPr>
          <p:cNvPr id="18" name="矩形 17"/>
          <p:cNvSpPr/>
          <p:nvPr/>
        </p:nvSpPr>
        <p:spPr>
          <a:xfrm>
            <a:off x="6188384" y="4005628"/>
            <a:ext cx="1664689" cy="589280"/>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最后可能还需要对求解得到的轨迹进行处理与平滑等优化。</a:t>
            </a:r>
          </a:p>
        </p:txBody>
      </p:sp>
      <p:cxnSp>
        <p:nvCxnSpPr>
          <p:cNvPr id="23" name="直接连接符 22"/>
          <p:cNvCxnSpPr/>
          <p:nvPr/>
        </p:nvCxnSpPr>
        <p:spPr bwMode="auto">
          <a:xfrm flipV="1">
            <a:off x="2277340" y="3021666"/>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auto">
          <a:xfrm flipV="1">
            <a:off x="7020728" y="3040719"/>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236220" y="219075"/>
            <a:ext cx="5153660" cy="627380"/>
            <a:chOff x="-372" y="345"/>
            <a:chExt cx="8116" cy="988"/>
          </a:xfrm>
        </p:grpSpPr>
        <p:sp>
          <p:nvSpPr>
            <p:cNvPr id="27" name="矩形 26"/>
            <p:cNvSpPr/>
            <p:nvPr/>
          </p:nvSpPr>
          <p:spPr>
            <a:xfrm>
              <a:off x="443" y="824"/>
              <a:ext cx="6313" cy="509"/>
            </a:xfrm>
            <a:prstGeom prst="rect">
              <a:avLst/>
            </a:prstGeom>
          </p:spPr>
          <p:txBody>
            <a:bodyPr wrap="square">
              <a:spAutoFit/>
            </a:bodyPr>
            <a:lstStyle/>
            <a:p>
              <a:pPr algn="l">
                <a:lnSpc>
                  <a:spcPct val="150000"/>
                </a:lnSpc>
              </a:pPr>
              <a:r>
                <a:rPr lang="zh-CN" altLang="en-US" sz="1000" dirty="0" smtClean="0">
                  <a:solidFill>
                    <a:schemeClr val="tx1"/>
                  </a:solidFill>
                  <a:latin typeface="Arial" panose="020B0604020202020204" pitchFamily="34" charset="0"/>
                  <a:ea typeface="微软雅黑" panose="020B0503020204020204" charset="-122"/>
                  <a:sym typeface="+mn-ea"/>
                </a:rPr>
                <a:t>运动规划的基本概念</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8" name="文本框 27"/>
            <p:cNvSpPr txBox="1"/>
            <p:nvPr/>
          </p:nvSpPr>
          <p:spPr>
            <a:xfrm>
              <a:off x="443" y="363"/>
              <a:ext cx="7301" cy="628"/>
            </a:xfrm>
            <a:prstGeom prst="rect">
              <a:avLst/>
            </a:prstGeom>
            <a:noFill/>
          </p:spPr>
          <p:txBody>
            <a:bodyPr wrap="square" rtlCol="0" anchor="t">
              <a:spAutoFit/>
            </a:bodyPr>
            <a:lstStyle/>
            <a:p>
              <a:pPr algn="l"/>
              <a:r>
                <a:rPr lang="zh-CN" altLang="en-US" sz="2000" b="1" dirty="0">
                  <a:latin typeface="Arial" panose="020B0604020202020204" pitchFamily="34" charset="0"/>
                  <a:ea typeface="微软雅黑" panose="020B0503020204020204" charset="-122"/>
                  <a:sym typeface="+mn-ea"/>
                </a:rPr>
                <a:t>引言</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9" name="椭圆 2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nvSpPr>
        <p:spPr>
          <a:xfrm>
            <a:off x="1979712" y="283568"/>
            <a:ext cx="5880583" cy="461665"/>
          </a:xfrm>
          <a:prstGeom prst="rect">
            <a:avLst/>
          </a:prstGeom>
        </p:spPr>
        <p:txBody>
          <a:bodyPr wrap="square">
            <a:spAutoFit/>
          </a:bodyPr>
          <a:lstStyle/>
          <a:p>
            <a:r>
              <a:rPr lang="zh-CN" altLang="en-US" sz="2400" b="1" dirty="0">
                <a:solidFill>
                  <a:srgbClr val="002060"/>
                </a:solidFill>
              </a:rPr>
              <a:t>运动规划问题表达为三个方面的问题</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500"/>
                                        <p:tgtEl>
                                          <p:spTgt spid="13"/>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p:tgtEl>
                                          <p:spTgt spid="2"/>
                                        </p:tgtEl>
                                        <p:attrNameLst>
                                          <p:attrName>ppt_x</p:attrName>
                                        </p:attrNameLst>
                                      </p:cBhvr>
                                      <p:tavLst>
                                        <p:tav tm="0">
                                          <p:val>
                                            <p:strVal val="#ppt_x+#ppt_w*1.125000"/>
                                          </p:val>
                                        </p:tav>
                                        <p:tav tm="100000">
                                          <p:val>
                                            <p:strVal val="#ppt_x"/>
                                          </p:val>
                                        </p:tav>
                                      </p:tavLst>
                                    </p:anim>
                                    <p:animEffect transition="in" filter="wipe(left)">
                                      <p:cBhvr>
                                        <p:cTn id="12" dur="1000"/>
                                        <p:tgtEl>
                                          <p:spTgt spid="2"/>
                                        </p:tgtEl>
                                      </p:cBhvr>
                                    </p:animEffect>
                                  </p:childTnLst>
                                </p:cTn>
                              </p:par>
                              <p:par>
                                <p:cTn id="13" presetID="12" presetClass="entr" presetSubtype="8"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p:tgtEl>
                                          <p:spTgt spid="5"/>
                                        </p:tgtEl>
                                        <p:attrNameLst>
                                          <p:attrName>ppt_x</p:attrName>
                                        </p:attrNameLst>
                                      </p:cBhvr>
                                      <p:tavLst>
                                        <p:tav tm="0">
                                          <p:val>
                                            <p:strVal val="#ppt_x-#ppt_w*1.125000"/>
                                          </p:val>
                                        </p:tav>
                                        <p:tav tm="100000">
                                          <p:val>
                                            <p:strVal val="#ppt_x"/>
                                          </p:val>
                                        </p:tav>
                                      </p:tavLst>
                                    </p:anim>
                                    <p:animEffect transition="in" filter="wipe(right)">
                                      <p:cBhvr>
                                        <p:cTn id="16" dur="1000"/>
                                        <p:tgtEl>
                                          <p:spTgt spid="5"/>
                                        </p:tgtEl>
                                      </p:cBhvr>
                                    </p:animEffect>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par>
                          <p:cTn id="21" fill="hold">
                            <p:stCondLst>
                              <p:cond delay="2000"/>
                            </p:stCondLst>
                            <p:childTnLst>
                              <p:par>
                                <p:cTn id="22" presetID="16" presetClass="entr" presetSubtype="37"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outVertical)">
                                      <p:cBhvr>
                                        <p:cTn id="24" dur="500"/>
                                        <p:tgtEl>
                                          <p:spTgt spid="10"/>
                                        </p:tgtEl>
                                      </p:cBhvr>
                                    </p:animEffect>
                                  </p:childTnLst>
                                </p:cTn>
                              </p:par>
                            </p:childTnLst>
                          </p:cTn>
                        </p:par>
                        <p:par>
                          <p:cTn id="25" fill="hold">
                            <p:stCondLst>
                              <p:cond delay="2500"/>
                            </p:stCondLst>
                            <p:childTnLst>
                              <p:par>
                                <p:cTn id="26" presetID="16" presetClass="entr" presetSubtype="37"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outVertical)">
                                      <p:cBhvr>
                                        <p:cTn id="28" dur="500"/>
                                        <p:tgtEl>
                                          <p:spTgt spid="8"/>
                                        </p:tgtEl>
                                      </p:cBhvr>
                                    </p:animEffect>
                                  </p:childTnLst>
                                </p:cTn>
                              </p:par>
                            </p:childTnLst>
                          </p:cTn>
                        </p:par>
                        <p:par>
                          <p:cTn id="29" fill="hold">
                            <p:stCondLst>
                              <p:cond delay="3000"/>
                            </p:stCondLst>
                            <p:childTnLst>
                              <p:par>
                                <p:cTn id="30" presetID="22" presetClass="entr" presetSubtype="2"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right)">
                                      <p:cBhvr>
                                        <p:cTn id="32" dur="5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par>
                          <p:cTn id="41" fill="hold">
                            <p:stCondLst>
                              <p:cond delay="4000"/>
                            </p:stCondLst>
                            <p:childTnLst>
                              <p:par>
                                <p:cTn id="42" presetID="2" presetClass="entr" presetSubtype="4"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ppt_x"/>
                                          </p:val>
                                        </p:tav>
                                        <p:tav tm="100000">
                                          <p:val>
                                            <p:strVal val="#ppt_x"/>
                                          </p:val>
                                        </p:tav>
                                      </p:tavLst>
                                    </p:anim>
                                    <p:anim calcmode="lin" valueType="num">
                                      <p:cBhvr additive="base">
                                        <p:cTn id="45" dur="500" fill="hold"/>
                                        <p:tgtEl>
                                          <p:spTgt spid="17"/>
                                        </p:tgtEl>
                                        <p:attrNameLst>
                                          <p:attrName>ppt_y</p:attrName>
                                        </p:attrNameLst>
                                      </p:cBhvr>
                                      <p:tavLst>
                                        <p:tav tm="0">
                                          <p:val>
                                            <p:strVal val="1+#ppt_h/2"/>
                                          </p:val>
                                        </p:tav>
                                        <p:tav tm="100000">
                                          <p:val>
                                            <p:strVal val="#ppt_y"/>
                                          </p:val>
                                        </p:tav>
                                      </p:tavLst>
                                    </p:anim>
                                  </p:childTnLst>
                                </p:cTn>
                              </p:par>
                            </p:childTnLst>
                          </p:cTn>
                        </p:par>
                        <p:par>
                          <p:cTn id="46" fill="hold">
                            <p:stCondLst>
                              <p:cond delay="4500"/>
                            </p:stCondLst>
                            <p:childTnLst>
                              <p:par>
                                <p:cTn id="47" presetID="2" presetClass="entr" presetSubtype="4"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par>
                          <p:cTn id="51" fill="hold">
                            <p:stCondLst>
                              <p:cond delay="5000"/>
                            </p:stCondLst>
                            <p:childTnLst>
                              <p:par>
                                <p:cTn id="52" presetID="22" presetClass="entr" presetSubtype="1" fill="hold" nodeType="after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up)">
                                      <p:cBhvr>
                                        <p:cTn id="54" dur="500"/>
                                        <p:tgtEl>
                                          <p:spTgt spid="23"/>
                                        </p:tgtEl>
                                      </p:cBhvr>
                                    </p:animEffect>
                                  </p:childTnLst>
                                </p:cTn>
                              </p:par>
                            </p:childTnLst>
                          </p:cTn>
                        </p:par>
                        <p:par>
                          <p:cTn id="55" fill="hold">
                            <p:stCondLst>
                              <p:cond delay="5500"/>
                            </p:stCondLst>
                            <p:childTnLst>
                              <p:par>
                                <p:cTn id="56" presetID="22" presetClass="entr" presetSubtype="1" fill="hold" nodeType="after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up)">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6" grpId="0"/>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308324"/>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机器人环境建模，需要将实际环境的物理空间抽象成可以用算法进行处理的数字模型空间。由于早期的移动机器人通常只考虑</a:t>
            </a:r>
            <a:r>
              <a:rPr lang="en-US" altLang="zh-CN" sz="1200" dirty="0">
                <a:latin typeface="Arial" panose="020B0604020202020204" pitchFamily="34" charset="0"/>
                <a:ea typeface="微软雅黑" panose="020B0503020204020204" charset="-122"/>
                <a:sym typeface="+mn-ea"/>
              </a:rPr>
              <a:t>2D</a:t>
            </a:r>
            <a:r>
              <a:rPr lang="zh-CN" altLang="en-US" sz="1200" dirty="0">
                <a:latin typeface="Arial" panose="020B0604020202020204" pitchFamily="34" charset="0"/>
                <a:ea typeface="微软雅黑" panose="020B0503020204020204" charset="-122"/>
                <a:sym typeface="+mn-ea"/>
              </a:rPr>
              <a:t>环境下的运动，所以机器人环境建模延续了计算机学科的建模方法，主要有栅格图、</a:t>
            </a:r>
            <a:r>
              <a:rPr lang="en-US" altLang="zh-CN" sz="1200" dirty="0" err="1">
                <a:latin typeface="Arial" panose="020B0604020202020204" pitchFamily="34" charset="0"/>
                <a:ea typeface="微软雅黑" panose="020B0503020204020204" charset="-122"/>
                <a:sym typeface="+mn-ea"/>
              </a:rPr>
              <a:t>Voronoi</a:t>
            </a:r>
            <a:r>
              <a:rPr lang="zh-CN" altLang="en-US" sz="1200" dirty="0">
                <a:latin typeface="Arial" panose="020B0604020202020204" pitchFamily="34" charset="0"/>
                <a:ea typeface="微软雅黑" panose="020B0503020204020204" charset="-122"/>
                <a:sym typeface="+mn-ea"/>
              </a:rPr>
              <a:t>图、拓扑图、概率图等表示</a:t>
            </a:r>
            <a:r>
              <a:rPr lang="zh-CN" altLang="en-US" sz="1200" dirty="0" smtClean="0">
                <a:latin typeface="Arial" panose="020B0604020202020204" pitchFamily="34" charset="0"/>
                <a:ea typeface="微软雅黑" panose="020B0503020204020204" charset="-122"/>
                <a:sym typeface="+mn-ea"/>
              </a:rPr>
              <a:t>方法</a:t>
            </a:r>
            <a:r>
              <a:rPr lang="zh-CN" altLang="en-US" sz="1200" dirty="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a:latin typeface="Arial" panose="020B0604020202020204" pitchFamily="34" charset="0"/>
                <a:ea typeface="微软雅黑" panose="020B0503020204020204" charset="-122"/>
                <a:sym typeface="+mn-ea"/>
              </a:rPr>
              <a:t>现代机器人学通常采用</a:t>
            </a:r>
            <a:r>
              <a:rPr lang="zh-CN" altLang="en-US" sz="1200" b="1" dirty="0">
                <a:solidFill>
                  <a:srgbClr val="002060"/>
                </a:solidFill>
                <a:latin typeface="Arial" panose="020B0604020202020204" pitchFamily="34" charset="0"/>
                <a:ea typeface="微软雅黑" panose="020B0503020204020204" charset="-122"/>
                <a:sym typeface="+mn-ea"/>
              </a:rPr>
              <a:t>位形</a:t>
            </a:r>
            <a:r>
              <a:rPr lang="zh-CN" altLang="en-US" sz="1200" dirty="0">
                <a:latin typeface="Arial" panose="020B0604020202020204" pitchFamily="34" charset="0"/>
                <a:ea typeface="微软雅黑" panose="020B0503020204020204" charset="-122"/>
                <a:sym typeface="+mn-ea"/>
              </a:rPr>
              <a:t>来描述机器人</a:t>
            </a:r>
            <a:r>
              <a:rPr lang="zh-CN" altLang="en-US" sz="1200" dirty="0" smtClean="0">
                <a:latin typeface="Arial" panose="020B0604020202020204" pitchFamily="34" charset="0"/>
                <a:ea typeface="微软雅黑" panose="020B0503020204020204" charset="-122"/>
                <a:sym typeface="+mn-ea"/>
              </a:rPr>
              <a:t>模型。</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smtClean="0">
                <a:solidFill>
                  <a:schemeClr val="tx1"/>
                </a:solidFill>
                <a:latin typeface="Arial" panose="020B0604020202020204" pitchFamily="34" charset="0"/>
                <a:ea typeface="微软雅黑" panose="020B0503020204020204" charset="-122"/>
                <a:sym typeface="+mn-ea"/>
              </a:rPr>
              <a:t>位形空间</a:t>
            </a:r>
            <a:r>
              <a:rPr lang="en-US" altLang="zh-CN" sz="1200" dirty="0" smtClean="0">
                <a:solidFill>
                  <a:schemeClr val="tx1"/>
                </a:solidFill>
                <a:latin typeface="Arial" panose="020B0604020202020204" pitchFamily="34" charset="0"/>
                <a:ea typeface="微软雅黑" panose="020B0503020204020204" charset="-122"/>
                <a:sym typeface="+mn-ea"/>
              </a:rPr>
              <a:t>C-Space</a:t>
            </a:r>
            <a:r>
              <a:rPr lang="zh-CN" altLang="en-US" sz="1200" dirty="0" smtClean="0">
                <a:solidFill>
                  <a:schemeClr val="tx1"/>
                </a:solidFill>
                <a:latin typeface="Arial" panose="020B0604020202020204" pitchFamily="34" charset="0"/>
                <a:ea typeface="微软雅黑" panose="020B0503020204020204" charset="-122"/>
                <a:sym typeface="+mn-ea"/>
              </a:rPr>
              <a:t>采用完整精确的表达，还是离散化表达？</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501202"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机器人位形空间表达方法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02</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236220" y="219075"/>
            <a:ext cx="5153660" cy="598805"/>
            <a:chOff x="-372" y="345"/>
            <a:chExt cx="8116" cy="943"/>
          </a:xfrm>
        </p:grpSpPr>
        <p:sp>
          <p:nvSpPr>
            <p:cNvPr id="27" name="矩形 2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8" name="文本框 2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9" name="椭圆 2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nvSpPr>
        <p:spPr>
          <a:xfrm>
            <a:off x="3275519" y="418230"/>
            <a:ext cx="2952666" cy="461665"/>
          </a:xfrm>
          <a:prstGeom prst="rect">
            <a:avLst/>
          </a:prstGeom>
        </p:spPr>
        <p:txBody>
          <a:bodyPr wrap="square">
            <a:spAutoFit/>
          </a:bodyPr>
          <a:lstStyle/>
          <a:p>
            <a:r>
              <a:rPr lang="zh-CN" altLang="en-US" sz="2400" b="1" dirty="0">
                <a:solidFill>
                  <a:srgbClr val="002060"/>
                </a:solidFill>
              </a:rPr>
              <a:t>多关节机器人位形</a:t>
            </a:r>
          </a:p>
        </p:txBody>
      </p:sp>
      <p:pic>
        <p:nvPicPr>
          <p:cNvPr id="31" name="图片 30"/>
          <p:cNvPicPr/>
          <p:nvPr/>
        </p:nvPicPr>
        <p:blipFill>
          <a:blip r:embed="rId3"/>
          <a:stretch>
            <a:fillRect/>
          </a:stretch>
        </p:blipFill>
        <p:spPr>
          <a:xfrm>
            <a:off x="1907704" y="1035050"/>
            <a:ext cx="3505056" cy="3429427"/>
          </a:xfrm>
          <a:prstGeom prst="rect">
            <a:avLst/>
          </a:prstGeom>
        </p:spPr>
      </p:pic>
      <mc:AlternateContent xmlns:mc="http://schemas.openxmlformats.org/markup-compatibility/2006" xmlns:a14="http://schemas.microsoft.com/office/drawing/2010/main">
        <mc:Choice Requires="a14">
          <p:sp>
            <p:nvSpPr>
              <p:cNvPr id="19" name="矩形 18"/>
              <p:cNvSpPr/>
              <p:nvPr/>
            </p:nvSpPr>
            <p:spPr>
              <a:xfrm>
                <a:off x="5868144" y="3867894"/>
                <a:ext cx="21290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𝑞</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𝑞</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𝑞</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𝑞</m:t>
                              </m:r>
                            </m:e>
                            <m:sub>
                              <m:r>
                                <a:rPr lang="zh-CN" altLang="en-US" i="0">
                                  <a:latin typeface="Cambria Math" panose="02040503050406030204" pitchFamily="18" charset="0"/>
                                </a:rPr>
                                <m:t>10</m:t>
                              </m:r>
                            </m:sub>
                          </m:sSub>
                        </m:e>
                      </m:d>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5868144" y="3867894"/>
                <a:ext cx="2129044" cy="369332"/>
              </a:xfrm>
              <a:prstGeom prst="rect">
                <a:avLst/>
              </a:prstGeom>
              <a:blipFill rotWithShape="1">
                <a:blip r:embed="rId4"/>
                <a:stretch>
                  <a:fillRect l="-5" t="-30" r="30" b="137"/>
                </a:stretch>
              </a:blipFill>
            </p:spPr>
            <p:txBody>
              <a:bodyPr/>
              <a:lstStyle/>
              <a:p>
                <a:r>
                  <a:rPr lang="zh-CN" altLang="en-US">
                    <a:noFill/>
                  </a:rPr>
                  <a:t> </a:t>
                </a:r>
              </a:p>
            </p:txBody>
          </p:sp>
        </mc:Fallback>
      </mc:AlternateContent>
      <p:sp>
        <p:nvSpPr>
          <p:cNvPr id="20" name="矩形 19"/>
          <p:cNvSpPr/>
          <p:nvPr/>
        </p:nvSpPr>
        <p:spPr>
          <a:xfrm>
            <a:off x="2384621" y="4653071"/>
            <a:ext cx="4572000" cy="338554"/>
          </a:xfrm>
          <a:prstGeom prst="rect">
            <a:avLst/>
          </a:prstGeom>
        </p:spPr>
        <p:txBody>
          <a:bodyPr>
            <a:spAutoFit/>
          </a:bodyPr>
          <a:lstStyle/>
          <a:p>
            <a:r>
              <a:rPr lang="zh-CN" altLang="en-US" sz="1600" b="1" dirty="0">
                <a:solidFill>
                  <a:srgbClr val="002060"/>
                </a:solidFill>
              </a:rPr>
              <a:t>关节变量对应唯一的位形（机器人正解是唯一</a:t>
            </a:r>
            <a:r>
              <a:rPr lang="zh-CN" altLang="en-US" sz="1600" b="1" dirty="0" smtClean="0">
                <a:solidFill>
                  <a:srgbClr val="002060"/>
                </a:solidFill>
              </a:rPr>
              <a:t>的</a:t>
            </a:r>
            <a:r>
              <a:rPr lang="en-US" altLang="zh-CN" sz="1600" b="1" dirty="0" smtClean="0">
                <a:solidFill>
                  <a:srgbClr val="002060"/>
                </a:solidFill>
              </a:rPr>
              <a:t>!</a:t>
            </a:r>
            <a:r>
              <a:rPr lang="zh-CN" altLang="en-US" sz="1600" b="1" dirty="0" smtClean="0">
                <a:solidFill>
                  <a:srgbClr val="002060"/>
                </a:solidFill>
              </a:rPr>
              <a:t>）</a:t>
            </a:r>
            <a:endParaRPr lang="zh-CN" altLang="en-US" sz="1600" b="1"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236220" y="219075"/>
            <a:ext cx="5153660" cy="598805"/>
            <a:chOff x="-372" y="345"/>
            <a:chExt cx="8116" cy="943"/>
          </a:xfrm>
        </p:grpSpPr>
        <p:sp>
          <p:nvSpPr>
            <p:cNvPr id="27" name="矩形 2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8" name="文本框 2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9" name="椭圆 2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nvSpPr>
        <p:spPr>
          <a:xfrm>
            <a:off x="3275518" y="418230"/>
            <a:ext cx="3456721" cy="461665"/>
          </a:xfrm>
          <a:prstGeom prst="rect">
            <a:avLst/>
          </a:prstGeom>
        </p:spPr>
        <p:txBody>
          <a:bodyPr wrap="square">
            <a:spAutoFit/>
          </a:bodyPr>
          <a:lstStyle/>
          <a:p>
            <a:r>
              <a:rPr lang="zh-CN" altLang="en-US" sz="2400" b="1" dirty="0">
                <a:solidFill>
                  <a:srgbClr val="002060"/>
                </a:solidFill>
              </a:rPr>
              <a:t>平面</a:t>
            </a:r>
            <a:r>
              <a:rPr lang="en-US" altLang="zh-CN" sz="2400" b="1" dirty="0">
                <a:solidFill>
                  <a:srgbClr val="002060"/>
                </a:solidFill>
              </a:rPr>
              <a:t>2R</a:t>
            </a:r>
            <a:r>
              <a:rPr lang="zh-CN" altLang="en-US" sz="2400" b="1" dirty="0">
                <a:solidFill>
                  <a:srgbClr val="002060"/>
                </a:solidFill>
              </a:rPr>
              <a:t>机械臂位形空间</a:t>
            </a:r>
          </a:p>
        </p:txBody>
      </p:sp>
      <p:pic>
        <p:nvPicPr>
          <p:cNvPr id="11" name="图片 10"/>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491630"/>
            <a:ext cx="6708997" cy="2736304"/>
          </a:xfrm>
          <a:prstGeom prst="rect">
            <a:avLst/>
          </a:prstGeom>
          <a:noFill/>
          <a:ln>
            <a:noFill/>
          </a:ln>
        </p:spPr>
      </p:pic>
      <p:sp>
        <p:nvSpPr>
          <p:cNvPr id="2" name="矩形 1"/>
          <p:cNvSpPr/>
          <p:nvPr/>
        </p:nvSpPr>
        <p:spPr>
          <a:xfrm>
            <a:off x="1835696" y="4556579"/>
            <a:ext cx="5892561" cy="338554"/>
          </a:xfrm>
          <a:prstGeom prst="rect">
            <a:avLst/>
          </a:prstGeom>
        </p:spPr>
        <p:txBody>
          <a:bodyPr wrap="square">
            <a:spAutoFit/>
          </a:bodyPr>
          <a:lstStyle/>
          <a:p>
            <a:r>
              <a:rPr lang="zh-CN" altLang="zh-CN" sz="1600" dirty="0">
                <a:solidFill>
                  <a:srgbClr val="002060"/>
                </a:solidFill>
              </a:rPr>
              <a:t>包含所有可能机器人位形的</a:t>
            </a:r>
            <a:r>
              <a:rPr lang="en-US" altLang="zh-CN" sz="1600" i="1" dirty="0">
                <a:solidFill>
                  <a:srgbClr val="002060"/>
                </a:solidFill>
              </a:rPr>
              <a:t>n</a:t>
            </a:r>
            <a:r>
              <a:rPr lang="zh-CN" altLang="zh-CN" sz="1600" dirty="0">
                <a:solidFill>
                  <a:srgbClr val="002060"/>
                </a:solidFill>
              </a:rPr>
              <a:t>维空间定义为位形空间</a:t>
            </a:r>
            <a:r>
              <a:rPr lang="en-US" altLang="zh-CN" sz="1600" dirty="0">
                <a:solidFill>
                  <a:srgbClr val="002060"/>
                </a:solidFill>
              </a:rPr>
              <a:t>(C-Space)</a:t>
            </a:r>
            <a:endParaRPr lang="zh-CN" altLang="en-US" sz="16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65773" y="1255283"/>
            <a:ext cx="2133244" cy="2089682"/>
            <a:chOff x="3032012" y="1199038"/>
            <a:chExt cx="2268537" cy="2227263"/>
          </a:xfrm>
          <a:blipFill>
            <a:blip r:embed="rId3"/>
            <a:stretch>
              <a:fillRect/>
            </a:stretch>
          </a:blipFill>
        </p:grpSpPr>
        <p:sp>
          <p:nvSpPr>
            <p:cNvPr id="3" name="椭圆 2"/>
            <p:cNvSpPr/>
            <p:nvPr/>
          </p:nvSpPr>
          <p:spPr bwMode="auto">
            <a:xfrm>
              <a:off x="3032012" y="1199038"/>
              <a:ext cx="2268537" cy="22272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4" name="椭圆 3"/>
            <p:cNvSpPr/>
            <p:nvPr/>
          </p:nvSpPr>
          <p:spPr bwMode="auto">
            <a:xfrm>
              <a:off x="3223594" y="1387313"/>
              <a:ext cx="1885371" cy="18507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grpSp>
        <p:nvGrpSpPr>
          <p:cNvPr id="5" name="组合 4"/>
          <p:cNvGrpSpPr/>
          <p:nvPr/>
        </p:nvGrpSpPr>
        <p:grpSpPr>
          <a:xfrm>
            <a:off x="5808303" y="1142407"/>
            <a:ext cx="2309028" cy="2202558"/>
            <a:chOff x="6754924" y="1199038"/>
            <a:chExt cx="2268537" cy="2227263"/>
          </a:xfrm>
          <a:blipFill>
            <a:blip r:embed="rId4"/>
            <a:stretch>
              <a:fillRect/>
            </a:stretch>
          </a:blipFill>
        </p:grpSpPr>
        <p:sp>
          <p:nvSpPr>
            <p:cNvPr id="6" name="椭圆 5"/>
            <p:cNvSpPr/>
            <p:nvPr/>
          </p:nvSpPr>
          <p:spPr bwMode="auto">
            <a:xfrm>
              <a:off x="6754924" y="1199038"/>
              <a:ext cx="2268537" cy="22272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p>
          </p:txBody>
        </p:sp>
        <p:sp>
          <p:nvSpPr>
            <p:cNvPr id="7" name="椭圆 6"/>
            <p:cNvSpPr/>
            <p:nvPr/>
          </p:nvSpPr>
          <p:spPr bwMode="auto">
            <a:xfrm>
              <a:off x="6902239" y="1345992"/>
              <a:ext cx="1973906" cy="19376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cxnSp>
        <p:nvCxnSpPr>
          <p:cNvPr id="8" name="直接连接符 7"/>
          <p:cNvCxnSpPr>
            <a:endCxn id="11" idx="1"/>
          </p:cNvCxnSpPr>
          <p:nvPr/>
        </p:nvCxnSpPr>
        <p:spPr bwMode="auto">
          <a:xfrm flipV="1">
            <a:off x="2192883" y="3932699"/>
            <a:ext cx="4303590" cy="13099"/>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bwMode="auto">
          <a:xfrm>
            <a:off x="1790384" y="3670722"/>
            <a:ext cx="1048510"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smtClean="0">
                <a:solidFill>
                  <a:schemeClr val="bg1"/>
                </a:solidFill>
                <a:latin typeface="宋体" panose="02010600030101010101" pitchFamily="2" charset="-122"/>
                <a:ea typeface="宋体" panose="02010600030101010101" pitchFamily="2" charset="-122"/>
                <a:sym typeface="+mn-ea"/>
              </a:rPr>
              <a:t>C-Space</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mc:AlternateContent xmlns:mc="http://schemas.openxmlformats.org/markup-compatibility/2006" xmlns:a14="http://schemas.microsoft.com/office/drawing/2010/main">
        <mc:Choice Requires="a14">
          <p:sp>
            <p:nvSpPr>
              <p:cNvPr id="10" name="圆角矩形 9"/>
              <p:cNvSpPr/>
              <p:nvPr/>
            </p:nvSpPr>
            <p:spPr bwMode="auto">
              <a:xfrm>
                <a:off x="4024179" y="3670722"/>
                <a:ext cx="1046533"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𝑓𝑟𝑒𝑒</m:t>
                          </m:r>
                        </m:sub>
                      </m:sSub>
                    </m:oMath>
                  </m:oMathPara>
                </a14:m>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mc:Choice>
        <mc:Fallback xmlns="">
          <p:sp>
            <p:nvSpPr>
              <p:cNvPr id="10" name="圆角矩形 9"/>
              <p:cNvSpPr>
                <a:spLocks noRot="1" noChangeAspect="1" noMove="1" noResize="1" noEditPoints="1" noAdjustHandles="1" noChangeArrowheads="1" noChangeShapeType="1" noTextEdit="1"/>
              </p:cNvSpPr>
              <p:nvPr/>
            </p:nvSpPr>
            <p:spPr bwMode="auto">
              <a:xfrm>
                <a:off x="4024179" y="3670722"/>
                <a:ext cx="1046533" cy="484656"/>
              </a:xfrm>
              <a:prstGeom prst="roundRect">
                <a:avLst/>
              </a:prstGeom>
              <a:blipFill rotWithShape="1">
                <a:blip r:embed="rId5"/>
                <a:stretch>
                  <a:fillRect l="-18" t="-87" r="23" b="11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圆角矩形 10"/>
              <p:cNvSpPr/>
              <p:nvPr/>
            </p:nvSpPr>
            <p:spPr bwMode="auto">
              <a:xfrm>
                <a:off x="6496473" y="3689775"/>
                <a:ext cx="1048510" cy="485847"/>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𝑜𝑏𝑠</m:t>
                          </m:r>
                        </m:sub>
                      </m:sSub>
                    </m:oMath>
                  </m:oMathPara>
                </a14:m>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mc:Choice>
        <mc:Fallback xmlns="">
          <p:sp>
            <p:nvSpPr>
              <p:cNvPr id="11" name="圆角矩形 10"/>
              <p:cNvSpPr>
                <a:spLocks noRot="1" noChangeAspect="1" noMove="1" noResize="1" noEditPoints="1" noAdjustHandles="1" noChangeArrowheads="1" noChangeShapeType="1" noTextEdit="1"/>
              </p:cNvSpPr>
              <p:nvPr/>
            </p:nvSpPr>
            <p:spPr bwMode="auto">
              <a:xfrm>
                <a:off x="6496473" y="3689775"/>
                <a:ext cx="1048510" cy="485847"/>
              </a:xfrm>
              <a:prstGeom prst="roundRect">
                <a:avLst/>
              </a:prstGeom>
              <a:blipFill rotWithShape="1">
                <a:blip r:embed="rId6"/>
                <a:stretch>
                  <a:fillRect l="-40" t="-87" r="52" b="10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12" name="直接连接符 11"/>
          <p:cNvCxnSpPr/>
          <p:nvPr/>
        </p:nvCxnSpPr>
        <p:spPr bwMode="auto">
          <a:xfrm flipV="1">
            <a:off x="4553065" y="3302764"/>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3403933" y="1121221"/>
            <a:ext cx="2247898" cy="2206573"/>
            <a:chOff x="4537868" y="829469"/>
            <a:chExt cx="2996729" cy="2941638"/>
          </a:xfrm>
          <a:blipFill>
            <a:blip r:embed="rId7"/>
            <a:stretch>
              <a:fillRect/>
            </a:stretch>
          </a:blipFill>
        </p:grpSpPr>
        <p:sp>
          <p:nvSpPr>
            <p:cNvPr id="14" name="椭圆 13"/>
            <p:cNvSpPr/>
            <p:nvPr/>
          </p:nvSpPr>
          <p:spPr bwMode="auto">
            <a:xfrm>
              <a:off x="4537868" y="829469"/>
              <a:ext cx="2996729" cy="294163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15" name="椭圆 14"/>
            <p:cNvSpPr/>
            <p:nvPr/>
          </p:nvSpPr>
          <p:spPr bwMode="auto">
            <a:xfrm>
              <a:off x="4734827" y="1007346"/>
              <a:ext cx="2611900" cy="256388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sp>
        <p:nvSpPr>
          <p:cNvPr id="16" name="矩形 15"/>
          <p:cNvSpPr/>
          <p:nvPr/>
        </p:nvSpPr>
        <p:spPr>
          <a:xfrm>
            <a:off x="1497562" y="4281842"/>
            <a:ext cx="1664689" cy="589280"/>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包含所有可能机器人位形的</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n</a:t>
            </a: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维空间定义为位形空间</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(C-Space</a:t>
            </a:r>
            <a:r>
              <a:rPr lang="en-US" altLang="zh-CN" sz="900" dirty="0" smtClean="0">
                <a:solidFill>
                  <a:schemeClr val="tx1">
                    <a:lumMod val="65000"/>
                    <a:lumOff val="35000"/>
                  </a:schemeClr>
                </a:solidFill>
                <a:latin typeface="Arial" panose="020B0604020202020204" pitchFamily="34" charset="0"/>
                <a:cs typeface="+mn-ea"/>
                <a:sym typeface="Arial" panose="020B0604020202020204" pitchFamily="34" charset="0"/>
              </a:rPr>
              <a:t>)</a:t>
            </a:r>
            <a:r>
              <a:rPr lang="zh-CN" altLang="en-US" sz="900" dirty="0" smtClean="0">
                <a:solidFill>
                  <a:schemeClr val="tx1">
                    <a:lumMod val="65000"/>
                    <a:lumOff val="35000"/>
                  </a:schemeClr>
                </a:solidFill>
                <a:latin typeface="Arial" panose="020B0604020202020204" pitchFamily="34" charset="0"/>
                <a:cs typeface="+mn-ea"/>
                <a:sym typeface="Arial" panose="020B0604020202020204" pitchFamily="34" charset="0"/>
              </a:rPr>
              <a:t>。</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3721911" y="4281842"/>
                <a:ext cx="1664689" cy="772840"/>
              </a:xfrm>
              <a:prstGeom prst="rect">
                <a:avLst/>
              </a:prstGeom>
            </p:spPr>
            <p:txBody>
              <a:bodyPr wrap="square">
                <a:spAutoFit/>
              </a:bodyPr>
              <a:lstStyle/>
              <a:p>
                <a:pPr>
                  <a:lnSpc>
                    <a:spcPct val="120000"/>
                  </a:lnSpc>
                </a:pPr>
                <a:r>
                  <a:rPr lang="zh-CN" altLang="zh-CN" sz="900" dirty="0">
                    <a:solidFill>
                      <a:schemeClr val="tx1">
                        <a:lumMod val="65000"/>
                        <a:lumOff val="35000"/>
                      </a:schemeClr>
                    </a:solidFill>
                    <a:latin typeface="Arial" panose="020B0604020202020204" pitchFamily="34" charset="0"/>
                    <a:cs typeface="+mn-ea"/>
                  </a:rPr>
                  <a:t>考虑机器人工作空间中的障碍物，我们将位形空间</a:t>
                </a:r>
                <a14:m>
                  <m:oMath xmlns:m="http://schemas.openxmlformats.org/officeDocument/2006/math">
                    <m:r>
                      <a:rPr lang="en-US" altLang="zh-CN" sz="900">
                        <a:solidFill>
                          <a:schemeClr val="tx1">
                            <a:lumMod val="65000"/>
                            <a:lumOff val="35000"/>
                          </a:schemeClr>
                        </a:solidFill>
                        <a:latin typeface="Cambria Math" panose="02040503050406030204" pitchFamily="18" charset="0"/>
                        <a:cs typeface="+mn-ea"/>
                      </a:rPr>
                      <m:t>Ⅽ</m:t>
                    </m:r>
                  </m:oMath>
                </a14:m>
                <a:r>
                  <a:rPr lang="zh-CN" altLang="zh-CN" sz="900" dirty="0">
                    <a:solidFill>
                      <a:schemeClr val="tx1">
                        <a:lumMod val="65000"/>
                        <a:lumOff val="35000"/>
                      </a:schemeClr>
                    </a:solidFill>
                    <a:latin typeface="Arial" panose="020B0604020202020204" pitchFamily="34" charset="0"/>
                    <a:cs typeface="+mn-ea"/>
                  </a:rPr>
                  <a:t>划分为两部分，即自由空间</a:t>
                </a:r>
                <a14:m>
                  <m:oMath xmlns:m="http://schemas.openxmlformats.org/officeDocument/2006/math">
                    <m:sSub>
                      <m:sSubPr>
                        <m:ctrlPr>
                          <a:rPr lang="zh-CN" altLang="zh-CN" sz="900" i="1">
                            <a:solidFill>
                              <a:schemeClr val="tx1">
                                <a:lumMod val="65000"/>
                                <a:lumOff val="35000"/>
                              </a:schemeClr>
                            </a:solidFill>
                            <a:latin typeface="Cambria Math" panose="02040503050406030204" pitchFamily="18" charset="0"/>
                            <a:cs typeface="+mn-ea"/>
                          </a:rPr>
                        </m:ctrlPr>
                      </m:sSubPr>
                      <m:e>
                        <m:r>
                          <a:rPr lang="en-US" altLang="zh-CN" sz="900">
                            <a:solidFill>
                              <a:schemeClr val="tx1">
                                <a:lumMod val="65000"/>
                                <a:lumOff val="35000"/>
                              </a:schemeClr>
                            </a:solidFill>
                            <a:latin typeface="Cambria Math" panose="02040503050406030204" pitchFamily="18" charset="0"/>
                            <a:cs typeface="+mn-ea"/>
                          </a:rPr>
                          <m:t>𝐶</m:t>
                        </m:r>
                      </m:e>
                      <m:sub>
                        <m:r>
                          <a:rPr lang="en-US" altLang="zh-CN" sz="900">
                            <a:solidFill>
                              <a:schemeClr val="tx1">
                                <a:lumMod val="65000"/>
                                <a:lumOff val="35000"/>
                              </a:schemeClr>
                            </a:solidFill>
                            <a:latin typeface="Cambria Math" panose="02040503050406030204" pitchFamily="18" charset="0"/>
                            <a:cs typeface="+mn-ea"/>
                          </a:rPr>
                          <m:t>𝑓𝑟𝑒𝑒</m:t>
                        </m:r>
                      </m:sub>
                    </m:sSub>
                  </m:oMath>
                </a14:m>
                <a:r>
                  <a:rPr lang="zh-CN" altLang="zh-CN" sz="900" dirty="0">
                    <a:solidFill>
                      <a:schemeClr val="tx1">
                        <a:lumMod val="65000"/>
                        <a:lumOff val="35000"/>
                      </a:schemeClr>
                    </a:solidFill>
                    <a:latin typeface="Arial" panose="020B0604020202020204" pitchFamily="34" charset="0"/>
                    <a:cs typeface="+mn-ea"/>
                  </a:rPr>
                  <a:t>和障碍空间</a:t>
                </a:r>
                <a14:m>
                  <m:oMath xmlns:m="http://schemas.openxmlformats.org/officeDocument/2006/math">
                    <m:sSub>
                      <m:sSubPr>
                        <m:ctrlPr>
                          <a:rPr lang="zh-CN" altLang="zh-CN" sz="900" i="1">
                            <a:solidFill>
                              <a:schemeClr val="tx1">
                                <a:lumMod val="65000"/>
                                <a:lumOff val="35000"/>
                              </a:schemeClr>
                            </a:solidFill>
                            <a:latin typeface="Cambria Math" panose="02040503050406030204" pitchFamily="18" charset="0"/>
                            <a:cs typeface="+mn-ea"/>
                          </a:rPr>
                        </m:ctrlPr>
                      </m:sSubPr>
                      <m:e>
                        <m:r>
                          <a:rPr lang="en-US" altLang="zh-CN" sz="900">
                            <a:solidFill>
                              <a:schemeClr val="tx1">
                                <a:lumMod val="65000"/>
                                <a:lumOff val="35000"/>
                              </a:schemeClr>
                            </a:solidFill>
                            <a:latin typeface="Cambria Math" panose="02040503050406030204" pitchFamily="18" charset="0"/>
                            <a:cs typeface="+mn-ea"/>
                          </a:rPr>
                          <m:t>𝐶</m:t>
                        </m:r>
                      </m:e>
                      <m:sub>
                        <m:r>
                          <a:rPr lang="en-US" altLang="zh-CN" sz="900">
                            <a:solidFill>
                              <a:schemeClr val="tx1">
                                <a:lumMod val="65000"/>
                                <a:lumOff val="35000"/>
                              </a:schemeClr>
                            </a:solidFill>
                            <a:latin typeface="Cambria Math" panose="02040503050406030204" pitchFamily="18" charset="0"/>
                            <a:cs typeface="+mn-ea"/>
                          </a:rPr>
                          <m:t>𝑜𝑏𝑠</m:t>
                        </m:r>
                      </m:sub>
                    </m:sSub>
                  </m:oMath>
                </a14:m>
                <a:endPar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3721911" y="4281842"/>
                <a:ext cx="1664689" cy="772840"/>
              </a:xfrm>
              <a:prstGeom prst="rect">
                <a:avLst/>
              </a:prstGeom>
              <a:blipFill rotWithShape="1">
                <a:blip r:embed="rId8"/>
                <a:stretch>
                  <a:fillRect l="-11" t="-5" r="32" b="11"/>
                </a:stretch>
              </a:blipFill>
            </p:spPr>
            <p:txBody>
              <a:bodyPr/>
              <a:lstStyle/>
              <a:p>
                <a:r>
                  <a:rPr lang="zh-CN" altLang="en-US">
                    <a:noFill/>
                  </a:rPr>
                  <a:t> </a:t>
                </a:r>
              </a:p>
            </p:txBody>
          </p:sp>
        </mc:Fallback>
      </mc:AlternateContent>
      <p:sp>
        <p:nvSpPr>
          <p:cNvPr id="18" name="矩形 17"/>
          <p:cNvSpPr/>
          <p:nvPr/>
        </p:nvSpPr>
        <p:spPr>
          <a:xfrm>
            <a:off x="6188384" y="4286726"/>
            <a:ext cx="1928947" cy="757130"/>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对于关节限位可被当作位形空间中的障碍物来处理。将机器人缩小成</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Ⅽ</a:t>
            </a: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空间中的一个点，相反将</a:t>
            </a:r>
            <a:r>
              <a:rPr lang="zh-CN" altLang="en-US" sz="900" dirty="0" smtClean="0">
                <a:solidFill>
                  <a:schemeClr val="tx1">
                    <a:lumMod val="65000"/>
                    <a:lumOff val="35000"/>
                  </a:schemeClr>
                </a:solidFill>
                <a:latin typeface="Arial" panose="020B0604020202020204" pitchFamily="34" charset="0"/>
                <a:cs typeface="+mn-ea"/>
                <a:sym typeface="Arial" panose="020B0604020202020204" pitchFamily="34" charset="0"/>
              </a:rPr>
              <a:t>障碍物按一定规则进行适当膨胀放大</a:t>
            </a: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smtClean="0">
                <a:solidFill>
                  <a:srgbClr val="002060"/>
                </a:solidFill>
              </a:rPr>
              <a:t>位形空间</a:t>
            </a:r>
            <a:r>
              <a:rPr lang="en-US" altLang="zh-CN" sz="2400" b="1" dirty="0" smtClean="0">
                <a:solidFill>
                  <a:srgbClr val="002060"/>
                </a:solidFill>
              </a:rPr>
              <a:t>C-Space</a:t>
            </a:r>
            <a:endParaRPr lang="zh-CN" altLang="en-US" sz="2400" b="1" dirty="0">
              <a:solidFill>
                <a:srgbClr val="002060"/>
              </a:solidFill>
            </a:endParaRPr>
          </a:p>
        </p:txBody>
      </p:sp>
      <mc:AlternateContent xmlns:mc="http://schemas.openxmlformats.org/markup-compatibility/2006" xmlns:a14="http://schemas.microsoft.com/office/drawing/2010/main">
        <mc:Choice Requires="a14">
          <p:sp>
            <p:nvSpPr>
              <p:cNvPr id="19" name="矩形 18"/>
              <p:cNvSpPr/>
              <p:nvPr/>
            </p:nvSpPr>
            <p:spPr>
              <a:xfrm>
                <a:off x="3626641" y="1074084"/>
                <a:ext cx="1915781" cy="395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smtClean="0">
                          <a:solidFill>
                            <a:srgbClr val="FF0000"/>
                          </a:solidFill>
                          <a:latin typeface="Cambria Math" panose="02040503050406030204" pitchFamily="18" charset="0"/>
                        </a:rPr>
                        <m:t>Ⅽ</m:t>
                      </m:r>
                      <m:r>
                        <a:rPr lang="zh-CN" altLang="en-US" b="1" i="0">
                          <a:solidFill>
                            <a:srgbClr val="FF0000"/>
                          </a:solidFill>
                          <a:latin typeface="Cambria Math" panose="02040503050406030204" pitchFamily="18" charset="0"/>
                        </a:rPr>
                        <m:t>=</m:t>
                      </m:r>
                      <m:sSub>
                        <m:sSubPr>
                          <m:ctrlPr>
                            <a:rPr lang="zh-CN" altLang="en-US" b="1"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𝑪</m:t>
                          </m:r>
                        </m:e>
                        <m:sub>
                          <m:r>
                            <a:rPr lang="zh-CN" altLang="en-US" b="1" i="1">
                              <a:solidFill>
                                <a:srgbClr val="FF0000"/>
                              </a:solidFill>
                              <a:latin typeface="Cambria Math" panose="02040503050406030204" pitchFamily="18" charset="0"/>
                            </a:rPr>
                            <m:t>𝒇𝒓𝒆𝒆</m:t>
                          </m:r>
                        </m:sub>
                      </m:sSub>
                      <m:r>
                        <a:rPr lang="zh-CN" altLang="en-US" b="1" i="0">
                          <a:solidFill>
                            <a:srgbClr val="FF0000"/>
                          </a:solidFill>
                          <a:latin typeface="Cambria Math" panose="02040503050406030204" pitchFamily="18" charset="0"/>
                        </a:rPr>
                        <m:t>∪</m:t>
                      </m:r>
                      <m:sSub>
                        <m:sSubPr>
                          <m:ctrlPr>
                            <a:rPr lang="zh-CN" altLang="en-US" b="1"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𝑪</m:t>
                          </m:r>
                        </m:e>
                        <m:sub>
                          <m:r>
                            <a:rPr lang="zh-CN" altLang="en-US" b="1" i="1">
                              <a:solidFill>
                                <a:srgbClr val="FF0000"/>
                              </a:solidFill>
                              <a:latin typeface="Cambria Math" panose="02040503050406030204" pitchFamily="18" charset="0"/>
                            </a:rPr>
                            <m:t>𝒐𝒃𝒔</m:t>
                          </m:r>
                        </m:sub>
                      </m:sSub>
                    </m:oMath>
                  </m:oMathPara>
                </a14:m>
                <a:endParaRPr lang="zh-CN" altLang="en-US" b="1" dirty="0">
                  <a:solidFill>
                    <a:srgbClr val="FF000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3626641" y="1074084"/>
                <a:ext cx="1915781" cy="395558"/>
              </a:xfrm>
              <a:prstGeom prst="rect">
                <a:avLst/>
              </a:prstGeom>
              <a:blipFill rotWithShape="1">
                <a:blip r:embed="rId9"/>
                <a:stretch>
                  <a:fillRect l="-8" t="-76" r="7" b="64"/>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500"/>
                                        <p:tgtEl>
                                          <p:spTgt spid="13"/>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p:tgtEl>
                                          <p:spTgt spid="2"/>
                                        </p:tgtEl>
                                        <p:attrNameLst>
                                          <p:attrName>ppt_x</p:attrName>
                                        </p:attrNameLst>
                                      </p:cBhvr>
                                      <p:tavLst>
                                        <p:tav tm="0">
                                          <p:val>
                                            <p:strVal val="#ppt_x+#ppt_w*1.125000"/>
                                          </p:val>
                                        </p:tav>
                                        <p:tav tm="100000">
                                          <p:val>
                                            <p:strVal val="#ppt_x"/>
                                          </p:val>
                                        </p:tav>
                                      </p:tavLst>
                                    </p:anim>
                                    <p:animEffect transition="in" filter="wipe(left)">
                                      <p:cBhvr>
                                        <p:cTn id="12" dur="1000"/>
                                        <p:tgtEl>
                                          <p:spTgt spid="2"/>
                                        </p:tgtEl>
                                      </p:cBhvr>
                                    </p:animEffect>
                                  </p:childTnLst>
                                </p:cTn>
                              </p:par>
                              <p:par>
                                <p:cTn id="13" presetID="12" presetClass="entr" presetSubtype="8"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p:tgtEl>
                                          <p:spTgt spid="5"/>
                                        </p:tgtEl>
                                        <p:attrNameLst>
                                          <p:attrName>ppt_x</p:attrName>
                                        </p:attrNameLst>
                                      </p:cBhvr>
                                      <p:tavLst>
                                        <p:tav tm="0">
                                          <p:val>
                                            <p:strVal val="#ppt_x-#ppt_w*1.125000"/>
                                          </p:val>
                                        </p:tav>
                                        <p:tav tm="100000">
                                          <p:val>
                                            <p:strVal val="#ppt_x"/>
                                          </p:val>
                                        </p:tav>
                                      </p:tavLst>
                                    </p:anim>
                                    <p:animEffect transition="in" filter="wipe(right)">
                                      <p:cBhvr>
                                        <p:cTn id="16" dur="1000"/>
                                        <p:tgtEl>
                                          <p:spTgt spid="5"/>
                                        </p:tgtEl>
                                      </p:cBhvr>
                                    </p:animEffect>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par>
                          <p:cTn id="21" fill="hold">
                            <p:stCondLst>
                              <p:cond delay="2000"/>
                            </p:stCondLst>
                            <p:childTnLst>
                              <p:par>
                                <p:cTn id="22" presetID="16" presetClass="entr" presetSubtype="37"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outVertical)">
                                      <p:cBhvr>
                                        <p:cTn id="24" dur="500"/>
                                        <p:tgtEl>
                                          <p:spTgt spid="10"/>
                                        </p:tgtEl>
                                      </p:cBhvr>
                                    </p:animEffect>
                                  </p:childTnLst>
                                </p:cTn>
                              </p:par>
                            </p:childTnLst>
                          </p:cTn>
                        </p:par>
                        <p:par>
                          <p:cTn id="25" fill="hold">
                            <p:stCondLst>
                              <p:cond delay="2500"/>
                            </p:stCondLst>
                            <p:childTnLst>
                              <p:par>
                                <p:cTn id="26" presetID="16" presetClass="entr" presetSubtype="37"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outVertical)">
                                      <p:cBhvr>
                                        <p:cTn id="28" dur="500"/>
                                        <p:tgtEl>
                                          <p:spTgt spid="8"/>
                                        </p:tgtEl>
                                      </p:cBhvr>
                                    </p:animEffect>
                                  </p:childTnLst>
                                </p:cTn>
                              </p:par>
                            </p:childTnLst>
                          </p:cTn>
                        </p:par>
                        <p:par>
                          <p:cTn id="29" fill="hold">
                            <p:stCondLst>
                              <p:cond delay="3000"/>
                            </p:stCondLst>
                            <p:childTnLst>
                              <p:par>
                                <p:cTn id="30" presetID="22" presetClass="entr" presetSubtype="2"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right)">
                                      <p:cBhvr>
                                        <p:cTn id="32" dur="5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par>
                          <p:cTn id="41" fill="hold">
                            <p:stCondLst>
                              <p:cond delay="4000"/>
                            </p:stCondLst>
                            <p:childTnLst>
                              <p:par>
                                <p:cTn id="42" presetID="2" presetClass="entr" presetSubtype="4"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ppt_x"/>
                                          </p:val>
                                        </p:tav>
                                        <p:tav tm="100000">
                                          <p:val>
                                            <p:strVal val="#ppt_x"/>
                                          </p:val>
                                        </p:tav>
                                      </p:tavLst>
                                    </p:anim>
                                    <p:anim calcmode="lin" valueType="num">
                                      <p:cBhvr additive="base">
                                        <p:cTn id="45" dur="500" fill="hold"/>
                                        <p:tgtEl>
                                          <p:spTgt spid="17"/>
                                        </p:tgtEl>
                                        <p:attrNameLst>
                                          <p:attrName>ppt_y</p:attrName>
                                        </p:attrNameLst>
                                      </p:cBhvr>
                                      <p:tavLst>
                                        <p:tav tm="0">
                                          <p:val>
                                            <p:strVal val="1+#ppt_h/2"/>
                                          </p:val>
                                        </p:tav>
                                        <p:tav tm="100000">
                                          <p:val>
                                            <p:strVal val="#ppt_y"/>
                                          </p:val>
                                        </p:tav>
                                      </p:tavLst>
                                    </p:anim>
                                  </p:childTnLst>
                                </p:cTn>
                              </p:par>
                            </p:childTnLst>
                          </p:cTn>
                        </p:par>
                        <p:par>
                          <p:cTn id="46" fill="hold">
                            <p:stCondLst>
                              <p:cond delay="4500"/>
                            </p:stCondLst>
                            <p:childTnLst>
                              <p:par>
                                <p:cTn id="47" presetID="2" presetClass="entr" presetSubtype="4"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6"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smtClean="0">
                <a:solidFill>
                  <a:srgbClr val="002060"/>
                </a:solidFill>
              </a:rPr>
              <a:t>位形空间</a:t>
            </a:r>
            <a:r>
              <a:rPr lang="en-US" altLang="zh-CN" sz="2400" b="1" dirty="0" smtClean="0">
                <a:solidFill>
                  <a:srgbClr val="002060"/>
                </a:solidFill>
              </a:rPr>
              <a:t>C-Space</a:t>
            </a:r>
            <a:endParaRPr lang="zh-CN" altLang="en-US" sz="2400" b="1" dirty="0">
              <a:solidFill>
                <a:srgbClr val="002060"/>
              </a:solidFill>
            </a:endParaRPr>
          </a:p>
        </p:txBody>
      </p:sp>
      <p:graphicFrame>
        <p:nvGraphicFramePr>
          <p:cNvPr id="21" name="对象 20"/>
          <p:cNvGraphicFramePr>
            <a:graphicFrameLocks noChangeAspect="1"/>
          </p:cNvGraphicFramePr>
          <p:nvPr/>
        </p:nvGraphicFramePr>
        <p:xfrm>
          <a:off x="1259632" y="1419622"/>
          <a:ext cx="6399202" cy="2880320"/>
        </p:xfrm>
        <a:graphic>
          <a:graphicData uri="http://schemas.openxmlformats.org/presentationml/2006/ole">
            <mc:AlternateContent xmlns:mc="http://schemas.openxmlformats.org/markup-compatibility/2006">
              <mc:Choice xmlns:v="urn:schemas-microsoft-com:vml" Requires="v">
                <p:oleObj spid="_x0000_s1095" name="Visio" r:id="rId4" imgW="3371850" imgH="1521460" progId="Visio.Drawing.15">
                  <p:embed/>
                </p:oleObj>
              </mc:Choice>
              <mc:Fallback>
                <p:oleObj name="Visio" r:id="rId4" imgW="3371850" imgH="152146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1419622"/>
                        <a:ext cx="6399202" cy="2880320"/>
                      </a:xfrm>
                      <a:prstGeom prst="rect">
                        <a:avLst/>
                      </a:prstGeom>
                      <a:noFill/>
                    </p:spPr>
                  </p:pic>
                </p:oleObj>
              </mc:Fallback>
            </mc:AlternateContent>
          </a:graphicData>
        </a:graphic>
      </p:graphicFrame>
      <p:sp>
        <p:nvSpPr>
          <p:cNvPr id="22" name="矩形 21"/>
          <p:cNvSpPr/>
          <p:nvPr/>
        </p:nvSpPr>
        <p:spPr>
          <a:xfrm>
            <a:off x="3745736" y="4299942"/>
            <a:ext cx="1426994" cy="338554"/>
          </a:xfrm>
          <a:prstGeom prst="rect">
            <a:avLst/>
          </a:prstGeom>
        </p:spPr>
        <p:txBody>
          <a:bodyPr wrap="none">
            <a:spAutoFit/>
          </a:bodyPr>
          <a:lstStyle/>
          <a:p>
            <a:r>
              <a:rPr lang="en-US" altLang="zh-CN" sz="1600" dirty="0">
                <a:solidFill>
                  <a:srgbClr val="002060"/>
                </a:solidFill>
              </a:rPr>
              <a:t>2R</a:t>
            </a:r>
            <a:r>
              <a:rPr lang="zh-CN" altLang="zh-CN" sz="1600" dirty="0">
                <a:solidFill>
                  <a:srgbClr val="002060"/>
                </a:solidFill>
              </a:rPr>
              <a:t>平面机械臂</a:t>
            </a:r>
            <a:endParaRPr lang="zh-CN" altLang="en-US" sz="16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stretch>
            <a:fillRect/>
          </a:stretch>
        </p:blipFill>
        <p:spPr>
          <a:xfrm>
            <a:off x="4545950" y="1399227"/>
            <a:ext cx="4163929" cy="2523963"/>
          </a:xfrm>
          <a:prstGeom prst="rect">
            <a:avLst/>
          </a:prstGeom>
        </p:spPr>
      </p:pic>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smtClean="0">
                <a:solidFill>
                  <a:srgbClr val="002060"/>
                </a:solidFill>
              </a:rPr>
              <a:t>位形空间</a:t>
            </a:r>
            <a:r>
              <a:rPr lang="en-US" altLang="zh-CN" sz="2400" b="1" dirty="0" smtClean="0">
                <a:solidFill>
                  <a:srgbClr val="002060"/>
                </a:solidFill>
              </a:rPr>
              <a:t>C-Space</a:t>
            </a:r>
            <a:endParaRPr lang="zh-CN" altLang="en-US" sz="2400" b="1" dirty="0">
              <a:solidFill>
                <a:srgbClr val="002060"/>
              </a:solidFill>
            </a:endParaRPr>
          </a:p>
        </p:txBody>
      </p:sp>
      <p:pic>
        <p:nvPicPr>
          <p:cNvPr id="29" name="Picture 2"/>
          <p:cNvPicPr/>
          <p:nvPr/>
        </p:nvPicPr>
        <p:blipFill>
          <a:blip r:embed="rId4">
            <a:extLst>
              <a:ext uri="{28A0092B-C50C-407E-A947-70E740481C1C}">
                <a14:useLocalDpi xmlns:a14="http://schemas.microsoft.com/office/drawing/2010/main" val="0"/>
              </a:ext>
            </a:extLst>
          </a:blip>
          <a:srcRect/>
          <a:stretch>
            <a:fillRect/>
          </a:stretch>
        </p:blipFill>
        <p:spPr bwMode="auto">
          <a:xfrm>
            <a:off x="281305" y="2067694"/>
            <a:ext cx="4667250" cy="1851025"/>
          </a:xfrm>
          <a:prstGeom prst="rect">
            <a:avLst/>
          </a:prstGeom>
          <a:noFill/>
          <a:ln>
            <a:noFill/>
          </a:ln>
        </p:spPr>
      </p:pic>
      <p:sp>
        <p:nvSpPr>
          <p:cNvPr id="21" name="线形标注 1(无边框) 20"/>
          <p:cNvSpPr/>
          <p:nvPr/>
        </p:nvSpPr>
        <p:spPr>
          <a:xfrm>
            <a:off x="7452321" y="3291830"/>
            <a:ext cx="1257558" cy="612648"/>
          </a:xfrm>
          <a:prstGeom prst="callout1">
            <a:avLst>
              <a:gd name="adj1" fmla="val 18750"/>
              <a:gd name="adj2" fmla="val -8333"/>
              <a:gd name="adj3" fmla="val -113201"/>
              <a:gd name="adj4" fmla="val -57190"/>
            </a:avLst>
          </a:prstGeom>
          <a:noFill/>
          <a:ln>
            <a:solidFill>
              <a:srgbClr val="558ED5">
                <a:alpha val="96000"/>
              </a:srgbClr>
            </a:solidFill>
            <a:headEnd type="none" w="med" len="med"/>
            <a:tailEnd type="arrow" w="med" len="med"/>
          </a:ln>
          <a:effectLst>
            <a:outerShdw blurRad="50800" dist="50800" dir="5400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2060"/>
                </a:solidFill>
              </a:rPr>
              <a:t>重叠部分不可</a:t>
            </a:r>
            <a:r>
              <a:rPr lang="zh-CN" altLang="en-US" dirty="0" smtClean="0">
                <a:solidFill>
                  <a:srgbClr val="002060"/>
                </a:solidFill>
              </a:rPr>
              <a:t>通过！</a:t>
            </a:r>
            <a:endParaRPr lang="zh-CN" altLang="en-US" dirty="0">
              <a:solidFill>
                <a:srgbClr val="002060"/>
              </a:solidFill>
            </a:endParaRPr>
          </a:p>
        </p:txBody>
      </p:sp>
      <p:sp>
        <p:nvSpPr>
          <p:cNvPr id="22" name="矩形 21"/>
          <p:cNvSpPr/>
          <p:nvPr/>
        </p:nvSpPr>
        <p:spPr>
          <a:xfrm>
            <a:off x="3520333" y="4417909"/>
            <a:ext cx="2031325" cy="338554"/>
          </a:xfrm>
          <a:prstGeom prst="rect">
            <a:avLst/>
          </a:prstGeom>
        </p:spPr>
        <p:txBody>
          <a:bodyPr wrap="none">
            <a:spAutoFit/>
          </a:bodyPr>
          <a:lstStyle/>
          <a:p>
            <a:r>
              <a:rPr lang="zh-CN" altLang="zh-CN" sz="1600">
                <a:solidFill>
                  <a:srgbClr val="002060"/>
                </a:solidFill>
                <a:cs typeface="MV Boli" panose="02000500030200090000" pitchFamily="2" charset="0"/>
              </a:rPr>
              <a:t>圆形平面移动机器人</a:t>
            </a:r>
            <a:endParaRPr lang="zh-CN" altLang="en-US" sz="160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smtClean="0">
                <a:solidFill>
                  <a:srgbClr val="002060"/>
                </a:solidFill>
              </a:rPr>
              <a:t>位形空间</a:t>
            </a:r>
            <a:r>
              <a:rPr lang="en-US" altLang="zh-CN" sz="2400" b="1" dirty="0" smtClean="0">
                <a:solidFill>
                  <a:srgbClr val="002060"/>
                </a:solidFill>
              </a:rPr>
              <a:t>C-Space</a:t>
            </a:r>
            <a:endParaRPr lang="zh-CN" altLang="en-US" sz="2400" b="1" dirty="0">
              <a:solidFill>
                <a:srgbClr val="002060"/>
              </a:solidFill>
            </a:endParaRPr>
          </a:p>
        </p:txBody>
      </p:sp>
      <p:pic>
        <p:nvPicPr>
          <p:cNvPr id="12" name="Picture 2" descr="https://images2017.cnblogs.com/blog/890966/201710/890966-20171031154027933-1656129040.png"/>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419622"/>
            <a:ext cx="6120333" cy="2805088"/>
          </a:xfrm>
          <a:prstGeom prst="rect">
            <a:avLst/>
          </a:prstGeom>
          <a:noFill/>
        </p:spPr>
      </p:pic>
      <p:sp>
        <p:nvSpPr>
          <p:cNvPr id="2" name="矩形 1"/>
          <p:cNvSpPr/>
          <p:nvPr/>
        </p:nvSpPr>
        <p:spPr>
          <a:xfrm>
            <a:off x="2677154" y="1074434"/>
            <a:ext cx="3717684" cy="338554"/>
          </a:xfrm>
          <a:prstGeom prst="rect">
            <a:avLst/>
          </a:prstGeom>
        </p:spPr>
        <p:txBody>
          <a:bodyPr wrap="none">
            <a:spAutoFit/>
          </a:bodyPr>
          <a:lstStyle/>
          <a:p>
            <a:r>
              <a:rPr lang="zh-CN" altLang="en-US" sz="1600" dirty="0">
                <a:solidFill>
                  <a:srgbClr val="002060"/>
                </a:solidFill>
              </a:rPr>
              <a:t>障碍物膨胀后C-Space与工作空间的关系</a:t>
            </a:r>
          </a:p>
        </p:txBody>
      </p:sp>
      <mc:AlternateContent xmlns:mc="http://schemas.openxmlformats.org/markup-compatibility/2006" xmlns:a14="http://schemas.microsoft.com/office/drawing/2010/main">
        <mc:Choice Requires="a14">
          <p:sp>
            <p:nvSpPr>
              <p:cNvPr id="3" name="矩形 2"/>
              <p:cNvSpPr/>
              <p:nvPr/>
            </p:nvSpPr>
            <p:spPr>
              <a:xfrm>
                <a:off x="3287021" y="4472851"/>
                <a:ext cx="4572000" cy="325025"/>
              </a:xfrm>
              <a:prstGeom prst="rect">
                <a:avLst/>
              </a:prstGeom>
            </p:spPr>
            <p:txBody>
              <a:bodyPr>
                <a:spAutoFit/>
              </a:bodyPr>
              <a:lstStyle/>
              <a:p>
                <a:r>
                  <a:rPr lang="en-US" altLang="zh-CN" sz="1400" dirty="0" smtClean="0">
                    <a:solidFill>
                      <a:srgbClr val="FF0000"/>
                    </a:solidFill>
                    <a:latin typeface="宋体" panose="02010600030101010101" pitchFamily="2" charset="-122"/>
                    <a:cs typeface="MV Boli" panose="02000500030200090000" pitchFamily="2" charset="0"/>
                  </a:rPr>
                  <a:t>C-Space</a:t>
                </a:r>
                <a:r>
                  <a:rPr lang="zh-CN" altLang="zh-CN" sz="1400" dirty="0">
                    <a:solidFill>
                      <a:srgbClr val="FF0000"/>
                    </a:solidFill>
                    <a:cs typeface="MV Boli" panose="02000500030200090000" pitchFamily="2" charset="0"/>
                  </a:rPr>
                  <a:t>中的白色区域表示可通过的自由区域</a:t>
                </a:r>
                <a14:m>
                  <m:oMath xmlns:m="http://schemas.openxmlformats.org/officeDocument/2006/math">
                    <m:sSub>
                      <m:sSubPr>
                        <m:ctrlPr>
                          <a:rPr lang="zh-CN" altLang="zh-CN" sz="1400" i="1">
                            <a:solidFill>
                              <a:srgbClr val="FF0000"/>
                            </a:solidFill>
                            <a:effectLst/>
                            <a:latin typeface="Cambria Math" panose="02040503050406030204" pitchFamily="18" charset="0"/>
                            <a:ea typeface="Cambria Math" panose="02040503050406030204" pitchFamily="18" charset="0"/>
                          </a:rPr>
                        </m:ctrlPr>
                      </m:sSubPr>
                      <m:e>
                        <m:r>
                          <a:rPr lang="en-US" altLang="zh-CN" sz="1400" i="1">
                            <a:solidFill>
                              <a:srgbClr val="FF0000"/>
                            </a:solidFill>
                            <a:latin typeface="Cambria Math" panose="02040503050406030204" pitchFamily="18" charset="0"/>
                            <a:cs typeface="Times New Roman" panose="02020603050405020304" pitchFamily="18" charset="0"/>
                          </a:rPr>
                          <m:t>𝐶</m:t>
                        </m:r>
                      </m:e>
                      <m:sub>
                        <m:r>
                          <a:rPr lang="en-US" altLang="zh-CN" sz="1400" i="1">
                            <a:solidFill>
                              <a:srgbClr val="FF0000"/>
                            </a:solidFill>
                            <a:latin typeface="Cambria Math" panose="02040503050406030204" pitchFamily="18" charset="0"/>
                            <a:cs typeface="Times New Roman" panose="02020603050405020304" pitchFamily="18" charset="0"/>
                          </a:rPr>
                          <m:t>𝑓𝑟𝑒𝑒</m:t>
                        </m:r>
                      </m:sub>
                    </m:sSub>
                  </m:oMath>
                </a14:m>
                <a:endParaRPr lang="zh-CN" altLang="en-US" sz="1400" dirty="0">
                  <a:solidFill>
                    <a:srgbClr val="FF000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3287021" y="4472851"/>
                <a:ext cx="4572000" cy="325025"/>
              </a:xfrm>
              <a:prstGeom prst="rect">
                <a:avLst/>
              </a:prstGeom>
              <a:blipFill rotWithShape="1">
                <a:blip r:embed="rId4"/>
                <a:stretch>
                  <a:fillRect l="-6" t="-168" r="6" b="13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smtClean="0">
                <a:solidFill>
                  <a:srgbClr val="002060"/>
                </a:solidFill>
              </a:rPr>
              <a:t>位形空间</a:t>
            </a:r>
            <a:r>
              <a:rPr lang="en-US" altLang="zh-CN" sz="2400" b="1" dirty="0" smtClean="0">
                <a:solidFill>
                  <a:srgbClr val="002060"/>
                </a:solidFill>
              </a:rPr>
              <a:t>C-Space</a:t>
            </a:r>
            <a:endParaRPr lang="zh-CN" altLang="en-US" sz="2400" b="1" dirty="0">
              <a:solidFill>
                <a:srgbClr val="002060"/>
              </a:solidFill>
            </a:endParaRPr>
          </a:p>
        </p:txBody>
      </p:sp>
      <p:pic>
        <p:nvPicPr>
          <p:cNvPr id="11" name="Picture 2"/>
          <p:cNvPicPr/>
          <p:nvPr/>
        </p:nvPicPr>
        <p:blipFill>
          <a:blip r:embed="rId3">
            <a:extLst>
              <a:ext uri="{28A0092B-C50C-407E-A947-70E740481C1C}">
                <a14:useLocalDpi xmlns:a14="http://schemas.microsoft.com/office/drawing/2010/main" val="0"/>
              </a:ext>
            </a:extLst>
          </a:blip>
          <a:srcRect/>
          <a:stretch>
            <a:fillRect/>
          </a:stretch>
        </p:blipFill>
        <p:spPr bwMode="auto">
          <a:xfrm>
            <a:off x="1732525" y="1172630"/>
            <a:ext cx="5115069" cy="31964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2599372" y="4510574"/>
            <a:ext cx="3262432" cy="338554"/>
          </a:xfrm>
          <a:prstGeom prst="rect">
            <a:avLst/>
          </a:prstGeom>
        </p:spPr>
        <p:txBody>
          <a:bodyPr wrap="none">
            <a:spAutoFit/>
          </a:bodyPr>
          <a:lstStyle/>
          <a:p>
            <a:r>
              <a:rPr lang="zh-CN" altLang="zh-CN" sz="1600" dirty="0">
                <a:solidFill>
                  <a:srgbClr val="002060"/>
                </a:solidFill>
                <a:cs typeface="MV Boli" panose="02000500030200090000" pitchFamily="2" charset="0"/>
              </a:rPr>
              <a:t>仅能平移的多边形平面移动机器人</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5" name="矩形 4"/>
              <p:cNvSpPr/>
              <p:nvPr/>
            </p:nvSpPr>
            <p:spPr>
              <a:xfrm>
                <a:off x="7067810" y="2355726"/>
                <a:ext cx="1608646" cy="338554"/>
              </a:xfrm>
              <a:prstGeom prst="rect">
                <a:avLst/>
              </a:prstGeom>
            </p:spPr>
            <p:txBody>
              <a:bodyPr wrap="none">
                <a:spAutoFit/>
              </a:bodyPr>
              <a:lstStyle/>
              <a:p>
                <a:r>
                  <a:rPr lang="zh-CN" altLang="en-US" sz="1600" b="1" dirty="0" smtClean="0">
                    <a:solidFill>
                      <a:srgbClr val="FF0000"/>
                    </a:solidFill>
                  </a:rPr>
                  <a:t>黑色粗线框</a:t>
                </a:r>
                <a14:m>
                  <m:oMath xmlns:m="http://schemas.openxmlformats.org/officeDocument/2006/math">
                    <m:sSub>
                      <m:sSubPr>
                        <m:ctrlPr>
                          <a:rPr lang="zh-CN" altLang="zh-CN" sz="1600" b="1" i="1">
                            <a:solidFill>
                              <a:srgbClr val="FF0000"/>
                            </a:solidFill>
                            <a:latin typeface="Cambria Math" panose="02040503050406030204" pitchFamily="18" charset="0"/>
                          </a:rPr>
                        </m:ctrlPr>
                      </m:sSubPr>
                      <m:e>
                        <m:r>
                          <a:rPr lang="en-US" altLang="zh-CN" sz="1600" b="1" i="1">
                            <a:solidFill>
                              <a:srgbClr val="FF0000"/>
                            </a:solidFill>
                            <a:latin typeface="Cambria Math" panose="02040503050406030204" pitchFamily="18" charset="0"/>
                          </a:rPr>
                          <m:t>𝑪</m:t>
                        </m:r>
                      </m:e>
                      <m:sub>
                        <m:r>
                          <a:rPr lang="en-US" altLang="zh-CN" sz="1600" b="1" i="1">
                            <a:solidFill>
                              <a:srgbClr val="FF0000"/>
                            </a:solidFill>
                            <a:latin typeface="Cambria Math" panose="02040503050406030204" pitchFamily="18" charset="0"/>
                          </a:rPr>
                          <m:t>𝒐𝒃𝒔</m:t>
                        </m:r>
                      </m:sub>
                    </m:sSub>
                  </m:oMath>
                </a14:m>
                <a:endParaRPr lang="zh-CN" altLang="en-US" sz="1600" b="1" dirty="0">
                  <a:solidFill>
                    <a:srgbClr val="FF000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7067810" y="2355726"/>
                <a:ext cx="1608646" cy="338554"/>
              </a:xfrm>
              <a:prstGeom prst="rect">
                <a:avLst/>
              </a:prstGeom>
              <a:blipFill rotWithShape="1">
                <a:blip r:embed="rId4"/>
                <a:stretch>
                  <a:fillRect l="-16" t="-151" r="28" b="180"/>
                </a:stretch>
              </a:blipFill>
            </p:spPr>
            <p:txBody>
              <a:bodyPr/>
              <a:lstStyle/>
              <a:p>
                <a:r>
                  <a:rPr lang="zh-CN" altLang="en-US">
                    <a:noFill/>
                  </a:rPr>
                  <a:t> </a:t>
                </a:r>
              </a:p>
            </p:txBody>
          </p:sp>
        </mc:Fallback>
      </mc:AlternateContent>
      <p:cxnSp>
        <p:nvCxnSpPr>
          <p:cNvPr id="7" name="直接箭头连接符 6"/>
          <p:cNvCxnSpPr>
            <a:stCxn id="5" idx="1"/>
          </p:cNvCxnSpPr>
          <p:nvPr/>
        </p:nvCxnSpPr>
        <p:spPr>
          <a:xfrm flipH="1" flipV="1">
            <a:off x="6012160" y="2427734"/>
            <a:ext cx="1055650" cy="972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smtClean="0">
                <a:solidFill>
                  <a:srgbClr val="002060"/>
                </a:solidFill>
              </a:rPr>
              <a:t>位形空间</a:t>
            </a:r>
            <a:r>
              <a:rPr lang="en-US" altLang="zh-CN" sz="2400" b="1" dirty="0" smtClean="0">
                <a:solidFill>
                  <a:srgbClr val="002060"/>
                </a:solidFill>
              </a:rPr>
              <a:t>C-Space</a:t>
            </a:r>
            <a:endParaRPr lang="zh-CN" altLang="en-US" sz="2400" b="1" dirty="0">
              <a:solidFill>
                <a:srgbClr val="002060"/>
              </a:solidFill>
            </a:endParaRPr>
          </a:p>
        </p:txBody>
      </p:sp>
      <p:pic>
        <p:nvPicPr>
          <p:cNvPr id="12" name="图片 11"/>
          <p:cNvPicPr/>
          <p:nvPr/>
        </p:nvPicPr>
        <p:blipFill>
          <a:blip r:embed="rId3"/>
          <a:stretch>
            <a:fillRect/>
          </a:stretch>
        </p:blipFill>
        <p:spPr>
          <a:xfrm>
            <a:off x="1926781" y="1419622"/>
            <a:ext cx="5218430" cy="2914015"/>
          </a:xfrm>
          <a:prstGeom prst="rect">
            <a:avLst/>
          </a:prstGeom>
        </p:spPr>
      </p:pic>
      <p:sp>
        <p:nvSpPr>
          <p:cNvPr id="2" name="矩形 1"/>
          <p:cNvSpPr/>
          <p:nvPr/>
        </p:nvSpPr>
        <p:spPr>
          <a:xfrm>
            <a:off x="2411760" y="4495699"/>
            <a:ext cx="4083169" cy="338554"/>
          </a:xfrm>
          <a:prstGeom prst="rect">
            <a:avLst/>
          </a:prstGeom>
        </p:spPr>
        <p:txBody>
          <a:bodyPr wrap="none">
            <a:spAutoFit/>
          </a:bodyPr>
          <a:lstStyle/>
          <a:p>
            <a:r>
              <a:rPr lang="zh-CN" altLang="en-US" sz="1600" dirty="0">
                <a:solidFill>
                  <a:srgbClr val="002060"/>
                </a:solidFill>
              </a:rPr>
              <a:t>能同时平移和旋转的平面多边形移动机器人</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a:solidFill>
                  <a:srgbClr val="002060"/>
                </a:solidFill>
              </a:rPr>
              <a:t>到障碍物的距离</a:t>
            </a:r>
          </a:p>
        </p:txBody>
      </p:sp>
      <mc:AlternateContent xmlns:mc="http://schemas.openxmlformats.org/markup-compatibility/2006" xmlns:a14="http://schemas.microsoft.com/office/drawing/2010/main">
        <mc:Choice Requires="a14">
          <p:sp>
            <p:nvSpPr>
              <p:cNvPr id="3" name="文本框 2"/>
              <p:cNvSpPr txBox="1"/>
              <p:nvPr/>
            </p:nvSpPr>
            <p:spPr>
              <a:xfrm>
                <a:off x="1259632" y="1635646"/>
                <a:ext cx="6338060" cy="2062103"/>
              </a:xfrm>
              <a:prstGeom prst="rect">
                <a:avLst/>
              </a:prstGeom>
              <a:noFill/>
            </p:spPr>
            <p:txBody>
              <a:bodyPr wrap="square" rtlCol="0">
                <a:spAutoFit/>
              </a:bodyPr>
              <a:lstStyle/>
              <a:p>
                <a:pPr marL="285750" indent="-285750">
                  <a:buFont typeface="Wingdings" panose="05000000000000000000" pitchFamily="2" charset="2"/>
                  <a:buChar char="Ø"/>
                </a:pPr>
                <a:r>
                  <a:rPr lang="zh-CN" altLang="zh-CN" sz="1600" dirty="0" smtClean="0"/>
                  <a:t>已知位形空间障碍物</a:t>
                </a:r>
                <a:r>
                  <a:rPr lang="en-US" altLang="zh-CN" sz="1600" dirty="0"/>
                  <a:t>Ɓ</a:t>
                </a:r>
                <a:r>
                  <a:rPr lang="zh-CN" altLang="zh-CN" sz="1600" dirty="0"/>
                  <a:t>和机器人位形</a:t>
                </a:r>
                <a14:m>
                  <m:oMath xmlns:m="http://schemas.openxmlformats.org/officeDocument/2006/math">
                    <m:r>
                      <a:rPr lang="en-US" altLang="zh-CN" sz="1600" i="1">
                        <a:latin typeface="Cambria Math" panose="02040503050406030204" pitchFamily="18" charset="0"/>
                      </a:rPr>
                      <m:t>𝑞</m:t>
                    </m:r>
                  </m:oMath>
                </a14:m>
                <a:r>
                  <a:rPr lang="zh-CN" altLang="en-US" sz="1600" dirty="0" smtClean="0"/>
                  <a:t>，</a:t>
                </a:r>
                <a:r>
                  <a:rPr lang="zh-CN" altLang="zh-CN" sz="1600" dirty="0"/>
                  <a:t>定义</a:t>
                </a:r>
                <a14:m>
                  <m:oMath xmlns:m="http://schemas.openxmlformats.org/officeDocument/2006/math">
                    <m:r>
                      <a:rPr lang="en-US" altLang="zh-CN" sz="1600" i="1">
                        <a:latin typeface="Cambria Math" panose="02040503050406030204" pitchFamily="18" charset="0"/>
                      </a:rPr>
                      <m:t>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𝑞</m:t>
                        </m:r>
                        <m:r>
                          <a:rPr lang="en-US" altLang="zh-CN" sz="1600" i="1">
                            <a:latin typeface="Cambria Math" panose="02040503050406030204" pitchFamily="18" charset="0"/>
                          </a:rPr>
                          <m:t>,  </m:t>
                        </m:r>
                        <m:r>
                          <a:rPr lang="en-US" altLang="zh-CN" sz="1600">
                            <a:latin typeface="Cambria Math" panose="02040503050406030204" pitchFamily="18" charset="0"/>
                          </a:rPr>
                          <m:t>Ɓ</m:t>
                        </m:r>
                      </m:e>
                    </m:d>
                  </m:oMath>
                </a14:m>
                <a:r>
                  <a:rPr lang="zh-CN" altLang="zh-CN" sz="1600" dirty="0"/>
                  <a:t>为机器人与障碍物之间的</a:t>
                </a:r>
                <a:r>
                  <a:rPr lang="zh-CN" altLang="zh-CN" sz="1600" dirty="0" smtClean="0"/>
                  <a:t>距离</a:t>
                </a:r>
                <a:r>
                  <a:rPr lang="zh-CN" altLang="en-US" sz="1600" dirty="0" smtClean="0"/>
                  <a:t>：</a:t>
                </a:r>
                <a:endParaRPr lang="en-US" altLang="zh-CN" sz="1600" dirty="0" smtClean="0"/>
              </a:p>
              <a:p>
                <a:pPr marL="285750" indent="-285750">
                  <a:buFont typeface="Wingdings" panose="05000000000000000000" pitchFamily="2" charset="2"/>
                  <a:buChar char="Ø"/>
                </a:pPr>
                <a:endParaRPr lang="en-US" altLang="zh-CN" sz="1600" dirty="0" smtClean="0"/>
              </a:p>
              <a:p>
                <a:pPr marL="742950" lvl="1" indent="-285750">
                  <a:buFont typeface="Wingdings" panose="05000000000000000000" pitchFamily="2" charset="2"/>
                  <a:buChar char="Ø"/>
                </a:pPr>
                <a14:m>
                  <m:oMath xmlns:m="http://schemas.openxmlformats.org/officeDocument/2006/math">
                    <m:r>
                      <a:rPr lang="en-US" altLang="zh-CN" sz="1600" i="1">
                        <a:latin typeface="Cambria Math" panose="02040503050406030204" pitchFamily="18" charset="0"/>
                      </a:rPr>
                      <m:t>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𝑞</m:t>
                        </m:r>
                        <m:r>
                          <a:rPr lang="en-US" altLang="zh-CN" sz="1600" i="1">
                            <a:latin typeface="Cambria Math" panose="02040503050406030204" pitchFamily="18" charset="0"/>
                          </a:rPr>
                          <m:t>, </m:t>
                        </m:r>
                        <m:r>
                          <a:rPr lang="en-US" altLang="zh-CN" sz="1600">
                            <a:latin typeface="Cambria Math" panose="02040503050406030204" pitchFamily="18" charset="0"/>
                          </a:rPr>
                          <m:t>Ɓ</m:t>
                        </m:r>
                      </m:e>
                    </m:d>
                    <m:r>
                      <a:rPr lang="en-US" altLang="zh-CN" sz="1600" i="1">
                        <a:latin typeface="Cambria Math" panose="02040503050406030204" pitchFamily="18" charset="0"/>
                      </a:rPr>
                      <m:t>&gt;0, </m:t>
                    </m:r>
                    <m:r>
                      <a:rPr lang="zh-CN" altLang="zh-CN" sz="1600">
                        <a:latin typeface="Cambria Math" panose="02040503050406030204" pitchFamily="18" charset="0"/>
                      </a:rPr>
                      <m:t>机器人与障碍物之间没有接触；</m:t>
                    </m:r>
                  </m:oMath>
                </a14:m>
                <a:endParaRPr lang="en-US" altLang="zh-CN" sz="1600" dirty="0" smtClean="0"/>
              </a:p>
              <a:p>
                <a:pPr marL="742950" lvl="1" indent="-285750">
                  <a:buFont typeface="Wingdings" panose="05000000000000000000" pitchFamily="2" charset="2"/>
                  <a:buChar char="Ø"/>
                </a:pPr>
                <a:endParaRPr lang="en-US" altLang="zh-CN" sz="1600" dirty="0" smtClean="0"/>
              </a:p>
              <a:p>
                <a:pPr marL="742950" lvl="1" indent="-285750">
                  <a:buFont typeface="Wingdings" panose="05000000000000000000" pitchFamily="2" charset="2"/>
                  <a:buChar char="Ø"/>
                </a:pPr>
                <a14:m>
                  <m:oMath xmlns:m="http://schemas.openxmlformats.org/officeDocument/2006/math">
                    <m:r>
                      <a:rPr lang="en-US" altLang="zh-CN" sz="1600" i="1">
                        <a:latin typeface="Cambria Math" panose="02040503050406030204" pitchFamily="18" charset="0"/>
                      </a:rPr>
                      <m:t>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𝑞</m:t>
                        </m:r>
                        <m:r>
                          <a:rPr lang="en-US" altLang="zh-CN" sz="1600" i="1">
                            <a:latin typeface="Cambria Math" panose="02040503050406030204" pitchFamily="18" charset="0"/>
                          </a:rPr>
                          <m:t>, </m:t>
                        </m:r>
                        <m:r>
                          <a:rPr lang="en-US" altLang="zh-CN" sz="1600">
                            <a:latin typeface="Cambria Math" panose="02040503050406030204" pitchFamily="18" charset="0"/>
                          </a:rPr>
                          <m:t>Ɓ</m:t>
                        </m:r>
                      </m:e>
                    </m:d>
                    <m:r>
                      <a:rPr lang="en-US" altLang="zh-CN" sz="1600" i="1">
                        <a:latin typeface="Cambria Math" panose="02040503050406030204" pitchFamily="18" charset="0"/>
                      </a:rPr>
                      <m:t>=0, </m:t>
                    </m:r>
                    <m:r>
                      <a:rPr lang="zh-CN" altLang="zh-CN" sz="1600">
                        <a:latin typeface="Cambria Math" panose="02040503050406030204" pitchFamily="18" charset="0"/>
                      </a:rPr>
                      <m:t>机器人与障碍物之间有接触；</m:t>
                    </m:r>
                  </m:oMath>
                </a14:m>
                <a:endParaRPr lang="en-US" altLang="zh-CN" sz="1600" dirty="0" smtClean="0"/>
              </a:p>
              <a:p>
                <a:pPr marL="742950" lvl="1" indent="-285750">
                  <a:buFont typeface="Wingdings" panose="05000000000000000000" pitchFamily="2" charset="2"/>
                  <a:buChar char="Ø"/>
                </a:pPr>
                <a:endParaRPr lang="zh-CN" altLang="zh-CN" sz="1600" dirty="0"/>
              </a:p>
              <a:p>
                <a:pPr marL="742950" lvl="1" indent="-285750">
                  <a:buFont typeface="Wingdings" panose="05000000000000000000" pitchFamily="2" charset="2"/>
                  <a:buChar char="Ø"/>
                </a:pPr>
                <a14:m>
                  <m:oMath xmlns:m="http://schemas.openxmlformats.org/officeDocument/2006/math">
                    <m:r>
                      <a:rPr lang="en-US" altLang="zh-CN" sz="1600" i="1">
                        <a:latin typeface="Cambria Math" panose="02040503050406030204" pitchFamily="18" charset="0"/>
                      </a:rPr>
                      <m:t>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𝑞</m:t>
                        </m:r>
                        <m:r>
                          <a:rPr lang="en-US" altLang="zh-CN" sz="1600" i="1">
                            <a:latin typeface="Cambria Math" panose="02040503050406030204" pitchFamily="18" charset="0"/>
                          </a:rPr>
                          <m:t>, </m:t>
                        </m:r>
                        <m:r>
                          <a:rPr lang="en-US" altLang="zh-CN" sz="1600">
                            <a:latin typeface="Cambria Math" panose="02040503050406030204" pitchFamily="18" charset="0"/>
                          </a:rPr>
                          <m:t>Ɓ</m:t>
                        </m:r>
                      </m:e>
                    </m:d>
                    <m:r>
                      <a:rPr lang="en-US" altLang="zh-CN" sz="1600" i="1">
                        <a:latin typeface="Cambria Math" panose="02040503050406030204" pitchFamily="18" charset="0"/>
                      </a:rPr>
                      <m:t>&lt;0, </m:t>
                    </m:r>
                    <m:r>
                      <a:rPr lang="zh-CN" altLang="zh-CN" sz="1600">
                        <a:latin typeface="Cambria Math" panose="02040503050406030204" pitchFamily="18" charset="0"/>
                      </a:rPr>
                      <m:t>机器人与障碍物之间发生了碰撞侵入。</m:t>
                    </m:r>
                  </m:oMath>
                </a14:m>
                <a:endParaRPr lang="zh-CN" altLang="en-US" sz="16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259632" y="1635646"/>
                <a:ext cx="6338060" cy="2062103"/>
              </a:xfrm>
              <a:prstGeom prst="rect">
                <a:avLst/>
              </a:prstGeom>
              <a:blipFill rotWithShape="1">
                <a:blip r:embed="rId3"/>
                <a:stretch>
                  <a:fillRect l="-7" t="-25" r="9" b="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75518" y="418230"/>
            <a:ext cx="3456721" cy="461665"/>
          </a:xfrm>
          <a:prstGeom prst="rect">
            <a:avLst/>
          </a:prstGeom>
        </p:spPr>
        <p:txBody>
          <a:bodyPr wrap="square">
            <a:spAutoFit/>
          </a:bodyPr>
          <a:lstStyle/>
          <a:p>
            <a:r>
              <a:rPr lang="zh-CN" altLang="en-US" sz="2400" b="1" dirty="0">
                <a:solidFill>
                  <a:srgbClr val="002060"/>
                </a:solidFill>
              </a:rPr>
              <a:t>到障碍物的距离</a:t>
            </a:r>
          </a:p>
        </p:txBody>
      </p:sp>
      <p:pic>
        <p:nvPicPr>
          <p:cNvPr id="2" name="图片 1"/>
          <p:cNvPicPr>
            <a:picLocks noChangeAspect="1"/>
          </p:cNvPicPr>
          <p:nvPr/>
        </p:nvPicPr>
        <p:blipFill>
          <a:blip r:embed="rId3"/>
          <a:stretch>
            <a:fillRect/>
          </a:stretch>
        </p:blipFill>
        <p:spPr>
          <a:xfrm>
            <a:off x="6628718" y="1097065"/>
            <a:ext cx="2051993" cy="1378438"/>
          </a:xfrm>
          <a:prstGeom prst="rect">
            <a:avLst/>
          </a:prstGeom>
        </p:spPr>
      </p:pic>
      <mc:AlternateContent xmlns:mc="http://schemas.openxmlformats.org/markup-compatibility/2006" xmlns:a14="http://schemas.microsoft.com/office/drawing/2010/main">
        <mc:Choice Requires="a14">
          <p:sp>
            <p:nvSpPr>
              <p:cNvPr id="4" name="矩形 3"/>
              <p:cNvSpPr/>
              <p:nvPr/>
            </p:nvSpPr>
            <p:spPr>
              <a:xfrm>
                <a:off x="1993060" y="1068515"/>
                <a:ext cx="3120662" cy="3904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𝐴𝐵</m:t>
                          </m:r>
                        </m:e>
                      </m:d>
                      <m:r>
                        <a:rPr lang="zh-CN" altLang="en-US" sz="1600" i="0">
                          <a:latin typeface="Cambria Math" panose="02040503050406030204" pitchFamily="18" charset="0"/>
                        </a:rPr>
                        <m:t>=</m:t>
                      </m:r>
                      <m:rad>
                        <m:radPr>
                          <m:degHide m:val="on"/>
                          <m:ctrlPr>
                            <a:rPr lang="zh-CN" altLang="en-US" sz="1600" i="1">
                              <a:latin typeface="Cambria Math" panose="02040503050406030204" pitchFamily="18" charset="0"/>
                            </a:rPr>
                          </m:ctrlPr>
                        </m:radPr>
                        <m:deg/>
                        <m:e>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1</m:t>
                                      </m:r>
                                    </m:sub>
                                  </m:sSub>
                                </m:e>
                              </m:d>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0">
                                          <a:latin typeface="Cambria Math" panose="02040503050406030204" pitchFamily="18" charset="0"/>
                                        </a:rPr>
                                        <m:t>1</m:t>
                                      </m:r>
                                    </m:sub>
                                  </m:sSub>
                                </m:e>
                              </m:d>
                            </m:e>
                            <m:sup>
                              <m:r>
                                <a:rPr lang="zh-CN" altLang="en-US" sz="1600" i="0">
                                  <a:latin typeface="Cambria Math" panose="02040503050406030204" pitchFamily="18" charset="0"/>
                                </a:rPr>
                                <m:t>2</m:t>
                              </m:r>
                            </m:sup>
                          </m:sSup>
                        </m:e>
                      </m:rad>
                    </m:oMath>
                  </m:oMathPara>
                </a14:m>
                <a:endParaRPr lang="zh-CN" altLang="en-US" sz="1600" dirty="0"/>
              </a:p>
            </p:txBody>
          </p:sp>
        </mc:Choice>
        <mc:Fallback xmlns="">
          <p:sp>
            <p:nvSpPr>
              <p:cNvPr id="4" name="矩形 3"/>
              <p:cNvSpPr>
                <a:spLocks noRot="1" noChangeAspect="1" noMove="1" noResize="1" noEditPoints="1" noAdjustHandles="1" noChangeArrowheads="1" noChangeShapeType="1" noTextEdit="1"/>
              </p:cNvSpPr>
              <p:nvPr/>
            </p:nvSpPr>
            <p:spPr>
              <a:xfrm>
                <a:off x="1993060" y="1068515"/>
                <a:ext cx="3120662" cy="390492"/>
              </a:xfrm>
              <a:prstGeom prst="rect">
                <a:avLst/>
              </a:prstGeom>
              <a:blipFill rotWithShape="1">
                <a:blip r:embed="rId4"/>
                <a:stretch>
                  <a:fillRect l="-14" t="-114" r="2" b="1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634691" y="1647627"/>
                <a:ext cx="5019566" cy="3904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𝐴𝐵</m:t>
                          </m:r>
                        </m:e>
                      </m:d>
                      <m:r>
                        <a:rPr lang="zh-CN" altLang="en-US" sz="1600" i="0">
                          <a:latin typeface="Cambria Math" panose="02040503050406030204" pitchFamily="18" charset="0"/>
                        </a:rPr>
                        <m:t>=</m:t>
                      </m:r>
                      <m:rad>
                        <m:radPr>
                          <m:degHide m:val="on"/>
                          <m:ctrlPr>
                            <a:rPr lang="zh-CN" altLang="en-US" sz="1600" i="1">
                              <a:latin typeface="Cambria Math" panose="02040503050406030204" pitchFamily="18" charset="0"/>
                            </a:rPr>
                          </m:ctrlPr>
                        </m:radPr>
                        <m:deg/>
                        <m:e>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1</m:t>
                                      </m:r>
                                    </m:sub>
                                  </m:sSub>
                                </m:e>
                              </m:d>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0">
                                          <a:latin typeface="Cambria Math" panose="02040503050406030204" pitchFamily="18" charset="0"/>
                                        </a:rPr>
                                        <m:t>1</m:t>
                                      </m:r>
                                    </m:sub>
                                  </m:sSub>
                                </m:e>
                              </m:d>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1</m:t>
                                      </m:r>
                                    </m:sub>
                                  </m:sSub>
                                </m:e>
                              </m:d>
                            </m:e>
                            <m:sup>
                              <m:r>
                                <a:rPr lang="zh-CN" altLang="en-US" sz="1600" i="0">
                                  <a:latin typeface="Cambria Math" panose="02040503050406030204" pitchFamily="18" charset="0"/>
                                </a:rPr>
                                <m:t>2</m:t>
                              </m:r>
                            </m:sup>
                          </m:sSup>
                        </m:e>
                      </m:rad>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1634691" y="1647627"/>
                <a:ext cx="5019566" cy="390492"/>
              </a:xfrm>
              <a:prstGeom prst="rect">
                <a:avLst/>
              </a:prstGeom>
              <a:blipFill rotWithShape="1">
                <a:blip r:embed="rId5"/>
                <a:stretch>
                  <a:fillRect l="-4" t="-112" r="2" b="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993060" y="2207268"/>
                <a:ext cx="2619115" cy="390556"/>
              </a:xfrm>
              <a:prstGeom prst="rect">
                <a:avLst/>
              </a:prstGeom>
            </p:spPr>
            <p:txBody>
              <a:bodyPr wrap="none">
                <a:spAutoFit/>
              </a:bodyPr>
              <a:lstStyle/>
              <a:p>
                <a14:m>
                  <m:oMath xmlns:m="http://schemas.openxmlformats.org/officeDocument/2006/math">
                    <m:d>
                      <m:dPr>
                        <m:begChr m:val="‖"/>
                        <m:end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𝐴𝐵</m:t>
                            </m:r>
                          </m:e>
                        </m:acc>
                      </m:e>
                    </m:d>
                    <m:r>
                      <a:rPr lang="en-US" altLang="zh-CN" sz="1600">
                        <a:latin typeface="Cambria Math" panose="02040503050406030204" pitchFamily="18" charset="0"/>
                        <a:cs typeface="MV Boli" panose="02000500030200090000" pitchFamily="2" charset="0"/>
                      </a:rPr>
                      <m:t>=</m:t>
                    </m:r>
                    <m:rad>
                      <m:radPr>
                        <m:degHide m:val="on"/>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radPr>
                      <m:deg/>
                      <m:e>
                        <m:nary>
                          <m:naryPr>
                            <m:chr m:val="∑"/>
                            <m:limLoc m:val="undOv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600" i="1">
                                <a:latin typeface="Cambria Math" panose="02040503050406030204" pitchFamily="18" charset="0"/>
                                <a:cs typeface="MV Boli" panose="02000500030200090000" pitchFamily="2" charset="0"/>
                              </a:rPr>
                              <m:t>𝑖</m:t>
                            </m:r>
                            <m:r>
                              <a:rPr lang="en-US" altLang="zh-CN" sz="1600" i="1">
                                <a:latin typeface="Cambria Math" panose="02040503050406030204" pitchFamily="18" charset="0"/>
                                <a:cs typeface="MV Boli" panose="02000500030200090000" pitchFamily="2" charset="0"/>
                              </a:rPr>
                              <m:t>=1</m:t>
                            </m:r>
                          </m:sub>
                          <m:sup>
                            <m:r>
                              <a:rPr lang="en-US" altLang="zh-CN" sz="1600" i="1">
                                <a:latin typeface="Cambria Math" panose="02040503050406030204" pitchFamily="18" charset="0"/>
                                <a:cs typeface="MV Boli" panose="02000500030200090000" pitchFamily="2" charset="0"/>
                              </a:rPr>
                              <m:t>𝑛</m:t>
                            </m:r>
                          </m:sup>
                          <m:e>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𝑥</m:t>
                                    </m:r>
                                  </m:e>
                                  <m:sub>
                                    <m:r>
                                      <a:rPr lang="en-US" altLang="zh-CN" sz="1600" i="1">
                                        <a:latin typeface="Cambria Math" panose="02040503050406030204" pitchFamily="18" charset="0"/>
                                        <a:cs typeface="MV Boli" panose="02000500030200090000" pitchFamily="2" charset="0"/>
                                      </a:rPr>
                                      <m:t>1</m:t>
                                    </m:r>
                                    <m:r>
                                      <a:rPr lang="en-US" altLang="zh-CN" sz="1600" i="1">
                                        <a:latin typeface="Cambria Math" panose="02040503050406030204" pitchFamily="18" charset="0"/>
                                        <a:cs typeface="MV Boli" panose="02000500030200090000" pitchFamily="2" charset="0"/>
                                      </a:rPr>
                                      <m:t>𝑖</m:t>
                                    </m:r>
                                  </m:sub>
                                </m:sSub>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𝑥</m:t>
                                    </m:r>
                                  </m:e>
                                  <m:sub>
                                    <m:r>
                                      <a:rPr lang="en-US" altLang="zh-CN" sz="1600" i="1">
                                        <a:latin typeface="Cambria Math" panose="02040503050406030204" pitchFamily="18" charset="0"/>
                                        <a:cs typeface="MV Boli" panose="02000500030200090000" pitchFamily="2" charset="0"/>
                                      </a:rPr>
                                      <m:t>2</m:t>
                                    </m:r>
                                    <m:r>
                                      <a:rPr lang="en-US" altLang="zh-CN" sz="1600" i="1">
                                        <a:latin typeface="Cambria Math" panose="02040503050406030204" pitchFamily="18" charset="0"/>
                                        <a:cs typeface="MV Boli" panose="02000500030200090000" pitchFamily="2" charset="0"/>
                                      </a:rPr>
                                      <m:t>𝑖</m:t>
                                    </m:r>
                                  </m:sub>
                                </m:sSub>
                                <m:r>
                                  <a:rPr lang="en-US" altLang="zh-CN" sz="1600" i="1">
                                    <a:latin typeface="Cambria Math" panose="02040503050406030204" pitchFamily="18" charset="0"/>
                                    <a:cs typeface="MV Boli" panose="02000500030200090000" pitchFamily="2" charset="0"/>
                                  </a:rPr>
                                  <m:t>)</m:t>
                                </m:r>
                              </m:e>
                              <m:sup>
                                <m:r>
                                  <a:rPr lang="en-US" altLang="zh-CN" sz="1600" i="1">
                                    <a:latin typeface="Cambria Math" panose="02040503050406030204" pitchFamily="18" charset="0"/>
                                    <a:cs typeface="MV Boli" panose="02000500030200090000" pitchFamily="2" charset="0"/>
                                  </a:rPr>
                                  <m:t>2</m:t>
                                </m:r>
                              </m:sup>
                            </m:sSup>
                          </m:e>
                        </m:nary>
                      </m:e>
                    </m:rad>
                  </m:oMath>
                </a14:m>
                <a:r>
                  <a:rPr lang="en-US" altLang="zh-CN" sz="1600" dirty="0">
                    <a:latin typeface="宋体" panose="02010600030101010101" pitchFamily="2" charset="-122"/>
                    <a:cs typeface="MV Boli" panose="02000500030200090000" pitchFamily="2" charset="0"/>
                  </a:rPr>
                  <a:t> </a:t>
                </a:r>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1993060" y="2207268"/>
                <a:ext cx="2619115" cy="390556"/>
              </a:xfrm>
              <a:prstGeom prst="rect">
                <a:avLst/>
              </a:prstGeom>
              <a:blipFill rotWithShape="1">
                <a:blip r:embed="rId6"/>
                <a:stretch>
                  <a:fillRect l="-16" t="-2" r="-1351" b="-37711"/>
                </a:stretch>
              </a:blipFill>
            </p:spPr>
            <p:txBody>
              <a:bodyPr/>
              <a:lstStyle/>
              <a:p>
                <a:r>
                  <a:rPr lang="zh-CN" altLang="en-US">
                    <a:noFill/>
                  </a:rPr>
                  <a:t> </a:t>
                </a:r>
              </a:p>
            </p:txBody>
          </p:sp>
        </mc:Fallback>
      </mc:AlternateContent>
      <p:sp>
        <p:nvSpPr>
          <p:cNvPr id="7" name="矩形 6"/>
          <p:cNvSpPr/>
          <p:nvPr/>
        </p:nvSpPr>
        <p:spPr>
          <a:xfrm>
            <a:off x="372103" y="1139924"/>
            <a:ext cx="1620957" cy="338554"/>
          </a:xfrm>
          <a:prstGeom prst="rect">
            <a:avLst/>
          </a:prstGeom>
        </p:spPr>
        <p:txBody>
          <a:bodyPr wrap="none">
            <a:spAutoFit/>
          </a:bodyPr>
          <a:lstStyle/>
          <a:p>
            <a:r>
              <a:rPr lang="zh-CN" altLang="zh-CN" sz="1600" dirty="0">
                <a:solidFill>
                  <a:srgbClr val="002060"/>
                </a:solidFill>
                <a:cs typeface="MV Boli" panose="02000500030200090000" pitchFamily="2" charset="0"/>
              </a:rPr>
              <a:t>平面直角坐标系</a:t>
            </a:r>
            <a:endParaRPr lang="zh-CN" altLang="en-US" sz="1600" dirty="0">
              <a:solidFill>
                <a:srgbClr val="002060"/>
              </a:solidFill>
            </a:endParaRPr>
          </a:p>
        </p:txBody>
      </p:sp>
      <p:sp>
        <p:nvSpPr>
          <p:cNvPr id="8" name="矩形 7"/>
          <p:cNvSpPr/>
          <p:nvPr/>
        </p:nvSpPr>
        <p:spPr>
          <a:xfrm>
            <a:off x="436280" y="1678421"/>
            <a:ext cx="1005403" cy="338554"/>
          </a:xfrm>
          <a:prstGeom prst="rect">
            <a:avLst/>
          </a:prstGeom>
        </p:spPr>
        <p:txBody>
          <a:bodyPr wrap="none">
            <a:spAutoFit/>
          </a:bodyPr>
          <a:lstStyle/>
          <a:p>
            <a:r>
              <a:rPr lang="zh-CN" altLang="zh-CN" sz="1600" dirty="0">
                <a:solidFill>
                  <a:srgbClr val="002060"/>
                </a:solidFill>
                <a:cs typeface="MV Boli" panose="02000500030200090000" pitchFamily="2" charset="0"/>
              </a:rPr>
              <a:t>三维空间</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9" name="矩形 8"/>
              <p:cNvSpPr/>
              <p:nvPr/>
            </p:nvSpPr>
            <p:spPr>
              <a:xfrm>
                <a:off x="4559988" y="2193904"/>
                <a:ext cx="1436227" cy="3154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𝐴</m:t>
                              </m:r>
                            </m:e>
                          </m:acc>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11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12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1</m:t>
                              </m:r>
                              <m:r>
                                <a:rPr lang="zh-CN" altLang="en-US" sz="1200" i="1">
                                  <a:latin typeface="Cambria Math" panose="02040503050406030204" pitchFamily="18" charset="0"/>
                                </a:rPr>
                                <m:t>𝑛</m:t>
                              </m:r>
                            </m:sub>
                          </m:sSub>
                        </m:e>
                      </m:d>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4559988" y="2193904"/>
                <a:ext cx="1436227" cy="315407"/>
              </a:xfrm>
              <a:prstGeom prst="rect">
                <a:avLst/>
              </a:prstGeom>
              <a:blipFill rotWithShape="1">
                <a:blip r:embed="rId7"/>
                <a:stretch>
                  <a:fillRect l="-4" t="-195" r="38" b="1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519882" y="2490298"/>
                <a:ext cx="1452834" cy="3142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𝐵</m:t>
                              </m:r>
                            </m:e>
                          </m:acc>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21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22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2</m:t>
                              </m:r>
                              <m:r>
                                <a:rPr lang="zh-CN" altLang="en-US" sz="1200" i="1">
                                  <a:latin typeface="Cambria Math" panose="02040503050406030204" pitchFamily="18" charset="0"/>
                                </a:rPr>
                                <m:t>𝑛</m:t>
                              </m:r>
                            </m:sub>
                          </m:sSub>
                        </m:e>
                      </m:d>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4519882" y="2490298"/>
                <a:ext cx="1452834" cy="314253"/>
              </a:xfrm>
              <a:prstGeom prst="rect">
                <a:avLst/>
              </a:prstGeom>
              <a:blipFill rotWithShape="1">
                <a:blip r:embed="rId8"/>
                <a:stretch>
                  <a:fillRect l="-40" t="-147" r="37" b="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95536" y="2207268"/>
                <a:ext cx="920765" cy="338554"/>
              </a:xfrm>
              <a:prstGeom prst="rect">
                <a:avLst/>
              </a:prstGeom>
            </p:spPr>
            <p:txBody>
              <a:bodyPr wrap="none">
                <a:spAutoFit/>
              </a:bodyPr>
              <a:lstStyle/>
              <a:p>
                <a14:m>
                  <m:oMath xmlns:m="http://schemas.openxmlformats.org/officeDocument/2006/math">
                    <m:r>
                      <a:rPr lang="en-US" altLang="zh-CN" sz="1600" i="1" smtClean="0">
                        <a:solidFill>
                          <a:srgbClr val="002060"/>
                        </a:solidFill>
                        <a:latin typeface="Cambria Math" panose="02040503050406030204" pitchFamily="18" charset="0"/>
                        <a:cs typeface="MV Boli" panose="02000500030200090000" pitchFamily="2" charset="0"/>
                      </a:rPr>
                      <m:t>𝑛</m:t>
                    </m:r>
                  </m:oMath>
                </a14:m>
                <a:r>
                  <a:rPr lang="zh-CN" altLang="zh-CN" sz="1600" dirty="0">
                    <a:solidFill>
                      <a:srgbClr val="002060"/>
                    </a:solidFill>
                    <a:cs typeface="MV Boli" panose="02000500030200090000" pitchFamily="2" charset="0"/>
                  </a:rPr>
                  <a:t>维空间</a:t>
                </a:r>
                <a:endParaRPr lang="zh-CN" altLang="en-US" sz="1600" dirty="0">
                  <a:solidFill>
                    <a:srgbClr val="00206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395536" y="2207268"/>
                <a:ext cx="920765" cy="338554"/>
              </a:xfrm>
              <a:prstGeom prst="rect">
                <a:avLst/>
              </a:prstGeom>
              <a:blipFill rotWithShape="1">
                <a:blip r:embed="rId9"/>
                <a:stretch>
                  <a:fillRect l="-61" t="-2" r="63" b="32"/>
                </a:stretch>
              </a:blipFill>
            </p:spPr>
            <p:txBody>
              <a:bodyPr/>
              <a:lstStyle/>
              <a:p>
                <a:r>
                  <a:rPr lang="zh-CN" altLang="en-US">
                    <a:noFill/>
                  </a:rPr>
                  <a:t> </a:t>
                </a:r>
              </a:p>
            </p:txBody>
          </p:sp>
        </mc:Fallback>
      </mc:AlternateContent>
      <p:sp>
        <p:nvSpPr>
          <p:cNvPr id="12" name="圆角矩形 11"/>
          <p:cNvSpPr/>
          <p:nvPr/>
        </p:nvSpPr>
        <p:spPr>
          <a:xfrm>
            <a:off x="372103" y="1068515"/>
            <a:ext cx="6000097" cy="18632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132928" y="1193721"/>
            <a:ext cx="1005403" cy="338554"/>
          </a:xfrm>
          <a:prstGeom prst="rect">
            <a:avLst/>
          </a:prstGeom>
        </p:spPr>
        <p:txBody>
          <a:bodyPr wrap="none">
            <a:spAutoFit/>
          </a:bodyPr>
          <a:lstStyle/>
          <a:p>
            <a:r>
              <a:rPr lang="zh-CN" altLang="zh-CN" sz="1600" b="1" dirty="0">
                <a:solidFill>
                  <a:srgbClr val="92D050"/>
                </a:solidFill>
                <a:cs typeface="MV Boli" panose="02000500030200090000" pitchFamily="2" charset="0"/>
              </a:rPr>
              <a:t>欧氏距离</a:t>
            </a:r>
            <a:endParaRPr lang="zh-CN" altLang="en-US" sz="1600" b="1" dirty="0">
              <a:solidFill>
                <a:srgbClr val="92D050"/>
              </a:solidFill>
            </a:endParaRPr>
          </a:p>
        </p:txBody>
      </p:sp>
      <p:sp>
        <p:nvSpPr>
          <p:cNvPr id="14" name="矩形 13"/>
          <p:cNvSpPr/>
          <p:nvPr/>
        </p:nvSpPr>
        <p:spPr>
          <a:xfrm>
            <a:off x="628583" y="3187842"/>
            <a:ext cx="1005403" cy="338554"/>
          </a:xfrm>
          <a:prstGeom prst="rect">
            <a:avLst/>
          </a:prstGeom>
        </p:spPr>
        <p:txBody>
          <a:bodyPr wrap="none">
            <a:spAutoFit/>
          </a:bodyPr>
          <a:lstStyle/>
          <a:p>
            <a:r>
              <a:rPr lang="zh-CN" altLang="zh-CN" sz="1600" dirty="0">
                <a:solidFill>
                  <a:srgbClr val="002060"/>
                </a:solidFill>
                <a:cs typeface="MV Boli" panose="02000500030200090000" pitchFamily="2" charset="0"/>
              </a:rPr>
              <a:t>二维空间</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5" name="矩形 14"/>
              <p:cNvSpPr/>
              <p:nvPr/>
            </p:nvSpPr>
            <p:spPr>
              <a:xfrm>
                <a:off x="1819811" y="3172453"/>
                <a:ext cx="294067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𝑑</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𝐴</m:t>
                          </m:r>
                          <m:r>
                            <a:rPr lang="zh-CN" altLang="en-US" sz="1600" i="0">
                              <a:latin typeface="Cambria Math" panose="02040503050406030204" pitchFamily="18" charset="0"/>
                            </a:rPr>
                            <m:t>,</m:t>
                          </m:r>
                          <m:r>
                            <a:rPr lang="zh-CN" altLang="en-US" sz="1600" i="1">
                              <a:latin typeface="Cambria Math" panose="02040503050406030204" pitchFamily="18" charset="0"/>
                            </a:rPr>
                            <m:t>𝐵</m:t>
                          </m:r>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2</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0">
                                  <a:latin typeface="Cambria Math" panose="02040503050406030204" pitchFamily="18" charset="0"/>
                                </a:rPr>
                                <m:t>2</m:t>
                              </m:r>
                            </m:sub>
                          </m:sSub>
                        </m:e>
                      </m:d>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1819811" y="3172453"/>
                <a:ext cx="2940677" cy="338554"/>
              </a:xfrm>
              <a:prstGeom prst="rect">
                <a:avLst/>
              </a:prstGeom>
              <a:blipFill rotWithShape="1">
                <a:blip r:embed="rId10"/>
                <a:stretch>
                  <a:fillRect l="-18" t="-185" r="18" b="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43050" y="3782448"/>
                <a:ext cx="920765" cy="338554"/>
              </a:xfrm>
              <a:prstGeom prst="rect">
                <a:avLst/>
              </a:prstGeom>
            </p:spPr>
            <p:txBody>
              <a:bodyPr wrap="none">
                <a:spAutoFit/>
              </a:bodyPr>
              <a:lstStyle/>
              <a:p>
                <a14:m>
                  <m:oMath xmlns:m="http://schemas.openxmlformats.org/officeDocument/2006/math">
                    <m:r>
                      <a:rPr lang="en-US" altLang="zh-CN" sz="1600" i="1" smtClean="0">
                        <a:solidFill>
                          <a:srgbClr val="002060"/>
                        </a:solidFill>
                        <a:latin typeface="Cambria Math" panose="02040503050406030204" pitchFamily="18" charset="0"/>
                        <a:cs typeface="MV Boli" panose="02000500030200090000" pitchFamily="2" charset="0"/>
                      </a:rPr>
                      <m:t>𝑛</m:t>
                    </m:r>
                  </m:oMath>
                </a14:m>
                <a:r>
                  <a:rPr lang="zh-CN" altLang="zh-CN" sz="1600" dirty="0">
                    <a:solidFill>
                      <a:srgbClr val="002060"/>
                    </a:solidFill>
                    <a:cs typeface="MV Boli" panose="02000500030200090000" pitchFamily="2" charset="0"/>
                  </a:rPr>
                  <a:t>维空间</a:t>
                </a:r>
                <a:endParaRPr lang="zh-CN" altLang="en-US" sz="1600" dirty="0">
                  <a:solidFill>
                    <a:srgbClr val="002060"/>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643050" y="3782448"/>
                <a:ext cx="920765" cy="338554"/>
              </a:xfrm>
              <a:prstGeom prst="rect">
                <a:avLst/>
              </a:prstGeom>
              <a:blipFill rotWithShape="1">
                <a:blip r:embed="rId9"/>
                <a:stretch>
                  <a:fillRect l="-47" t="-115" r="48" b="1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755395" y="3696719"/>
                <a:ext cx="2304862" cy="764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𝑑</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𝐴</m:t>
                          </m:r>
                          <m:r>
                            <a:rPr lang="zh-CN" altLang="en-US" sz="1600" i="0">
                              <a:latin typeface="Cambria Math" panose="02040503050406030204" pitchFamily="18" charset="0"/>
                            </a:rPr>
                            <m:t>,</m:t>
                          </m:r>
                          <m:r>
                            <a:rPr lang="zh-CN" altLang="en-US" sz="1600" i="1">
                              <a:latin typeface="Cambria Math" panose="02040503050406030204" pitchFamily="18" charset="0"/>
                            </a:rPr>
                            <m:t>𝐵</m:t>
                          </m:r>
                        </m:e>
                      </m:d>
                      <m:r>
                        <a:rPr lang="zh-CN" altLang="en-US" sz="1600" i="0">
                          <a:latin typeface="Cambria Math" panose="02040503050406030204" pitchFamily="18" charset="0"/>
                        </a:rPr>
                        <m:t>=</m:t>
                      </m:r>
                      <m:nary>
                        <m:naryPr>
                          <m:chr m:val="∑"/>
                          <m:limLoc m:val="undOvr"/>
                          <m:ctrlPr>
                            <a:rPr lang="zh-CN" altLang="en-US" sz="1600" i="1">
                              <a:latin typeface="Cambria Math" panose="02040503050406030204" pitchFamily="18" charset="0"/>
                            </a:rPr>
                          </m:ctrlPr>
                        </m:naryPr>
                        <m:sub>
                          <m:r>
                            <a:rPr lang="zh-CN" altLang="en-US" sz="1600" i="1">
                              <a:latin typeface="Cambria Math" panose="02040503050406030204" pitchFamily="18" charset="0"/>
                            </a:rPr>
                            <m:t>𝑖</m:t>
                          </m:r>
                          <m:r>
                            <a:rPr lang="zh-CN" altLang="en-US" sz="1600" i="0">
                              <a:latin typeface="Cambria Math" panose="02040503050406030204" pitchFamily="18" charset="0"/>
                            </a:rPr>
                            <m:t>=1</m:t>
                          </m:r>
                        </m:sub>
                        <m:sup>
                          <m:r>
                            <a:rPr lang="zh-CN" altLang="en-US" sz="1600" i="1">
                              <a:latin typeface="Cambria Math" panose="02040503050406030204" pitchFamily="18" charset="0"/>
                            </a:rPr>
                            <m:t>𝑛</m:t>
                          </m:r>
                        </m:sup>
                        <m:e>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1</m:t>
                                  </m:r>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0">
                                      <a:latin typeface="Cambria Math" panose="02040503050406030204" pitchFamily="18" charset="0"/>
                                    </a:rPr>
                                    <m:t>2</m:t>
                                  </m:r>
                                  <m:r>
                                    <a:rPr lang="zh-CN" altLang="en-US" sz="1600" i="1">
                                      <a:latin typeface="Cambria Math" panose="02040503050406030204" pitchFamily="18" charset="0"/>
                                    </a:rPr>
                                    <m:t>𝑖</m:t>
                                  </m:r>
                                </m:sub>
                              </m:sSub>
                            </m:e>
                          </m:d>
                        </m:e>
                      </m:nary>
                    </m:oMath>
                  </m:oMathPara>
                </a14:m>
                <a:endParaRPr lang="zh-CN" altLang="en-US" sz="1600" dirty="0"/>
              </a:p>
            </p:txBody>
          </p:sp>
        </mc:Choice>
        <mc:Fallback xmlns="">
          <p:sp>
            <p:nvSpPr>
              <p:cNvPr id="17" name="矩形 16"/>
              <p:cNvSpPr>
                <a:spLocks noRot="1" noChangeAspect="1" noMove="1" noResize="1" noEditPoints="1" noAdjustHandles="1" noChangeArrowheads="1" noChangeShapeType="1" noTextEdit="1"/>
              </p:cNvSpPr>
              <p:nvPr/>
            </p:nvSpPr>
            <p:spPr>
              <a:xfrm>
                <a:off x="1755395" y="3696719"/>
                <a:ext cx="2304862" cy="764505"/>
              </a:xfrm>
              <a:prstGeom prst="rect">
                <a:avLst/>
              </a:prstGeom>
              <a:blipFill rotWithShape="1">
                <a:blip r:embed="rId11"/>
                <a:stretch>
                  <a:fillRect l="-11" t="-50" r="3" b="46"/>
                </a:stretch>
              </a:blipFill>
            </p:spPr>
            <p:txBody>
              <a:bodyPr/>
              <a:lstStyle/>
              <a:p>
                <a:r>
                  <a:rPr lang="zh-CN" altLang="en-US">
                    <a:noFill/>
                  </a:rPr>
                  <a:t> </a:t>
                </a:r>
              </a:p>
            </p:txBody>
          </p:sp>
        </mc:Fallback>
      </mc:AlternateContent>
      <p:sp>
        <p:nvSpPr>
          <p:cNvPr id="18" name="圆角矩形 17"/>
          <p:cNvSpPr/>
          <p:nvPr/>
        </p:nvSpPr>
        <p:spPr>
          <a:xfrm>
            <a:off x="395536" y="3172453"/>
            <a:ext cx="5976664" cy="155953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854548" y="3357119"/>
            <a:ext cx="1210588" cy="338554"/>
          </a:xfrm>
          <a:prstGeom prst="rect">
            <a:avLst/>
          </a:prstGeom>
        </p:spPr>
        <p:txBody>
          <a:bodyPr wrap="none">
            <a:spAutoFit/>
          </a:bodyPr>
          <a:lstStyle/>
          <a:p>
            <a:r>
              <a:rPr lang="zh-CN" altLang="zh-CN" sz="1600" b="1" dirty="0">
                <a:solidFill>
                  <a:srgbClr val="FF0000"/>
                </a:solidFill>
                <a:cs typeface="MV Boli" panose="02000500030200090000" pitchFamily="2" charset="0"/>
              </a:rPr>
              <a:t>曼哈顿距离</a:t>
            </a:r>
            <a:endParaRPr lang="zh-CN" altLang="en-US" sz="1600" b="1" dirty="0">
              <a:solidFill>
                <a:srgbClr val="FF0000"/>
              </a:solidFill>
            </a:endParaRPr>
          </a:p>
        </p:txBody>
      </p:sp>
      <p:pic>
        <p:nvPicPr>
          <p:cNvPr id="20" name="图片 19"/>
          <p:cNvPicPr>
            <a:picLocks noChangeAspect="1"/>
          </p:cNvPicPr>
          <p:nvPr/>
        </p:nvPicPr>
        <p:blipFill>
          <a:blip r:embed="rId12"/>
          <a:stretch>
            <a:fillRect/>
          </a:stretch>
        </p:blipFill>
        <p:spPr>
          <a:xfrm>
            <a:off x="6527472" y="2657557"/>
            <a:ext cx="2371550" cy="2121592"/>
          </a:xfrm>
          <a:prstGeom prst="rect">
            <a:avLst/>
          </a:prstGeom>
        </p:spPr>
      </p:pic>
      <p:sp>
        <p:nvSpPr>
          <p:cNvPr id="21" name="矩形 20"/>
          <p:cNvSpPr/>
          <p:nvPr/>
        </p:nvSpPr>
        <p:spPr>
          <a:xfrm>
            <a:off x="3574392" y="4731990"/>
            <a:ext cx="2263568" cy="369332"/>
          </a:xfrm>
          <a:prstGeom prst="rect">
            <a:avLst/>
          </a:prstGeom>
        </p:spPr>
        <p:txBody>
          <a:bodyPr wrap="none">
            <a:spAutoFit/>
          </a:bodyPr>
          <a:lstStyle/>
          <a:p>
            <a:r>
              <a:rPr lang="en-US" altLang="zh-CN" dirty="0" err="1">
                <a:solidFill>
                  <a:schemeClr val="accent1"/>
                </a:solidFill>
              </a:rPr>
              <a:t>Chebyshev</a:t>
            </a:r>
            <a:r>
              <a:rPr lang="en-US" altLang="zh-CN" dirty="0">
                <a:solidFill>
                  <a:schemeClr val="accent1"/>
                </a:solidFill>
              </a:rPr>
              <a:t> </a:t>
            </a:r>
            <a:r>
              <a:rPr lang="en-US" altLang="zh-CN" dirty="0" smtClean="0">
                <a:solidFill>
                  <a:schemeClr val="accent1"/>
                </a:solidFill>
              </a:rPr>
              <a:t>distance</a:t>
            </a:r>
            <a:r>
              <a:rPr lang="zh-CN" altLang="en-US" dirty="0" smtClean="0">
                <a:solidFill>
                  <a:schemeClr val="accent1"/>
                </a:solidFill>
              </a:rPr>
              <a:t>？</a:t>
            </a:r>
            <a:endParaRPr lang="zh-CN" altLang="en-US" dirty="0">
              <a:solidFill>
                <a:schemeClr val="accent1"/>
              </a:solidFill>
            </a:endParaRPr>
          </a:p>
        </p:txBody>
      </p:sp>
      <p:sp>
        <p:nvSpPr>
          <p:cNvPr id="22" name="横卷形 21"/>
          <p:cNvSpPr/>
          <p:nvPr/>
        </p:nvSpPr>
        <p:spPr>
          <a:xfrm>
            <a:off x="7164288" y="4659983"/>
            <a:ext cx="1368152" cy="441340"/>
          </a:xfrm>
          <a:prstGeom prst="horizontalScroll">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smtClean="0">
                <a:solidFill>
                  <a:srgbClr val="FF0000"/>
                </a:solidFill>
              </a:rPr>
              <a:t>5</a:t>
            </a:r>
            <a:r>
              <a:rPr lang="zh-CN" altLang="en-US" sz="1000" dirty="0" smtClean="0">
                <a:solidFill>
                  <a:srgbClr val="FF0000"/>
                </a:solidFill>
              </a:rPr>
              <a:t>条线各是什么距离？</a:t>
            </a:r>
            <a:endParaRPr lang="zh-CN" altLang="en-US" sz="10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representation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机器人位形空间表达方法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995937" y="418230"/>
            <a:ext cx="1224136" cy="461665"/>
          </a:xfrm>
          <a:prstGeom prst="rect">
            <a:avLst/>
          </a:prstGeom>
        </p:spPr>
        <p:txBody>
          <a:bodyPr wrap="square">
            <a:spAutoFit/>
          </a:bodyPr>
          <a:lstStyle/>
          <a:p>
            <a:r>
              <a:rPr lang="zh-CN" altLang="en-US" sz="2400" b="1" dirty="0">
                <a:solidFill>
                  <a:srgbClr val="002060"/>
                </a:solidFill>
              </a:rPr>
              <a:t>图和树</a:t>
            </a:r>
          </a:p>
        </p:txBody>
      </p:sp>
      <p:sp>
        <p:nvSpPr>
          <p:cNvPr id="3" name="矩形 2"/>
          <p:cNvSpPr/>
          <p:nvPr/>
        </p:nvSpPr>
        <p:spPr>
          <a:xfrm>
            <a:off x="3872815" y="1077411"/>
            <a:ext cx="595035" cy="338554"/>
          </a:xfrm>
          <a:prstGeom prst="rect">
            <a:avLst/>
          </a:prstGeom>
        </p:spPr>
        <p:txBody>
          <a:bodyPr wrap="none">
            <a:spAutoFit/>
          </a:bodyPr>
          <a:lstStyle/>
          <a:p>
            <a:r>
              <a:rPr lang="zh-CN" altLang="zh-CN" sz="1600" dirty="0" smtClean="0">
                <a:solidFill>
                  <a:schemeClr val="accent1"/>
                </a:solidFill>
                <a:cs typeface="MV Boli" panose="02000500030200090000" pitchFamily="2" charset="0"/>
              </a:rPr>
              <a:t>表达</a:t>
            </a:r>
            <a:endParaRPr lang="zh-CN" altLang="en-US" sz="1600" dirty="0">
              <a:solidFill>
                <a:schemeClr val="accent1"/>
              </a:solidFill>
            </a:endParaRPr>
          </a:p>
        </p:txBody>
      </p:sp>
      <p:sp>
        <p:nvSpPr>
          <p:cNvPr id="22" name="右箭头 21"/>
          <p:cNvSpPr/>
          <p:nvPr/>
        </p:nvSpPr>
        <p:spPr>
          <a:xfrm>
            <a:off x="4045731" y="1480182"/>
            <a:ext cx="36004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9" name="矩形 28"/>
          <p:cNvSpPr/>
          <p:nvPr/>
        </p:nvSpPr>
        <p:spPr>
          <a:xfrm>
            <a:off x="3052711" y="1416093"/>
            <a:ext cx="800219" cy="338554"/>
          </a:xfrm>
          <a:prstGeom prst="rect">
            <a:avLst/>
          </a:prstGeom>
        </p:spPr>
        <p:txBody>
          <a:bodyPr wrap="none">
            <a:spAutoFit/>
          </a:bodyPr>
          <a:lstStyle/>
          <a:p>
            <a:r>
              <a:rPr lang="en-US" altLang="zh-CN" sz="1600" dirty="0">
                <a:latin typeface="宋体" panose="02010600030101010101" pitchFamily="2" charset="-122"/>
                <a:cs typeface="MV Boli" panose="02000500030200090000" pitchFamily="2" charset="0"/>
              </a:rPr>
              <a:t>C-</a:t>
            </a:r>
            <a:r>
              <a:rPr lang="zh-CN" altLang="zh-CN" sz="1600" dirty="0">
                <a:cs typeface="MV Boli" panose="02000500030200090000" pitchFamily="2" charset="0"/>
              </a:rPr>
              <a:t>空间</a:t>
            </a:r>
            <a:endParaRPr lang="zh-CN" altLang="en-US" sz="1600" dirty="0"/>
          </a:p>
        </p:txBody>
      </p:sp>
      <p:sp>
        <p:nvSpPr>
          <p:cNvPr id="30" name="矩形 29"/>
          <p:cNvSpPr/>
          <p:nvPr/>
        </p:nvSpPr>
        <p:spPr>
          <a:xfrm>
            <a:off x="4519146" y="1403528"/>
            <a:ext cx="992579" cy="338554"/>
          </a:xfrm>
          <a:prstGeom prst="rect">
            <a:avLst/>
          </a:prstGeom>
        </p:spPr>
        <p:txBody>
          <a:bodyPr wrap="none">
            <a:spAutoFit/>
          </a:bodyPr>
          <a:lstStyle/>
          <a:p>
            <a:r>
              <a:rPr lang="zh-CN" altLang="zh-CN" sz="1600" dirty="0">
                <a:cs typeface="MV Boli" panose="02000500030200090000" pitchFamily="2" charset="0"/>
              </a:rPr>
              <a:t>图</a:t>
            </a:r>
            <a:r>
              <a:rPr lang="en-US" altLang="zh-CN" sz="1600" dirty="0">
                <a:cs typeface="MV Boli" panose="02000500030200090000" pitchFamily="2" charset="0"/>
              </a:rPr>
              <a:t>(graph)</a:t>
            </a:r>
            <a:endParaRPr lang="zh-CN" altLang="en-US" sz="1600" dirty="0"/>
          </a:p>
        </p:txBody>
      </p:sp>
      <p:pic>
        <p:nvPicPr>
          <p:cNvPr id="31" name="图片 30"/>
          <p:cNvPicPr/>
          <p:nvPr/>
        </p:nvPicPr>
        <p:blipFill>
          <a:blip r:embed="rId3"/>
          <a:stretch>
            <a:fillRect/>
          </a:stretch>
        </p:blipFill>
        <p:spPr>
          <a:xfrm>
            <a:off x="1607577" y="2139702"/>
            <a:ext cx="5720546" cy="2298124"/>
          </a:xfrm>
          <a:prstGeom prst="rect">
            <a:avLst/>
          </a:prstGeom>
        </p:spPr>
      </p:pic>
      <p:sp>
        <p:nvSpPr>
          <p:cNvPr id="32" name="矩形 31"/>
          <p:cNvSpPr/>
          <p:nvPr/>
        </p:nvSpPr>
        <p:spPr>
          <a:xfrm>
            <a:off x="1842123" y="4437826"/>
            <a:ext cx="1210588" cy="338554"/>
          </a:xfrm>
          <a:prstGeom prst="rect">
            <a:avLst/>
          </a:prstGeom>
        </p:spPr>
        <p:txBody>
          <a:bodyPr wrap="none">
            <a:spAutoFit/>
          </a:bodyPr>
          <a:lstStyle/>
          <a:p>
            <a:r>
              <a:rPr lang="zh-CN" altLang="zh-CN" sz="1600" dirty="0">
                <a:solidFill>
                  <a:schemeClr val="accent1"/>
                </a:solidFill>
              </a:rPr>
              <a:t>加权有向图</a:t>
            </a:r>
            <a:endParaRPr lang="zh-CN" altLang="en-US" sz="1600" dirty="0">
              <a:solidFill>
                <a:schemeClr val="accent1"/>
              </a:solidFill>
            </a:endParaRPr>
          </a:p>
        </p:txBody>
      </p:sp>
      <p:sp>
        <p:nvSpPr>
          <p:cNvPr id="33" name="矩形 32"/>
          <p:cNvSpPr/>
          <p:nvPr/>
        </p:nvSpPr>
        <p:spPr>
          <a:xfrm>
            <a:off x="3798436" y="4437826"/>
            <a:ext cx="1210588" cy="338554"/>
          </a:xfrm>
          <a:prstGeom prst="rect">
            <a:avLst/>
          </a:prstGeom>
        </p:spPr>
        <p:txBody>
          <a:bodyPr wrap="none">
            <a:spAutoFit/>
          </a:bodyPr>
          <a:lstStyle/>
          <a:p>
            <a:r>
              <a:rPr lang="zh-CN" altLang="zh-CN" sz="1600" dirty="0">
                <a:solidFill>
                  <a:schemeClr val="accent1"/>
                </a:solidFill>
              </a:rPr>
              <a:t>加权无向图</a:t>
            </a:r>
            <a:endParaRPr lang="zh-CN" altLang="en-US" sz="1600" dirty="0">
              <a:solidFill>
                <a:schemeClr val="accent1"/>
              </a:solidFill>
            </a:endParaRPr>
          </a:p>
        </p:txBody>
      </p:sp>
      <p:sp>
        <p:nvSpPr>
          <p:cNvPr id="34" name="矩形 33"/>
          <p:cNvSpPr/>
          <p:nvPr/>
        </p:nvSpPr>
        <p:spPr>
          <a:xfrm>
            <a:off x="6300192" y="4407048"/>
            <a:ext cx="389850" cy="338554"/>
          </a:xfrm>
          <a:prstGeom prst="rect">
            <a:avLst/>
          </a:prstGeom>
        </p:spPr>
        <p:txBody>
          <a:bodyPr wrap="none">
            <a:spAutoFit/>
          </a:bodyPr>
          <a:lstStyle/>
          <a:p>
            <a:r>
              <a:rPr lang="zh-CN" altLang="zh-CN" sz="1600" dirty="0">
                <a:solidFill>
                  <a:schemeClr val="accent1"/>
                </a:solidFill>
              </a:rPr>
              <a:t>树</a:t>
            </a:r>
            <a:endParaRPr lang="zh-CN" altLang="en-US" sz="1600" dirty="0">
              <a:solidFill>
                <a:schemeClr val="accent1"/>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92202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早期机器人运动规划研究，基本集中在机械臂的轨迹生成算法方面，其采用直线或曲线公式直接生成轨迹，直接规划机械臂的位形、速度及加速度。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轨迹生成算法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03</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2771800" y="409882"/>
            <a:ext cx="4968552" cy="461665"/>
          </a:xfrm>
          <a:prstGeom prst="rect">
            <a:avLst/>
          </a:prstGeom>
        </p:spPr>
        <p:txBody>
          <a:bodyPr wrap="square">
            <a:spAutoFit/>
          </a:bodyPr>
          <a:lstStyle/>
          <a:p>
            <a:r>
              <a:rPr lang="zh-CN" altLang="en-US" sz="2400" b="1" dirty="0">
                <a:solidFill>
                  <a:srgbClr val="002060"/>
                </a:solidFill>
              </a:rPr>
              <a:t>机器人</a:t>
            </a:r>
            <a:r>
              <a:rPr lang="zh-CN" altLang="en-US" sz="2400" b="1" dirty="0" smtClean="0">
                <a:solidFill>
                  <a:srgbClr val="002060"/>
                </a:solidFill>
              </a:rPr>
              <a:t>运动规划与控制之间的关系</a:t>
            </a:r>
            <a:endParaRPr lang="zh-CN" altLang="en-US" sz="2400" b="1" dirty="0">
              <a:solidFill>
                <a:srgbClr val="002060"/>
              </a:solidFill>
            </a:endParaRPr>
          </a:p>
        </p:txBody>
      </p:sp>
      <p:graphicFrame>
        <p:nvGraphicFramePr>
          <p:cNvPr id="4" name="对象 3"/>
          <p:cNvGraphicFramePr>
            <a:graphicFrameLocks noChangeAspect="1"/>
          </p:cNvGraphicFramePr>
          <p:nvPr/>
        </p:nvGraphicFramePr>
        <p:xfrm>
          <a:off x="407926" y="915566"/>
          <a:ext cx="4968553" cy="2656655"/>
        </p:xfrm>
        <a:graphic>
          <a:graphicData uri="http://schemas.openxmlformats.org/presentationml/2006/ole">
            <mc:AlternateContent xmlns:mc="http://schemas.openxmlformats.org/markup-compatibility/2006">
              <mc:Choice xmlns:v="urn:schemas-microsoft-com:vml" Requires="v">
                <p:oleObj spid="_x0000_s2121" name="Visio" r:id="rId4" imgW="8436610" imgH="4500880" progId="Visio.Drawing.15">
                  <p:embed/>
                </p:oleObj>
              </mc:Choice>
              <mc:Fallback>
                <p:oleObj name="Visio" r:id="rId4" imgW="8436610" imgH="4500880" progId="Visio.Drawing.15">
                  <p:embed/>
                  <p:pic>
                    <p:nvPicPr>
                      <p:cNvPr id="0" name="Object 1"/>
                      <p:cNvPicPr>
                        <a:picLocks noChangeAspect="1" noChangeArrowheads="1"/>
                      </p:cNvPicPr>
                      <p:nvPr/>
                    </p:nvPicPr>
                    <p:blipFill>
                      <a:blip r:embed="rId5"/>
                      <a:srcRect/>
                      <a:stretch>
                        <a:fillRect/>
                      </a:stretch>
                    </p:blipFill>
                    <p:spPr bwMode="auto">
                      <a:xfrm>
                        <a:off x="407926" y="915566"/>
                        <a:ext cx="4968553" cy="2656655"/>
                      </a:xfrm>
                      <a:prstGeom prst="rect">
                        <a:avLst/>
                      </a:prstGeom>
                      <a:noFill/>
                    </p:spPr>
                  </p:pic>
                </p:oleObj>
              </mc:Fallback>
            </mc:AlternateContent>
          </a:graphicData>
        </a:graphic>
      </p:graphicFrame>
      <p:pic>
        <p:nvPicPr>
          <p:cNvPr id="2" name="图片 1"/>
          <p:cNvPicPr>
            <a:picLocks noChangeAspect="1"/>
          </p:cNvPicPr>
          <p:nvPr/>
        </p:nvPicPr>
        <p:blipFill>
          <a:blip r:embed="rId6"/>
          <a:stretch>
            <a:fillRect/>
          </a:stretch>
        </p:blipFill>
        <p:spPr>
          <a:xfrm>
            <a:off x="379305" y="3644228"/>
            <a:ext cx="4989437" cy="1447802"/>
          </a:xfrm>
          <a:prstGeom prst="rect">
            <a:avLst/>
          </a:prstGeom>
        </p:spPr>
      </p:pic>
      <p:cxnSp>
        <p:nvCxnSpPr>
          <p:cNvPr id="5" name="曲线连接符 4"/>
          <p:cNvCxnSpPr/>
          <p:nvPr/>
        </p:nvCxnSpPr>
        <p:spPr>
          <a:xfrm rot="16200000" flipH="1">
            <a:off x="3716281" y="2632102"/>
            <a:ext cx="944132" cy="936103"/>
          </a:xfrm>
          <a:prstGeom prst="curvedConnector3">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pic>
        <p:nvPicPr>
          <p:cNvPr id="2060" name="Picture 12" descr="Typical conventional robotic force control scheme | Download Scientific  Diagram"/>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76479" y="1466571"/>
            <a:ext cx="3299977" cy="93564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8"/>
          <a:stretch>
            <a:fillRect/>
          </a:stretch>
        </p:blipFill>
        <p:spPr>
          <a:xfrm>
            <a:off x="5368742" y="2434766"/>
            <a:ext cx="3299977" cy="1036901"/>
          </a:xfrm>
          <a:prstGeom prst="rect">
            <a:avLst/>
          </a:prstGeom>
        </p:spPr>
      </p:pic>
      <p:pic>
        <p:nvPicPr>
          <p:cNvPr id="8" name="图片 7"/>
          <p:cNvPicPr>
            <a:picLocks noChangeAspect="1"/>
          </p:cNvPicPr>
          <p:nvPr/>
        </p:nvPicPr>
        <p:blipFill>
          <a:blip r:embed="rId9"/>
          <a:stretch>
            <a:fillRect/>
          </a:stretch>
        </p:blipFill>
        <p:spPr>
          <a:xfrm>
            <a:off x="5436096" y="3795886"/>
            <a:ext cx="3324811" cy="958463"/>
          </a:xfrm>
          <a:prstGeom prst="rect">
            <a:avLst/>
          </a:prstGeom>
        </p:spPr>
      </p:pic>
      <p:sp>
        <p:nvSpPr>
          <p:cNvPr id="9" name="圆角矩形 8"/>
          <p:cNvSpPr/>
          <p:nvPr/>
        </p:nvSpPr>
        <p:spPr>
          <a:xfrm>
            <a:off x="395536" y="3644228"/>
            <a:ext cx="4896544" cy="14478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93850" y="4754349"/>
            <a:ext cx="1946430" cy="338554"/>
          </a:xfrm>
          <a:prstGeom prst="rect">
            <a:avLst/>
          </a:prstGeom>
          <a:noFill/>
        </p:spPr>
        <p:txBody>
          <a:bodyPr wrap="none" rtlCol="0">
            <a:spAutoFit/>
          </a:bodyPr>
          <a:lstStyle/>
          <a:p>
            <a:r>
              <a:rPr lang="en-US" altLang="zh-CN" sz="1600" b="1" dirty="0" smtClean="0">
                <a:solidFill>
                  <a:srgbClr val="002060"/>
                </a:solidFill>
              </a:rPr>
              <a:t>Joint Motion Control</a:t>
            </a:r>
            <a:endParaRPr lang="zh-CN" altLang="en-US" sz="1600" b="1" dirty="0">
              <a:solidFill>
                <a:srgbClr val="002060"/>
              </a:solidFill>
            </a:endParaRPr>
          </a:p>
        </p:txBody>
      </p:sp>
      <p:sp>
        <p:nvSpPr>
          <p:cNvPr id="11" name="圆角矩形 10"/>
          <p:cNvSpPr/>
          <p:nvPr/>
        </p:nvSpPr>
        <p:spPr>
          <a:xfrm>
            <a:off x="5292080" y="1131590"/>
            <a:ext cx="3528392" cy="244063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834309" y="1165900"/>
            <a:ext cx="2584169" cy="338554"/>
          </a:xfrm>
          <a:prstGeom prst="rect">
            <a:avLst/>
          </a:prstGeom>
          <a:noFill/>
        </p:spPr>
        <p:txBody>
          <a:bodyPr wrap="none" rtlCol="0">
            <a:spAutoFit/>
          </a:bodyPr>
          <a:lstStyle/>
          <a:p>
            <a:r>
              <a:rPr lang="en-US" altLang="zh-CN" sz="1600" b="1" dirty="0" smtClean="0">
                <a:solidFill>
                  <a:srgbClr val="002060"/>
                </a:solidFill>
              </a:rPr>
              <a:t>Hybrid Motion-force control</a:t>
            </a:r>
            <a:endParaRPr lang="zh-CN" altLang="en-US" sz="1600" b="1" dirty="0">
              <a:solidFill>
                <a:srgbClr val="002060"/>
              </a:solidFill>
            </a:endParaRPr>
          </a:p>
        </p:txBody>
      </p:sp>
      <p:sp>
        <p:nvSpPr>
          <p:cNvPr id="13" name="圆角矩形 12"/>
          <p:cNvSpPr/>
          <p:nvPr/>
        </p:nvSpPr>
        <p:spPr>
          <a:xfrm>
            <a:off x="5368742" y="3644228"/>
            <a:ext cx="3451730" cy="14478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247441" y="4736730"/>
            <a:ext cx="1783822" cy="338554"/>
          </a:xfrm>
          <a:prstGeom prst="rect">
            <a:avLst/>
          </a:prstGeom>
          <a:noFill/>
        </p:spPr>
        <p:txBody>
          <a:bodyPr wrap="none" rtlCol="0">
            <a:spAutoFit/>
          </a:bodyPr>
          <a:lstStyle/>
          <a:p>
            <a:r>
              <a:rPr lang="en-US" altLang="zh-CN" sz="1600" b="1" dirty="0" smtClean="0">
                <a:solidFill>
                  <a:srgbClr val="002060"/>
                </a:solidFill>
              </a:rPr>
              <a:t>Impedance control</a:t>
            </a:r>
            <a:endParaRPr lang="zh-CN" altLang="en-US" sz="1600" b="1" dirty="0">
              <a:solidFill>
                <a:srgbClr val="002060"/>
              </a:solidFill>
            </a:endParaRPr>
          </a:p>
        </p:txBody>
      </p:sp>
      <p:cxnSp>
        <p:nvCxnSpPr>
          <p:cNvPr id="22" name="曲线连接符 21"/>
          <p:cNvCxnSpPr/>
          <p:nvPr/>
        </p:nvCxnSpPr>
        <p:spPr>
          <a:xfrm flipV="1">
            <a:off x="3923928" y="1884792"/>
            <a:ext cx="1332148" cy="467113"/>
          </a:xfrm>
          <a:prstGeom prst="curvedConnector3">
            <a:avLst>
              <a:gd name="adj1" fmla="val 1819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曲线连接符 33"/>
          <p:cNvCxnSpPr/>
          <p:nvPr/>
        </p:nvCxnSpPr>
        <p:spPr>
          <a:xfrm>
            <a:off x="1438111" y="2130704"/>
            <a:ext cx="4082384" cy="1538616"/>
          </a:xfrm>
          <a:prstGeom prst="curvedConnector3">
            <a:avLst>
              <a:gd name="adj1" fmla="val 78954"/>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轨迹规划的一般性问题</a:t>
            </a:r>
          </a:p>
        </p:txBody>
      </p:sp>
      <p:sp>
        <p:nvSpPr>
          <p:cNvPr id="11" name="形状"/>
          <p:cNvSpPr/>
          <p:nvPr>
            <p:custDataLst>
              <p:tags r:id="rId1"/>
            </p:custDataLst>
          </p:nvPr>
        </p:nvSpPr>
        <p:spPr>
          <a:xfrm rot="21112085">
            <a:off x="1799545" y="1670958"/>
            <a:ext cx="1634055" cy="1641254"/>
          </a:xfrm>
          <a:custGeom>
            <a:avLst/>
            <a:gdLst/>
            <a:ahLst/>
            <a:cxnLst>
              <a:cxn ang="0">
                <a:pos x="wd2" y="hd2"/>
              </a:cxn>
              <a:cxn ang="5400000">
                <a:pos x="wd2" y="hd2"/>
              </a:cxn>
              <a:cxn ang="10800000">
                <a:pos x="wd2" y="hd2"/>
              </a:cxn>
              <a:cxn ang="16200000">
                <a:pos x="wd2" y="hd2"/>
              </a:cxn>
            </a:cxnLst>
            <a:rect l="0" t="0" r="r" b="b"/>
            <a:pathLst>
              <a:path w="21561" h="21600" extrusionOk="0">
                <a:moveTo>
                  <a:pt x="21067" y="11464"/>
                </a:moveTo>
                <a:cubicBezTo>
                  <a:pt x="20844" y="11464"/>
                  <a:pt x="20844" y="11464"/>
                  <a:pt x="20844" y="11464"/>
                </a:cubicBezTo>
                <a:cubicBezTo>
                  <a:pt x="20444" y="11464"/>
                  <a:pt x="20133" y="11198"/>
                  <a:pt x="20044" y="10844"/>
                </a:cubicBezTo>
                <a:cubicBezTo>
                  <a:pt x="20000" y="10357"/>
                  <a:pt x="20356" y="9915"/>
                  <a:pt x="20844" y="9915"/>
                </a:cubicBezTo>
                <a:cubicBezTo>
                  <a:pt x="21067" y="9915"/>
                  <a:pt x="21067" y="9915"/>
                  <a:pt x="21067" y="9915"/>
                </a:cubicBezTo>
                <a:cubicBezTo>
                  <a:pt x="21333" y="9915"/>
                  <a:pt x="21600" y="9693"/>
                  <a:pt x="21556" y="9384"/>
                </a:cubicBezTo>
                <a:cubicBezTo>
                  <a:pt x="21511" y="9251"/>
                  <a:pt x="21511" y="9074"/>
                  <a:pt x="21467" y="8941"/>
                </a:cubicBezTo>
                <a:cubicBezTo>
                  <a:pt x="21422" y="8675"/>
                  <a:pt x="21156" y="8498"/>
                  <a:pt x="20844" y="8543"/>
                </a:cubicBezTo>
                <a:cubicBezTo>
                  <a:pt x="20622" y="8631"/>
                  <a:pt x="20622" y="8631"/>
                  <a:pt x="20622" y="8631"/>
                </a:cubicBezTo>
                <a:cubicBezTo>
                  <a:pt x="20267" y="8720"/>
                  <a:pt x="19867" y="8587"/>
                  <a:pt x="19689" y="8233"/>
                </a:cubicBezTo>
                <a:cubicBezTo>
                  <a:pt x="19467" y="7790"/>
                  <a:pt x="19733" y="7259"/>
                  <a:pt x="20178" y="7126"/>
                </a:cubicBezTo>
                <a:cubicBezTo>
                  <a:pt x="20400" y="7082"/>
                  <a:pt x="20400" y="7082"/>
                  <a:pt x="20400" y="7082"/>
                </a:cubicBezTo>
                <a:cubicBezTo>
                  <a:pt x="20667" y="6993"/>
                  <a:pt x="20844" y="6684"/>
                  <a:pt x="20711" y="6418"/>
                </a:cubicBezTo>
                <a:cubicBezTo>
                  <a:pt x="20667" y="6285"/>
                  <a:pt x="20578" y="6152"/>
                  <a:pt x="20533" y="6020"/>
                </a:cubicBezTo>
                <a:cubicBezTo>
                  <a:pt x="20400" y="5754"/>
                  <a:pt x="20044" y="5666"/>
                  <a:pt x="19822" y="5843"/>
                </a:cubicBezTo>
                <a:cubicBezTo>
                  <a:pt x="19600" y="5975"/>
                  <a:pt x="19600" y="5975"/>
                  <a:pt x="19600" y="5975"/>
                </a:cubicBezTo>
                <a:cubicBezTo>
                  <a:pt x="19244" y="6197"/>
                  <a:pt x="18756" y="6064"/>
                  <a:pt x="18533" y="5710"/>
                </a:cubicBezTo>
                <a:cubicBezTo>
                  <a:pt x="18311" y="5356"/>
                  <a:pt x="18400" y="4869"/>
                  <a:pt x="18756" y="4648"/>
                </a:cubicBezTo>
                <a:cubicBezTo>
                  <a:pt x="18933" y="4559"/>
                  <a:pt x="18933" y="4559"/>
                  <a:pt x="18933" y="4559"/>
                </a:cubicBezTo>
                <a:cubicBezTo>
                  <a:pt x="19200" y="4382"/>
                  <a:pt x="19244" y="4028"/>
                  <a:pt x="19067" y="3807"/>
                </a:cubicBezTo>
                <a:cubicBezTo>
                  <a:pt x="18978" y="3718"/>
                  <a:pt x="18889" y="3585"/>
                  <a:pt x="18756" y="3497"/>
                </a:cubicBezTo>
                <a:cubicBezTo>
                  <a:pt x="18578" y="3275"/>
                  <a:pt x="18222" y="3275"/>
                  <a:pt x="18044" y="3497"/>
                </a:cubicBezTo>
                <a:cubicBezTo>
                  <a:pt x="17911" y="3674"/>
                  <a:pt x="17911" y="3674"/>
                  <a:pt x="17911" y="3674"/>
                </a:cubicBezTo>
                <a:cubicBezTo>
                  <a:pt x="17644" y="3984"/>
                  <a:pt x="17200" y="4028"/>
                  <a:pt x="16889" y="3851"/>
                </a:cubicBezTo>
                <a:cubicBezTo>
                  <a:pt x="16444" y="3585"/>
                  <a:pt x="16400" y="3010"/>
                  <a:pt x="16711" y="2656"/>
                </a:cubicBezTo>
                <a:cubicBezTo>
                  <a:pt x="16844" y="2523"/>
                  <a:pt x="16844" y="2523"/>
                  <a:pt x="16844" y="2523"/>
                </a:cubicBezTo>
                <a:cubicBezTo>
                  <a:pt x="17067" y="2302"/>
                  <a:pt x="17022" y="1948"/>
                  <a:pt x="16756" y="1770"/>
                </a:cubicBezTo>
                <a:cubicBezTo>
                  <a:pt x="16622" y="1682"/>
                  <a:pt x="16489" y="1638"/>
                  <a:pt x="16400" y="1549"/>
                </a:cubicBezTo>
                <a:cubicBezTo>
                  <a:pt x="16133" y="1416"/>
                  <a:pt x="15822" y="1505"/>
                  <a:pt x="15689" y="1770"/>
                </a:cubicBezTo>
                <a:cubicBezTo>
                  <a:pt x="15600" y="1992"/>
                  <a:pt x="15600" y="1992"/>
                  <a:pt x="15600" y="1992"/>
                </a:cubicBezTo>
                <a:cubicBezTo>
                  <a:pt x="15422" y="2302"/>
                  <a:pt x="15022" y="2523"/>
                  <a:pt x="14667" y="2434"/>
                </a:cubicBezTo>
                <a:cubicBezTo>
                  <a:pt x="14178" y="2302"/>
                  <a:pt x="13956" y="1770"/>
                  <a:pt x="14178" y="1328"/>
                </a:cubicBezTo>
                <a:cubicBezTo>
                  <a:pt x="14267" y="1151"/>
                  <a:pt x="14267" y="1151"/>
                  <a:pt x="14267" y="1151"/>
                </a:cubicBezTo>
                <a:cubicBezTo>
                  <a:pt x="14400" y="885"/>
                  <a:pt x="14222" y="575"/>
                  <a:pt x="13956" y="487"/>
                </a:cubicBezTo>
                <a:cubicBezTo>
                  <a:pt x="13822" y="443"/>
                  <a:pt x="13689" y="398"/>
                  <a:pt x="13556" y="354"/>
                </a:cubicBezTo>
                <a:cubicBezTo>
                  <a:pt x="13244" y="266"/>
                  <a:pt x="12978" y="443"/>
                  <a:pt x="12933" y="752"/>
                </a:cubicBezTo>
                <a:cubicBezTo>
                  <a:pt x="12889" y="974"/>
                  <a:pt x="12889" y="974"/>
                  <a:pt x="12889" y="974"/>
                </a:cubicBezTo>
                <a:cubicBezTo>
                  <a:pt x="12844" y="1372"/>
                  <a:pt x="12533" y="1638"/>
                  <a:pt x="12133" y="1682"/>
                </a:cubicBezTo>
                <a:cubicBezTo>
                  <a:pt x="11644" y="1682"/>
                  <a:pt x="11289" y="1239"/>
                  <a:pt x="11333" y="752"/>
                </a:cubicBezTo>
                <a:cubicBezTo>
                  <a:pt x="11378" y="575"/>
                  <a:pt x="11378" y="575"/>
                  <a:pt x="11378" y="575"/>
                </a:cubicBezTo>
                <a:cubicBezTo>
                  <a:pt x="11422" y="266"/>
                  <a:pt x="11200" y="0"/>
                  <a:pt x="10933" y="0"/>
                </a:cubicBezTo>
                <a:cubicBezTo>
                  <a:pt x="10756" y="0"/>
                  <a:pt x="10622" y="0"/>
                  <a:pt x="10489" y="0"/>
                </a:cubicBezTo>
                <a:cubicBezTo>
                  <a:pt x="10178" y="0"/>
                  <a:pt x="9956" y="266"/>
                  <a:pt x="10000" y="575"/>
                </a:cubicBezTo>
                <a:cubicBezTo>
                  <a:pt x="10044" y="797"/>
                  <a:pt x="10044" y="797"/>
                  <a:pt x="10044" y="797"/>
                </a:cubicBezTo>
                <a:cubicBezTo>
                  <a:pt x="10089" y="1239"/>
                  <a:pt x="9778" y="1638"/>
                  <a:pt x="9378" y="1682"/>
                </a:cubicBezTo>
                <a:cubicBezTo>
                  <a:pt x="9022" y="1903"/>
                  <a:pt x="8578" y="1682"/>
                  <a:pt x="8533" y="1284"/>
                </a:cubicBezTo>
                <a:cubicBezTo>
                  <a:pt x="8489" y="797"/>
                  <a:pt x="8489" y="797"/>
                  <a:pt x="8489" y="797"/>
                </a:cubicBezTo>
                <a:cubicBezTo>
                  <a:pt x="8444" y="531"/>
                  <a:pt x="8133" y="310"/>
                  <a:pt x="7867" y="398"/>
                </a:cubicBezTo>
                <a:cubicBezTo>
                  <a:pt x="7733" y="443"/>
                  <a:pt x="7556" y="487"/>
                  <a:pt x="7422" y="531"/>
                </a:cubicBezTo>
                <a:cubicBezTo>
                  <a:pt x="7156" y="620"/>
                  <a:pt x="7022" y="930"/>
                  <a:pt x="7156" y="1195"/>
                </a:cubicBezTo>
                <a:cubicBezTo>
                  <a:pt x="7244" y="1416"/>
                  <a:pt x="7244" y="1416"/>
                  <a:pt x="7244" y="1416"/>
                </a:cubicBezTo>
                <a:cubicBezTo>
                  <a:pt x="7422" y="1859"/>
                  <a:pt x="7200" y="2390"/>
                  <a:pt x="6711" y="2479"/>
                </a:cubicBezTo>
                <a:cubicBezTo>
                  <a:pt x="6356" y="2611"/>
                  <a:pt x="5956" y="2390"/>
                  <a:pt x="5822" y="2036"/>
                </a:cubicBezTo>
                <a:cubicBezTo>
                  <a:pt x="5733" y="1859"/>
                  <a:pt x="5733" y="1859"/>
                  <a:pt x="5733" y="1859"/>
                </a:cubicBezTo>
                <a:cubicBezTo>
                  <a:pt x="5600" y="1593"/>
                  <a:pt x="5289" y="1505"/>
                  <a:pt x="5022" y="1638"/>
                </a:cubicBezTo>
                <a:cubicBezTo>
                  <a:pt x="5022" y="1638"/>
                  <a:pt x="5022" y="1638"/>
                  <a:pt x="5022" y="1638"/>
                </a:cubicBezTo>
                <a:cubicBezTo>
                  <a:pt x="4889" y="1726"/>
                  <a:pt x="4800" y="1815"/>
                  <a:pt x="4667" y="1903"/>
                </a:cubicBezTo>
                <a:cubicBezTo>
                  <a:pt x="4444" y="2036"/>
                  <a:pt x="4400" y="2390"/>
                  <a:pt x="4578" y="2611"/>
                </a:cubicBezTo>
                <a:cubicBezTo>
                  <a:pt x="4711" y="2789"/>
                  <a:pt x="4711" y="2789"/>
                  <a:pt x="4711" y="2789"/>
                </a:cubicBezTo>
                <a:cubicBezTo>
                  <a:pt x="4978" y="3098"/>
                  <a:pt x="4978" y="3497"/>
                  <a:pt x="4756" y="3807"/>
                </a:cubicBezTo>
                <a:cubicBezTo>
                  <a:pt x="4444" y="4161"/>
                  <a:pt x="3867" y="4161"/>
                  <a:pt x="3556" y="3807"/>
                </a:cubicBezTo>
                <a:cubicBezTo>
                  <a:pt x="3422" y="3630"/>
                  <a:pt x="3422" y="3630"/>
                  <a:pt x="3422" y="3630"/>
                </a:cubicBezTo>
                <a:cubicBezTo>
                  <a:pt x="3200" y="3408"/>
                  <a:pt x="2889" y="3408"/>
                  <a:pt x="2667" y="3630"/>
                </a:cubicBezTo>
                <a:cubicBezTo>
                  <a:pt x="2578" y="3762"/>
                  <a:pt x="2489" y="3851"/>
                  <a:pt x="2400" y="3984"/>
                </a:cubicBezTo>
                <a:cubicBezTo>
                  <a:pt x="2222" y="4205"/>
                  <a:pt x="2267" y="4515"/>
                  <a:pt x="2489" y="4692"/>
                </a:cubicBezTo>
                <a:cubicBezTo>
                  <a:pt x="2711" y="4825"/>
                  <a:pt x="2711" y="4825"/>
                  <a:pt x="2711" y="4825"/>
                </a:cubicBezTo>
                <a:cubicBezTo>
                  <a:pt x="3022" y="5046"/>
                  <a:pt x="3156" y="5444"/>
                  <a:pt x="3022" y="5798"/>
                </a:cubicBezTo>
                <a:cubicBezTo>
                  <a:pt x="2800" y="6241"/>
                  <a:pt x="2267" y="6374"/>
                  <a:pt x="1867" y="6108"/>
                </a:cubicBezTo>
                <a:cubicBezTo>
                  <a:pt x="1689" y="6020"/>
                  <a:pt x="1689" y="6020"/>
                  <a:pt x="1689" y="6020"/>
                </a:cubicBezTo>
                <a:cubicBezTo>
                  <a:pt x="1422" y="5843"/>
                  <a:pt x="1111" y="5931"/>
                  <a:pt x="978" y="6197"/>
                </a:cubicBezTo>
                <a:cubicBezTo>
                  <a:pt x="933" y="6330"/>
                  <a:pt x="844" y="6462"/>
                  <a:pt x="800" y="6595"/>
                </a:cubicBezTo>
                <a:cubicBezTo>
                  <a:pt x="711" y="6861"/>
                  <a:pt x="844" y="7170"/>
                  <a:pt x="1111" y="7259"/>
                </a:cubicBezTo>
                <a:cubicBezTo>
                  <a:pt x="1378" y="7348"/>
                  <a:pt x="1378" y="7348"/>
                  <a:pt x="1378" y="7348"/>
                </a:cubicBezTo>
                <a:cubicBezTo>
                  <a:pt x="1778" y="7436"/>
                  <a:pt x="2000" y="7879"/>
                  <a:pt x="1867" y="8321"/>
                </a:cubicBezTo>
                <a:cubicBezTo>
                  <a:pt x="2089" y="8631"/>
                  <a:pt x="1778" y="9074"/>
                  <a:pt x="1378" y="8941"/>
                </a:cubicBezTo>
                <a:cubicBezTo>
                  <a:pt x="711" y="8764"/>
                  <a:pt x="711" y="8764"/>
                  <a:pt x="711" y="8764"/>
                </a:cubicBezTo>
                <a:cubicBezTo>
                  <a:pt x="400" y="8675"/>
                  <a:pt x="133" y="8852"/>
                  <a:pt x="89" y="9162"/>
                </a:cubicBezTo>
                <a:cubicBezTo>
                  <a:pt x="44" y="9295"/>
                  <a:pt x="44" y="9428"/>
                  <a:pt x="0" y="9561"/>
                </a:cubicBezTo>
                <a:cubicBezTo>
                  <a:pt x="0" y="9870"/>
                  <a:pt x="222" y="10092"/>
                  <a:pt x="489" y="10136"/>
                </a:cubicBezTo>
                <a:cubicBezTo>
                  <a:pt x="756" y="10136"/>
                  <a:pt x="756" y="10136"/>
                  <a:pt x="756" y="10136"/>
                </a:cubicBezTo>
                <a:cubicBezTo>
                  <a:pt x="1200" y="10136"/>
                  <a:pt x="1556" y="10490"/>
                  <a:pt x="1511" y="10889"/>
                </a:cubicBezTo>
                <a:cubicBezTo>
                  <a:pt x="1511" y="11331"/>
                  <a:pt x="1156" y="11685"/>
                  <a:pt x="756" y="11685"/>
                </a:cubicBezTo>
                <a:cubicBezTo>
                  <a:pt x="533" y="11685"/>
                  <a:pt x="533" y="11685"/>
                  <a:pt x="533" y="11685"/>
                </a:cubicBezTo>
                <a:cubicBezTo>
                  <a:pt x="222" y="11685"/>
                  <a:pt x="0" y="11907"/>
                  <a:pt x="44" y="12216"/>
                </a:cubicBezTo>
                <a:cubicBezTo>
                  <a:pt x="44" y="12349"/>
                  <a:pt x="89" y="12482"/>
                  <a:pt x="89" y="12659"/>
                </a:cubicBezTo>
                <a:cubicBezTo>
                  <a:pt x="178" y="12925"/>
                  <a:pt x="444" y="13102"/>
                  <a:pt x="711" y="13013"/>
                </a:cubicBezTo>
                <a:cubicBezTo>
                  <a:pt x="978" y="12969"/>
                  <a:pt x="978" y="12969"/>
                  <a:pt x="978" y="12969"/>
                </a:cubicBezTo>
                <a:cubicBezTo>
                  <a:pt x="1378" y="12836"/>
                  <a:pt x="1822" y="13102"/>
                  <a:pt x="1956" y="13500"/>
                </a:cubicBezTo>
                <a:cubicBezTo>
                  <a:pt x="1956" y="13500"/>
                  <a:pt x="1956" y="13500"/>
                  <a:pt x="1956" y="13500"/>
                </a:cubicBezTo>
                <a:cubicBezTo>
                  <a:pt x="2044" y="13898"/>
                  <a:pt x="1822" y="14341"/>
                  <a:pt x="1378" y="14474"/>
                </a:cubicBezTo>
                <a:cubicBezTo>
                  <a:pt x="1200" y="14518"/>
                  <a:pt x="1200" y="14518"/>
                  <a:pt x="1200" y="14518"/>
                </a:cubicBezTo>
                <a:cubicBezTo>
                  <a:pt x="889" y="14607"/>
                  <a:pt x="756" y="14916"/>
                  <a:pt x="889" y="15182"/>
                </a:cubicBezTo>
                <a:cubicBezTo>
                  <a:pt x="933" y="15315"/>
                  <a:pt x="1022" y="15448"/>
                  <a:pt x="1067" y="15580"/>
                </a:cubicBezTo>
                <a:cubicBezTo>
                  <a:pt x="1200" y="15846"/>
                  <a:pt x="1511" y="15934"/>
                  <a:pt x="1778" y="15757"/>
                </a:cubicBezTo>
                <a:cubicBezTo>
                  <a:pt x="2000" y="15625"/>
                  <a:pt x="2000" y="15625"/>
                  <a:pt x="2000" y="15625"/>
                </a:cubicBezTo>
                <a:cubicBezTo>
                  <a:pt x="2356" y="15403"/>
                  <a:pt x="2844" y="15492"/>
                  <a:pt x="3067" y="15890"/>
                </a:cubicBezTo>
                <a:cubicBezTo>
                  <a:pt x="3289" y="16244"/>
                  <a:pt x="3156" y="16731"/>
                  <a:pt x="2800" y="16952"/>
                </a:cubicBezTo>
                <a:cubicBezTo>
                  <a:pt x="2622" y="17041"/>
                  <a:pt x="2622" y="17041"/>
                  <a:pt x="2622" y="17041"/>
                </a:cubicBezTo>
                <a:cubicBezTo>
                  <a:pt x="2400" y="17218"/>
                  <a:pt x="2311" y="17572"/>
                  <a:pt x="2533" y="17793"/>
                </a:cubicBezTo>
                <a:cubicBezTo>
                  <a:pt x="2622" y="17882"/>
                  <a:pt x="2711" y="18015"/>
                  <a:pt x="2800" y="18103"/>
                </a:cubicBezTo>
                <a:cubicBezTo>
                  <a:pt x="3022" y="18325"/>
                  <a:pt x="3333" y="18325"/>
                  <a:pt x="3556" y="18103"/>
                </a:cubicBezTo>
                <a:cubicBezTo>
                  <a:pt x="3689" y="17926"/>
                  <a:pt x="3689" y="17926"/>
                  <a:pt x="3689" y="17926"/>
                </a:cubicBezTo>
                <a:cubicBezTo>
                  <a:pt x="3956" y="17616"/>
                  <a:pt x="4356" y="17572"/>
                  <a:pt x="4711" y="17749"/>
                </a:cubicBezTo>
                <a:cubicBezTo>
                  <a:pt x="5111" y="18015"/>
                  <a:pt x="5200" y="18590"/>
                  <a:pt x="4889" y="18944"/>
                </a:cubicBezTo>
                <a:cubicBezTo>
                  <a:pt x="4711" y="19077"/>
                  <a:pt x="4711" y="19077"/>
                  <a:pt x="4711" y="19077"/>
                </a:cubicBezTo>
                <a:cubicBezTo>
                  <a:pt x="4533" y="19298"/>
                  <a:pt x="4578" y="19652"/>
                  <a:pt x="4844" y="19830"/>
                </a:cubicBezTo>
                <a:cubicBezTo>
                  <a:pt x="4933" y="19918"/>
                  <a:pt x="5067" y="19962"/>
                  <a:pt x="5200" y="20051"/>
                </a:cubicBezTo>
                <a:cubicBezTo>
                  <a:pt x="5467" y="20184"/>
                  <a:pt x="5778" y="20095"/>
                  <a:pt x="5911" y="19830"/>
                </a:cubicBezTo>
                <a:cubicBezTo>
                  <a:pt x="6000" y="19608"/>
                  <a:pt x="6000" y="19608"/>
                  <a:pt x="6000" y="19608"/>
                </a:cubicBezTo>
                <a:cubicBezTo>
                  <a:pt x="6178" y="19210"/>
                  <a:pt x="6667" y="19033"/>
                  <a:pt x="7022" y="19210"/>
                </a:cubicBezTo>
                <a:cubicBezTo>
                  <a:pt x="7022" y="19210"/>
                  <a:pt x="7022" y="19210"/>
                  <a:pt x="7022" y="19210"/>
                </a:cubicBezTo>
                <a:cubicBezTo>
                  <a:pt x="7422" y="19431"/>
                  <a:pt x="7600" y="19874"/>
                  <a:pt x="7422" y="20272"/>
                </a:cubicBezTo>
                <a:cubicBezTo>
                  <a:pt x="7333" y="20449"/>
                  <a:pt x="7333" y="20449"/>
                  <a:pt x="7333" y="20449"/>
                </a:cubicBezTo>
                <a:cubicBezTo>
                  <a:pt x="7200" y="20715"/>
                  <a:pt x="7333" y="21025"/>
                  <a:pt x="7644" y="21113"/>
                </a:cubicBezTo>
                <a:cubicBezTo>
                  <a:pt x="7778" y="21157"/>
                  <a:pt x="7911" y="21202"/>
                  <a:pt x="8044" y="21246"/>
                </a:cubicBezTo>
                <a:cubicBezTo>
                  <a:pt x="8311" y="21334"/>
                  <a:pt x="8622" y="21113"/>
                  <a:pt x="8667" y="20848"/>
                </a:cubicBezTo>
                <a:cubicBezTo>
                  <a:pt x="8711" y="20582"/>
                  <a:pt x="8711" y="20582"/>
                  <a:pt x="8711" y="20582"/>
                </a:cubicBezTo>
                <a:cubicBezTo>
                  <a:pt x="8756" y="20184"/>
                  <a:pt x="9156" y="19874"/>
                  <a:pt x="9600" y="19918"/>
                </a:cubicBezTo>
                <a:cubicBezTo>
                  <a:pt x="10000" y="20007"/>
                  <a:pt x="10311" y="20405"/>
                  <a:pt x="10222" y="20803"/>
                </a:cubicBezTo>
                <a:cubicBezTo>
                  <a:pt x="10178" y="21025"/>
                  <a:pt x="10178" y="21025"/>
                  <a:pt x="10178" y="21025"/>
                </a:cubicBezTo>
                <a:cubicBezTo>
                  <a:pt x="10133" y="21334"/>
                  <a:pt x="10356" y="21600"/>
                  <a:pt x="10667" y="21600"/>
                </a:cubicBezTo>
                <a:cubicBezTo>
                  <a:pt x="10800" y="21600"/>
                  <a:pt x="10978" y="21600"/>
                  <a:pt x="11111" y="21600"/>
                </a:cubicBezTo>
                <a:cubicBezTo>
                  <a:pt x="11378" y="21600"/>
                  <a:pt x="11600" y="21334"/>
                  <a:pt x="11600" y="21025"/>
                </a:cubicBezTo>
                <a:cubicBezTo>
                  <a:pt x="11556" y="20759"/>
                  <a:pt x="11556" y="20759"/>
                  <a:pt x="11556" y="20759"/>
                </a:cubicBezTo>
                <a:cubicBezTo>
                  <a:pt x="11467" y="20361"/>
                  <a:pt x="11778" y="19962"/>
                  <a:pt x="12222" y="19918"/>
                </a:cubicBezTo>
                <a:cubicBezTo>
                  <a:pt x="12222" y="19918"/>
                  <a:pt x="12222" y="19918"/>
                  <a:pt x="12222" y="19918"/>
                </a:cubicBezTo>
                <a:cubicBezTo>
                  <a:pt x="12622" y="19874"/>
                  <a:pt x="13022" y="20139"/>
                  <a:pt x="13067" y="20582"/>
                </a:cubicBezTo>
                <a:cubicBezTo>
                  <a:pt x="13111" y="20803"/>
                  <a:pt x="13111" y="20803"/>
                  <a:pt x="13111" y="20803"/>
                </a:cubicBezTo>
                <a:cubicBezTo>
                  <a:pt x="13156" y="21069"/>
                  <a:pt x="13467" y="21290"/>
                  <a:pt x="13733" y="21202"/>
                </a:cubicBezTo>
                <a:cubicBezTo>
                  <a:pt x="13867" y="21157"/>
                  <a:pt x="14000" y="21113"/>
                  <a:pt x="14133" y="21069"/>
                </a:cubicBezTo>
                <a:cubicBezTo>
                  <a:pt x="14444" y="20980"/>
                  <a:pt x="14578" y="20670"/>
                  <a:pt x="14444" y="20405"/>
                </a:cubicBezTo>
                <a:cubicBezTo>
                  <a:pt x="14356" y="20184"/>
                  <a:pt x="14356" y="20184"/>
                  <a:pt x="14356" y="20184"/>
                </a:cubicBezTo>
                <a:cubicBezTo>
                  <a:pt x="14178" y="19785"/>
                  <a:pt x="14356" y="19298"/>
                  <a:pt x="14756" y="19121"/>
                </a:cubicBezTo>
                <a:cubicBezTo>
                  <a:pt x="15111" y="18989"/>
                  <a:pt x="15600" y="19166"/>
                  <a:pt x="15778" y="19520"/>
                </a:cubicBezTo>
                <a:cubicBezTo>
                  <a:pt x="15867" y="19741"/>
                  <a:pt x="15867" y="19741"/>
                  <a:pt x="15867" y="19741"/>
                </a:cubicBezTo>
                <a:cubicBezTo>
                  <a:pt x="15956" y="20007"/>
                  <a:pt x="16311" y="20095"/>
                  <a:pt x="16533" y="19962"/>
                </a:cubicBezTo>
                <a:cubicBezTo>
                  <a:pt x="16533" y="19962"/>
                  <a:pt x="16533" y="19962"/>
                  <a:pt x="16533" y="19962"/>
                </a:cubicBezTo>
                <a:cubicBezTo>
                  <a:pt x="16667" y="19874"/>
                  <a:pt x="16800" y="19785"/>
                  <a:pt x="16933" y="19697"/>
                </a:cubicBezTo>
                <a:cubicBezTo>
                  <a:pt x="17156" y="19564"/>
                  <a:pt x="17200" y="19210"/>
                  <a:pt x="17022" y="18989"/>
                </a:cubicBezTo>
                <a:cubicBezTo>
                  <a:pt x="16844" y="18811"/>
                  <a:pt x="16844" y="18811"/>
                  <a:pt x="16844" y="18811"/>
                </a:cubicBezTo>
                <a:cubicBezTo>
                  <a:pt x="16578" y="18457"/>
                  <a:pt x="16622" y="17970"/>
                  <a:pt x="16933" y="17705"/>
                </a:cubicBezTo>
                <a:cubicBezTo>
                  <a:pt x="17244" y="17439"/>
                  <a:pt x="17733" y="17484"/>
                  <a:pt x="18044" y="17793"/>
                </a:cubicBezTo>
                <a:cubicBezTo>
                  <a:pt x="18178" y="17970"/>
                  <a:pt x="18178" y="17970"/>
                  <a:pt x="18178" y="17970"/>
                </a:cubicBezTo>
                <a:cubicBezTo>
                  <a:pt x="18356" y="18192"/>
                  <a:pt x="18711" y="18192"/>
                  <a:pt x="18889" y="17970"/>
                </a:cubicBezTo>
                <a:cubicBezTo>
                  <a:pt x="19022" y="17838"/>
                  <a:pt x="19111" y="17749"/>
                  <a:pt x="19200" y="17616"/>
                </a:cubicBezTo>
                <a:cubicBezTo>
                  <a:pt x="19378" y="17395"/>
                  <a:pt x="19333" y="17085"/>
                  <a:pt x="19067" y="16908"/>
                </a:cubicBezTo>
                <a:cubicBezTo>
                  <a:pt x="18844" y="16775"/>
                  <a:pt x="18844" y="16775"/>
                  <a:pt x="18844" y="16775"/>
                </a:cubicBezTo>
                <a:cubicBezTo>
                  <a:pt x="18489" y="16554"/>
                  <a:pt x="18400" y="16067"/>
                  <a:pt x="18622" y="15713"/>
                </a:cubicBezTo>
                <a:cubicBezTo>
                  <a:pt x="18889" y="15359"/>
                  <a:pt x="19378" y="15226"/>
                  <a:pt x="19733" y="15492"/>
                </a:cubicBezTo>
                <a:cubicBezTo>
                  <a:pt x="19911" y="15580"/>
                  <a:pt x="19911" y="15580"/>
                  <a:pt x="19911" y="15580"/>
                </a:cubicBezTo>
                <a:cubicBezTo>
                  <a:pt x="20133" y="15757"/>
                  <a:pt x="20489" y="15669"/>
                  <a:pt x="20622" y="15403"/>
                </a:cubicBezTo>
                <a:cubicBezTo>
                  <a:pt x="20667" y="15270"/>
                  <a:pt x="20711" y="15138"/>
                  <a:pt x="20800" y="15005"/>
                </a:cubicBezTo>
                <a:cubicBezTo>
                  <a:pt x="20889" y="14739"/>
                  <a:pt x="20756" y="14430"/>
                  <a:pt x="20489" y="14341"/>
                </a:cubicBezTo>
                <a:cubicBezTo>
                  <a:pt x="20222" y="14252"/>
                  <a:pt x="20222" y="14252"/>
                  <a:pt x="20222" y="14252"/>
                </a:cubicBezTo>
                <a:cubicBezTo>
                  <a:pt x="19822" y="14120"/>
                  <a:pt x="19600" y="13721"/>
                  <a:pt x="19689" y="13279"/>
                </a:cubicBezTo>
                <a:cubicBezTo>
                  <a:pt x="19467" y="12969"/>
                  <a:pt x="19822" y="12526"/>
                  <a:pt x="20222" y="12659"/>
                </a:cubicBezTo>
                <a:cubicBezTo>
                  <a:pt x="20889" y="12836"/>
                  <a:pt x="20889" y="12836"/>
                  <a:pt x="20889" y="12836"/>
                </a:cubicBezTo>
                <a:cubicBezTo>
                  <a:pt x="21156" y="12925"/>
                  <a:pt x="21467" y="12748"/>
                  <a:pt x="21511" y="12438"/>
                </a:cubicBezTo>
                <a:cubicBezTo>
                  <a:pt x="21511" y="12305"/>
                  <a:pt x="21556" y="12172"/>
                  <a:pt x="21556" y="12039"/>
                </a:cubicBezTo>
                <a:cubicBezTo>
                  <a:pt x="21600" y="11730"/>
                  <a:pt x="21378" y="11464"/>
                  <a:pt x="21067" y="11464"/>
                </a:cubicBezTo>
                <a:close/>
                <a:moveTo>
                  <a:pt x="12933" y="4382"/>
                </a:moveTo>
                <a:cubicBezTo>
                  <a:pt x="13022" y="3939"/>
                  <a:pt x="13422" y="3762"/>
                  <a:pt x="13822" y="3939"/>
                </a:cubicBezTo>
                <a:cubicBezTo>
                  <a:pt x="16356" y="5798"/>
                  <a:pt x="16356" y="5798"/>
                  <a:pt x="16356" y="5798"/>
                </a:cubicBezTo>
                <a:cubicBezTo>
                  <a:pt x="16667" y="6108"/>
                  <a:pt x="16622" y="6551"/>
                  <a:pt x="16267" y="6772"/>
                </a:cubicBezTo>
                <a:cubicBezTo>
                  <a:pt x="15956" y="6949"/>
                  <a:pt x="15956" y="6949"/>
                  <a:pt x="15956" y="6949"/>
                </a:cubicBezTo>
                <a:cubicBezTo>
                  <a:pt x="15200" y="5931"/>
                  <a:pt x="14089" y="5134"/>
                  <a:pt x="12844" y="4736"/>
                </a:cubicBezTo>
                <a:lnTo>
                  <a:pt x="12933" y="4382"/>
                </a:lnTo>
                <a:close/>
                <a:moveTo>
                  <a:pt x="8133" y="3807"/>
                </a:moveTo>
                <a:cubicBezTo>
                  <a:pt x="11333" y="3320"/>
                  <a:pt x="11333" y="3320"/>
                  <a:pt x="11333" y="3320"/>
                </a:cubicBezTo>
                <a:cubicBezTo>
                  <a:pt x="11778" y="3364"/>
                  <a:pt x="12044" y="3718"/>
                  <a:pt x="11956" y="4116"/>
                </a:cubicBezTo>
                <a:cubicBezTo>
                  <a:pt x="11867" y="4470"/>
                  <a:pt x="11867" y="4470"/>
                  <a:pt x="11867" y="4470"/>
                </a:cubicBezTo>
                <a:cubicBezTo>
                  <a:pt x="11511" y="4426"/>
                  <a:pt x="11156" y="4382"/>
                  <a:pt x="10800" y="4382"/>
                </a:cubicBezTo>
                <a:cubicBezTo>
                  <a:pt x="9778" y="4382"/>
                  <a:pt x="8844" y="4603"/>
                  <a:pt x="8000" y="5002"/>
                </a:cubicBezTo>
                <a:cubicBezTo>
                  <a:pt x="7822" y="4736"/>
                  <a:pt x="7822" y="4736"/>
                  <a:pt x="7822" y="4736"/>
                </a:cubicBezTo>
                <a:cubicBezTo>
                  <a:pt x="7556" y="4338"/>
                  <a:pt x="7733" y="3939"/>
                  <a:pt x="8133" y="3807"/>
                </a:cubicBezTo>
                <a:close/>
                <a:moveTo>
                  <a:pt x="3956" y="7790"/>
                </a:moveTo>
                <a:cubicBezTo>
                  <a:pt x="5911" y="5134"/>
                  <a:pt x="5911" y="5134"/>
                  <a:pt x="5911" y="5134"/>
                </a:cubicBezTo>
                <a:cubicBezTo>
                  <a:pt x="6222" y="4825"/>
                  <a:pt x="6667" y="4869"/>
                  <a:pt x="6933" y="5223"/>
                </a:cubicBezTo>
                <a:cubicBezTo>
                  <a:pt x="7111" y="5533"/>
                  <a:pt x="7111" y="5533"/>
                  <a:pt x="7111" y="5533"/>
                </a:cubicBezTo>
                <a:cubicBezTo>
                  <a:pt x="6000" y="6330"/>
                  <a:pt x="5156" y="7436"/>
                  <a:pt x="4711" y="8720"/>
                </a:cubicBezTo>
                <a:cubicBezTo>
                  <a:pt x="4356" y="8675"/>
                  <a:pt x="4356" y="8675"/>
                  <a:pt x="4356" y="8675"/>
                </a:cubicBezTo>
                <a:cubicBezTo>
                  <a:pt x="3911" y="8543"/>
                  <a:pt x="3733" y="8144"/>
                  <a:pt x="3956" y="7790"/>
                </a:cubicBezTo>
                <a:close/>
                <a:moveTo>
                  <a:pt x="4800" y="13943"/>
                </a:moveTo>
                <a:cubicBezTo>
                  <a:pt x="4400" y="14164"/>
                  <a:pt x="4000" y="14031"/>
                  <a:pt x="3867" y="13589"/>
                </a:cubicBezTo>
                <a:cubicBezTo>
                  <a:pt x="3333" y="10269"/>
                  <a:pt x="3333" y="10269"/>
                  <a:pt x="3333" y="10269"/>
                </a:cubicBezTo>
                <a:cubicBezTo>
                  <a:pt x="3333" y="9826"/>
                  <a:pt x="3689" y="9561"/>
                  <a:pt x="4089" y="9649"/>
                </a:cubicBezTo>
                <a:cubicBezTo>
                  <a:pt x="4444" y="9738"/>
                  <a:pt x="4444" y="9738"/>
                  <a:pt x="4444" y="9738"/>
                </a:cubicBezTo>
                <a:cubicBezTo>
                  <a:pt x="4400" y="10092"/>
                  <a:pt x="4356" y="10446"/>
                  <a:pt x="4356" y="10800"/>
                </a:cubicBezTo>
                <a:cubicBezTo>
                  <a:pt x="4356" y="11862"/>
                  <a:pt x="4622" y="12880"/>
                  <a:pt x="5067" y="13766"/>
                </a:cubicBezTo>
                <a:lnTo>
                  <a:pt x="4800" y="13943"/>
                </a:lnTo>
                <a:close/>
                <a:moveTo>
                  <a:pt x="8000" y="17749"/>
                </a:moveTo>
                <a:cubicBezTo>
                  <a:pt x="5244" y="15802"/>
                  <a:pt x="5244" y="15802"/>
                  <a:pt x="5244" y="15802"/>
                </a:cubicBezTo>
                <a:cubicBezTo>
                  <a:pt x="4933" y="15492"/>
                  <a:pt x="4978" y="15049"/>
                  <a:pt x="5333" y="14828"/>
                </a:cubicBezTo>
                <a:cubicBezTo>
                  <a:pt x="5644" y="14651"/>
                  <a:pt x="5644" y="14651"/>
                  <a:pt x="5644" y="14651"/>
                </a:cubicBezTo>
                <a:cubicBezTo>
                  <a:pt x="6444" y="15713"/>
                  <a:pt x="7644" y="16554"/>
                  <a:pt x="8978" y="16952"/>
                </a:cubicBezTo>
                <a:cubicBezTo>
                  <a:pt x="8933" y="17307"/>
                  <a:pt x="8933" y="17307"/>
                  <a:pt x="8933" y="17307"/>
                </a:cubicBezTo>
                <a:cubicBezTo>
                  <a:pt x="8800" y="17705"/>
                  <a:pt x="8400" y="17926"/>
                  <a:pt x="8000" y="17749"/>
                </a:cubicBezTo>
                <a:close/>
                <a:moveTo>
                  <a:pt x="13822" y="17616"/>
                </a:moveTo>
                <a:cubicBezTo>
                  <a:pt x="10533" y="18280"/>
                  <a:pt x="10533" y="18280"/>
                  <a:pt x="10533" y="18280"/>
                </a:cubicBezTo>
                <a:cubicBezTo>
                  <a:pt x="10089" y="18280"/>
                  <a:pt x="9822" y="17926"/>
                  <a:pt x="9911" y="17484"/>
                </a:cubicBezTo>
                <a:cubicBezTo>
                  <a:pt x="10000" y="17174"/>
                  <a:pt x="10000" y="17174"/>
                  <a:pt x="10000" y="17174"/>
                </a:cubicBezTo>
                <a:cubicBezTo>
                  <a:pt x="10267" y="17174"/>
                  <a:pt x="10533" y="17218"/>
                  <a:pt x="10800" y="17218"/>
                </a:cubicBezTo>
                <a:cubicBezTo>
                  <a:pt x="11956" y="17218"/>
                  <a:pt x="13022" y="16908"/>
                  <a:pt x="13956" y="16377"/>
                </a:cubicBezTo>
                <a:cubicBezTo>
                  <a:pt x="14133" y="16687"/>
                  <a:pt x="14133" y="16687"/>
                  <a:pt x="14133" y="16687"/>
                </a:cubicBezTo>
                <a:cubicBezTo>
                  <a:pt x="14356" y="17041"/>
                  <a:pt x="14222" y="17484"/>
                  <a:pt x="13822" y="17616"/>
                </a:cubicBezTo>
                <a:close/>
                <a:moveTo>
                  <a:pt x="17778" y="13589"/>
                </a:moveTo>
                <a:cubicBezTo>
                  <a:pt x="15956" y="16200"/>
                  <a:pt x="15956" y="16200"/>
                  <a:pt x="15956" y="16200"/>
                </a:cubicBezTo>
                <a:cubicBezTo>
                  <a:pt x="15644" y="16510"/>
                  <a:pt x="15244" y="16510"/>
                  <a:pt x="14978" y="16111"/>
                </a:cubicBezTo>
                <a:cubicBezTo>
                  <a:pt x="14800" y="15802"/>
                  <a:pt x="14800" y="15802"/>
                  <a:pt x="14800" y="15802"/>
                </a:cubicBezTo>
                <a:cubicBezTo>
                  <a:pt x="15822" y="15005"/>
                  <a:pt x="16578" y="13898"/>
                  <a:pt x="16978" y="12570"/>
                </a:cubicBezTo>
                <a:cubicBezTo>
                  <a:pt x="17333" y="12659"/>
                  <a:pt x="17333" y="12659"/>
                  <a:pt x="17333" y="12659"/>
                </a:cubicBezTo>
                <a:cubicBezTo>
                  <a:pt x="17733" y="12748"/>
                  <a:pt x="17956" y="13190"/>
                  <a:pt x="17778" y="13589"/>
                </a:cubicBezTo>
                <a:close/>
                <a:moveTo>
                  <a:pt x="17556" y="11685"/>
                </a:moveTo>
                <a:cubicBezTo>
                  <a:pt x="17200" y="11597"/>
                  <a:pt x="17200" y="11597"/>
                  <a:pt x="17200" y="11597"/>
                </a:cubicBezTo>
                <a:cubicBezTo>
                  <a:pt x="17200" y="11331"/>
                  <a:pt x="17244" y="11066"/>
                  <a:pt x="17244" y="10800"/>
                </a:cubicBezTo>
                <a:cubicBezTo>
                  <a:pt x="17244" y="9738"/>
                  <a:pt x="16978" y="8720"/>
                  <a:pt x="16489" y="7834"/>
                </a:cubicBezTo>
                <a:cubicBezTo>
                  <a:pt x="16800" y="7657"/>
                  <a:pt x="16800" y="7657"/>
                  <a:pt x="16800" y="7657"/>
                </a:cubicBezTo>
                <a:cubicBezTo>
                  <a:pt x="17200" y="7392"/>
                  <a:pt x="17600" y="7569"/>
                  <a:pt x="17733" y="7967"/>
                </a:cubicBezTo>
                <a:cubicBezTo>
                  <a:pt x="18311" y="11066"/>
                  <a:pt x="18311" y="11066"/>
                  <a:pt x="18311" y="11066"/>
                </a:cubicBezTo>
                <a:cubicBezTo>
                  <a:pt x="18311" y="11464"/>
                  <a:pt x="17956" y="11774"/>
                  <a:pt x="17556" y="11685"/>
                </a:cubicBezTo>
                <a:close/>
              </a:path>
            </a:pathLst>
          </a:custGeom>
          <a:solidFill>
            <a:srgbClr val="0065B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2" name="任意形状 60"/>
          <p:cNvSpPr>
            <a:spLocks noChangeAspect="1"/>
          </p:cNvSpPr>
          <p:nvPr>
            <p:custDataLst>
              <p:tags r:id="rId2"/>
            </p:custDataLst>
          </p:nvPr>
        </p:nvSpPr>
        <p:spPr>
          <a:xfrm>
            <a:off x="2397452" y="2272430"/>
            <a:ext cx="438239" cy="438308"/>
          </a:xfrm>
          <a:custGeom>
            <a:avLst/>
            <a:gdLst>
              <a:gd name="connsiteX0" fmla="*/ 205205 w 504000"/>
              <a:gd name="connsiteY0" fmla="*/ 441081 h 504081"/>
              <a:gd name="connsiteX1" fmla="*/ 205149 w 504000"/>
              <a:gd name="connsiteY1" fmla="*/ 488331 h 504081"/>
              <a:gd name="connsiteX2" fmla="*/ 299649 w 504000"/>
              <a:gd name="connsiteY2" fmla="*/ 488331 h 504081"/>
              <a:gd name="connsiteX3" fmla="*/ 299705 w 504000"/>
              <a:gd name="connsiteY3" fmla="*/ 441081 h 504081"/>
              <a:gd name="connsiteX4" fmla="*/ 15750 w 504000"/>
              <a:gd name="connsiteY4" fmla="*/ 396744 h 504081"/>
              <a:gd name="connsiteX5" fmla="*/ 15750 w 504000"/>
              <a:gd name="connsiteY5" fmla="*/ 425331 h 504081"/>
              <a:gd name="connsiteX6" fmla="*/ 488250 w 504000"/>
              <a:gd name="connsiteY6" fmla="*/ 425331 h 504081"/>
              <a:gd name="connsiteX7" fmla="*/ 488250 w 504000"/>
              <a:gd name="connsiteY7" fmla="*/ 397559 h 504081"/>
              <a:gd name="connsiteX8" fmla="*/ 243979 w 504000"/>
              <a:gd name="connsiteY8" fmla="*/ 267830 h 504081"/>
              <a:gd name="connsiteX9" fmla="*/ 259729 w 504000"/>
              <a:gd name="connsiteY9" fmla="*/ 267830 h 504081"/>
              <a:gd name="connsiteX10" fmla="*/ 259729 w 504000"/>
              <a:gd name="connsiteY10" fmla="*/ 283580 h 504081"/>
              <a:gd name="connsiteX11" fmla="*/ 243979 w 504000"/>
              <a:gd name="connsiteY11" fmla="*/ 283580 h 504081"/>
              <a:gd name="connsiteX12" fmla="*/ 244056 w 504000"/>
              <a:gd name="connsiteY12" fmla="*/ 189738 h 504081"/>
              <a:gd name="connsiteX13" fmla="*/ 259806 w 504000"/>
              <a:gd name="connsiteY13" fmla="*/ 189738 h 504081"/>
              <a:gd name="connsiteX14" fmla="*/ 259806 w 504000"/>
              <a:gd name="connsiteY14" fmla="*/ 252738 h 504081"/>
              <a:gd name="connsiteX15" fmla="*/ 244056 w 504000"/>
              <a:gd name="connsiteY15" fmla="*/ 252738 h 504081"/>
              <a:gd name="connsiteX16" fmla="*/ 250654 w 504000"/>
              <a:gd name="connsiteY16" fmla="*/ 146037 h 504081"/>
              <a:gd name="connsiteX17" fmla="*/ 159253 w 504000"/>
              <a:gd name="connsiteY17" fmla="*/ 302733 h 504081"/>
              <a:gd name="connsiteX18" fmla="*/ 344285 w 504000"/>
              <a:gd name="connsiteY18" fmla="*/ 302733 h 504081"/>
              <a:gd name="connsiteX19" fmla="*/ 441945 w 504000"/>
              <a:gd name="connsiteY19" fmla="*/ 131106 h 504081"/>
              <a:gd name="connsiteX20" fmla="*/ 441588 w 504000"/>
              <a:gd name="connsiteY20" fmla="*/ 381728 h 504081"/>
              <a:gd name="connsiteX21" fmla="*/ 488250 w 504000"/>
              <a:gd name="connsiteY21" fmla="*/ 381809 h 504081"/>
              <a:gd name="connsiteX22" fmla="*/ 488250 w 504000"/>
              <a:gd name="connsiteY22" fmla="*/ 131106 h 504081"/>
              <a:gd name="connsiteX23" fmla="*/ 15750 w 504000"/>
              <a:gd name="connsiteY23" fmla="*/ 131106 h 504081"/>
              <a:gd name="connsiteX24" fmla="*/ 15750 w 504000"/>
              <a:gd name="connsiteY24" fmla="*/ 380994 h 504081"/>
              <a:gd name="connsiteX25" fmla="*/ 63349 w 504000"/>
              <a:gd name="connsiteY25" fmla="*/ 381076 h 504081"/>
              <a:gd name="connsiteX26" fmla="*/ 63706 w 504000"/>
              <a:gd name="connsiteY26" fmla="*/ 131106 h 504081"/>
              <a:gd name="connsiteX27" fmla="*/ 250485 w 504000"/>
              <a:gd name="connsiteY27" fmla="*/ 115060 h 504081"/>
              <a:gd name="connsiteX28" fmla="*/ 372047 w 504000"/>
              <a:gd name="connsiteY28" fmla="*/ 318483 h 504081"/>
              <a:gd name="connsiteX29" fmla="*/ 131829 w 504000"/>
              <a:gd name="connsiteY29" fmla="*/ 318483 h 504081"/>
              <a:gd name="connsiteX30" fmla="*/ 79536 w 504000"/>
              <a:gd name="connsiteY30" fmla="*/ 78757 h 504081"/>
              <a:gd name="connsiteX31" fmla="*/ 79100 w 504000"/>
              <a:gd name="connsiteY31" fmla="*/ 381103 h 504081"/>
              <a:gd name="connsiteX32" fmla="*/ 425838 w 504000"/>
              <a:gd name="connsiteY32" fmla="*/ 381701 h 504081"/>
              <a:gd name="connsiteX33" fmla="*/ 426274 w 504000"/>
              <a:gd name="connsiteY33" fmla="*/ 78904 h 504081"/>
              <a:gd name="connsiteX34" fmla="*/ 188608 w 504000"/>
              <a:gd name="connsiteY34" fmla="*/ 31580 h 504081"/>
              <a:gd name="connsiteX35" fmla="*/ 409431 w 504000"/>
              <a:gd name="connsiteY35" fmla="*/ 31580 h 504081"/>
              <a:gd name="connsiteX36" fmla="*/ 409431 w 504000"/>
              <a:gd name="connsiteY36" fmla="*/ 47330 h 504081"/>
              <a:gd name="connsiteX37" fmla="*/ 188608 w 504000"/>
              <a:gd name="connsiteY37" fmla="*/ 47330 h 504081"/>
              <a:gd name="connsiteX38" fmla="*/ 157600 w 504000"/>
              <a:gd name="connsiteY38" fmla="*/ 31580 h 504081"/>
              <a:gd name="connsiteX39" fmla="*/ 173350 w 504000"/>
              <a:gd name="connsiteY39" fmla="*/ 31580 h 504081"/>
              <a:gd name="connsiteX40" fmla="*/ 173350 w 504000"/>
              <a:gd name="connsiteY40" fmla="*/ 47330 h 504081"/>
              <a:gd name="connsiteX41" fmla="*/ 157600 w 504000"/>
              <a:gd name="connsiteY41" fmla="*/ 47330 h 504081"/>
              <a:gd name="connsiteX42" fmla="*/ 126100 w 504000"/>
              <a:gd name="connsiteY42" fmla="*/ 31580 h 504081"/>
              <a:gd name="connsiteX43" fmla="*/ 141850 w 504000"/>
              <a:gd name="connsiteY43" fmla="*/ 31580 h 504081"/>
              <a:gd name="connsiteX44" fmla="*/ 141850 w 504000"/>
              <a:gd name="connsiteY44" fmla="*/ 47330 h 504081"/>
              <a:gd name="connsiteX45" fmla="*/ 126100 w 504000"/>
              <a:gd name="connsiteY45" fmla="*/ 47330 h 504081"/>
              <a:gd name="connsiteX46" fmla="*/ 94600 w 504000"/>
              <a:gd name="connsiteY46" fmla="*/ 31580 h 504081"/>
              <a:gd name="connsiteX47" fmla="*/ 110350 w 504000"/>
              <a:gd name="connsiteY47" fmla="*/ 31580 h 504081"/>
              <a:gd name="connsiteX48" fmla="*/ 110350 w 504000"/>
              <a:gd name="connsiteY48" fmla="*/ 47330 h 504081"/>
              <a:gd name="connsiteX49" fmla="*/ 94600 w 504000"/>
              <a:gd name="connsiteY49" fmla="*/ 47330 h 504081"/>
              <a:gd name="connsiteX50" fmla="*/ 79627 w 504000"/>
              <a:gd name="connsiteY50" fmla="*/ 15758 h 504081"/>
              <a:gd name="connsiteX51" fmla="*/ 79558 w 504000"/>
              <a:gd name="connsiteY51" fmla="*/ 63007 h 504081"/>
              <a:gd name="connsiteX52" fmla="*/ 426297 w 504000"/>
              <a:gd name="connsiteY52" fmla="*/ 63154 h 504081"/>
              <a:gd name="connsiteX53" fmla="*/ 426365 w 504000"/>
              <a:gd name="connsiteY53" fmla="*/ 15904 h 504081"/>
              <a:gd name="connsiteX54" fmla="*/ 63892 w 504000"/>
              <a:gd name="connsiteY54" fmla="*/ 0 h 504081"/>
              <a:gd name="connsiteX55" fmla="*/ 442130 w 504000"/>
              <a:gd name="connsiteY55" fmla="*/ 162 h 504081"/>
              <a:gd name="connsiteX56" fmla="*/ 441967 w 504000"/>
              <a:gd name="connsiteY56" fmla="*/ 115356 h 504081"/>
              <a:gd name="connsiteX57" fmla="*/ 488250 w 504000"/>
              <a:gd name="connsiteY57" fmla="*/ 115356 h 504081"/>
              <a:gd name="connsiteX58" fmla="*/ 504000 w 504000"/>
              <a:gd name="connsiteY58" fmla="*/ 131106 h 504081"/>
              <a:gd name="connsiteX59" fmla="*/ 504000 w 504000"/>
              <a:gd name="connsiteY59" fmla="*/ 425331 h 504081"/>
              <a:gd name="connsiteX60" fmla="*/ 488250 w 504000"/>
              <a:gd name="connsiteY60" fmla="*/ 441081 h 504081"/>
              <a:gd name="connsiteX61" fmla="*/ 315455 w 504000"/>
              <a:gd name="connsiteY61" fmla="*/ 441081 h 504081"/>
              <a:gd name="connsiteX62" fmla="*/ 315399 w 504000"/>
              <a:gd name="connsiteY62" fmla="*/ 488331 h 504081"/>
              <a:gd name="connsiteX63" fmla="*/ 346431 w 504000"/>
              <a:gd name="connsiteY63" fmla="*/ 488331 h 504081"/>
              <a:gd name="connsiteX64" fmla="*/ 346431 w 504000"/>
              <a:gd name="connsiteY64" fmla="*/ 504081 h 504081"/>
              <a:gd name="connsiteX65" fmla="*/ 157431 w 504000"/>
              <a:gd name="connsiteY65" fmla="*/ 504081 h 504081"/>
              <a:gd name="connsiteX66" fmla="*/ 157431 w 504000"/>
              <a:gd name="connsiteY66" fmla="*/ 488331 h 504081"/>
              <a:gd name="connsiteX67" fmla="*/ 189399 w 504000"/>
              <a:gd name="connsiteY67" fmla="*/ 488331 h 504081"/>
              <a:gd name="connsiteX68" fmla="*/ 189455 w 504000"/>
              <a:gd name="connsiteY68" fmla="*/ 441081 h 504081"/>
              <a:gd name="connsiteX69" fmla="*/ 15750 w 504000"/>
              <a:gd name="connsiteY69" fmla="*/ 441081 h 504081"/>
              <a:gd name="connsiteX70" fmla="*/ 0 w 504000"/>
              <a:gd name="connsiteY70" fmla="*/ 425331 h 504081"/>
              <a:gd name="connsiteX71" fmla="*/ 0 w 504000"/>
              <a:gd name="connsiteY71" fmla="*/ 131106 h 504081"/>
              <a:gd name="connsiteX72" fmla="*/ 15750 w 504000"/>
              <a:gd name="connsiteY72" fmla="*/ 115356 h 504081"/>
              <a:gd name="connsiteX73" fmla="*/ 63728 w 504000"/>
              <a:gd name="connsiteY73" fmla="*/ 115356 h 50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04000" h="504081">
                <a:moveTo>
                  <a:pt x="205205" y="441081"/>
                </a:moveTo>
                <a:lnTo>
                  <a:pt x="205149" y="488331"/>
                </a:lnTo>
                <a:lnTo>
                  <a:pt x="299649" y="488331"/>
                </a:lnTo>
                <a:lnTo>
                  <a:pt x="299705" y="441081"/>
                </a:lnTo>
                <a:close/>
                <a:moveTo>
                  <a:pt x="15750" y="396744"/>
                </a:moveTo>
                <a:lnTo>
                  <a:pt x="15750" y="425331"/>
                </a:lnTo>
                <a:lnTo>
                  <a:pt x="488250" y="425331"/>
                </a:lnTo>
                <a:lnTo>
                  <a:pt x="488250" y="397559"/>
                </a:lnTo>
                <a:close/>
                <a:moveTo>
                  <a:pt x="243979" y="267830"/>
                </a:moveTo>
                <a:lnTo>
                  <a:pt x="259729" y="267830"/>
                </a:lnTo>
                <a:lnTo>
                  <a:pt x="259729" y="283580"/>
                </a:lnTo>
                <a:lnTo>
                  <a:pt x="243979" y="283580"/>
                </a:lnTo>
                <a:close/>
                <a:moveTo>
                  <a:pt x="244056" y="189738"/>
                </a:moveTo>
                <a:lnTo>
                  <a:pt x="259806" y="189738"/>
                </a:lnTo>
                <a:lnTo>
                  <a:pt x="259806" y="252738"/>
                </a:lnTo>
                <a:lnTo>
                  <a:pt x="244056" y="252738"/>
                </a:lnTo>
                <a:close/>
                <a:moveTo>
                  <a:pt x="250654" y="146037"/>
                </a:moveTo>
                <a:lnTo>
                  <a:pt x="159253" y="302733"/>
                </a:lnTo>
                <a:lnTo>
                  <a:pt x="344285" y="302733"/>
                </a:lnTo>
                <a:close/>
                <a:moveTo>
                  <a:pt x="441945" y="131106"/>
                </a:moveTo>
                <a:lnTo>
                  <a:pt x="441588" y="381728"/>
                </a:lnTo>
                <a:lnTo>
                  <a:pt x="488250" y="381809"/>
                </a:lnTo>
                <a:lnTo>
                  <a:pt x="488250" y="131106"/>
                </a:lnTo>
                <a:close/>
                <a:moveTo>
                  <a:pt x="15750" y="131106"/>
                </a:moveTo>
                <a:lnTo>
                  <a:pt x="15750" y="380994"/>
                </a:lnTo>
                <a:lnTo>
                  <a:pt x="63349" y="381076"/>
                </a:lnTo>
                <a:lnTo>
                  <a:pt x="63706" y="131106"/>
                </a:lnTo>
                <a:close/>
                <a:moveTo>
                  <a:pt x="250485" y="115060"/>
                </a:moveTo>
                <a:lnTo>
                  <a:pt x="372047" y="318483"/>
                </a:lnTo>
                <a:lnTo>
                  <a:pt x="131829" y="318483"/>
                </a:lnTo>
                <a:close/>
                <a:moveTo>
                  <a:pt x="79536" y="78757"/>
                </a:moveTo>
                <a:lnTo>
                  <a:pt x="79100" y="381103"/>
                </a:lnTo>
                <a:lnTo>
                  <a:pt x="425838" y="381701"/>
                </a:lnTo>
                <a:lnTo>
                  <a:pt x="426274" y="78904"/>
                </a:lnTo>
                <a:close/>
                <a:moveTo>
                  <a:pt x="188608" y="31580"/>
                </a:moveTo>
                <a:lnTo>
                  <a:pt x="409431" y="31580"/>
                </a:lnTo>
                <a:lnTo>
                  <a:pt x="409431" y="47330"/>
                </a:lnTo>
                <a:lnTo>
                  <a:pt x="188608" y="47330"/>
                </a:lnTo>
                <a:close/>
                <a:moveTo>
                  <a:pt x="157600" y="31580"/>
                </a:moveTo>
                <a:lnTo>
                  <a:pt x="173350" y="31580"/>
                </a:lnTo>
                <a:lnTo>
                  <a:pt x="173350" y="47330"/>
                </a:lnTo>
                <a:lnTo>
                  <a:pt x="157600" y="47330"/>
                </a:lnTo>
                <a:close/>
                <a:moveTo>
                  <a:pt x="126100" y="31580"/>
                </a:moveTo>
                <a:lnTo>
                  <a:pt x="141850" y="31580"/>
                </a:lnTo>
                <a:lnTo>
                  <a:pt x="141850" y="47330"/>
                </a:lnTo>
                <a:lnTo>
                  <a:pt x="126100" y="47330"/>
                </a:lnTo>
                <a:close/>
                <a:moveTo>
                  <a:pt x="94600" y="31580"/>
                </a:moveTo>
                <a:lnTo>
                  <a:pt x="110350" y="31580"/>
                </a:lnTo>
                <a:lnTo>
                  <a:pt x="110350" y="47330"/>
                </a:lnTo>
                <a:lnTo>
                  <a:pt x="94600" y="47330"/>
                </a:lnTo>
                <a:close/>
                <a:moveTo>
                  <a:pt x="79627" y="15758"/>
                </a:moveTo>
                <a:lnTo>
                  <a:pt x="79558" y="63007"/>
                </a:lnTo>
                <a:lnTo>
                  <a:pt x="426297" y="63154"/>
                </a:lnTo>
                <a:lnTo>
                  <a:pt x="426365" y="15904"/>
                </a:lnTo>
                <a:close/>
                <a:moveTo>
                  <a:pt x="63892" y="0"/>
                </a:moveTo>
                <a:lnTo>
                  <a:pt x="442130" y="162"/>
                </a:lnTo>
                <a:lnTo>
                  <a:pt x="441967" y="115356"/>
                </a:lnTo>
                <a:lnTo>
                  <a:pt x="488250" y="115356"/>
                </a:lnTo>
                <a:cubicBezTo>
                  <a:pt x="496944" y="115366"/>
                  <a:pt x="503990" y="122412"/>
                  <a:pt x="504000" y="131106"/>
                </a:cubicBezTo>
                <a:lnTo>
                  <a:pt x="504000" y="425331"/>
                </a:lnTo>
                <a:cubicBezTo>
                  <a:pt x="503990" y="434025"/>
                  <a:pt x="496944" y="441071"/>
                  <a:pt x="488250" y="441081"/>
                </a:cubicBezTo>
                <a:lnTo>
                  <a:pt x="315455" y="441081"/>
                </a:lnTo>
                <a:lnTo>
                  <a:pt x="315399" y="488331"/>
                </a:lnTo>
                <a:lnTo>
                  <a:pt x="346431" y="488331"/>
                </a:lnTo>
                <a:lnTo>
                  <a:pt x="346431" y="504081"/>
                </a:lnTo>
                <a:lnTo>
                  <a:pt x="157431" y="504081"/>
                </a:lnTo>
                <a:lnTo>
                  <a:pt x="157431" y="488331"/>
                </a:lnTo>
                <a:lnTo>
                  <a:pt x="189399" y="488331"/>
                </a:lnTo>
                <a:lnTo>
                  <a:pt x="189455" y="441081"/>
                </a:lnTo>
                <a:lnTo>
                  <a:pt x="15750" y="441081"/>
                </a:lnTo>
                <a:cubicBezTo>
                  <a:pt x="7056" y="441071"/>
                  <a:pt x="10" y="434025"/>
                  <a:pt x="0" y="425331"/>
                </a:cubicBezTo>
                <a:lnTo>
                  <a:pt x="0" y="131106"/>
                </a:lnTo>
                <a:cubicBezTo>
                  <a:pt x="10" y="122412"/>
                  <a:pt x="7056" y="115366"/>
                  <a:pt x="15750" y="115356"/>
                </a:cubicBezTo>
                <a:lnTo>
                  <a:pt x="63728" y="115356"/>
                </a:lnTo>
                <a:close/>
              </a:path>
            </a:pathLst>
          </a:custGeom>
          <a:solidFill>
            <a:srgbClr val="FFFFFF"/>
          </a:solidFill>
          <a:ln w="77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3" name="形状"/>
          <p:cNvSpPr/>
          <p:nvPr>
            <p:custDataLst>
              <p:tags r:id="rId3"/>
            </p:custDataLst>
          </p:nvPr>
        </p:nvSpPr>
        <p:spPr>
          <a:xfrm>
            <a:off x="3415866" y="1670958"/>
            <a:ext cx="1632734" cy="1635574"/>
          </a:xfrm>
          <a:custGeom>
            <a:avLst/>
            <a:gdLst/>
            <a:ahLst/>
            <a:cxnLst>
              <a:cxn ang="0">
                <a:pos x="wd2" y="hd2"/>
              </a:cxn>
              <a:cxn ang="5400000">
                <a:pos x="wd2" y="hd2"/>
              </a:cxn>
              <a:cxn ang="10800000">
                <a:pos x="wd2" y="hd2"/>
              </a:cxn>
              <a:cxn ang="16200000">
                <a:pos x="wd2" y="hd2"/>
              </a:cxn>
            </a:cxnLst>
            <a:rect l="0" t="0" r="r" b="b"/>
            <a:pathLst>
              <a:path w="21600" h="21600" extrusionOk="0">
                <a:moveTo>
                  <a:pt x="20552" y="10136"/>
                </a:moveTo>
                <a:cubicBezTo>
                  <a:pt x="20512" y="10056"/>
                  <a:pt x="20512" y="9935"/>
                  <a:pt x="20512" y="9855"/>
                </a:cubicBezTo>
                <a:cubicBezTo>
                  <a:pt x="20472" y="9573"/>
                  <a:pt x="20472" y="9573"/>
                  <a:pt x="20472" y="9573"/>
                </a:cubicBezTo>
                <a:cubicBezTo>
                  <a:pt x="20431" y="9251"/>
                  <a:pt x="20391" y="8970"/>
                  <a:pt x="20310" y="8688"/>
                </a:cubicBezTo>
                <a:cubicBezTo>
                  <a:pt x="21278" y="8125"/>
                  <a:pt x="21278" y="8125"/>
                  <a:pt x="21278" y="8125"/>
                </a:cubicBezTo>
                <a:cubicBezTo>
                  <a:pt x="21116" y="7683"/>
                  <a:pt x="21116" y="7683"/>
                  <a:pt x="21116" y="7683"/>
                </a:cubicBezTo>
                <a:cubicBezTo>
                  <a:pt x="20996" y="7240"/>
                  <a:pt x="20996" y="7240"/>
                  <a:pt x="20996" y="7240"/>
                </a:cubicBezTo>
                <a:cubicBezTo>
                  <a:pt x="19907" y="7321"/>
                  <a:pt x="19907" y="7321"/>
                  <a:pt x="19907" y="7321"/>
                </a:cubicBezTo>
                <a:cubicBezTo>
                  <a:pt x="19746" y="6838"/>
                  <a:pt x="19545" y="6396"/>
                  <a:pt x="19263" y="5953"/>
                </a:cubicBezTo>
                <a:cubicBezTo>
                  <a:pt x="20028" y="5149"/>
                  <a:pt x="20028" y="5149"/>
                  <a:pt x="20028" y="5149"/>
                </a:cubicBezTo>
                <a:cubicBezTo>
                  <a:pt x="19746" y="4787"/>
                  <a:pt x="19746" y="4787"/>
                  <a:pt x="19746" y="4787"/>
                </a:cubicBezTo>
                <a:cubicBezTo>
                  <a:pt x="19504" y="4384"/>
                  <a:pt x="19504" y="4384"/>
                  <a:pt x="19504" y="4384"/>
                </a:cubicBezTo>
                <a:cubicBezTo>
                  <a:pt x="18497" y="4787"/>
                  <a:pt x="18497" y="4787"/>
                  <a:pt x="18497" y="4787"/>
                </a:cubicBezTo>
                <a:cubicBezTo>
                  <a:pt x="18336" y="4585"/>
                  <a:pt x="18175" y="4384"/>
                  <a:pt x="18013" y="4183"/>
                </a:cubicBezTo>
                <a:cubicBezTo>
                  <a:pt x="17812" y="4022"/>
                  <a:pt x="17651" y="3821"/>
                  <a:pt x="17490" y="3660"/>
                </a:cubicBezTo>
                <a:cubicBezTo>
                  <a:pt x="17933" y="2695"/>
                  <a:pt x="17933" y="2695"/>
                  <a:pt x="17933" y="2695"/>
                </a:cubicBezTo>
                <a:cubicBezTo>
                  <a:pt x="17570" y="2413"/>
                  <a:pt x="17570" y="2413"/>
                  <a:pt x="17570" y="2413"/>
                </a:cubicBezTo>
                <a:cubicBezTo>
                  <a:pt x="17248" y="2092"/>
                  <a:pt x="17248" y="2092"/>
                  <a:pt x="17248" y="2092"/>
                </a:cubicBezTo>
                <a:cubicBezTo>
                  <a:pt x="16361" y="2775"/>
                  <a:pt x="16361" y="2775"/>
                  <a:pt x="16361" y="2775"/>
                </a:cubicBezTo>
                <a:cubicBezTo>
                  <a:pt x="15958" y="2494"/>
                  <a:pt x="15515" y="2212"/>
                  <a:pt x="15072" y="2011"/>
                </a:cubicBezTo>
                <a:cubicBezTo>
                  <a:pt x="15233" y="925"/>
                  <a:pt x="15233" y="925"/>
                  <a:pt x="15233" y="925"/>
                </a:cubicBezTo>
                <a:cubicBezTo>
                  <a:pt x="14790" y="764"/>
                  <a:pt x="14790" y="764"/>
                  <a:pt x="14790" y="764"/>
                </a:cubicBezTo>
                <a:cubicBezTo>
                  <a:pt x="14387" y="603"/>
                  <a:pt x="14387" y="603"/>
                  <a:pt x="14387" y="603"/>
                </a:cubicBezTo>
                <a:cubicBezTo>
                  <a:pt x="13742" y="1488"/>
                  <a:pt x="13742" y="1488"/>
                  <a:pt x="13742" y="1488"/>
                </a:cubicBezTo>
                <a:cubicBezTo>
                  <a:pt x="13460" y="1408"/>
                  <a:pt x="13178" y="1327"/>
                  <a:pt x="12855" y="1247"/>
                </a:cubicBezTo>
                <a:cubicBezTo>
                  <a:pt x="12613" y="1207"/>
                  <a:pt x="12613" y="1207"/>
                  <a:pt x="12613" y="1207"/>
                </a:cubicBezTo>
                <a:cubicBezTo>
                  <a:pt x="12493" y="1166"/>
                  <a:pt x="12412" y="1166"/>
                  <a:pt x="12291" y="1126"/>
                </a:cubicBezTo>
                <a:cubicBezTo>
                  <a:pt x="12130" y="80"/>
                  <a:pt x="12130" y="80"/>
                  <a:pt x="12130" y="80"/>
                </a:cubicBezTo>
                <a:cubicBezTo>
                  <a:pt x="11687" y="40"/>
                  <a:pt x="11687" y="40"/>
                  <a:pt x="11687" y="40"/>
                </a:cubicBezTo>
                <a:cubicBezTo>
                  <a:pt x="11203" y="0"/>
                  <a:pt x="11203" y="0"/>
                  <a:pt x="11203" y="0"/>
                </a:cubicBezTo>
                <a:cubicBezTo>
                  <a:pt x="10881" y="1006"/>
                  <a:pt x="10881" y="1006"/>
                  <a:pt x="10881" y="1006"/>
                </a:cubicBezTo>
                <a:cubicBezTo>
                  <a:pt x="10357" y="1006"/>
                  <a:pt x="9873" y="1046"/>
                  <a:pt x="9390" y="1126"/>
                </a:cubicBezTo>
                <a:cubicBezTo>
                  <a:pt x="8906" y="161"/>
                  <a:pt x="8906" y="161"/>
                  <a:pt x="8906" y="161"/>
                </a:cubicBezTo>
                <a:cubicBezTo>
                  <a:pt x="8463" y="241"/>
                  <a:pt x="8463" y="241"/>
                  <a:pt x="8463" y="241"/>
                </a:cubicBezTo>
                <a:cubicBezTo>
                  <a:pt x="8019" y="322"/>
                  <a:pt x="8019" y="322"/>
                  <a:pt x="8019" y="322"/>
                </a:cubicBezTo>
                <a:cubicBezTo>
                  <a:pt x="7979" y="1408"/>
                  <a:pt x="7979" y="1408"/>
                  <a:pt x="7979" y="1408"/>
                </a:cubicBezTo>
                <a:cubicBezTo>
                  <a:pt x="7496" y="1569"/>
                  <a:pt x="7052" y="1730"/>
                  <a:pt x="6569" y="1971"/>
                </a:cubicBezTo>
                <a:cubicBezTo>
                  <a:pt x="5843" y="1166"/>
                  <a:pt x="5843" y="1166"/>
                  <a:pt x="5843" y="1166"/>
                </a:cubicBezTo>
                <a:cubicBezTo>
                  <a:pt x="5440" y="1408"/>
                  <a:pt x="5440" y="1408"/>
                  <a:pt x="5440" y="1408"/>
                </a:cubicBezTo>
                <a:cubicBezTo>
                  <a:pt x="5037" y="1609"/>
                  <a:pt x="5037" y="1609"/>
                  <a:pt x="5037" y="1609"/>
                </a:cubicBezTo>
                <a:cubicBezTo>
                  <a:pt x="5360" y="2655"/>
                  <a:pt x="5360" y="2655"/>
                  <a:pt x="5360" y="2655"/>
                </a:cubicBezTo>
                <a:cubicBezTo>
                  <a:pt x="4916" y="2936"/>
                  <a:pt x="4554" y="3218"/>
                  <a:pt x="4191" y="3580"/>
                </a:cubicBezTo>
                <a:cubicBezTo>
                  <a:pt x="4151" y="3580"/>
                  <a:pt x="4151" y="3580"/>
                  <a:pt x="4151" y="3580"/>
                </a:cubicBezTo>
                <a:cubicBezTo>
                  <a:pt x="3224" y="3057"/>
                  <a:pt x="3224" y="3057"/>
                  <a:pt x="3224" y="3057"/>
                </a:cubicBezTo>
                <a:cubicBezTo>
                  <a:pt x="2901" y="3379"/>
                  <a:pt x="2901" y="3379"/>
                  <a:pt x="2901" y="3379"/>
                </a:cubicBezTo>
                <a:cubicBezTo>
                  <a:pt x="2579" y="3701"/>
                  <a:pt x="2579" y="3701"/>
                  <a:pt x="2579" y="3701"/>
                </a:cubicBezTo>
                <a:cubicBezTo>
                  <a:pt x="3184" y="4626"/>
                  <a:pt x="3184" y="4626"/>
                  <a:pt x="3184" y="4626"/>
                </a:cubicBezTo>
                <a:cubicBezTo>
                  <a:pt x="2861" y="5028"/>
                  <a:pt x="2579" y="5430"/>
                  <a:pt x="2337" y="5832"/>
                </a:cubicBezTo>
                <a:cubicBezTo>
                  <a:pt x="1894" y="5752"/>
                  <a:pt x="1894" y="5752"/>
                  <a:pt x="1894" y="5752"/>
                </a:cubicBezTo>
                <a:cubicBezTo>
                  <a:pt x="1894" y="5752"/>
                  <a:pt x="1894" y="5752"/>
                  <a:pt x="1894" y="5752"/>
                </a:cubicBezTo>
                <a:cubicBezTo>
                  <a:pt x="1249" y="5631"/>
                  <a:pt x="1249" y="5631"/>
                  <a:pt x="1249" y="5631"/>
                </a:cubicBezTo>
                <a:cubicBezTo>
                  <a:pt x="1048" y="6034"/>
                  <a:pt x="1048" y="6034"/>
                  <a:pt x="1048" y="6034"/>
                </a:cubicBezTo>
                <a:cubicBezTo>
                  <a:pt x="846" y="6436"/>
                  <a:pt x="846" y="6436"/>
                  <a:pt x="846" y="6436"/>
                </a:cubicBezTo>
                <a:cubicBezTo>
                  <a:pt x="1693" y="7120"/>
                  <a:pt x="1693" y="7120"/>
                  <a:pt x="1693" y="7120"/>
                </a:cubicBezTo>
                <a:cubicBezTo>
                  <a:pt x="1491" y="7602"/>
                  <a:pt x="1370" y="8085"/>
                  <a:pt x="1249" y="8568"/>
                </a:cubicBezTo>
                <a:cubicBezTo>
                  <a:pt x="161" y="8648"/>
                  <a:pt x="161" y="8648"/>
                  <a:pt x="161" y="8648"/>
                </a:cubicBezTo>
                <a:cubicBezTo>
                  <a:pt x="81" y="9091"/>
                  <a:pt x="81" y="9091"/>
                  <a:pt x="81" y="9091"/>
                </a:cubicBezTo>
                <a:cubicBezTo>
                  <a:pt x="0" y="9533"/>
                  <a:pt x="0" y="9533"/>
                  <a:pt x="0" y="9533"/>
                </a:cubicBezTo>
                <a:cubicBezTo>
                  <a:pt x="1007" y="9975"/>
                  <a:pt x="1007" y="9975"/>
                  <a:pt x="1007" y="9975"/>
                </a:cubicBezTo>
                <a:cubicBezTo>
                  <a:pt x="967" y="10458"/>
                  <a:pt x="967" y="10941"/>
                  <a:pt x="1007" y="11464"/>
                </a:cubicBezTo>
                <a:cubicBezTo>
                  <a:pt x="0" y="11866"/>
                  <a:pt x="0" y="11866"/>
                  <a:pt x="0" y="11866"/>
                </a:cubicBezTo>
                <a:cubicBezTo>
                  <a:pt x="81" y="12308"/>
                  <a:pt x="81" y="12308"/>
                  <a:pt x="81" y="12308"/>
                </a:cubicBezTo>
                <a:cubicBezTo>
                  <a:pt x="121" y="12751"/>
                  <a:pt x="121" y="12751"/>
                  <a:pt x="121" y="12751"/>
                </a:cubicBezTo>
                <a:cubicBezTo>
                  <a:pt x="1209" y="12872"/>
                  <a:pt x="1209" y="12872"/>
                  <a:pt x="1209" y="12872"/>
                </a:cubicBezTo>
                <a:cubicBezTo>
                  <a:pt x="1330" y="13354"/>
                  <a:pt x="1451" y="13837"/>
                  <a:pt x="1652" y="14320"/>
                </a:cubicBezTo>
                <a:cubicBezTo>
                  <a:pt x="806" y="14963"/>
                  <a:pt x="806" y="14963"/>
                  <a:pt x="806" y="14963"/>
                </a:cubicBezTo>
                <a:cubicBezTo>
                  <a:pt x="967" y="15406"/>
                  <a:pt x="967" y="15406"/>
                  <a:pt x="967" y="15406"/>
                </a:cubicBezTo>
                <a:cubicBezTo>
                  <a:pt x="1169" y="15808"/>
                  <a:pt x="1169" y="15808"/>
                  <a:pt x="1169" y="15808"/>
                </a:cubicBezTo>
                <a:cubicBezTo>
                  <a:pt x="2257" y="15566"/>
                  <a:pt x="2257" y="15566"/>
                  <a:pt x="2257" y="15566"/>
                </a:cubicBezTo>
                <a:cubicBezTo>
                  <a:pt x="2499" y="16009"/>
                  <a:pt x="2781" y="16451"/>
                  <a:pt x="3103" y="16813"/>
                </a:cubicBezTo>
                <a:cubicBezTo>
                  <a:pt x="2458" y="17739"/>
                  <a:pt x="2458" y="17739"/>
                  <a:pt x="2458" y="17739"/>
                </a:cubicBezTo>
                <a:cubicBezTo>
                  <a:pt x="2781" y="18060"/>
                  <a:pt x="2781" y="18060"/>
                  <a:pt x="2781" y="18060"/>
                </a:cubicBezTo>
                <a:cubicBezTo>
                  <a:pt x="3103" y="18422"/>
                  <a:pt x="3103" y="18422"/>
                  <a:pt x="3103" y="18422"/>
                </a:cubicBezTo>
                <a:cubicBezTo>
                  <a:pt x="4030" y="17859"/>
                  <a:pt x="4030" y="17859"/>
                  <a:pt x="4030" y="17859"/>
                </a:cubicBezTo>
                <a:cubicBezTo>
                  <a:pt x="4433" y="18221"/>
                  <a:pt x="4796" y="18543"/>
                  <a:pt x="5199" y="18825"/>
                </a:cubicBezTo>
                <a:cubicBezTo>
                  <a:pt x="4876" y="19870"/>
                  <a:pt x="4876" y="19870"/>
                  <a:pt x="4876" y="19870"/>
                </a:cubicBezTo>
                <a:cubicBezTo>
                  <a:pt x="5279" y="20112"/>
                  <a:pt x="5279" y="20112"/>
                  <a:pt x="5279" y="20112"/>
                </a:cubicBezTo>
                <a:cubicBezTo>
                  <a:pt x="5682" y="20313"/>
                  <a:pt x="5682" y="20313"/>
                  <a:pt x="5682" y="20313"/>
                </a:cubicBezTo>
                <a:cubicBezTo>
                  <a:pt x="6448" y="19549"/>
                  <a:pt x="6448" y="19549"/>
                  <a:pt x="6448" y="19549"/>
                </a:cubicBezTo>
                <a:cubicBezTo>
                  <a:pt x="6891" y="19750"/>
                  <a:pt x="7375" y="19951"/>
                  <a:pt x="7818" y="20112"/>
                </a:cubicBezTo>
                <a:cubicBezTo>
                  <a:pt x="7818" y="21198"/>
                  <a:pt x="7818" y="21198"/>
                  <a:pt x="7818" y="21198"/>
                </a:cubicBezTo>
                <a:cubicBezTo>
                  <a:pt x="8261" y="21278"/>
                  <a:pt x="8261" y="21278"/>
                  <a:pt x="8261" y="21278"/>
                </a:cubicBezTo>
                <a:cubicBezTo>
                  <a:pt x="8704" y="21399"/>
                  <a:pt x="8704" y="21399"/>
                  <a:pt x="8704" y="21399"/>
                </a:cubicBezTo>
                <a:cubicBezTo>
                  <a:pt x="9228" y="20434"/>
                  <a:pt x="9228" y="20434"/>
                  <a:pt x="9228" y="20434"/>
                </a:cubicBezTo>
                <a:cubicBezTo>
                  <a:pt x="9712" y="20514"/>
                  <a:pt x="10196" y="20554"/>
                  <a:pt x="10719" y="20554"/>
                </a:cubicBezTo>
                <a:cubicBezTo>
                  <a:pt x="11042" y="21600"/>
                  <a:pt x="11042" y="21600"/>
                  <a:pt x="11042" y="21600"/>
                </a:cubicBezTo>
                <a:cubicBezTo>
                  <a:pt x="11485" y="21560"/>
                  <a:pt x="11485" y="21560"/>
                  <a:pt x="11485" y="21560"/>
                </a:cubicBezTo>
                <a:cubicBezTo>
                  <a:pt x="11969" y="21520"/>
                  <a:pt x="11969" y="21520"/>
                  <a:pt x="11969" y="21520"/>
                </a:cubicBezTo>
                <a:cubicBezTo>
                  <a:pt x="12130" y="20474"/>
                  <a:pt x="12130" y="20474"/>
                  <a:pt x="12130" y="20474"/>
                </a:cubicBezTo>
                <a:cubicBezTo>
                  <a:pt x="12613" y="20393"/>
                  <a:pt x="13137" y="20273"/>
                  <a:pt x="13621" y="20152"/>
                </a:cubicBezTo>
                <a:cubicBezTo>
                  <a:pt x="14225" y="21037"/>
                  <a:pt x="14225" y="21037"/>
                  <a:pt x="14225" y="21037"/>
                </a:cubicBezTo>
                <a:cubicBezTo>
                  <a:pt x="14628" y="20876"/>
                  <a:pt x="14628" y="20876"/>
                  <a:pt x="14628" y="20876"/>
                </a:cubicBezTo>
                <a:cubicBezTo>
                  <a:pt x="15072" y="20715"/>
                  <a:pt x="15072" y="20715"/>
                  <a:pt x="15072" y="20715"/>
                </a:cubicBezTo>
                <a:cubicBezTo>
                  <a:pt x="14991" y="20072"/>
                  <a:pt x="14991" y="20072"/>
                  <a:pt x="14991" y="20072"/>
                </a:cubicBezTo>
                <a:cubicBezTo>
                  <a:pt x="14991" y="20072"/>
                  <a:pt x="14991" y="20072"/>
                  <a:pt x="14991" y="20072"/>
                </a:cubicBezTo>
                <a:cubicBezTo>
                  <a:pt x="14951" y="19629"/>
                  <a:pt x="14951" y="19629"/>
                  <a:pt x="14951" y="19629"/>
                </a:cubicBezTo>
                <a:cubicBezTo>
                  <a:pt x="15394" y="19428"/>
                  <a:pt x="15837" y="19187"/>
                  <a:pt x="16240" y="18905"/>
                </a:cubicBezTo>
                <a:cubicBezTo>
                  <a:pt x="17087" y="19549"/>
                  <a:pt x="17087" y="19549"/>
                  <a:pt x="17087" y="19549"/>
                </a:cubicBezTo>
                <a:cubicBezTo>
                  <a:pt x="17449" y="19267"/>
                  <a:pt x="17449" y="19267"/>
                  <a:pt x="17449" y="19267"/>
                </a:cubicBezTo>
                <a:cubicBezTo>
                  <a:pt x="17812" y="18985"/>
                  <a:pt x="17812" y="18985"/>
                  <a:pt x="17812" y="18985"/>
                </a:cubicBezTo>
                <a:cubicBezTo>
                  <a:pt x="17369" y="18020"/>
                  <a:pt x="17369" y="18020"/>
                  <a:pt x="17369" y="18020"/>
                </a:cubicBezTo>
                <a:cubicBezTo>
                  <a:pt x="17369" y="18020"/>
                  <a:pt x="17369" y="18020"/>
                  <a:pt x="17369" y="17980"/>
                </a:cubicBezTo>
                <a:cubicBezTo>
                  <a:pt x="17731" y="17658"/>
                  <a:pt x="18094" y="17296"/>
                  <a:pt x="18376" y="16934"/>
                </a:cubicBezTo>
                <a:cubicBezTo>
                  <a:pt x="19384" y="17336"/>
                  <a:pt x="19384" y="17336"/>
                  <a:pt x="19384" y="17336"/>
                </a:cubicBezTo>
                <a:cubicBezTo>
                  <a:pt x="19666" y="16934"/>
                  <a:pt x="19666" y="16934"/>
                  <a:pt x="19666" y="16934"/>
                </a:cubicBezTo>
                <a:cubicBezTo>
                  <a:pt x="19907" y="16572"/>
                  <a:pt x="19907" y="16572"/>
                  <a:pt x="19907" y="16572"/>
                </a:cubicBezTo>
                <a:cubicBezTo>
                  <a:pt x="19182" y="15768"/>
                  <a:pt x="19182" y="15768"/>
                  <a:pt x="19182" y="15768"/>
                </a:cubicBezTo>
                <a:cubicBezTo>
                  <a:pt x="19464" y="15325"/>
                  <a:pt x="19666" y="14883"/>
                  <a:pt x="19867" y="14400"/>
                </a:cubicBezTo>
                <a:cubicBezTo>
                  <a:pt x="20955" y="14480"/>
                  <a:pt x="20955" y="14480"/>
                  <a:pt x="20955" y="14480"/>
                </a:cubicBezTo>
                <a:cubicBezTo>
                  <a:pt x="21076" y="14038"/>
                  <a:pt x="21076" y="14038"/>
                  <a:pt x="21076" y="14038"/>
                </a:cubicBezTo>
                <a:cubicBezTo>
                  <a:pt x="21237" y="13636"/>
                  <a:pt x="21237" y="13636"/>
                  <a:pt x="21237" y="13636"/>
                </a:cubicBezTo>
                <a:cubicBezTo>
                  <a:pt x="20270" y="13073"/>
                  <a:pt x="20270" y="13073"/>
                  <a:pt x="20270" y="13073"/>
                </a:cubicBezTo>
                <a:cubicBezTo>
                  <a:pt x="20391" y="12550"/>
                  <a:pt x="20472" y="12067"/>
                  <a:pt x="20512" y="11584"/>
                </a:cubicBezTo>
                <a:cubicBezTo>
                  <a:pt x="21600" y="11343"/>
                  <a:pt x="21600" y="11343"/>
                  <a:pt x="21600" y="11343"/>
                </a:cubicBezTo>
                <a:cubicBezTo>
                  <a:pt x="21600" y="10860"/>
                  <a:pt x="21600" y="10860"/>
                  <a:pt x="21600" y="10860"/>
                </a:cubicBezTo>
                <a:cubicBezTo>
                  <a:pt x="21600" y="10418"/>
                  <a:pt x="21600" y="10418"/>
                  <a:pt x="21600" y="10418"/>
                </a:cubicBezTo>
                <a:lnTo>
                  <a:pt x="20552" y="10136"/>
                </a:lnTo>
                <a:close/>
                <a:moveTo>
                  <a:pt x="17006" y="5108"/>
                </a:moveTo>
                <a:cubicBezTo>
                  <a:pt x="18134" y="6315"/>
                  <a:pt x="18819" y="7763"/>
                  <a:pt x="19101" y="9292"/>
                </a:cubicBezTo>
                <a:cubicBezTo>
                  <a:pt x="17812" y="9010"/>
                  <a:pt x="17812" y="9010"/>
                  <a:pt x="17812" y="9010"/>
                </a:cubicBezTo>
                <a:cubicBezTo>
                  <a:pt x="17207" y="6677"/>
                  <a:pt x="15434" y="4787"/>
                  <a:pt x="13178" y="3982"/>
                </a:cubicBezTo>
                <a:cubicBezTo>
                  <a:pt x="13016" y="2655"/>
                  <a:pt x="13016" y="2655"/>
                  <a:pt x="13016" y="2655"/>
                </a:cubicBezTo>
                <a:cubicBezTo>
                  <a:pt x="14507" y="3057"/>
                  <a:pt x="15918" y="3861"/>
                  <a:pt x="17006" y="5108"/>
                </a:cubicBezTo>
                <a:close/>
                <a:moveTo>
                  <a:pt x="5037" y="4545"/>
                </a:moveTo>
                <a:cubicBezTo>
                  <a:pt x="6972" y="2775"/>
                  <a:pt x="9510" y="2092"/>
                  <a:pt x="11928" y="2413"/>
                </a:cubicBezTo>
                <a:cubicBezTo>
                  <a:pt x="11243" y="3580"/>
                  <a:pt x="11243" y="3580"/>
                  <a:pt x="11243" y="3580"/>
                </a:cubicBezTo>
                <a:cubicBezTo>
                  <a:pt x="11082" y="3580"/>
                  <a:pt x="10961" y="3580"/>
                  <a:pt x="10800" y="3580"/>
                </a:cubicBezTo>
                <a:cubicBezTo>
                  <a:pt x="8463" y="3580"/>
                  <a:pt x="6367" y="4666"/>
                  <a:pt x="5037" y="6396"/>
                </a:cubicBezTo>
                <a:cubicBezTo>
                  <a:pt x="3667" y="6114"/>
                  <a:pt x="3667" y="6114"/>
                  <a:pt x="3667" y="6114"/>
                </a:cubicBezTo>
                <a:cubicBezTo>
                  <a:pt x="4030" y="5551"/>
                  <a:pt x="4513" y="5028"/>
                  <a:pt x="5037" y="4545"/>
                </a:cubicBezTo>
                <a:close/>
                <a:moveTo>
                  <a:pt x="3103" y="7079"/>
                </a:moveTo>
                <a:cubicBezTo>
                  <a:pt x="4070" y="8125"/>
                  <a:pt x="4070" y="8125"/>
                  <a:pt x="4070" y="8125"/>
                </a:cubicBezTo>
                <a:cubicBezTo>
                  <a:pt x="3748" y="8970"/>
                  <a:pt x="3546" y="9855"/>
                  <a:pt x="3546" y="10780"/>
                </a:cubicBezTo>
                <a:cubicBezTo>
                  <a:pt x="3546" y="12308"/>
                  <a:pt x="4030" y="13716"/>
                  <a:pt x="4836" y="14842"/>
                </a:cubicBezTo>
                <a:cubicBezTo>
                  <a:pt x="4110" y="16089"/>
                  <a:pt x="4110" y="16089"/>
                  <a:pt x="4110" y="16089"/>
                </a:cubicBezTo>
                <a:cubicBezTo>
                  <a:pt x="2015" y="13475"/>
                  <a:pt x="1693" y="9975"/>
                  <a:pt x="3103" y="7079"/>
                </a:cubicBezTo>
                <a:close/>
                <a:moveTo>
                  <a:pt x="4876" y="16934"/>
                </a:moveTo>
                <a:cubicBezTo>
                  <a:pt x="6166" y="16331"/>
                  <a:pt x="6166" y="16331"/>
                  <a:pt x="6166" y="16331"/>
                </a:cubicBezTo>
                <a:cubicBezTo>
                  <a:pt x="7415" y="17377"/>
                  <a:pt x="9027" y="18020"/>
                  <a:pt x="10800" y="18020"/>
                </a:cubicBezTo>
                <a:cubicBezTo>
                  <a:pt x="11485" y="18020"/>
                  <a:pt x="12170" y="17899"/>
                  <a:pt x="12815" y="17698"/>
                </a:cubicBezTo>
                <a:cubicBezTo>
                  <a:pt x="13782" y="18744"/>
                  <a:pt x="13782" y="18744"/>
                  <a:pt x="13782" y="18744"/>
                </a:cubicBezTo>
                <a:cubicBezTo>
                  <a:pt x="10760" y="19870"/>
                  <a:pt x="7294" y="19227"/>
                  <a:pt x="4876" y="16934"/>
                </a:cubicBezTo>
                <a:close/>
                <a:moveTo>
                  <a:pt x="16482" y="17055"/>
                </a:moveTo>
                <a:cubicBezTo>
                  <a:pt x="15958" y="17537"/>
                  <a:pt x="15394" y="17940"/>
                  <a:pt x="14790" y="18261"/>
                </a:cubicBezTo>
                <a:cubicBezTo>
                  <a:pt x="14628" y="16894"/>
                  <a:pt x="14628" y="16894"/>
                  <a:pt x="14628" y="16894"/>
                </a:cubicBezTo>
                <a:cubicBezTo>
                  <a:pt x="16643" y="15647"/>
                  <a:pt x="17973" y="13475"/>
                  <a:pt x="18013" y="10981"/>
                </a:cubicBezTo>
                <a:cubicBezTo>
                  <a:pt x="19222" y="10418"/>
                  <a:pt x="19222" y="10418"/>
                  <a:pt x="19222" y="10418"/>
                </a:cubicBezTo>
                <a:cubicBezTo>
                  <a:pt x="19343" y="12831"/>
                  <a:pt x="18416" y="15285"/>
                  <a:pt x="16482" y="17055"/>
                </a:cubicBezTo>
                <a:close/>
              </a:path>
            </a:pathLst>
          </a:custGeom>
          <a:solidFill>
            <a:schemeClr val="accent3">
              <a:lumMod val="20000"/>
              <a:lumOff val="80000"/>
            </a:schemeClr>
          </a:solidFill>
          <a:ln w="12700">
            <a:solidFill>
              <a:srgbClr val="FFFFFF"/>
            </a:solidFill>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4" name="任意形状 61"/>
          <p:cNvSpPr>
            <a:spLocks noChangeAspect="1"/>
          </p:cNvSpPr>
          <p:nvPr>
            <p:custDataLst>
              <p:tags r:id="rId4"/>
            </p:custDataLst>
          </p:nvPr>
        </p:nvSpPr>
        <p:spPr>
          <a:xfrm>
            <a:off x="4013078" y="2269591"/>
            <a:ext cx="438308" cy="438308"/>
          </a:xfrm>
          <a:custGeom>
            <a:avLst/>
            <a:gdLst>
              <a:gd name="connsiteX0" fmla="*/ 456750 w 504000"/>
              <a:gd name="connsiteY0" fmla="*/ 456750 h 504000"/>
              <a:gd name="connsiteX1" fmla="*/ 472500 w 504000"/>
              <a:gd name="connsiteY1" fmla="*/ 456750 h 504000"/>
              <a:gd name="connsiteX2" fmla="*/ 472500 w 504000"/>
              <a:gd name="connsiteY2" fmla="*/ 472500 h 504000"/>
              <a:gd name="connsiteX3" fmla="*/ 456750 w 504000"/>
              <a:gd name="connsiteY3" fmla="*/ 472500 h 504000"/>
              <a:gd name="connsiteX4" fmla="*/ 425250 w 504000"/>
              <a:gd name="connsiteY4" fmla="*/ 456750 h 504000"/>
              <a:gd name="connsiteX5" fmla="*/ 441000 w 504000"/>
              <a:gd name="connsiteY5" fmla="*/ 456750 h 504000"/>
              <a:gd name="connsiteX6" fmla="*/ 441000 w 504000"/>
              <a:gd name="connsiteY6" fmla="*/ 472500 h 504000"/>
              <a:gd name="connsiteX7" fmla="*/ 425250 w 504000"/>
              <a:gd name="connsiteY7" fmla="*/ 472500 h 504000"/>
              <a:gd name="connsiteX8" fmla="*/ 393750 w 504000"/>
              <a:gd name="connsiteY8" fmla="*/ 456750 h 504000"/>
              <a:gd name="connsiteX9" fmla="*/ 409500 w 504000"/>
              <a:gd name="connsiteY9" fmla="*/ 456750 h 504000"/>
              <a:gd name="connsiteX10" fmla="*/ 409500 w 504000"/>
              <a:gd name="connsiteY10" fmla="*/ 472500 h 504000"/>
              <a:gd name="connsiteX11" fmla="*/ 393750 w 504000"/>
              <a:gd name="connsiteY11" fmla="*/ 472500 h 504000"/>
              <a:gd name="connsiteX12" fmla="*/ 362250 w 504000"/>
              <a:gd name="connsiteY12" fmla="*/ 456750 h 504000"/>
              <a:gd name="connsiteX13" fmla="*/ 378000 w 504000"/>
              <a:gd name="connsiteY13" fmla="*/ 456750 h 504000"/>
              <a:gd name="connsiteX14" fmla="*/ 378000 w 504000"/>
              <a:gd name="connsiteY14" fmla="*/ 472500 h 504000"/>
              <a:gd name="connsiteX15" fmla="*/ 362250 w 504000"/>
              <a:gd name="connsiteY15" fmla="*/ 472500 h 504000"/>
              <a:gd name="connsiteX16" fmla="*/ 330750 w 504000"/>
              <a:gd name="connsiteY16" fmla="*/ 456750 h 504000"/>
              <a:gd name="connsiteX17" fmla="*/ 346500 w 504000"/>
              <a:gd name="connsiteY17" fmla="*/ 456750 h 504000"/>
              <a:gd name="connsiteX18" fmla="*/ 346500 w 504000"/>
              <a:gd name="connsiteY18" fmla="*/ 472500 h 504000"/>
              <a:gd name="connsiteX19" fmla="*/ 330750 w 504000"/>
              <a:gd name="connsiteY19" fmla="*/ 472500 h 504000"/>
              <a:gd name="connsiteX20" fmla="*/ 299250 w 504000"/>
              <a:gd name="connsiteY20" fmla="*/ 456750 h 504000"/>
              <a:gd name="connsiteX21" fmla="*/ 315000 w 504000"/>
              <a:gd name="connsiteY21" fmla="*/ 456750 h 504000"/>
              <a:gd name="connsiteX22" fmla="*/ 315000 w 504000"/>
              <a:gd name="connsiteY22" fmla="*/ 472500 h 504000"/>
              <a:gd name="connsiteX23" fmla="*/ 299250 w 504000"/>
              <a:gd name="connsiteY23" fmla="*/ 472500 h 504000"/>
              <a:gd name="connsiteX24" fmla="*/ 267750 w 504000"/>
              <a:gd name="connsiteY24" fmla="*/ 456750 h 504000"/>
              <a:gd name="connsiteX25" fmla="*/ 283500 w 504000"/>
              <a:gd name="connsiteY25" fmla="*/ 456750 h 504000"/>
              <a:gd name="connsiteX26" fmla="*/ 283500 w 504000"/>
              <a:gd name="connsiteY26" fmla="*/ 472500 h 504000"/>
              <a:gd name="connsiteX27" fmla="*/ 267750 w 504000"/>
              <a:gd name="connsiteY27" fmla="*/ 472500 h 504000"/>
              <a:gd name="connsiteX28" fmla="*/ 236250 w 504000"/>
              <a:gd name="connsiteY28" fmla="*/ 456750 h 504000"/>
              <a:gd name="connsiteX29" fmla="*/ 252000 w 504000"/>
              <a:gd name="connsiteY29" fmla="*/ 456750 h 504000"/>
              <a:gd name="connsiteX30" fmla="*/ 252000 w 504000"/>
              <a:gd name="connsiteY30" fmla="*/ 472500 h 504000"/>
              <a:gd name="connsiteX31" fmla="*/ 236250 w 504000"/>
              <a:gd name="connsiteY31" fmla="*/ 472500 h 504000"/>
              <a:gd name="connsiteX32" fmla="*/ 204750 w 504000"/>
              <a:gd name="connsiteY32" fmla="*/ 456750 h 504000"/>
              <a:gd name="connsiteX33" fmla="*/ 220500 w 504000"/>
              <a:gd name="connsiteY33" fmla="*/ 456750 h 504000"/>
              <a:gd name="connsiteX34" fmla="*/ 220500 w 504000"/>
              <a:gd name="connsiteY34" fmla="*/ 472500 h 504000"/>
              <a:gd name="connsiteX35" fmla="*/ 204750 w 504000"/>
              <a:gd name="connsiteY35" fmla="*/ 472500 h 504000"/>
              <a:gd name="connsiteX36" fmla="*/ 173250 w 504000"/>
              <a:gd name="connsiteY36" fmla="*/ 456750 h 504000"/>
              <a:gd name="connsiteX37" fmla="*/ 189000 w 504000"/>
              <a:gd name="connsiteY37" fmla="*/ 456750 h 504000"/>
              <a:gd name="connsiteX38" fmla="*/ 189000 w 504000"/>
              <a:gd name="connsiteY38" fmla="*/ 472500 h 504000"/>
              <a:gd name="connsiteX39" fmla="*/ 173250 w 504000"/>
              <a:gd name="connsiteY39" fmla="*/ 472500 h 504000"/>
              <a:gd name="connsiteX40" fmla="*/ 141750 w 504000"/>
              <a:gd name="connsiteY40" fmla="*/ 456750 h 504000"/>
              <a:gd name="connsiteX41" fmla="*/ 157500 w 504000"/>
              <a:gd name="connsiteY41" fmla="*/ 456750 h 504000"/>
              <a:gd name="connsiteX42" fmla="*/ 157500 w 504000"/>
              <a:gd name="connsiteY42" fmla="*/ 472500 h 504000"/>
              <a:gd name="connsiteX43" fmla="*/ 141750 w 504000"/>
              <a:gd name="connsiteY43" fmla="*/ 472500 h 504000"/>
              <a:gd name="connsiteX44" fmla="*/ 110250 w 504000"/>
              <a:gd name="connsiteY44" fmla="*/ 456750 h 504000"/>
              <a:gd name="connsiteX45" fmla="*/ 126000 w 504000"/>
              <a:gd name="connsiteY45" fmla="*/ 456750 h 504000"/>
              <a:gd name="connsiteX46" fmla="*/ 126000 w 504000"/>
              <a:gd name="connsiteY46" fmla="*/ 472500 h 504000"/>
              <a:gd name="connsiteX47" fmla="*/ 110250 w 504000"/>
              <a:gd name="connsiteY47" fmla="*/ 472500 h 504000"/>
              <a:gd name="connsiteX48" fmla="*/ 95815 w 504000"/>
              <a:gd name="connsiteY48" fmla="*/ 315000 h 504000"/>
              <a:gd name="connsiteX49" fmla="*/ 158154 w 504000"/>
              <a:gd name="connsiteY49" fmla="*/ 315000 h 504000"/>
              <a:gd name="connsiteX50" fmla="*/ 158154 w 504000"/>
              <a:gd name="connsiteY50" fmla="*/ 330750 h 504000"/>
              <a:gd name="connsiteX51" fmla="*/ 95815 w 504000"/>
              <a:gd name="connsiteY51" fmla="*/ 330750 h 504000"/>
              <a:gd name="connsiteX52" fmla="*/ 78750 w 504000"/>
              <a:gd name="connsiteY52" fmla="*/ 299250 h 504000"/>
              <a:gd name="connsiteX53" fmla="*/ 78750 w 504000"/>
              <a:gd name="connsiteY53" fmla="*/ 346500 h 504000"/>
              <a:gd name="connsiteX54" fmla="*/ 173250 w 504000"/>
              <a:gd name="connsiteY54" fmla="*/ 346500 h 504000"/>
              <a:gd name="connsiteX55" fmla="*/ 173250 w 504000"/>
              <a:gd name="connsiteY55" fmla="*/ 299250 h 504000"/>
              <a:gd name="connsiteX56" fmla="*/ 78750 w 504000"/>
              <a:gd name="connsiteY56" fmla="*/ 220500 h 504000"/>
              <a:gd name="connsiteX57" fmla="*/ 78750 w 504000"/>
              <a:gd name="connsiteY57" fmla="*/ 283500 h 504000"/>
              <a:gd name="connsiteX58" fmla="*/ 189000 w 504000"/>
              <a:gd name="connsiteY58" fmla="*/ 283500 h 504000"/>
              <a:gd name="connsiteX59" fmla="*/ 189000 w 504000"/>
              <a:gd name="connsiteY59" fmla="*/ 362250 h 504000"/>
              <a:gd name="connsiteX60" fmla="*/ 78750 w 504000"/>
              <a:gd name="connsiteY60" fmla="*/ 362250 h 504000"/>
              <a:gd name="connsiteX61" fmla="*/ 78750 w 504000"/>
              <a:gd name="connsiteY61" fmla="*/ 464625 h 504000"/>
              <a:gd name="connsiteX62" fmla="*/ 70859 w 504000"/>
              <a:gd name="connsiteY62" fmla="*/ 488250 h 504000"/>
              <a:gd name="connsiteX63" fmla="*/ 464625 w 504000"/>
              <a:gd name="connsiteY63" fmla="*/ 488250 h 504000"/>
              <a:gd name="connsiteX64" fmla="*/ 488250 w 504000"/>
              <a:gd name="connsiteY64" fmla="*/ 464625 h 504000"/>
              <a:gd name="connsiteX65" fmla="*/ 488250 w 504000"/>
              <a:gd name="connsiteY65" fmla="*/ 220500 h 504000"/>
              <a:gd name="connsiteX66" fmla="*/ 15750 w 504000"/>
              <a:gd name="connsiteY66" fmla="*/ 149625 h 504000"/>
              <a:gd name="connsiteX67" fmla="*/ 15750 w 504000"/>
              <a:gd name="connsiteY67" fmla="*/ 464625 h 504000"/>
              <a:gd name="connsiteX68" fmla="*/ 39375 w 504000"/>
              <a:gd name="connsiteY68" fmla="*/ 488250 h 504000"/>
              <a:gd name="connsiteX69" fmla="*/ 63000 w 504000"/>
              <a:gd name="connsiteY69" fmla="*/ 464625 h 504000"/>
              <a:gd name="connsiteX70" fmla="*/ 63000 w 504000"/>
              <a:gd name="connsiteY70" fmla="*/ 204750 h 504000"/>
              <a:gd name="connsiteX71" fmla="*/ 126000 w 504000"/>
              <a:gd name="connsiteY71" fmla="*/ 204750 h 504000"/>
              <a:gd name="connsiteX72" fmla="*/ 126000 w 504000"/>
              <a:gd name="connsiteY72" fmla="*/ 173250 h 504000"/>
              <a:gd name="connsiteX73" fmla="*/ 112726 w 504000"/>
              <a:gd name="connsiteY73" fmla="*/ 173250 h 504000"/>
              <a:gd name="connsiteX74" fmla="*/ 95138 w 504000"/>
              <a:gd name="connsiteY74" fmla="*/ 149625 h 504000"/>
              <a:gd name="connsiteX75" fmla="*/ 234365 w 504000"/>
              <a:gd name="connsiteY75" fmla="*/ 15750 h 504000"/>
              <a:gd name="connsiteX76" fmla="*/ 252000 w 504000"/>
              <a:gd name="connsiteY76" fmla="*/ 72394 h 504000"/>
              <a:gd name="connsiteX77" fmla="*/ 252000 w 504000"/>
              <a:gd name="connsiteY77" fmla="*/ 110058 h 504000"/>
              <a:gd name="connsiteX78" fmla="*/ 241326 w 504000"/>
              <a:gd name="connsiteY78" fmla="*/ 110058 h 504000"/>
              <a:gd name="connsiteX79" fmla="*/ 303803 w 504000"/>
              <a:gd name="connsiteY79" fmla="*/ 159534 h 504000"/>
              <a:gd name="connsiteX80" fmla="*/ 358966 w 504000"/>
              <a:gd name="connsiteY80" fmla="*/ 110058 h 504000"/>
              <a:gd name="connsiteX81" fmla="*/ 346500 w 504000"/>
              <a:gd name="connsiteY81" fmla="*/ 110058 h 504000"/>
              <a:gd name="connsiteX82" fmla="*/ 346500 w 504000"/>
              <a:gd name="connsiteY82" fmla="*/ 72382 h 504000"/>
              <a:gd name="connsiteX83" fmla="*/ 289868 w 504000"/>
              <a:gd name="connsiteY83" fmla="*/ 15750 h 504000"/>
              <a:gd name="connsiteX84" fmla="*/ 115203 w 504000"/>
              <a:gd name="connsiteY84" fmla="*/ 15750 h 504000"/>
              <a:gd name="connsiteX85" fmla="*/ 141750 w 504000"/>
              <a:gd name="connsiteY85" fmla="*/ 71140 h 504000"/>
              <a:gd name="connsiteX86" fmla="*/ 141750 w 504000"/>
              <a:gd name="connsiteY86" fmla="*/ 157500 h 504000"/>
              <a:gd name="connsiteX87" fmla="*/ 142404 w 504000"/>
              <a:gd name="connsiteY87" fmla="*/ 157500 h 504000"/>
              <a:gd name="connsiteX88" fmla="*/ 142404 w 504000"/>
              <a:gd name="connsiteY88" fmla="*/ 173250 h 504000"/>
              <a:gd name="connsiteX89" fmla="*/ 141750 w 504000"/>
              <a:gd name="connsiteY89" fmla="*/ 173250 h 504000"/>
              <a:gd name="connsiteX90" fmla="*/ 141750 w 504000"/>
              <a:gd name="connsiteY90" fmla="*/ 204750 h 504000"/>
              <a:gd name="connsiteX91" fmla="*/ 441000 w 504000"/>
              <a:gd name="connsiteY91" fmla="*/ 204750 h 504000"/>
              <a:gd name="connsiteX92" fmla="*/ 441000 w 504000"/>
              <a:gd name="connsiteY92" fmla="*/ 71140 h 504000"/>
              <a:gd name="connsiteX93" fmla="*/ 385614 w 504000"/>
              <a:gd name="connsiteY93" fmla="*/ 15750 h 504000"/>
              <a:gd name="connsiteX94" fmla="*/ 334816 w 504000"/>
              <a:gd name="connsiteY94" fmla="*/ 15750 h 504000"/>
              <a:gd name="connsiteX95" fmla="*/ 362250 w 504000"/>
              <a:gd name="connsiteY95" fmla="*/ 72382 h 504000"/>
              <a:gd name="connsiteX96" fmla="*/ 362250 w 504000"/>
              <a:gd name="connsiteY96" fmla="*/ 94308 h 504000"/>
              <a:gd name="connsiteX97" fmla="*/ 400125 w 504000"/>
              <a:gd name="connsiteY97" fmla="*/ 94308 h 504000"/>
              <a:gd name="connsiteX98" fmla="*/ 304433 w 504000"/>
              <a:gd name="connsiteY98" fmla="*/ 180122 h 504000"/>
              <a:gd name="connsiteX99" fmla="*/ 196075 w 504000"/>
              <a:gd name="connsiteY99" fmla="*/ 94308 h 504000"/>
              <a:gd name="connsiteX100" fmla="*/ 236250 w 504000"/>
              <a:gd name="connsiteY100" fmla="*/ 94308 h 504000"/>
              <a:gd name="connsiteX101" fmla="*/ 236250 w 504000"/>
              <a:gd name="connsiteY101" fmla="*/ 72394 h 504000"/>
              <a:gd name="connsiteX102" fmla="*/ 195368 w 504000"/>
              <a:gd name="connsiteY102" fmla="*/ 15761 h 504000"/>
              <a:gd name="connsiteX103" fmla="*/ 195368 w 504000"/>
              <a:gd name="connsiteY103" fmla="*/ 15750 h 504000"/>
              <a:gd name="connsiteX104" fmla="*/ 66561 w 504000"/>
              <a:gd name="connsiteY104" fmla="*/ 15750 h 504000"/>
              <a:gd name="connsiteX105" fmla="*/ 31215 w 504000"/>
              <a:gd name="connsiteY105" fmla="*/ 31631 h 504000"/>
              <a:gd name="connsiteX106" fmla="*/ 109362 w 504000"/>
              <a:gd name="connsiteY106" fmla="*/ 31631 h 504000"/>
              <a:gd name="connsiteX107" fmla="*/ 70614 w 504000"/>
              <a:gd name="connsiteY107" fmla="*/ 15750 h 504000"/>
              <a:gd name="connsiteX108" fmla="*/ 66561 w 504000"/>
              <a:gd name="connsiteY108" fmla="*/ 0 h 504000"/>
              <a:gd name="connsiteX109" fmla="*/ 385614 w 504000"/>
              <a:gd name="connsiteY109" fmla="*/ 0 h 504000"/>
              <a:gd name="connsiteX110" fmla="*/ 456750 w 504000"/>
              <a:gd name="connsiteY110" fmla="*/ 71140 h 504000"/>
              <a:gd name="connsiteX111" fmla="*/ 456750 w 504000"/>
              <a:gd name="connsiteY111" fmla="*/ 204750 h 504000"/>
              <a:gd name="connsiteX112" fmla="*/ 504000 w 504000"/>
              <a:gd name="connsiteY112" fmla="*/ 204750 h 504000"/>
              <a:gd name="connsiteX113" fmla="*/ 504000 w 504000"/>
              <a:gd name="connsiteY113" fmla="*/ 464625 h 504000"/>
              <a:gd name="connsiteX114" fmla="*/ 464625 w 504000"/>
              <a:gd name="connsiteY114" fmla="*/ 504000 h 504000"/>
              <a:gd name="connsiteX115" fmla="*/ 43966 w 504000"/>
              <a:gd name="connsiteY115" fmla="*/ 504000 h 504000"/>
              <a:gd name="connsiteX116" fmla="*/ 43966 w 504000"/>
              <a:gd name="connsiteY116" fmla="*/ 503735 h 504000"/>
              <a:gd name="connsiteX117" fmla="*/ 39375 w 504000"/>
              <a:gd name="connsiteY117" fmla="*/ 504000 h 504000"/>
              <a:gd name="connsiteX118" fmla="*/ 0 w 504000"/>
              <a:gd name="connsiteY118" fmla="*/ 464625 h 504000"/>
              <a:gd name="connsiteX119" fmla="*/ 0 w 504000"/>
              <a:gd name="connsiteY119" fmla="*/ 133875 h 504000"/>
              <a:gd name="connsiteX120" fmla="*/ 103044 w 504000"/>
              <a:gd name="connsiteY120" fmla="*/ 133875 h 504000"/>
              <a:gd name="connsiteX121" fmla="*/ 120632 w 504000"/>
              <a:gd name="connsiteY121" fmla="*/ 157500 h 504000"/>
              <a:gd name="connsiteX122" fmla="*/ 126000 w 504000"/>
              <a:gd name="connsiteY122" fmla="*/ 157500 h 504000"/>
              <a:gd name="connsiteX123" fmla="*/ 126000 w 504000"/>
              <a:gd name="connsiteY123" fmla="*/ 71140 h 504000"/>
              <a:gd name="connsiteX124" fmla="*/ 120570 w 504000"/>
              <a:gd name="connsiteY124" fmla="*/ 47381 h 504000"/>
              <a:gd name="connsiteX125" fmla="*/ 2223 w 504000"/>
              <a:gd name="connsiteY125" fmla="*/ 47381 h 504000"/>
              <a:gd name="connsiteX126" fmla="*/ 9075 w 504000"/>
              <a:gd name="connsiteY126" fmla="*/ 35557 h 504000"/>
              <a:gd name="connsiteX127" fmla="*/ 66561 w 504000"/>
              <a:gd name="connsiteY127" fmla="*/ 0 h 50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04000" h="504000">
                <a:moveTo>
                  <a:pt x="456750" y="456750"/>
                </a:moveTo>
                <a:lnTo>
                  <a:pt x="472500" y="456750"/>
                </a:lnTo>
                <a:lnTo>
                  <a:pt x="472500" y="472500"/>
                </a:lnTo>
                <a:lnTo>
                  <a:pt x="456750" y="472500"/>
                </a:lnTo>
                <a:close/>
                <a:moveTo>
                  <a:pt x="425250" y="456750"/>
                </a:moveTo>
                <a:lnTo>
                  <a:pt x="441000" y="456750"/>
                </a:lnTo>
                <a:lnTo>
                  <a:pt x="441000" y="472500"/>
                </a:lnTo>
                <a:lnTo>
                  <a:pt x="425250" y="472500"/>
                </a:lnTo>
                <a:close/>
                <a:moveTo>
                  <a:pt x="393750" y="456750"/>
                </a:moveTo>
                <a:lnTo>
                  <a:pt x="409500" y="456750"/>
                </a:lnTo>
                <a:lnTo>
                  <a:pt x="409500" y="472500"/>
                </a:lnTo>
                <a:lnTo>
                  <a:pt x="393750" y="472500"/>
                </a:lnTo>
                <a:close/>
                <a:moveTo>
                  <a:pt x="362250" y="456750"/>
                </a:moveTo>
                <a:lnTo>
                  <a:pt x="378000" y="456750"/>
                </a:lnTo>
                <a:lnTo>
                  <a:pt x="378000" y="472500"/>
                </a:lnTo>
                <a:lnTo>
                  <a:pt x="362250" y="472500"/>
                </a:lnTo>
                <a:close/>
                <a:moveTo>
                  <a:pt x="330750" y="456750"/>
                </a:moveTo>
                <a:lnTo>
                  <a:pt x="346500" y="456750"/>
                </a:lnTo>
                <a:lnTo>
                  <a:pt x="346500" y="472500"/>
                </a:lnTo>
                <a:lnTo>
                  <a:pt x="330750" y="472500"/>
                </a:lnTo>
                <a:close/>
                <a:moveTo>
                  <a:pt x="299250" y="456750"/>
                </a:moveTo>
                <a:lnTo>
                  <a:pt x="315000" y="456750"/>
                </a:lnTo>
                <a:lnTo>
                  <a:pt x="315000" y="472500"/>
                </a:lnTo>
                <a:lnTo>
                  <a:pt x="299250" y="472500"/>
                </a:lnTo>
                <a:close/>
                <a:moveTo>
                  <a:pt x="267750" y="456750"/>
                </a:moveTo>
                <a:lnTo>
                  <a:pt x="283500" y="456750"/>
                </a:lnTo>
                <a:lnTo>
                  <a:pt x="283500" y="472500"/>
                </a:lnTo>
                <a:lnTo>
                  <a:pt x="267750" y="472500"/>
                </a:lnTo>
                <a:close/>
                <a:moveTo>
                  <a:pt x="236250" y="456750"/>
                </a:moveTo>
                <a:lnTo>
                  <a:pt x="252000" y="456750"/>
                </a:lnTo>
                <a:lnTo>
                  <a:pt x="252000" y="472500"/>
                </a:lnTo>
                <a:lnTo>
                  <a:pt x="236250" y="472500"/>
                </a:lnTo>
                <a:close/>
                <a:moveTo>
                  <a:pt x="204750" y="456750"/>
                </a:moveTo>
                <a:lnTo>
                  <a:pt x="220500" y="456750"/>
                </a:lnTo>
                <a:lnTo>
                  <a:pt x="220500" y="472500"/>
                </a:lnTo>
                <a:lnTo>
                  <a:pt x="204750" y="472500"/>
                </a:lnTo>
                <a:close/>
                <a:moveTo>
                  <a:pt x="173250" y="456750"/>
                </a:moveTo>
                <a:lnTo>
                  <a:pt x="189000" y="456750"/>
                </a:lnTo>
                <a:lnTo>
                  <a:pt x="189000" y="472500"/>
                </a:lnTo>
                <a:lnTo>
                  <a:pt x="173250" y="472500"/>
                </a:lnTo>
                <a:close/>
                <a:moveTo>
                  <a:pt x="141750" y="456750"/>
                </a:moveTo>
                <a:lnTo>
                  <a:pt x="157500" y="456750"/>
                </a:lnTo>
                <a:lnTo>
                  <a:pt x="157500" y="472500"/>
                </a:lnTo>
                <a:lnTo>
                  <a:pt x="141750" y="472500"/>
                </a:lnTo>
                <a:close/>
                <a:moveTo>
                  <a:pt x="110250" y="456750"/>
                </a:moveTo>
                <a:lnTo>
                  <a:pt x="126000" y="456750"/>
                </a:lnTo>
                <a:lnTo>
                  <a:pt x="126000" y="472500"/>
                </a:lnTo>
                <a:lnTo>
                  <a:pt x="110250" y="472500"/>
                </a:lnTo>
                <a:close/>
                <a:moveTo>
                  <a:pt x="95815" y="315000"/>
                </a:moveTo>
                <a:lnTo>
                  <a:pt x="158154" y="315000"/>
                </a:lnTo>
                <a:lnTo>
                  <a:pt x="158154" y="330750"/>
                </a:lnTo>
                <a:lnTo>
                  <a:pt x="95815" y="330750"/>
                </a:lnTo>
                <a:close/>
                <a:moveTo>
                  <a:pt x="78750" y="299250"/>
                </a:moveTo>
                <a:lnTo>
                  <a:pt x="78750" y="346500"/>
                </a:lnTo>
                <a:lnTo>
                  <a:pt x="173250" y="346500"/>
                </a:lnTo>
                <a:lnTo>
                  <a:pt x="173250" y="299250"/>
                </a:lnTo>
                <a:close/>
                <a:moveTo>
                  <a:pt x="78750" y="220500"/>
                </a:moveTo>
                <a:lnTo>
                  <a:pt x="78750" y="283500"/>
                </a:lnTo>
                <a:lnTo>
                  <a:pt x="189000" y="283500"/>
                </a:lnTo>
                <a:lnTo>
                  <a:pt x="189000" y="362250"/>
                </a:lnTo>
                <a:lnTo>
                  <a:pt x="78750" y="362250"/>
                </a:lnTo>
                <a:lnTo>
                  <a:pt x="78750" y="464625"/>
                </a:lnTo>
                <a:cubicBezTo>
                  <a:pt x="78759" y="473149"/>
                  <a:pt x="75989" y="481443"/>
                  <a:pt x="70859" y="488250"/>
                </a:cubicBezTo>
                <a:lnTo>
                  <a:pt x="464625" y="488250"/>
                </a:lnTo>
                <a:cubicBezTo>
                  <a:pt x="477667" y="488236"/>
                  <a:pt x="488236" y="477667"/>
                  <a:pt x="488250" y="464625"/>
                </a:cubicBezTo>
                <a:lnTo>
                  <a:pt x="488250" y="220500"/>
                </a:lnTo>
                <a:close/>
                <a:moveTo>
                  <a:pt x="15750" y="149625"/>
                </a:moveTo>
                <a:lnTo>
                  <a:pt x="15750" y="464625"/>
                </a:lnTo>
                <a:cubicBezTo>
                  <a:pt x="15750" y="477673"/>
                  <a:pt x="26327" y="488250"/>
                  <a:pt x="39375" y="488250"/>
                </a:cubicBezTo>
                <a:cubicBezTo>
                  <a:pt x="52423" y="488250"/>
                  <a:pt x="63000" y="477673"/>
                  <a:pt x="63000" y="464625"/>
                </a:cubicBezTo>
                <a:lnTo>
                  <a:pt x="63000" y="204750"/>
                </a:lnTo>
                <a:lnTo>
                  <a:pt x="126000" y="204750"/>
                </a:lnTo>
                <a:lnTo>
                  <a:pt x="126000" y="173250"/>
                </a:lnTo>
                <a:lnTo>
                  <a:pt x="112726" y="173250"/>
                </a:lnTo>
                <a:lnTo>
                  <a:pt x="95138" y="149625"/>
                </a:lnTo>
                <a:close/>
                <a:moveTo>
                  <a:pt x="234365" y="15750"/>
                </a:moveTo>
                <a:cubicBezTo>
                  <a:pt x="245807" y="28068"/>
                  <a:pt x="252000" y="47282"/>
                  <a:pt x="252000" y="72394"/>
                </a:cubicBezTo>
                <a:lnTo>
                  <a:pt x="252000" y="110058"/>
                </a:lnTo>
                <a:lnTo>
                  <a:pt x="241326" y="110058"/>
                </a:lnTo>
                <a:lnTo>
                  <a:pt x="303803" y="159534"/>
                </a:lnTo>
                <a:lnTo>
                  <a:pt x="358966" y="110058"/>
                </a:lnTo>
                <a:lnTo>
                  <a:pt x="346500" y="110058"/>
                </a:lnTo>
                <a:lnTo>
                  <a:pt x="346500" y="72382"/>
                </a:lnTo>
                <a:cubicBezTo>
                  <a:pt x="346466" y="41119"/>
                  <a:pt x="321131" y="15784"/>
                  <a:pt x="289868" y="15750"/>
                </a:cubicBezTo>
                <a:close/>
                <a:moveTo>
                  <a:pt x="115203" y="15750"/>
                </a:moveTo>
                <a:cubicBezTo>
                  <a:pt x="131989" y="29236"/>
                  <a:pt x="141753" y="49608"/>
                  <a:pt x="141750" y="71140"/>
                </a:cubicBezTo>
                <a:lnTo>
                  <a:pt x="141750" y="157500"/>
                </a:lnTo>
                <a:lnTo>
                  <a:pt x="142404" y="157500"/>
                </a:lnTo>
                <a:lnTo>
                  <a:pt x="142404" y="173250"/>
                </a:lnTo>
                <a:lnTo>
                  <a:pt x="141750" y="173250"/>
                </a:lnTo>
                <a:lnTo>
                  <a:pt x="141750" y="204750"/>
                </a:lnTo>
                <a:lnTo>
                  <a:pt x="441000" y="204750"/>
                </a:lnTo>
                <a:lnTo>
                  <a:pt x="441000" y="71140"/>
                </a:lnTo>
                <a:cubicBezTo>
                  <a:pt x="440966" y="40565"/>
                  <a:pt x="416189" y="15786"/>
                  <a:pt x="385614" y="15750"/>
                </a:cubicBezTo>
                <a:lnTo>
                  <a:pt x="334816" y="15750"/>
                </a:lnTo>
                <a:cubicBezTo>
                  <a:pt x="352135" y="29443"/>
                  <a:pt x="362240" y="50304"/>
                  <a:pt x="362250" y="72382"/>
                </a:cubicBezTo>
                <a:lnTo>
                  <a:pt x="362250" y="94308"/>
                </a:lnTo>
                <a:lnTo>
                  <a:pt x="400125" y="94308"/>
                </a:lnTo>
                <a:lnTo>
                  <a:pt x="304433" y="180122"/>
                </a:lnTo>
                <a:lnTo>
                  <a:pt x="196075" y="94308"/>
                </a:lnTo>
                <a:lnTo>
                  <a:pt x="236250" y="94308"/>
                </a:lnTo>
                <a:lnTo>
                  <a:pt x="236250" y="72394"/>
                </a:lnTo>
                <a:cubicBezTo>
                  <a:pt x="236250" y="46558"/>
                  <a:pt x="229159" y="15761"/>
                  <a:pt x="195368" y="15761"/>
                </a:cubicBezTo>
                <a:lnTo>
                  <a:pt x="195368" y="15750"/>
                </a:lnTo>
                <a:close/>
                <a:moveTo>
                  <a:pt x="66561" y="15750"/>
                </a:moveTo>
                <a:cubicBezTo>
                  <a:pt x="53013" y="15571"/>
                  <a:pt x="40078" y="21383"/>
                  <a:pt x="31215" y="31631"/>
                </a:cubicBezTo>
                <a:lnTo>
                  <a:pt x="109362" y="31631"/>
                </a:lnTo>
                <a:cubicBezTo>
                  <a:pt x="99034" y="21452"/>
                  <a:pt x="85115" y="15747"/>
                  <a:pt x="70614" y="15750"/>
                </a:cubicBezTo>
                <a:close/>
                <a:moveTo>
                  <a:pt x="66561" y="0"/>
                </a:moveTo>
                <a:lnTo>
                  <a:pt x="385614" y="0"/>
                </a:lnTo>
                <a:cubicBezTo>
                  <a:pt x="424883" y="47"/>
                  <a:pt x="456705" y="31871"/>
                  <a:pt x="456750" y="71140"/>
                </a:cubicBezTo>
                <a:lnTo>
                  <a:pt x="456750" y="204750"/>
                </a:lnTo>
                <a:lnTo>
                  <a:pt x="504000" y="204750"/>
                </a:lnTo>
                <a:lnTo>
                  <a:pt x="504000" y="464625"/>
                </a:lnTo>
                <a:cubicBezTo>
                  <a:pt x="503975" y="486361"/>
                  <a:pt x="486361" y="503975"/>
                  <a:pt x="464625" y="504000"/>
                </a:cubicBezTo>
                <a:lnTo>
                  <a:pt x="43966" y="504000"/>
                </a:lnTo>
                <a:lnTo>
                  <a:pt x="43966" y="503735"/>
                </a:lnTo>
                <a:cubicBezTo>
                  <a:pt x="42442" y="503913"/>
                  <a:pt x="40909" y="504001"/>
                  <a:pt x="39375" y="504000"/>
                </a:cubicBezTo>
                <a:cubicBezTo>
                  <a:pt x="17639" y="503975"/>
                  <a:pt x="26" y="486361"/>
                  <a:pt x="0" y="464625"/>
                </a:cubicBezTo>
                <a:lnTo>
                  <a:pt x="0" y="133875"/>
                </a:lnTo>
                <a:lnTo>
                  <a:pt x="103044" y="133875"/>
                </a:lnTo>
                <a:lnTo>
                  <a:pt x="120632" y="157500"/>
                </a:lnTo>
                <a:lnTo>
                  <a:pt x="126000" y="157500"/>
                </a:lnTo>
                <a:lnTo>
                  <a:pt x="126000" y="71140"/>
                </a:lnTo>
                <a:cubicBezTo>
                  <a:pt x="125991" y="62914"/>
                  <a:pt x="124135" y="54794"/>
                  <a:pt x="120570" y="47381"/>
                </a:cubicBezTo>
                <a:lnTo>
                  <a:pt x="2223" y="47381"/>
                </a:lnTo>
                <a:lnTo>
                  <a:pt x="9075" y="35557"/>
                </a:lnTo>
                <a:cubicBezTo>
                  <a:pt x="20027" y="13839"/>
                  <a:pt x="42238" y="101"/>
                  <a:pt x="66561" y="0"/>
                </a:cubicBezTo>
                <a:close/>
              </a:path>
            </a:pathLst>
          </a:custGeom>
          <a:solidFill>
            <a:srgbClr val="FFFFFF"/>
          </a:solidFill>
          <a:ln w="77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5" name="形状"/>
          <p:cNvSpPr/>
          <p:nvPr>
            <p:custDataLst>
              <p:tags r:id="rId5"/>
            </p:custDataLst>
          </p:nvPr>
        </p:nvSpPr>
        <p:spPr>
          <a:xfrm>
            <a:off x="5030866" y="1670958"/>
            <a:ext cx="1634055" cy="1641253"/>
          </a:xfrm>
          <a:custGeom>
            <a:avLst/>
            <a:gdLst/>
            <a:ahLst/>
            <a:cxnLst>
              <a:cxn ang="0">
                <a:pos x="wd2" y="hd2"/>
              </a:cxn>
              <a:cxn ang="5400000">
                <a:pos x="wd2" y="hd2"/>
              </a:cxn>
              <a:cxn ang="10800000">
                <a:pos x="wd2" y="hd2"/>
              </a:cxn>
              <a:cxn ang="16200000">
                <a:pos x="wd2" y="hd2"/>
              </a:cxn>
            </a:cxnLst>
            <a:rect l="0" t="0" r="r" b="b"/>
            <a:pathLst>
              <a:path w="21561" h="21600" extrusionOk="0">
                <a:moveTo>
                  <a:pt x="21067" y="11464"/>
                </a:moveTo>
                <a:cubicBezTo>
                  <a:pt x="20844" y="11464"/>
                  <a:pt x="20844" y="11464"/>
                  <a:pt x="20844" y="11464"/>
                </a:cubicBezTo>
                <a:cubicBezTo>
                  <a:pt x="20444" y="11464"/>
                  <a:pt x="20133" y="11198"/>
                  <a:pt x="20044" y="10844"/>
                </a:cubicBezTo>
                <a:cubicBezTo>
                  <a:pt x="20000" y="10357"/>
                  <a:pt x="20356" y="9915"/>
                  <a:pt x="20844" y="9915"/>
                </a:cubicBezTo>
                <a:cubicBezTo>
                  <a:pt x="21067" y="9915"/>
                  <a:pt x="21067" y="9915"/>
                  <a:pt x="21067" y="9915"/>
                </a:cubicBezTo>
                <a:cubicBezTo>
                  <a:pt x="21333" y="9915"/>
                  <a:pt x="21600" y="9693"/>
                  <a:pt x="21556" y="9384"/>
                </a:cubicBezTo>
                <a:cubicBezTo>
                  <a:pt x="21511" y="9251"/>
                  <a:pt x="21511" y="9074"/>
                  <a:pt x="21467" y="8941"/>
                </a:cubicBezTo>
                <a:cubicBezTo>
                  <a:pt x="21422" y="8675"/>
                  <a:pt x="21156" y="8498"/>
                  <a:pt x="20844" y="8543"/>
                </a:cubicBezTo>
                <a:cubicBezTo>
                  <a:pt x="20622" y="8631"/>
                  <a:pt x="20622" y="8631"/>
                  <a:pt x="20622" y="8631"/>
                </a:cubicBezTo>
                <a:cubicBezTo>
                  <a:pt x="20267" y="8720"/>
                  <a:pt x="19867" y="8587"/>
                  <a:pt x="19689" y="8233"/>
                </a:cubicBezTo>
                <a:cubicBezTo>
                  <a:pt x="19467" y="7790"/>
                  <a:pt x="19733" y="7259"/>
                  <a:pt x="20178" y="7126"/>
                </a:cubicBezTo>
                <a:cubicBezTo>
                  <a:pt x="20400" y="7082"/>
                  <a:pt x="20400" y="7082"/>
                  <a:pt x="20400" y="7082"/>
                </a:cubicBezTo>
                <a:cubicBezTo>
                  <a:pt x="20667" y="6993"/>
                  <a:pt x="20844" y="6684"/>
                  <a:pt x="20711" y="6418"/>
                </a:cubicBezTo>
                <a:cubicBezTo>
                  <a:pt x="20667" y="6285"/>
                  <a:pt x="20578" y="6152"/>
                  <a:pt x="20533" y="6020"/>
                </a:cubicBezTo>
                <a:cubicBezTo>
                  <a:pt x="20400" y="5754"/>
                  <a:pt x="20044" y="5666"/>
                  <a:pt x="19822" y="5843"/>
                </a:cubicBezTo>
                <a:cubicBezTo>
                  <a:pt x="19600" y="5975"/>
                  <a:pt x="19600" y="5975"/>
                  <a:pt x="19600" y="5975"/>
                </a:cubicBezTo>
                <a:cubicBezTo>
                  <a:pt x="19244" y="6197"/>
                  <a:pt x="18756" y="6064"/>
                  <a:pt x="18533" y="5710"/>
                </a:cubicBezTo>
                <a:cubicBezTo>
                  <a:pt x="18311" y="5356"/>
                  <a:pt x="18400" y="4869"/>
                  <a:pt x="18756" y="4648"/>
                </a:cubicBezTo>
                <a:cubicBezTo>
                  <a:pt x="18933" y="4559"/>
                  <a:pt x="18933" y="4559"/>
                  <a:pt x="18933" y="4559"/>
                </a:cubicBezTo>
                <a:cubicBezTo>
                  <a:pt x="19200" y="4382"/>
                  <a:pt x="19244" y="4028"/>
                  <a:pt x="19067" y="3807"/>
                </a:cubicBezTo>
                <a:cubicBezTo>
                  <a:pt x="18978" y="3718"/>
                  <a:pt x="18889" y="3585"/>
                  <a:pt x="18756" y="3497"/>
                </a:cubicBezTo>
                <a:cubicBezTo>
                  <a:pt x="18578" y="3275"/>
                  <a:pt x="18222" y="3275"/>
                  <a:pt x="18044" y="3497"/>
                </a:cubicBezTo>
                <a:cubicBezTo>
                  <a:pt x="17911" y="3674"/>
                  <a:pt x="17911" y="3674"/>
                  <a:pt x="17911" y="3674"/>
                </a:cubicBezTo>
                <a:cubicBezTo>
                  <a:pt x="17644" y="3984"/>
                  <a:pt x="17200" y="4028"/>
                  <a:pt x="16889" y="3851"/>
                </a:cubicBezTo>
                <a:cubicBezTo>
                  <a:pt x="16444" y="3585"/>
                  <a:pt x="16400" y="3010"/>
                  <a:pt x="16711" y="2656"/>
                </a:cubicBezTo>
                <a:cubicBezTo>
                  <a:pt x="16844" y="2523"/>
                  <a:pt x="16844" y="2523"/>
                  <a:pt x="16844" y="2523"/>
                </a:cubicBezTo>
                <a:cubicBezTo>
                  <a:pt x="17067" y="2302"/>
                  <a:pt x="17022" y="1948"/>
                  <a:pt x="16756" y="1770"/>
                </a:cubicBezTo>
                <a:cubicBezTo>
                  <a:pt x="16622" y="1682"/>
                  <a:pt x="16489" y="1638"/>
                  <a:pt x="16400" y="1549"/>
                </a:cubicBezTo>
                <a:cubicBezTo>
                  <a:pt x="16133" y="1416"/>
                  <a:pt x="15822" y="1505"/>
                  <a:pt x="15689" y="1770"/>
                </a:cubicBezTo>
                <a:cubicBezTo>
                  <a:pt x="15600" y="1992"/>
                  <a:pt x="15600" y="1992"/>
                  <a:pt x="15600" y="1992"/>
                </a:cubicBezTo>
                <a:cubicBezTo>
                  <a:pt x="15422" y="2302"/>
                  <a:pt x="15022" y="2523"/>
                  <a:pt x="14667" y="2434"/>
                </a:cubicBezTo>
                <a:cubicBezTo>
                  <a:pt x="14178" y="2302"/>
                  <a:pt x="13956" y="1770"/>
                  <a:pt x="14178" y="1328"/>
                </a:cubicBezTo>
                <a:cubicBezTo>
                  <a:pt x="14267" y="1151"/>
                  <a:pt x="14267" y="1151"/>
                  <a:pt x="14267" y="1151"/>
                </a:cubicBezTo>
                <a:cubicBezTo>
                  <a:pt x="14400" y="885"/>
                  <a:pt x="14222" y="575"/>
                  <a:pt x="13956" y="487"/>
                </a:cubicBezTo>
                <a:cubicBezTo>
                  <a:pt x="13822" y="443"/>
                  <a:pt x="13689" y="398"/>
                  <a:pt x="13556" y="354"/>
                </a:cubicBezTo>
                <a:cubicBezTo>
                  <a:pt x="13244" y="266"/>
                  <a:pt x="12978" y="443"/>
                  <a:pt x="12933" y="752"/>
                </a:cubicBezTo>
                <a:cubicBezTo>
                  <a:pt x="12889" y="974"/>
                  <a:pt x="12889" y="974"/>
                  <a:pt x="12889" y="974"/>
                </a:cubicBezTo>
                <a:cubicBezTo>
                  <a:pt x="12844" y="1372"/>
                  <a:pt x="12533" y="1638"/>
                  <a:pt x="12133" y="1682"/>
                </a:cubicBezTo>
                <a:cubicBezTo>
                  <a:pt x="11644" y="1682"/>
                  <a:pt x="11289" y="1239"/>
                  <a:pt x="11333" y="752"/>
                </a:cubicBezTo>
                <a:cubicBezTo>
                  <a:pt x="11378" y="575"/>
                  <a:pt x="11378" y="575"/>
                  <a:pt x="11378" y="575"/>
                </a:cubicBezTo>
                <a:cubicBezTo>
                  <a:pt x="11422" y="266"/>
                  <a:pt x="11200" y="0"/>
                  <a:pt x="10933" y="0"/>
                </a:cubicBezTo>
                <a:cubicBezTo>
                  <a:pt x="10756" y="0"/>
                  <a:pt x="10622" y="0"/>
                  <a:pt x="10489" y="0"/>
                </a:cubicBezTo>
                <a:cubicBezTo>
                  <a:pt x="10178" y="0"/>
                  <a:pt x="9956" y="266"/>
                  <a:pt x="10000" y="575"/>
                </a:cubicBezTo>
                <a:cubicBezTo>
                  <a:pt x="10044" y="797"/>
                  <a:pt x="10044" y="797"/>
                  <a:pt x="10044" y="797"/>
                </a:cubicBezTo>
                <a:cubicBezTo>
                  <a:pt x="10089" y="1239"/>
                  <a:pt x="9778" y="1638"/>
                  <a:pt x="9378" y="1682"/>
                </a:cubicBezTo>
                <a:cubicBezTo>
                  <a:pt x="9022" y="1903"/>
                  <a:pt x="8578" y="1682"/>
                  <a:pt x="8533" y="1284"/>
                </a:cubicBezTo>
                <a:cubicBezTo>
                  <a:pt x="8489" y="797"/>
                  <a:pt x="8489" y="797"/>
                  <a:pt x="8489" y="797"/>
                </a:cubicBezTo>
                <a:cubicBezTo>
                  <a:pt x="8444" y="531"/>
                  <a:pt x="8133" y="310"/>
                  <a:pt x="7867" y="398"/>
                </a:cubicBezTo>
                <a:cubicBezTo>
                  <a:pt x="7733" y="443"/>
                  <a:pt x="7556" y="487"/>
                  <a:pt x="7422" y="531"/>
                </a:cubicBezTo>
                <a:cubicBezTo>
                  <a:pt x="7156" y="620"/>
                  <a:pt x="7022" y="930"/>
                  <a:pt x="7156" y="1195"/>
                </a:cubicBezTo>
                <a:cubicBezTo>
                  <a:pt x="7244" y="1416"/>
                  <a:pt x="7244" y="1416"/>
                  <a:pt x="7244" y="1416"/>
                </a:cubicBezTo>
                <a:cubicBezTo>
                  <a:pt x="7422" y="1859"/>
                  <a:pt x="7200" y="2390"/>
                  <a:pt x="6711" y="2479"/>
                </a:cubicBezTo>
                <a:cubicBezTo>
                  <a:pt x="6356" y="2611"/>
                  <a:pt x="5956" y="2390"/>
                  <a:pt x="5822" y="2036"/>
                </a:cubicBezTo>
                <a:cubicBezTo>
                  <a:pt x="5733" y="1859"/>
                  <a:pt x="5733" y="1859"/>
                  <a:pt x="5733" y="1859"/>
                </a:cubicBezTo>
                <a:cubicBezTo>
                  <a:pt x="5600" y="1593"/>
                  <a:pt x="5289" y="1505"/>
                  <a:pt x="5022" y="1638"/>
                </a:cubicBezTo>
                <a:cubicBezTo>
                  <a:pt x="5022" y="1638"/>
                  <a:pt x="5022" y="1638"/>
                  <a:pt x="5022" y="1638"/>
                </a:cubicBezTo>
                <a:cubicBezTo>
                  <a:pt x="4889" y="1726"/>
                  <a:pt x="4800" y="1815"/>
                  <a:pt x="4667" y="1903"/>
                </a:cubicBezTo>
                <a:cubicBezTo>
                  <a:pt x="4444" y="2036"/>
                  <a:pt x="4400" y="2390"/>
                  <a:pt x="4578" y="2611"/>
                </a:cubicBezTo>
                <a:cubicBezTo>
                  <a:pt x="4711" y="2789"/>
                  <a:pt x="4711" y="2789"/>
                  <a:pt x="4711" y="2789"/>
                </a:cubicBezTo>
                <a:cubicBezTo>
                  <a:pt x="4978" y="3098"/>
                  <a:pt x="4978" y="3497"/>
                  <a:pt x="4756" y="3807"/>
                </a:cubicBezTo>
                <a:cubicBezTo>
                  <a:pt x="4444" y="4161"/>
                  <a:pt x="3867" y="4161"/>
                  <a:pt x="3556" y="3807"/>
                </a:cubicBezTo>
                <a:cubicBezTo>
                  <a:pt x="3422" y="3630"/>
                  <a:pt x="3422" y="3630"/>
                  <a:pt x="3422" y="3630"/>
                </a:cubicBezTo>
                <a:cubicBezTo>
                  <a:pt x="3200" y="3408"/>
                  <a:pt x="2889" y="3408"/>
                  <a:pt x="2667" y="3630"/>
                </a:cubicBezTo>
                <a:cubicBezTo>
                  <a:pt x="2578" y="3762"/>
                  <a:pt x="2489" y="3851"/>
                  <a:pt x="2400" y="3984"/>
                </a:cubicBezTo>
                <a:cubicBezTo>
                  <a:pt x="2222" y="4205"/>
                  <a:pt x="2267" y="4515"/>
                  <a:pt x="2489" y="4692"/>
                </a:cubicBezTo>
                <a:cubicBezTo>
                  <a:pt x="2711" y="4825"/>
                  <a:pt x="2711" y="4825"/>
                  <a:pt x="2711" y="4825"/>
                </a:cubicBezTo>
                <a:cubicBezTo>
                  <a:pt x="3022" y="5046"/>
                  <a:pt x="3156" y="5444"/>
                  <a:pt x="3022" y="5798"/>
                </a:cubicBezTo>
                <a:cubicBezTo>
                  <a:pt x="2800" y="6241"/>
                  <a:pt x="2267" y="6374"/>
                  <a:pt x="1867" y="6108"/>
                </a:cubicBezTo>
                <a:cubicBezTo>
                  <a:pt x="1689" y="6020"/>
                  <a:pt x="1689" y="6020"/>
                  <a:pt x="1689" y="6020"/>
                </a:cubicBezTo>
                <a:cubicBezTo>
                  <a:pt x="1422" y="5843"/>
                  <a:pt x="1111" y="5931"/>
                  <a:pt x="978" y="6197"/>
                </a:cubicBezTo>
                <a:cubicBezTo>
                  <a:pt x="933" y="6330"/>
                  <a:pt x="844" y="6462"/>
                  <a:pt x="800" y="6595"/>
                </a:cubicBezTo>
                <a:cubicBezTo>
                  <a:pt x="711" y="6861"/>
                  <a:pt x="844" y="7170"/>
                  <a:pt x="1111" y="7259"/>
                </a:cubicBezTo>
                <a:cubicBezTo>
                  <a:pt x="1378" y="7348"/>
                  <a:pt x="1378" y="7348"/>
                  <a:pt x="1378" y="7348"/>
                </a:cubicBezTo>
                <a:cubicBezTo>
                  <a:pt x="1778" y="7436"/>
                  <a:pt x="2000" y="7879"/>
                  <a:pt x="1867" y="8321"/>
                </a:cubicBezTo>
                <a:cubicBezTo>
                  <a:pt x="2089" y="8631"/>
                  <a:pt x="1778" y="9074"/>
                  <a:pt x="1378" y="8941"/>
                </a:cubicBezTo>
                <a:cubicBezTo>
                  <a:pt x="711" y="8764"/>
                  <a:pt x="711" y="8764"/>
                  <a:pt x="711" y="8764"/>
                </a:cubicBezTo>
                <a:cubicBezTo>
                  <a:pt x="400" y="8675"/>
                  <a:pt x="133" y="8852"/>
                  <a:pt x="89" y="9162"/>
                </a:cubicBezTo>
                <a:cubicBezTo>
                  <a:pt x="44" y="9295"/>
                  <a:pt x="44" y="9428"/>
                  <a:pt x="0" y="9561"/>
                </a:cubicBezTo>
                <a:cubicBezTo>
                  <a:pt x="0" y="9870"/>
                  <a:pt x="222" y="10092"/>
                  <a:pt x="489" y="10136"/>
                </a:cubicBezTo>
                <a:cubicBezTo>
                  <a:pt x="756" y="10136"/>
                  <a:pt x="756" y="10136"/>
                  <a:pt x="756" y="10136"/>
                </a:cubicBezTo>
                <a:cubicBezTo>
                  <a:pt x="1200" y="10136"/>
                  <a:pt x="1556" y="10490"/>
                  <a:pt x="1511" y="10889"/>
                </a:cubicBezTo>
                <a:cubicBezTo>
                  <a:pt x="1511" y="11331"/>
                  <a:pt x="1156" y="11685"/>
                  <a:pt x="756" y="11685"/>
                </a:cubicBezTo>
                <a:cubicBezTo>
                  <a:pt x="533" y="11685"/>
                  <a:pt x="533" y="11685"/>
                  <a:pt x="533" y="11685"/>
                </a:cubicBezTo>
                <a:cubicBezTo>
                  <a:pt x="222" y="11685"/>
                  <a:pt x="0" y="11907"/>
                  <a:pt x="44" y="12216"/>
                </a:cubicBezTo>
                <a:cubicBezTo>
                  <a:pt x="44" y="12349"/>
                  <a:pt x="89" y="12482"/>
                  <a:pt x="89" y="12659"/>
                </a:cubicBezTo>
                <a:cubicBezTo>
                  <a:pt x="178" y="12925"/>
                  <a:pt x="444" y="13102"/>
                  <a:pt x="711" y="13013"/>
                </a:cubicBezTo>
                <a:cubicBezTo>
                  <a:pt x="978" y="12969"/>
                  <a:pt x="978" y="12969"/>
                  <a:pt x="978" y="12969"/>
                </a:cubicBezTo>
                <a:cubicBezTo>
                  <a:pt x="1378" y="12836"/>
                  <a:pt x="1822" y="13102"/>
                  <a:pt x="1956" y="13500"/>
                </a:cubicBezTo>
                <a:cubicBezTo>
                  <a:pt x="1956" y="13500"/>
                  <a:pt x="1956" y="13500"/>
                  <a:pt x="1956" y="13500"/>
                </a:cubicBezTo>
                <a:cubicBezTo>
                  <a:pt x="2044" y="13898"/>
                  <a:pt x="1822" y="14341"/>
                  <a:pt x="1378" y="14474"/>
                </a:cubicBezTo>
                <a:cubicBezTo>
                  <a:pt x="1200" y="14518"/>
                  <a:pt x="1200" y="14518"/>
                  <a:pt x="1200" y="14518"/>
                </a:cubicBezTo>
                <a:cubicBezTo>
                  <a:pt x="889" y="14607"/>
                  <a:pt x="756" y="14916"/>
                  <a:pt x="889" y="15182"/>
                </a:cubicBezTo>
                <a:cubicBezTo>
                  <a:pt x="933" y="15315"/>
                  <a:pt x="1022" y="15448"/>
                  <a:pt x="1067" y="15580"/>
                </a:cubicBezTo>
                <a:cubicBezTo>
                  <a:pt x="1200" y="15846"/>
                  <a:pt x="1511" y="15934"/>
                  <a:pt x="1778" y="15757"/>
                </a:cubicBezTo>
                <a:cubicBezTo>
                  <a:pt x="2000" y="15625"/>
                  <a:pt x="2000" y="15625"/>
                  <a:pt x="2000" y="15625"/>
                </a:cubicBezTo>
                <a:cubicBezTo>
                  <a:pt x="2356" y="15403"/>
                  <a:pt x="2844" y="15492"/>
                  <a:pt x="3067" y="15890"/>
                </a:cubicBezTo>
                <a:cubicBezTo>
                  <a:pt x="3289" y="16244"/>
                  <a:pt x="3156" y="16731"/>
                  <a:pt x="2800" y="16952"/>
                </a:cubicBezTo>
                <a:cubicBezTo>
                  <a:pt x="2622" y="17041"/>
                  <a:pt x="2622" y="17041"/>
                  <a:pt x="2622" y="17041"/>
                </a:cubicBezTo>
                <a:cubicBezTo>
                  <a:pt x="2400" y="17218"/>
                  <a:pt x="2311" y="17572"/>
                  <a:pt x="2533" y="17793"/>
                </a:cubicBezTo>
                <a:cubicBezTo>
                  <a:pt x="2622" y="17882"/>
                  <a:pt x="2711" y="18015"/>
                  <a:pt x="2800" y="18103"/>
                </a:cubicBezTo>
                <a:cubicBezTo>
                  <a:pt x="3022" y="18325"/>
                  <a:pt x="3333" y="18325"/>
                  <a:pt x="3556" y="18103"/>
                </a:cubicBezTo>
                <a:cubicBezTo>
                  <a:pt x="3689" y="17926"/>
                  <a:pt x="3689" y="17926"/>
                  <a:pt x="3689" y="17926"/>
                </a:cubicBezTo>
                <a:cubicBezTo>
                  <a:pt x="3956" y="17616"/>
                  <a:pt x="4356" y="17572"/>
                  <a:pt x="4711" y="17749"/>
                </a:cubicBezTo>
                <a:cubicBezTo>
                  <a:pt x="5111" y="18015"/>
                  <a:pt x="5200" y="18590"/>
                  <a:pt x="4889" y="18944"/>
                </a:cubicBezTo>
                <a:cubicBezTo>
                  <a:pt x="4711" y="19077"/>
                  <a:pt x="4711" y="19077"/>
                  <a:pt x="4711" y="19077"/>
                </a:cubicBezTo>
                <a:cubicBezTo>
                  <a:pt x="4533" y="19298"/>
                  <a:pt x="4578" y="19652"/>
                  <a:pt x="4844" y="19830"/>
                </a:cubicBezTo>
                <a:cubicBezTo>
                  <a:pt x="4933" y="19918"/>
                  <a:pt x="5067" y="19962"/>
                  <a:pt x="5200" y="20051"/>
                </a:cubicBezTo>
                <a:cubicBezTo>
                  <a:pt x="5467" y="20184"/>
                  <a:pt x="5778" y="20095"/>
                  <a:pt x="5911" y="19830"/>
                </a:cubicBezTo>
                <a:cubicBezTo>
                  <a:pt x="6000" y="19608"/>
                  <a:pt x="6000" y="19608"/>
                  <a:pt x="6000" y="19608"/>
                </a:cubicBezTo>
                <a:cubicBezTo>
                  <a:pt x="6178" y="19210"/>
                  <a:pt x="6667" y="19033"/>
                  <a:pt x="7022" y="19210"/>
                </a:cubicBezTo>
                <a:cubicBezTo>
                  <a:pt x="7022" y="19210"/>
                  <a:pt x="7022" y="19210"/>
                  <a:pt x="7022" y="19210"/>
                </a:cubicBezTo>
                <a:cubicBezTo>
                  <a:pt x="7422" y="19431"/>
                  <a:pt x="7600" y="19874"/>
                  <a:pt x="7422" y="20272"/>
                </a:cubicBezTo>
                <a:cubicBezTo>
                  <a:pt x="7333" y="20449"/>
                  <a:pt x="7333" y="20449"/>
                  <a:pt x="7333" y="20449"/>
                </a:cubicBezTo>
                <a:cubicBezTo>
                  <a:pt x="7200" y="20715"/>
                  <a:pt x="7333" y="21025"/>
                  <a:pt x="7644" y="21113"/>
                </a:cubicBezTo>
                <a:cubicBezTo>
                  <a:pt x="7778" y="21157"/>
                  <a:pt x="7911" y="21202"/>
                  <a:pt x="8044" y="21246"/>
                </a:cubicBezTo>
                <a:cubicBezTo>
                  <a:pt x="8311" y="21334"/>
                  <a:pt x="8622" y="21113"/>
                  <a:pt x="8667" y="20848"/>
                </a:cubicBezTo>
                <a:cubicBezTo>
                  <a:pt x="8711" y="20582"/>
                  <a:pt x="8711" y="20582"/>
                  <a:pt x="8711" y="20582"/>
                </a:cubicBezTo>
                <a:cubicBezTo>
                  <a:pt x="8756" y="20184"/>
                  <a:pt x="9156" y="19874"/>
                  <a:pt x="9600" y="19918"/>
                </a:cubicBezTo>
                <a:cubicBezTo>
                  <a:pt x="10000" y="20007"/>
                  <a:pt x="10311" y="20405"/>
                  <a:pt x="10222" y="20803"/>
                </a:cubicBezTo>
                <a:cubicBezTo>
                  <a:pt x="10178" y="21025"/>
                  <a:pt x="10178" y="21025"/>
                  <a:pt x="10178" y="21025"/>
                </a:cubicBezTo>
                <a:cubicBezTo>
                  <a:pt x="10133" y="21334"/>
                  <a:pt x="10356" y="21600"/>
                  <a:pt x="10667" y="21600"/>
                </a:cubicBezTo>
                <a:cubicBezTo>
                  <a:pt x="10800" y="21600"/>
                  <a:pt x="10978" y="21600"/>
                  <a:pt x="11111" y="21600"/>
                </a:cubicBezTo>
                <a:cubicBezTo>
                  <a:pt x="11378" y="21600"/>
                  <a:pt x="11600" y="21334"/>
                  <a:pt x="11600" y="21025"/>
                </a:cubicBezTo>
                <a:cubicBezTo>
                  <a:pt x="11556" y="20759"/>
                  <a:pt x="11556" y="20759"/>
                  <a:pt x="11556" y="20759"/>
                </a:cubicBezTo>
                <a:cubicBezTo>
                  <a:pt x="11467" y="20361"/>
                  <a:pt x="11778" y="19962"/>
                  <a:pt x="12222" y="19918"/>
                </a:cubicBezTo>
                <a:cubicBezTo>
                  <a:pt x="12222" y="19918"/>
                  <a:pt x="12222" y="19918"/>
                  <a:pt x="12222" y="19918"/>
                </a:cubicBezTo>
                <a:cubicBezTo>
                  <a:pt x="12622" y="19874"/>
                  <a:pt x="13022" y="20139"/>
                  <a:pt x="13067" y="20582"/>
                </a:cubicBezTo>
                <a:cubicBezTo>
                  <a:pt x="13111" y="20803"/>
                  <a:pt x="13111" y="20803"/>
                  <a:pt x="13111" y="20803"/>
                </a:cubicBezTo>
                <a:cubicBezTo>
                  <a:pt x="13156" y="21069"/>
                  <a:pt x="13467" y="21290"/>
                  <a:pt x="13733" y="21202"/>
                </a:cubicBezTo>
                <a:cubicBezTo>
                  <a:pt x="13867" y="21157"/>
                  <a:pt x="14000" y="21113"/>
                  <a:pt x="14133" y="21069"/>
                </a:cubicBezTo>
                <a:cubicBezTo>
                  <a:pt x="14444" y="20980"/>
                  <a:pt x="14578" y="20670"/>
                  <a:pt x="14444" y="20405"/>
                </a:cubicBezTo>
                <a:cubicBezTo>
                  <a:pt x="14356" y="20184"/>
                  <a:pt x="14356" y="20184"/>
                  <a:pt x="14356" y="20184"/>
                </a:cubicBezTo>
                <a:cubicBezTo>
                  <a:pt x="14178" y="19785"/>
                  <a:pt x="14356" y="19298"/>
                  <a:pt x="14756" y="19121"/>
                </a:cubicBezTo>
                <a:cubicBezTo>
                  <a:pt x="15111" y="18989"/>
                  <a:pt x="15600" y="19166"/>
                  <a:pt x="15778" y="19520"/>
                </a:cubicBezTo>
                <a:cubicBezTo>
                  <a:pt x="15867" y="19741"/>
                  <a:pt x="15867" y="19741"/>
                  <a:pt x="15867" y="19741"/>
                </a:cubicBezTo>
                <a:cubicBezTo>
                  <a:pt x="15956" y="20007"/>
                  <a:pt x="16311" y="20095"/>
                  <a:pt x="16533" y="19962"/>
                </a:cubicBezTo>
                <a:cubicBezTo>
                  <a:pt x="16533" y="19962"/>
                  <a:pt x="16533" y="19962"/>
                  <a:pt x="16533" y="19962"/>
                </a:cubicBezTo>
                <a:cubicBezTo>
                  <a:pt x="16667" y="19874"/>
                  <a:pt x="16800" y="19785"/>
                  <a:pt x="16933" y="19697"/>
                </a:cubicBezTo>
                <a:cubicBezTo>
                  <a:pt x="17156" y="19564"/>
                  <a:pt x="17200" y="19210"/>
                  <a:pt x="17022" y="18989"/>
                </a:cubicBezTo>
                <a:cubicBezTo>
                  <a:pt x="16844" y="18811"/>
                  <a:pt x="16844" y="18811"/>
                  <a:pt x="16844" y="18811"/>
                </a:cubicBezTo>
                <a:cubicBezTo>
                  <a:pt x="16578" y="18457"/>
                  <a:pt x="16622" y="17970"/>
                  <a:pt x="16933" y="17705"/>
                </a:cubicBezTo>
                <a:cubicBezTo>
                  <a:pt x="17244" y="17439"/>
                  <a:pt x="17733" y="17484"/>
                  <a:pt x="18044" y="17793"/>
                </a:cubicBezTo>
                <a:cubicBezTo>
                  <a:pt x="18178" y="17970"/>
                  <a:pt x="18178" y="17970"/>
                  <a:pt x="18178" y="17970"/>
                </a:cubicBezTo>
                <a:cubicBezTo>
                  <a:pt x="18356" y="18192"/>
                  <a:pt x="18711" y="18192"/>
                  <a:pt x="18889" y="17970"/>
                </a:cubicBezTo>
                <a:cubicBezTo>
                  <a:pt x="19022" y="17838"/>
                  <a:pt x="19111" y="17749"/>
                  <a:pt x="19200" y="17616"/>
                </a:cubicBezTo>
                <a:cubicBezTo>
                  <a:pt x="19378" y="17395"/>
                  <a:pt x="19333" y="17085"/>
                  <a:pt x="19067" y="16908"/>
                </a:cubicBezTo>
                <a:cubicBezTo>
                  <a:pt x="18844" y="16775"/>
                  <a:pt x="18844" y="16775"/>
                  <a:pt x="18844" y="16775"/>
                </a:cubicBezTo>
                <a:cubicBezTo>
                  <a:pt x="18489" y="16554"/>
                  <a:pt x="18400" y="16067"/>
                  <a:pt x="18622" y="15713"/>
                </a:cubicBezTo>
                <a:cubicBezTo>
                  <a:pt x="18889" y="15359"/>
                  <a:pt x="19378" y="15226"/>
                  <a:pt x="19733" y="15492"/>
                </a:cubicBezTo>
                <a:cubicBezTo>
                  <a:pt x="19911" y="15580"/>
                  <a:pt x="19911" y="15580"/>
                  <a:pt x="19911" y="15580"/>
                </a:cubicBezTo>
                <a:cubicBezTo>
                  <a:pt x="20133" y="15757"/>
                  <a:pt x="20489" y="15669"/>
                  <a:pt x="20622" y="15403"/>
                </a:cubicBezTo>
                <a:cubicBezTo>
                  <a:pt x="20667" y="15270"/>
                  <a:pt x="20711" y="15138"/>
                  <a:pt x="20800" y="15005"/>
                </a:cubicBezTo>
                <a:cubicBezTo>
                  <a:pt x="20889" y="14739"/>
                  <a:pt x="20756" y="14430"/>
                  <a:pt x="20489" y="14341"/>
                </a:cubicBezTo>
                <a:cubicBezTo>
                  <a:pt x="20222" y="14252"/>
                  <a:pt x="20222" y="14252"/>
                  <a:pt x="20222" y="14252"/>
                </a:cubicBezTo>
                <a:cubicBezTo>
                  <a:pt x="19822" y="14120"/>
                  <a:pt x="19600" y="13721"/>
                  <a:pt x="19689" y="13279"/>
                </a:cubicBezTo>
                <a:cubicBezTo>
                  <a:pt x="19467" y="12969"/>
                  <a:pt x="19822" y="12526"/>
                  <a:pt x="20222" y="12659"/>
                </a:cubicBezTo>
                <a:cubicBezTo>
                  <a:pt x="20889" y="12836"/>
                  <a:pt x="20889" y="12836"/>
                  <a:pt x="20889" y="12836"/>
                </a:cubicBezTo>
                <a:cubicBezTo>
                  <a:pt x="21156" y="12925"/>
                  <a:pt x="21467" y="12748"/>
                  <a:pt x="21511" y="12438"/>
                </a:cubicBezTo>
                <a:cubicBezTo>
                  <a:pt x="21511" y="12305"/>
                  <a:pt x="21556" y="12172"/>
                  <a:pt x="21556" y="12039"/>
                </a:cubicBezTo>
                <a:cubicBezTo>
                  <a:pt x="21600" y="11730"/>
                  <a:pt x="21378" y="11464"/>
                  <a:pt x="21067" y="11464"/>
                </a:cubicBezTo>
                <a:close/>
                <a:moveTo>
                  <a:pt x="12933" y="4382"/>
                </a:moveTo>
                <a:cubicBezTo>
                  <a:pt x="13022" y="3939"/>
                  <a:pt x="13422" y="3762"/>
                  <a:pt x="13822" y="3939"/>
                </a:cubicBezTo>
                <a:cubicBezTo>
                  <a:pt x="16356" y="5798"/>
                  <a:pt x="16356" y="5798"/>
                  <a:pt x="16356" y="5798"/>
                </a:cubicBezTo>
                <a:cubicBezTo>
                  <a:pt x="16667" y="6108"/>
                  <a:pt x="16622" y="6551"/>
                  <a:pt x="16267" y="6772"/>
                </a:cubicBezTo>
                <a:cubicBezTo>
                  <a:pt x="15956" y="6949"/>
                  <a:pt x="15956" y="6949"/>
                  <a:pt x="15956" y="6949"/>
                </a:cubicBezTo>
                <a:cubicBezTo>
                  <a:pt x="15200" y="5931"/>
                  <a:pt x="14089" y="5134"/>
                  <a:pt x="12844" y="4736"/>
                </a:cubicBezTo>
                <a:lnTo>
                  <a:pt x="12933" y="4382"/>
                </a:lnTo>
                <a:close/>
                <a:moveTo>
                  <a:pt x="8133" y="3807"/>
                </a:moveTo>
                <a:cubicBezTo>
                  <a:pt x="11333" y="3320"/>
                  <a:pt x="11333" y="3320"/>
                  <a:pt x="11333" y="3320"/>
                </a:cubicBezTo>
                <a:cubicBezTo>
                  <a:pt x="11778" y="3364"/>
                  <a:pt x="12044" y="3718"/>
                  <a:pt x="11956" y="4116"/>
                </a:cubicBezTo>
                <a:cubicBezTo>
                  <a:pt x="11867" y="4470"/>
                  <a:pt x="11867" y="4470"/>
                  <a:pt x="11867" y="4470"/>
                </a:cubicBezTo>
                <a:cubicBezTo>
                  <a:pt x="11511" y="4426"/>
                  <a:pt x="11156" y="4382"/>
                  <a:pt x="10800" y="4382"/>
                </a:cubicBezTo>
                <a:cubicBezTo>
                  <a:pt x="9778" y="4382"/>
                  <a:pt x="8844" y="4603"/>
                  <a:pt x="8000" y="5002"/>
                </a:cubicBezTo>
                <a:cubicBezTo>
                  <a:pt x="7822" y="4736"/>
                  <a:pt x="7822" y="4736"/>
                  <a:pt x="7822" y="4736"/>
                </a:cubicBezTo>
                <a:cubicBezTo>
                  <a:pt x="7556" y="4338"/>
                  <a:pt x="7733" y="3939"/>
                  <a:pt x="8133" y="3807"/>
                </a:cubicBezTo>
                <a:close/>
                <a:moveTo>
                  <a:pt x="3956" y="7790"/>
                </a:moveTo>
                <a:cubicBezTo>
                  <a:pt x="5911" y="5134"/>
                  <a:pt x="5911" y="5134"/>
                  <a:pt x="5911" y="5134"/>
                </a:cubicBezTo>
                <a:cubicBezTo>
                  <a:pt x="6222" y="4825"/>
                  <a:pt x="6667" y="4869"/>
                  <a:pt x="6933" y="5223"/>
                </a:cubicBezTo>
                <a:cubicBezTo>
                  <a:pt x="7111" y="5533"/>
                  <a:pt x="7111" y="5533"/>
                  <a:pt x="7111" y="5533"/>
                </a:cubicBezTo>
                <a:cubicBezTo>
                  <a:pt x="6000" y="6330"/>
                  <a:pt x="5156" y="7436"/>
                  <a:pt x="4711" y="8720"/>
                </a:cubicBezTo>
                <a:cubicBezTo>
                  <a:pt x="4356" y="8675"/>
                  <a:pt x="4356" y="8675"/>
                  <a:pt x="4356" y="8675"/>
                </a:cubicBezTo>
                <a:cubicBezTo>
                  <a:pt x="3911" y="8543"/>
                  <a:pt x="3733" y="8144"/>
                  <a:pt x="3956" y="7790"/>
                </a:cubicBezTo>
                <a:close/>
                <a:moveTo>
                  <a:pt x="4800" y="13943"/>
                </a:moveTo>
                <a:cubicBezTo>
                  <a:pt x="4400" y="14164"/>
                  <a:pt x="4000" y="14031"/>
                  <a:pt x="3867" y="13589"/>
                </a:cubicBezTo>
                <a:cubicBezTo>
                  <a:pt x="3333" y="10269"/>
                  <a:pt x="3333" y="10269"/>
                  <a:pt x="3333" y="10269"/>
                </a:cubicBezTo>
                <a:cubicBezTo>
                  <a:pt x="3333" y="9826"/>
                  <a:pt x="3689" y="9561"/>
                  <a:pt x="4089" y="9649"/>
                </a:cubicBezTo>
                <a:cubicBezTo>
                  <a:pt x="4444" y="9738"/>
                  <a:pt x="4444" y="9738"/>
                  <a:pt x="4444" y="9738"/>
                </a:cubicBezTo>
                <a:cubicBezTo>
                  <a:pt x="4400" y="10092"/>
                  <a:pt x="4356" y="10446"/>
                  <a:pt x="4356" y="10800"/>
                </a:cubicBezTo>
                <a:cubicBezTo>
                  <a:pt x="4356" y="11862"/>
                  <a:pt x="4622" y="12880"/>
                  <a:pt x="5067" y="13766"/>
                </a:cubicBezTo>
                <a:lnTo>
                  <a:pt x="4800" y="13943"/>
                </a:lnTo>
                <a:close/>
                <a:moveTo>
                  <a:pt x="8000" y="17749"/>
                </a:moveTo>
                <a:cubicBezTo>
                  <a:pt x="5244" y="15802"/>
                  <a:pt x="5244" y="15802"/>
                  <a:pt x="5244" y="15802"/>
                </a:cubicBezTo>
                <a:cubicBezTo>
                  <a:pt x="4933" y="15492"/>
                  <a:pt x="4978" y="15049"/>
                  <a:pt x="5333" y="14828"/>
                </a:cubicBezTo>
                <a:cubicBezTo>
                  <a:pt x="5644" y="14651"/>
                  <a:pt x="5644" y="14651"/>
                  <a:pt x="5644" y="14651"/>
                </a:cubicBezTo>
                <a:cubicBezTo>
                  <a:pt x="6444" y="15713"/>
                  <a:pt x="7644" y="16554"/>
                  <a:pt x="8978" y="16952"/>
                </a:cubicBezTo>
                <a:cubicBezTo>
                  <a:pt x="8933" y="17307"/>
                  <a:pt x="8933" y="17307"/>
                  <a:pt x="8933" y="17307"/>
                </a:cubicBezTo>
                <a:cubicBezTo>
                  <a:pt x="8800" y="17705"/>
                  <a:pt x="8400" y="17926"/>
                  <a:pt x="8000" y="17749"/>
                </a:cubicBezTo>
                <a:close/>
                <a:moveTo>
                  <a:pt x="13822" y="17616"/>
                </a:moveTo>
                <a:cubicBezTo>
                  <a:pt x="10533" y="18280"/>
                  <a:pt x="10533" y="18280"/>
                  <a:pt x="10533" y="18280"/>
                </a:cubicBezTo>
                <a:cubicBezTo>
                  <a:pt x="10089" y="18280"/>
                  <a:pt x="9822" y="17926"/>
                  <a:pt x="9911" y="17484"/>
                </a:cubicBezTo>
                <a:cubicBezTo>
                  <a:pt x="10000" y="17174"/>
                  <a:pt x="10000" y="17174"/>
                  <a:pt x="10000" y="17174"/>
                </a:cubicBezTo>
                <a:cubicBezTo>
                  <a:pt x="10267" y="17174"/>
                  <a:pt x="10533" y="17218"/>
                  <a:pt x="10800" y="17218"/>
                </a:cubicBezTo>
                <a:cubicBezTo>
                  <a:pt x="11956" y="17218"/>
                  <a:pt x="13022" y="16908"/>
                  <a:pt x="13956" y="16377"/>
                </a:cubicBezTo>
                <a:cubicBezTo>
                  <a:pt x="14133" y="16687"/>
                  <a:pt x="14133" y="16687"/>
                  <a:pt x="14133" y="16687"/>
                </a:cubicBezTo>
                <a:cubicBezTo>
                  <a:pt x="14356" y="17041"/>
                  <a:pt x="14222" y="17484"/>
                  <a:pt x="13822" y="17616"/>
                </a:cubicBezTo>
                <a:close/>
                <a:moveTo>
                  <a:pt x="17778" y="13589"/>
                </a:moveTo>
                <a:cubicBezTo>
                  <a:pt x="15956" y="16200"/>
                  <a:pt x="15956" y="16200"/>
                  <a:pt x="15956" y="16200"/>
                </a:cubicBezTo>
                <a:cubicBezTo>
                  <a:pt x="15644" y="16510"/>
                  <a:pt x="15244" y="16510"/>
                  <a:pt x="14978" y="16111"/>
                </a:cubicBezTo>
                <a:cubicBezTo>
                  <a:pt x="14800" y="15802"/>
                  <a:pt x="14800" y="15802"/>
                  <a:pt x="14800" y="15802"/>
                </a:cubicBezTo>
                <a:cubicBezTo>
                  <a:pt x="15822" y="15005"/>
                  <a:pt x="16578" y="13898"/>
                  <a:pt x="16978" y="12570"/>
                </a:cubicBezTo>
                <a:cubicBezTo>
                  <a:pt x="17333" y="12659"/>
                  <a:pt x="17333" y="12659"/>
                  <a:pt x="17333" y="12659"/>
                </a:cubicBezTo>
                <a:cubicBezTo>
                  <a:pt x="17733" y="12748"/>
                  <a:pt x="17956" y="13190"/>
                  <a:pt x="17778" y="13589"/>
                </a:cubicBezTo>
                <a:close/>
                <a:moveTo>
                  <a:pt x="17556" y="11685"/>
                </a:moveTo>
                <a:cubicBezTo>
                  <a:pt x="17200" y="11597"/>
                  <a:pt x="17200" y="11597"/>
                  <a:pt x="17200" y="11597"/>
                </a:cubicBezTo>
                <a:cubicBezTo>
                  <a:pt x="17200" y="11331"/>
                  <a:pt x="17244" y="11066"/>
                  <a:pt x="17244" y="10800"/>
                </a:cubicBezTo>
                <a:cubicBezTo>
                  <a:pt x="17244" y="9738"/>
                  <a:pt x="16978" y="8720"/>
                  <a:pt x="16489" y="7834"/>
                </a:cubicBezTo>
                <a:cubicBezTo>
                  <a:pt x="16800" y="7657"/>
                  <a:pt x="16800" y="7657"/>
                  <a:pt x="16800" y="7657"/>
                </a:cubicBezTo>
                <a:cubicBezTo>
                  <a:pt x="17200" y="7392"/>
                  <a:pt x="17600" y="7569"/>
                  <a:pt x="17733" y="7967"/>
                </a:cubicBezTo>
                <a:cubicBezTo>
                  <a:pt x="18311" y="11066"/>
                  <a:pt x="18311" y="11066"/>
                  <a:pt x="18311" y="11066"/>
                </a:cubicBezTo>
                <a:cubicBezTo>
                  <a:pt x="18311" y="11464"/>
                  <a:pt x="17956" y="11774"/>
                  <a:pt x="17556" y="11685"/>
                </a:cubicBezTo>
                <a:close/>
              </a:path>
            </a:pathLst>
          </a:custGeom>
          <a:solidFill>
            <a:srgbClr val="0065B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6" name="任意形状 62"/>
          <p:cNvSpPr>
            <a:spLocks noChangeAspect="1"/>
          </p:cNvSpPr>
          <p:nvPr>
            <p:custDataLst>
              <p:tags r:id="rId6"/>
            </p:custDataLst>
          </p:nvPr>
        </p:nvSpPr>
        <p:spPr>
          <a:xfrm>
            <a:off x="5628739" y="2300283"/>
            <a:ext cx="438308" cy="382603"/>
          </a:xfrm>
          <a:custGeom>
            <a:avLst/>
            <a:gdLst>
              <a:gd name="connsiteX0" fmla="*/ 283952 w 504000"/>
              <a:gd name="connsiteY0" fmla="*/ 393789 h 439946"/>
              <a:gd name="connsiteX1" fmla="*/ 283903 w 504000"/>
              <a:gd name="connsiteY1" fmla="*/ 424196 h 439946"/>
              <a:gd name="connsiteX2" fmla="*/ 346903 w 504000"/>
              <a:gd name="connsiteY2" fmla="*/ 424196 h 439946"/>
              <a:gd name="connsiteX3" fmla="*/ 346952 w 504000"/>
              <a:gd name="connsiteY3" fmla="*/ 393789 h 439946"/>
              <a:gd name="connsiteX4" fmla="*/ 141749 w 504000"/>
              <a:gd name="connsiteY4" fmla="*/ 346011 h 439946"/>
              <a:gd name="connsiteX5" fmla="*/ 141750 w 504000"/>
              <a:gd name="connsiteY5" fmla="*/ 378039 h 439946"/>
              <a:gd name="connsiteX6" fmla="*/ 488250 w 504000"/>
              <a:gd name="connsiteY6" fmla="*/ 378039 h 439946"/>
              <a:gd name="connsiteX7" fmla="*/ 488250 w 504000"/>
              <a:gd name="connsiteY7" fmla="*/ 346812 h 439946"/>
              <a:gd name="connsiteX8" fmla="*/ 252008 w 504000"/>
              <a:gd name="connsiteY8" fmla="*/ 165406 h 439946"/>
              <a:gd name="connsiteX9" fmla="*/ 252008 w 504000"/>
              <a:gd name="connsiteY9" fmla="*/ 259906 h 439946"/>
              <a:gd name="connsiteX10" fmla="*/ 315008 w 504000"/>
              <a:gd name="connsiteY10" fmla="*/ 259906 h 439946"/>
              <a:gd name="connsiteX11" fmla="*/ 315008 w 504000"/>
              <a:gd name="connsiteY11" fmla="*/ 165406 h 439946"/>
              <a:gd name="connsiteX12" fmla="*/ 212629 w 504000"/>
              <a:gd name="connsiteY12" fmla="*/ 126031 h 439946"/>
              <a:gd name="connsiteX13" fmla="*/ 212629 w 504000"/>
              <a:gd name="connsiteY13" fmla="*/ 220531 h 439946"/>
              <a:gd name="connsiteX14" fmla="*/ 236258 w 504000"/>
              <a:gd name="connsiteY14" fmla="*/ 220531 h 439946"/>
              <a:gd name="connsiteX15" fmla="*/ 236258 w 504000"/>
              <a:gd name="connsiteY15" fmla="*/ 149656 h 439946"/>
              <a:gd name="connsiteX16" fmla="*/ 275633 w 504000"/>
              <a:gd name="connsiteY16" fmla="*/ 149656 h 439946"/>
              <a:gd name="connsiteX17" fmla="*/ 275633 w 504000"/>
              <a:gd name="connsiteY17" fmla="*/ 126031 h 439946"/>
              <a:gd name="connsiteX18" fmla="*/ 309071 w 504000"/>
              <a:gd name="connsiteY18" fmla="*/ 110250 h 439946"/>
              <a:gd name="connsiteX19" fmla="*/ 488250 w 504000"/>
              <a:gd name="connsiteY19" fmla="*/ 110250 h 439946"/>
              <a:gd name="connsiteX20" fmla="*/ 504000 w 504000"/>
              <a:gd name="connsiteY20" fmla="*/ 126000 h 439946"/>
              <a:gd name="connsiteX21" fmla="*/ 504000 w 504000"/>
              <a:gd name="connsiteY21" fmla="*/ 378039 h 439946"/>
              <a:gd name="connsiteX22" fmla="*/ 488250 w 504000"/>
              <a:gd name="connsiteY22" fmla="*/ 393789 h 439946"/>
              <a:gd name="connsiteX23" fmla="*/ 362702 w 504000"/>
              <a:gd name="connsiteY23" fmla="*/ 393789 h 439946"/>
              <a:gd name="connsiteX24" fmla="*/ 362653 w 504000"/>
              <a:gd name="connsiteY24" fmla="*/ 424196 h 439946"/>
              <a:gd name="connsiteX25" fmla="*/ 393681 w 504000"/>
              <a:gd name="connsiteY25" fmla="*/ 424196 h 439946"/>
              <a:gd name="connsiteX26" fmla="*/ 393681 w 504000"/>
              <a:gd name="connsiteY26" fmla="*/ 439946 h 439946"/>
              <a:gd name="connsiteX27" fmla="*/ 236184 w 504000"/>
              <a:gd name="connsiteY27" fmla="*/ 439946 h 439946"/>
              <a:gd name="connsiteX28" fmla="*/ 236184 w 504000"/>
              <a:gd name="connsiteY28" fmla="*/ 424196 h 439946"/>
              <a:gd name="connsiteX29" fmla="*/ 268153 w 504000"/>
              <a:gd name="connsiteY29" fmla="*/ 424196 h 439946"/>
              <a:gd name="connsiteX30" fmla="*/ 268202 w 504000"/>
              <a:gd name="connsiteY30" fmla="*/ 393789 h 439946"/>
              <a:gd name="connsiteX31" fmla="*/ 141750 w 504000"/>
              <a:gd name="connsiteY31" fmla="*/ 393789 h 439946"/>
              <a:gd name="connsiteX32" fmla="*/ 126000 w 504000"/>
              <a:gd name="connsiteY32" fmla="*/ 378039 h 439946"/>
              <a:gd name="connsiteX33" fmla="*/ 125996 w 504000"/>
              <a:gd name="connsiteY33" fmla="*/ 126000 h 439946"/>
              <a:gd name="connsiteX34" fmla="*/ 141746 w 504000"/>
              <a:gd name="connsiteY34" fmla="*/ 126000 h 439946"/>
              <a:gd name="connsiteX35" fmla="*/ 141749 w 504000"/>
              <a:gd name="connsiteY35" fmla="*/ 330261 h 439946"/>
              <a:gd name="connsiteX36" fmla="*/ 488250 w 504000"/>
              <a:gd name="connsiteY36" fmla="*/ 331062 h 439946"/>
              <a:gd name="connsiteX37" fmla="*/ 488250 w 504000"/>
              <a:gd name="connsiteY37" fmla="*/ 126000 h 439946"/>
              <a:gd name="connsiteX38" fmla="*/ 309071 w 504000"/>
              <a:gd name="connsiteY38" fmla="*/ 126000 h 439946"/>
              <a:gd name="connsiteX39" fmla="*/ 173254 w 504000"/>
              <a:gd name="connsiteY39" fmla="*/ 86656 h 439946"/>
              <a:gd name="connsiteX40" fmla="*/ 173254 w 504000"/>
              <a:gd name="connsiteY40" fmla="*/ 181156 h 439946"/>
              <a:gd name="connsiteX41" fmla="*/ 196879 w 504000"/>
              <a:gd name="connsiteY41" fmla="*/ 181156 h 439946"/>
              <a:gd name="connsiteX42" fmla="*/ 196879 w 504000"/>
              <a:gd name="connsiteY42" fmla="*/ 110281 h 439946"/>
              <a:gd name="connsiteX43" fmla="*/ 236254 w 504000"/>
              <a:gd name="connsiteY43" fmla="*/ 110281 h 439946"/>
              <a:gd name="connsiteX44" fmla="*/ 236254 w 504000"/>
              <a:gd name="connsiteY44" fmla="*/ 86656 h 439946"/>
              <a:gd name="connsiteX45" fmla="*/ 157504 w 504000"/>
              <a:gd name="connsiteY45" fmla="*/ 70906 h 439946"/>
              <a:gd name="connsiteX46" fmla="*/ 252004 w 504000"/>
              <a:gd name="connsiteY46" fmla="*/ 70906 h 439946"/>
              <a:gd name="connsiteX47" fmla="*/ 252004 w 504000"/>
              <a:gd name="connsiteY47" fmla="*/ 110281 h 439946"/>
              <a:gd name="connsiteX48" fmla="*/ 291383 w 504000"/>
              <a:gd name="connsiteY48" fmla="*/ 110281 h 439946"/>
              <a:gd name="connsiteX49" fmla="*/ 291383 w 504000"/>
              <a:gd name="connsiteY49" fmla="*/ 149656 h 439946"/>
              <a:gd name="connsiteX50" fmla="*/ 330758 w 504000"/>
              <a:gd name="connsiteY50" fmla="*/ 149656 h 439946"/>
              <a:gd name="connsiteX51" fmla="*/ 330758 w 504000"/>
              <a:gd name="connsiteY51" fmla="*/ 275656 h 439946"/>
              <a:gd name="connsiteX52" fmla="*/ 236258 w 504000"/>
              <a:gd name="connsiteY52" fmla="*/ 275656 h 439946"/>
              <a:gd name="connsiteX53" fmla="*/ 236258 w 504000"/>
              <a:gd name="connsiteY53" fmla="*/ 236281 h 439946"/>
              <a:gd name="connsiteX54" fmla="*/ 196879 w 504000"/>
              <a:gd name="connsiteY54" fmla="*/ 236281 h 439946"/>
              <a:gd name="connsiteX55" fmla="*/ 196879 w 504000"/>
              <a:gd name="connsiteY55" fmla="*/ 196906 h 439946"/>
              <a:gd name="connsiteX56" fmla="*/ 157504 w 504000"/>
              <a:gd name="connsiteY56" fmla="*/ 196906 h 439946"/>
              <a:gd name="connsiteX57" fmla="*/ 15750 w 504000"/>
              <a:gd name="connsiteY57" fmla="*/ 0 h 439946"/>
              <a:gd name="connsiteX58" fmla="*/ 362250 w 504000"/>
              <a:gd name="connsiteY58" fmla="*/ 0 h 439946"/>
              <a:gd name="connsiteX59" fmla="*/ 378000 w 504000"/>
              <a:gd name="connsiteY59" fmla="*/ 15750 h 439946"/>
              <a:gd name="connsiteX60" fmla="*/ 378000 w 504000"/>
              <a:gd name="connsiteY60" fmla="*/ 92843 h 439946"/>
              <a:gd name="connsiteX61" fmla="*/ 362250 w 504000"/>
              <a:gd name="connsiteY61" fmla="*/ 92843 h 439946"/>
              <a:gd name="connsiteX62" fmla="*/ 362250 w 504000"/>
              <a:gd name="connsiteY62" fmla="*/ 15750 h 439946"/>
              <a:gd name="connsiteX63" fmla="*/ 15750 w 504000"/>
              <a:gd name="connsiteY63" fmla="*/ 15750 h 439946"/>
              <a:gd name="connsiteX64" fmla="*/ 15750 w 504000"/>
              <a:gd name="connsiteY64" fmla="*/ 220604 h 439946"/>
              <a:gd name="connsiteX65" fmla="*/ 110250 w 504000"/>
              <a:gd name="connsiteY65" fmla="*/ 220604 h 439946"/>
              <a:gd name="connsiteX66" fmla="*/ 110250 w 504000"/>
              <a:gd name="connsiteY66" fmla="*/ 236354 h 439946"/>
              <a:gd name="connsiteX67" fmla="*/ 15750 w 504000"/>
              <a:gd name="connsiteY67" fmla="*/ 236354 h 439946"/>
              <a:gd name="connsiteX68" fmla="*/ 15750 w 504000"/>
              <a:gd name="connsiteY68" fmla="*/ 267789 h 439946"/>
              <a:gd name="connsiteX69" fmla="*/ 110250 w 504000"/>
              <a:gd name="connsiteY69" fmla="*/ 267789 h 439946"/>
              <a:gd name="connsiteX70" fmla="*/ 110250 w 504000"/>
              <a:gd name="connsiteY70" fmla="*/ 283539 h 439946"/>
              <a:gd name="connsiteX71" fmla="*/ 15750 w 504000"/>
              <a:gd name="connsiteY71" fmla="*/ 283539 h 439946"/>
              <a:gd name="connsiteX72" fmla="*/ 0 w 504000"/>
              <a:gd name="connsiteY72" fmla="*/ 267789 h 439946"/>
              <a:gd name="connsiteX73" fmla="*/ 0 w 504000"/>
              <a:gd name="connsiteY73" fmla="*/ 15750 h 439946"/>
              <a:gd name="connsiteX74" fmla="*/ 15750 w 504000"/>
              <a:gd name="connsiteY74" fmla="*/ 0 h 43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4000" h="439946">
                <a:moveTo>
                  <a:pt x="283952" y="393789"/>
                </a:moveTo>
                <a:lnTo>
                  <a:pt x="283903" y="424196"/>
                </a:lnTo>
                <a:lnTo>
                  <a:pt x="346903" y="424196"/>
                </a:lnTo>
                <a:lnTo>
                  <a:pt x="346952" y="393789"/>
                </a:lnTo>
                <a:close/>
                <a:moveTo>
                  <a:pt x="141749" y="346011"/>
                </a:moveTo>
                <a:lnTo>
                  <a:pt x="141750" y="378039"/>
                </a:lnTo>
                <a:lnTo>
                  <a:pt x="488250" y="378039"/>
                </a:lnTo>
                <a:lnTo>
                  <a:pt x="488250" y="346812"/>
                </a:lnTo>
                <a:close/>
                <a:moveTo>
                  <a:pt x="252008" y="165406"/>
                </a:moveTo>
                <a:lnTo>
                  <a:pt x="252008" y="259906"/>
                </a:lnTo>
                <a:lnTo>
                  <a:pt x="315008" y="259906"/>
                </a:lnTo>
                <a:lnTo>
                  <a:pt x="315008" y="165406"/>
                </a:lnTo>
                <a:close/>
                <a:moveTo>
                  <a:pt x="212629" y="126031"/>
                </a:moveTo>
                <a:lnTo>
                  <a:pt x="212629" y="220531"/>
                </a:lnTo>
                <a:lnTo>
                  <a:pt x="236258" y="220531"/>
                </a:lnTo>
                <a:lnTo>
                  <a:pt x="236258" y="149656"/>
                </a:lnTo>
                <a:lnTo>
                  <a:pt x="275633" y="149656"/>
                </a:lnTo>
                <a:lnTo>
                  <a:pt x="275633" y="126031"/>
                </a:lnTo>
                <a:close/>
                <a:moveTo>
                  <a:pt x="309071" y="110250"/>
                </a:moveTo>
                <a:lnTo>
                  <a:pt x="488250" y="110250"/>
                </a:lnTo>
                <a:cubicBezTo>
                  <a:pt x="496944" y="110260"/>
                  <a:pt x="503990" y="117306"/>
                  <a:pt x="504000" y="126000"/>
                </a:cubicBezTo>
                <a:lnTo>
                  <a:pt x="504000" y="378039"/>
                </a:lnTo>
                <a:cubicBezTo>
                  <a:pt x="503990" y="386733"/>
                  <a:pt x="496944" y="393779"/>
                  <a:pt x="488250" y="393789"/>
                </a:cubicBezTo>
                <a:lnTo>
                  <a:pt x="362702" y="393789"/>
                </a:lnTo>
                <a:lnTo>
                  <a:pt x="362653" y="424196"/>
                </a:lnTo>
                <a:lnTo>
                  <a:pt x="393681" y="424196"/>
                </a:lnTo>
                <a:lnTo>
                  <a:pt x="393681" y="439946"/>
                </a:lnTo>
                <a:lnTo>
                  <a:pt x="236184" y="439946"/>
                </a:lnTo>
                <a:lnTo>
                  <a:pt x="236184" y="424196"/>
                </a:lnTo>
                <a:lnTo>
                  <a:pt x="268153" y="424196"/>
                </a:lnTo>
                <a:lnTo>
                  <a:pt x="268202" y="393789"/>
                </a:lnTo>
                <a:lnTo>
                  <a:pt x="141750" y="393789"/>
                </a:lnTo>
                <a:cubicBezTo>
                  <a:pt x="133055" y="393780"/>
                  <a:pt x="126009" y="386733"/>
                  <a:pt x="126000" y="378039"/>
                </a:cubicBezTo>
                <a:lnTo>
                  <a:pt x="125996" y="126000"/>
                </a:lnTo>
                <a:lnTo>
                  <a:pt x="141746" y="126000"/>
                </a:lnTo>
                <a:lnTo>
                  <a:pt x="141749" y="330261"/>
                </a:lnTo>
                <a:lnTo>
                  <a:pt x="488250" y="331062"/>
                </a:lnTo>
                <a:lnTo>
                  <a:pt x="488250" y="126000"/>
                </a:lnTo>
                <a:lnTo>
                  <a:pt x="309071" y="126000"/>
                </a:lnTo>
                <a:close/>
                <a:moveTo>
                  <a:pt x="173254" y="86656"/>
                </a:moveTo>
                <a:lnTo>
                  <a:pt x="173254" y="181156"/>
                </a:lnTo>
                <a:lnTo>
                  <a:pt x="196879" y="181156"/>
                </a:lnTo>
                <a:lnTo>
                  <a:pt x="196879" y="110281"/>
                </a:lnTo>
                <a:lnTo>
                  <a:pt x="236254" y="110281"/>
                </a:lnTo>
                <a:lnTo>
                  <a:pt x="236254" y="86656"/>
                </a:lnTo>
                <a:close/>
                <a:moveTo>
                  <a:pt x="157504" y="70906"/>
                </a:moveTo>
                <a:lnTo>
                  <a:pt x="252004" y="70906"/>
                </a:lnTo>
                <a:lnTo>
                  <a:pt x="252004" y="110281"/>
                </a:lnTo>
                <a:lnTo>
                  <a:pt x="291383" y="110281"/>
                </a:lnTo>
                <a:lnTo>
                  <a:pt x="291383" y="149656"/>
                </a:lnTo>
                <a:lnTo>
                  <a:pt x="330758" y="149656"/>
                </a:lnTo>
                <a:lnTo>
                  <a:pt x="330758" y="275656"/>
                </a:lnTo>
                <a:lnTo>
                  <a:pt x="236258" y="275656"/>
                </a:lnTo>
                <a:lnTo>
                  <a:pt x="236258" y="236281"/>
                </a:lnTo>
                <a:lnTo>
                  <a:pt x="196879" y="236281"/>
                </a:lnTo>
                <a:lnTo>
                  <a:pt x="196879" y="196906"/>
                </a:lnTo>
                <a:lnTo>
                  <a:pt x="157504" y="196906"/>
                </a:lnTo>
                <a:close/>
                <a:moveTo>
                  <a:pt x="15750" y="0"/>
                </a:moveTo>
                <a:lnTo>
                  <a:pt x="362250" y="0"/>
                </a:lnTo>
                <a:cubicBezTo>
                  <a:pt x="370944" y="10"/>
                  <a:pt x="377990" y="7056"/>
                  <a:pt x="378000" y="15750"/>
                </a:cubicBezTo>
                <a:lnTo>
                  <a:pt x="378000" y="92843"/>
                </a:lnTo>
                <a:lnTo>
                  <a:pt x="362250" y="92843"/>
                </a:lnTo>
                <a:lnTo>
                  <a:pt x="362250" y="15750"/>
                </a:lnTo>
                <a:lnTo>
                  <a:pt x="15750" y="15750"/>
                </a:lnTo>
                <a:lnTo>
                  <a:pt x="15750" y="220604"/>
                </a:lnTo>
                <a:lnTo>
                  <a:pt x="110250" y="220604"/>
                </a:lnTo>
                <a:lnTo>
                  <a:pt x="110250" y="236354"/>
                </a:lnTo>
                <a:lnTo>
                  <a:pt x="15750" y="236354"/>
                </a:lnTo>
                <a:lnTo>
                  <a:pt x="15750" y="267789"/>
                </a:lnTo>
                <a:lnTo>
                  <a:pt x="110250" y="267789"/>
                </a:lnTo>
                <a:lnTo>
                  <a:pt x="110250" y="283539"/>
                </a:lnTo>
                <a:lnTo>
                  <a:pt x="15750" y="283539"/>
                </a:lnTo>
                <a:cubicBezTo>
                  <a:pt x="7055" y="283530"/>
                  <a:pt x="9" y="276483"/>
                  <a:pt x="0" y="267789"/>
                </a:cubicBezTo>
                <a:lnTo>
                  <a:pt x="0" y="15750"/>
                </a:lnTo>
                <a:cubicBezTo>
                  <a:pt x="9" y="7055"/>
                  <a:pt x="7055" y="9"/>
                  <a:pt x="15750" y="0"/>
                </a:cubicBezTo>
                <a:close/>
              </a:path>
            </a:pathLst>
          </a:custGeom>
          <a:solidFill>
            <a:srgbClr val="FFFFFF"/>
          </a:solidFill>
          <a:ln w="77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7" name="形状"/>
          <p:cNvSpPr/>
          <p:nvPr>
            <p:custDataLst>
              <p:tags r:id="rId7"/>
            </p:custDataLst>
          </p:nvPr>
        </p:nvSpPr>
        <p:spPr>
          <a:xfrm>
            <a:off x="3268519" y="174874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8" name="形状"/>
          <p:cNvSpPr/>
          <p:nvPr>
            <p:custDataLst>
              <p:tags r:id="rId8"/>
            </p:custDataLst>
          </p:nvPr>
        </p:nvSpPr>
        <p:spPr>
          <a:xfrm>
            <a:off x="4880686" y="2913812"/>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9" name="形状"/>
          <p:cNvSpPr/>
          <p:nvPr>
            <p:custDataLst>
              <p:tags r:id="rId9"/>
            </p:custDataLst>
          </p:nvPr>
        </p:nvSpPr>
        <p:spPr>
          <a:xfrm>
            <a:off x="6482048" y="174732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1204359" y="3661892"/>
            <a:ext cx="2394441" cy="923330"/>
          </a:xfrm>
          <a:prstGeom prst="rect">
            <a:avLst/>
          </a:prstGeom>
        </p:spPr>
        <p:txBody>
          <a:bodyPr wrap="square">
            <a:spAutoFit/>
          </a:bodyPr>
          <a:lstStyle/>
          <a:p>
            <a:pPr>
              <a:lnSpc>
                <a:spcPct val="150000"/>
              </a:lnSpc>
              <a:spcBef>
                <a:spcPct val="50000"/>
              </a:spcBef>
              <a:buClr>
                <a:srgbClr val="FF0000"/>
              </a:buClr>
              <a:buSzPct val="200000"/>
            </a:pPr>
            <a:r>
              <a:rPr lang="zh-CN" altLang="en-US" b="1" dirty="0">
                <a:latin typeface="Times New Roman" panose="02020603050405020304" pitchFamily="18" charset="0"/>
                <a:ea typeface="楷体_GB2312" pitchFamily="49" charset="-122"/>
              </a:rPr>
              <a:t>点位作业（</a:t>
            </a:r>
            <a:r>
              <a:rPr lang="en-US" altLang="zh-CN" b="1" dirty="0" smtClean="0">
                <a:latin typeface="Times New Roman" panose="02020603050405020304" pitchFamily="18" charset="0"/>
                <a:ea typeface="楷体_GB2312" pitchFamily="49" charset="-122"/>
              </a:rPr>
              <a:t>PTP</a:t>
            </a:r>
            <a:r>
              <a:rPr lang="zh-CN" altLang="en-US" b="1" dirty="0" smtClean="0">
                <a:latin typeface="Times New Roman" panose="02020603050405020304" pitchFamily="18" charset="0"/>
                <a:ea typeface="楷体_GB2312" pitchFamily="49" charset="-122"/>
              </a:rPr>
              <a:t>：</a:t>
            </a:r>
            <a:r>
              <a:rPr lang="en-US" altLang="zh-CN" b="1" dirty="0" smtClean="0">
                <a:latin typeface="Times New Roman" panose="02020603050405020304" pitchFamily="18" charset="0"/>
                <a:ea typeface="楷体_GB2312" pitchFamily="49" charset="-122"/>
              </a:rPr>
              <a:t>point-to-point </a:t>
            </a:r>
            <a:r>
              <a:rPr lang="en-US" altLang="zh-CN" b="1" dirty="0">
                <a:latin typeface="Times New Roman" panose="02020603050405020304" pitchFamily="18" charset="0"/>
                <a:ea typeface="楷体_GB2312" pitchFamily="49" charset="-122"/>
              </a:rPr>
              <a:t>motion</a:t>
            </a:r>
            <a:r>
              <a:rPr lang="zh-CN" altLang="en-US" b="1" dirty="0">
                <a:latin typeface="Times New Roman" panose="02020603050405020304" pitchFamily="18" charset="0"/>
                <a:ea typeface="楷体_GB2312" pitchFamily="49" charset="-122"/>
              </a:rPr>
              <a:t>）</a:t>
            </a:r>
          </a:p>
        </p:txBody>
      </p:sp>
      <p:sp>
        <p:nvSpPr>
          <p:cNvPr id="3" name="矩形 2"/>
          <p:cNvSpPr/>
          <p:nvPr/>
        </p:nvSpPr>
        <p:spPr>
          <a:xfrm>
            <a:off x="4754953" y="3745740"/>
            <a:ext cx="3417447" cy="923330"/>
          </a:xfrm>
          <a:prstGeom prst="rect">
            <a:avLst/>
          </a:prstGeom>
        </p:spPr>
        <p:txBody>
          <a:bodyPr wrap="square">
            <a:spAutoFit/>
          </a:bodyPr>
          <a:lstStyle/>
          <a:p>
            <a:r>
              <a:rPr lang="zh-CN" altLang="en-US" b="1" dirty="0">
                <a:latin typeface="Times New Roman" panose="02020603050405020304" pitchFamily="18" charset="0"/>
                <a:ea typeface="楷体_GB2312" pitchFamily="49" charset="-122"/>
              </a:rPr>
              <a:t>连续路径作业（</a:t>
            </a:r>
            <a:r>
              <a:rPr lang="en-US" altLang="zh-CN" b="1" dirty="0">
                <a:latin typeface="Times New Roman" panose="02020603050405020304" pitchFamily="18" charset="0"/>
                <a:ea typeface="楷体_GB2312" pitchFamily="49" charset="-122"/>
              </a:rPr>
              <a:t>continuous-path motion</a:t>
            </a:r>
            <a:r>
              <a:rPr lang="zh-CN" altLang="en-US" b="1" dirty="0">
                <a:latin typeface="Times New Roman" panose="02020603050405020304" pitchFamily="18" charset="0"/>
                <a:ea typeface="楷体_GB2312" pitchFamily="49" charset="-122"/>
              </a:rPr>
              <a:t>），或者称为轮廓运动（</a:t>
            </a:r>
            <a:r>
              <a:rPr lang="en-US" altLang="zh-CN" b="1" dirty="0">
                <a:latin typeface="Times New Roman" panose="02020603050405020304" pitchFamily="18" charset="0"/>
                <a:ea typeface="楷体_GB2312" pitchFamily="49" charset="-122"/>
              </a:rPr>
              <a:t>contour motion</a:t>
            </a:r>
            <a:r>
              <a:rPr lang="zh-CN" altLang="en-US" b="1" dirty="0">
                <a:latin typeface="Times New Roman" panose="02020603050405020304" pitchFamily="18" charset="0"/>
                <a:ea typeface="楷体_GB2312" pitchFamily="49" charset="-122"/>
              </a:rPr>
              <a:t>）</a:t>
            </a:r>
            <a:endParaRPr lang="zh-CN" altLang="en-US" dirty="0"/>
          </a:p>
        </p:txBody>
      </p:sp>
      <p:sp>
        <p:nvSpPr>
          <p:cNvPr id="5" name="矩形 4"/>
          <p:cNvSpPr/>
          <p:nvPr/>
        </p:nvSpPr>
        <p:spPr>
          <a:xfrm>
            <a:off x="2891298" y="1060655"/>
            <a:ext cx="2973891" cy="455253"/>
          </a:xfrm>
          <a:prstGeom prst="rect">
            <a:avLst/>
          </a:prstGeom>
        </p:spPr>
        <p:txBody>
          <a:bodyPr wrap="none">
            <a:spAutoFit/>
          </a:bodyPr>
          <a:lstStyle/>
          <a:p>
            <a:pPr>
              <a:lnSpc>
                <a:spcPct val="150000"/>
              </a:lnSpc>
              <a:spcBef>
                <a:spcPct val="50000"/>
              </a:spcBef>
            </a:pPr>
            <a:r>
              <a:rPr lang="zh-CN" altLang="en-US" b="1" dirty="0">
                <a:solidFill>
                  <a:srgbClr val="002060"/>
                </a:solidFill>
                <a:latin typeface="Times New Roman" panose="02020603050405020304" pitchFamily="18" charset="0"/>
                <a:ea typeface="楷体_GB2312" pitchFamily="49" charset="-122"/>
              </a:rPr>
              <a:t>常见的机器人作业有两种：</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轨迹规划的一般性问题</a:t>
            </a:r>
          </a:p>
        </p:txBody>
      </p:sp>
      <p:sp>
        <p:nvSpPr>
          <p:cNvPr id="4" name="矩形 3"/>
          <p:cNvSpPr/>
          <p:nvPr/>
        </p:nvSpPr>
        <p:spPr>
          <a:xfrm>
            <a:off x="1331640" y="1308120"/>
            <a:ext cx="6696744" cy="3046988"/>
          </a:xfrm>
          <a:prstGeom prst="rect">
            <a:avLst/>
          </a:prstGeom>
        </p:spPr>
        <p:txBody>
          <a:bodyPr wrap="square">
            <a:spAutoFit/>
          </a:bodyPr>
          <a:lstStyle/>
          <a:p>
            <a:r>
              <a:rPr lang="zh-CN" altLang="en-US" sz="1600" b="1" dirty="0">
                <a:solidFill>
                  <a:srgbClr val="002060"/>
                </a:solidFill>
              </a:rPr>
              <a:t>工业机械臂最常用的轨迹规划方法有两种</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第一</a:t>
            </a:r>
            <a:r>
              <a:rPr lang="zh-CN" altLang="en-US" sz="1600" dirty="0">
                <a:solidFill>
                  <a:srgbClr val="002060"/>
                </a:solidFill>
              </a:rPr>
              <a:t>种是要求对于选定的轨迹节点（插值点）上的位姿、速度和加速度给出一组显式约束（例如连续性和光滑程度等），轨迹规划器从一类函数（例如n次多项式）选取参数化轨迹，对节点进行插值，并满足约束条件</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第二</a:t>
            </a:r>
            <a:r>
              <a:rPr lang="zh-CN" altLang="en-US" sz="1600" dirty="0">
                <a:solidFill>
                  <a:srgbClr val="002060"/>
                </a:solidFill>
              </a:rPr>
              <a:t>种方法则要求给出运动路径的解析式</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endParaRPr lang="en-US" altLang="zh-CN" sz="1600" dirty="0" smtClean="0">
              <a:solidFill>
                <a:srgbClr val="002060"/>
              </a:solidFill>
            </a:endParaRPr>
          </a:p>
          <a:p>
            <a:r>
              <a:rPr lang="zh-CN" altLang="en-US" sz="1600" dirty="0" smtClean="0">
                <a:solidFill>
                  <a:srgbClr val="002060"/>
                </a:solidFill>
              </a:rPr>
              <a:t>如果</a:t>
            </a:r>
            <a:r>
              <a:rPr lang="zh-CN" altLang="en-US" sz="1600" dirty="0">
                <a:solidFill>
                  <a:srgbClr val="002060"/>
                </a:solidFill>
              </a:rPr>
              <a:t>按机器人位形的表达方式不同，又可</a:t>
            </a:r>
            <a:r>
              <a:rPr lang="zh-CN" altLang="en-US" sz="1600" dirty="0" smtClean="0">
                <a:solidFill>
                  <a:srgbClr val="002060"/>
                </a:solidFill>
              </a:rPr>
              <a:t>分为：</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笛</a:t>
            </a:r>
            <a:r>
              <a:rPr lang="zh-CN" altLang="en-US" sz="1600" dirty="0">
                <a:solidFill>
                  <a:srgbClr val="002060"/>
                </a:solidFill>
              </a:rPr>
              <a:t>卡尔空间轨迹</a:t>
            </a:r>
            <a:r>
              <a:rPr lang="zh-CN" altLang="en-US" sz="1600" dirty="0" smtClean="0">
                <a:solidFill>
                  <a:srgbClr val="002060"/>
                </a:solidFill>
              </a:rPr>
              <a:t>规划</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关节</a:t>
            </a:r>
            <a:r>
              <a:rPr lang="zh-CN" altLang="en-US" sz="1600" dirty="0">
                <a:solidFill>
                  <a:srgbClr val="002060"/>
                </a:solidFill>
              </a:rPr>
              <a:t>空间轨迹规划</a:t>
            </a:r>
            <a:r>
              <a:rPr lang="zh-CN" altLang="en-US" sz="1600" dirty="0" smtClean="0">
                <a:solidFill>
                  <a:srgbClr val="002060"/>
                </a:solidFill>
              </a:rPr>
              <a:t>。</a:t>
            </a:r>
            <a:endParaRPr lang="en-US" altLang="zh-CN" sz="1600" dirty="0" smtClean="0">
              <a:solidFill>
                <a:srgbClr val="002060"/>
              </a:solidFill>
            </a:endParaRPr>
          </a:p>
          <a:p>
            <a:r>
              <a:rPr lang="zh-CN" altLang="en-US" sz="1600" dirty="0" smtClean="0">
                <a:solidFill>
                  <a:srgbClr val="002060"/>
                </a:solidFill>
              </a:rPr>
              <a:t>无论</a:t>
            </a:r>
            <a:r>
              <a:rPr lang="zh-CN" altLang="en-US" sz="1600" dirty="0">
                <a:solidFill>
                  <a:srgbClr val="002060"/>
                </a:solidFill>
              </a:rPr>
              <a:t>哪种规划，都要求轨迹函数必须连续和平滑，使得工业机械臂的运动平稳。</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轨迹规划的一般性问题</a:t>
            </a:r>
          </a:p>
        </p:txBody>
      </p:sp>
      <p:sp>
        <p:nvSpPr>
          <p:cNvPr id="9" name="Rectangle 3"/>
          <p:cNvSpPr>
            <a:spLocks noChangeArrowheads="1"/>
          </p:cNvSpPr>
          <p:nvPr/>
        </p:nvSpPr>
        <p:spPr bwMode="auto">
          <a:xfrm>
            <a:off x="1403648" y="1052513"/>
            <a:ext cx="6624736" cy="3391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buChar char="•"/>
              <a:defRPr kumimoji="1" sz="3200">
                <a:solidFill>
                  <a:schemeClr val="tx1"/>
                </a:solidFill>
                <a:latin typeface="Arial" panose="020B0604020202020204" pitchFamily="34" charset="0"/>
              </a:defRPr>
            </a:lvl1pPr>
            <a:lvl2pPr marL="742950" indent="-285750" eaLnBrk="0" hangingPunct="0">
              <a:defRPr kumimoji="1" sz="2800">
                <a:solidFill>
                  <a:schemeClr val="tx1"/>
                </a:solidFill>
                <a:latin typeface="Arial" panose="020B0604020202020204" pitchFamily="34" charset="0"/>
              </a:defRPr>
            </a:lvl2pPr>
            <a:lvl3pPr marL="1143000" indent="-228600" eaLnBrk="0" hangingPunct="0">
              <a:buChar char="•"/>
              <a:defRPr kumimoji="1" sz="2400">
                <a:solidFill>
                  <a:schemeClr val="tx1"/>
                </a:solidFill>
                <a:latin typeface="Arial" panose="020B0604020202020204" pitchFamily="34" charset="0"/>
              </a:defRPr>
            </a:lvl3pPr>
            <a:lvl4pPr marL="1600200" indent="-228600" eaLnBrk="0" hangingPunct="0">
              <a:defRPr kumimoji="1" sz="2000">
                <a:solidFill>
                  <a:schemeClr val="tx1"/>
                </a:solidFill>
                <a:latin typeface="Arial" panose="020B0604020202020204" pitchFamily="34" charset="0"/>
              </a:defRPr>
            </a:lvl4pPr>
            <a:lvl5pPr marL="2057400" indent="-228600" eaLnBrk="0" hangingPunct="0">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a:lnSpc>
                <a:spcPct val="110000"/>
              </a:lnSpc>
              <a:buFont typeface="Wingdings" panose="05000000000000000000" pitchFamily="2" charset="2"/>
              <a:buChar char="p"/>
            </a:pPr>
            <a:r>
              <a:rPr lang="en-US" altLang="zh-CN" sz="1600" dirty="0">
                <a:solidFill>
                  <a:srgbClr val="0033CC"/>
                </a:solidFill>
                <a:latin typeface="Times New Roman" panose="02020603050405020304" pitchFamily="18" charset="0"/>
              </a:rPr>
              <a:t>Joint space</a:t>
            </a:r>
          </a:p>
          <a:p>
            <a:pPr lvl="1">
              <a:lnSpc>
                <a:spcPct val="110000"/>
              </a:lnSpc>
              <a:buFont typeface="Wingdings" panose="05000000000000000000" pitchFamily="2" charset="2"/>
              <a:buChar char="Ø"/>
            </a:pPr>
            <a:r>
              <a:rPr lang="en-US" altLang="zh-CN" sz="1600" dirty="0">
                <a:latin typeface="Times New Roman" panose="02020603050405020304" pitchFamily="18" charset="0"/>
              </a:rPr>
              <a:t>Easy to go through via points</a:t>
            </a:r>
          </a:p>
          <a:p>
            <a:pPr lvl="1">
              <a:lnSpc>
                <a:spcPct val="110000"/>
              </a:lnSpc>
              <a:buFontTx/>
              <a:buNone/>
            </a:pPr>
            <a:r>
              <a:rPr lang="en-US" altLang="zh-CN" sz="1600" dirty="0">
                <a:latin typeface="Times New Roman" panose="02020603050405020304" pitchFamily="18" charset="0"/>
              </a:rPr>
              <a:t>	(Solve inverse kinematics at all path points)</a:t>
            </a:r>
          </a:p>
          <a:p>
            <a:pPr lvl="1">
              <a:lnSpc>
                <a:spcPct val="110000"/>
              </a:lnSpc>
              <a:buFont typeface="Wingdings" panose="05000000000000000000" pitchFamily="2" charset="2"/>
              <a:buChar char="Ø"/>
            </a:pPr>
            <a:r>
              <a:rPr lang="en-US" altLang="zh-CN" sz="1600" dirty="0">
                <a:latin typeface="Times New Roman" panose="02020603050405020304" pitchFamily="18" charset="0"/>
              </a:rPr>
              <a:t>No problems with singularities</a:t>
            </a:r>
          </a:p>
          <a:p>
            <a:pPr lvl="1">
              <a:lnSpc>
                <a:spcPct val="110000"/>
              </a:lnSpc>
              <a:buFont typeface="Wingdings" panose="05000000000000000000" pitchFamily="2" charset="2"/>
              <a:buChar char="Ø"/>
            </a:pPr>
            <a:r>
              <a:rPr lang="en-US" altLang="zh-CN" sz="1600" dirty="0">
                <a:latin typeface="Times New Roman" panose="02020603050405020304" pitchFamily="18" charset="0"/>
              </a:rPr>
              <a:t>Less calculations</a:t>
            </a:r>
          </a:p>
          <a:p>
            <a:pPr lvl="1">
              <a:lnSpc>
                <a:spcPct val="110000"/>
              </a:lnSpc>
              <a:buFont typeface="Wingdings" panose="05000000000000000000" pitchFamily="2" charset="2"/>
              <a:buChar char="Ø"/>
            </a:pPr>
            <a:r>
              <a:rPr lang="en-US" altLang="zh-CN" sz="1600" dirty="0">
                <a:latin typeface="Times New Roman" panose="02020603050405020304" pitchFamily="18" charset="0"/>
              </a:rPr>
              <a:t>Can not follow straight line</a:t>
            </a:r>
          </a:p>
          <a:p>
            <a:pPr>
              <a:lnSpc>
                <a:spcPct val="110000"/>
              </a:lnSpc>
              <a:buFont typeface="Wingdings" panose="05000000000000000000" pitchFamily="2" charset="2"/>
              <a:buChar char="p"/>
            </a:pPr>
            <a:r>
              <a:rPr lang="en-US" altLang="zh-CN" sz="1600" dirty="0">
                <a:solidFill>
                  <a:srgbClr val="0033CC"/>
                </a:solidFill>
                <a:latin typeface="Times New Roman" panose="02020603050405020304" pitchFamily="18" charset="0"/>
              </a:rPr>
              <a:t>Cartesian space</a:t>
            </a:r>
          </a:p>
          <a:p>
            <a:pPr lvl="1">
              <a:buFont typeface="Wingdings" panose="05000000000000000000" pitchFamily="2" charset="2"/>
              <a:buChar char="Ø"/>
            </a:pPr>
            <a:r>
              <a:rPr lang="en-US" altLang="zh-CN" sz="1600" dirty="0">
                <a:latin typeface="Times New Roman" panose="02020603050405020304" pitchFamily="18" charset="0"/>
              </a:rPr>
              <a:t>We can track a shape</a:t>
            </a:r>
          </a:p>
          <a:p>
            <a:pPr>
              <a:buFontTx/>
              <a:buNone/>
            </a:pPr>
            <a:r>
              <a:rPr lang="en-US" altLang="zh-CN" sz="1600" dirty="0">
                <a:latin typeface="Times New Roman" panose="02020603050405020304" pitchFamily="18" charset="0"/>
              </a:rPr>
              <a:t>		(for orientation : equivalent axes, Euler angles,…)</a:t>
            </a:r>
          </a:p>
          <a:p>
            <a:pPr lvl="1">
              <a:buFont typeface="Wingdings" panose="05000000000000000000" pitchFamily="2" charset="2"/>
              <a:buChar char="Ø"/>
            </a:pPr>
            <a:r>
              <a:rPr lang="en-US" altLang="zh-CN" sz="1600" dirty="0">
                <a:latin typeface="Times New Roman" panose="02020603050405020304" pitchFamily="18" charset="0"/>
              </a:rPr>
              <a:t>More expensive at run time</a:t>
            </a:r>
          </a:p>
          <a:p>
            <a:pPr lvl="1">
              <a:buFontTx/>
              <a:buNone/>
            </a:pPr>
            <a:r>
              <a:rPr lang="en-US" altLang="zh-CN" sz="1600" dirty="0">
                <a:latin typeface="Times New Roman" panose="02020603050405020304" pitchFamily="18" charset="0"/>
              </a:rPr>
              <a:t>		(after the path is calculated need joint angles in a lot of points)</a:t>
            </a:r>
          </a:p>
          <a:p>
            <a:pPr lvl="1">
              <a:buFont typeface="Wingdings" panose="05000000000000000000" pitchFamily="2" charset="2"/>
              <a:buChar char="Ø"/>
            </a:pPr>
            <a:r>
              <a:rPr lang="en-US" altLang="zh-CN" sz="1600" dirty="0">
                <a:latin typeface="Times New Roman" panose="02020603050405020304" pitchFamily="18" charset="0"/>
              </a:rPr>
              <a:t>Discontinuity problems</a:t>
            </a:r>
            <a:endParaRPr lang="zh-CN" altLang="en-US" sz="1600" dirty="0">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2" name="矩形 1"/>
          <p:cNvSpPr/>
          <p:nvPr/>
        </p:nvSpPr>
        <p:spPr>
          <a:xfrm>
            <a:off x="2195736" y="1260061"/>
            <a:ext cx="2291012" cy="338554"/>
          </a:xfrm>
          <a:prstGeom prst="rect">
            <a:avLst/>
          </a:prstGeom>
        </p:spPr>
        <p:txBody>
          <a:bodyPr wrap="none">
            <a:spAutoFit/>
          </a:bodyPr>
          <a:lstStyle/>
          <a:p>
            <a:r>
              <a:rPr lang="zh-CN" altLang="zh-CN" sz="1600" dirty="0">
                <a:solidFill>
                  <a:srgbClr val="002060"/>
                </a:solidFill>
                <a:cs typeface="MV Boli" panose="02000500030200090000" pitchFamily="2" charset="0"/>
              </a:rPr>
              <a:t>关节空间轨迹生成函数</a:t>
            </a:r>
            <a:r>
              <a:rPr lang="en-US" altLang="zh-CN" sz="1600" dirty="0">
                <a:solidFill>
                  <a:srgbClr val="002060"/>
                </a:solidFill>
                <a:cs typeface="MV Boli" panose="02000500030200090000" pitchFamily="2" charset="0"/>
              </a:rPr>
              <a:t>:</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3" name="矩形 2"/>
              <p:cNvSpPr/>
              <p:nvPr/>
            </p:nvSpPr>
            <p:spPr>
              <a:xfrm>
                <a:off x="2699792" y="1598615"/>
                <a:ext cx="386804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𝑠</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𝑠𝑡𝑎𝑟𝑡</m:t>
                              </m:r>
                            </m:sub>
                          </m:sSub>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𝑒𝑛𝑑</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𝑠𝑡𝑎𝑟𝑡</m:t>
                                  </m:r>
                                </m:sub>
                              </m:sSub>
                            </m:e>
                          </m:d>
                          <m:r>
                            <a:rPr lang="zh-CN" altLang="en-US" sz="1600" i="0">
                              <a:latin typeface="Cambria Math" panose="02040503050406030204" pitchFamily="18" charset="0"/>
                            </a:rPr>
                            <m:t>, </m:t>
                          </m:r>
                          <m:r>
                            <a:rPr lang="zh-CN" altLang="en-US" sz="1600" i="1">
                              <a:latin typeface="Cambria Math" panose="02040503050406030204" pitchFamily="18" charset="0"/>
                            </a:rPr>
                            <m:t>𝑠</m:t>
                          </m:r>
                          <m:r>
                            <a:rPr lang="zh-CN" altLang="en-US" sz="1600" i="0">
                              <a:latin typeface="Cambria Math" panose="02040503050406030204" pitchFamily="18" charset="0"/>
                            </a:rPr>
                            <m:t>∈[0,1</m:t>
                          </m:r>
                        </m:e>
                      </m:d>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2699792" y="1598615"/>
                <a:ext cx="3868047" cy="338554"/>
              </a:xfrm>
              <a:prstGeom prst="rect">
                <a:avLst/>
              </a:prstGeom>
              <a:blipFill rotWithShape="1">
                <a:blip r:embed="rId3"/>
                <a:stretch>
                  <a:fillRect l="-11" t="-95" r="1" b="124"/>
                </a:stretch>
              </a:blipFill>
            </p:spPr>
            <p:txBody>
              <a:bodyPr/>
              <a:lstStyle/>
              <a:p>
                <a:r>
                  <a:rPr lang="zh-CN" altLang="en-US">
                    <a:noFill/>
                  </a:rPr>
                  <a:t> </a:t>
                </a:r>
              </a:p>
            </p:txBody>
          </p:sp>
        </mc:Fallback>
      </mc:AlternateContent>
      <p:sp>
        <p:nvSpPr>
          <p:cNvPr id="4" name="矩形 3"/>
          <p:cNvSpPr/>
          <p:nvPr/>
        </p:nvSpPr>
        <p:spPr>
          <a:xfrm>
            <a:off x="1934446" y="2106446"/>
            <a:ext cx="2813591" cy="338554"/>
          </a:xfrm>
          <a:prstGeom prst="rect">
            <a:avLst/>
          </a:prstGeom>
        </p:spPr>
        <p:txBody>
          <a:bodyPr wrap="none">
            <a:spAutoFit/>
          </a:bodyPr>
          <a:lstStyle/>
          <a:p>
            <a:pPr indent="266700"/>
            <a:r>
              <a:rPr lang="zh-CN" altLang="zh-CN" sz="1600" dirty="0">
                <a:solidFill>
                  <a:srgbClr val="002060"/>
                </a:solidFill>
                <a:latin typeface="宋体" panose="02010600030101010101" pitchFamily="2" charset="-122"/>
                <a:cs typeface="MV Boli" panose="02000500030200090000" pitchFamily="2" charset="0"/>
              </a:rPr>
              <a:t>笛卡尔空间轨迹生成函数</a:t>
            </a:r>
            <a:r>
              <a:rPr lang="en-US" altLang="zh-CN" sz="1600" dirty="0">
                <a:solidFill>
                  <a:srgbClr val="002060"/>
                </a:solidFill>
                <a:latin typeface="宋体" panose="02010600030101010101" pitchFamily="2" charset="-122"/>
                <a:cs typeface="MV Boli" panose="02000500030200090000" pitchFamily="2" charset="0"/>
              </a:rPr>
              <a:t>:</a:t>
            </a:r>
            <a:endParaRPr lang="zh-CN" altLang="zh-CN" sz="1600" dirty="0">
              <a:solidFill>
                <a:srgbClr val="002060"/>
              </a:solidFill>
              <a:latin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 name="矩形 4"/>
              <p:cNvSpPr/>
              <p:nvPr/>
            </p:nvSpPr>
            <p:spPr>
              <a:xfrm>
                <a:off x="2699792" y="2517918"/>
                <a:ext cx="393197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𝑋</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𝑠</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𝑠𝑡𝑎𝑟𝑡</m:t>
                              </m:r>
                            </m:sub>
                          </m:sSub>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𝑒𝑛𝑑</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𝑠𝑡𝑎𝑟𝑡</m:t>
                                  </m:r>
                                </m:sub>
                              </m:sSub>
                            </m:e>
                          </m:d>
                          <m:r>
                            <a:rPr lang="zh-CN" altLang="en-US" sz="1600" i="0">
                              <a:latin typeface="Cambria Math" panose="02040503050406030204" pitchFamily="18" charset="0"/>
                            </a:rPr>
                            <m:t>, </m:t>
                          </m:r>
                          <m:r>
                            <a:rPr lang="zh-CN" altLang="en-US" sz="1600" i="1">
                              <a:latin typeface="Cambria Math" panose="02040503050406030204" pitchFamily="18" charset="0"/>
                            </a:rPr>
                            <m:t>𝑠</m:t>
                          </m:r>
                          <m:r>
                            <a:rPr lang="zh-CN" altLang="en-US" sz="1600" i="0">
                              <a:latin typeface="Cambria Math" panose="02040503050406030204" pitchFamily="18" charset="0"/>
                            </a:rPr>
                            <m:t>∈[0,1</m:t>
                          </m:r>
                        </m:e>
                      </m:d>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2699792" y="2517918"/>
                <a:ext cx="3931974" cy="338554"/>
              </a:xfrm>
              <a:prstGeom prst="rect">
                <a:avLst/>
              </a:prstGeom>
              <a:blipFill rotWithShape="1">
                <a:blip r:embed="rId4"/>
                <a:stretch>
                  <a:fillRect l="-10" t="-42" r="12" b="71"/>
                </a:stretch>
              </a:blipFill>
            </p:spPr>
            <p:txBody>
              <a:bodyPr/>
              <a:lstStyle/>
              <a:p>
                <a:r>
                  <a:rPr lang="zh-CN" altLang="en-US">
                    <a:noFill/>
                  </a:rPr>
                  <a:t> </a:t>
                </a:r>
              </a:p>
            </p:txBody>
          </p:sp>
        </mc:Fallback>
      </mc:AlternateContent>
      <p:sp>
        <p:nvSpPr>
          <p:cNvPr id="6" name="矩形 5"/>
          <p:cNvSpPr/>
          <p:nvPr/>
        </p:nvSpPr>
        <p:spPr>
          <a:xfrm>
            <a:off x="2835816" y="3711543"/>
            <a:ext cx="3089179" cy="338554"/>
          </a:xfrm>
          <a:prstGeom prst="rect">
            <a:avLst/>
          </a:prstGeom>
        </p:spPr>
        <p:txBody>
          <a:bodyPr wrap="none">
            <a:spAutoFit/>
          </a:bodyPr>
          <a:lstStyle/>
          <a:p>
            <a:r>
              <a:rPr lang="en-US" altLang="zh-CN" sz="1600" dirty="0">
                <a:solidFill>
                  <a:srgbClr val="002060"/>
                </a:solidFill>
                <a:latin typeface="宋体" panose="02010600030101010101" pitchFamily="2" charset="-122"/>
                <a:cs typeface="MV Boli" panose="02000500030200090000" pitchFamily="2" charset="0"/>
              </a:rPr>
              <a:t>s</a:t>
            </a:r>
            <a:r>
              <a:rPr lang="zh-CN" altLang="zh-CN" sz="1600" dirty="0">
                <a:solidFill>
                  <a:srgbClr val="002060"/>
                </a:solidFill>
                <a:cs typeface="MV Boli" panose="02000500030200090000" pitchFamily="2" charset="0"/>
              </a:rPr>
              <a:t>为</a:t>
            </a:r>
            <a:r>
              <a:rPr lang="zh-CN" altLang="zh-CN" sz="1600" dirty="0" smtClean="0">
                <a:solidFill>
                  <a:srgbClr val="002060"/>
                </a:solidFill>
                <a:cs typeface="MV Boli" panose="02000500030200090000" pitchFamily="2" charset="0"/>
              </a:rPr>
              <a:t>时间尺度</a:t>
            </a:r>
            <a:r>
              <a:rPr lang="en-US" altLang="zh-CN" sz="1600" dirty="0" smtClean="0">
                <a:solidFill>
                  <a:srgbClr val="002060"/>
                </a:solidFill>
                <a:cs typeface="MV Boli" panose="02000500030200090000" pitchFamily="2" charset="0"/>
              </a:rPr>
              <a:t> time scaling function</a:t>
            </a:r>
            <a:endParaRPr lang="zh-CN" altLang="en-US" sz="16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mc:AlternateContent xmlns:mc="http://schemas.openxmlformats.org/markup-compatibility/2006" xmlns:a14="http://schemas.microsoft.com/office/drawing/2010/main">
        <mc:Choice Requires="a14">
          <p:sp>
            <p:nvSpPr>
              <p:cNvPr id="7" name="矩形 6"/>
              <p:cNvSpPr/>
              <p:nvPr/>
            </p:nvSpPr>
            <p:spPr>
              <a:xfrm>
                <a:off x="3369680" y="1260061"/>
                <a:ext cx="1655903" cy="338554"/>
              </a:xfrm>
              <a:prstGeom prst="rect">
                <a:avLst/>
              </a:prstGeom>
            </p:spPr>
            <p:txBody>
              <a:bodyPr wrap="none">
                <a:spAutoFit/>
              </a:bodyPr>
              <a:lstStyle/>
              <a:p>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𝑎</m:t>
                        </m:r>
                      </m:e>
                      <m:sub>
                        <m:r>
                          <a:rPr lang="en-US" altLang="zh-CN" sz="1600" i="1">
                            <a:latin typeface="Cambria Math" panose="02040503050406030204" pitchFamily="18" charset="0"/>
                            <a:cs typeface="MV Boli" panose="02000500030200090000" pitchFamily="2" charset="0"/>
                          </a:rPr>
                          <m:t>0</m:t>
                        </m:r>
                      </m:sub>
                    </m:sSub>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𝑎</m:t>
                        </m:r>
                      </m:e>
                      <m:sub>
                        <m:r>
                          <a:rPr lang="en-US" altLang="zh-CN" sz="1600" i="1">
                            <a:latin typeface="Cambria Math" panose="02040503050406030204" pitchFamily="18" charset="0"/>
                            <a:cs typeface="MV Boli" panose="02000500030200090000" pitchFamily="2" charset="0"/>
                          </a:rPr>
                          <m:t>1</m:t>
                        </m:r>
                      </m:sub>
                    </m:sSub>
                    <m:r>
                      <a:rPr lang="en-US" altLang="zh-CN" sz="1600" i="1">
                        <a:latin typeface="Cambria Math" panose="02040503050406030204" pitchFamily="18" charset="0"/>
                        <a:cs typeface="MV Boli" panose="02000500030200090000" pitchFamily="2" charset="0"/>
                      </a:rPr>
                      <m:t>𝑡</m:t>
                    </m:r>
                  </m:oMath>
                </a14:m>
                <a:r>
                  <a:rPr lang="en-US" altLang="zh-CN" sz="1600" dirty="0">
                    <a:latin typeface="宋体" panose="02010600030101010101" pitchFamily="2" charset="-122"/>
                    <a:cs typeface="MV Boli" panose="02000500030200090000" pitchFamily="2" charset="0"/>
                  </a:rPr>
                  <a:t> </a:t>
                </a:r>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3369680" y="1260061"/>
                <a:ext cx="1655903" cy="338554"/>
              </a:xfrm>
              <a:prstGeom prst="rect">
                <a:avLst/>
              </a:prstGeom>
              <a:blipFill rotWithShape="1">
                <a:blip r:embed="rId5"/>
                <a:stretch>
                  <a:fillRect l="-22" t="-65" r="-1446" b="95"/>
                </a:stretch>
              </a:blipFill>
            </p:spPr>
            <p:txBody>
              <a:bodyPr/>
              <a:lstStyle/>
              <a:p>
                <a:r>
                  <a:rPr lang="zh-CN" altLang="en-US">
                    <a:noFill/>
                  </a:rPr>
                  <a:t> </a:t>
                </a:r>
              </a:p>
            </p:txBody>
          </p:sp>
        </mc:Fallback>
      </mc:AlternateContent>
      <p:sp>
        <p:nvSpPr>
          <p:cNvPr id="8" name="矩形 7"/>
          <p:cNvSpPr/>
          <p:nvPr/>
        </p:nvSpPr>
        <p:spPr>
          <a:xfrm>
            <a:off x="6103660" y="485894"/>
            <a:ext cx="1005403" cy="338554"/>
          </a:xfrm>
          <a:prstGeom prst="rect">
            <a:avLst/>
          </a:prstGeom>
        </p:spPr>
        <p:txBody>
          <a:bodyPr wrap="none">
            <a:spAutoFit/>
          </a:bodyPr>
          <a:lstStyle/>
          <a:p>
            <a:r>
              <a:rPr lang="zh-CN" altLang="zh-CN" sz="1600">
                <a:solidFill>
                  <a:srgbClr val="FF0000"/>
                </a:solidFill>
                <a:cs typeface="MV Boli" panose="02000500030200090000" pitchFamily="2" charset="0"/>
              </a:rPr>
              <a:t>线性插值</a:t>
            </a:r>
            <a:endParaRPr lang="zh-CN" altLang="en-US" sz="1600">
              <a:solidFill>
                <a:srgbClr val="FF0000"/>
              </a:solidFill>
            </a:endParaRPr>
          </a:p>
        </p:txBody>
      </p:sp>
      <p:sp>
        <p:nvSpPr>
          <p:cNvPr id="15" name="形状"/>
          <p:cNvSpPr/>
          <p:nvPr>
            <p:custDataLst>
              <p:tags r:id="rId2"/>
            </p:custDataLst>
          </p:nvPr>
        </p:nvSpPr>
        <p:spPr>
          <a:xfrm>
            <a:off x="7098372" y="48589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9" name="矩形 8"/>
              <p:cNvSpPr/>
              <p:nvPr/>
            </p:nvSpPr>
            <p:spPr>
              <a:xfrm>
                <a:off x="2290431" y="1842943"/>
                <a:ext cx="3648948" cy="338554"/>
              </a:xfrm>
              <a:prstGeom prst="rect">
                <a:avLst/>
              </a:prstGeom>
            </p:spPr>
            <p:txBody>
              <a:bodyPr wrap="none">
                <a:spAutoFit/>
              </a:bodyPr>
              <a:lstStyle/>
              <a:p>
                <a:r>
                  <a:rPr lang="zh-CN" altLang="zh-CN" sz="1600" dirty="0" smtClean="0">
                    <a:solidFill>
                      <a:srgbClr val="002060"/>
                    </a:solidFill>
                    <a:cs typeface="MV Boli" panose="02000500030200090000" pitchFamily="2" charset="0"/>
                  </a:rPr>
                  <a:t>起始与终止位置约束</a:t>
                </a:r>
                <a14:m>
                  <m:oMath xmlns:m="http://schemas.openxmlformats.org/officeDocument/2006/math">
                    <m:r>
                      <a:rPr lang="en-US" altLang="zh-CN" sz="1600" i="1">
                        <a:solidFill>
                          <a:srgbClr val="002060"/>
                        </a:solidFill>
                        <a:latin typeface="Cambria Math" panose="02040503050406030204" pitchFamily="18" charset="0"/>
                        <a:cs typeface="MV Boli" panose="02000500030200090000" pitchFamily="2" charset="0"/>
                      </a:rPr>
                      <m:t>𝑠</m:t>
                    </m:r>
                    <m:d>
                      <m:d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0</m:t>
                        </m:r>
                      </m:e>
                    </m:d>
                    <m:r>
                      <a:rPr lang="en-US" altLang="zh-CN" sz="1600" i="1">
                        <a:solidFill>
                          <a:srgbClr val="002060"/>
                        </a:solidFill>
                        <a:latin typeface="Cambria Math" panose="02040503050406030204" pitchFamily="18" charset="0"/>
                        <a:cs typeface="MV Boli" panose="02000500030200090000" pitchFamily="2" charset="0"/>
                      </a:rPr>
                      <m:t>=0,</m:t>
                    </m:r>
                    <m:r>
                      <a:rPr lang="en-US" altLang="zh-CN" sz="1600" i="1">
                        <a:solidFill>
                          <a:srgbClr val="002060"/>
                        </a:solidFill>
                        <a:latin typeface="Cambria Math" panose="02040503050406030204" pitchFamily="18" charset="0"/>
                        <a:cs typeface="MV Boli" panose="02000500030200090000" pitchFamily="2" charset="0"/>
                      </a:rPr>
                      <m:t>𝑠</m:t>
                    </m:r>
                    <m:d>
                      <m:d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𝑇</m:t>
                        </m:r>
                      </m:e>
                    </m:d>
                    <m:r>
                      <a:rPr lang="en-US" altLang="zh-CN" sz="1600" i="1">
                        <a:solidFill>
                          <a:srgbClr val="002060"/>
                        </a:solidFill>
                        <a:latin typeface="Cambria Math" panose="02040503050406030204" pitchFamily="18" charset="0"/>
                        <a:cs typeface="MV Boli" panose="02000500030200090000" pitchFamily="2" charset="0"/>
                      </a:rPr>
                      <m:t>=1</m:t>
                    </m:r>
                  </m:oMath>
                </a14:m>
                <a:endParaRPr lang="zh-CN" altLang="en-US" sz="1600" dirty="0">
                  <a:solidFill>
                    <a:srgbClr val="00206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2290431" y="1842943"/>
                <a:ext cx="3648948" cy="338554"/>
              </a:xfrm>
              <a:prstGeom prst="rect">
                <a:avLst/>
              </a:prstGeom>
              <a:blipFill rotWithShape="1">
                <a:blip r:embed="rId6"/>
                <a:stretch>
                  <a:fillRect l="-17" t="-51" r="6" b="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542067" y="2318423"/>
                <a:ext cx="1495986" cy="553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2060"/>
                              </a:solidFill>
                              <a:latin typeface="Cambria Math" panose="02040503050406030204" pitchFamily="18" charset="0"/>
                            </a:rPr>
                          </m:ctrlPr>
                        </m:sSubPr>
                        <m:e>
                          <m:r>
                            <a:rPr lang="zh-CN" altLang="en-US" sz="1600" i="1">
                              <a:solidFill>
                                <a:srgbClr val="002060"/>
                              </a:solidFill>
                              <a:latin typeface="Cambria Math" panose="02040503050406030204" pitchFamily="18" charset="0"/>
                            </a:rPr>
                            <m:t>𝑎</m:t>
                          </m:r>
                        </m:e>
                        <m:sub>
                          <m:r>
                            <a:rPr lang="zh-CN" altLang="en-US" sz="1600" i="0">
                              <a:solidFill>
                                <a:srgbClr val="002060"/>
                              </a:solidFill>
                              <a:latin typeface="Cambria Math" panose="02040503050406030204" pitchFamily="18" charset="0"/>
                            </a:rPr>
                            <m:t>0</m:t>
                          </m:r>
                        </m:sub>
                      </m:sSub>
                      <m:r>
                        <a:rPr lang="zh-CN" altLang="en-US" sz="1600" i="0">
                          <a:solidFill>
                            <a:srgbClr val="002060"/>
                          </a:solidFill>
                          <a:latin typeface="Cambria Math" panose="02040503050406030204" pitchFamily="18" charset="0"/>
                        </a:rPr>
                        <m:t>=0, </m:t>
                      </m:r>
                      <m:sSub>
                        <m:sSubPr>
                          <m:ctrlPr>
                            <a:rPr lang="zh-CN" altLang="en-US" sz="1600" i="1">
                              <a:solidFill>
                                <a:srgbClr val="002060"/>
                              </a:solidFill>
                              <a:latin typeface="Cambria Math" panose="02040503050406030204" pitchFamily="18" charset="0"/>
                            </a:rPr>
                          </m:ctrlPr>
                        </m:sSubPr>
                        <m:e>
                          <m:r>
                            <a:rPr lang="zh-CN" altLang="en-US" sz="1600" i="1">
                              <a:solidFill>
                                <a:srgbClr val="002060"/>
                              </a:solidFill>
                              <a:latin typeface="Cambria Math" panose="02040503050406030204" pitchFamily="18" charset="0"/>
                            </a:rPr>
                            <m:t>𝑎</m:t>
                          </m:r>
                        </m:e>
                        <m:sub>
                          <m:r>
                            <a:rPr lang="zh-CN" altLang="en-US" sz="1600" i="0">
                              <a:solidFill>
                                <a:srgbClr val="002060"/>
                              </a:solidFill>
                              <a:latin typeface="Cambria Math" panose="02040503050406030204" pitchFamily="18" charset="0"/>
                            </a:rPr>
                            <m:t>1</m:t>
                          </m:r>
                        </m:sub>
                      </m:sSub>
                      <m:r>
                        <a:rPr lang="zh-CN" altLang="en-US" sz="1600" i="0">
                          <a:solidFill>
                            <a:srgbClr val="002060"/>
                          </a:solidFill>
                          <a:latin typeface="Cambria Math" panose="02040503050406030204" pitchFamily="18" charset="0"/>
                        </a:rPr>
                        <m:t>=</m:t>
                      </m:r>
                      <m:f>
                        <m:fPr>
                          <m:ctrlPr>
                            <a:rPr lang="zh-CN" altLang="en-US" sz="1600" i="1">
                              <a:solidFill>
                                <a:srgbClr val="002060"/>
                              </a:solidFill>
                              <a:latin typeface="Cambria Math" panose="02040503050406030204" pitchFamily="18" charset="0"/>
                            </a:rPr>
                          </m:ctrlPr>
                        </m:fPr>
                        <m:num>
                          <m:r>
                            <a:rPr lang="zh-CN" altLang="en-US" sz="1600" i="0">
                              <a:solidFill>
                                <a:srgbClr val="002060"/>
                              </a:solidFill>
                              <a:latin typeface="Cambria Math" panose="02040503050406030204" pitchFamily="18" charset="0"/>
                            </a:rPr>
                            <m:t>1</m:t>
                          </m:r>
                        </m:num>
                        <m:den>
                          <m:r>
                            <a:rPr lang="zh-CN" altLang="en-US" sz="1600" i="1">
                              <a:solidFill>
                                <a:srgbClr val="002060"/>
                              </a:solidFill>
                              <a:latin typeface="Cambria Math" panose="02040503050406030204" pitchFamily="18" charset="0"/>
                            </a:rPr>
                            <m:t>𝑇</m:t>
                          </m:r>
                        </m:den>
                      </m:f>
                    </m:oMath>
                  </m:oMathPara>
                </a14:m>
                <a:endParaRPr lang="zh-CN" altLang="en-US" sz="1600"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3542067" y="2318423"/>
                <a:ext cx="1495986" cy="553357"/>
              </a:xfrm>
              <a:prstGeom prst="rect">
                <a:avLst/>
              </a:prstGeom>
              <a:blipFill rotWithShape="1">
                <a:blip r:embed="rId7"/>
                <a:stretch>
                  <a:fillRect l="-2" t="-7" r="40"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20320" y="3164710"/>
                <a:ext cx="4572000" cy="1254254"/>
              </a:xfrm>
              <a:prstGeom prst="rect">
                <a:avLst/>
              </a:prstGeom>
            </p:spPr>
            <p:txBody>
              <a:bodyPr>
                <a:spAutoFit/>
              </a:bodyPr>
              <a:lstStyle/>
              <a:p>
                <a:pPr indent="266700"/>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MV Boli" panose="02000500030200090000" pitchFamily="2" charset="0"/>
                        </a:rPr>
                        <m:t>𝜃</m:t>
                      </m:r>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𝑠𝑡𝑎𝑟𝑡</m:t>
                          </m:r>
                        </m:sub>
                      </m:sSub>
                      <m:r>
                        <a:rPr lang="en-US" altLang="zh-CN" sz="1600" i="1">
                          <a:latin typeface="Cambria Math" panose="02040503050406030204" pitchFamily="18" charset="0"/>
                          <a:cs typeface="MV Boli" panose="02000500030200090000" pitchFamily="2" charset="0"/>
                        </a:rPr>
                        <m:t>+</m:t>
                      </m:r>
                      <m:f>
                        <m:f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𝑒𝑛𝑑</m:t>
                              </m:r>
                            </m:sub>
                          </m:sSub>
                          <m:r>
                            <a:rPr lang="en-US" altLang="zh-CN" sz="1600" i="1">
                              <a:latin typeface="Cambria Math" panose="02040503050406030204" pitchFamily="18" charset="0"/>
                              <a:cs typeface="MV Boli" panose="02000500030200090000" pitchFamily="2" charset="0"/>
                            </a:rPr>
                            <m:t>−</m:t>
                          </m:r>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𝑠𝑡𝑎𝑟𝑡</m:t>
                              </m:r>
                            </m:sub>
                          </m:sSub>
                        </m:e>
                      </m:d>
                    </m:oMath>
                  </m:oMathPara>
                </a14:m>
                <a:endParaRPr lang="zh-CN" altLang="zh-CN" sz="16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acc>
                        <m:accPr>
                          <m: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𝜃</m:t>
                          </m:r>
                        </m:e>
                      </m:acc>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f>
                        <m:f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1</m:t>
                          </m:r>
                        </m:num>
                        <m:den>
                          <m:r>
                            <a:rPr lang="en-US" altLang="zh-CN" sz="1600" i="1">
                              <a:latin typeface="Cambria Math" panose="02040503050406030204" pitchFamily="18" charset="0"/>
                              <a:cs typeface="MV Boli" panose="02000500030200090000" pitchFamily="2" charset="0"/>
                            </a:rPr>
                            <m:t>𝑇</m:t>
                          </m:r>
                        </m:den>
                      </m:f>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𝑒𝑛𝑑</m:t>
                              </m:r>
                            </m:sub>
                          </m:sSub>
                          <m:r>
                            <a:rPr lang="en-US" altLang="zh-CN" sz="1600" i="1">
                              <a:latin typeface="Cambria Math" panose="02040503050406030204" pitchFamily="18" charset="0"/>
                              <a:cs typeface="MV Boli" panose="02000500030200090000" pitchFamily="2" charset="0"/>
                            </a:rPr>
                            <m:t>−</m:t>
                          </m:r>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𝑠𝑡𝑎𝑟𝑡</m:t>
                              </m:r>
                            </m:sub>
                          </m:sSub>
                        </m:e>
                      </m:d>
                    </m:oMath>
                  </m:oMathPara>
                </a14:m>
                <a:endParaRPr lang="zh-CN" altLang="zh-CN" sz="16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acc>
                        <m:accPr>
                          <m: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𝜃</m:t>
                          </m:r>
                        </m:e>
                      </m:acc>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=0</m:t>
                      </m:r>
                    </m:oMath>
                  </m:oMathPara>
                </a14:m>
                <a:endParaRPr lang="zh-CN" altLang="zh-CN" sz="1600" dirty="0">
                  <a:latin typeface="宋体" panose="02010600030101010101" pitchFamily="2" charset="-122"/>
                  <a:cs typeface="宋体" panose="02010600030101010101" pitchFamily="2"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220320" y="3164710"/>
                <a:ext cx="4572000" cy="1254254"/>
              </a:xfrm>
              <a:prstGeom prst="rect">
                <a:avLst/>
              </a:prstGeom>
              <a:blipFill rotWithShape="1">
                <a:blip r:embed="rId8"/>
                <a:stretch>
                  <a:fillRect l="13" t="-40" r="1" b="51"/>
                </a:stretch>
              </a:blipFill>
            </p:spPr>
            <p:txBody>
              <a:bodyPr/>
              <a:lstStyle/>
              <a:p>
                <a:r>
                  <a:rPr lang="zh-CN" altLang="en-US">
                    <a:noFill/>
                  </a:rPr>
                  <a:t> </a:t>
                </a:r>
              </a:p>
            </p:txBody>
          </p:sp>
        </mc:Fallback>
      </mc:AlternateContent>
      <p:graphicFrame>
        <p:nvGraphicFramePr>
          <p:cNvPr id="13" name="对象 12"/>
          <p:cNvGraphicFramePr>
            <a:graphicFrameLocks noChangeAspect="1"/>
          </p:cNvGraphicFramePr>
          <p:nvPr/>
        </p:nvGraphicFramePr>
        <p:xfrm>
          <a:off x="3545164" y="3274565"/>
          <a:ext cx="5267325" cy="1495425"/>
        </p:xfrm>
        <a:graphic>
          <a:graphicData uri="http://schemas.openxmlformats.org/presentationml/2006/ole">
            <mc:AlternateContent xmlns:mc="http://schemas.openxmlformats.org/markup-compatibility/2006">
              <mc:Choice xmlns:v="urn:schemas-microsoft-com:vml" Requires="v">
                <p:oleObj spid="_x0000_s3139" name="Visio" r:id="rId9" imgW="5579110" imgH="1593215" progId="Visio.Drawing.15">
                  <p:embed/>
                </p:oleObj>
              </mc:Choice>
              <mc:Fallback>
                <p:oleObj name="Visio" r:id="rId9" imgW="5579110" imgH="1593215" progId="Visio.Drawing.15">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5164" y="3274565"/>
                        <a:ext cx="5267325" cy="149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mc:AlternateContent xmlns:mc="http://schemas.openxmlformats.org/markup-compatibility/2006" xmlns:a14="http://schemas.microsoft.com/office/drawing/2010/main">
        <mc:Choice Requires="a14">
          <p:sp>
            <p:nvSpPr>
              <p:cNvPr id="7" name="矩形 6"/>
              <p:cNvSpPr/>
              <p:nvPr/>
            </p:nvSpPr>
            <p:spPr>
              <a:xfrm>
                <a:off x="5530693" y="1260061"/>
                <a:ext cx="1655903" cy="338554"/>
              </a:xfrm>
              <a:prstGeom prst="rect">
                <a:avLst/>
              </a:prstGeom>
            </p:spPr>
            <p:txBody>
              <a:bodyPr wrap="none">
                <a:spAutoFit/>
              </a:bodyPr>
              <a:lstStyle/>
              <a:p>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𝑎</m:t>
                        </m:r>
                      </m:e>
                      <m:sub>
                        <m:r>
                          <a:rPr lang="en-US" altLang="zh-CN" sz="1600" i="1">
                            <a:latin typeface="Cambria Math" panose="02040503050406030204" pitchFamily="18" charset="0"/>
                            <a:cs typeface="MV Boli" panose="02000500030200090000" pitchFamily="2" charset="0"/>
                          </a:rPr>
                          <m:t>0</m:t>
                        </m:r>
                      </m:sub>
                    </m:sSub>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𝑎</m:t>
                        </m:r>
                      </m:e>
                      <m:sub>
                        <m:r>
                          <a:rPr lang="en-US" altLang="zh-CN" sz="1600" i="1">
                            <a:latin typeface="Cambria Math" panose="02040503050406030204" pitchFamily="18" charset="0"/>
                            <a:cs typeface="MV Boli" panose="02000500030200090000" pitchFamily="2" charset="0"/>
                          </a:rPr>
                          <m:t>1</m:t>
                        </m:r>
                      </m:sub>
                    </m:sSub>
                    <m:r>
                      <a:rPr lang="en-US" altLang="zh-CN" sz="1600" i="1">
                        <a:latin typeface="Cambria Math" panose="02040503050406030204" pitchFamily="18" charset="0"/>
                        <a:cs typeface="MV Boli" panose="02000500030200090000" pitchFamily="2" charset="0"/>
                      </a:rPr>
                      <m:t>𝑡</m:t>
                    </m:r>
                  </m:oMath>
                </a14:m>
                <a:r>
                  <a:rPr lang="en-US" altLang="zh-CN" sz="1600" dirty="0">
                    <a:latin typeface="宋体" panose="02010600030101010101" pitchFamily="2" charset="-122"/>
                    <a:cs typeface="MV Boli" panose="02000500030200090000" pitchFamily="2" charset="0"/>
                  </a:rPr>
                  <a:t> </a:t>
                </a:r>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5530693" y="1260061"/>
                <a:ext cx="1655903" cy="338554"/>
              </a:xfrm>
              <a:prstGeom prst="rect">
                <a:avLst/>
              </a:prstGeom>
              <a:blipFill rotWithShape="1">
                <a:blip r:embed="rId4"/>
                <a:stretch>
                  <a:fillRect l="-29" t="-65" r="-1439" b="95"/>
                </a:stretch>
              </a:blipFill>
            </p:spPr>
            <p:txBody>
              <a:bodyPr/>
              <a:lstStyle/>
              <a:p>
                <a:r>
                  <a:rPr lang="zh-CN" altLang="en-US">
                    <a:noFill/>
                  </a:rPr>
                  <a:t> </a:t>
                </a:r>
              </a:p>
            </p:txBody>
          </p:sp>
        </mc:Fallback>
      </mc:AlternateContent>
      <p:sp>
        <p:nvSpPr>
          <p:cNvPr id="8" name="矩形 7"/>
          <p:cNvSpPr/>
          <p:nvPr/>
        </p:nvSpPr>
        <p:spPr>
          <a:xfrm>
            <a:off x="6103660" y="485894"/>
            <a:ext cx="1005403" cy="338554"/>
          </a:xfrm>
          <a:prstGeom prst="rect">
            <a:avLst/>
          </a:prstGeom>
        </p:spPr>
        <p:txBody>
          <a:bodyPr wrap="none">
            <a:spAutoFit/>
          </a:bodyPr>
          <a:lstStyle/>
          <a:p>
            <a:r>
              <a:rPr lang="zh-CN" altLang="zh-CN" sz="1600" dirty="0">
                <a:solidFill>
                  <a:srgbClr val="FF0000"/>
                </a:solidFill>
                <a:cs typeface="MV Boli" panose="02000500030200090000" pitchFamily="2" charset="0"/>
              </a:rPr>
              <a:t>线性插值</a:t>
            </a:r>
            <a:endParaRPr lang="zh-CN" altLang="en-US" sz="1600" dirty="0">
              <a:solidFill>
                <a:srgbClr val="FF0000"/>
              </a:solidFill>
            </a:endParaRPr>
          </a:p>
        </p:txBody>
      </p:sp>
      <p:sp>
        <p:nvSpPr>
          <p:cNvPr id="15" name="形状"/>
          <p:cNvSpPr/>
          <p:nvPr>
            <p:custDataLst>
              <p:tags r:id="rId1"/>
            </p:custDataLst>
          </p:nvPr>
        </p:nvSpPr>
        <p:spPr>
          <a:xfrm>
            <a:off x="7098372" y="48589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9" name="矩形 8"/>
              <p:cNvSpPr/>
              <p:nvPr/>
            </p:nvSpPr>
            <p:spPr>
              <a:xfrm>
                <a:off x="5029350" y="1841564"/>
                <a:ext cx="2781724" cy="276999"/>
              </a:xfrm>
              <a:prstGeom prst="rect">
                <a:avLst/>
              </a:prstGeom>
            </p:spPr>
            <p:txBody>
              <a:bodyPr wrap="none">
                <a:spAutoFit/>
              </a:bodyPr>
              <a:lstStyle/>
              <a:p>
                <a:r>
                  <a:rPr lang="zh-CN" altLang="zh-CN" sz="1200" dirty="0" smtClean="0">
                    <a:solidFill>
                      <a:srgbClr val="002060"/>
                    </a:solidFill>
                    <a:cs typeface="MV Boli" panose="02000500030200090000" pitchFamily="2" charset="0"/>
                  </a:rPr>
                  <a:t>起始与终止位置约束</a:t>
                </a:r>
                <a14:m>
                  <m:oMath xmlns:m="http://schemas.openxmlformats.org/officeDocument/2006/math">
                    <m:r>
                      <a:rPr lang="en-US" altLang="zh-CN" sz="1200" i="1">
                        <a:solidFill>
                          <a:srgbClr val="002060"/>
                        </a:solidFill>
                        <a:latin typeface="Cambria Math" panose="02040503050406030204" pitchFamily="18" charset="0"/>
                        <a:cs typeface="MV Boli" panose="02000500030200090000" pitchFamily="2" charset="0"/>
                      </a:rPr>
                      <m:t>𝑠</m:t>
                    </m:r>
                    <m:d>
                      <m:dPr>
                        <m:ctrlPr>
                          <a:rPr lang="zh-CN" altLang="zh-CN" sz="12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solidFill>
                              <a:srgbClr val="002060"/>
                            </a:solidFill>
                            <a:latin typeface="Cambria Math" panose="02040503050406030204" pitchFamily="18" charset="0"/>
                            <a:cs typeface="MV Boli" panose="02000500030200090000" pitchFamily="2" charset="0"/>
                          </a:rPr>
                          <m:t>0</m:t>
                        </m:r>
                      </m:e>
                    </m:d>
                    <m:r>
                      <a:rPr lang="en-US" altLang="zh-CN" sz="1200" i="1">
                        <a:solidFill>
                          <a:srgbClr val="002060"/>
                        </a:solidFill>
                        <a:latin typeface="Cambria Math" panose="02040503050406030204" pitchFamily="18" charset="0"/>
                        <a:cs typeface="MV Boli" panose="02000500030200090000" pitchFamily="2" charset="0"/>
                      </a:rPr>
                      <m:t>=0,</m:t>
                    </m:r>
                    <m:r>
                      <a:rPr lang="en-US" altLang="zh-CN" sz="1200" i="1">
                        <a:solidFill>
                          <a:srgbClr val="002060"/>
                        </a:solidFill>
                        <a:latin typeface="Cambria Math" panose="02040503050406030204" pitchFamily="18" charset="0"/>
                        <a:cs typeface="MV Boli" panose="02000500030200090000" pitchFamily="2" charset="0"/>
                      </a:rPr>
                      <m:t>𝑠</m:t>
                    </m:r>
                    <m:d>
                      <m:dPr>
                        <m:ctrlPr>
                          <a:rPr lang="zh-CN" altLang="zh-CN" sz="12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solidFill>
                              <a:srgbClr val="002060"/>
                            </a:solidFill>
                            <a:latin typeface="Cambria Math" panose="02040503050406030204" pitchFamily="18" charset="0"/>
                            <a:cs typeface="MV Boli" panose="02000500030200090000" pitchFamily="2" charset="0"/>
                          </a:rPr>
                          <m:t>𝑇</m:t>
                        </m:r>
                      </m:e>
                    </m:d>
                    <m:r>
                      <a:rPr lang="en-US" altLang="zh-CN" sz="1200" i="1">
                        <a:solidFill>
                          <a:srgbClr val="002060"/>
                        </a:solidFill>
                        <a:latin typeface="Cambria Math" panose="02040503050406030204" pitchFamily="18" charset="0"/>
                        <a:cs typeface="MV Boli" panose="02000500030200090000" pitchFamily="2" charset="0"/>
                      </a:rPr>
                      <m:t>=1</m:t>
                    </m:r>
                  </m:oMath>
                </a14:m>
                <a:endParaRPr lang="zh-CN" altLang="en-US" sz="1200" dirty="0">
                  <a:solidFill>
                    <a:srgbClr val="00206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5029350" y="1841564"/>
                <a:ext cx="2781724" cy="276999"/>
              </a:xfrm>
              <a:prstGeom prst="rect">
                <a:avLst/>
              </a:prstGeom>
              <a:blipFill rotWithShape="1">
                <a:blip r:embed="rId5"/>
                <a:stretch>
                  <a:fillRect l="-5" t="-23" r="21" b="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703080" y="2318423"/>
                <a:ext cx="1495986" cy="553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2060"/>
                              </a:solidFill>
                              <a:latin typeface="Cambria Math" panose="02040503050406030204" pitchFamily="18" charset="0"/>
                            </a:rPr>
                          </m:ctrlPr>
                        </m:sSubPr>
                        <m:e>
                          <m:r>
                            <a:rPr lang="zh-CN" altLang="en-US" sz="1600" i="1">
                              <a:solidFill>
                                <a:srgbClr val="002060"/>
                              </a:solidFill>
                              <a:latin typeface="Cambria Math" panose="02040503050406030204" pitchFamily="18" charset="0"/>
                            </a:rPr>
                            <m:t>𝑎</m:t>
                          </m:r>
                        </m:e>
                        <m:sub>
                          <m:r>
                            <a:rPr lang="zh-CN" altLang="en-US" sz="1600" i="0">
                              <a:solidFill>
                                <a:srgbClr val="002060"/>
                              </a:solidFill>
                              <a:latin typeface="Cambria Math" panose="02040503050406030204" pitchFamily="18" charset="0"/>
                            </a:rPr>
                            <m:t>0</m:t>
                          </m:r>
                        </m:sub>
                      </m:sSub>
                      <m:r>
                        <a:rPr lang="zh-CN" altLang="en-US" sz="1600" i="0">
                          <a:solidFill>
                            <a:srgbClr val="002060"/>
                          </a:solidFill>
                          <a:latin typeface="Cambria Math" panose="02040503050406030204" pitchFamily="18" charset="0"/>
                        </a:rPr>
                        <m:t>=0, </m:t>
                      </m:r>
                      <m:sSub>
                        <m:sSubPr>
                          <m:ctrlPr>
                            <a:rPr lang="zh-CN" altLang="en-US" sz="1600" i="1">
                              <a:solidFill>
                                <a:srgbClr val="002060"/>
                              </a:solidFill>
                              <a:latin typeface="Cambria Math" panose="02040503050406030204" pitchFamily="18" charset="0"/>
                            </a:rPr>
                          </m:ctrlPr>
                        </m:sSubPr>
                        <m:e>
                          <m:r>
                            <a:rPr lang="zh-CN" altLang="en-US" sz="1600" i="1">
                              <a:solidFill>
                                <a:srgbClr val="002060"/>
                              </a:solidFill>
                              <a:latin typeface="Cambria Math" panose="02040503050406030204" pitchFamily="18" charset="0"/>
                            </a:rPr>
                            <m:t>𝑎</m:t>
                          </m:r>
                        </m:e>
                        <m:sub>
                          <m:r>
                            <a:rPr lang="zh-CN" altLang="en-US" sz="1600" i="0">
                              <a:solidFill>
                                <a:srgbClr val="002060"/>
                              </a:solidFill>
                              <a:latin typeface="Cambria Math" panose="02040503050406030204" pitchFamily="18" charset="0"/>
                            </a:rPr>
                            <m:t>1</m:t>
                          </m:r>
                        </m:sub>
                      </m:sSub>
                      <m:r>
                        <a:rPr lang="zh-CN" altLang="en-US" sz="1600" i="0">
                          <a:solidFill>
                            <a:srgbClr val="002060"/>
                          </a:solidFill>
                          <a:latin typeface="Cambria Math" panose="02040503050406030204" pitchFamily="18" charset="0"/>
                        </a:rPr>
                        <m:t>=</m:t>
                      </m:r>
                      <m:f>
                        <m:fPr>
                          <m:ctrlPr>
                            <a:rPr lang="zh-CN" altLang="en-US" sz="1600" i="1">
                              <a:solidFill>
                                <a:srgbClr val="002060"/>
                              </a:solidFill>
                              <a:latin typeface="Cambria Math" panose="02040503050406030204" pitchFamily="18" charset="0"/>
                            </a:rPr>
                          </m:ctrlPr>
                        </m:fPr>
                        <m:num>
                          <m:r>
                            <a:rPr lang="zh-CN" altLang="en-US" sz="1600" i="0">
                              <a:solidFill>
                                <a:srgbClr val="002060"/>
                              </a:solidFill>
                              <a:latin typeface="Cambria Math" panose="02040503050406030204" pitchFamily="18" charset="0"/>
                            </a:rPr>
                            <m:t>1</m:t>
                          </m:r>
                        </m:num>
                        <m:den>
                          <m:r>
                            <a:rPr lang="zh-CN" altLang="en-US" sz="1600" i="1">
                              <a:solidFill>
                                <a:srgbClr val="002060"/>
                              </a:solidFill>
                              <a:latin typeface="Cambria Math" panose="02040503050406030204" pitchFamily="18" charset="0"/>
                            </a:rPr>
                            <m:t>𝑇</m:t>
                          </m:r>
                        </m:den>
                      </m:f>
                    </m:oMath>
                  </m:oMathPara>
                </a14:m>
                <a:endParaRPr lang="zh-CN" altLang="en-US" sz="1600"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5703080" y="2318423"/>
                <a:ext cx="1495986" cy="553357"/>
              </a:xfrm>
              <a:prstGeom prst="rect">
                <a:avLst/>
              </a:prstGeom>
              <a:blipFill rotWithShape="1">
                <a:blip r:embed="rId6"/>
                <a:stretch>
                  <a:fillRect l="-10" t="-7" r="5"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11478" y="3487926"/>
                <a:ext cx="3312368" cy="1273554"/>
              </a:xfrm>
              <a:prstGeom prst="rect">
                <a:avLst/>
              </a:prstGeom>
            </p:spPr>
            <p:txBody>
              <a:bodyPr wrap="square">
                <a:spAutoFit/>
              </a:bodyPr>
              <a:lstStyle/>
              <a:p>
                <a:pPr indent="266700"/>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cs typeface="MV Boli" panose="02000500030200090000" pitchFamily="2" charset="0"/>
                        </a:rPr>
                        <m:t>𝜃</m:t>
                      </m:r>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𝑠𝑡𝑎𝑟𝑡</m:t>
                          </m:r>
                        </m:sub>
                      </m:sSub>
                      <m:r>
                        <a:rPr lang="en-US" altLang="zh-CN" sz="1600" i="1">
                          <a:latin typeface="Cambria Math" panose="02040503050406030204" pitchFamily="18" charset="0"/>
                          <a:cs typeface="MV Boli" panose="02000500030200090000" pitchFamily="2" charset="0"/>
                        </a:rPr>
                        <m:t>+</m:t>
                      </m:r>
                      <m:f>
                        <m:f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𝑒𝑛𝑑</m:t>
                              </m:r>
                            </m:sub>
                          </m:sSub>
                          <m:r>
                            <a:rPr lang="en-US" altLang="zh-CN" sz="1600" i="1">
                              <a:latin typeface="Cambria Math" panose="02040503050406030204" pitchFamily="18" charset="0"/>
                              <a:cs typeface="MV Boli" panose="02000500030200090000" pitchFamily="2" charset="0"/>
                            </a:rPr>
                            <m:t>−</m:t>
                          </m:r>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𝑠𝑡𝑎𝑟𝑡</m:t>
                              </m:r>
                            </m:sub>
                          </m:sSub>
                        </m:e>
                      </m:d>
                    </m:oMath>
                  </m:oMathPara>
                </a14:m>
                <a:endParaRPr lang="zh-CN" altLang="zh-CN" sz="16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acc>
                        <m:accPr>
                          <m: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𝜃</m:t>
                          </m:r>
                        </m:e>
                      </m:acc>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f>
                        <m:f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1</m:t>
                          </m:r>
                        </m:num>
                        <m:den>
                          <m:r>
                            <a:rPr lang="en-US" altLang="zh-CN" sz="1600" i="1">
                              <a:latin typeface="Cambria Math" panose="02040503050406030204" pitchFamily="18" charset="0"/>
                              <a:cs typeface="MV Boli" panose="02000500030200090000" pitchFamily="2" charset="0"/>
                            </a:rPr>
                            <m:t>𝑇</m:t>
                          </m:r>
                        </m:den>
                      </m:f>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𝑒𝑛𝑑</m:t>
                              </m:r>
                            </m:sub>
                          </m:sSub>
                          <m:r>
                            <a:rPr lang="en-US" altLang="zh-CN" sz="1600" i="1">
                              <a:latin typeface="Cambria Math" panose="02040503050406030204" pitchFamily="18" charset="0"/>
                              <a:cs typeface="MV Boli" panose="02000500030200090000" pitchFamily="2" charset="0"/>
                            </a:rPr>
                            <m:t>−</m:t>
                          </m:r>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𝜃</m:t>
                              </m:r>
                            </m:e>
                            <m:sub>
                              <m:r>
                                <a:rPr lang="en-US" altLang="zh-CN" sz="1600" i="1">
                                  <a:latin typeface="Cambria Math" panose="02040503050406030204" pitchFamily="18" charset="0"/>
                                  <a:cs typeface="MV Boli" panose="02000500030200090000" pitchFamily="2" charset="0"/>
                                </a:rPr>
                                <m:t>𝑠𝑡𝑎𝑟𝑡</m:t>
                              </m:r>
                            </m:sub>
                          </m:sSub>
                        </m:e>
                      </m:d>
                    </m:oMath>
                  </m:oMathPara>
                </a14:m>
                <a:endParaRPr lang="zh-CN" altLang="zh-CN" sz="16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acc>
                        <m:accPr>
                          <m: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𝜃</m:t>
                          </m:r>
                        </m:e>
                      </m:acc>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=0</m:t>
                      </m:r>
                      <m:r>
                        <a:rPr lang="en-US" altLang="zh-CN" sz="1600" b="0" i="1" smtClean="0">
                          <a:latin typeface="Cambria Math" panose="02040503050406030204" pitchFamily="18" charset="0"/>
                          <a:cs typeface="MV Boli" panose="02000500030200090000" pitchFamily="2" charset="0"/>
                        </a:rPr>
                        <m:t>(</m:t>
                      </m:r>
                      <m:r>
                        <a:rPr lang="en-US" altLang="zh-CN">
                          <a:latin typeface="Cambria Math" panose="02040503050406030204" pitchFamily="18" charset="0"/>
                        </a:rPr>
                        <m:t>∞</m:t>
                      </m:r>
                      <m:r>
                        <a:rPr lang="en-US" altLang="zh-CN" b="0" i="0" smtClean="0">
                          <a:latin typeface="Cambria Math" panose="02040503050406030204" pitchFamily="18" charset="0"/>
                        </a:rPr>
                        <m:t>)</m:t>
                      </m:r>
                    </m:oMath>
                  </m:oMathPara>
                </a14:m>
                <a:endParaRPr lang="zh-CN" altLang="zh-CN" sz="1600" dirty="0">
                  <a:latin typeface="宋体" panose="02010600030101010101" pitchFamily="2" charset="-122"/>
                  <a:cs typeface="宋体" panose="02010600030101010101" pitchFamily="2"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411478" y="3487926"/>
                <a:ext cx="3312368" cy="1273554"/>
              </a:xfrm>
              <a:prstGeom prst="rect">
                <a:avLst/>
              </a:prstGeom>
              <a:blipFill rotWithShape="1">
                <a:blip r:embed="rId7"/>
                <a:stretch>
                  <a:fillRect l="-19" t="-40" r="-358" b="20"/>
                </a:stretch>
              </a:blipFill>
            </p:spPr>
            <p:txBody>
              <a:bodyPr/>
              <a:lstStyle/>
              <a:p>
                <a:r>
                  <a:rPr lang="zh-CN" altLang="en-US">
                    <a:noFill/>
                  </a:rPr>
                  <a:t> </a:t>
                </a:r>
              </a:p>
            </p:txBody>
          </p:sp>
        </mc:Fallback>
      </mc:AlternateContent>
      <p:pic>
        <p:nvPicPr>
          <p:cNvPr id="16" name="图片 15"/>
          <p:cNvPicPr/>
          <p:nvPr/>
        </p:nvPicPr>
        <p:blipFill>
          <a:blip r:embed="rId8" cstate="print">
            <a:extLst>
              <a:ext uri="{28A0092B-C50C-407E-A947-70E740481C1C}">
                <a14:useLocalDpi xmlns:a14="http://schemas.microsoft.com/office/drawing/2010/main" val="0"/>
              </a:ext>
            </a:extLst>
          </a:blip>
          <a:stretch>
            <a:fillRect/>
          </a:stretch>
        </p:blipFill>
        <p:spPr>
          <a:xfrm>
            <a:off x="3895053" y="3177984"/>
            <a:ext cx="2286000" cy="1613535"/>
          </a:xfrm>
          <a:prstGeom prst="rect">
            <a:avLst/>
          </a:prstGeom>
        </p:spPr>
      </p:pic>
      <p:pic>
        <p:nvPicPr>
          <p:cNvPr id="17" name="图片 16"/>
          <p:cNvPicPr/>
          <p:nvPr/>
        </p:nvPicPr>
        <p:blipFill>
          <a:blip r:embed="rId9" cstate="print">
            <a:extLst>
              <a:ext uri="{28A0092B-C50C-407E-A947-70E740481C1C}">
                <a14:useLocalDpi xmlns:a14="http://schemas.microsoft.com/office/drawing/2010/main" val="0"/>
              </a:ext>
            </a:extLst>
          </a:blip>
          <a:stretch>
            <a:fillRect/>
          </a:stretch>
        </p:blipFill>
        <p:spPr>
          <a:xfrm>
            <a:off x="6181053" y="3194171"/>
            <a:ext cx="2124075" cy="1612265"/>
          </a:xfrm>
          <a:prstGeom prst="rect">
            <a:avLst/>
          </a:prstGeom>
        </p:spPr>
      </p:pic>
      <p:sp>
        <p:nvSpPr>
          <p:cNvPr id="18" name="矩形 17"/>
          <p:cNvSpPr/>
          <p:nvPr/>
        </p:nvSpPr>
        <p:spPr>
          <a:xfrm>
            <a:off x="575697" y="956330"/>
            <a:ext cx="2291012" cy="338554"/>
          </a:xfrm>
          <a:prstGeom prst="rect">
            <a:avLst/>
          </a:prstGeom>
        </p:spPr>
        <p:txBody>
          <a:bodyPr wrap="none">
            <a:spAutoFit/>
          </a:bodyPr>
          <a:lstStyle/>
          <a:p>
            <a:r>
              <a:rPr lang="zh-CN" altLang="zh-CN" sz="1600" dirty="0">
                <a:solidFill>
                  <a:srgbClr val="002060"/>
                </a:solidFill>
                <a:cs typeface="MV Boli" panose="02000500030200090000" pitchFamily="2" charset="0"/>
              </a:rPr>
              <a:t>关节空间轨迹生成函数</a:t>
            </a:r>
            <a:r>
              <a:rPr lang="en-US" altLang="zh-CN" sz="1600" dirty="0">
                <a:solidFill>
                  <a:srgbClr val="002060"/>
                </a:solidFill>
                <a:cs typeface="MV Boli" panose="02000500030200090000" pitchFamily="2" charset="0"/>
              </a:rPr>
              <a:t>:</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9" name="矩形 18"/>
              <p:cNvSpPr/>
              <p:nvPr/>
            </p:nvSpPr>
            <p:spPr>
              <a:xfrm>
                <a:off x="496333" y="1335954"/>
                <a:ext cx="386804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𝑠</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𝑠𝑡𝑎𝑟𝑡</m:t>
                              </m:r>
                            </m:sub>
                          </m:sSub>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𝑒𝑛𝑑</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𝑠𝑡𝑎𝑟𝑡</m:t>
                                  </m:r>
                                </m:sub>
                              </m:sSub>
                            </m:e>
                          </m:d>
                          <m:r>
                            <a:rPr lang="zh-CN" altLang="en-US" sz="1600" i="0">
                              <a:latin typeface="Cambria Math" panose="02040503050406030204" pitchFamily="18" charset="0"/>
                            </a:rPr>
                            <m:t>, </m:t>
                          </m:r>
                          <m:r>
                            <a:rPr lang="zh-CN" altLang="en-US" sz="1600" i="1">
                              <a:latin typeface="Cambria Math" panose="02040503050406030204" pitchFamily="18" charset="0"/>
                            </a:rPr>
                            <m:t>𝑠</m:t>
                          </m:r>
                          <m:r>
                            <a:rPr lang="zh-CN" altLang="en-US" sz="1600" i="0">
                              <a:latin typeface="Cambria Math" panose="02040503050406030204" pitchFamily="18" charset="0"/>
                            </a:rPr>
                            <m:t>∈[0,1</m:t>
                          </m:r>
                        </m:e>
                      </m:d>
                    </m:oMath>
                  </m:oMathPara>
                </a14:m>
                <a:endParaRPr lang="zh-CN" altLang="en-US" sz="1600" dirty="0"/>
              </a:p>
            </p:txBody>
          </p:sp>
        </mc:Choice>
        <mc:Fallback xmlns="">
          <p:sp>
            <p:nvSpPr>
              <p:cNvPr id="19" name="矩形 18"/>
              <p:cNvSpPr>
                <a:spLocks noRot="1" noChangeAspect="1" noMove="1" noResize="1" noEditPoints="1" noAdjustHandles="1" noChangeArrowheads="1" noChangeShapeType="1" noTextEdit="1"/>
              </p:cNvSpPr>
              <p:nvPr/>
            </p:nvSpPr>
            <p:spPr>
              <a:xfrm>
                <a:off x="496333" y="1335954"/>
                <a:ext cx="3868047" cy="338554"/>
              </a:xfrm>
              <a:prstGeom prst="rect">
                <a:avLst/>
              </a:prstGeom>
              <a:blipFill rotWithShape="1">
                <a:blip r:embed="rId10"/>
                <a:stretch>
                  <a:fillRect l="-10" t="-162" r="1" b="4"/>
                </a:stretch>
              </a:blipFill>
            </p:spPr>
            <p:txBody>
              <a:bodyPr/>
              <a:lstStyle/>
              <a:p>
                <a:r>
                  <a:rPr lang="zh-CN" altLang="en-US">
                    <a:noFill/>
                  </a:rPr>
                  <a:t> </a:t>
                </a:r>
              </a:p>
            </p:txBody>
          </p:sp>
        </mc:Fallback>
      </mc:AlternateContent>
      <p:sp>
        <p:nvSpPr>
          <p:cNvPr id="20" name="矩形 19"/>
          <p:cNvSpPr/>
          <p:nvPr/>
        </p:nvSpPr>
        <p:spPr>
          <a:xfrm>
            <a:off x="314407" y="1802715"/>
            <a:ext cx="2813591" cy="338554"/>
          </a:xfrm>
          <a:prstGeom prst="rect">
            <a:avLst/>
          </a:prstGeom>
        </p:spPr>
        <p:txBody>
          <a:bodyPr wrap="none">
            <a:spAutoFit/>
          </a:bodyPr>
          <a:lstStyle/>
          <a:p>
            <a:pPr indent="266700"/>
            <a:r>
              <a:rPr lang="zh-CN" altLang="zh-CN" sz="1600" dirty="0">
                <a:solidFill>
                  <a:srgbClr val="002060"/>
                </a:solidFill>
                <a:latin typeface="宋体" panose="02010600030101010101" pitchFamily="2" charset="-122"/>
                <a:cs typeface="MV Boli" panose="02000500030200090000" pitchFamily="2" charset="0"/>
              </a:rPr>
              <a:t>笛卡尔空间轨迹生成函数</a:t>
            </a:r>
            <a:r>
              <a:rPr lang="en-US" altLang="zh-CN" sz="1600" dirty="0">
                <a:solidFill>
                  <a:srgbClr val="002060"/>
                </a:solidFill>
                <a:latin typeface="宋体" panose="02010600030101010101" pitchFamily="2" charset="-122"/>
                <a:cs typeface="MV Boli" panose="02000500030200090000" pitchFamily="2" charset="0"/>
              </a:rPr>
              <a:t>:</a:t>
            </a:r>
            <a:endParaRPr lang="zh-CN" altLang="zh-CN" sz="1600" dirty="0">
              <a:solidFill>
                <a:srgbClr val="002060"/>
              </a:solidFill>
              <a:latin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21" name="矩形 20"/>
              <p:cNvSpPr/>
              <p:nvPr/>
            </p:nvSpPr>
            <p:spPr>
              <a:xfrm>
                <a:off x="511767" y="2158636"/>
                <a:ext cx="393197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𝑋</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𝑠</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𝑠𝑡𝑎𝑟𝑡</m:t>
                              </m:r>
                            </m:sub>
                          </m:sSub>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𝑒𝑛𝑑</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𝑠𝑡𝑎𝑟𝑡</m:t>
                                  </m:r>
                                </m:sub>
                              </m:sSub>
                            </m:e>
                          </m:d>
                          <m:r>
                            <a:rPr lang="zh-CN" altLang="en-US" sz="1600" i="0">
                              <a:latin typeface="Cambria Math" panose="02040503050406030204" pitchFamily="18" charset="0"/>
                            </a:rPr>
                            <m:t>, </m:t>
                          </m:r>
                          <m:r>
                            <a:rPr lang="zh-CN" altLang="en-US" sz="1600" i="1">
                              <a:latin typeface="Cambria Math" panose="02040503050406030204" pitchFamily="18" charset="0"/>
                            </a:rPr>
                            <m:t>𝑠</m:t>
                          </m:r>
                          <m:r>
                            <a:rPr lang="zh-CN" altLang="en-US" sz="1600" i="0">
                              <a:latin typeface="Cambria Math" panose="02040503050406030204" pitchFamily="18" charset="0"/>
                            </a:rPr>
                            <m:t>∈[0,1</m:t>
                          </m:r>
                        </m:e>
                      </m:d>
                    </m:oMath>
                  </m:oMathPara>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511767" y="2158636"/>
                <a:ext cx="3931974" cy="338554"/>
              </a:xfrm>
              <a:prstGeom prst="rect">
                <a:avLst/>
              </a:prstGeom>
              <a:blipFill rotWithShape="1">
                <a:blip r:embed="rId11"/>
                <a:stretch>
                  <a:fillRect l="-15" t="-80" b="109"/>
                </a:stretch>
              </a:blipFill>
            </p:spPr>
            <p:txBody>
              <a:bodyPr/>
              <a:lstStyle/>
              <a:p>
                <a:r>
                  <a:rPr lang="zh-CN" altLang="en-US">
                    <a:noFill/>
                  </a:rPr>
                  <a:t> </a:t>
                </a:r>
              </a:p>
            </p:txBody>
          </p:sp>
        </mc:Fallback>
      </mc:AlternateContent>
      <p:sp>
        <p:nvSpPr>
          <p:cNvPr id="22" name="矩形 21"/>
          <p:cNvSpPr/>
          <p:nvPr/>
        </p:nvSpPr>
        <p:spPr>
          <a:xfrm>
            <a:off x="523073" y="2569741"/>
            <a:ext cx="3089179" cy="338554"/>
          </a:xfrm>
          <a:prstGeom prst="rect">
            <a:avLst/>
          </a:prstGeom>
        </p:spPr>
        <p:txBody>
          <a:bodyPr wrap="none">
            <a:spAutoFit/>
          </a:bodyPr>
          <a:lstStyle/>
          <a:p>
            <a:r>
              <a:rPr lang="en-US" altLang="zh-CN" sz="1600" dirty="0">
                <a:solidFill>
                  <a:srgbClr val="002060"/>
                </a:solidFill>
                <a:latin typeface="宋体" panose="02010600030101010101" pitchFamily="2" charset="-122"/>
                <a:cs typeface="MV Boli" panose="02000500030200090000" pitchFamily="2" charset="0"/>
              </a:rPr>
              <a:t>s</a:t>
            </a:r>
            <a:r>
              <a:rPr lang="zh-CN" altLang="zh-CN" sz="1600" dirty="0">
                <a:solidFill>
                  <a:srgbClr val="002060"/>
                </a:solidFill>
                <a:cs typeface="MV Boli" panose="02000500030200090000" pitchFamily="2" charset="0"/>
              </a:rPr>
              <a:t>为</a:t>
            </a:r>
            <a:r>
              <a:rPr lang="zh-CN" altLang="zh-CN" sz="1600" dirty="0" smtClean="0">
                <a:solidFill>
                  <a:srgbClr val="002060"/>
                </a:solidFill>
                <a:cs typeface="MV Boli" panose="02000500030200090000" pitchFamily="2" charset="0"/>
              </a:rPr>
              <a:t>时间尺度</a:t>
            </a:r>
            <a:r>
              <a:rPr lang="en-US" altLang="zh-CN" sz="1600" dirty="0" smtClean="0">
                <a:solidFill>
                  <a:srgbClr val="002060"/>
                </a:solidFill>
                <a:cs typeface="MV Boli" panose="02000500030200090000" pitchFamily="2" charset="0"/>
              </a:rPr>
              <a:t> time scaling function</a:t>
            </a:r>
            <a:endParaRPr lang="zh-CN" altLang="en-US" sz="1600" dirty="0">
              <a:solidFill>
                <a:srgbClr val="002060"/>
              </a:solidFill>
            </a:endParaRPr>
          </a:p>
        </p:txBody>
      </p:sp>
      <p:sp>
        <p:nvSpPr>
          <p:cNvPr id="2" name="圆角矩形 1"/>
          <p:cNvSpPr/>
          <p:nvPr/>
        </p:nvSpPr>
        <p:spPr>
          <a:xfrm>
            <a:off x="496333" y="956330"/>
            <a:ext cx="3947408" cy="20474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2987824" y="1035051"/>
            <a:ext cx="1008112" cy="300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rgbClr val="FF0000"/>
                </a:solidFill>
              </a:rPr>
              <a:t>统一方法</a:t>
            </a:r>
            <a:endParaRPr lang="zh-CN" altLang="en-US" sz="1200" dirty="0">
              <a:solidFill>
                <a:srgbClr val="FF0000"/>
              </a:solidFill>
            </a:endParaRPr>
          </a:p>
        </p:txBody>
      </p:sp>
      <p:sp>
        <p:nvSpPr>
          <p:cNvPr id="4" name="圆角矩形 3"/>
          <p:cNvSpPr/>
          <p:nvPr/>
        </p:nvSpPr>
        <p:spPr>
          <a:xfrm>
            <a:off x="4644008" y="956330"/>
            <a:ext cx="3661120" cy="19519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854852" y="1009114"/>
            <a:ext cx="1261884" cy="2769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zh-CN" altLang="en-US" sz="1200" dirty="0" smtClean="0">
                <a:solidFill>
                  <a:srgbClr val="FF0000"/>
                </a:solidFill>
                <a:cs typeface="MV Boli" panose="02000500030200090000" pitchFamily="2" charset="0"/>
              </a:rPr>
              <a:t>特例：</a:t>
            </a:r>
            <a:r>
              <a:rPr lang="zh-CN" altLang="zh-CN" sz="1200" dirty="0" smtClean="0">
                <a:solidFill>
                  <a:srgbClr val="FF0000"/>
                </a:solidFill>
                <a:cs typeface="MV Boli" panose="02000500030200090000" pitchFamily="2" charset="0"/>
              </a:rPr>
              <a:t>线性插值</a:t>
            </a:r>
            <a:endParaRPr lang="zh-CN" altLang="en-US" sz="1200" dirty="0">
              <a:solidFill>
                <a:srgbClr val="FF0000"/>
              </a:solidFill>
            </a:endParaRPr>
          </a:p>
        </p:txBody>
      </p:sp>
      <p:sp>
        <p:nvSpPr>
          <p:cNvPr id="5" name="圆角矩形 4"/>
          <p:cNvSpPr/>
          <p:nvPr/>
        </p:nvSpPr>
        <p:spPr>
          <a:xfrm>
            <a:off x="314407" y="3194171"/>
            <a:ext cx="3465505" cy="15973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068895" y="3244922"/>
            <a:ext cx="2185214" cy="2769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r>
              <a:rPr lang="zh-CN" altLang="en-US" sz="1200" dirty="0" smtClean="0">
                <a:solidFill>
                  <a:srgbClr val="FF0000"/>
                </a:solidFill>
                <a:cs typeface="MV Boli" panose="02000500030200090000" pitchFamily="2" charset="0"/>
              </a:rPr>
              <a:t>位形、速度、加速度规划函数</a:t>
            </a:r>
            <a:endParaRPr lang="zh-CN" altLang="en-US" sz="12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103660" y="485894"/>
            <a:ext cx="1667444" cy="338554"/>
          </a:xfrm>
          <a:prstGeom prst="rect">
            <a:avLst/>
          </a:prstGeom>
        </p:spPr>
        <p:txBody>
          <a:bodyPr wrap="none">
            <a:spAutoFit/>
          </a:bodyPr>
          <a:lstStyle/>
          <a:p>
            <a:r>
              <a:rPr lang="zh-CN" altLang="en-US" sz="1600" dirty="0">
                <a:solidFill>
                  <a:srgbClr val="FF0000"/>
                </a:solidFill>
                <a:cs typeface="MV Boli" panose="02000500030200090000" pitchFamily="2" charset="0"/>
              </a:rPr>
              <a:t>三次多项式插值 </a:t>
            </a:r>
            <a:endParaRPr lang="zh-CN" altLang="en-US" sz="1600" dirty="0">
              <a:solidFill>
                <a:srgbClr val="FF0000"/>
              </a:solidFill>
            </a:endParaRPr>
          </a:p>
        </p:txBody>
      </p:sp>
      <p:sp>
        <p:nvSpPr>
          <p:cNvPr id="15"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2" name="矩形 1"/>
              <p:cNvSpPr/>
              <p:nvPr/>
            </p:nvSpPr>
            <p:spPr>
              <a:xfrm>
                <a:off x="1138839" y="969913"/>
                <a:ext cx="288450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0</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𝑡</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oMath>
                  </m:oMathPara>
                </a14:m>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138839" y="969913"/>
                <a:ext cx="2884508" cy="338554"/>
              </a:xfrm>
              <a:prstGeom prst="rect">
                <a:avLst/>
              </a:prstGeom>
              <a:blipFill rotWithShape="1">
                <a:blip r:embed="rId4"/>
                <a:stretch>
                  <a:fillRect l="-10" t="-79" r="22" b="1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45440" y="1273684"/>
                <a:ext cx="4572000" cy="584775"/>
              </a:xfrm>
              <a:prstGeom prst="rect">
                <a:avLst/>
              </a:prstGeom>
            </p:spPr>
            <p:txBody>
              <a:bodyPr>
                <a:spAutoFit/>
              </a:bodyPr>
              <a:lstStyle/>
              <a:p>
                <a:r>
                  <a:rPr lang="zh-CN" altLang="zh-CN" sz="1600" dirty="0">
                    <a:cs typeface="MV Boli" panose="02000500030200090000" pitchFamily="2" charset="0"/>
                  </a:rPr>
                  <a:t>四个约束条件：在起始处施加约束</a:t>
                </a:r>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m:t>
                    </m:r>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=0</m:t>
                    </m:r>
                  </m:oMath>
                </a14:m>
                <a:r>
                  <a:rPr lang="zh-CN" altLang="zh-CN" sz="1600" dirty="0">
                    <a:cs typeface="MV Boli" panose="02000500030200090000" pitchFamily="2" charset="0"/>
                  </a:rPr>
                  <a:t>，在终点处施加约束</a:t>
                </a:r>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=1</m:t>
                    </m:r>
                  </m:oMath>
                </a14:m>
                <a:r>
                  <a:rPr lang="zh-CN" altLang="zh-CN" sz="1600" dirty="0">
                    <a:cs typeface="MV Boli" panose="02000500030200090000" pitchFamily="2" charset="0"/>
                  </a:rPr>
                  <a:t>、</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=0</m:t>
                    </m:r>
                  </m:oMath>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345440" y="1273684"/>
                <a:ext cx="4572000" cy="584775"/>
              </a:xfrm>
              <a:prstGeom prst="rect">
                <a:avLst/>
              </a:prstGeom>
              <a:blipFill rotWithShape="1">
                <a:blip r:embed="rId5"/>
                <a:stretch>
                  <a:fillRect t="-87" b="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050792" y="1881593"/>
                <a:ext cx="246977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𝑠</m:t>
                          </m:r>
                        </m:e>
                      </m:acc>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+2</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𝑡</m:t>
                      </m:r>
                      <m:r>
                        <a:rPr lang="zh-CN" altLang="en-US" sz="1600" i="0">
                          <a:latin typeface="Cambria Math" panose="02040503050406030204" pitchFamily="18" charset="0"/>
                        </a:rPr>
                        <m:t>+3</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oMath>
                  </m:oMathPara>
                </a14:m>
                <a:endParaRPr lang="zh-CN" altLang="en-US" sz="1600" dirty="0"/>
              </a:p>
            </p:txBody>
          </p:sp>
        </mc:Choice>
        <mc:Fallback xmlns="">
          <p:sp>
            <p:nvSpPr>
              <p:cNvPr id="4" name="矩形 3"/>
              <p:cNvSpPr>
                <a:spLocks noRot="1" noChangeAspect="1" noMove="1" noResize="1" noEditPoints="1" noAdjustHandles="1" noChangeArrowheads="1" noChangeShapeType="1" noTextEdit="1"/>
              </p:cNvSpPr>
              <p:nvPr/>
            </p:nvSpPr>
            <p:spPr>
              <a:xfrm>
                <a:off x="1050792" y="1881593"/>
                <a:ext cx="2469779" cy="338554"/>
              </a:xfrm>
              <a:prstGeom prst="rect">
                <a:avLst/>
              </a:prstGeom>
              <a:blipFill rotWithShape="1">
                <a:blip r:embed="rId6"/>
                <a:stretch>
                  <a:fillRect l="-20" t="-26" r="5" b="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756427" y="2148788"/>
                <a:ext cx="3266920" cy="553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0</m:t>
                          </m:r>
                        </m:sub>
                      </m:sSub>
                      <m:r>
                        <a:rPr lang="zh-CN" altLang="en-US" sz="1600" i="0">
                          <a:latin typeface="Cambria Math" panose="02040503050406030204" pitchFamily="18" charset="0"/>
                        </a:rPr>
                        <m:t>=0,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=0,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3</m:t>
                          </m:r>
                        </m:num>
                        <m:den>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𝑇</m:t>
                              </m:r>
                            </m:e>
                            <m:sup>
                              <m:r>
                                <a:rPr lang="zh-CN" altLang="en-US" sz="1600" i="0">
                                  <a:latin typeface="Cambria Math" panose="02040503050406030204" pitchFamily="18" charset="0"/>
                                </a:rPr>
                                <m:t>2</m:t>
                              </m:r>
                            </m:sup>
                          </m:sSup>
                        </m:den>
                      </m:f>
                      <m:r>
                        <a:rPr lang="zh-CN" altLang="en-US" sz="1600" i="0">
                          <a:latin typeface="Cambria Math" panose="02040503050406030204" pitchFamily="18" charset="0"/>
                        </a:rPr>
                        <m:t>,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2</m:t>
                          </m:r>
                        </m:num>
                        <m:den>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𝑇</m:t>
                              </m:r>
                            </m:e>
                            <m:sup>
                              <m:r>
                                <a:rPr lang="zh-CN" altLang="en-US" sz="1600" i="0">
                                  <a:latin typeface="Cambria Math" panose="02040503050406030204" pitchFamily="18" charset="0"/>
                                </a:rPr>
                                <m:t>3</m:t>
                              </m:r>
                            </m:sup>
                          </m:sSup>
                        </m:den>
                      </m:f>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756427" y="2148788"/>
                <a:ext cx="3266920" cy="553357"/>
              </a:xfrm>
              <a:prstGeom prst="rect">
                <a:avLst/>
              </a:prstGeom>
              <a:blipFill rotWithShape="1">
                <a:blip r:embed="rId7"/>
                <a:stretch>
                  <a:fillRect l="-4" t="-105" r="19" b="40"/>
                </a:stretch>
              </a:blipFill>
            </p:spPr>
            <p:txBody>
              <a:bodyPr/>
              <a:lstStyle/>
              <a:p>
                <a:r>
                  <a:rPr lang="zh-CN" altLang="en-US">
                    <a:noFill/>
                  </a:rPr>
                  <a:t> </a:t>
                </a:r>
              </a:p>
            </p:txBody>
          </p:sp>
        </mc:Fallback>
      </mc:AlternateContent>
      <p:pic>
        <p:nvPicPr>
          <p:cNvPr id="19" name="图片 18"/>
          <p:cNvPicPr/>
          <p:nvPr/>
        </p:nvPicPr>
        <p:blipFill>
          <a:blip r:embed="rId8"/>
          <a:stretch>
            <a:fillRect/>
          </a:stretch>
        </p:blipFill>
        <p:spPr>
          <a:xfrm>
            <a:off x="395536" y="2702145"/>
            <a:ext cx="4521904" cy="1042570"/>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6036102" y="925552"/>
                <a:ext cx="16375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𝑠</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6036102" y="925552"/>
                <a:ext cx="1637500" cy="338554"/>
              </a:xfrm>
              <a:prstGeom prst="rect">
                <a:avLst/>
              </a:prstGeom>
              <a:blipFill rotWithShape="1">
                <a:blip r:embed="rId9"/>
                <a:stretch>
                  <a:fillRect l="-26" t="-105" r="16" b="1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5364088" y="1427566"/>
                <a:ext cx="3559949" cy="5806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𝜃</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𝑡</m:t>
                          </m:r>
                        </m:e>
                      </m:d>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𝑠𝑡𝑎𝑟𝑡</m:t>
                          </m:r>
                        </m:sub>
                      </m:sSub>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3</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𝑡</m:t>
                                  </m:r>
                                </m:e>
                                <m:sup>
                                  <m:r>
                                    <a:rPr lang="zh-CN" altLang="en-US" sz="1400" i="0">
                                      <a:latin typeface="Cambria Math" panose="02040503050406030204" pitchFamily="18" charset="0"/>
                                    </a:rPr>
                                    <m:t>2</m:t>
                                  </m:r>
                                </m:sup>
                              </m:sSup>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2</m:t>
                                  </m:r>
                                </m:sup>
                              </m:sSup>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2</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𝑡</m:t>
                                  </m:r>
                                </m:e>
                                <m:sup>
                                  <m:r>
                                    <a:rPr lang="zh-CN" altLang="en-US" sz="1400" i="0">
                                      <a:latin typeface="Cambria Math" panose="02040503050406030204" pitchFamily="18" charset="0"/>
                                    </a:rPr>
                                    <m:t>3</m:t>
                                  </m:r>
                                </m:sup>
                              </m:sSup>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3</m:t>
                                  </m:r>
                                </m:sup>
                              </m:sSup>
                            </m:den>
                          </m:f>
                        </m:e>
                      </m:d>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𝑒𝑛𝑑</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𝑠𝑡𝑎𝑟𝑡</m:t>
                              </m:r>
                            </m:sub>
                          </m:sSub>
                        </m:e>
                      </m:d>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5364088" y="1427566"/>
                <a:ext cx="3559949" cy="580672"/>
              </a:xfrm>
              <a:prstGeom prst="rect">
                <a:avLst/>
              </a:prstGeom>
              <a:blipFill rotWithShape="1">
                <a:blip r:embed="rId10"/>
                <a:stretch>
                  <a:fillRect l="-7" t="-15" r="11" b="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364088" y="1974193"/>
                <a:ext cx="2846741" cy="5806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d>
                        <m:dPr>
                          <m:ctrlPr>
                            <a:rPr lang="zh-CN" altLang="en-US" sz="1400" i="1">
                              <a:latin typeface="Cambria Math" panose="02040503050406030204" pitchFamily="18" charset="0"/>
                            </a:rPr>
                          </m:ctrlPr>
                        </m:dPr>
                        <m:e>
                          <m:r>
                            <a:rPr lang="zh-CN" altLang="en-US" sz="1400" i="1">
                              <a:latin typeface="Cambria Math" panose="02040503050406030204" pitchFamily="18" charset="0"/>
                            </a:rPr>
                            <m:t>𝑡</m:t>
                          </m:r>
                        </m:e>
                      </m:d>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6</m:t>
                              </m:r>
                              <m:r>
                                <a:rPr lang="zh-CN" altLang="en-US" sz="1400" i="1">
                                  <a:latin typeface="Cambria Math" panose="02040503050406030204" pitchFamily="18" charset="0"/>
                                </a:rPr>
                                <m:t>𝑡</m:t>
                              </m:r>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2</m:t>
                                  </m:r>
                                </m:sup>
                              </m:sSup>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6</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𝑡</m:t>
                                  </m:r>
                                </m:e>
                                <m:sup>
                                  <m:r>
                                    <a:rPr lang="zh-CN" altLang="en-US" sz="1400" i="0">
                                      <a:latin typeface="Cambria Math" panose="02040503050406030204" pitchFamily="18" charset="0"/>
                                    </a:rPr>
                                    <m:t>2</m:t>
                                  </m:r>
                                </m:sup>
                              </m:sSup>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3</m:t>
                                  </m:r>
                                </m:sup>
                              </m:sSup>
                            </m:den>
                          </m:f>
                        </m:e>
                      </m:d>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𝑒𝑛𝑑</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𝑠𝑡𝑎𝑟𝑡</m:t>
                              </m:r>
                            </m:sub>
                          </m:sSub>
                        </m:e>
                      </m:d>
                    </m:oMath>
                  </m:oMathPara>
                </a14:m>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5364088" y="1974193"/>
                <a:ext cx="2846741" cy="580672"/>
              </a:xfrm>
              <a:prstGeom prst="rect">
                <a:avLst/>
              </a:prstGeom>
              <a:blipFill rotWithShape="1">
                <a:blip r:embed="rId11"/>
                <a:stretch>
                  <a:fillRect l="-9" t="-106" r="10" b="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323885" y="2593757"/>
                <a:ext cx="2857641" cy="5763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d>
                        <m:dPr>
                          <m:ctrlPr>
                            <a:rPr lang="zh-CN" altLang="en-US" sz="1400" i="1">
                              <a:latin typeface="Cambria Math" panose="02040503050406030204" pitchFamily="18" charset="0"/>
                            </a:rPr>
                          </m:ctrlPr>
                        </m:dPr>
                        <m:e>
                          <m:r>
                            <a:rPr lang="zh-CN" altLang="en-US" sz="1400" i="1">
                              <a:latin typeface="Cambria Math" panose="02040503050406030204" pitchFamily="18" charset="0"/>
                            </a:rPr>
                            <m:t>𝑡</m:t>
                          </m:r>
                        </m:e>
                      </m:d>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6</m:t>
                              </m:r>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2</m:t>
                                  </m:r>
                                </m:sup>
                              </m:sSup>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12</m:t>
                              </m:r>
                              <m:r>
                                <a:rPr lang="zh-CN" altLang="en-US" sz="1400" i="1">
                                  <a:latin typeface="Cambria Math" panose="02040503050406030204" pitchFamily="18" charset="0"/>
                                </a:rPr>
                                <m:t>𝑡</m:t>
                              </m:r>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3</m:t>
                                  </m:r>
                                </m:sup>
                              </m:sSup>
                            </m:den>
                          </m:f>
                        </m:e>
                      </m:d>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𝑒𝑛𝑑</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𝑠𝑡𝑎𝑟𝑡</m:t>
                              </m:r>
                            </m:sub>
                          </m:sSub>
                        </m:e>
                      </m:d>
                    </m:oMath>
                  </m:oMathPara>
                </a14:m>
                <a:endParaRPr lang="zh-CN"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5323885" y="2593757"/>
                <a:ext cx="2857641" cy="576376"/>
              </a:xfrm>
              <a:prstGeom prst="rect">
                <a:avLst/>
              </a:prstGeom>
              <a:blipFill rotWithShape="1">
                <a:blip r:embed="rId12"/>
                <a:stretch>
                  <a:fillRect l="-2" t="-72" r="7" b="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5691231" y="3373163"/>
                <a:ext cx="689741" cy="440633"/>
              </a:xfrm>
              <a:prstGeom prst="rect">
                <a:avLst/>
              </a:prstGeom>
            </p:spPr>
            <p:txBody>
              <a:bodyPr wrap="none">
                <a:spAutoFit/>
              </a:bodyPr>
              <a:lstStyle/>
              <a:p>
                <a14:m>
                  <m:oMath xmlns:m="http://schemas.openxmlformats.org/officeDocument/2006/math">
                    <m:r>
                      <a:rPr lang="zh-CN" altLang="en-US" sz="1600" i="1" smtClean="0">
                        <a:solidFill>
                          <a:srgbClr val="FF0000"/>
                        </a:solidFill>
                        <a:latin typeface="Cambria Math" panose="02040503050406030204" pitchFamily="18" charset="0"/>
                      </a:rPr>
                      <m:t>𝑡</m:t>
                    </m:r>
                    <m:r>
                      <a:rPr lang="zh-CN" altLang="en-US" sz="1600" i="0">
                        <a:solidFill>
                          <a:srgbClr val="FF0000"/>
                        </a:solidFill>
                        <a:latin typeface="Cambria Math" panose="02040503050406030204" pitchFamily="18" charset="0"/>
                      </a:rPr>
                      <m:t>=</m:t>
                    </m:r>
                    <m:f>
                      <m:fPr>
                        <m:ctrlPr>
                          <a:rPr lang="zh-CN" altLang="en-US" sz="1600" i="1">
                            <a:solidFill>
                              <a:srgbClr val="FF0000"/>
                            </a:solidFill>
                            <a:latin typeface="Cambria Math" panose="02040503050406030204" pitchFamily="18" charset="0"/>
                          </a:rPr>
                        </m:ctrlPr>
                      </m:fPr>
                      <m:num>
                        <m:r>
                          <a:rPr lang="zh-CN" altLang="en-US" sz="1600" i="1">
                            <a:solidFill>
                              <a:srgbClr val="FF0000"/>
                            </a:solidFill>
                            <a:latin typeface="Cambria Math" panose="02040503050406030204" pitchFamily="18" charset="0"/>
                          </a:rPr>
                          <m:t>𝑇</m:t>
                        </m:r>
                      </m:num>
                      <m:den>
                        <m:r>
                          <a:rPr lang="zh-CN" altLang="en-US" sz="1600" i="0">
                            <a:solidFill>
                              <a:srgbClr val="FF0000"/>
                            </a:solidFill>
                            <a:latin typeface="Cambria Math" panose="02040503050406030204" pitchFamily="18" charset="0"/>
                          </a:rPr>
                          <m:t>2</m:t>
                        </m:r>
                      </m:den>
                    </m:f>
                  </m:oMath>
                </a14:m>
                <a:r>
                  <a:rPr lang="en-US" altLang="zh-CN" sz="1600" dirty="0" smtClean="0">
                    <a:solidFill>
                      <a:srgbClr val="FF0000"/>
                    </a:solidFill>
                  </a:rPr>
                  <a:t>:</a:t>
                </a:r>
                <a:endParaRPr lang="zh-CN" altLang="en-US" sz="1600" dirty="0">
                  <a:solidFill>
                    <a:srgbClr val="FF0000"/>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5691231" y="3373163"/>
                <a:ext cx="689741" cy="440633"/>
              </a:xfrm>
              <a:prstGeom prst="rect">
                <a:avLst/>
              </a:prstGeom>
              <a:blipFill rotWithShape="1">
                <a:blip r:embed="rId13"/>
                <a:stretch>
                  <a:fillRect l="-52" t="-10" r="71" b="1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450141" y="3318147"/>
                <a:ext cx="2226315" cy="495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smtClean="0">
                              <a:solidFill>
                                <a:srgbClr val="FF0000"/>
                              </a:solidFill>
                              <a:latin typeface="Cambria Math" panose="02040503050406030204" pitchFamily="18" charset="0"/>
                            </a:rPr>
                          </m:ctrlPr>
                        </m:sSubPr>
                        <m:e>
                          <m:acc>
                            <m:accPr>
                              <m:chr m:val="̇"/>
                              <m:ctrlPr>
                                <a:rPr lang="zh-CN" altLang="en-US" sz="1400" i="1">
                                  <a:solidFill>
                                    <a:srgbClr val="FF0000"/>
                                  </a:solidFill>
                                  <a:latin typeface="Cambria Math" panose="02040503050406030204" pitchFamily="18" charset="0"/>
                                </a:rPr>
                              </m:ctrlPr>
                            </m:accPr>
                            <m:e>
                              <m:r>
                                <a:rPr lang="zh-CN" altLang="en-US" sz="1400" i="1">
                                  <a:solidFill>
                                    <a:srgbClr val="FF0000"/>
                                  </a:solidFill>
                                  <a:latin typeface="Cambria Math" panose="02040503050406030204" pitchFamily="18" charset="0"/>
                                </a:rPr>
                                <m:t>𝜃</m:t>
                              </m:r>
                            </m:e>
                          </m:acc>
                        </m:e>
                        <m:sub>
                          <m:r>
                            <a:rPr lang="zh-CN" altLang="en-US" sz="1400" i="1">
                              <a:solidFill>
                                <a:srgbClr val="FF0000"/>
                              </a:solidFill>
                              <a:latin typeface="Cambria Math" panose="02040503050406030204" pitchFamily="18" charset="0"/>
                            </a:rPr>
                            <m:t>𝑚𝑎𝑥</m:t>
                          </m:r>
                        </m:sub>
                      </m:sSub>
                      <m:r>
                        <a:rPr lang="zh-CN" altLang="en-US" sz="1400" i="0">
                          <a:solidFill>
                            <a:srgbClr val="FF0000"/>
                          </a:solidFill>
                          <a:latin typeface="Cambria Math" panose="02040503050406030204" pitchFamily="18" charset="0"/>
                        </a:rPr>
                        <m:t>=</m:t>
                      </m:r>
                      <m:f>
                        <m:fPr>
                          <m:ctrlPr>
                            <a:rPr lang="zh-CN" altLang="en-US" sz="1400" i="1">
                              <a:solidFill>
                                <a:srgbClr val="FF0000"/>
                              </a:solidFill>
                              <a:latin typeface="Cambria Math" panose="02040503050406030204" pitchFamily="18" charset="0"/>
                            </a:rPr>
                          </m:ctrlPr>
                        </m:fPr>
                        <m:num>
                          <m:r>
                            <a:rPr lang="zh-CN" altLang="en-US" sz="1400" i="0">
                              <a:solidFill>
                                <a:srgbClr val="FF0000"/>
                              </a:solidFill>
                              <a:latin typeface="Cambria Math" panose="02040503050406030204" pitchFamily="18" charset="0"/>
                            </a:rPr>
                            <m:t>3</m:t>
                          </m:r>
                        </m:num>
                        <m:den>
                          <m:r>
                            <a:rPr lang="zh-CN" altLang="en-US" sz="1400" i="0">
                              <a:solidFill>
                                <a:srgbClr val="FF0000"/>
                              </a:solidFill>
                              <a:latin typeface="Cambria Math" panose="02040503050406030204" pitchFamily="18" charset="0"/>
                            </a:rPr>
                            <m:t>2</m:t>
                          </m:r>
                          <m:r>
                            <a:rPr lang="zh-CN" altLang="en-US" sz="1400" i="1">
                              <a:solidFill>
                                <a:srgbClr val="FF0000"/>
                              </a:solidFill>
                              <a:latin typeface="Cambria Math" panose="02040503050406030204" pitchFamily="18" charset="0"/>
                            </a:rPr>
                            <m:t>𝑇</m:t>
                          </m:r>
                        </m:den>
                      </m:f>
                      <m:d>
                        <m:dPr>
                          <m:ctrlPr>
                            <a:rPr lang="zh-CN" altLang="en-US" sz="1400" i="1">
                              <a:solidFill>
                                <a:srgbClr val="FF0000"/>
                              </a:solidFill>
                              <a:latin typeface="Cambria Math" panose="02040503050406030204" pitchFamily="18" charset="0"/>
                            </a:rPr>
                          </m:ctrlPr>
                        </m:dPr>
                        <m:e>
                          <m:sSub>
                            <m:sSubPr>
                              <m:ctrlPr>
                                <a:rPr lang="zh-CN" altLang="en-US" sz="1400" i="1">
                                  <a:solidFill>
                                    <a:srgbClr val="FF0000"/>
                                  </a:solidFill>
                                  <a:latin typeface="Cambria Math" panose="02040503050406030204" pitchFamily="18" charset="0"/>
                                </a:rPr>
                              </m:ctrlPr>
                            </m:sSubPr>
                            <m:e>
                              <m:r>
                                <a:rPr lang="zh-CN" altLang="en-US" sz="1400" i="1">
                                  <a:solidFill>
                                    <a:srgbClr val="FF0000"/>
                                  </a:solidFill>
                                  <a:latin typeface="Cambria Math" panose="02040503050406030204" pitchFamily="18" charset="0"/>
                                </a:rPr>
                                <m:t>𝜃</m:t>
                              </m:r>
                            </m:e>
                            <m:sub>
                              <m:r>
                                <a:rPr lang="zh-CN" altLang="en-US" sz="1400" i="1">
                                  <a:solidFill>
                                    <a:srgbClr val="FF0000"/>
                                  </a:solidFill>
                                  <a:latin typeface="Cambria Math" panose="02040503050406030204" pitchFamily="18" charset="0"/>
                                </a:rPr>
                                <m:t>𝑒𝑛𝑑</m:t>
                              </m:r>
                            </m:sub>
                          </m:sSub>
                          <m:r>
                            <a:rPr lang="zh-CN" altLang="en-US" sz="1400" i="0">
                              <a:solidFill>
                                <a:srgbClr val="FF0000"/>
                              </a:solidFill>
                              <a:latin typeface="Cambria Math" panose="02040503050406030204" pitchFamily="18" charset="0"/>
                            </a:rPr>
                            <m:t>−</m:t>
                          </m:r>
                          <m:sSub>
                            <m:sSubPr>
                              <m:ctrlPr>
                                <a:rPr lang="zh-CN" altLang="en-US" sz="1400" i="1">
                                  <a:solidFill>
                                    <a:srgbClr val="FF0000"/>
                                  </a:solidFill>
                                  <a:latin typeface="Cambria Math" panose="02040503050406030204" pitchFamily="18" charset="0"/>
                                </a:rPr>
                              </m:ctrlPr>
                            </m:sSubPr>
                            <m:e>
                              <m:r>
                                <a:rPr lang="zh-CN" altLang="en-US" sz="1400" i="1">
                                  <a:solidFill>
                                    <a:srgbClr val="FF0000"/>
                                  </a:solidFill>
                                  <a:latin typeface="Cambria Math" panose="02040503050406030204" pitchFamily="18" charset="0"/>
                                </a:rPr>
                                <m:t>𝜃</m:t>
                              </m:r>
                            </m:e>
                            <m:sub>
                              <m:r>
                                <a:rPr lang="zh-CN" altLang="en-US" sz="1400" i="1">
                                  <a:solidFill>
                                    <a:srgbClr val="FF0000"/>
                                  </a:solidFill>
                                  <a:latin typeface="Cambria Math" panose="02040503050406030204" pitchFamily="18" charset="0"/>
                                </a:rPr>
                                <m:t>𝑠𝑡𝑎𝑟𝑡</m:t>
                              </m:r>
                            </m:sub>
                          </m:sSub>
                        </m:e>
                      </m:d>
                    </m:oMath>
                  </m:oMathPara>
                </a14:m>
                <a:endParaRPr lang="zh-CN" altLang="en-US" sz="1400" dirty="0">
                  <a:solidFill>
                    <a:srgbClr val="FF0000"/>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6450141" y="3318147"/>
                <a:ext cx="2226315" cy="495649"/>
              </a:xfrm>
              <a:prstGeom prst="rect">
                <a:avLst/>
              </a:prstGeom>
              <a:blipFill rotWithShape="1">
                <a:blip r:embed="rId14"/>
                <a:stretch>
                  <a:fillRect l="-20" t="-55" r="20" b="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5610099" y="4097151"/>
                <a:ext cx="1749646" cy="338554"/>
              </a:xfrm>
              <a:prstGeom prst="rect">
                <a:avLst/>
              </a:prstGeom>
            </p:spPr>
            <p:txBody>
              <a:bodyPr wrap="none">
                <a:spAutoFit/>
              </a:bodyPr>
              <a:lstStyle/>
              <a:p>
                <a:r>
                  <a:rPr lang="zh-CN" altLang="zh-CN" sz="1600" dirty="0" smtClean="0">
                    <a:solidFill>
                      <a:srgbClr val="FF0000"/>
                    </a:solidFill>
                    <a:cs typeface="MV Boli" panose="02000500030200090000" pitchFamily="2" charset="0"/>
                  </a:rPr>
                  <a:t>在</a:t>
                </a:r>
                <a14:m>
                  <m:oMath xmlns:m="http://schemas.openxmlformats.org/officeDocument/2006/math">
                    <m:r>
                      <a:rPr lang="en-US" altLang="zh-CN" sz="1600" i="1">
                        <a:solidFill>
                          <a:srgbClr val="FF0000"/>
                        </a:solidFill>
                        <a:latin typeface="Cambria Math" panose="02040503050406030204" pitchFamily="18" charset="0"/>
                        <a:cs typeface="MV Boli" panose="02000500030200090000" pitchFamily="2" charset="0"/>
                      </a:rPr>
                      <m:t>𝑡</m:t>
                    </m:r>
                    <m:r>
                      <a:rPr lang="en-US" altLang="zh-CN" sz="1600">
                        <a:solidFill>
                          <a:srgbClr val="FF0000"/>
                        </a:solidFill>
                        <a:latin typeface="Cambria Math" panose="02040503050406030204" pitchFamily="18" charset="0"/>
                        <a:cs typeface="MV Boli" panose="02000500030200090000" pitchFamily="2" charset="0"/>
                      </a:rPr>
                      <m:t>=0</m:t>
                    </m:r>
                  </m:oMath>
                </a14:m>
                <a:r>
                  <a:rPr lang="zh-CN" altLang="zh-CN" sz="1600" dirty="0">
                    <a:solidFill>
                      <a:srgbClr val="FF0000"/>
                    </a:solidFill>
                    <a:cs typeface="MV Boli" panose="02000500030200090000" pitchFamily="2" charset="0"/>
                  </a:rPr>
                  <a:t>和</a:t>
                </a:r>
                <a14:m>
                  <m:oMath xmlns:m="http://schemas.openxmlformats.org/officeDocument/2006/math">
                    <m:r>
                      <a:rPr lang="en-US" altLang="zh-CN" sz="1600" i="1">
                        <a:solidFill>
                          <a:srgbClr val="FF0000"/>
                        </a:solidFill>
                        <a:latin typeface="Cambria Math" panose="02040503050406030204" pitchFamily="18" charset="0"/>
                        <a:cs typeface="MV Boli" panose="02000500030200090000" pitchFamily="2" charset="0"/>
                      </a:rPr>
                      <m:t>𝑡</m:t>
                    </m:r>
                    <m:r>
                      <a:rPr lang="en-US" altLang="zh-CN" sz="1600">
                        <a:solidFill>
                          <a:srgbClr val="FF0000"/>
                        </a:solidFill>
                        <a:latin typeface="Cambria Math" panose="02040503050406030204" pitchFamily="18" charset="0"/>
                        <a:cs typeface="MV Boli" panose="02000500030200090000" pitchFamily="2" charset="0"/>
                      </a:rPr>
                      <m:t>=</m:t>
                    </m:r>
                    <m:r>
                      <a:rPr lang="en-US" altLang="zh-CN" sz="1600" i="1">
                        <a:solidFill>
                          <a:srgbClr val="FF0000"/>
                        </a:solidFill>
                        <a:latin typeface="Cambria Math" panose="02040503050406030204" pitchFamily="18" charset="0"/>
                        <a:cs typeface="MV Boli" panose="02000500030200090000" pitchFamily="2" charset="0"/>
                      </a:rPr>
                      <m:t>𝑇</m:t>
                    </m:r>
                  </m:oMath>
                </a14:m>
                <a:r>
                  <a:rPr lang="zh-CN" altLang="zh-CN" sz="1600" dirty="0">
                    <a:solidFill>
                      <a:srgbClr val="FF0000"/>
                    </a:solidFill>
                    <a:cs typeface="MV Boli" panose="02000500030200090000" pitchFamily="2" charset="0"/>
                  </a:rPr>
                  <a:t>时</a:t>
                </a:r>
                <a:endParaRPr lang="zh-CN" altLang="en-US" sz="1600" dirty="0">
                  <a:solidFill>
                    <a:srgbClr val="FF0000"/>
                  </a:solidFill>
                </a:endParaRPr>
              </a:p>
            </p:txBody>
          </p:sp>
        </mc:Choice>
        <mc:Fallback xmlns="">
          <p:sp>
            <p:nvSpPr>
              <p:cNvPr id="20" name="矩形 19"/>
              <p:cNvSpPr>
                <a:spLocks noRot="1" noChangeAspect="1" noMove="1" noResize="1" noEditPoints="1" noAdjustHandles="1" noChangeArrowheads="1" noChangeShapeType="1" noTextEdit="1"/>
              </p:cNvSpPr>
              <p:nvPr/>
            </p:nvSpPr>
            <p:spPr>
              <a:xfrm>
                <a:off x="5610099" y="4097151"/>
                <a:ext cx="1749646" cy="338554"/>
              </a:xfrm>
              <a:prstGeom prst="rect">
                <a:avLst/>
              </a:prstGeom>
              <a:blipFill rotWithShape="1">
                <a:blip r:embed="rId15"/>
                <a:stretch>
                  <a:fillRect l="-29" t="-39" r="5" b="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148064" y="4465957"/>
                <a:ext cx="3995936" cy="4441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FF0000"/>
                              </a:solidFill>
                              <a:latin typeface="Cambria Math" panose="02040503050406030204" pitchFamily="18" charset="0"/>
                            </a:rPr>
                          </m:ctrlPr>
                        </m:sSubPr>
                        <m:e>
                          <m:acc>
                            <m:accPr>
                              <m:chr m:val="̈"/>
                              <m:ctrlPr>
                                <a:rPr lang="zh-CN" altLang="en-US" sz="1200" i="1">
                                  <a:solidFill>
                                    <a:srgbClr val="FF0000"/>
                                  </a:solidFill>
                                  <a:latin typeface="Cambria Math" panose="02040503050406030204" pitchFamily="18" charset="0"/>
                                </a:rPr>
                              </m:ctrlPr>
                            </m:accPr>
                            <m:e>
                              <m:r>
                                <a:rPr lang="zh-CN" altLang="en-US" sz="1200" i="1">
                                  <a:solidFill>
                                    <a:srgbClr val="FF0000"/>
                                  </a:solidFill>
                                  <a:latin typeface="Cambria Math" panose="02040503050406030204" pitchFamily="18" charset="0"/>
                                </a:rPr>
                                <m:t>𝜃</m:t>
                              </m:r>
                            </m:e>
                          </m:acc>
                        </m:e>
                        <m:sub>
                          <m:r>
                            <a:rPr lang="zh-CN" altLang="en-US" sz="1200" i="1">
                              <a:solidFill>
                                <a:srgbClr val="FF0000"/>
                              </a:solidFill>
                              <a:latin typeface="Cambria Math" panose="02040503050406030204" pitchFamily="18" charset="0"/>
                            </a:rPr>
                            <m:t>𝑚𝑎𝑥</m:t>
                          </m:r>
                        </m:sub>
                      </m:sSub>
                      <m:r>
                        <a:rPr lang="zh-CN" altLang="en-US" sz="1200" i="0">
                          <a:solidFill>
                            <a:srgbClr val="FF0000"/>
                          </a:solidFill>
                          <a:latin typeface="Cambria Math" panose="02040503050406030204" pitchFamily="18" charset="0"/>
                        </a:rPr>
                        <m:t>=</m:t>
                      </m:r>
                      <m:d>
                        <m:dPr>
                          <m:begChr m:val="|"/>
                          <m:endChr m:val="|"/>
                          <m:ctrlPr>
                            <a:rPr lang="zh-CN" altLang="en-US" sz="1200" i="1">
                              <a:solidFill>
                                <a:srgbClr val="FF0000"/>
                              </a:solidFill>
                              <a:latin typeface="Cambria Math" panose="02040503050406030204" pitchFamily="18" charset="0"/>
                            </a:rPr>
                          </m:ctrlPr>
                        </m:dPr>
                        <m:e>
                          <m:f>
                            <m:fPr>
                              <m:ctrlPr>
                                <a:rPr lang="zh-CN" altLang="en-US" sz="1200" i="1">
                                  <a:solidFill>
                                    <a:srgbClr val="FF0000"/>
                                  </a:solidFill>
                                  <a:latin typeface="Cambria Math" panose="02040503050406030204" pitchFamily="18" charset="0"/>
                                </a:rPr>
                              </m:ctrlPr>
                            </m:fPr>
                            <m:num>
                              <m:r>
                                <a:rPr lang="zh-CN" altLang="en-US" sz="1200" i="0">
                                  <a:solidFill>
                                    <a:srgbClr val="FF0000"/>
                                  </a:solidFill>
                                  <a:latin typeface="Cambria Math" panose="02040503050406030204" pitchFamily="18" charset="0"/>
                                </a:rPr>
                                <m:t>6</m:t>
                              </m:r>
                            </m:num>
                            <m:den>
                              <m:sSup>
                                <m:sSupPr>
                                  <m:ctrlPr>
                                    <a:rPr lang="zh-CN" altLang="en-US" sz="1200" i="1">
                                      <a:solidFill>
                                        <a:srgbClr val="FF0000"/>
                                      </a:solidFill>
                                      <a:latin typeface="Cambria Math" panose="02040503050406030204" pitchFamily="18" charset="0"/>
                                    </a:rPr>
                                  </m:ctrlPr>
                                </m:sSupPr>
                                <m:e>
                                  <m:r>
                                    <a:rPr lang="zh-CN" altLang="en-US" sz="1200" i="1">
                                      <a:solidFill>
                                        <a:srgbClr val="FF0000"/>
                                      </a:solidFill>
                                      <a:latin typeface="Cambria Math" panose="02040503050406030204" pitchFamily="18" charset="0"/>
                                    </a:rPr>
                                    <m:t>𝑇</m:t>
                                  </m:r>
                                </m:e>
                                <m:sup>
                                  <m:r>
                                    <a:rPr lang="zh-CN" altLang="en-US" sz="1200" i="0">
                                      <a:solidFill>
                                        <a:srgbClr val="FF0000"/>
                                      </a:solidFill>
                                      <a:latin typeface="Cambria Math" panose="02040503050406030204" pitchFamily="18" charset="0"/>
                                    </a:rPr>
                                    <m:t>2</m:t>
                                  </m:r>
                                </m:sup>
                              </m:sSup>
                            </m:den>
                          </m:f>
                          <m:d>
                            <m:dPr>
                              <m:ctrlPr>
                                <a:rPr lang="zh-CN" altLang="en-US" sz="1200" i="1">
                                  <a:solidFill>
                                    <a:srgbClr val="FF0000"/>
                                  </a:solidFill>
                                  <a:latin typeface="Cambria Math" panose="02040503050406030204" pitchFamily="18" charset="0"/>
                                </a:rPr>
                              </m:ctrlPr>
                            </m:dPr>
                            <m:e>
                              <m:sSub>
                                <m:sSubPr>
                                  <m:ctrlPr>
                                    <a:rPr lang="zh-CN" altLang="en-US" sz="1200" i="1">
                                      <a:solidFill>
                                        <a:srgbClr val="FF0000"/>
                                      </a:solidFill>
                                      <a:latin typeface="Cambria Math" panose="02040503050406030204" pitchFamily="18" charset="0"/>
                                    </a:rPr>
                                  </m:ctrlPr>
                                </m:sSubPr>
                                <m:e>
                                  <m:r>
                                    <a:rPr lang="zh-CN" altLang="en-US" sz="1200" i="1">
                                      <a:solidFill>
                                        <a:srgbClr val="FF0000"/>
                                      </a:solidFill>
                                      <a:latin typeface="Cambria Math" panose="02040503050406030204" pitchFamily="18" charset="0"/>
                                    </a:rPr>
                                    <m:t>𝜃</m:t>
                                  </m:r>
                                </m:e>
                                <m:sub>
                                  <m:r>
                                    <a:rPr lang="zh-CN" altLang="en-US" sz="1200" i="1">
                                      <a:solidFill>
                                        <a:srgbClr val="FF0000"/>
                                      </a:solidFill>
                                      <a:latin typeface="Cambria Math" panose="02040503050406030204" pitchFamily="18" charset="0"/>
                                    </a:rPr>
                                    <m:t>𝑒𝑛𝑑</m:t>
                                  </m:r>
                                </m:sub>
                              </m:sSub>
                              <m:r>
                                <a:rPr lang="zh-CN" altLang="en-US" sz="1200" i="0">
                                  <a:solidFill>
                                    <a:srgbClr val="FF0000"/>
                                  </a:solidFill>
                                  <a:latin typeface="Cambria Math" panose="02040503050406030204" pitchFamily="18" charset="0"/>
                                </a:rPr>
                                <m:t>−</m:t>
                              </m:r>
                              <m:sSub>
                                <m:sSubPr>
                                  <m:ctrlPr>
                                    <a:rPr lang="zh-CN" altLang="en-US" sz="1200" i="1">
                                      <a:solidFill>
                                        <a:srgbClr val="FF0000"/>
                                      </a:solidFill>
                                      <a:latin typeface="Cambria Math" panose="02040503050406030204" pitchFamily="18" charset="0"/>
                                    </a:rPr>
                                  </m:ctrlPr>
                                </m:sSubPr>
                                <m:e>
                                  <m:r>
                                    <a:rPr lang="zh-CN" altLang="en-US" sz="1200" i="1">
                                      <a:solidFill>
                                        <a:srgbClr val="FF0000"/>
                                      </a:solidFill>
                                      <a:latin typeface="Cambria Math" panose="02040503050406030204" pitchFamily="18" charset="0"/>
                                    </a:rPr>
                                    <m:t>𝜃</m:t>
                                  </m:r>
                                </m:e>
                                <m:sub>
                                  <m:r>
                                    <a:rPr lang="zh-CN" altLang="en-US" sz="1200" i="1">
                                      <a:solidFill>
                                        <a:srgbClr val="FF0000"/>
                                      </a:solidFill>
                                      <a:latin typeface="Cambria Math" panose="02040503050406030204" pitchFamily="18" charset="0"/>
                                    </a:rPr>
                                    <m:t>𝑠𝑡𝑎𝑟𝑡</m:t>
                                  </m:r>
                                </m:sub>
                              </m:sSub>
                            </m:e>
                          </m:d>
                        </m:e>
                      </m:d>
                      <m:r>
                        <a:rPr lang="zh-CN" altLang="en-US" sz="1200" i="0">
                          <a:solidFill>
                            <a:srgbClr val="FF0000"/>
                          </a:solidFill>
                          <a:latin typeface="Cambria Math" panose="02040503050406030204" pitchFamily="18" charset="0"/>
                        </a:rPr>
                        <m:t>, </m:t>
                      </m:r>
                      <m:sSub>
                        <m:sSubPr>
                          <m:ctrlPr>
                            <a:rPr lang="zh-CN" altLang="en-US" sz="1200" i="1">
                              <a:solidFill>
                                <a:srgbClr val="FF0000"/>
                              </a:solidFill>
                              <a:latin typeface="Cambria Math" panose="02040503050406030204" pitchFamily="18" charset="0"/>
                            </a:rPr>
                          </m:ctrlPr>
                        </m:sSubPr>
                        <m:e>
                          <m:acc>
                            <m:accPr>
                              <m:chr m:val="̈"/>
                              <m:ctrlPr>
                                <a:rPr lang="zh-CN" altLang="en-US" sz="1200" i="1">
                                  <a:solidFill>
                                    <a:srgbClr val="FF0000"/>
                                  </a:solidFill>
                                  <a:latin typeface="Cambria Math" panose="02040503050406030204" pitchFamily="18" charset="0"/>
                                </a:rPr>
                              </m:ctrlPr>
                            </m:accPr>
                            <m:e>
                              <m:r>
                                <a:rPr lang="zh-CN" altLang="en-US" sz="1200" i="1">
                                  <a:solidFill>
                                    <a:srgbClr val="FF0000"/>
                                  </a:solidFill>
                                  <a:latin typeface="Cambria Math" panose="02040503050406030204" pitchFamily="18" charset="0"/>
                                </a:rPr>
                                <m:t>𝜃</m:t>
                              </m:r>
                            </m:e>
                          </m:acc>
                        </m:e>
                        <m:sub>
                          <m:r>
                            <a:rPr lang="zh-CN" altLang="en-US" sz="1200" i="1">
                              <a:solidFill>
                                <a:srgbClr val="FF0000"/>
                              </a:solidFill>
                              <a:latin typeface="Cambria Math" panose="02040503050406030204" pitchFamily="18" charset="0"/>
                            </a:rPr>
                            <m:t>𝑚𝑖𝑛</m:t>
                          </m:r>
                        </m:sub>
                      </m:sSub>
                      <m:r>
                        <a:rPr lang="zh-CN" altLang="en-US" sz="1200" i="0">
                          <a:solidFill>
                            <a:srgbClr val="FF0000"/>
                          </a:solidFill>
                          <a:latin typeface="Cambria Math" panose="02040503050406030204" pitchFamily="18" charset="0"/>
                        </a:rPr>
                        <m:t>=−</m:t>
                      </m:r>
                      <m:d>
                        <m:dPr>
                          <m:begChr m:val="|"/>
                          <m:endChr m:val="|"/>
                          <m:ctrlPr>
                            <a:rPr lang="zh-CN" altLang="en-US" sz="1200" i="1">
                              <a:solidFill>
                                <a:srgbClr val="FF0000"/>
                              </a:solidFill>
                              <a:latin typeface="Cambria Math" panose="02040503050406030204" pitchFamily="18" charset="0"/>
                            </a:rPr>
                          </m:ctrlPr>
                        </m:dPr>
                        <m:e>
                          <m:f>
                            <m:fPr>
                              <m:ctrlPr>
                                <a:rPr lang="zh-CN" altLang="en-US" sz="1200" i="1">
                                  <a:solidFill>
                                    <a:srgbClr val="FF0000"/>
                                  </a:solidFill>
                                  <a:latin typeface="Cambria Math" panose="02040503050406030204" pitchFamily="18" charset="0"/>
                                </a:rPr>
                              </m:ctrlPr>
                            </m:fPr>
                            <m:num>
                              <m:r>
                                <a:rPr lang="zh-CN" altLang="en-US" sz="1200" i="0">
                                  <a:solidFill>
                                    <a:srgbClr val="FF0000"/>
                                  </a:solidFill>
                                  <a:latin typeface="Cambria Math" panose="02040503050406030204" pitchFamily="18" charset="0"/>
                                </a:rPr>
                                <m:t>6</m:t>
                              </m:r>
                            </m:num>
                            <m:den>
                              <m:sSup>
                                <m:sSupPr>
                                  <m:ctrlPr>
                                    <a:rPr lang="zh-CN" altLang="en-US" sz="1200" i="1">
                                      <a:solidFill>
                                        <a:srgbClr val="FF0000"/>
                                      </a:solidFill>
                                      <a:latin typeface="Cambria Math" panose="02040503050406030204" pitchFamily="18" charset="0"/>
                                    </a:rPr>
                                  </m:ctrlPr>
                                </m:sSupPr>
                                <m:e>
                                  <m:r>
                                    <a:rPr lang="zh-CN" altLang="en-US" sz="1200" i="1">
                                      <a:solidFill>
                                        <a:srgbClr val="FF0000"/>
                                      </a:solidFill>
                                      <a:latin typeface="Cambria Math" panose="02040503050406030204" pitchFamily="18" charset="0"/>
                                    </a:rPr>
                                    <m:t>𝑇</m:t>
                                  </m:r>
                                </m:e>
                                <m:sup>
                                  <m:r>
                                    <a:rPr lang="zh-CN" altLang="en-US" sz="1200" i="0">
                                      <a:solidFill>
                                        <a:srgbClr val="FF0000"/>
                                      </a:solidFill>
                                      <a:latin typeface="Cambria Math" panose="02040503050406030204" pitchFamily="18" charset="0"/>
                                    </a:rPr>
                                    <m:t>2</m:t>
                                  </m:r>
                                </m:sup>
                              </m:sSup>
                            </m:den>
                          </m:f>
                          <m:d>
                            <m:dPr>
                              <m:ctrlPr>
                                <a:rPr lang="zh-CN" altLang="en-US" sz="1200" i="1">
                                  <a:solidFill>
                                    <a:srgbClr val="FF0000"/>
                                  </a:solidFill>
                                  <a:latin typeface="Cambria Math" panose="02040503050406030204" pitchFamily="18" charset="0"/>
                                </a:rPr>
                              </m:ctrlPr>
                            </m:dPr>
                            <m:e>
                              <m:sSub>
                                <m:sSubPr>
                                  <m:ctrlPr>
                                    <a:rPr lang="zh-CN" altLang="en-US" sz="1200" i="1">
                                      <a:solidFill>
                                        <a:srgbClr val="FF0000"/>
                                      </a:solidFill>
                                      <a:latin typeface="Cambria Math" panose="02040503050406030204" pitchFamily="18" charset="0"/>
                                    </a:rPr>
                                  </m:ctrlPr>
                                </m:sSubPr>
                                <m:e>
                                  <m:r>
                                    <a:rPr lang="zh-CN" altLang="en-US" sz="1200" i="1">
                                      <a:solidFill>
                                        <a:srgbClr val="FF0000"/>
                                      </a:solidFill>
                                      <a:latin typeface="Cambria Math" panose="02040503050406030204" pitchFamily="18" charset="0"/>
                                    </a:rPr>
                                    <m:t>𝜃</m:t>
                                  </m:r>
                                </m:e>
                                <m:sub>
                                  <m:r>
                                    <a:rPr lang="zh-CN" altLang="en-US" sz="1200" i="1">
                                      <a:solidFill>
                                        <a:srgbClr val="FF0000"/>
                                      </a:solidFill>
                                      <a:latin typeface="Cambria Math" panose="02040503050406030204" pitchFamily="18" charset="0"/>
                                    </a:rPr>
                                    <m:t>𝑒𝑛𝑑</m:t>
                                  </m:r>
                                </m:sub>
                              </m:sSub>
                              <m:r>
                                <a:rPr lang="zh-CN" altLang="en-US" sz="1200" i="0">
                                  <a:solidFill>
                                    <a:srgbClr val="FF0000"/>
                                  </a:solidFill>
                                  <a:latin typeface="Cambria Math" panose="02040503050406030204" pitchFamily="18" charset="0"/>
                                </a:rPr>
                                <m:t>−</m:t>
                              </m:r>
                              <m:sSub>
                                <m:sSubPr>
                                  <m:ctrlPr>
                                    <a:rPr lang="zh-CN" altLang="en-US" sz="1200" i="1">
                                      <a:solidFill>
                                        <a:srgbClr val="FF0000"/>
                                      </a:solidFill>
                                      <a:latin typeface="Cambria Math" panose="02040503050406030204" pitchFamily="18" charset="0"/>
                                    </a:rPr>
                                  </m:ctrlPr>
                                </m:sSubPr>
                                <m:e>
                                  <m:r>
                                    <a:rPr lang="zh-CN" altLang="en-US" sz="1200" i="1">
                                      <a:solidFill>
                                        <a:srgbClr val="FF0000"/>
                                      </a:solidFill>
                                      <a:latin typeface="Cambria Math" panose="02040503050406030204" pitchFamily="18" charset="0"/>
                                    </a:rPr>
                                    <m:t>𝜃</m:t>
                                  </m:r>
                                </m:e>
                                <m:sub>
                                  <m:r>
                                    <a:rPr lang="zh-CN" altLang="en-US" sz="1200" i="1">
                                      <a:solidFill>
                                        <a:srgbClr val="FF0000"/>
                                      </a:solidFill>
                                      <a:latin typeface="Cambria Math" panose="02040503050406030204" pitchFamily="18" charset="0"/>
                                    </a:rPr>
                                    <m:t>𝑠𝑡𝑎𝑟𝑡</m:t>
                                  </m:r>
                                </m:sub>
                              </m:sSub>
                            </m:e>
                          </m:d>
                        </m:e>
                      </m:d>
                    </m:oMath>
                  </m:oMathPara>
                </a14:m>
                <a:endParaRPr lang="zh-CN" altLang="en-US" sz="1200" dirty="0">
                  <a:solidFill>
                    <a:srgbClr val="FF0000"/>
                  </a:solidFill>
                </a:endParaRPr>
              </a:p>
            </p:txBody>
          </p:sp>
        </mc:Choice>
        <mc:Fallback xmlns="">
          <p:sp>
            <p:nvSpPr>
              <p:cNvPr id="21" name="矩形 20"/>
              <p:cNvSpPr>
                <a:spLocks noRot="1" noChangeAspect="1" noMove="1" noResize="1" noEditPoints="1" noAdjustHandles="1" noChangeArrowheads="1" noChangeShapeType="1" noTextEdit="1"/>
              </p:cNvSpPr>
              <p:nvPr/>
            </p:nvSpPr>
            <p:spPr>
              <a:xfrm>
                <a:off x="5148064" y="4465957"/>
                <a:ext cx="3995936" cy="444161"/>
              </a:xfrm>
              <a:prstGeom prst="rect">
                <a:avLst/>
              </a:prstGeom>
              <a:blipFill rotWithShape="1">
                <a:blip r:embed="rId16"/>
                <a:stretch>
                  <a:fillRect l="-3" b="67"/>
                </a:stretch>
              </a:blipFill>
            </p:spPr>
            <p:txBody>
              <a:bodyPr/>
              <a:lstStyle/>
              <a:p>
                <a:r>
                  <a:rPr lang="zh-CN" altLang="en-US">
                    <a:noFill/>
                  </a:rPr>
                  <a:t> </a:t>
                </a:r>
              </a:p>
            </p:txBody>
          </p:sp>
        </mc:Fallback>
      </mc:AlternateContent>
      <p:pic>
        <p:nvPicPr>
          <p:cNvPr id="7" name="图片 6"/>
          <p:cNvPicPr>
            <a:picLocks noChangeAspect="1"/>
          </p:cNvPicPr>
          <p:nvPr/>
        </p:nvPicPr>
        <p:blipFill>
          <a:blip r:embed="rId17"/>
          <a:stretch>
            <a:fillRect/>
          </a:stretch>
        </p:blipFill>
        <p:spPr>
          <a:xfrm>
            <a:off x="1337384" y="3813796"/>
            <a:ext cx="2370520" cy="120622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103660" y="485894"/>
            <a:ext cx="1667444" cy="338554"/>
          </a:xfrm>
          <a:prstGeom prst="rect">
            <a:avLst/>
          </a:prstGeom>
        </p:spPr>
        <p:txBody>
          <a:bodyPr wrap="none">
            <a:spAutoFit/>
          </a:bodyPr>
          <a:lstStyle/>
          <a:p>
            <a:r>
              <a:rPr lang="zh-CN" altLang="en-US" sz="1600" dirty="0">
                <a:solidFill>
                  <a:srgbClr val="FF0000"/>
                </a:solidFill>
                <a:cs typeface="MV Boli" panose="02000500030200090000" pitchFamily="2" charset="0"/>
              </a:rPr>
              <a:t>三</a:t>
            </a:r>
            <a:r>
              <a:rPr lang="zh-CN" altLang="en-US" sz="1600" dirty="0" smtClean="0">
                <a:solidFill>
                  <a:srgbClr val="FF0000"/>
                </a:solidFill>
                <a:cs typeface="MV Boli" panose="02000500030200090000" pitchFamily="2" charset="0"/>
              </a:rPr>
              <a:t>次</a:t>
            </a:r>
            <a:r>
              <a:rPr lang="zh-CN" altLang="en-US" sz="1600" dirty="0">
                <a:solidFill>
                  <a:srgbClr val="FF0000"/>
                </a:solidFill>
                <a:cs typeface="MV Boli" panose="02000500030200090000" pitchFamily="2" charset="0"/>
              </a:rPr>
              <a:t>多项式插值 </a:t>
            </a:r>
            <a:endParaRPr lang="zh-CN" altLang="en-US" sz="1600" dirty="0">
              <a:solidFill>
                <a:srgbClr val="FF0000"/>
              </a:solidFill>
            </a:endParaRPr>
          </a:p>
        </p:txBody>
      </p:sp>
      <p:sp>
        <p:nvSpPr>
          <p:cNvPr id="15"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7" name="矩形 6"/>
              <p:cNvSpPr/>
              <p:nvPr/>
            </p:nvSpPr>
            <p:spPr>
              <a:xfrm>
                <a:off x="431540" y="3279905"/>
                <a:ext cx="5544616" cy="1569660"/>
              </a:xfrm>
              <a:prstGeom prst="rect">
                <a:avLst/>
              </a:prstGeom>
            </p:spPr>
            <p:txBody>
              <a:bodyPr wrap="square">
                <a:spAutoFit/>
              </a:bodyPr>
              <a:lstStyle/>
              <a:p>
                <a:r>
                  <a:rPr lang="zh-CN" altLang="zh-CN" sz="1600" dirty="0">
                    <a:cs typeface="MV Boli" panose="02000500030200090000" pitchFamily="2" charset="0"/>
                  </a:rPr>
                  <a:t>由于三次多项式插值的时间尺度函数没有对端点路径施加约束，使得</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m:t>
                    </m:r>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=0</m:t>
                    </m:r>
                  </m:oMath>
                </a14:m>
                <a:r>
                  <a:rPr lang="zh-CN" altLang="zh-CN" sz="1600" dirty="0">
                    <a:cs typeface="MV Boli" panose="02000500030200090000" pitchFamily="2" charset="0"/>
                  </a:rPr>
                  <a:t>，导致机器人在</a:t>
                </a:r>
                <a14:m>
                  <m:oMath xmlns:m="http://schemas.openxmlformats.org/officeDocument/2006/math">
                    <m:r>
                      <a:rPr lang="en-US" altLang="zh-CN" sz="1600" i="1">
                        <a:latin typeface="Cambria Math" panose="02040503050406030204" pitchFamily="18" charset="0"/>
                        <a:cs typeface="MV Boli" panose="02000500030200090000" pitchFamily="2" charset="0"/>
                      </a:rPr>
                      <m:t>𝑡</m:t>
                    </m:r>
                    <m:r>
                      <a:rPr lang="en-US" altLang="zh-CN" sz="1600">
                        <a:latin typeface="Cambria Math" panose="02040503050406030204" pitchFamily="18" charset="0"/>
                        <a:cs typeface="MV Boli" panose="02000500030200090000" pitchFamily="2" charset="0"/>
                      </a:rPr>
                      <m:t>=0</m:t>
                    </m:r>
                  </m:oMath>
                </a14:m>
                <a:r>
                  <a:rPr lang="zh-CN" altLang="zh-CN" sz="1600" dirty="0">
                    <a:cs typeface="MV Boli" panose="02000500030200090000" pitchFamily="2" charset="0"/>
                  </a:rPr>
                  <a:t>和</a:t>
                </a:r>
                <a14:m>
                  <m:oMath xmlns:m="http://schemas.openxmlformats.org/officeDocument/2006/math">
                    <m:r>
                      <a:rPr lang="en-US" altLang="zh-CN" sz="1600" i="1">
                        <a:latin typeface="Cambria Math" panose="02040503050406030204" pitchFamily="18" charset="0"/>
                        <a:cs typeface="MV Boli" panose="02000500030200090000" pitchFamily="2" charset="0"/>
                      </a:rPr>
                      <m:t>𝑡</m:t>
                    </m:r>
                    <m:r>
                      <a:rPr lang="en-US" altLang="zh-CN" sz="1600">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𝑇</m:t>
                    </m:r>
                  </m:oMath>
                </a14:m>
                <a:r>
                  <a:rPr lang="zh-CN" altLang="zh-CN" sz="1600" dirty="0">
                    <a:cs typeface="MV Boli" panose="02000500030200090000" pitchFamily="2" charset="0"/>
                  </a:rPr>
                  <a:t>时刻会产生加速度的不连续跳跃，这意味着存在无限的</a:t>
                </a:r>
                <a:r>
                  <a:rPr lang="zh-CN" altLang="zh-CN" sz="1600" b="1" dirty="0">
                    <a:solidFill>
                      <a:srgbClr val="FF0000"/>
                    </a:solidFill>
                    <a:cs typeface="MV Boli" panose="02000500030200090000" pitchFamily="2" charset="0"/>
                  </a:rPr>
                  <a:t>加加速</a:t>
                </a:r>
                <a:r>
                  <a:rPr lang="en-US" altLang="zh-CN" sz="1600" b="1" dirty="0">
                    <a:solidFill>
                      <a:srgbClr val="FF0000"/>
                    </a:solidFill>
                    <a:cs typeface="MV Boli" panose="02000500030200090000" pitchFamily="2" charset="0"/>
                  </a:rPr>
                  <a:t>(jerk)</a:t>
                </a:r>
                <a:r>
                  <a:rPr lang="zh-CN" altLang="zh-CN" sz="1600" dirty="0">
                    <a:cs typeface="MV Boli" panose="02000500030200090000" pitchFamily="2" charset="0"/>
                  </a:rPr>
                  <a:t>，即加速度的导数，这可能会导致机器人产生振动。通过在端点处施加</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m:t>
                    </m:r>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=0</m:t>
                    </m:r>
                  </m:oMath>
                </a14:m>
                <a:r>
                  <a:rPr lang="zh-CN" altLang="zh-CN" sz="1600" dirty="0">
                    <a:cs typeface="MV Boli" panose="02000500030200090000" pitchFamily="2" charset="0"/>
                  </a:rPr>
                  <a:t>的约束，采用五次多项式可以解决这个问题。</a:t>
                </a:r>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431540" y="3279905"/>
                <a:ext cx="5544616" cy="1569660"/>
              </a:xfrm>
              <a:prstGeom prst="rect">
                <a:avLst/>
              </a:prstGeom>
              <a:blipFill rotWithShape="1">
                <a:blip r:embed="rId6"/>
                <a:stretch>
                  <a:fillRect l="-7" t="-8" r="3" b="4"/>
                </a:stretch>
              </a:blipFill>
            </p:spPr>
            <p:txBody>
              <a:bodyPr/>
              <a:lstStyle/>
              <a:p>
                <a:r>
                  <a:rPr lang="zh-CN" altLang="en-US">
                    <a:noFill/>
                  </a:rPr>
                  <a:t> </a:t>
                </a:r>
              </a:p>
            </p:txBody>
          </p:sp>
        </mc:Fallback>
      </mc:AlternateContent>
      <p:pic>
        <p:nvPicPr>
          <p:cNvPr id="8194" name="Picture 2" descr="用于Anti-jerk控制的简化传动链模型"/>
          <p:cNvPicPr>
            <a:picLocks noChangeAspect="1" noChangeArrowheads="1"/>
          </p:cNvPicPr>
          <p:nvPr/>
        </p:nvPicPr>
        <p:blipFill rotWithShape="1">
          <a:blip r:embed="rId7">
            <a:extLst>
              <a:ext uri="{28A0092B-C50C-407E-A947-70E740481C1C}">
                <a14:useLocalDpi xmlns:a14="http://schemas.microsoft.com/office/drawing/2010/main" val="0"/>
              </a:ext>
            </a:extLst>
          </a:blip>
          <a:srcRect r="50327"/>
          <a:stretch>
            <a:fillRect/>
          </a:stretch>
        </p:blipFill>
        <p:spPr bwMode="auto">
          <a:xfrm>
            <a:off x="6121550" y="3259876"/>
            <a:ext cx="1956185" cy="1914549"/>
          </a:xfrm>
          <a:prstGeom prst="rect">
            <a:avLst/>
          </a:prstGeom>
          <a:noFill/>
          <a:extLst>
            <a:ext uri="{909E8E84-426E-40DD-AFC4-6F175D3DCCD1}">
              <a14:hiddenFill xmlns:a14="http://schemas.microsoft.com/office/drawing/2010/main">
                <a:solidFill>
                  <a:srgbClr val="FFFFFF"/>
                </a:solidFill>
              </a14:hiddenFill>
            </a:ext>
          </a:extLst>
        </p:spPr>
      </p:pic>
      <p:pic>
        <p:nvPicPr>
          <p:cNvPr id="9" name="cubic_bspline">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8"/>
          <a:stretch>
            <a:fillRect/>
          </a:stretch>
        </p:blipFill>
        <p:spPr>
          <a:xfrm>
            <a:off x="2599372" y="934316"/>
            <a:ext cx="3310880" cy="21910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103660" y="485894"/>
            <a:ext cx="1717137" cy="338554"/>
          </a:xfrm>
          <a:prstGeom prst="rect">
            <a:avLst/>
          </a:prstGeom>
        </p:spPr>
        <p:txBody>
          <a:bodyPr wrap="none">
            <a:spAutoFit/>
          </a:bodyPr>
          <a:lstStyle/>
          <a:p>
            <a:r>
              <a:rPr lang="zh-CN" altLang="en-US" sz="1600" dirty="0" smtClean="0">
                <a:solidFill>
                  <a:srgbClr val="FF0000"/>
                </a:solidFill>
                <a:cs typeface="MV Boli" panose="02000500030200090000" pitchFamily="2" charset="0"/>
              </a:rPr>
              <a:t>五次</a:t>
            </a:r>
            <a:r>
              <a:rPr lang="zh-CN" altLang="en-US" sz="1600" dirty="0">
                <a:solidFill>
                  <a:srgbClr val="FF0000"/>
                </a:solidFill>
                <a:cs typeface="MV Boli" panose="02000500030200090000" pitchFamily="2" charset="0"/>
              </a:rPr>
              <a:t>多项式插值 </a:t>
            </a:r>
            <a:endParaRPr lang="zh-CN" altLang="en-US" sz="1600" dirty="0">
              <a:solidFill>
                <a:srgbClr val="FF0000"/>
              </a:solidFill>
            </a:endParaRPr>
          </a:p>
        </p:txBody>
      </p:sp>
      <p:sp>
        <p:nvSpPr>
          <p:cNvPr id="15"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2" name="矩形 1"/>
              <p:cNvSpPr/>
              <p:nvPr/>
            </p:nvSpPr>
            <p:spPr>
              <a:xfrm>
                <a:off x="2485952" y="960146"/>
                <a:ext cx="4572000" cy="34137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0</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𝑡</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4</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5</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5</m:t>
                          </m:r>
                        </m:sup>
                      </m:sSup>
                    </m:oMath>
                  </m:oMathPara>
                </a14:m>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2485952" y="960146"/>
                <a:ext cx="4572000" cy="341376"/>
              </a:xfrm>
              <a:prstGeom prst="rect">
                <a:avLst/>
              </a:prstGeom>
              <a:blipFill rotWithShape="1">
                <a:blip r:embed="rId4"/>
                <a:stretch>
                  <a:fillRect l="-12" t="-8" r="12" b="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699792" y="1308120"/>
                <a:ext cx="39821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𝑠</m:t>
                          </m:r>
                        </m:e>
                      </m:acc>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+2</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𝑡</m:t>
                      </m:r>
                      <m:r>
                        <a:rPr lang="zh-CN" altLang="en-US" sz="1600" i="0">
                          <a:latin typeface="Cambria Math" panose="02040503050406030204" pitchFamily="18" charset="0"/>
                        </a:rPr>
                        <m:t>+3</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+4</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r>
                        <a:rPr lang="zh-CN" altLang="en-US" sz="1600" i="0">
                          <a:latin typeface="Cambria Math" panose="02040503050406030204" pitchFamily="18" charset="0"/>
                        </a:rPr>
                        <m:t>+5</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5</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4</m:t>
                          </m:r>
                        </m:sup>
                      </m:sSup>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2699792" y="1308120"/>
                <a:ext cx="3982116" cy="338554"/>
              </a:xfrm>
              <a:prstGeom prst="rect">
                <a:avLst/>
              </a:prstGeom>
              <a:blipFill rotWithShape="1">
                <a:blip r:embed="rId5"/>
                <a:stretch>
                  <a:fillRect l="-10" t="-6" r="11" b="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700390" y="1705082"/>
                <a:ext cx="357213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𝑠</m:t>
                          </m:r>
                        </m:e>
                      </m:acc>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=2</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+6</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r>
                        <a:rPr lang="zh-CN" altLang="en-US" sz="1600" i="1">
                          <a:latin typeface="Cambria Math" panose="02040503050406030204" pitchFamily="18" charset="0"/>
                        </a:rPr>
                        <m:t>𝑡</m:t>
                      </m:r>
                      <m:r>
                        <a:rPr lang="zh-CN" altLang="en-US" sz="1600" i="0">
                          <a:latin typeface="Cambria Math" panose="02040503050406030204" pitchFamily="18" charset="0"/>
                        </a:rPr>
                        <m:t>+12</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+20</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5</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oMath>
                  </m:oMathPara>
                </a14:m>
                <a:endParaRPr lang="zh-CN" altLang="en-US" sz="1600" dirty="0"/>
              </a:p>
            </p:txBody>
          </p:sp>
        </mc:Choice>
        <mc:Fallback xmlns="">
          <p:sp>
            <p:nvSpPr>
              <p:cNvPr id="4" name="矩形 3"/>
              <p:cNvSpPr>
                <a:spLocks noRot="1" noChangeAspect="1" noMove="1" noResize="1" noEditPoints="1" noAdjustHandles="1" noChangeArrowheads="1" noChangeShapeType="1" noTextEdit="1"/>
              </p:cNvSpPr>
              <p:nvPr/>
            </p:nvSpPr>
            <p:spPr>
              <a:xfrm>
                <a:off x="2700390" y="1705082"/>
                <a:ext cx="3572132" cy="338554"/>
              </a:xfrm>
              <a:prstGeom prst="rect">
                <a:avLst/>
              </a:prstGeom>
              <a:blipFill rotWithShape="1">
                <a:blip r:embed="rId6"/>
                <a:stretch>
                  <a:fillRect l="-10" t="-32" r="18" b="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768597" y="2177983"/>
                <a:ext cx="5534797" cy="338554"/>
              </a:xfrm>
              <a:prstGeom prst="rect">
                <a:avLst/>
              </a:prstGeom>
            </p:spPr>
            <p:txBody>
              <a:bodyPr wrap="square">
                <a:spAutoFit/>
              </a:bodyPr>
              <a:lstStyle/>
              <a:p>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m:t>
                    </m:r>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m:t>
                    </m:r>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0</m:t>
                        </m:r>
                      </m:e>
                    </m:d>
                    <m:r>
                      <a:rPr lang="en-US" altLang="zh-CN" sz="1600" i="1">
                        <a:latin typeface="Cambria Math" panose="02040503050406030204" pitchFamily="18" charset="0"/>
                        <a:cs typeface="MV Boli" panose="02000500030200090000" pitchFamily="2" charset="0"/>
                      </a:rPr>
                      <m:t>=0</m:t>
                    </m:r>
                  </m:oMath>
                </a14:m>
                <a:r>
                  <a:rPr lang="en-US" altLang="zh-CN" sz="1600" dirty="0">
                    <a:latin typeface="宋体" panose="02010600030101010101" pitchFamily="2" charset="-122"/>
                    <a:cs typeface="MV Boli" panose="02000500030200090000" pitchFamily="2" charset="0"/>
                  </a:rPr>
                  <a:t> </a:t>
                </a:r>
                <a:r>
                  <a:rPr lang="zh-CN" altLang="zh-CN" sz="1600" dirty="0">
                    <a:cs typeface="MV Boli" panose="02000500030200090000" pitchFamily="2" charset="0"/>
                  </a:rPr>
                  <a:t>、</a:t>
                </a:r>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=1</m:t>
                    </m:r>
                  </m:oMath>
                </a14:m>
                <a:r>
                  <a:rPr lang="zh-CN" altLang="zh-CN" sz="1600" dirty="0">
                    <a:cs typeface="MV Boli" panose="02000500030200090000" pitchFamily="2" charset="0"/>
                  </a:rPr>
                  <a:t>、</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m:t>
                    </m:r>
                    <m:acc>
                      <m:accPr>
                        <m:chr m:val="̈"/>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=0</m:t>
                    </m:r>
                  </m:oMath>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1768597" y="2177983"/>
                <a:ext cx="5534797" cy="338554"/>
              </a:xfrm>
              <a:prstGeom prst="rect">
                <a:avLst/>
              </a:prstGeom>
              <a:blipFill rotWithShape="1">
                <a:blip r:embed="rId7"/>
                <a:stretch>
                  <a:fillRect l="-2" t="-168" r="5" b="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20288" y="2575260"/>
                <a:ext cx="4572000" cy="50000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0">
                              <a:latin typeface="Cambria Math" panose="02040503050406030204" pitchFamily="18" charset="0"/>
                            </a:rPr>
                            <m:t>0</m:t>
                          </m:r>
                        </m:sub>
                      </m:sSub>
                      <m:r>
                        <a:rPr lang="zh-CN" altLang="en-US" sz="1400" i="0">
                          <a:latin typeface="Cambria Math" panose="02040503050406030204" pitchFamily="18" charset="0"/>
                        </a:rPr>
                        <m:t>=0,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0">
                              <a:latin typeface="Cambria Math" panose="02040503050406030204" pitchFamily="18" charset="0"/>
                            </a:rPr>
                            <m:t>1</m:t>
                          </m:r>
                        </m:sub>
                      </m:sSub>
                      <m:r>
                        <a:rPr lang="zh-CN" altLang="en-US" sz="1400" i="0">
                          <a:latin typeface="Cambria Math" panose="02040503050406030204" pitchFamily="18" charset="0"/>
                        </a:rPr>
                        <m:t>=0,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0">
                              <a:latin typeface="Cambria Math" panose="02040503050406030204" pitchFamily="18" charset="0"/>
                            </a:rPr>
                            <m:t>2</m:t>
                          </m:r>
                        </m:sub>
                      </m:sSub>
                      <m:r>
                        <a:rPr lang="zh-CN" altLang="en-US" sz="1400" i="0">
                          <a:latin typeface="Cambria Math" panose="02040503050406030204" pitchFamily="18" charset="0"/>
                        </a:rPr>
                        <m:t>=0,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0">
                              <a:latin typeface="Cambria Math" panose="02040503050406030204" pitchFamily="18" charset="0"/>
                            </a:rPr>
                            <m:t>3</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10</m:t>
                          </m:r>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3</m:t>
                              </m:r>
                            </m:sup>
                          </m:sSup>
                        </m:den>
                      </m:f>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0">
                              <a:latin typeface="Cambria Math" panose="02040503050406030204" pitchFamily="18" charset="0"/>
                            </a:rPr>
                            <m:t>5</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15</m:t>
                          </m:r>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4</m:t>
                              </m:r>
                            </m:sup>
                          </m:sSup>
                        </m:den>
                      </m:f>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0">
                              <a:latin typeface="Cambria Math" panose="02040503050406030204" pitchFamily="18" charset="0"/>
                            </a:rPr>
                            <m:t>5</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6</m:t>
                          </m:r>
                        </m:num>
                        <m:den>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𝑇</m:t>
                              </m:r>
                            </m:e>
                            <m:sup>
                              <m:r>
                                <a:rPr lang="zh-CN" altLang="en-US" sz="1400" i="0">
                                  <a:latin typeface="Cambria Math" panose="02040503050406030204" pitchFamily="18" charset="0"/>
                                </a:rPr>
                                <m:t>5</m:t>
                              </m:r>
                            </m:sup>
                          </m:sSup>
                        </m:den>
                      </m:f>
                    </m:oMath>
                  </m:oMathPara>
                </a14:m>
                <a:endParaRPr lang="zh-CN" altLang="en-US" sz="1400" dirty="0"/>
              </a:p>
            </p:txBody>
          </p:sp>
        </mc:Choice>
        <mc:Fallback xmlns="">
          <p:sp>
            <p:nvSpPr>
              <p:cNvPr id="6" name="矩形 5"/>
              <p:cNvSpPr>
                <a:spLocks noRot="1" noChangeAspect="1" noMove="1" noResize="1" noEditPoints="1" noAdjustHandles="1" noChangeArrowheads="1" noChangeShapeType="1" noTextEdit="1"/>
              </p:cNvSpPr>
              <p:nvPr/>
            </p:nvSpPr>
            <p:spPr>
              <a:xfrm>
                <a:off x="320288" y="2575260"/>
                <a:ext cx="4572000" cy="500009"/>
              </a:xfrm>
              <a:prstGeom prst="rect">
                <a:avLst/>
              </a:prstGeom>
              <a:blipFill rotWithShape="1">
                <a:blip r:embed="rId8"/>
                <a:stretch>
                  <a:fillRect l="-5" t="-67" r="5" b="1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5761217" y="2663374"/>
                <a:ext cx="2279855" cy="3413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𝑠</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4</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5</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5</m:t>
                          </m:r>
                        </m:sup>
                      </m:sSup>
                    </m:oMath>
                  </m:oMathPara>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5761217" y="2663374"/>
                <a:ext cx="2279855" cy="341376"/>
              </a:xfrm>
              <a:prstGeom prst="rect">
                <a:avLst/>
              </a:prstGeom>
              <a:blipFill rotWithShape="1">
                <a:blip r:embed="rId9"/>
                <a:stretch>
                  <a:fillRect l="-22" t="-54" r="3" b="166"/>
                </a:stretch>
              </a:blipFill>
            </p:spPr>
            <p:txBody>
              <a:bodyPr/>
              <a:lstStyle/>
              <a:p>
                <a:r>
                  <a:rPr lang="zh-CN" altLang="en-US">
                    <a:noFill/>
                  </a:rPr>
                  <a:t> </a:t>
                </a:r>
              </a:p>
            </p:txBody>
          </p:sp>
        </mc:Fallback>
      </mc:AlternateContent>
      <p:pic>
        <p:nvPicPr>
          <p:cNvPr id="18" name="图片 17"/>
          <p:cNvPicPr/>
          <p:nvPr/>
        </p:nvPicPr>
        <p:blipFill>
          <a:blip r:embed="rId10"/>
          <a:stretch>
            <a:fillRect/>
          </a:stretch>
        </p:blipFill>
        <p:spPr>
          <a:xfrm>
            <a:off x="1695132" y="3284321"/>
            <a:ext cx="5189855" cy="1494790"/>
          </a:xfrm>
          <a:prstGeom prst="rect">
            <a:avLst/>
          </a:prstGeom>
        </p:spPr>
      </p:pic>
      <p:sp>
        <p:nvSpPr>
          <p:cNvPr id="10" name="右箭头 9"/>
          <p:cNvSpPr/>
          <p:nvPr/>
        </p:nvSpPr>
        <p:spPr>
          <a:xfrm>
            <a:off x="5123379" y="2730920"/>
            <a:ext cx="406746" cy="2500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103660" y="485894"/>
            <a:ext cx="1620957" cy="338554"/>
          </a:xfrm>
          <a:prstGeom prst="rect">
            <a:avLst/>
          </a:prstGeom>
        </p:spPr>
        <p:txBody>
          <a:bodyPr wrap="none">
            <a:spAutoFit/>
          </a:bodyPr>
          <a:lstStyle/>
          <a:p>
            <a:r>
              <a:rPr lang="zh-CN" altLang="en-US" sz="1600" dirty="0" smtClean="0">
                <a:solidFill>
                  <a:srgbClr val="FF0000"/>
                </a:solidFill>
                <a:cs typeface="MV Boli" panose="02000500030200090000" pitchFamily="2" charset="0"/>
              </a:rPr>
              <a:t>梯形加减速曲线</a:t>
            </a:r>
            <a:endParaRPr lang="zh-CN" altLang="en-US" sz="1600" dirty="0">
              <a:solidFill>
                <a:srgbClr val="FF0000"/>
              </a:solidFill>
            </a:endParaRPr>
          </a:p>
        </p:txBody>
      </p:sp>
      <p:sp>
        <p:nvSpPr>
          <p:cNvPr id="15" name="形状"/>
          <p:cNvSpPr/>
          <p:nvPr>
            <p:custDataLst>
              <p:tags r:id="rId2"/>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7" name="矩形 6"/>
              <p:cNvSpPr/>
              <p:nvPr/>
            </p:nvSpPr>
            <p:spPr>
              <a:xfrm>
                <a:off x="2599372" y="2965696"/>
                <a:ext cx="3563796" cy="338554"/>
              </a:xfrm>
              <a:prstGeom prst="rect">
                <a:avLst/>
              </a:prstGeom>
            </p:spPr>
            <p:txBody>
              <a:bodyPr wrap="none">
                <a:spAutoFit/>
              </a:bodyPr>
              <a:lstStyle/>
              <a:p>
                <a:r>
                  <a:rPr lang="zh-CN" altLang="zh-CN" sz="1600" dirty="0" smtClean="0">
                    <a:solidFill>
                      <a:srgbClr val="002060"/>
                    </a:solidFill>
                    <a:cs typeface="MV Boli" panose="02000500030200090000" pitchFamily="2" charset="0"/>
                  </a:rPr>
                  <a:t>梯形加减速时间尺度对应的</a:t>
                </a:r>
                <a14:m>
                  <m:oMath xmlns:m="http://schemas.openxmlformats.org/officeDocument/2006/math">
                    <m:r>
                      <a:rPr lang="en-US" altLang="zh-CN" sz="1600" i="1">
                        <a:solidFill>
                          <a:srgbClr val="002060"/>
                        </a:solidFill>
                        <a:latin typeface="Cambria Math" panose="02040503050406030204" pitchFamily="18" charset="0"/>
                        <a:cs typeface="MV Boli" panose="02000500030200090000" pitchFamily="2" charset="0"/>
                      </a:rPr>
                      <m:t>𝑠</m:t>
                    </m:r>
                    <m:d>
                      <m:d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𝑡</m:t>
                        </m:r>
                      </m:e>
                    </m:d>
                  </m:oMath>
                </a14:m>
                <a:r>
                  <a:rPr lang="zh-CN" altLang="zh-CN" sz="1600" dirty="0">
                    <a:solidFill>
                      <a:srgbClr val="002060"/>
                    </a:solidFill>
                    <a:cs typeface="MV Boli" panose="02000500030200090000" pitchFamily="2" charset="0"/>
                  </a:rPr>
                  <a:t>、</a:t>
                </a:r>
                <a14:m>
                  <m:oMath xmlns:m="http://schemas.openxmlformats.org/officeDocument/2006/math">
                    <m:acc>
                      <m:accPr>
                        <m:chr m:val="̇"/>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solidFill>
                              <a:srgbClr val="002060"/>
                            </a:solidFill>
                            <a:latin typeface="Cambria Math" panose="02040503050406030204" pitchFamily="18" charset="0"/>
                            <a:cs typeface="MV Boli" panose="02000500030200090000" pitchFamily="2" charset="0"/>
                          </a:rPr>
                          <m:t>𝑠</m:t>
                        </m:r>
                      </m:e>
                    </m:acc>
                    <m:d>
                      <m:d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𝑡</m:t>
                        </m:r>
                      </m:e>
                    </m:d>
                  </m:oMath>
                </a14:m>
                <a:endParaRPr lang="zh-CN" altLang="en-US" sz="1600" dirty="0">
                  <a:solidFill>
                    <a:srgbClr val="002060"/>
                  </a:solidFill>
                </a:endParaRPr>
              </a:p>
            </p:txBody>
          </p:sp>
        </mc:Choice>
        <mc:Fallback xmlns="">
          <p:sp>
            <p:nvSpPr>
              <p:cNvPr id="7" name="矩形 6"/>
              <p:cNvSpPr>
                <a:spLocks noRot="1" noChangeAspect="1" noMove="1" noResize="1" noEditPoints="1" noAdjustHandles="1" noChangeArrowheads="1" noChangeShapeType="1" noTextEdit="1"/>
              </p:cNvSpPr>
              <p:nvPr/>
            </p:nvSpPr>
            <p:spPr>
              <a:xfrm>
                <a:off x="2599372" y="2965696"/>
                <a:ext cx="3563796" cy="338554"/>
              </a:xfrm>
              <a:prstGeom prst="rect">
                <a:avLst/>
              </a:prstGeom>
              <a:blipFill rotWithShape="1">
                <a:blip r:embed="rId5"/>
                <a:stretch>
                  <a:fillRect l="-9" t="-73" r="14" b="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13372" y="3509830"/>
                <a:ext cx="2286000" cy="1534523"/>
              </a:xfrm>
              <a:prstGeom prst="rect">
                <a:avLst/>
              </a:prstGeom>
            </p:spPr>
            <p:txBody>
              <a:bodyPr wrap="square">
                <a:spAutoFit/>
              </a:bodyPr>
              <a:lstStyle/>
              <a:p>
                <a:pPr indent="266700" algn="ctr">
                  <a:spcBef>
                    <a:spcPts val="600"/>
                  </a:spcBef>
                  <a:spcAft>
                    <a:spcPts val="600"/>
                  </a:spcAft>
                </a:pPr>
                <a:r>
                  <a:rPr lang="zh-CN" altLang="zh-CN" sz="1400" dirty="0">
                    <a:latin typeface="宋体" panose="02010600030101010101" pitchFamily="2" charset="-122"/>
                    <a:cs typeface="MV Boli" panose="02000500030200090000" pitchFamily="2" charset="0"/>
                  </a:rPr>
                  <a:t>在加速阶段</a:t>
                </a:r>
                <a14:m>
                  <m:oMath xmlns:m="http://schemas.openxmlformats.org/officeDocument/2006/math">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a:latin typeface="Cambria Math" panose="02040503050406030204" pitchFamily="18" charset="0"/>
                            <a:cs typeface="MV Boli" panose="02000500030200090000" pitchFamily="2" charset="0"/>
                          </a:rPr>
                          <m:t>0≤</m:t>
                        </m:r>
                        <m:r>
                          <m:rPr>
                            <m:sty m:val="p"/>
                          </m:rPr>
                          <a:rPr lang="en-US" altLang="zh-CN" sz="1400">
                            <a:latin typeface="Cambria Math" panose="02040503050406030204" pitchFamily="18" charset="0"/>
                            <a:cs typeface="MV Boli" panose="02000500030200090000" pitchFamily="2" charset="0"/>
                          </a:rPr>
                          <m:t>t</m:t>
                        </m:r>
                        <m:r>
                          <a:rPr lang="en-US" altLang="zh-CN" sz="1400">
                            <a:latin typeface="Cambria Math" panose="02040503050406030204" pitchFamily="18" charset="0"/>
                            <a:cs typeface="MV Boli" panose="02000500030200090000" pitchFamily="2" charset="0"/>
                          </a:rPr>
                          <m:t>≤</m:t>
                        </m:r>
                        <m:f>
                          <m:f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𝑣</m:t>
                            </m:r>
                          </m:num>
                          <m:den>
                            <m:r>
                              <a:rPr lang="en-US" altLang="zh-CN" sz="1400" i="1">
                                <a:latin typeface="Cambria Math" panose="02040503050406030204" pitchFamily="18" charset="0"/>
                                <a:cs typeface="MV Boli" panose="02000500030200090000" pitchFamily="2" charset="0"/>
                              </a:rPr>
                              <m:t>𝑎</m:t>
                            </m:r>
                          </m:den>
                        </m:f>
                      </m:e>
                    </m:d>
                  </m:oMath>
                </a14:m>
                <a:r>
                  <a:rPr lang="en-US" altLang="zh-CN" sz="1400" dirty="0">
                    <a:latin typeface="宋体" panose="02010600030101010101" pitchFamily="2" charset="-122"/>
                    <a:cs typeface="MV Boli" panose="02000500030200090000" pitchFamily="2" charset="0"/>
                  </a:rPr>
                  <a:t>:</a:t>
                </a:r>
                <a:endParaRPr lang="zh-CN" altLang="zh-CN" sz="1400" dirty="0">
                  <a:latin typeface="宋体" panose="02010600030101010101" pitchFamily="2" charset="-122"/>
                  <a:cs typeface="宋体" panose="02010600030101010101" pitchFamily="2" charset="-122"/>
                </a:endParaRPr>
              </a:p>
              <a:p>
                <a:pPr indent="266700" algn="ctr">
                  <a:spcBef>
                    <a:spcPts val="600"/>
                  </a:spcBef>
                  <a:spcAft>
                    <a:spcPts val="600"/>
                  </a:spcAft>
                </a:pPr>
                <a14:m>
                  <m:oMath xmlns:m="http://schemas.openxmlformats.org/officeDocument/2006/math">
                    <m:r>
                      <a:rPr lang="en-US" altLang="zh-CN" sz="1400" i="1">
                        <a:latin typeface="Cambria Math" panose="02040503050406030204" pitchFamily="18" charset="0"/>
                        <a:cs typeface="MV Boli" panose="02000500030200090000" pitchFamily="2" charset="0"/>
                      </a:rPr>
                      <m:t> </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𝑠</m:t>
                        </m:r>
                      </m:e>
                    </m:acc>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𝑎</m:t>
                    </m:r>
                  </m:oMath>
                </a14:m>
                <a:r>
                  <a:rPr lang="en-US" altLang="zh-CN" sz="1400" dirty="0">
                    <a:latin typeface="宋体" panose="02010600030101010101" pitchFamily="2" charset="-122"/>
                    <a:cs typeface="MV Boli" panose="02000500030200090000" pitchFamily="2" charset="0"/>
                  </a:rPr>
                  <a:t> (5-17)</a:t>
                </a:r>
                <a:endParaRPr lang="zh-CN" altLang="zh-CN" sz="1400" dirty="0">
                  <a:latin typeface="宋体" panose="02010600030101010101" pitchFamily="2" charset="-122"/>
                  <a:cs typeface="宋体" panose="02010600030101010101" pitchFamily="2" charset="-122"/>
                </a:endParaRPr>
              </a:p>
              <a:p>
                <a:pPr indent="266700" algn="ctr">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𝑠</m:t>
                        </m:r>
                      </m:e>
                    </m:acc>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𝑎𝑡</m:t>
                    </m:r>
                  </m:oMath>
                </a14:m>
                <a:r>
                  <a:rPr lang="en-US" altLang="zh-CN" sz="1400" dirty="0">
                    <a:latin typeface="宋体" panose="02010600030101010101" pitchFamily="2" charset="-122"/>
                    <a:cs typeface="MV Boli" panose="02000500030200090000" pitchFamily="2" charset="0"/>
                  </a:rPr>
                  <a:t> (5-18)</a:t>
                </a:r>
                <a:endParaRPr lang="zh-CN" altLang="zh-CN" sz="1400" dirty="0">
                  <a:latin typeface="宋体" panose="02010600030101010101" pitchFamily="2" charset="-122"/>
                  <a:cs typeface="宋体" panose="02010600030101010101" pitchFamily="2" charset="-122"/>
                </a:endParaRPr>
              </a:p>
              <a:p>
                <a:pPr algn="ctr"/>
                <a14:m>
                  <m:oMath xmlns:m="http://schemas.openxmlformats.org/officeDocument/2006/math">
                    <m:r>
                      <a:rPr lang="en-US" altLang="zh-CN" sz="1400" i="1">
                        <a:latin typeface="Cambria Math" panose="02040503050406030204" pitchFamily="18" charset="0"/>
                        <a:cs typeface="MV Boli" panose="02000500030200090000" pitchFamily="2" charset="0"/>
                      </a:rPr>
                      <m:t>𝑠</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1</m:t>
                        </m:r>
                      </m:num>
                      <m:den>
                        <m:r>
                          <a:rPr lang="en-US" altLang="zh-CN" sz="1400" i="1">
                            <a:latin typeface="Cambria Math" panose="02040503050406030204" pitchFamily="18" charset="0"/>
                            <a:cs typeface="MV Boli" panose="02000500030200090000" pitchFamily="2" charset="0"/>
                          </a:rPr>
                          <m:t>2</m:t>
                        </m:r>
                      </m:den>
                    </m:f>
                    <m:r>
                      <a:rPr lang="en-US" altLang="zh-CN" sz="1400" i="1">
                        <a:latin typeface="Cambria Math" panose="02040503050406030204" pitchFamily="18" charset="0"/>
                        <a:cs typeface="MV Boli" panose="02000500030200090000" pitchFamily="2" charset="0"/>
                      </a:rPr>
                      <m:t>𝑎</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𝑡</m:t>
                        </m:r>
                      </m:e>
                      <m:sup>
                        <m:r>
                          <a:rPr lang="en-US" altLang="zh-CN" sz="1400" i="1">
                            <a:latin typeface="Cambria Math" panose="02040503050406030204" pitchFamily="18" charset="0"/>
                            <a:cs typeface="MV Boli" panose="02000500030200090000" pitchFamily="2" charset="0"/>
                          </a:rPr>
                          <m:t>2</m:t>
                        </m:r>
                      </m:sup>
                    </m:sSup>
                  </m:oMath>
                </a14:m>
                <a:r>
                  <a:rPr lang="en-US" altLang="zh-CN" sz="1400" dirty="0">
                    <a:effectLst/>
                    <a:latin typeface="宋体" panose="02010600030101010101" pitchFamily="2" charset="-122"/>
                    <a:cs typeface="MV Boli" panose="02000500030200090000" pitchFamily="2" charset="0"/>
                  </a:rPr>
                  <a:t> (5-19)</a:t>
                </a:r>
                <a:endParaRPr lang="zh-CN"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313372" y="3509830"/>
                <a:ext cx="2286000" cy="1534523"/>
              </a:xfrm>
              <a:prstGeom prst="rect">
                <a:avLst/>
              </a:prstGeom>
              <a:blipFill rotWithShape="1">
                <a:blip r:embed="rId6"/>
                <a:stretch>
                  <a:fillRect l="-14" t="-12" r="14"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915816" y="3508676"/>
                <a:ext cx="2736304" cy="1535677"/>
              </a:xfrm>
              <a:prstGeom prst="rect">
                <a:avLst/>
              </a:prstGeom>
            </p:spPr>
            <p:txBody>
              <a:bodyPr wrap="square">
                <a:spAutoFit/>
              </a:bodyPr>
              <a:lstStyle/>
              <a:p>
                <a:pPr indent="266700" algn="ctr">
                  <a:spcBef>
                    <a:spcPts val="600"/>
                  </a:spcBef>
                  <a:spcAft>
                    <a:spcPts val="600"/>
                  </a:spcAft>
                </a:pPr>
                <a:r>
                  <a:rPr lang="zh-CN" altLang="zh-CN" sz="1400" dirty="0">
                    <a:latin typeface="宋体" panose="02010600030101010101" pitchFamily="2" charset="-122"/>
                    <a:cs typeface="MV Boli" panose="02000500030200090000" pitchFamily="2" charset="0"/>
                  </a:rPr>
                  <a:t>在恒速阶段</a:t>
                </a:r>
                <a14:m>
                  <m:oMath xmlns:m="http://schemas.openxmlformats.org/officeDocument/2006/math">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f>
                          <m:f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𝑣</m:t>
                            </m:r>
                          </m:num>
                          <m:den>
                            <m:r>
                              <a:rPr lang="en-US" altLang="zh-CN" sz="1400" i="1">
                                <a:latin typeface="Cambria Math" panose="02040503050406030204" pitchFamily="18" charset="0"/>
                                <a:cs typeface="MV Boli" panose="02000500030200090000" pitchFamily="2" charset="0"/>
                              </a:rPr>
                              <m:t>𝑎</m:t>
                            </m:r>
                          </m:den>
                        </m:f>
                        <m:r>
                          <a:rPr lang="en-US" altLang="zh-CN" sz="1400">
                            <a:latin typeface="Cambria Math" panose="02040503050406030204" pitchFamily="18" charset="0"/>
                            <a:cs typeface="MV Boli" panose="02000500030200090000" pitchFamily="2" charset="0"/>
                          </a:rPr>
                          <m:t>&lt;</m:t>
                        </m:r>
                        <m:r>
                          <m:rPr>
                            <m:sty m:val="p"/>
                          </m:rPr>
                          <a:rPr lang="en-US" altLang="zh-CN" sz="1400">
                            <a:latin typeface="Cambria Math" panose="02040503050406030204" pitchFamily="18" charset="0"/>
                            <a:cs typeface="MV Boli" panose="02000500030200090000" pitchFamily="2" charset="0"/>
                          </a:rPr>
                          <m:t>t</m:t>
                        </m:r>
                        <m:r>
                          <a:rPr lang="en-US" altLang="zh-CN" sz="1400">
                            <a:latin typeface="Cambria Math" panose="02040503050406030204" pitchFamily="18" charset="0"/>
                            <a:cs typeface="MV Boli" panose="02000500030200090000" pitchFamily="2" charset="0"/>
                          </a:rPr>
                          <m:t>≤</m:t>
                        </m:r>
                        <m:r>
                          <m:rPr>
                            <m:sty m:val="p"/>
                          </m:rPr>
                          <a:rPr lang="en-US" altLang="zh-CN" sz="1400">
                            <a:latin typeface="Cambria Math" panose="02040503050406030204" pitchFamily="18" charset="0"/>
                            <a:cs typeface="MV Boli" panose="02000500030200090000" pitchFamily="2" charset="0"/>
                          </a:rPr>
                          <m:t>T</m:t>
                        </m:r>
                        <m:r>
                          <a:rPr lang="en-US" altLang="zh-CN" sz="1400" i="1">
                            <a:latin typeface="Cambria Math" panose="02040503050406030204" pitchFamily="18" charset="0"/>
                            <a:cs typeface="MV Boli" panose="02000500030200090000" pitchFamily="2" charset="0"/>
                          </a:rPr>
                          <m:t>−</m:t>
                        </m:r>
                        <m:f>
                          <m:f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𝑣</m:t>
                            </m:r>
                          </m:num>
                          <m:den>
                            <m:r>
                              <a:rPr lang="en-US" altLang="zh-CN" sz="1400" i="1">
                                <a:latin typeface="Cambria Math" panose="02040503050406030204" pitchFamily="18" charset="0"/>
                                <a:cs typeface="MV Boli" panose="02000500030200090000" pitchFamily="2" charset="0"/>
                              </a:rPr>
                              <m:t>𝑎</m:t>
                            </m:r>
                          </m:den>
                        </m:f>
                      </m:e>
                    </m:d>
                  </m:oMath>
                </a14:m>
                <a:r>
                  <a:rPr lang="en-US" altLang="zh-CN" sz="1400" dirty="0">
                    <a:latin typeface="宋体" panose="02010600030101010101" pitchFamily="2" charset="-122"/>
                    <a:cs typeface="MV Boli" panose="02000500030200090000" pitchFamily="2" charset="0"/>
                  </a:rPr>
                  <a:t>:</a:t>
                </a:r>
                <a:endParaRPr lang="zh-CN" altLang="zh-CN" sz="1400" dirty="0">
                  <a:latin typeface="宋体" panose="02010600030101010101" pitchFamily="2" charset="-122"/>
                  <a:cs typeface="宋体" panose="02010600030101010101" pitchFamily="2" charset="-122"/>
                </a:endParaRPr>
              </a:p>
              <a:p>
                <a:pPr indent="266700" algn="ctr">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𝑠</m:t>
                        </m:r>
                      </m:e>
                    </m:acc>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=0</m:t>
                    </m:r>
                  </m:oMath>
                </a14:m>
                <a:r>
                  <a:rPr lang="en-US" altLang="zh-CN" sz="1400" dirty="0">
                    <a:latin typeface="宋体" panose="02010600030101010101" pitchFamily="2" charset="-122"/>
                    <a:cs typeface="MV Boli" panose="02000500030200090000" pitchFamily="2" charset="0"/>
                  </a:rPr>
                  <a:t> (5-20)</a:t>
                </a:r>
                <a:endParaRPr lang="zh-CN" altLang="zh-CN" sz="1400" dirty="0">
                  <a:latin typeface="宋体" panose="02010600030101010101" pitchFamily="2" charset="-122"/>
                  <a:cs typeface="宋体" panose="02010600030101010101" pitchFamily="2" charset="-122"/>
                </a:endParaRPr>
              </a:p>
              <a:p>
                <a:pPr indent="266700" algn="ctr">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𝑠</m:t>
                        </m:r>
                      </m:e>
                    </m:acc>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𝑣</m:t>
                    </m:r>
                  </m:oMath>
                </a14:m>
                <a:r>
                  <a:rPr lang="en-US" altLang="zh-CN" sz="1400" dirty="0">
                    <a:latin typeface="宋体" panose="02010600030101010101" pitchFamily="2" charset="-122"/>
                    <a:cs typeface="MV Boli" panose="02000500030200090000" pitchFamily="2" charset="0"/>
                  </a:rPr>
                  <a:t> (5-21)</a:t>
                </a:r>
                <a:endParaRPr lang="zh-CN" altLang="zh-CN" sz="1400" dirty="0">
                  <a:latin typeface="宋体" panose="02010600030101010101" pitchFamily="2" charset="-122"/>
                  <a:cs typeface="宋体" panose="02010600030101010101" pitchFamily="2" charset="-122"/>
                </a:endParaRPr>
              </a:p>
              <a:p>
                <a:pPr algn="ctr"/>
                <a14:m>
                  <m:oMath xmlns:m="http://schemas.openxmlformats.org/officeDocument/2006/math">
                    <m:r>
                      <a:rPr lang="en-US" altLang="zh-CN" sz="1400" i="1">
                        <a:latin typeface="Cambria Math" panose="02040503050406030204" pitchFamily="18" charset="0"/>
                        <a:cs typeface="MV Boli" panose="02000500030200090000" pitchFamily="2" charset="0"/>
                      </a:rPr>
                      <m:t>𝑠</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𝑣𝑡</m:t>
                    </m:r>
                    <m:r>
                      <a:rPr lang="en-US" altLang="zh-CN" sz="1400" i="1">
                        <a:latin typeface="Cambria Math" panose="02040503050406030204" pitchFamily="18" charset="0"/>
                        <a:cs typeface="MV Boli" panose="02000500030200090000" pitchFamily="2" charset="0"/>
                      </a:rPr>
                      <m:t>−</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1</m:t>
                        </m:r>
                      </m:num>
                      <m:den>
                        <m:r>
                          <a:rPr lang="en-US" altLang="zh-CN" sz="1400" i="1">
                            <a:latin typeface="Cambria Math" panose="02040503050406030204" pitchFamily="18" charset="0"/>
                            <a:cs typeface="MV Boli" panose="02000500030200090000" pitchFamily="2" charset="0"/>
                          </a:rPr>
                          <m:t>2</m:t>
                        </m:r>
                        <m:r>
                          <a:rPr lang="en-US" altLang="zh-CN" sz="1400" i="1">
                            <a:latin typeface="Cambria Math" panose="02040503050406030204" pitchFamily="18" charset="0"/>
                            <a:cs typeface="MV Boli" panose="02000500030200090000" pitchFamily="2" charset="0"/>
                          </a:rPr>
                          <m:t>𝑎</m:t>
                        </m:r>
                      </m:den>
                    </m:f>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𝑣</m:t>
                        </m:r>
                      </m:e>
                      <m:sup>
                        <m:r>
                          <a:rPr lang="en-US" altLang="zh-CN" sz="1400" i="1">
                            <a:latin typeface="Cambria Math" panose="02040503050406030204" pitchFamily="18" charset="0"/>
                            <a:cs typeface="MV Boli" panose="02000500030200090000" pitchFamily="2" charset="0"/>
                          </a:rPr>
                          <m:t>2</m:t>
                        </m:r>
                      </m:sup>
                    </m:sSup>
                  </m:oMath>
                </a14:m>
                <a:r>
                  <a:rPr lang="en-US" altLang="zh-CN" sz="1400" dirty="0">
                    <a:effectLst/>
                    <a:latin typeface="宋体" panose="02010600030101010101" pitchFamily="2" charset="-122"/>
                    <a:cs typeface="MV Boli" panose="02000500030200090000" pitchFamily="2" charset="0"/>
                  </a:rPr>
                  <a:t> (5-22)</a:t>
                </a:r>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2915816" y="3508676"/>
                <a:ext cx="2736304" cy="1535677"/>
              </a:xfrm>
              <a:prstGeom prst="rect">
                <a:avLst/>
              </a:prstGeom>
              <a:blipFill rotWithShape="1">
                <a:blip r:embed="rId7"/>
                <a:stretch>
                  <a:fillRect l="-19" t="-20" r="23"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755072" y="3463293"/>
                <a:ext cx="2921384" cy="1566326"/>
              </a:xfrm>
              <a:prstGeom prst="rect">
                <a:avLst/>
              </a:prstGeom>
            </p:spPr>
            <p:txBody>
              <a:bodyPr wrap="square">
                <a:spAutoFit/>
              </a:bodyPr>
              <a:lstStyle/>
              <a:p>
                <a:pPr indent="266700" algn="ctr">
                  <a:spcBef>
                    <a:spcPts val="600"/>
                  </a:spcBef>
                  <a:spcAft>
                    <a:spcPts val="600"/>
                  </a:spcAft>
                </a:pPr>
                <a:r>
                  <a:rPr lang="zh-CN" altLang="zh-CN" sz="1400" dirty="0">
                    <a:latin typeface="宋体" panose="02010600030101010101" pitchFamily="2" charset="-122"/>
                    <a:cs typeface="MV Boli" panose="02000500030200090000" pitchFamily="2" charset="0"/>
                  </a:rPr>
                  <a:t>在减速阶段</a:t>
                </a:r>
                <a14:m>
                  <m:oMath xmlns:m="http://schemas.openxmlformats.org/officeDocument/2006/math">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T</m:t>
                        </m:r>
                        <m:r>
                          <a:rPr lang="en-US" altLang="zh-CN" sz="1400" i="1">
                            <a:latin typeface="Cambria Math" panose="02040503050406030204" pitchFamily="18" charset="0"/>
                            <a:cs typeface="MV Boli" panose="02000500030200090000" pitchFamily="2" charset="0"/>
                          </a:rPr>
                          <m:t>−</m:t>
                        </m:r>
                        <m:f>
                          <m:f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𝑣</m:t>
                            </m:r>
                          </m:num>
                          <m:den>
                            <m:r>
                              <a:rPr lang="en-US" altLang="zh-CN" sz="1400" i="1">
                                <a:latin typeface="Cambria Math" panose="02040503050406030204" pitchFamily="18" charset="0"/>
                                <a:cs typeface="MV Boli" panose="02000500030200090000" pitchFamily="2" charset="0"/>
                              </a:rPr>
                              <m:t>𝑎</m:t>
                            </m:r>
                          </m:den>
                        </m:f>
                        <m:r>
                          <a:rPr lang="en-US" altLang="zh-CN" sz="1400">
                            <a:latin typeface="Cambria Math" panose="02040503050406030204" pitchFamily="18" charset="0"/>
                            <a:cs typeface="MV Boli" panose="02000500030200090000" pitchFamily="2" charset="0"/>
                          </a:rPr>
                          <m:t>&lt;</m:t>
                        </m:r>
                        <m:r>
                          <m:rPr>
                            <m:sty m:val="p"/>
                          </m:rPr>
                          <a:rPr lang="en-US" altLang="zh-CN" sz="1400">
                            <a:latin typeface="Cambria Math" panose="02040503050406030204" pitchFamily="18" charset="0"/>
                            <a:cs typeface="MV Boli" panose="02000500030200090000" pitchFamily="2" charset="0"/>
                          </a:rPr>
                          <m:t>t</m:t>
                        </m:r>
                        <m:r>
                          <a:rPr lang="en-US" altLang="zh-CN" sz="1400">
                            <a:latin typeface="Cambria Math" panose="02040503050406030204" pitchFamily="18" charset="0"/>
                            <a:cs typeface="MV Boli" panose="02000500030200090000" pitchFamily="2" charset="0"/>
                          </a:rPr>
                          <m:t>≤</m:t>
                        </m:r>
                        <m:r>
                          <m:rPr>
                            <m:sty m:val="p"/>
                          </m:rPr>
                          <a:rPr lang="en-US" altLang="zh-CN" sz="1400">
                            <a:latin typeface="Cambria Math" panose="02040503050406030204" pitchFamily="18" charset="0"/>
                            <a:cs typeface="MV Boli" panose="02000500030200090000" pitchFamily="2" charset="0"/>
                          </a:rPr>
                          <m:t>T</m:t>
                        </m:r>
                      </m:e>
                    </m:d>
                  </m:oMath>
                </a14:m>
                <a:r>
                  <a:rPr lang="en-US" altLang="zh-CN" sz="1400" dirty="0">
                    <a:latin typeface="宋体" panose="02010600030101010101" pitchFamily="2" charset="-122"/>
                    <a:cs typeface="MV Boli" panose="02000500030200090000" pitchFamily="2" charset="0"/>
                  </a:rPr>
                  <a:t>:</a:t>
                </a:r>
                <a:endParaRPr lang="zh-CN" altLang="zh-CN" sz="1400" dirty="0">
                  <a:latin typeface="宋体" panose="02010600030101010101" pitchFamily="2" charset="-122"/>
                  <a:cs typeface="宋体" panose="02010600030101010101" pitchFamily="2" charset="-122"/>
                </a:endParaRPr>
              </a:p>
              <a:p>
                <a:pPr indent="266700" algn="ctr">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𝑠</m:t>
                        </m:r>
                      </m:e>
                    </m:acc>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𝑎</m:t>
                    </m:r>
                  </m:oMath>
                </a14:m>
                <a:r>
                  <a:rPr lang="en-US" altLang="zh-CN" sz="1400" dirty="0">
                    <a:latin typeface="宋体" panose="02010600030101010101" pitchFamily="2" charset="-122"/>
                    <a:cs typeface="MV Boli" panose="02000500030200090000" pitchFamily="2" charset="0"/>
                  </a:rPr>
                  <a:t> (5-23)</a:t>
                </a:r>
                <a:endParaRPr lang="zh-CN" altLang="zh-CN" sz="1400" dirty="0">
                  <a:latin typeface="宋体" panose="02010600030101010101" pitchFamily="2" charset="-122"/>
                  <a:cs typeface="宋体" panose="02010600030101010101" pitchFamily="2" charset="-122"/>
                </a:endParaRPr>
              </a:p>
              <a:p>
                <a:pPr indent="266700" algn="ctr">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𝑠</m:t>
                        </m:r>
                      </m:e>
                    </m:acc>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𝑎</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𝑇</m:t>
                    </m:r>
                    <m:r>
                      <a:rPr lang="en-US" altLang="zh-CN" sz="1400" i="1">
                        <a:latin typeface="Cambria Math" panose="02040503050406030204" pitchFamily="18" charset="0"/>
                        <a:cs typeface="MV Boli" panose="02000500030200090000" pitchFamily="2" charset="0"/>
                      </a:rPr>
                      <m:t>−1)</m:t>
                    </m:r>
                  </m:oMath>
                </a14:m>
                <a:r>
                  <a:rPr lang="en-US" altLang="zh-CN" sz="1400" dirty="0">
                    <a:latin typeface="宋体" panose="02010600030101010101" pitchFamily="2" charset="-122"/>
                    <a:cs typeface="MV Boli" panose="02000500030200090000" pitchFamily="2" charset="0"/>
                  </a:rPr>
                  <a:t> (5-24)</a:t>
                </a:r>
                <a:endParaRPr lang="zh-CN" altLang="zh-CN" sz="1400" dirty="0">
                  <a:latin typeface="宋体" panose="02010600030101010101" pitchFamily="2" charset="-122"/>
                  <a:cs typeface="宋体" panose="02010600030101010101" pitchFamily="2" charset="-122"/>
                </a:endParaRPr>
              </a:p>
              <a:p>
                <a:pPr algn="ctr"/>
                <a14:m>
                  <m:oMath xmlns:m="http://schemas.openxmlformats.org/officeDocument/2006/math">
                    <m:r>
                      <a:rPr lang="en-US" altLang="zh-CN" sz="1400" i="1">
                        <a:latin typeface="Cambria Math" panose="02040503050406030204" pitchFamily="18" charset="0"/>
                        <a:cs typeface="MV Boli" panose="02000500030200090000" pitchFamily="2" charset="0"/>
                      </a:rPr>
                      <m:t>𝑠</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2</m:t>
                        </m:r>
                        <m:r>
                          <a:rPr lang="en-US" altLang="zh-CN" sz="1400" i="1">
                            <a:latin typeface="Cambria Math" panose="02040503050406030204" pitchFamily="18" charset="0"/>
                            <a:cs typeface="MV Boli" panose="02000500030200090000" pitchFamily="2" charset="0"/>
                          </a:rPr>
                          <m:t>𝑎𝑣𝑡</m:t>
                        </m:r>
                        <m:r>
                          <a:rPr lang="en-US" altLang="zh-CN" sz="1400" i="1">
                            <a:latin typeface="Cambria Math" panose="02040503050406030204" pitchFamily="18" charset="0"/>
                            <a:cs typeface="MV Boli" panose="02000500030200090000" pitchFamily="2" charset="0"/>
                          </a:rPr>
                          <m:t>−2</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𝑣</m:t>
                            </m:r>
                          </m:e>
                          <m:sup>
                            <m:r>
                              <a:rPr lang="en-US" altLang="zh-CN" sz="1400" i="1">
                                <a:latin typeface="Cambria Math" panose="02040503050406030204" pitchFamily="18" charset="0"/>
                                <a:cs typeface="MV Boli" panose="02000500030200090000" pitchFamily="2" charset="0"/>
                              </a:rPr>
                              <m:t>2</m:t>
                            </m:r>
                          </m:sup>
                        </m:sSup>
                        <m:r>
                          <a:rPr lang="en-US" altLang="zh-CN" sz="1400" i="1">
                            <a:latin typeface="Cambria Math" panose="02040503050406030204" pitchFamily="18" charset="0"/>
                            <a:cs typeface="MV Boli" panose="02000500030200090000" pitchFamily="2" charset="0"/>
                          </a:rPr>
                          <m:t>−</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𝑎</m:t>
                            </m:r>
                          </m:e>
                          <m:sup>
                            <m:r>
                              <a:rPr lang="en-US" altLang="zh-CN" sz="1400" i="1">
                                <a:latin typeface="Cambria Math" panose="02040503050406030204" pitchFamily="18" charset="0"/>
                                <a:cs typeface="MV Boli" panose="02000500030200090000" pitchFamily="2" charset="0"/>
                              </a:rPr>
                              <m:t>2</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𝑇</m:t>
                            </m:r>
                            <m:r>
                              <a:rPr lang="en-US" altLang="zh-CN" sz="1400" i="1">
                                <a:latin typeface="Cambria Math" panose="02040503050406030204" pitchFamily="18" charset="0"/>
                                <a:cs typeface="MV Boli" panose="02000500030200090000" pitchFamily="2" charset="0"/>
                              </a:rPr>
                              <m:t>)</m:t>
                            </m:r>
                          </m:e>
                          <m:sup>
                            <m:r>
                              <a:rPr lang="en-US" altLang="zh-CN" sz="1400" i="1">
                                <a:latin typeface="Cambria Math" panose="02040503050406030204" pitchFamily="18" charset="0"/>
                                <a:cs typeface="MV Boli" panose="02000500030200090000" pitchFamily="2" charset="0"/>
                              </a:rPr>
                              <m:t>2</m:t>
                            </m:r>
                          </m:sup>
                        </m:sSup>
                      </m:num>
                      <m:den>
                        <m:r>
                          <a:rPr lang="en-US" altLang="zh-CN" sz="1400" i="1">
                            <a:latin typeface="Cambria Math" panose="02040503050406030204" pitchFamily="18" charset="0"/>
                            <a:cs typeface="MV Boli" panose="02000500030200090000" pitchFamily="2" charset="0"/>
                          </a:rPr>
                          <m:t>2</m:t>
                        </m:r>
                        <m:r>
                          <a:rPr lang="en-US" altLang="zh-CN" sz="1400" i="1">
                            <a:latin typeface="Cambria Math" panose="02040503050406030204" pitchFamily="18" charset="0"/>
                            <a:cs typeface="MV Boli" panose="02000500030200090000" pitchFamily="2" charset="0"/>
                          </a:rPr>
                          <m:t>𝑎</m:t>
                        </m:r>
                      </m:den>
                    </m:f>
                  </m:oMath>
                </a14:m>
                <a:r>
                  <a:rPr lang="en-US" altLang="zh-CN" sz="1400" dirty="0">
                    <a:effectLst/>
                    <a:latin typeface="宋体" panose="02010600030101010101" pitchFamily="2" charset="-122"/>
                    <a:cs typeface="MV Boli" panose="02000500030200090000" pitchFamily="2" charset="0"/>
                  </a:rPr>
                  <a:t> (5-25)</a:t>
                </a:r>
                <a:endParaRPr lang="zh-CN" altLang="en-US" sz="1400" dirty="0"/>
              </a:p>
            </p:txBody>
          </p:sp>
        </mc:Choice>
        <mc:Fallback xmlns="">
          <p:sp>
            <p:nvSpPr>
              <p:cNvPr id="13" name="矩形 12"/>
              <p:cNvSpPr>
                <a:spLocks noRot="1" noChangeAspect="1" noMove="1" noResize="1" noEditPoints="1" noAdjustHandles="1" noChangeArrowheads="1" noChangeShapeType="1" noTextEdit="1"/>
              </p:cNvSpPr>
              <p:nvPr/>
            </p:nvSpPr>
            <p:spPr>
              <a:xfrm>
                <a:off x="5755072" y="3463293"/>
                <a:ext cx="2921384" cy="1566326"/>
              </a:xfrm>
              <a:prstGeom prst="rect">
                <a:avLst/>
              </a:prstGeom>
              <a:blipFill rotWithShape="1">
                <a:blip r:embed="rId8"/>
                <a:stretch>
                  <a:fillRect l="-2" r="15" b="27"/>
                </a:stretch>
              </a:blipFill>
            </p:spPr>
            <p:txBody>
              <a:bodyPr/>
              <a:lstStyle/>
              <a:p>
                <a:r>
                  <a:rPr lang="zh-CN" altLang="en-US">
                    <a:noFill/>
                  </a:rPr>
                  <a:t> </a:t>
                </a:r>
              </a:p>
            </p:txBody>
          </p:sp>
        </mc:Fallback>
      </mc:AlternateContent>
      <p:sp>
        <p:nvSpPr>
          <p:cNvPr id="14" name="圆角矩形 13"/>
          <p:cNvSpPr/>
          <p:nvPr/>
        </p:nvSpPr>
        <p:spPr>
          <a:xfrm>
            <a:off x="281305" y="3463293"/>
            <a:ext cx="2634511" cy="15663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3203848" y="3463293"/>
            <a:ext cx="2551224" cy="15663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5968564" y="3463293"/>
            <a:ext cx="2707892" cy="15663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nvGraphicFramePr>
        <p:xfrm>
          <a:off x="971600" y="983491"/>
          <a:ext cx="6959041" cy="1859094"/>
        </p:xfrm>
        <a:graphic>
          <a:graphicData uri="http://schemas.openxmlformats.org/presentationml/2006/ole">
            <mc:AlternateContent xmlns:mc="http://schemas.openxmlformats.org/markup-compatibility/2006">
              <mc:Choice xmlns:v="urn:schemas-microsoft-com:vml" Requires="v">
                <p:oleObj spid="_x0000_s13342" name="Visio" r:id="rId9" imgW="4558030" imgH="1221740" progId="Visio.Drawing.15">
                  <p:embed/>
                </p:oleObj>
              </mc:Choice>
              <mc:Fallback>
                <p:oleObj name="Visio" r:id="rId9" imgW="4558030" imgH="1221740" progId="Visio.Drawing.15">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600" y="983491"/>
                        <a:ext cx="6959041" cy="185909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4" name="文本框 3"/>
              <p:cNvSpPr txBox="1"/>
              <p:nvPr/>
            </p:nvSpPr>
            <p:spPr>
              <a:xfrm>
                <a:off x="5220072" y="1123454"/>
                <a:ext cx="34971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𝑠</m:t>
                          </m:r>
                        </m:e>
                      </m:acc>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5220072" y="1123454"/>
                <a:ext cx="349711" cy="369332"/>
              </a:xfrm>
              <a:prstGeom prst="rect">
                <a:avLst/>
              </a:prstGeom>
              <a:blipFill rotWithShape="1">
                <a:blip r:embed="rId11"/>
                <a:stretch>
                  <a:fillRect l="-106" t="-38" r="57" b="14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103660" y="485894"/>
            <a:ext cx="1620957" cy="338554"/>
          </a:xfrm>
          <a:prstGeom prst="rect">
            <a:avLst/>
          </a:prstGeom>
        </p:spPr>
        <p:txBody>
          <a:bodyPr wrap="none">
            <a:spAutoFit/>
          </a:bodyPr>
          <a:lstStyle/>
          <a:p>
            <a:r>
              <a:rPr lang="zh-CN" altLang="en-US" sz="1600" dirty="0" smtClean="0">
                <a:solidFill>
                  <a:srgbClr val="FF0000"/>
                </a:solidFill>
                <a:cs typeface="MV Boli" panose="02000500030200090000" pitchFamily="2" charset="0"/>
              </a:rPr>
              <a:t>梯形加减速曲线</a:t>
            </a:r>
            <a:endParaRPr lang="zh-CN" altLang="en-US" sz="1600" dirty="0">
              <a:solidFill>
                <a:srgbClr val="FF0000"/>
              </a:solidFill>
            </a:endParaRPr>
          </a:p>
        </p:txBody>
      </p:sp>
      <p:sp>
        <p:nvSpPr>
          <p:cNvPr id="15"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2" name="矩形 1"/>
              <p:cNvSpPr/>
              <p:nvPr/>
            </p:nvSpPr>
            <p:spPr>
              <a:xfrm>
                <a:off x="611560" y="1034308"/>
                <a:ext cx="7848872" cy="3833485"/>
              </a:xfrm>
              <a:prstGeom prst="rect">
                <a:avLst/>
              </a:prstGeom>
            </p:spPr>
            <p:txBody>
              <a:bodyPr wrap="square">
                <a:spAutoFit/>
              </a:bodyPr>
              <a:lstStyle/>
              <a:p>
                <a:pPr indent="266700">
                  <a:spcBef>
                    <a:spcPts val="600"/>
                  </a:spcBef>
                  <a:spcAft>
                    <a:spcPts val="600"/>
                  </a:spcAft>
                </a:pPr>
                <a:r>
                  <a:rPr lang="zh-CN" altLang="zh-CN" sz="1600" dirty="0">
                    <a:latin typeface="宋体" panose="02010600030101010101" pitchFamily="2" charset="-122"/>
                    <a:cs typeface="MV Boli" panose="02000500030200090000" pitchFamily="2" charset="0"/>
                  </a:rPr>
                  <a:t>梯形加</a:t>
                </a:r>
                <a:r>
                  <a:rPr lang="zh-CN" altLang="zh-CN" sz="1600" dirty="0" smtClean="0">
                    <a:latin typeface="宋体" panose="02010600030101010101" pitchFamily="2" charset="-122"/>
                    <a:cs typeface="MV Boli" panose="02000500030200090000" pitchFamily="2" charset="0"/>
                  </a:rPr>
                  <a:t>减速</a:t>
                </a:r>
                <a:r>
                  <a:rPr lang="zh-CN" altLang="en-US" sz="1600" dirty="0" smtClean="0">
                    <a:latin typeface="宋体" panose="02010600030101010101" pitchFamily="2" charset="-122"/>
                    <a:cs typeface="MV Boli" panose="02000500030200090000" pitchFamily="2" charset="0"/>
                  </a:rPr>
                  <a:t>时间尺度函数</a:t>
                </a:r>
                <a14:m>
                  <m:oMath xmlns:m="http://schemas.openxmlformats.org/officeDocument/2006/math">
                    <m:r>
                      <a:rPr lang="en-US" altLang="zh-CN" sz="1600" i="1">
                        <a:solidFill>
                          <a:srgbClr val="002060"/>
                        </a:solidFill>
                        <a:latin typeface="Cambria Math" panose="02040503050406030204" pitchFamily="18" charset="0"/>
                        <a:cs typeface="MV Boli" panose="02000500030200090000" pitchFamily="2" charset="0"/>
                      </a:rPr>
                      <m:t>𝑠</m:t>
                    </m:r>
                    <m:d>
                      <m:d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𝑡</m:t>
                        </m:r>
                      </m:e>
                    </m:d>
                  </m:oMath>
                </a14:m>
                <a:r>
                  <a:rPr lang="zh-CN" altLang="zh-CN" sz="1600" dirty="0" smtClean="0">
                    <a:latin typeface="宋体" panose="02010600030101010101" pitchFamily="2" charset="-122"/>
                    <a:cs typeface="MV Boli" panose="02000500030200090000" pitchFamily="2" charset="0"/>
                  </a:rPr>
                  <a:t>只能</a:t>
                </a:r>
                <a:r>
                  <a:rPr lang="zh-CN" altLang="zh-CN" sz="1600" dirty="0">
                    <a:latin typeface="宋体" panose="02010600030101010101" pitchFamily="2" charset="-122"/>
                    <a:cs typeface="MV Boli" panose="02000500030200090000" pitchFamily="2" charset="0"/>
                  </a:rPr>
                  <a:t>独立指定</a:t>
                </a:r>
                <a14:m>
                  <m:oMath xmlns:m="http://schemas.openxmlformats.org/officeDocument/2006/math">
                    <m:r>
                      <a:rPr lang="en-US" altLang="zh-CN" sz="1600" i="1">
                        <a:latin typeface="Cambria Math" panose="02040503050406030204" pitchFamily="18" charset="0"/>
                        <a:cs typeface="MV Boli" panose="02000500030200090000" pitchFamily="2" charset="0"/>
                      </a:rPr>
                      <m:t>𝑣</m:t>
                    </m:r>
                    <m:r>
                      <a:rPr lang="zh-CN"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𝑎</m:t>
                    </m:r>
                    <m:r>
                      <a:rPr lang="zh-CN"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𝑇</m:t>
                    </m:r>
                  </m:oMath>
                </a14:m>
                <a:r>
                  <a:rPr lang="zh-CN" altLang="zh-CN" sz="1600" dirty="0">
                    <a:latin typeface="宋体" panose="02010600030101010101" pitchFamily="2" charset="-122"/>
                    <a:cs typeface="MV Boli" panose="02000500030200090000" pitchFamily="2" charset="0"/>
                  </a:rPr>
                  <a:t>中的两个参数。有三种选择：</a:t>
                </a:r>
                <a:endParaRPr lang="zh-CN" altLang="zh-CN" sz="1600" dirty="0">
                  <a:latin typeface="宋体" panose="02010600030101010101" pitchFamily="2" charset="-122"/>
                  <a:cs typeface="宋体" panose="02010600030101010101" pitchFamily="2" charset="-122"/>
                </a:endParaRPr>
              </a:p>
              <a:p>
                <a:pPr marL="342900" lvl="0" indent="-342900">
                  <a:spcBef>
                    <a:spcPts val="600"/>
                  </a:spcBef>
                  <a:spcAft>
                    <a:spcPts val="600"/>
                  </a:spcAft>
                  <a:buFont typeface="Wingdings" panose="05000000000000000000" pitchFamily="2" charset="2"/>
                  <a:buChar char=""/>
                </a:pPr>
                <a:r>
                  <a:rPr lang="zh-CN" altLang="zh-CN" sz="1600" dirty="0">
                    <a:latin typeface="宋体" panose="02010600030101010101" pitchFamily="2" charset="-122"/>
                    <a:cs typeface="MV Boli" panose="02000500030200090000" pitchFamily="2" charset="0"/>
                  </a:rPr>
                  <a:t>选择</a:t>
                </a:r>
                <a14:m>
                  <m:oMath xmlns:m="http://schemas.openxmlformats.org/officeDocument/2006/math">
                    <m:r>
                      <a:rPr lang="en-US" altLang="zh-CN" sz="1600" i="1">
                        <a:latin typeface="Cambria Math" panose="02040503050406030204" pitchFamily="18" charset="0"/>
                        <a:cs typeface="MV Boli" panose="02000500030200090000" pitchFamily="2" charset="0"/>
                      </a:rPr>
                      <m:t>𝑣</m:t>
                    </m:r>
                    <m:r>
                      <a:rPr lang="zh-CN"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𝑎</m:t>
                    </m:r>
                  </m:oMath>
                </a14:m>
                <a:r>
                  <a:rPr lang="zh-CN" altLang="zh-CN" sz="1600" dirty="0">
                    <a:latin typeface="宋体" panose="02010600030101010101" pitchFamily="2" charset="-122"/>
                    <a:cs typeface="MV Boli" panose="02000500030200090000" pitchFamily="2" charset="0"/>
                  </a:rPr>
                  <a:t>，为保证三段梯形曲线，需要满足</a:t>
                </a:r>
                <a14:m>
                  <m:oMath xmlns:m="http://schemas.openxmlformats.org/officeDocument/2006/math">
                    <m:f>
                      <m:fPr>
                        <m:type m:val="skw"/>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sSup>
                          <m:sSup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𝑣</m:t>
                            </m:r>
                          </m:e>
                          <m:sup>
                            <m:r>
                              <a:rPr lang="en-US" altLang="zh-CN" sz="1600" i="1">
                                <a:latin typeface="Cambria Math" panose="02040503050406030204" pitchFamily="18" charset="0"/>
                                <a:cs typeface="MV Boli" panose="02000500030200090000" pitchFamily="2" charset="0"/>
                              </a:rPr>
                              <m:t>2</m:t>
                            </m:r>
                          </m:sup>
                        </m:sSup>
                      </m:num>
                      <m:den>
                        <m:r>
                          <a:rPr lang="en-US" altLang="zh-CN" sz="1600" i="1">
                            <a:latin typeface="Cambria Math" panose="02040503050406030204" pitchFamily="18" charset="0"/>
                            <a:cs typeface="MV Boli" panose="02000500030200090000" pitchFamily="2" charset="0"/>
                          </a:rPr>
                          <m:t>𝑎</m:t>
                        </m:r>
                      </m:den>
                    </m:f>
                    <m:r>
                      <a:rPr lang="en-US" altLang="zh-CN" sz="1600" i="1">
                        <a:latin typeface="Cambria Math" panose="02040503050406030204" pitchFamily="18" charset="0"/>
                        <a:cs typeface="MV Boli" panose="02000500030200090000" pitchFamily="2" charset="0"/>
                      </a:rPr>
                      <m:t>≤1</m:t>
                    </m:r>
                  </m:oMath>
                </a14:m>
                <a:r>
                  <a:rPr lang="zh-CN" altLang="zh-CN" sz="1600" dirty="0">
                    <a:latin typeface="宋体" panose="02010600030101010101" pitchFamily="2" charset="-122"/>
                    <a:cs typeface="MV Boli" panose="02000500030200090000" pitchFamily="2" charset="0"/>
                  </a:rPr>
                  <a:t>（</a:t>
                </a:r>
                <a:r>
                  <a:rPr lang="zh-CN" altLang="zh-CN" sz="1600" dirty="0">
                    <a:solidFill>
                      <a:srgbClr val="FF0000"/>
                    </a:solidFill>
                    <a:latin typeface="宋体" panose="02010600030101010101" pitchFamily="2" charset="-122"/>
                    <a:cs typeface="MV Boli" panose="02000500030200090000" pitchFamily="2" charset="0"/>
                  </a:rPr>
                  <a:t>问题</a:t>
                </a:r>
                <a:r>
                  <a:rPr lang="en-US" altLang="zh-CN" sz="1600" dirty="0">
                    <a:solidFill>
                      <a:srgbClr val="FF0000"/>
                    </a:solidFill>
                    <a:latin typeface="宋体" panose="02010600030101010101" pitchFamily="2" charset="-122"/>
                    <a:cs typeface="MV Boli" panose="02000500030200090000" pitchFamily="2" charset="0"/>
                  </a:rPr>
                  <a:t>1</a:t>
                </a:r>
                <a:r>
                  <a:rPr lang="zh-CN" altLang="zh-CN" sz="1600" dirty="0">
                    <a:solidFill>
                      <a:srgbClr val="FF0000"/>
                    </a:solidFill>
                    <a:latin typeface="宋体" panose="02010600030101010101" pitchFamily="2" charset="-122"/>
                    <a:cs typeface="MV Boli" panose="02000500030200090000" pitchFamily="2" charset="0"/>
                  </a:rPr>
                  <a:t>：如果</a:t>
                </a:r>
                <a14:m>
                  <m:oMath xmlns:m="http://schemas.openxmlformats.org/officeDocument/2006/math">
                    <m:f>
                      <m:fPr>
                        <m:type m:val="skw"/>
                        <m:ctrlPr>
                          <a:rPr lang="zh-CN" altLang="zh-CN" sz="1600" i="1">
                            <a:solidFill>
                              <a:srgbClr val="FF0000"/>
                            </a:solidFill>
                            <a:latin typeface="Cambria Math" panose="02040503050406030204" pitchFamily="18" charset="0"/>
                            <a:ea typeface="Cambria Math" panose="02040503050406030204" pitchFamily="18" charset="0"/>
                            <a:cs typeface="MV Boli" panose="02000500030200090000" pitchFamily="2" charset="0"/>
                          </a:rPr>
                        </m:ctrlPr>
                      </m:fPr>
                      <m:num>
                        <m:sSup>
                          <m:sSupPr>
                            <m:ctrlPr>
                              <a:rPr lang="zh-CN" altLang="zh-CN" sz="1600" i="1">
                                <a:solidFill>
                                  <a:srgbClr val="FF0000"/>
                                </a:solidFill>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solidFill>
                                  <a:srgbClr val="FF0000"/>
                                </a:solidFill>
                                <a:latin typeface="Cambria Math" panose="02040503050406030204" pitchFamily="18" charset="0"/>
                                <a:cs typeface="MV Boli" panose="02000500030200090000" pitchFamily="2" charset="0"/>
                              </a:rPr>
                              <m:t>𝑣</m:t>
                            </m:r>
                          </m:e>
                          <m:sup>
                            <m:r>
                              <a:rPr lang="en-US" altLang="zh-CN" sz="1600" i="1">
                                <a:solidFill>
                                  <a:srgbClr val="FF0000"/>
                                </a:solidFill>
                                <a:latin typeface="Cambria Math" panose="02040503050406030204" pitchFamily="18" charset="0"/>
                                <a:cs typeface="MV Boli" panose="02000500030200090000" pitchFamily="2" charset="0"/>
                              </a:rPr>
                              <m:t>2</m:t>
                            </m:r>
                          </m:sup>
                        </m:sSup>
                      </m:num>
                      <m:den>
                        <m:r>
                          <a:rPr lang="en-US" altLang="zh-CN" sz="1600" i="1">
                            <a:solidFill>
                              <a:srgbClr val="FF0000"/>
                            </a:solidFill>
                            <a:latin typeface="Cambria Math" panose="02040503050406030204" pitchFamily="18" charset="0"/>
                            <a:cs typeface="MV Boli" panose="02000500030200090000" pitchFamily="2" charset="0"/>
                          </a:rPr>
                          <m:t>𝑎</m:t>
                        </m:r>
                      </m:den>
                    </m:f>
                    <m:r>
                      <a:rPr lang="en-US" altLang="zh-CN" sz="1600" i="1">
                        <a:solidFill>
                          <a:srgbClr val="FF0000"/>
                        </a:solidFill>
                        <a:latin typeface="Cambria Math" panose="02040503050406030204" pitchFamily="18" charset="0"/>
                        <a:cs typeface="MV Boli" panose="02000500030200090000" pitchFamily="2" charset="0"/>
                      </a:rPr>
                      <m:t>&gt;1</m:t>
                    </m:r>
                  </m:oMath>
                </a14:m>
                <a:r>
                  <a:rPr lang="zh-CN" altLang="zh-CN" sz="1600" dirty="0">
                    <a:solidFill>
                      <a:srgbClr val="FF0000"/>
                    </a:solidFill>
                    <a:latin typeface="宋体" panose="02010600030101010101" pitchFamily="2" charset="-122"/>
                    <a:cs typeface="MV Boli" panose="02000500030200090000" pitchFamily="2" charset="0"/>
                  </a:rPr>
                  <a:t>，会导致什么结果？三段会变成两端的加速</a:t>
                </a:r>
                <a:r>
                  <a:rPr lang="en-US" altLang="zh-CN" sz="1600" dirty="0">
                    <a:solidFill>
                      <a:srgbClr val="FF0000"/>
                    </a:solidFill>
                    <a:latin typeface="宋体" panose="02010600030101010101" pitchFamily="2" charset="-122"/>
                    <a:cs typeface="MV Boli" panose="02000500030200090000" pitchFamily="2" charset="0"/>
                  </a:rPr>
                  <a:t>-</a:t>
                </a:r>
                <a:r>
                  <a:rPr lang="zh-CN" altLang="zh-CN" sz="1600" dirty="0">
                    <a:solidFill>
                      <a:srgbClr val="FF0000"/>
                    </a:solidFill>
                    <a:latin typeface="宋体" panose="02010600030101010101" pitchFamily="2" charset="-122"/>
                    <a:cs typeface="MV Boli" panose="02000500030200090000" pitchFamily="2" charset="0"/>
                  </a:rPr>
                  <a:t>减速控制（</a:t>
                </a:r>
                <a:r>
                  <a:rPr lang="en-US" altLang="zh-CN" sz="1600" dirty="0">
                    <a:solidFill>
                      <a:srgbClr val="FF0000"/>
                    </a:solidFill>
                    <a:latin typeface="宋体" panose="02010600030101010101" pitchFamily="2" charset="-122"/>
                    <a:cs typeface="MV Boli" panose="02000500030200090000" pitchFamily="2" charset="0"/>
                  </a:rPr>
                  <a:t>bang-bang</a:t>
                </a:r>
                <a:r>
                  <a:rPr lang="zh-CN" altLang="zh-CN" sz="1600" dirty="0">
                    <a:solidFill>
                      <a:srgbClr val="FF0000"/>
                    </a:solidFill>
                    <a:latin typeface="宋体" panose="02010600030101010101" pitchFamily="2" charset="-122"/>
                    <a:cs typeface="MV Boli" panose="02000500030200090000" pitchFamily="2" charset="0"/>
                  </a:rPr>
                  <a:t>），</a:t>
                </a:r>
                <a14:m>
                  <m:oMath xmlns:m="http://schemas.openxmlformats.org/officeDocument/2006/math">
                    <m:acc>
                      <m:accPr>
                        <m: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oMath>
                </a14:m>
                <a:r>
                  <a:rPr lang="zh-CN" altLang="zh-CN" sz="1600" dirty="0">
                    <a:solidFill>
                      <a:srgbClr val="FF0000"/>
                    </a:solidFill>
                    <a:latin typeface="宋体" panose="02010600030101010101" pitchFamily="2" charset="-122"/>
                    <a:cs typeface="MV Boli" panose="02000500030200090000" pitchFamily="2" charset="0"/>
                  </a:rPr>
                  <a:t>变为三角形</a:t>
                </a:r>
                <a:r>
                  <a:rPr lang="zh-CN" altLang="zh-CN" sz="1600" dirty="0">
                    <a:latin typeface="宋体" panose="02010600030101010101" pitchFamily="2" charset="-122"/>
                    <a:cs typeface="MV Boli" panose="02000500030200090000" pitchFamily="2" charset="0"/>
                  </a:rPr>
                  <a:t>），根据终止点的位形约束</a:t>
                </a:r>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=1</m:t>
                    </m:r>
                  </m:oMath>
                </a14:m>
                <a:r>
                  <a:rPr lang="zh-CN" altLang="zh-CN" sz="1600" dirty="0">
                    <a:latin typeface="宋体" panose="02010600030101010101" pitchFamily="2" charset="-122"/>
                    <a:cs typeface="MV Boli" panose="02000500030200090000" pitchFamily="2" charset="0"/>
                  </a:rPr>
                  <a:t>，代入公式（</a:t>
                </a:r>
                <a:r>
                  <a:rPr lang="en-US" altLang="zh-CN" sz="1600" dirty="0">
                    <a:latin typeface="宋体" panose="02010600030101010101" pitchFamily="2" charset="-122"/>
                    <a:cs typeface="MV Boli" panose="02000500030200090000" pitchFamily="2" charset="0"/>
                  </a:rPr>
                  <a:t>5-25</a:t>
                </a:r>
                <a:r>
                  <a:rPr lang="zh-CN" altLang="zh-CN" sz="1600" dirty="0">
                    <a:latin typeface="宋体" panose="02010600030101010101" pitchFamily="2" charset="-122"/>
                    <a:cs typeface="MV Boli" panose="02000500030200090000" pitchFamily="2" charset="0"/>
                  </a:rPr>
                  <a:t>）求得</a:t>
                </a:r>
                <a14:m>
                  <m:oMath xmlns:m="http://schemas.openxmlformats.org/officeDocument/2006/math">
                    <m:r>
                      <a:rPr lang="en-US" altLang="zh-CN" sz="1600" i="1">
                        <a:latin typeface="Cambria Math" panose="02040503050406030204" pitchFamily="18" charset="0"/>
                        <a:cs typeface="MV Boli" panose="02000500030200090000" pitchFamily="2" charset="0"/>
                      </a:rPr>
                      <m:t>𝑇</m:t>
                    </m:r>
                    <m:r>
                      <a:rPr lang="en-US" altLang="zh-CN" sz="1600" i="1">
                        <a:latin typeface="Cambria Math" panose="02040503050406030204" pitchFamily="18" charset="0"/>
                        <a:cs typeface="MV Boli" panose="02000500030200090000" pitchFamily="2" charset="0"/>
                      </a:rPr>
                      <m:t>=</m:t>
                    </m:r>
                    <m:f>
                      <m:f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𝑎</m:t>
                        </m:r>
                        <m:r>
                          <a:rPr lang="en-US" altLang="zh-CN" sz="1600" i="1">
                            <a:latin typeface="Cambria Math" panose="02040503050406030204" pitchFamily="18" charset="0"/>
                            <a:cs typeface="MV Boli" panose="02000500030200090000" pitchFamily="2" charset="0"/>
                          </a:rPr>
                          <m:t>+</m:t>
                        </m:r>
                        <m:sSup>
                          <m:sSup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𝑣</m:t>
                            </m:r>
                          </m:e>
                          <m:sup>
                            <m:r>
                              <a:rPr lang="en-US" altLang="zh-CN" sz="1600" i="1">
                                <a:latin typeface="Cambria Math" panose="02040503050406030204" pitchFamily="18" charset="0"/>
                                <a:cs typeface="MV Boli" panose="02000500030200090000" pitchFamily="2" charset="0"/>
                              </a:rPr>
                              <m:t>2</m:t>
                            </m:r>
                          </m:sup>
                        </m:sSup>
                      </m:num>
                      <m:den>
                        <m:r>
                          <a:rPr lang="en-US" altLang="zh-CN" sz="1600" i="1">
                            <a:latin typeface="Cambria Math" panose="02040503050406030204" pitchFamily="18" charset="0"/>
                            <a:cs typeface="MV Boli" panose="02000500030200090000" pitchFamily="2" charset="0"/>
                          </a:rPr>
                          <m:t>𝑣𝑎</m:t>
                        </m:r>
                      </m:den>
                    </m:f>
                  </m:oMath>
                </a14:m>
                <a:r>
                  <a:rPr lang="zh-CN" altLang="zh-CN" sz="1600" dirty="0">
                    <a:latin typeface="宋体" panose="02010600030101010101" pitchFamily="2" charset="-122"/>
                    <a:cs typeface="MV Boli" panose="02000500030200090000" pitchFamily="2" charset="0"/>
                  </a:rPr>
                  <a:t>，如果</a:t>
                </a:r>
                <a14:m>
                  <m:oMath xmlns:m="http://schemas.openxmlformats.org/officeDocument/2006/math">
                    <m:r>
                      <a:rPr lang="en-US" altLang="zh-CN" sz="1600" i="1">
                        <a:latin typeface="Cambria Math" panose="02040503050406030204" pitchFamily="18" charset="0"/>
                        <a:cs typeface="MV Boli" panose="02000500030200090000" pitchFamily="2" charset="0"/>
                      </a:rPr>
                      <m:t>𝑣</m:t>
                    </m:r>
                    <m:r>
                      <a:rPr lang="zh-CN"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𝑎</m:t>
                    </m:r>
                  </m:oMath>
                </a14:m>
                <a:r>
                  <a:rPr lang="zh-CN" altLang="zh-CN" sz="1600" dirty="0">
                    <a:latin typeface="宋体" panose="02010600030101010101" pitchFamily="2" charset="-122"/>
                    <a:cs typeface="MV Boli" panose="02000500030200090000" pitchFamily="2" charset="0"/>
                  </a:rPr>
                  <a:t>对应最大的可能关节速度和加速度，则上式是梯形加速度方案下的运动最小可能时间。</a:t>
                </a:r>
                <a:endParaRPr lang="zh-CN" altLang="zh-CN" sz="1600" dirty="0">
                  <a:latin typeface="宋体" panose="02010600030101010101" pitchFamily="2" charset="-122"/>
                  <a:cs typeface="宋体" panose="02010600030101010101" pitchFamily="2" charset="-122"/>
                </a:endParaRPr>
              </a:p>
              <a:p>
                <a:pPr marL="342900" lvl="0" indent="-342900">
                  <a:spcBef>
                    <a:spcPts val="600"/>
                  </a:spcBef>
                  <a:spcAft>
                    <a:spcPts val="600"/>
                  </a:spcAft>
                  <a:buFont typeface="Wingdings" panose="05000000000000000000" pitchFamily="2" charset="2"/>
                  <a:buChar char=""/>
                </a:pPr>
                <a:r>
                  <a:rPr lang="zh-CN" altLang="zh-CN" sz="1600" dirty="0">
                    <a:latin typeface="宋体" panose="02010600030101010101" pitchFamily="2" charset="-122"/>
                    <a:cs typeface="MV Boli" panose="02000500030200090000" pitchFamily="2" charset="0"/>
                  </a:rPr>
                  <a:t>选择</a:t>
                </a:r>
                <a14:m>
                  <m:oMath xmlns:m="http://schemas.openxmlformats.org/officeDocument/2006/math">
                    <m:r>
                      <a:rPr lang="en-US" altLang="zh-CN" sz="1600" i="1">
                        <a:latin typeface="Cambria Math" panose="02040503050406030204" pitchFamily="18" charset="0"/>
                        <a:cs typeface="MV Boli" panose="02000500030200090000" pitchFamily="2" charset="0"/>
                      </a:rPr>
                      <m:t>𝑣</m:t>
                    </m:r>
                  </m:oMath>
                </a14:m>
                <a:r>
                  <a:rPr lang="zh-CN" altLang="zh-CN" sz="1600" dirty="0">
                    <a:latin typeface="宋体" panose="02010600030101010101" pitchFamily="2" charset="-122"/>
                    <a:cs typeface="MV Boli" panose="02000500030200090000" pitchFamily="2" charset="0"/>
                  </a:rPr>
                  <a:t>和</a:t>
                </a:r>
                <a14:m>
                  <m:oMath xmlns:m="http://schemas.openxmlformats.org/officeDocument/2006/math">
                    <m:r>
                      <a:rPr lang="en-US" altLang="zh-CN" sz="1600" i="1">
                        <a:latin typeface="Cambria Math" panose="02040503050406030204" pitchFamily="18" charset="0"/>
                        <a:cs typeface="MV Boli" panose="02000500030200090000" pitchFamily="2" charset="0"/>
                      </a:rPr>
                      <m:t>𝑇</m:t>
                    </m:r>
                  </m:oMath>
                </a14:m>
                <a:r>
                  <a:rPr lang="zh-CN" altLang="zh-CN" sz="1600" dirty="0">
                    <a:latin typeface="宋体" panose="02010600030101010101" pitchFamily="2" charset="-122"/>
                    <a:cs typeface="MV Boli" panose="02000500030200090000" pitchFamily="2" charset="0"/>
                  </a:rPr>
                  <a:t>，为保证三段梯形曲线，需要满足</a:t>
                </a:r>
                <a14:m>
                  <m:oMath xmlns:m="http://schemas.openxmlformats.org/officeDocument/2006/math">
                    <m:r>
                      <a:rPr lang="en-US" altLang="zh-CN" sz="1600">
                        <a:latin typeface="Cambria Math" panose="02040503050406030204" pitchFamily="18" charset="0"/>
                        <a:cs typeface="MV Boli" panose="02000500030200090000" pitchFamily="2" charset="0"/>
                      </a:rPr>
                      <m:t>2≥</m:t>
                    </m:r>
                    <m:r>
                      <a:rPr lang="en-US" altLang="zh-CN" sz="1600" i="1">
                        <a:latin typeface="Cambria Math" panose="02040503050406030204" pitchFamily="18" charset="0"/>
                        <a:cs typeface="MV Boli" panose="02000500030200090000" pitchFamily="2" charset="0"/>
                      </a:rPr>
                      <m:t>𝑣𝑇</m:t>
                    </m:r>
                    <m:r>
                      <a:rPr lang="en-US" altLang="zh-CN" sz="1600" i="1">
                        <a:latin typeface="Cambria Math" panose="02040503050406030204" pitchFamily="18" charset="0"/>
                        <a:cs typeface="MV Boli" panose="02000500030200090000" pitchFamily="2" charset="0"/>
                      </a:rPr>
                      <m:t>&gt;1</m:t>
                    </m:r>
                  </m:oMath>
                </a14:m>
                <a:r>
                  <a:rPr lang="zh-CN" altLang="zh-CN" sz="1600" dirty="0">
                    <a:latin typeface="宋体" panose="02010600030101010101" pitchFamily="2" charset="-122"/>
                    <a:cs typeface="MV Boli" panose="02000500030200090000" pitchFamily="2" charset="0"/>
                  </a:rPr>
                  <a:t>（</a:t>
                </a:r>
                <a:r>
                  <a:rPr lang="zh-CN" altLang="zh-CN" sz="1600" dirty="0">
                    <a:solidFill>
                      <a:srgbClr val="FF0000"/>
                    </a:solidFill>
                    <a:latin typeface="宋体" panose="02010600030101010101" pitchFamily="2" charset="-122"/>
                    <a:cs typeface="MV Boli" panose="02000500030200090000" pitchFamily="2" charset="0"/>
                  </a:rPr>
                  <a:t>问题</a:t>
                </a:r>
                <a:r>
                  <a:rPr lang="en-US" altLang="zh-CN" sz="1600" dirty="0">
                    <a:solidFill>
                      <a:srgbClr val="FF0000"/>
                    </a:solidFill>
                    <a:latin typeface="宋体" panose="02010600030101010101" pitchFamily="2" charset="-122"/>
                    <a:cs typeface="MV Boli" panose="02000500030200090000" pitchFamily="2" charset="0"/>
                  </a:rPr>
                  <a:t>2</a:t>
                </a:r>
                <a:r>
                  <a:rPr lang="zh-CN" altLang="zh-CN" sz="1600" dirty="0">
                    <a:solidFill>
                      <a:srgbClr val="FF0000"/>
                    </a:solidFill>
                    <a:latin typeface="宋体" panose="02010600030101010101" pitchFamily="2" charset="-122"/>
                    <a:cs typeface="MV Boli" panose="02000500030200090000" pitchFamily="2" charset="0"/>
                  </a:rPr>
                  <a:t>：如果</a:t>
                </a:r>
                <a14:m>
                  <m:oMath xmlns:m="http://schemas.openxmlformats.org/officeDocument/2006/math">
                    <m:r>
                      <a:rPr lang="en-US" altLang="zh-CN" sz="1600" i="1">
                        <a:latin typeface="Cambria Math" panose="02040503050406030204" pitchFamily="18" charset="0"/>
                        <a:cs typeface="MV Boli" panose="02000500030200090000" pitchFamily="2" charset="0"/>
                      </a:rPr>
                      <m:t>𝑣𝑇</m:t>
                    </m:r>
                    <m:r>
                      <a:rPr lang="en-US" altLang="zh-CN" sz="1600" i="1">
                        <a:latin typeface="Cambria Math" panose="02040503050406030204" pitchFamily="18" charset="0"/>
                        <a:cs typeface="MV Boli" panose="02000500030200090000" pitchFamily="2" charset="0"/>
                      </a:rPr>
                      <m:t>&lt;1</m:t>
                    </m:r>
                  </m:oMath>
                </a14:m>
                <a:r>
                  <a:rPr lang="zh-CN" altLang="zh-CN" sz="1600" dirty="0">
                    <a:solidFill>
                      <a:srgbClr val="FF0000"/>
                    </a:solidFill>
                    <a:latin typeface="宋体" panose="02010600030101010101" pitchFamily="2" charset="-122"/>
                    <a:cs typeface="MV Boli" panose="02000500030200090000" pitchFamily="2" charset="0"/>
                  </a:rPr>
                  <a:t>或</a:t>
                </a:r>
                <a14:m>
                  <m:oMath xmlns:m="http://schemas.openxmlformats.org/officeDocument/2006/math">
                    <m:r>
                      <a:rPr lang="en-US" altLang="zh-CN" sz="1600" i="1">
                        <a:latin typeface="Cambria Math" panose="02040503050406030204" pitchFamily="18" charset="0"/>
                        <a:cs typeface="MV Boli" panose="02000500030200090000" pitchFamily="2" charset="0"/>
                      </a:rPr>
                      <m:t>𝑣𝑇</m:t>
                    </m:r>
                    <m:r>
                      <a:rPr lang="en-US" altLang="zh-CN" sz="1600" i="1">
                        <a:latin typeface="Cambria Math" panose="02040503050406030204" pitchFamily="18" charset="0"/>
                        <a:cs typeface="MV Boli" panose="02000500030200090000" pitchFamily="2" charset="0"/>
                      </a:rPr>
                      <m:t>&gt;2</m:t>
                    </m:r>
                  </m:oMath>
                </a14:m>
                <a:r>
                  <a:rPr lang="zh-CN" altLang="zh-CN" sz="1600" dirty="0">
                    <a:solidFill>
                      <a:srgbClr val="FF0000"/>
                    </a:solidFill>
                    <a:latin typeface="宋体" panose="02010600030101010101" pitchFamily="2" charset="-122"/>
                    <a:cs typeface="MV Boli" panose="02000500030200090000" pitchFamily="2" charset="0"/>
                  </a:rPr>
                  <a:t>，会导致什么结果？三段会变成两端的加速</a:t>
                </a:r>
                <a:r>
                  <a:rPr lang="en-US" altLang="zh-CN" sz="1600" dirty="0">
                    <a:solidFill>
                      <a:srgbClr val="FF0000"/>
                    </a:solidFill>
                    <a:latin typeface="宋体" panose="02010600030101010101" pitchFamily="2" charset="-122"/>
                    <a:cs typeface="MV Boli" panose="02000500030200090000" pitchFamily="2" charset="0"/>
                  </a:rPr>
                  <a:t>-</a:t>
                </a:r>
                <a:r>
                  <a:rPr lang="zh-CN" altLang="zh-CN" sz="1600" dirty="0">
                    <a:solidFill>
                      <a:srgbClr val="FF0000"/>
                    </a:solidFill>
                    <a:latin typeface="宋体" panose="02010600030101010101" pitchFamily="2" charset="-122"/>
                    <a:cs typeface="MV Boli" panose="02000500030200090000" pitchFamily="2" charset="0"/>
                  </a:rPr>
                  <a:t>减速控制（</a:t>
                </a:r>
                <a:r>
                  <a:rPr lang="en-US" altLang="zh-CN" sz="1600" dirty="0">
                    <a:solidFill>
                      <a:srgbClr val="FF0000"/>
                    </a:solidFill>
                    <a:latin typeface="宋体" panose="02010600030101010101" pitchFamily="2" charset="-122"/>
                    <a:cs typeface="MV Boli" panose="02000500030200090000" pitchFamily="2" charset="0"/>
                  </a:rPr>
                  <a:t>bang-bang</a:t>
                </a:r>
                <a:r>
                  <a:rPr lang="zh-CN" altLang="zh-CN" sz="1600" dirty="0">
                    <a:solidFill>
                      <a:srgbClr val="FF0000"/>
                    </a:solidFill>
                    <a:latin typeface="宋体" panose="02010600030101010101" pitchFamily="2" charset="-122"/>
                    <a:cs typeface="MV Boli" panose="02000500030200090000" pitchFamily="2" charset="0"/>
                  </a:rPr>
                  <a:t>）或恒速，</a:t>
                </a:r>
                <a14:m>
                  <m:oMath xmlns:m="http://schemas.openxmlformats.org/officeDocument/2006/math">
                    <m:acc>
                      <m:accPr>
                        <m:chr m:val="̇"/>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latin typeface="Cambria Math" panose="02040503050406030204" pitchFamily="18" charset="0"/>
                            <a:cs typeface="MV Boli" panose="02000500030200090000" pitchFamily="2" charset="0"/>
                          </a:rPr>
                          <m:t>𝑠</m:t>
                        </m:r>
                      </m:e>
                    </m:acc>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oMath>
                </a14:m>
                <a:r>
                  <a:rPr lang="zh-CN" altLang="zh-CN" sz="1600" dirty="0">
                    <a:solidFill>
                      <a:srgbClr val="FF0000"/>
                    </a:solidFill>
                    <a:latin typeface="宋体" panose="02010600030101010101" pitchFamily="2" charset="-122"/>
                    <a:cs typeface="MV Boli" panose="02000500030200090000" pitchFamily="2" charset="0"/>
                  </a:rPr>
                  <a:t>变为三角形或一条直线，这也是不允许的</a:t>
                </a:r>
                <a:r>
                  <a:rPr lang="zh-CN" altLang="zh-CN" sz="1600" dirty="0">
                    <a:latin typeface="宋体" panose="02010600030101010101" pitchFamily="2" charset="-122"/>
                    <a:cs typeface="MV Boli" panose="02000500030200090000" pitchFamily="2" charset="0"/>
                  </a:rPr>
                  <a:t>），施加同上一条的终止位形约束</a:t>
                </a:r>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=1</m:t>
                    </m:r>
                  </m:oMath>
                </a14:m>
                <a:r>
                  <a:rPr lang="zh-CN" altLang="zh-CN" sz="1600" dirty="0">
                    <a:latin typeface="宋体" panose="02010600030101010101" pitchFamily="2" charset="-122"/>
                    <a:cs typeface="MV Boli" panose="02000500030200090000" pitchFamily="2" charset="0"/>
                  </a:rPr>
                  <a:t>，求得</a:t>
                </a:r>
                <a14:m>
                  <m:oMath xmlns:m="http://schemas.openxmlformats.org/officeDocument/2006/math">
                    <m:r>
                      <m:rPr>
                        <m:sty m:val="p"/>
                      </m:rPr>
                      <a:rPr lang="en-US" altLang="zh-CN" sz="1600">
                        <a:latin typeface="Cambria Math" panose="02040503050406030204" pitchFamily="18" charset="0"/>
                        <a:cs typeface="MV Boli" panose="02000500030200090000" pitchFamily="2" charset="0"/>
                      </a:rPr>
                      <m:t>a</m:t>
                    </m:r>
                    <m:r>
                      <a:rPr lang="en-US" altLang="zh-CN" sz="1600">
                        <a:latin typeface="Cambria Math" panose="02040503050406030204" pitchFamily="18" charset="0"/>
                        <a:cs typeface="MV Boli" panose="02000500030200090000" pitchFamily="2" charset="0"/>
                      </a:rPr>
                      <m:t>=</m:t>
                    </m:r>
                    <m:f>
                      <m:f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fPr>
                      <m:num>
                        <m:sSup>
                          <m:sSup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𝑣</m:t>
                            </m:r>
                          </m:e>
                          <m:sup>
                            <m:r>
                              <a:rPr lang="en-US" altLang="zh-CN" sz="1600" i="1">
                                <a:latin typeface="Cambria Math" panose="02040503050406030204" pitchFamily="18" charset="0"/>
                                <a:cs typeface="MV Boli" panose="02000500030200090000" pitchFamily="2" charset="0"/>
                              </a:rPr>
                              <m:t>2</m:t>
                            </m:r>
                          </m:sup>
                        </m:sSup>
                      </m:num>
                      <m:den>
                        <m:r>
                          <a:rPr lang="en-US" altLang="zh-CN" sz="1600" i="1">
                            <a:latin typeface="Cambria Math" panose="02040503050406030204" pitchFamily="18" charset="0"/>
                            <a:cs typeface="MV Boli" panose="02000500030200090000" pitchFamily="2" charset="0"/>
                          </a:rPr>
                          <m:t>𝑣𝑇</m:t>
                        </m:r>
                        <m:r>
                          <a:rPr lang="en-US" altLang="zh-CN" sz="1600" i="1">
                            <a:latin typeface="Cambria Math" panose="02040503050406030204" pitchFamily="18" charset="0"/>
                            <a:cs typeface="MV Boli" panose="02000500030200090000" pitchFamily="2" charset="0"/>
                          </a:rPr>
                          <m:t>−</m:t>
                        </m:r>
                        <m:r>
                          <a:rPr lang="en-US" altLang="zh-CN" sz="1600">
                            <a:latin typeface="Cambria Math" panose="02040503050406030204" pitchFamily="18" charset="0"/>
                            <a:cs typeface="MV Boli" panose="02000500030200090000" pitchFamily="2" charset="0"/>
                          </a:rPr>
                          <m:t>1</m:t>
                        </m:r>
                      </m:den>
                    </m:f>
                  </m:oMath>
                </a14:m>
                <a:r>
                  <a:rPr lang="zh-CN" altLang="zh-CN" sz="1600" dirty="0">
                    <a:latin typeface="宋体" panose="02010600030101010101" pitchFamily="2" charset="-122"/>
                    <a:cs typeface="MV Boli" panose="02000500030200090000" pitchFamily="2" charset="0"/>
                  </a:rPr>
                  <a:t>，如果</a:t>
                </a:r>
                <a14:m>
                  <m:oMath xmlns:m="http://schemas.openxmlformats.org/officeDocument/2006/math">
                    <m:r>
                      <a:rPr lang="en-US" altLang="zh-CN" sz="1600" i="1">
                        <a:latin typeface="Cambria Math" panose="02040503050406030204" pitchFamily="18" charset="0"/>
                        <a:cs typeface="MV Boli" panose="02000500030200090000" pitchFamily="2" charset="0"/>
                      </a:rPr>
                      <m:t>𝑣</m:t>
                    </m:r>
                  </m:oMath>
                </a14:m>
                <a:r>
                  <a:rPr lang="zh-CN" altLang="zh-CN" sz="1600" dirty="0">
                    <a:latin typeface="宋体" panose="02010600030101010101" pitchFamily="2" charset="-122"/>
                    <a:cs typeface="MV Boli" panose="02000500030200090000" pitchFamily="2" charset="0"/>
                  </a:rPr>
                  <a:t>是最高速度，那么在</a:t>
                </a:r>
                <a:r>
                  <a:rPr lang="en-US" altLang="zh-CN" sz="1600" dirty="0">
                    <a:latin typeface="宋体" panose="02010600030101010101" pitchFamily="2" charset="-122"/>
                    <a:cs typeface="MV Boli" panose="02000500030200090000" pitchFamily="2" charset="0"/>
                  </a:rPr>
                  <a:t>a</a:t>
                </a:r>
                <a:r>
                  <a:rPr lang="zh-CN" altLang="zh-CN" sz="1600" dirty="0">
                    <a:latin typeface="宋体" panose="02010600030101010101" pitchFamily="2" charset="-122"/>
                    <a:cs typeface="MV Boli" panose="02000500030200090000" pitchFamily="2" charset="0"/>
                  </a:rPr>
                  <a:t>为以最高速度能在</a:t>
                </a:r>
                <a14:m>
                  <m:oMath xmlns:m="http://schemas.openxmlformats.org/officeDocument/2006/math">
                    <m:r>
                      <a:rPr lang="en-US" altLang="zh-CN" sz="1600" i="1">
                        <a:latin typeface="Cambria Math" panose="02040503050406030204" pitchFamily="18" charset="0"/>
                        <a:cs typeface="MV Boli" panose="02000500030200090000" pitchFamily="2" charset="0"/>
                      </a:rPr>
                      <m:t>𝑇</m:t>
                    </m:r>
                  </m:oMath>
                </a14:m>
                <a:r>
                  <a:rPr lang="zh-CN" altLang="zh-CN" sz="1600" dirty="0">
                    <a:latin typeface="宋体" panose="02010600030101010101" pitchFamily="2" charset="-122"/>
                    <a:cs typeface="MV Boli" panose="02000500030200090000" pitchFamily="2" charset="0"/>
                  </a:rPr>
                  <a:t>时间内完成运动的加速度值（加减速的斜率）。</a:t>
                </a:r>
                <a:endParaRPr lang="zh-CN" altLang="zh-CN" sz="1600" dirty="0">
                  <a:latin typeface="宋体" panose="02010600030101010101" pitchFamily="2" charset="-122"/>
                  <a:cs typeface="宋体" panose="02010600030101010101" pitchFamily="2" charset="-122"/>
                </a:endParaRPr>
              </a:p>
              <a:p>
                <a:pPr marL="285750" indent="-285750">
                  <a:buFont typeface="Wingdings" panose="05000000000000000000" pitchFamily="2" charset="2"/>
                  <a:buChar char="Ø"/>
                </a:pPr>
                <a:r>
                  <a:rPr lang="zh-CN" altLang="zh-CN" sz="1600" dirty="0">
                    <a:cs typeface="MV Boli" panose="02000500030200090000" pitchFamily="2" charset="0"/>
                  </a:rPr>
                  <a:t>选择</a:t>
                </a:r>
                <a:r>
                  <a:rPr lang="en-US" altLang="zh-CN" sz="1600" i="1" dirty="0">
                    <a:cs typeface="MV Boli" panose="02000500030200090000" pitchFamily="2" charset="0"/>
                  </a:rPr>
                  <a:t>a</a:t>
                </a:r>
                <a:r>
                  <a:rPr lang="zh-CN" altLang="zh-CN" sz="1600" dirty="0">
                    <a:cs typeface="MV Boli" panose="02000500030200090000" pitchFamily="2" charset="0"/>
                  </a:rPr>
                  <a:t>和</a:t>
                </a:r>
                <a:r>
                  <a:rPr lang="en-US" altLang="zh-CN" sz="1600" i="1" dirty="0">
                    <a:cs typeface="MV Boli" panose="02000500030200090000" pitchFamily="2" charset="0"/>
                  </a:rPr>
                  <a:t>T</a:t>
                </a:r>
                <a:r>
                  <a:rPr lang="zh-CN" altLang="zh-CN" sz="1600" dirty="0">
                    <a:cs typeface="MV Boli" panose="02000500030200090000" pitchFamily="2" charset="0"/>
                  </a:rPr>
                  <a:t>，施加同上一条的终止位形约束</a:t>
                </a:r>
                <a14:m>
                  <m:oMath xmlns:m="http://schemas.openxmlformats.org/officeDocument/2006/math">
                    <m:r>
                      <a:rPr lang="en-US" altLang="zh-CN" sz="1600" i="1">
                        <a:latin typeface="Cambria Math" panose="02040503050406030204" pitchFamily="18" charset="0"/>
                        <a:cs typeface="MV Boli" panose="02000500030200090000" pitchFamily="2" charset="0"/>
                      </a:rPr>
                      <m:t>𝑠</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𝑇</m:t>
                        </m:r>
                      </m:e>
                    </m:d>
                    <m:r>
                      <a:rPr lang="en-US" altLang="zh-CN" sz="1600" i="1">
                        <a:latin typeface="Cambria Math" panose="02040503050406030204" pitchFamily="18" charset="0"/>
                        <a:cs typeface="MV Boli" panose="02000500030200090000" pitchFamily="2" charset="0"/>
                      </a:rPr>
                      <m:t>=1</m:t>
                    </m:r>
                  </m:oMath>
                </a14:m>
                <a:r>
                  <a:rPr lang="zh-CN" altLang="zh-CN" sz="1600" dirty="0">
                    <a:cs typeface="MV Boli" panose="02000500030200090000" pitchFamily="2" charset="0"/>
                  </a:rPr>
                  <a:t>，求得</a:t>
                </a:r>
                <a14:m>
                  <m:oMath xmlns:m="http://schemas.openxmlformats.org/officeDocument/2006/math">
                    <m:r>
                      <a:rPr lang="en-US" altLang="zh-CN" sz="1600" i="1">
                        <a:latin typeface="Cambria Math" panose="02040503050406030204" pitchFamily="18" charset="0"/>
                        <a:cs typeface="MV Boli" panose="02000500030200090000" pitchFamily="2" charset="0"/>
                      </a:rPr>
                      <m:t>𝑣</m:t>
                    </m:r>
                    <m:r>
                      <a:rPr lang="en-US" altLang="zh-CN" sz="1600" i="1">
                        <a:latin typeface="Cambria Math" panose="02040503050406030204" pitchFamily="18" charset="0"/>
                        <a:cs typeface="MV Boli" panose="02000500030200090000" pitchFamily="2" charset="0"/>
                      </a:rPr>
                      <m:t>=</m:t>
                    </m:r>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1</m:t>
                        </m:r>
                      </m:num>
                      <m:den>
                        <m:r>
                          <a:rPr lang="en-US" altLang="zh-CN" sz="1600" i="1">
                            <a:latin typeface="Cambria Math" panose="02040503050406030204" pitchFamily="18" charset="0"/>
                            <a:cs typeface="MV Boli" panose="02000500030200090000" pitchFamily="2" charset="0"/>
                          </a:rPr>
                          <m:t>2</m:t>
                        </m:r>
                      </m:den>
                    </m:f>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𝑎𝑇</m:t>
                        </m:r>
                        <m:r>
                          <a:rPr lang="en-US" altLang="zh-CN" sz="1600" i="1">
                            <a:latin typeface="Cambria Math" panose="02040503050406030204" pitchFamily="18" charset="0"/>
                            <a:cs typeface="MV Boli" panose="02000500030200090000" pitchFamily="2" charset="0"/>
                          </a:rPr>
                          <m:t>−</m:t>
                        </m:r>
                        <m:rad>
                          <m:radPr>
                            <m:degHide m:val="on"/>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radPr>
                          <m:deg/>
                          <m:e>
                            <m:r>
                              <a:rPr lang="en-US" altLang="zh-CN" sz="1600" i="1">
                                <a:latin typeface="Cambria Math" panose="02040503050406030204" pitchFamily="18" charset="0"/>
                                <a:cs typeface="MV Boli" panose="02000500030200090000" pitchFamily="2" charset="0"/>
                              </a:rPr>
                              <m:t>𝑎</m:t>
                            </m:r>
                          </m:e>
                        </m:rad>
                        <m:rad>
                          <m:radPr>
                            <m:degHide m:val="on"/>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radPr>
                          <m:deg/>
                          <m:e>
                            <m:r>
                              <a:rPr lang="en-US" altLang="zh-CN" sz="1600" i="1">
                                <a:latin typeface="Cambria Math" panose="02040503050406030204" pitchFamily="18" charset="0"/>
                                <a:cs typeface="MV Boli" panose="02000500030200090000" pitchFamily="2" charset="0"/>
                              </a:rPr>
                              <m:t>𝑎</m:t>
                            </m:r>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𝑇</m:t>
                                </m:r>
                              </m:e>
                              <m:sup>
                                <m:r>
                                  <a:rPr lang="en-US" altLang="zh-CN" sz="1600" i="1">
                                    <a:latin typeface="Cambria Math" panose="02040503050406030204" pitchFamily="18" charset="0"/>
                                    <a:cs typeface="MV Boli" panose="02000500030200090000" pitchFamily="2" charset="0"/>
                                  </a:rPr>
                                  <m:t>2</m:t>
                                </m:r>
                              </m:sup>
                            </m:sSup>
                            <m:r>
                              <a:rPr lang="en-US" altLang="zh-CN" sz="1600" i="1">
                                <a:latin typeface="Cambria Math" panose="02040503050406030204" pitchFamily="18" charset="0"/>
                                <a:cs typeface="MV Boli" panose="02000500030200090000" pitchFamily="2" charset="0"/>
                              </a:rPr>
                              <m:t>−4</m:t>
                            </m:r>
                          </m:e>
                        </m:rad>
                      </m:e>
                    </m:d>
                  </m:oMath>
                </a14:m>
                <a:r>
                  <a:rPr lang="zh-CN" altLang="zh-CN" sz="1600" dirty="0">
                    <a:cs typeface="MV Boli" panose="02000500030200090000" pitchFamily="2" charset="0"/>
                  </a:rPr>
                  <a:t>，为保证给定时间内能到达目标位形（即</a:t>
                </a:r>
                <a14:m>
                  <m:oMath xmlns:m="http://schemas.openxmlformats.org/officeDocument/2006/math">
                    <m:r>
                      <a:rPr lang="en-US" altLang="zh-CN" sz="1600" i="1">
                        <a:latin typeface="Cambria Math" panose="02040503050406030204" pitchFamily="18" charset="0"/>
                        <a:cs typeface="MV Boli" panose="02000500030200090000" pitchFamily="2" charset="0"/>
                      </a:rPr>
                      <m:t>𝑣</m:t>
                    </m:r>
                  </m:oMath>
                </a14:m>
                <a:r>
                  <a:rPr lang="zh-CN" altLang="zh-CN" sz="1600" dirty="0">
                    <a:cs typeface="MV Boli" panose="02000500030200090000" pitchFamily="2" charset="0"/>
                  </a:rPr>
                  <a:t>有解），需要满足</a:t>
                </a:r>
                <a14:m>
                  <m:oMath xmlns:m="http://schemas.openxmlformats.org/officeDocument/2006/math">
                    <m:r>
                      <a:rPr lang="en-US" altLang="zh-CN" sz="1600" i="1">
                        <a:latin typeface="Cambria Math" panose="02040503050406030204" pitchFamily="18" charset="0"/>
                        <a:cs typeface="MV Boli" panose="02000500030200090000" pitchFamily="2" charset="0"/>
                      </a:rPr>
                      <m:t>𝑎</m:t>
                    </m:r>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𝑇</m:t>
                        </m:r>
                      </m:e>
                      <m:sup>
                        <m:r>
                          <a:rPr lang="en-US" altLang="zh-CN" sz="1600" i="1">
                            <a:latin typeface="Cambria Math" panose="02040503050406030204" pitchFamily="18" charset="0"/>
                            <a:cs typeface="MV Boli" panose="02000500030200090000" pitchFamily="2" charset="0"/>
                          </a:rPr>
                          <m:t>2</m:t>
                        </m:r>
                      </m:sup>
                    </m:sSup>
                    <m:r>
                      <a:rPr lang="en-US" altLang="zh-CN" sz="1600" i="1">
                        <a:latin typeface="Cambria Math" panose="02040503050406030204" pitchFamily="18" charset="0"/>
                        <a:cs typeface="MV Boli" panose="02000500030200090000" pitchFamily="2" charset="0"/>
                      </a:rPr>
                      <m:t>≥4</m:t>
                    </m:r>
                  </m:oMath>
                </a14:m>
                <a:r>
                  <a:rPr lang="zh-CN" altLang="zh-CN" sz="1600" dirty="0">
                    <a:cs typeface="MV Boli" panose="02000500030200090000" pitchFamily="2" charset="0"/>
                  </a:rPr>
                  <a:t>。</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611560" y="1034308"/>
                <a:ext cx="7848872" cy="3833485"/>
              </a:xfrm>
              <a:prstGeom prst="rect">
                <a:avLst/>
              </a:prstGeom>
              <a:blipFill rotWithShape="1">
                <a:blip r:embed="rId4"/>
                <a:stretch>
                  <a:fillRect l="-1" t="-14" r="-1315" b="-505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588224" y="507902"/>
            <a:ext cx="894797" cy="338554"/>
          </a:xfrm>
          <a:prstGeom prst="rect">
            <a:avLst/>
          </a:prstGeom>
        </p:spPr>
        <p:txBody>
          <a:bodyPr wrap="none">
            <a:spAutoFit/>
          </a:bodyPr>
          <a:lstStyle/>
          <a:p>
            <a:r>
              <a:rPr lang="en-US" altLang="zh-CN" sz="1600" dirty="0" smtClean="0">
                <a:solidFill>
                  <a:srgbClr val="FF0000"/>
                </a:solidFill>
                <a:cs typeface="MV Boli" panose="02000500030200090000" pitchFamily="2" charset="0"/>
              </a:rPr>
              <a:t>S</a:t>
            </a:r>
            <a:r>
              <a:rPr lang="zh-CN" altLang="en-US" sz="1600" dirty="0" smtClean="0">
                <a:solidFill>
                  <a:srgbClr val="FF0000"/>
                </a:solidFill>
                <a:cs typeface="MV Boli" panose="02000500030200090000" pitchFamily="2" charset="0"/>
              </a:rPr>
              <a:t>形曲线</a:t>
            </a:r>
            <a:endParaRPr lang="zh-CN" altLang="en-US" sz="1600" dirty="0">
              <a:solidFill>
                <a:srgbClr val="FF0000"/>
              </a:solidFill>
            </a:endParaRPr>
          </a:p>
        </p:txBody>
      </p:sp>
      <p:sp>
        <p:nvSpPr>
          <p:cNvPr id="15"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11" name="图片 10"/>
          <p:cNvPicPr/>
          <p:nvPr/>
        </p:nvPicPr>
        <p:blipFill>
          <a:blip r:embed="rId4"/>
          <a:stretch>
            <a:fillRect/>
          </a:stretch>
        </p:blipFill>
        <p:spPr>
          <a:xfrm>
            <a:off x="971600" y="1327542"/>
            <a:ext cx="5949506" cy="2592288"/>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959854" y="4216921"/>
                <a:ext cx="6523167" cy="338554"/>
              </a:xfrm>
              <a:prstGeom prst="rect">
                <a:avLst/>
              </a:prstGeom>
            </p:spPr>
            <p:txBody>
              <a:bodyPr wrap="square">
                <a:spAutoFit/>
              </a:bodyPr>
              <a:lstStyle/>
              <a:p>
                <a:r>
                  <a:rPr lang="zh-CN" altLang="zh-CN" sz="1600" dirty="0" smtClean="0">
                    <a:solidFill>
                      <a:srgbClr val="002060"/>
                    </a:solidFill>
                    <a:cs typeface="MV Boli" panose="02000500030200090000" pitchFamily="2" charset="0"/>
                  </a:rPr>
                  <a:t>图</a:t>
                </a:r>
                <a:r>
                  <a:rPr lang="en-US" altLang="zh-CN" sz="1600" dirty="0">
                    <a:solidFill>
                      <a:srgbClr val="002060"/>
                    </a:solidFill>
                    <a:cs typeface="MV Boli" panose="02000500030200090000" pitchFamily="2" charset="0"/>
                  </a:rPr>
                  <a:t>5.15 S-curve</a:t>
                </a:r>
                <a:r>
                  <a:rPr lang="zh-CN" altLang="zh-CN" sz="1600" dirty="0">
                    <a:solidFill>
                      <a:srgbClr val="002060"/>
                    </a:solidFill>
                    <a:cs typeface="MV Boli" panose="02000500030200090000" pitchFamily="2" charset="0"/>
                  </a:rPr>
                  <a:t>方法的时间尺度函数的一阶导（可看作是速度）</a:t>
                </a:r>
                <a14:m>
                  <m:oMath xmlns:m="http://schemas.openxmlformats.org/officeDocument/2006/math">
                    <m:acc>
                      <m:accPr>
                        <m:chr m:val="̇"/>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i="1">
                            <a:solidFill>
                              <a:srgbClr val="002060"/>
                            </a:solidFill>
                            <a:latin typeface="Cambria Math" panose="02040503050406030204" pitchFamily="18" charset="0"/>
                            <a:cs typeface="MV Boli" panose="02000500030200090000" pitchFamily="2" charset="0"/>
                          </a:rPr>
                          <m:t>𝑠</m:t>
                        </m:r>
                      </m:e>
                    </m:acc>
                    <m:d>
                      <m:d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𝑡</m:t>
                        </m:r>
                      </m:e>
                    </m:d>
                  </m:oMath>
                </a14:m>
                <a:r>
                  <a:rPr lang="zh-CN" altLang="zh-CN" sz="1600" dirty="0">
                    <a:solidFill>
                      <a:srgbClr val="002060"/>
                    </a:solidFill>
                    <a:cs typeface="MV Boli" panose="02000500030200090000" pitchFamily="2" charset="0"/>
                  </a:rPr>
                  <a:t>曲线</a:t>
                </a:r>
                <a:endParaRPr lang="zh-CN" altLang="en-US" sz="16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959854" y="4216921"/>
                <a:ext cx="6523167" cy="338554"/>
              </a:xfrm>
              <a:prstGeom prst="rect">
                <a:avLst/>
              </a:prstGeom>
              <a:blipFill rotWithShape="1">
                <a:blip r:embed="rId5"/>
                <a:stretch>
                  <a:fillRect l="-6" t="-154" r="3" b="183"/>
                </a:stretch>
              </a:blipFill>
            </p:spPr>
            <p:txBody>
              <a:bodyPr/>
              <a:lstStyle/>
              <a:p>
                <a:r>
                  <a:rPr lang="zh-CN" altLang="en-US">
                    <a:noFill/>
                  </a:rPr>
                  <a:t> </a:t>
                </a:r>
              </a:p>
            </p:txBody>
          </p:sp>
        </mc:Fallback>
      </mc:AlternateContent>
      <p:sp>
        <p:nvSpPr>
          <p:cNvPr id="2" name="矩形 1"/>
          <p:cNvSpPr/>
          <p:nvPr/>
        </p:nvSpPr>
        <p:spPr>
          <a:xfrm>
            <a:off x="2883203" y="938788"/>
            <a:ext cx="2959400" cy="338554"/>
          </a:xfrm>
          <a:prstGeom prst="rect">
            <a:avLst/>
          </a:prstGeom>
        </p:spPr>
        <p:txBody>
          <a:bodyPr wrap="none">
            <a:spAutoFit/>
          </a:bodyPr>
          <a:lstStyle/>
          <a:p>
            <a:r>
              <a:rPr lang="en-US" altLang="zh-CN" sz="1600" dirty="0">
                <a:solidFill>
                  <a:srgbClr val="002060"/>
                </a:solidFill>
              </a:rPr>
              <a:t>S-curve</a:t>
            </a:r>
            <a:r>
              <a:rPr lang="zh-CN" altLang="zh-CN" sz="1600" dirty="0">
                <a:solidFill>
                  <a:srgbClr val="002060"/>
                </a:solidFill>
              </a:rPr>
              <a:t>时间尺度由</a:t>
            </a:r>
            <a:r>
              <a:rPr lang="en-US" altLang="zh-CN" sz="1600" dirty="0">
                <a:solidFill>
                  <a:srgbClr val="002060"/>
                </a:solidFill>
              </a:rPr>
              <a:t>7</a:t>
            </a:r>
            <a:r>
              <a:rPr lang="zh-CN" altLang="zh-CN" sz="1600" dirty="0">
                <a:solidFill>
                  <a:srgbClr val="002060"/>
                </a:solidFill>
              </a:rPr>
              <a:t>个阶段组成</a:t>
            </a:r>
            <a:endParaRPr lang="zh-CN" altLang="en-US" sz="1600" dirty="0">
              <a:solidFill>
                <a:srgbClr val="002060"/>
              </a:solidFill>
            </a:endParaRPr>
          </a:p>
        </p:txBody>
      </p:sp>
      <p:sp>
        <p:nvSpPr>
          <p:cNvPr id="4" name="文本框 3"/>
          <p:cNvSpPr txBox="1"/>
          <p:nvPr/>
        </p:nvSpPr>
        <p:spPr>
          <a:xfrm>
            <a:off x="6991183" y="1491630"/>
            <a:ext cx="1253697" cy="1200329"/>
          </a:xfrm>
          <a:prstGeom prst="rect">
            <a:avLst/>
          </a:prstGeom>
          <a:noFill/>
        </p:spPr>
        <p:txBody>
          <a:bodyPr wrap="square" rtlCol="0">
            <a:spAutoFit/>
          </a:bodyPr>
          <a:lstStyle/>
          <a:p>
            <a:r>
              <a:rPr lang="zh-CN" altLang="en-US" sz="1200" dirty="0" smtClean="0">
                <a:solidFill>
                  <a:srgbClr val="FF0000"/>
                </a:solidFill>
              </a:rPr>
              <a:t>同理，请仿梯形加减速时间尺度分段函数规划出每段的位形、速度、加速度时间函数</a:t>
            </a:r>
            <a:endParaRPr lang="zh-CN" altLang="en-US" sz="12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点到点轨迹生成</a:t>
            </a:r>
          </a:p>
        </p:txBody>
      </p:sp>
      <p:sp>
        <p:nvSpPr>
          <p:cNvPr id="8" name="矩形 7"/>
          <p:cNvSpPr/>
          <p:nvPr/>
        </p:nvSpPr>
        <p:spPr>
          <a:xfrm>
            <a:off x="6588224" y="507902"/>
            <a:ext cx="894797" cy="338554"/>
          </a:xfrm>
          <a:prstGeom prst="rect">
            <a:avLst/>
          </a:prstGeom>
        </p:spPr>
        <p:txBody>
          <a:bodyPr wrap="none">
            <a:spAutoFit/>
          </a:bodyPr>
          <a:lstStyle/>
          <a:p>
            <a:r>
              <a:rPr lang="en-US" altLang="zh-CN" sz="1600" dirty="0" smtClean="0">
                <a:solidFill>
                  <a:srgbClr val="FF0000"/>
                </a:solidFill>
                <a:cs typeface="MV Boli" panose="02000500030200090000" pitchFamily="2" charset="0"/>
              </a:rPr>
              <a:t>S</a:t>
            </a:r>
            <a:r>
              <a:rPr lang="zh-CN" altLang="en-US" sz="1600" dirty="0" smtClean="0">
                <a:solidFill>
                  <a:srgbClr val="FF0000"/>
                </a:solidFill>
                <a:cs typeface="MV Boli" panose="02000500030200090000" pitchFamily="2" charset="0"/>
              </a:rPr>
              <a:t>形曲线</a:t>
            </a:r>
            <a:endParaRPr lang="zh-CN" altLang="en-US" sz="1600" dirty="0">
              <a:solidFill>
                <a:srgbClr val="FF0000"/>
              </a:solidFill>
            </a:endParaRPr>
          </a:p>
        </p:txBody>
      </p:sp>
      <p:sp>
        <p:nvSpPr>
          <p:cNvPr id="15"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14" name="图片 13" descr="https://img-blog.csdnimg.cn/20200217145525653.png?x-oss-process=image/watermark,type_ZmFuZ3poZW5naGVpdGk,shadow_10,text_aHR0cHM6Ly9ibG9nLmNzZG4ubmV0L2xpdXpoaWp1bjMwMQ==,size_16,color_FFFFFF,t_70"/>
          <p:cNvPicPr/>
          <p:nvPr/>
        </p:nvPicPr>
        <p:blipFill>
          <a:blip r:embed="rId4">
            <a:extLst>
              <a:ext uri="{28A0092B-C50C-407E-A947-70E740481C1C}">
                <a14:useLocalDpi xmlns:a14="http://schemas.microsoft.com/office/drawing/2010/main" val="0"/>
              </a:ext>
            </a:extLst>
          </a:blip>
          <a:srcRect/>
          <a:stretch>
            <a:fillRect/>
          </a:stretch>
        </p:blipFill>
        <p:spPr bwMode="auto">
          <a:xfrm>
            <a:off x="2051720" y="870550"/>
            <a:ext cx="4803132" cy="4221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具有中间路点的轨迹生成</a:t>
            </a:r>
          </a:p>
        </p:txBody>
      </p:sp>
      <p:sp>
        <p:nvSpPr>
          <p:cNvPr id="2" name="矩形 1"/>
          <p:cNvSpPr/>
          <p:nvPr/>
        </p:nvSpPr>
        <p:spPr>
          <a:xfrm>
            <a:off x="1115616" y="1635646"/>
            <a:ext cx="7200800" cy="2462213"/>
          </a:xfrm>
          <a:prstGeom prst="rect">
            <a:avLst/>
          </a:prstGeom>
        </p:spPr>
        <p:txBody>
          <a:bodyPr wrap="square">
            <a:spAutoFit/>
          </a:bodyPr>
          <a:lstStyle/>
          <a:p>
            <a:pPr indent="266700">
              <a:spcBef>
                <a:spcPts val="600"/>
              </a:spcBef>
              <a:spcAft>
                <a:spcPts val="600"/>
              </a:spcAft>
            </a:pPr>
            <a:r>
              <a:rPr lang="zh-CN" altLang="zh-CN" sz="1600" dirty="0">
                <a:solidFill>
                  <a:srgbClr val="002060"/>
                </a:solidFill>
                <a:latin typeface="宋体" panose="02010600030101010101" pitchFamily="2" charset="-122"/>
                <a:cs typeface="MV Boli" panose="02000500030200090000" pitchFamily="2" charset="0"/>
              </a:rPr>
              <a:t>如果作业要求机器人在指定时间内通过一系列中间点</a:t>
            </a:r>
            <a:r>
              <a:rPr lang="en-US" altLang="zh-CN" sz="1600" dirty="0">
                <a:solidFill>
                  <a:srgbClr val="002060"/>
                </a:solidFill>
                <a:latin typeface="宋体" panose="02010600030101010101" pitchFamily="2" charset="-122"/>
                <a:cs typeface="MV Boli" panose="02000500030200090000" pitchFamily="2" charset="0"/>
              </a:rPr>
              <a:t>(via point)</a:t>
            </a:r>
            <a:r>
              <a:rPr lang="zh-CN" altLang="zh-CN" sz="1600" dirty="0">
                <a:solidFill>
                  <a:srgbClr val="002060"/>
                </a:solidFill>
                <a:latin typeface="宋体" panose="02010600030101010101" pitchFamily="2" charset="-122"/>
                <a:cs typeface="MV Boli" panose="02000500030200090000" pitchFamily="2" charset="0"/>
              </a:rPr>
              <a:t>，而并没有严格规定前后点之间的路径形状，那么需要约束的只是路径点上的关节速度问题。这个速度确定有三种方法：</a:t>
            </a:r>
            <a:endParaRPr lang="zh-CN" altLang="zh-CN" sz="1600" dirty="0">
              <a:solidFill>
                <a:srgbClr val="002060"/>
              </a:solidFill>
              <a:latin typeface="宋体" panose="02010600030101010101" pitchFamily="2" charset="-122"/>
              <a:cs typeface="宋体" panose="02010600030101010101" pitchFamily="2" charset="-122"/>
            </a:endParaRPr>
          </a:p>
          <a:p>
            <a:pPr indent="266700"/>
            <a:r>
              <a:rPr lang="zh-CN" altLang="zh-CN" sz="1600" dirty="0">
                <a:solidFill>
                  <a:srgbClr val="002060"/>
                </a:solidFill>
                <a:latin typeface="宋体" panose="02010600030101010101" pitchFamily="2" charset="-122"/>
                <a:cs typeface="MV Boli" panose="02000500030200090000" pitchFamily="2" charset="0"/>
              </a:rPr>
              <a:t>（</a:t>
            </a:r>
            <a:r>
              <a:rPr lang="en-US" altLang="zh-CN" sz="1600" dirty="0">
                <a:solidFill>
                  <a:srgbClr val="002060"/>
                </a:solidFill>
                <a:latin typeface="宋体" panose="02010600030101010101" pitchFamily="2" charset="-122"/>
                <a:cs typeface="MV Boli" panose="02000500030200090000" pitchFamily="2" charset="0"/>
              </a:rPr>
              <a:t>1</a:t>
            </a:r>
            <a:r>
              <a:rPr lang="zh-CN" altLang="zh-CN" sz="1600" dirty="0">
                <a:solidFill>
                  <a:srgbClr val="002060"/>
                </a:solidFill>
                <a:latin typeface="宋体" panose="02010600030101010101" pitchFamily="2" charset="-122"/>
                <a:cs typeface="MV Boli" panose="02000500030200090000" pitchFamily="2" charset="0"/>
              </a:rPr>
              <a:t>） 根据工具坐标系在直角坐标空间中的瞬时线速度和角速度来确定每个路径点的关节速度，但该方法工作量较大。</a:t>
            </a:r>
            <a:endParaRPr lang="zh-CN" altLang="zh-CN" sz="1600" dirty="0">
              <a:solidFill>
                <a:srgbClr val="002060"/>
              </a:solidFill>
              <a:latin typeface="宋体" panose="02010600030101010101" pitchFamily="2" charset="-122"/>
              <a:cs typeface="宋体" panose="02010600030101010101" pitchFamily="2" charset="-122"/>
            </a:endParaRPr>
          </a:p>
          <a:p>
            <a:pPr indent="266700"/>
            <a:r>
              <a:rPr lang="zh-CN" altLang="zh-CN" sz="1600" dirty="0">
                <a:solidFill>
                  <a:srgbClr val="002060"/>
                </a:solidFill>
                <a:latin typeface="宋体" panose="02010600030101010101" pitchFamily="2" charset="-122"/>
                <a:cs typeface="MV Boli" panose="02000500030200090000" pitchFamily="2" charset="0"/>
              </a:rPr>
              <a:t>（</a:t>
            </a:r>
            <a:r>
              <a:rPr lang="en-US" altLang="zh-CN" sz="1600" dirty="0">
                <a:solidFill>
                  <a:srgbClr val="002060"/>
                </a:solidFill>
                <a:latin typeface="宋体" panose="02010600030101010101" pitchFamily="2" charset="-122"/>
                <a:cs typeface="MV Boli" panose="02000500030200090000" pitchFamily="2" charset="0"/>
              </a:rPr>
              <a:t>2</a:t>
            </a:r>
            <a:r>
              <a:rPr lang="zh-CN" altLang="zh-CN" sz="1600" dirty="0">
                <a:solidFill>
                  <a:srgbClr val="002060"/>
                </a:solidFill>
                <a:latin typeface="宋体" panose="02010600030101010101" pitchFamily="2" charset="-122"/>
                <a:cs typeface="MV Boli" panose="02000500030200090000" pitchFamily="2" charset="0"/>
              </a:rPr>
              <a:t>）为了保证每个路径点上的加速度连续，由控制系统按照此要求自动地选择路径点的速度；</a:t>
            </a:r>
            <a:endParaRPr lang="zh-CN" altLang="zh-CN" sz="1600" dirty="0">
              <a:solidFill>
                <a:srgbClr val="002060"/>
              </a:solidFill>
              <a:latin typeface="宋体" panose="02010600030101010101" pitchFamily="2" charset="-122"/>
              <a:cs typeface="宋体" panose="02010600030101010101" pitchFamily="2" charset="-122"/>
            </a:endParaRPr>
          </a:p>
          <a:p>
            <a:pPr indent="266700">
              <a:spcBef>
                <a:spcPts val="600"/>
              </a:spcBef>
              <a:spcAft>
                <a:spcPts val="600"/>
              </a:spcAft>
            </a:pPr>
            <a:r>
              <a:rPr lang="zh-CN" altLang="zh-CN" sz="1600" dirty="0">
                <a:solidFill>
                  <a:srgbClr val="002060"/>
                </a:solidFill>
                <a:latin typeface="宋体" panose="02010600030101010101" pitchFamily="2" charset="-122"/>
                <a:cs typeface="MV Boli" panose="02000500030200090000" pitchFamily="2" charset="0"/>
              </a:rPr>
              <a:t>（</a:t>
            </a:r>
            <a:r>
              <a:rPr lang="en-US" altLang="zh-CN" sz="1600" dirty="0">
                <a:solidFill>
                  <a:srgbClr val="002060"/>
                </a:solidFill>
                <a:latin typeface="宋体" panose="02010600030101010101" pitchFamily="2" charset="-122"/>
                <a:cs typeface="MV Boli" panose="02000500030200090000" pitchFamily="2" charset="0"/>
              </a:rPr>
              <a:t>3</a:t>
            </a:r>
            <a:r>
              <a:rPr lang="zh-CN" altLang="zh-CN" sz="1600" dirty="0">
                <a:solidFill>
                  <a:srgbClr val="002060"/>
                </a:solidFill>
                <a:latin typeface="宋体" panose="02010600030101010101" pitchFamily="2" charset="-122"/>
                <a:cs typeface="MV Boli" panose="02000500030200090000" pitchFamily="2" charset="0"/>
              </a:rPr>
              <a:t>）在直角坐标空间或关节空间中采用某种适当的启发式方法，由控制系统自动地选择路径点的速度。</a:t>
            </a:r>
            <a:endParaRPr lang="zh-CN" altLang="zh-CN" sz="1600" dirty="0">
              <a:solidFill>
                <a:srgbClr val="002060"/>
              </a:solidFill>
              <a:latin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具有中间路点的轨迹生成</a:t>
            </a:r>
          </a:p>
        </p:txBody>
      </p:sp>
      <p:sp>
        <p:nvSpPr>
          <p:cNvPr id="2" name="矩形 1"/>
          <p:cNvSpPr/>
          <p:nvPr/>
        </p:nvSpPr>
        <p:spPr>
          <a:xfrm>
            <a:off x="1115616" y="1635646"/>
            <a:ext cx="7200800" cy="1877437"/>
          </a:xfrm>
          <a:prstGeom prst="rect">
            <a:avLst/>
          </a:prstGeom>
        </p:spPr>
        <p:txBody>
          <a:bodyPr wrap="square">
            <a:spAutoFit/>
          </a:bodyPr>
          <a:lstStyle/>
          <a:p>
            <a:pPr indent="266700">
              <a:spcBef>
                <a:spcPts val="600"/>
              </a:spcBef>
              <a:spcAft>
                <a:spcPts val="600"/>
              </a:spcAft>
            </a:pPr>
            <a:r>
              <a:rPr lang="zh-CN" altLang="en-US" sz="1600" b="1" dirty="0">
                <a:solidFill>
                  <a:srgbClr val="002060"/>
                </a:solidFill>
                <a:latin typeface="宋体" panose="02010600030101010101" pitchFamily="2" charset="-122"/>
                <a:cs typeface="MV Boli" panose="02000500030200090000" pitchFamily="2" charset="0"/>
              </a:rPr>
              <a:t>采用时间尺度函数进行轨迹规划，简单的解决方法有两种</a:t>
            </a:r>
            <a:r>
              <a:rPr lang="zh-CN" altLang="en-US" sz="1600" dirty="0" smtClean="0">
                <a:solidFill>
                  <a:srgbClr val="002060"/>
                </a:solidFill>
                <a:latin typeface="宋体" panose="02010600030101010101" pitchFamily="2" charset="-122"/>
                <a:cs typeface="MV Boli" panose="02000500030200090000" pitchFamily="2" charset="0"/>
              </a:rPr>
              <a:t>：</a:t>
            </a:r>
            <a:endParaRPr lang="en-US" altLang="zh-CN" sz="1600" dirty="0" smtClean="0">
              <a:solidFill>
                <a:srgbClr val="002060"/>
              </a:solidFill>
              <a:latin typeface="宋体" panose="02010600030101010101" pitchFamily="2" charset="-122"/>
              <a:cs typeface="MV Boli" panose="02000500030200090000" pitchFamily="2" charset="0"/>
            </a:endParaRPr>
          </a:p>
          <a:p>
            <a:pPr marL="285750" indent="-285750">
              <a:spcBef>
                <a:spcPts val="600"/>
              </a:spcBef>
              <a:spcAft>
                <a:spcPts val="600"/>
              </a:spcAft>
              <a:buFont typeface="Wingdings" panose="05000000000000000000" pitchFamily="2" charset="2"/>
              <a:buChar char="Ø"/>
            </a:pPr>
            <a:r>
              <a:rPr lang="zh-CN" altLang="en-US" sz="1600" dirty="0" smtClean="0">
                <a:solidFill>
                  <a:srgbClr val="002060"/>
                </a:solidFill>
                <a:latin typeface="宋体" panose="02010600030101010101" pitchFamily="2" charset="-122"/>
                <a:cs typeface="MV Boli" panose="02000500030200090000" pitchFamily="2" charset="0"/>
              </a:rPr>
              <a:t>直接</a:t>
            </a:r>
            <a:r>
              <a:rPr lang="zh-CN" altLang="en-US" sz="1600" dirty="0">
                <a:solidFill>
                  <a:srgbClr val="002060"/>
                </a:solidFill>
                <a:latin typeface="宋体" panose="02010600030101010101" pitchFamily="2" charset="-122"/>
                <a:cs typeface="MV Boli" panose="02000500030200090000" pitchFamily="2" charset="0"/>
              </a:rPr>
              <a:t>采用前面的点到点的轨迹规划方法，只是将第一段的终止速度约束指定为非零的合理速度，后面段的起始速度等于前一段结束的终止速度即可。这个时间尺度函数的系数求取方法和前面介绍的分段式加减速方法相同</a:t>
            </a:r>
            <a:r>
              <a:rPr lang="zh-CN" altLang="en-US" sz="1600" dirty="0" smtClean="0">
                <a:solidFill>
                  <a:srgbClr val="002060"/>
                </a:solidFill>
                <a:latin typeface="宋体" panose="02010600030101010101" pitchFamily="2" charset="-122"/>
                <a:cs typeface="MV Boli" panose="02000500030200090000" pitchFamily="2" charset="0"/>
              </a:rPr>
              <a:t>。</a:t>
            </a:r>
            <a:endParaRPr lang="en-US" altLang="zh-CN" sz="1600" dirty="0" smtClean="0">
              <a:solidFill>
                <a:srgbClr val="002060"/>
              </a:solidFill>
              <a:latin typeface="宋体" panose="02010600030101010101" pitchFamily="2" charset="-122"/>
              <a:cs typeface="MV Boli" panose="02000500030200090000" pitchFamily="2" charset="0"/>
            </a:endParaRPr>
          </a:p>
          <a:p>
            <a:pPr marL="285750" indent="-285750">
              <a:spcBef>
                <a:spcPts val="600"/>
              </a:spcBef>
              <a:spcAft>
                <a:spcPts val="600"/>
              </a:spcAft>
              <a:buFont typeface="Wingdings" panose="05000000000000000000" pitchFamily="2" charset="2"/>
              <a:buChar char="Ø"/>
            </a:pPr>
            <a:r>
              <a:rPr lang="zh-CN" altLang="en-US" sz="1600" dirty="0" smtClean="0">
                <a:solidFill>
                  <a:srgbClr val="002060"/>
                </a:solidFill>
                <a:latin typeface="宋体" panose="02010600030101010101" pitchFamily="2" charset="-122"/>
                <a:cs typeface="MV Boli" panose="02000500030200090000" pitchFamily="2" charset="0"/>
              </a:rPr>
              <a:t>采用</a:t>
            </a:r>
            <a:r>
              <a:rPr lang="zh-CN" altLang="en-US" sz="1600" dirty="0">
                <a:solidFill>
                  <a:srgbClr val="002060"/>
                </a:solidFill>
                <a:latin typeface="宋体" panose="02010600030101010101" pitchFamily="2" charset="-122"/>
                <a:cs typeface="MV Boli" panose="02000500030200090000" pitchFamily="2" charset="0"/>
              </a:rPr>
              <a:t>一些高阶的曲线函数，逼近需要路经的控制点。例如采用贝塞尔曲线、</a:t>
            </a:r>
            <a:r>
              <a:rPr lang="en-US" altLang="zh-CN" sz="1600" dirty="0">
                <a:solidFill>
                  <a:srgbClr val="002060"/>
                </a:solidFill>
                <a:latin typeface="宋体" panose="02010600030101010101" pitchFamily="2" charset="-122"/>
                <a:cs typeface="MV Boli" panose="02000500030200090000" pitchFamily="2" charset="0"/>
              </a:rPr>
              <a:t>B</a:t>
            </a:r>
            <a:r>
              <a:rPr lang="zh-CN" altLang="en-US" sz="1600" dirty="0">
                <a:solidFill>
                  <a:srgbClr val="002060"/>
                </a:solidFill>
                <a:latin typeface="宋体" panose="02010600030101010101" pitchFamily="2" charset="-122"/>
                <a:cs typeface="MV Boli" panose="02000500030200090000" pitchFamily="2" charset="0"/>
              </a:rPr>
              <a:t>样条曲线等作为时间尺度函数。</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2620872" y="373786"/>
            <a:ext cx="3651004" cy="461665"/>
          </a:xfrm>
          <a:prstGeom prst="rect">
            <a:avLst/>
          </a:prstGeom>
        </p:spPr>
        <p:txBody>
          <a:bodyPr wrap="square">
            <a:spAutoFit/>
          </a:bodyPr>
          <a:lstStyle/>
          <a:p>
            <a:r>
              <a:rPr lang="zh-CN" altLang="en-US" sz="2400" b="1" dirty="0">
                <a:solidFill>
                  <a:srgbClr val="002060"/>
                </a:solidFill>
              </a:rPr>
              <a:t>具有中间路点的轨迹生成</a:t>
            </a:r>
          </a:p>
        </p:txBody>
      </p:sp>
      <mc:AlternateContent xmlns:mc="http://schemas.openxmlformats.org/markup-compatibility/2006" xmlns:a14="http://schemas.microsoft.com/office/drawing/2010/main">
        <mc:Choice Requires="a14">
          <p:sp>
            <p:nvSpPr>
              <p:cNvPr id="3" name="矩形 2"/>
              <p:cNvSpPr/>
              <p:nvPr/>
            </p:nvSpPr>
            <p:spPr>
              <a:xfrm>
                <a:off x="868988" y="1139190"/>
                <a:ext cx="7776864" cy="509435"/>
              </a:xfrm>
              <a:prstGeom prst="rect">
                <a:avLst/>
              </a:prstGeom>
            </p:spPr>
            <p:txBody>
              <a:bodyPr wrap="square">
                <a:spAutoFit/>
              </a:bodyPr>
              <a:lstStyle/>
              <a:p>
                <a14:m>
                  <m:oMath xmlns:m="http://schemas.openxmlformats.org/officeDocument/2006/math">
                    <m:r>
                      <a:rPr lang="en-US" altLang="zh-CN" sz="1600" i="1">
                        <a:latin typeface="Cambria Math" panose="02040503050406030204" pitchFamily="18" charset="0"/>
                        <a:cs typeface="MV Boli" panose="02000500030200090000" pitchFamily="2" charset="0"/>
                      </a:rPr>
                      <m:t>𝑋</m:t>
                    </m:r>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𝑡</m:t>
                        </m:r>
                      </m:e>
                    </m:d>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𝑋</m:t>
                        </m:r>
                      </m:e>
                      <m:sub>
                        <m:r>
                          <a:rPr lang="en-US" altLang="zh-CN" sz="1600" i="1">
                            <a:latin typeface="Cambria Math" panose="02040503050406030204" pitchFamily="18" charset="0"/>
                            <a:cs typeface="MV Boli" panose="02000500030200090000" pitchFamily="2" charset="0"/>
                          </a:rPr>
                          <m:t>𝑠𝑡𝑎𝑟𝑡</m:t>
                        </m:r>
                      </m:sub>
                    </m:sSub>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a:latin typeface="Cambria Math" panose="02040503050406030204" pitchFamily="18" charset="0"/>
                                <a:cs typeface="MV Boli" panose="02000500030200090000" pitchFamily="2" charset="0"/>
                              </a:rPr>
                              <m:t>1</m:t>
                            </m:r>
                            <m:r>
                              <a:rPr lang="en-US" altLang="zh-CN" sz="1600" i="1">
                                <a:latin typeface="Cambria Math" panose="02040503050406030204" pitchFamily="18" charset="0"/>
                                <a:cs typeface="MV Boli" panose="02000500030200090000" pitchFamily="2" charset="0"/>
                              </a:rPr>
                              <m:t>−</m:t>
                            </m:r>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e>
                        </m:d>
                      </m:e>
                      <m:sup>
                        <m:r>
                          <a:rPr lang="en-US" altLang="zh-CN" sz="1600" i="1">
                            <a:latin typeface="Cambria Math" panose="02040503050406030204" pitchFamily="18" charset="0"/>
                            <a:cs typeface="MV Boli" panose="02000500030200090000" pitchFamily="2" charset="0"/>
                          </a:rPr>
                          <m:t>3</m:t>
                        </m:r>
                      </m:sup>
                    </m:sSup>
                    <m:r>
                      <a:rPr lang="en-US" altLang="zh-CN" sz="1600" i="1">
                        <a:latin typeface="Cambria Math" panose="02040503050406030204" pitchFamily="18" charset="0"/>
                        <a:cs typeface="MV Boli" panose="02000500030200090000" pitchFamily="2" charset="0"/>
                      </a:rPr>
                      <m:t>+3</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𝑋</m:t>
                        </m:r>
                      </m:e>
                      <m:sub>
                        <m:r>
                          <a:rPr lang="en-US" altLang="zh-CN" sz="1600" i="1">
                            <a:latin typeface="Cambria Math" panose="02040503050406030204" pitchFamily="18" charset="0"/>
                            <a:cs typeface="MV Boli" panose="02000500030200090000" pitchFamily="2" charset="0"/>
                          </a:rPr>
                          <m:t>1</m:t>
                        </m:r>
                      </m:sub>
                    </m:sSub>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(1−</m:t>
                        </m:r>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r>
                          <a:rPr lang="en-US" altLang="zh-CN" sz="1600" i="1">
                            <a:latin typeface="Cambria Math" panose="02040503050406030204" pitchFamily="18" charset="0"/>
                            <a:cs typeface="MV Boli" panose="02000500030200090000" pitchFamily="2" charset="0"/>
                          </a:rPr>
                          <m:t>)</m:t>
                        </m:r>
                      </m:e>
                      <m:sup>
                        <m:r>
                          <a:rPr lang="en-US" altLang="zh-CN" sz="1600" i="1">
                            <a:latin typeface="Cambria Math" panose="02040503050406030204" pitchFamily="18" charset="0"/>
                            <a:cs typeface="MV Boli" panose="02000500030200090000" pitchFamily="2" charset="0"/>
                          </a:rPr>
                          <m:t>2</m:t>
                        </m:r>
                      </m:sup>
                    </m:sSup>
                    <m:r>
                      <a:rPr lang="en-US" altLang="zh-CN" sz="1600" i="1">
                        <a:latin typeface="Cambria Math" panose="02040503050406030204" pitchFamily="18" charset="0"/>
                        <a:cs typeface="MV Boli" panose="02000500030200090000" pitchFamily="2" charset="0"/>
                      </a:rPr>
                      <m:t>+3</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𝑋</m:t>
                        </m:r>
                      </m:e>
                      <m:sub>
                        <m:r>
                          <a:rPr lang="en-US" altLang="zh-CN" sz="1600" i="1">
                            <a:latin typeface="Cambria Math" panose="02040503050406030204" pitchFamily="18" charset="0"/>
                            <a:cs typeface="MV Boli" panose="02000500030200090000" pitchFamily="2" charset="0"/>
                          </a:rPr>
                          <m:t>2</m:t>
                        </m:r>
                      </m:sub>
                    </m:sSub>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m:t>
                        </m:r>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r>
                          <a:rPr lang="en-US" altLang="zh-CN" sz="1600" i="1">
                            <a:latin typeface="Cambria Math" panose="02040503050406030204" pitchFamily="18" charset="0"/>
                            <a:cs typeface="MV Boli" panose="02000500030200090000" pitchFamily="2" charset="0"/>
                          </a:rPr>
                          <m:t>)</m:t>
                        </m:r>
                      </m:e>
                      <m:sup>
                        <m:r>
                          <a:rPr lang="en-US" altLang="zh-CN" sz="1600" i="1">
                            <a:latin typeface="Cambria Math" panose="02040503050406030204" pitchFamily="18" charset="0"/>
                            <a:cs typeface="MV Boli" panose="02000500030200090000" pitchFamily="2" charset="0"/>
                          </a:rPr>
                          <m:t>2</m:t>
                        </m:r>
                      </m:sup>
                    </m:sSup>
                    <m:d>
                      <m:d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latin typeface="Cambria Math" panose="02040503050406030204" pitchFamily="18" charset="0"/>
                            <a:cs typeface="MV Boli" panose="02000500030200090000" pitchFamily="2" charset="0"/>
                          </a:rPr>
                          <m:t>1−</m:t>
                        </m:r>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e>
                    </m:d>
                    <m:r>
                      <a:rPr lang="en-US" altLang="zh-CN" sz="1600" i="1">
                        <a:latin typeface="Cambria Math" panose="02040503050406030204" pitchFamily="18" charset="0"/>
                        <a:cs typeface="MV Boli" panose="02000500030200090000" pitchFamily="2" charset="0"/>
                      </a:rPr>
                      <m:t>+</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𝑋</m:t>
                        </m:r>
                      </m:e>
                      <m:sub>
                        <m:r>
                          <a:rPr lang="en-US" altLang="zh-CN" sz="1600" i="1">
                            <a:latin typeface="Cambria Math" panose="02040503050406030204" pitchFamily="18" charset="0"/>
                            <a:cs typeface="MV Boli" panose="02000500030200090000" pitchFamily="2" charset="0"/>
                          </a:rPr>
                          <m:t>𝑒𝑛𝑑</m:t>
                        </m:r>
                      </m:sub>
                    </m:sSub>
                    <m:sSup>
                      <m:sSup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latin typeface="Cambria Math" panose="02040503050406030204" pitchFamily="18" charset="0"/>
                            <a:cs typeface="MV Boli" panose="02000500030200090000" pitchFamily="2" charset="0"/>
                          </a:rPr>
                          <m:t>(</m:t>
                        </m:r>
                        <m:f>
                          <m:f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600" i="1">
                                <a:latin typeface="Cambria Math" panose="02040503050406030204" pitchFamily="18" charset="0"/>
                                <a:cs typeface="MV Boli" panose="02000500030200090000" pitchFamily="2" charset="0"/>
                              </a:rPr>
                              <m:t>𝑡</m:t>
                            </m:r>
                          </m:num>
                          <m:den>
                            <m:r>
                              <a:rPr lang="en-US" altLang="zh-CN" sz="1600" i="1">
                                <a:latin typeface="Cambria Math" panose="02040503050406030204" pitchFamily="18" charset="0"/>
                                <a:cs typeface="MV Boli" panose="02000500030200090000" pitchFamily="2" charset="0"/>
                              </a:rPr>
                              <m:t>𝑇</m:t>
                            </m:r>
                          </m:den>
                        </m:f>
                        <m:r>
                          <a:rPr lang="en-US" altLang="zh-CN" sz="1600" i="1">
                            <a:latin typeface="Cambria Math" panose="02040503050406030204" pitchFamily="18" charset="0"/>
                            <a:cs typeface="MV Boli" panose="02000500030200090000" pitchFamily="2" charset="0"/>
                          </a:rPr>
                          <m:t>)</m:t>
                        </m:r>
                      </m:e>
                      <m:sup>
                        <m:r>
                          <a:rPr lang="en-US" altLang="zh-CN" sz="1600" i="1">
                            <a:latin typeface="Cambria Math" panose="02040503050406030204" pitchFamily="18" charset="0"/>
                            <a:cs typeface="MV Boli" panose="02000500030200090000" pitchFamily="2" charset="0"/>
                          </a:rPr>
                          <m:t>3</m:t>
                        </m:r>
                      </m:sup>
                    </m:sSup>
                    <m:r>
                      <a:rPr lang="en-US" altLang="zh-CN" sz="1600" i="1">
                        <a:latin typeface="Cambria Math" panose="02040503050406030204" pitchFamily="18" charset="0"/>
                        <a:cs typeface="MV Boli" panose="02000500030200090000" pitchFamily="2" charset="0"/>
                      </a:rPr>
                      <m:t>, </m:t>
                    </m:r>
                    <m:r>
                      <a:rPr lang="en-US" altLang="zh-CN" sz="1600" i="1">
                        <a:latin typeface="Cambria Math" panose="02040503050406030204" pitchFamily="18" charset="0"/>
                        <a:cs typeface="MV Boli" panose="02000500030200090000" pitchFamily="2" charset="0"/>
                      </a:rPr>
                      <m:t>𝑡</m:t>
                    </m:r>
                    <m:r>
                      <a:rPr lang="en-US" altLang="zh-CN" sz="1600" i="1">
                        <a:latin typeface="Cambria Math" panose="02040503050406030204" pitchFamily="18" charset="0"/>
                        <a:cs typeface="MV Boli" panose="02000500030200090000" pitchFamily="2" charset="0"/>
                      </a:rPr>
                      <m:t>∈[0,</m:t>
                    </m:r>
                    <m:r>
                      <a:rPr lang="en-US" altLang="zh-CN" sz="1600" i="1">
                        <a:latin typeface="Cambria Math" panose="02040503050406030204" pitchFamily="18" charset="0"/>
                        <a:cs typeface="MV Boli" panose="02000500030200090000" pitchFamily="2" charset="0"/>
                      </a:rPr>
                      <m:t>𝑇</m:t>
                    </m:r>
                    <m:r>
                      <a:rPr lang="en-US" altLang="zh-CN" sz="1600" i="1">
                        <a:latin typeface="Cambria Math" panose="02040503050406030204" pitchFamily="18" charset="0"/>
                        <a:cs typeface="MV Boli" panose="02000500030200090000" pitchFamily="2" charset="0"/>
                      </a:rPr>
                      <m:t>]</m:t>
                    </m:r>
                  </m:oMath>
                </a14:m>
                <a:r>
                  <a:rPr lang="en-US" altLang="zh-CN" sz="1600" i="1" dirty="0">
                    <a:latin typeface="宋体" panose="02010600030101010101" pitchFamily="2" charset="-122"/>
                    <a:cs typeface="MV Boli" panose="02000500030200090000" pitchFamily="2" charset="0"/>
                  </a:rPr>
                  <a:t> </a:t>
                </a:r>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868988" y="1139190"/>
                <a:ext cx="7776864" cy="509435"/>
              </a:xfrm>
              <a:prstGeom prst="rect">
                <a:avLst/>
              </a:prstGeom>
              <a:blipFill rotWithShape="1">
                <a:blip r:embed="rId5"/>
                <a:stretch>
                  <a:fillRect l="-4" r="4" b="32"/>
                </a:stretch>
              </a:blipFill>
            </p:spPr>
            <p:txBody>
              <a:bodyPr/>
              <a:lstStyle/>
              <a:p>
                <a:r>
                  <a:rPr lang="zh-CN" altLang="en-US">
                    <a:noFill/>
                  </a:rPr>
                  <a:t> </a:t>
                </a:r>
              </a:p>
            </p:txBody>
          </p:sp>
        </mc:Fallback>
      </mc:AlternateContent>
      <p:pic>
        <p:nvPicPr>
          <p:cNvPr id="11274" name="Picture 10" descr="https://gimg2.baidu.com/image_search/src=http%3A%2F%2Fupload-images.jianshu.io%2Fupload_images%2F1886013-1cd16721635f5078.gif%3FimageMogr2%2Fauto-orient%2Fstrip&amp;refer=http%3A%2F%2Fupload-images.jianshu.io&amp;app=2002&amp;size=f9999,10000&amp;q=a80&amp;n=0&amp;g=0n&amp;fmt=jpeg?sec=1620915058&amp;t=74e8676aec27c6d48fc8baa3c27521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7420" y="1779662"/>
            <a:ext cx="3283565" cy="13681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对象 9"/>
          <p:cNvGraphicFramePr>
            <a:graphicFrameLocks noChangeAspect="1"/>
          </p:cNvGraphicFramePr>
          <p:nvPr/>
        </p:nvGraphicFramePr>
        <p:xfrm>
          <a:off x="395536" y="1635646"/>
          <a:ext cx="4124325" cy="1790700"/>
        </p:xfrm>
        <a:graphic>
          <a:graphicData uri="http://schemas.openxmlformats.org/presentationml/2006/ole">
            <mc:AlternateContent xmlns:mc="http://schemas.openxmlformats.org/markup-compatibility/2006">
              <mc:Choice xmlns:v="urn:schemas-microsoft-com:vml" Requires="v">
                <p:oleObj spid="_x0000_s11342" name="Visio" r:id="rId7" imgW="3100705" imgH="1350010" progId="Visio.Drawing.15">
                  <p:embed/>
                </p:oleObj>
              </mc:Choice>
              <mc:Fallback>
                <p:oleObj name="Visio" r:id="rId7" imgW="3100705" imgH="1350010" progId="Visio.Drawing.15">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536" y="1635646"/>
                        <a:ext cx="4124325" cy="179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p:cNvSpPr/>
          <p:nvPr/>
        </p:nvSpPr>
        <p:spPr>
          <a:xfrm>
            <a:off x="3635896" y="904395"/>
            <a:ext cx="1620957" cy="338554"/>
          </a:xfrm>
          <a:prstGeom prst="rect">
            <a:avLst/>
          </a:prstGeom>
        </p:spPr>
        <p:txBody>
          <a:bodyPr wrap="none">
            <a:spAutoFit/>
          </a:bodyPr>
          <a:lstStyle/>
          <a:p>
            <a:r>
              <a:rPr lang="zh-CN" altLang="zh-CN" sz="1600" dirty="0">
                <a:solidFill>
                  <a:srgbClr val="002060"/>
                </a:solidFill>
                <a:latin typeface="Calibri" panose="020F0502020204030204" charset="0"/>
                <a:cs typeface="Times New Roman" panose="02020603050405020304" pitchFamily="18" charset="0"/>
              </a:rPr>
              <a:t>三阶</a:t>
            </a:r>
            <a:r>
              <a:rPr lang="zh-CN" altLang="zh-CN" sz="1600" dirty="0">
                <a:solidFill>
                  <a:srgbClr val="002060"/>
                </a:solidFill>
                <a:cs typeface="MV Boli" panose="02000500030200090000" pitchFamily="2" charset="0"/>
              </a:rPr>
              <a:t>贝塞尔曲线</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2" name="矩形 11"/>
              <p:cNvSpPr/>
              <p:nvPr/>
            </p:nvSpPr>
            <p:spPr>
              <a:xfrm>
                <a:off x="395537" y="3426346"/>
                <a:ext cx="8250316" cy="1619802"/>
              </a:xfrm>
              <a:prstGeom prst="rect">
                <a:avLst/>
              </a:prstGeom>
            </p:spPr>
            <p:txBody>
              <a:bodyPr wrap="square">
                <a:spAutoFit/>
              </a:bodyPr>
              <a:lstStyle/>
              <a:p>
                <a:pPr indent="266700">
                  <a:spcBef>
                    <a:spcPts val="600"/>
                  </a:spcBef>
                  <a:spcAft>
                    <a:spcPts val="600"/>
                  </a:spcAft>
                </a:pPr>
                <a:r>
                  <a:rPr lang="zh-CN" altLang="zh-CN" sz="1400" dirty="0">
                    <a:latin typeface="宋体" panose="02010600030101010101" pitchFamily="2" charset="-122"/>
                    <a:cs typeface="MV Boli" panose="02000500030200090000" pitchFamily="2" charset="0"/>
                  </a:rPr>
                  <a:t>给定</a:t>
                </a:r>
                <a14:m>
                  <m:oMath xmlns:m="http://schemas.openxmlformats.org/officeDocument/2006/math">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+1</m:t>
                    </m:r>
                  </m:oMath>
                </a14:m>
                <a:r>
                  <a:rPr lang="zh-CN" altLang="zh-CN" sz="1400" dirty="0">
                    <a:latin typeface="宋体" panose="02010600030101010101" pitchFamily="2" charset="-122"/>
                    <a:cs typeface="MV Boli" panose="02000500030200090000" pitchFamily="2" charset="0"/>
                  </a:rPr>
                  <a:t>个控制点，贝塞尔曲线一般形式为</a:t>
                </a:r>
                <a:r>
                  <a:rPr lang="en-US" altLang="zh-CN" sz="1400" i="1" dirty="0">
                    <a:latin typeface="宋体" panose="02010600030101010101" pitchFamily="2" charset="-122"/>
                    <a:cs typeface="MV Boli" panose="02000500030200090000" pitchFamily="2" charset="0"/>
                  </a:rPr>
                  <a:t>n</a:t>
                </a:r>
                <a:r>
                  <a:rPr lang="zh-CN" altLang="zh-CN" sz="1400" dirty="0">
                    <a:latin typeface="宋体" panose="02010600030101010101" pitchFamily="2" charset="-122"/>
                    <a:cs typeface="MV Boli" panose="02000500030200090000" pitchFamily="2" charset="0"/>
                  </a:rPr>
                  <a:t>次曲线：</a:t>
                </a:r>
                <a:endParaRPr lang="zh-CN" altLang="zh-CN" sz="14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MV Boli" panose="02000500030200090000" pitchFamily="2" charset="0"/>
                        </a:rPr>
                        <m:t>𝑋</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nary>
                        <m:naryPr>
                          <m:chr m:val="∑"/>
                          <m:limLoc m:val="undOv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=0</m:t>
                          </m:r>
                        </m:sub>
                        <m:sup>
                          <m:r>
                            <a:rPr lang="en-US" altLang="zh-CN" sz="1400" i="1">
                              <a:latin typeface="Cambria Math" panose="02040503050406030204" pitchFamily="18" charset="0"/>
                              <a:cs typeface="MV Boli" panose="02000500030200090000" pitchFamily="2" charset="0"/>
                            </a:rPr>
                            <m:t>𝑛</m:t>
                          </m:r>
                        </m:sup>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𝑛</m:t>
                                    </m:r>
                                  </m:e>
                                </m:mr>
                                <m:mr>
                                  <m:e>
                                    <m:r>
                                      <a:rPr lang="en-US" altLang="zh-CN" sz="1400" i="1">
                                        <a:latin typeface="Cambria Math" panose="02040503050406030204" pitchFamily="18" charset="0"/>
                                        <a:cs typeface="MV Boli" panose="02000500030200090000" pitchFamily="2" charset="0"/>
                                      </a:rPr>
                                      <m:t>𝑖</m:t>
                                    </m:r>
                                  </m:e>
                                </m:mr>
                              </m:m>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sub>
                          </m:sSub>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1−</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𝑖</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𝑖</m:t>
                              </m:r>
                            </m:sup>
                          </m:sSup>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𝑛</m:t>
                                    </m:r>
                                  </m:e>
                                </m:mr>
                                <m:mr>
                                  <m:e>
                                    <m:r>
                                      <a:rPr lang="en-US" altLang="zh-CN" sz="1400" i="1">
                                        <a:latin typeface="Cambria Math" panose="02040503050406030204" pitchFamily="18" charset="0"/>
                                        <a:cs typeface="MV Boli" panose="02000500030200090000" pitchFamily="2" charset="0"/>
                                      </a:rPr>
                                      <m:t>0</m:t>
                                    </m:r>
                                  </m:e>
                                </m:mr>
                              </m:m>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0</m:t>
                              </m:r>
                            </m:sub>
                          </m:sSub>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1−</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𝑛</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0</m:t>
                              </m:r>
                            </m:sup>
                          </m:sSup>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𝑛</m:t>
                                    </m:r>
                                  </m:e>
                                </m:mr>
                                <m:mr>
                                  <m:e>
                                    <m:r>
                                      <a:rPr lang="en-US" altLang="zh-CN" sz="1400" i="1">
                                        <a:latin typeface="Cambria Math" panose="02040503050406030204" pitchFamily="18" charset="0"/>
                                        <a:cs typeface="MV Boli" panose="02000500030200090000" pitchFamily="2" charset="0"/>
                                      </a:rPr>
                                      <m:t>1</m:t>
                                    </m:r>
                                  </m:e>
                                </m:mr>
                              </m:m>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1</m:t>
                              </m:r>
                            </m:sub>
                          </m:sSub>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1−</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−1</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1</m:t>
                              </m:r>
                            </m:sup>
                          </m:sSup>
                        </m:e>
                      </m:nary>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𝑛</m:t>
                                </m:r>
                              </m:e>
                            </m:mr>
                            <m:mr>
                              <m:e>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−1</m:t>
                                </m:r>
                              </m:e>
                            </m:mr>
                          </m:m>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−1</m:t>
                          </m:r>
                        </m:sub>
                      </m:sSub>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1−</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1</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−1</m:t>
                          </m:r>
                        </m:sup>
                      </m:sSup>
                      <m:r>
                        <a:rPr lang="en-US" altLang="zh-CN" sz="1400">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𝑛</m:t>
                                </m:r>
                              </m:e>
                            </m:mr>
                            <m:mr>
                              <m:e>
                                <m:r>
                                  <a:rPr lang="en-US" altLang="zh-CN" sz="1400" i="1">
                                    <a:latin typeface="Cambria Math" panose="02040503050406030204" pitchFamily="18" charset="0"/>
                                    <a:cs typeface="MV Boli" panose="02000500030200090000" pitchFamily="2" charset="0"/>
                                  </a:rPr>
                                  <m:t>𝑛</m:t>
                                </m:r>
                              </m:e>
                            </m:mr>
                          </m:m>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𝑛</m:t>
                          </m:r>
                        </m:sub>
                      </m:sSub>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1−</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0</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𝑡</m:t>
                                  </m:r>
                                </m:num>
                                <m:den>
                                  <m:r>
                                    <a:rPr lang="en-US" altLang="zh-CN" sz="1400" i="1">
                                      <a:latin typeface="Cambria Math" panose="02040503050406030204" pitchFamily="18" charset="0"/>
                                      <a:cs typeface="MV Boli" panose="02000500030200090000" pitchFamily="2" charset="0"/>
                                    </a:rPr>
                                    <m:t>𝑇</m:t>
                                  </m:r>
                                </m:den>
                              </m:f>
                            </m:e>
                          </m:d>
                        </m:e>
                        <m:sup>
                          <m:r>
                            <a:rPr lang="en-US" altLang="zh-CN" sz="1400" i="1">
                              <a:latin typeface="Cambria Math" panose="02040503050406030204" pitchFamily="18" charset="0"/>
                              <a:cs typeface="MV Boli" panose="02000500030200090000" pitchFamily="2" charset="0"/>
                            </a:rPr>
                            <m:t>𝑛</m:t>
                          </m:r>
                        </m:sup>
                      </m:sSup>
                      <m:r>
                        <a:rPr lang="en-US" altLang="zh-CN" sz="1400" i="1">
                          <a:latin typeface="Cambria Math" panose="02040503050406030204" pitchFamily="18" charset="0"/>
                          <a:cs typeface="MV Boli" panose="02000500030200090000" pitchFamily="2" charset="0"/>
                        </a:rPr>
                        <m:t>, </m:t>
                      </m:r>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∈[0,</m:t>
                      </m:r>
                      <m:r>
                        <a:rPr lang="en-US" altLang="zh-CN" sz="1400" i="1">
                          <a:latin typeface="Cambria Math" panose="02040503050406030204" pitchFamily="18" charset="0"/>
                          <a:cs typeface="MV Boli" panose="02000500030200090000" pitchFamily="2" charset="0"/>
                        </a:rPr>
                        <m:t>𝑇</m:t>
                      </m:r>
                      <m:r>
                        <a:rPr lang="en-US" altLang="zh-CN" sz="1400" i="1">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MV Boli" panose="02000500030200090000" pitchFamily="2" charset="0"/>
                        </a:rPr>
                        <m:t> </m:t>
                      </m:r>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395537" y="3426346"/>
                <a:ext cx="8250316" cy="1619802"/>
              </a:xfrm>
              <a:prstGeom prst="rect">
                <a:avLst/>
              </a:prstGeom>
              <a:blipFill rotWithShape="1">
                <a:blip r:embed="rId9"/>
                <a:stretch>
                  <a:fillRect l="-7" t="-32" r="4" b="27"/>
                </a:stretch>
              </a:blipFill>
            </p:spPr>
            <p:txBody>
              <a:bodyPr/>
              <a:lstStyle/>
              <a:p>
                <a:r>
                  <a:rPr lang="zh-CN" altLang="en-US">
                    <a:noFill/>
                  </a:rPr>
                  <a:t> </a:t>
                </a:r>
              </a:p>
            </p:txBody>
          </p:sp>
        </mc:Fallback>
      </mc:AlternateContent>
      <p:sp>
        <p:nvSpPr>
          <p:cNvPr id="13" name="形状"/>
          <p:cNvSpPr/>
          <p:nvPr>
            <p:custDataLst>
              <p:tags r:id="rId2"/>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文本框 1"/>
          <p:cNvSpPr txBox="1"/>
          <p:nvPr/>
        </p:nvSpPr>
        <p:spPr>
          <a:xfrm>
            <a:off x="6629627" y="480343"/>
            <a:ext cx="1005403" cy="338554"/>
          </a:xfrm>
          <a:prstGeom prst="rect">
            <a:avLst/>
          </a:prstGeom>
          <a:noFill/>
        </p:spPr>
        <p:txBody>
          <a:bodyPr wrap="none" rtlCol="0">
            <a:spAutoFit/>
          </a:bodyPr>
          <a:lstStyle/>
          <a:p>
            <a:r>
              <a:rPr lang="zh-CN" altLang="en-US" sz="1600" dirty="0" smtClean="0">
                <a:solidFill>
                  <a:srgbClr val="FF0000"/>
                </a:solidFill>
              </a:rPr>
              <a:t>不过路点</a:t>
            </a:r>
            <a:endParaRPr lang="zh-CN" altLang="en-US" sz="16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2626923" y="350029"/>
            <a:ext cx="3651004" cy="461665"/>
          </a:xfrm>
          <a:prstGeom prst="rect">
            <a:avLst/>
          </a:prstGeom>
        </p:spPr>
        <p:txBody>
          <a:bodyPr wrap="square">
            <a:spAutoFit/>
          </a:bodyPr>
          <a:lstStyle/>
          <a:p>
            <a:r>
              <a:rPr lang="zh-CN" altLang="en-US" sz="2400" b="1" dirty="0">
                <a:solidFill>
                  <a:srgbClr val="002060"/>
                </a:solidFill>
              </a:rPr>
              <a:t>具有中间路点的轨迹生成</a:t>
            </a:r>
          </a:p>
        </p:txBody>
      </p:sp>
      <mc:AlternateContent xmlns:mc="http://schemas.openxmlformats.org/markup-compatibility/2006" xmlns:a14="http://schemas.microsoft.com/office/drawing/2010/main">
        <mc:Choice Requires="a14">
          <p:sp>
            <p:nvSpPr>
              <p:cNvPr id="2" name="矩形 1"/>
              <p:cNvSpPr/>
              <p:nvPr/>
            </p:nvSpPr>
            <p:spPr>
              <a:xfrm>
                <a:off x="1547664" y="1635646"/>
                <a:ext cx="6192688" cy="2160528"/>
              </a:xfrm>
              <a:prstGeom prst="rect">
                <a:avLst/>
              </a:prstGeom>
            </p:spPr>
            <p:txBody>
              <a:bodyPr wrap="square">
                <a:spAutoFit/>
              </a:bodyPr>
              <a:lstStyle/>
              <a:p>
                <a:pPr indent="266700">
                  <a:spcBef>
                    <a:spcPts val="600"/>
                  </a:spcBef>
                  <a:spcAft>
                    <a:spcPts val="600"/>
                  </a:spcAft>
                </a:pPr>
                <a:r>
                  <a:rPr lang="en-US" altLang="zh-CN" sz="1600" dirty="0">
                    <a:latin typeface="宋体" panose="02010600030101010101" pitchFamily="2" charset="-122"/>
                    <a:cs typeface="MV Boli" panose="02000500030200090000" pitchFamily="2" charset="0"/>
                  </a:rPr>
                  <a:t>B</a:t>
                </a:r>
                <a:r>
                  <a:rPr lang="zh-CN" altLang="zh-CN" sz="1600" dirty="0">
                    <a:latin typeface="宋体" panose="02010600030101010101" pitchFamily="2" charset="-122"/>
                    <a:cs typeface="MV Boli" panose="02000500030200090000" pitchFamily="2" charset="0"/>
                  </a:rPr>
                  <a:t>样条曲线为贝塞尔曲线的一种一般化。假设空间中有</a:t>
                </a:r>
                <a:r>
                  <a:rPr lang="en-US" altLang="zh-CN" sz="1600" i="1" dirty="0">
                    <a:latin typeface="宋体" panose="02010600030101010101" pitchFamily="2" charset="-122"/>
                    <a:cs typeface="MV Boli" panose="02000500030200090000" pitchFamily="2" charset="0"/>
                  </a:rPr>
                  <a:t>m+1</a:t>
                </a:r>
                <a:r>
                  <a:rPr lang="zh-CN" altLang="zh-CN" sz="1600" dirty="0">
                    <a:latin typeface="宋体" panose="02010600030101010101" pitchFamily="2" charset="-122"/>
                    <a:cs typeface="MV Boli" panose="02000500030200090000" pitchFamily="2" charset="0"/>
                  </a:rPr>
                  <a:t>个控制点，则</a:t>
                </a:r>
                <a:r>
                  <a:rPr lang="en-US" altLang="zh-CN" sz="1600" i="1" dirty="0">
                    <a:latin typeface="宋体" panose="02010600030101010101" pitchFamily="2" charset="-122"/>
                    <a:cs typeface="MV Boli" panose="02000500030200090000" pitchFamily="2" charset="0"/>
                  </a:rPr>
                  <a:t>n</a:t>
                </a:r>
                <a:r>
                  <a:rPr lang="zh-CN" altLang="zh-CN" sz="1600" dirty="0">
                    <a:latin typeface="宋体" panose="02010600030101010101" pitchFamily="2" charset="-122"/>
                    <a:cs typeface="MV Boli" panose="02000500030200090000" pitchFamily="2" charset="0"/>
                  </a:rPr>
                  <a:t>次贝塞尔曲线可以写为：</a:t>
                </a:r>
                <a:endParaRPr lang="zh-CN" altLang="zh-CN" sz="1600" dirty="0">
                  <a:latin typeface="宋体" panose="02010600030101010101" pitchFamily="2" charset="-122"/>
                  <a:cs typeface="宋体" panose="02010600030101010101" pitchFamily="2" charset="-122"/>
                </a:endParaRPr>
              </a:p>
              <a:p>
                <a:pPr indent="266700">
                  <a:spcBef>
                    <a:spcPts val="600"/>
                  </a:spcBef>
                  <a:spcAft>
                    <a:spcPts val="600"/>
                  </a:spcAft>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cs typeface="MV Boli" panose="02000500030200090000" pitchFamily="2" charset="0"/>
                        </a:rPr>
                        <m:t>X</m:t>
                      </m:r>
                      <m:d>
                        <m:d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600">
                              <a:latin typeface="Cambria Math" panose="02040503050406030204" pitchFamily="18" charset="0"/>
                              <a:cs typeface="MV Boli" panose="02000500030200090000" pitchFamily="2" charset="0"/>
                            </a:rPr>
                            <m:t>t</m:t>
                          </m:r>
                        </m:e>
                      </m:d>
                      <m:r>
                        <a:rPr lang="en-US" altLang="zh-CN" sz="1600">
                          <a:latin typeface="Cambria Math" panose="02040503050406030204" pitchFamily="18" charset="0"/>
                          <a:cs typeface="MV Boli" panose="02000500030200090000" pitchFamily="2" charset="0"/>
                        </a:rPr>
                        <m:t>=</m:t>
                      </m:r>
                      <m:nary>
                        <m:naryPr>
                          <m:chr m:val="∑"/>
                          <m:limLoc m:val="undOv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600" i="1">
                              <a:latin typeface="Cambria Math" panose="02040503050406030204" pitchFamily="18" charset="0"/>
                              <a:cs typeface="MV Boli" panose="02000500030200090000" pitchFamily="2" charset="0"/>
                            </a:rPr>
                            <m:t>𝑖</m:t>
                          </m:r>
                          <m:r>
                            <a:rPr lang="en-US" altLang="zh-CN" sz="1600" i="1">
                              <a:latin typeface="Cambria Math" panose="02040503050406030204" pitchFamily="18" charset="0"/>
                              <a:cs typeface="MV Boli" panose="02000500030200090000" pitchFamily="2" charset="0"/>
                            </a:rPr>
                            <m:t>=0</m:t>
                          </m:r>
                        </m:sub>
                        <m:sup>
                          <m:r>
                            <a:rPr lang="en-US" altLang="zh-CN" sz="1600" i="1">
                              <a:latin typeface="Cambria Math" panose="02040503050406030204" pitchFamily="18" charset="0"/>
                              <a:cs typeface="MV Boli" panose="02000500030200090000" pitchFamily="2" charset="0"/>
                            </a:rPr>
                            <m:t>𝑚</m:t>
                          </m:r>
                        </m:sup>
                        <m:e>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𝑋</m:t>
                              </m:r>
                            </m:e>
                            <m:sub>
                              <m:r>
                                <a:rPr lang="en-US" altLang="zh-CN" sz="1600" i="1">
                                  <a:latin typeface="Cambria Math" panose="02040503050406030204" pitchFamily="18" charset="0"/>
                                  <a:cs typeface="MV Boli" panose="02000500030200090000" pitchFamily="2" charset="0"/>
                                </a:rPr>
                                <m:t>𝑖</m:t>
                              </m:r>
                            </m:sub>
                          </m:sSub>
                          <m:sSub>
                            <m:sSubPr>
                              <m:ctrlPr>
                                <a:rPr lang="zh-CN" altLang="zh-CN" sz="16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𝑏</m:t>
                              </m:r>
                            </m:e>
                            <m:sub>
                              <m:r>
                                <a:rPr lang="en-US" altLang="zh-CN" sz="1600" i="1">
                                  <a:latin typeface="Cambria Math" panose="02040503050406030204" pitchFamily="18" charset="0"/>
                                  <a:cs typeface="MV Boli" panose="02000500030200090000" pitchFamily="2" charset="0"/>
                                </a:rPr>
                                <m:t>𝑖</m:t>
                              </m:r>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𝑛</m:t>
                              </m:r>
                            </m:sub>
                          </m:sSub>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𝑡</m:t>
                          </m:r>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𝑇</m:t>
                          </m:r>
                          <m:r>
                            <a:rPr lang="en-US" altLang="zh-CN" sz="1600" i="1">
                              <a:latin typeface="Cambria Math" panose="02040503050406030204" pitchFamily="18" charset="0"/>
                              <a:cs typeface="MV Boli" panose="02000500030200090000" pitchFamily="2" charset="0"/>
                            </a:rPr>
                            <m:t>)</m:t>
                          </m:r>
                        </m:e>
                      </m:nary>
                      <m:r>
                        <a:rPr lang="en-US" altLang="zh-CN" sz="1600" i="1">
                          <a:latin typeface="Cambria Math" panose="02040503050406030204" pitchFamily="18" charset="0"/>
                          <a:cs typeface="MV Boli" panose="02000500030200090000" pitchFamily="2" charset="0"/>
                        </a:rPr>
                        <m:t>, </m:t>
                      </m:r>
                      <m:r>
                        <a:rPr lang="en-US" altLang="zh-CN" sz="1600" i="1">
                          <a:latin typeface="Cambria Math" panose="02040503050406030204" pitchFamily="18" charset="0"/>
                          <a:cs typeface="MV Boli" panose="02000500030200090000" pitchFamily="2" charset="0"/>
                        </a:rPr>
                        <m:t>𝑡</m:t>
                      </m:r>
                      <m:r>
                        <a:rPr lang="en-US" altLang="zh-CN" sz="1600" i="1">
                          <a:latin typeface="Cambria Math" panose="02040503050406030204" pitchFamily="18" charset="0"/>
                          <a:cs typeface="MV Boli" panose="02000500030200090000" pitchFamily="2" charset="0"/>
                        </a:rPr>
                        <m:t>∈[0,</m:t>
                      </m:r>
                      <m:r>
                        <a:rPr lang="en-US" altLang="zh-CN" sz="1600" i="1">
                          <a:latin typeface="Cambria Math" panose="02040503050406030204" pitchFamily="18" charset="0"/>
                          <a:cs typeface="MV Boli" panose="02000500030200090000" pitchFamily="2" charset="0"/>
                        </a:rPr>
                        <m:t>𝑇</m:t>
                      </m:r>
                      <m:r>
                        <a:rPr lang="en-US" altLang="zh-CN" sz="1600" i="1">
                          <a:latin typeface="Cambria Math" panose="02040503050406030204" pitchFamily="18" charset="0"/>
                          <a:cs typeface="MV Boli" panose="02000500030200090000" pitchFamily="2" charset="0"/>
                        </a:rPr>
                        <m:t>]</m:t>
                      </m:r>
                    </m:oMath>
                  </m:oMathPara>
                </a14:m>
                <a:endParaRPr lang="zh-CN" altLang="zh-CN" sz="1600" dirty="0">
                  <a:latin typeface="宋体" panose="02010600030101010101" pitchFamily="2" charset="-122"/>
                  <a:cs typeface="宋体" panose="02010600030101010101" pitchFamily="2" charset="-122"/>
                </a:endParaRPr>
              </a:p>
              <a:p>
                <a:r>
                  <a:rPr lang="zh-CN" altLang="zh-CN" sz="1600" dirty="0">
                    <a:cs typeface="MV Boli" panose="02000500030200090000" pitchFamily="2" charset="0"/>
                  </a:rPr>
                  <a:t>上式中，</a:t>
                </a:r>
                <a:r>
                  <a:rPr lang="en-US" altLang="zh-CN" sz="1600" i="1" dirty="0">
                    <a:cs typeface="MV Boli" panose="02000500030200090000" pitchFamily="2" charset="0"/>
                  </a:rPr>
                  <a:t>m</a:t>
                </a:r>
                <a:r>
                  <a:rPr lang="zh-CN" altLang="zh-CN" sz="1600" dirty="0">
                    <a:cs typeface="MV Boli" panose="02000500030200090000" pitchFamily="2" charset="0"/>
                  </a:rPr>
                  <a:t>为区间数</a:t>
                </a:r>
                <a:r>
                  <a:rPr lang="en-US" altLang="zh-CN" sz="1600" dirty="0">
                    <a:cs typeface="MV Boli" panose="02000500030200090000" pitchFamily="2" charset="0"/>
                  </a:rPr>
                  <a:t>,</a:t>
                </a:r>
                <a14:m>
                  <m:oMath xmlns:m="http://schemas.openxmlformats.org/officeDocument/2006/math">
                    <m:r>
                      <a:rPr lang="en-US" altLang="zh-CN" sz="1600" i="1">
                        <a:latin typeface="Cambria Math" panose="02040503050406030204" pitchFamily="18" charset="0"/>
                        <a:cs typeface="MV Boli" panose="02000500030200090000" pitchFamily="2" charset="0"/>
                      </a:rPr>
                      <m:t> </m:t>
                    </m:r>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𝑋</m:t>
                        </m:r>
                      </m:e>
                      <m:sub>
                        <m:r>
                          <a:rPr lang="en-US" altLang="zh-CN" sz="1600" i="1">
                            <a:latin typeface="Cambria Math" panose="02040503050406030204" pitchFamily="18" charset="0"/>
                            <a:cs typeface="MV Boli" panose="02000500030200090000" pitchFamily="2" charset="0"/>
                          </a:rPr>
                          <m:t>𝑖</m:t>
                        </m:r>
                      </m:sub>
                    </m:sSub>
                  </m:oMath>
                </a14:m>
                <a:r>
                  <a:rPr lang="zh-CN" altLang="zh-CN" sz="1600" dirty="0">
                    <a:cs typeface="MV Boli" panose="02000500030200090000" pitchFamily="2" charset="0"/>
                  </a:rPr>
                  <a:t>为位形控制点，</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latin typeface="Cambria Math" panose="02040503050406030204" pitchFamily="18" charset="0"/>
                            <a:cs typeface="MV Boli" panose="02000500030200090000" pitchFamily="2" charset="0"/>
                          </a:rPr>
                          <m:t>𝑏</m:t>
                        </m:r>
                      </m:e>
                      <m:sub>
                        <m:r>
                          <a:rPr lang="en-US" altLang="zh-CN" sz="1600" i="1">
                            <a:latin typeface="Cambria Math" panose="02040503050406030204" pitchFamily="18" charset="0"/>
                            <a:cs typeface="MV Boli" panose="02000500030200090000" pitchFamily="2" charset="0"/>
                          </a:rPr>
                          <m:t>𝑖</m:t>
                        </m:r>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𝑛</m:t>
                        </m:r>
                      </m:sub>
                    </m:sSub>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𝑡</m:t>
                    </m:r>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𝑇</m:t>
                    </m:r>
                    <m:r>
                      <a:rPr lang="en-US" altLang="zh-CN" sz="1600" i="1">
                        <a:latin typeface="Cambria Math" panose="02040503050406030204" pitchFamily="18" charset="0"/>
                        <a:cs typeface="MV Boli" panose="02000500030200090000" pitchFamily="2" charset="0"/>
                      </a:rPr>
                      <m:t>)</m:t>
                    </m:r>
                  </m:oMath>
                </a14:m>
                <a:r>
                  <a:rPr lang="zh-CN" altLang="zh-CN" sz="1600" dirty="0">
                    <a:cs typeface="MV Boli" panose="02000500030200090000" pitchFamily="2" charset="0"/>
                  </a:rPr>
                  <a:t>为</a:t>
                </a:r>
                <a:r>
                  <a:rPr lang="en-US" altLang="zh-CN" sz="1600" i="1" dirty="0">
                    <a:cs typeface="MV Boli" panose="02000500030200090000" pitchFamily="2" charset="0"/>
                  </a:rPr>
                  <a:t>n</a:t>
                </a:r>
                <a:r>
                  <a:rPr lang="zh-CN" altLang="zh-CN" sz="1600" dirty="0">
                    <a:cs typeface="MV Boli" panose="02000500030200090000" pitchFamily="2" charset="0"/>
                  </a:rPr>
                  <a:t>次</a:t>
                </a:r>
                <a:r>
                  <a:rPr lang="en-US" altLang="zh-CN" sz="1600" dirty="0">
                    <a:cs typeface="MV Boli" panose="02000500030200090000" pitchFamily="2" charset="0"/>
                  </a:rPr>
                  <a:t>B</a:t>
                </a:r>
                <a:r>
                  <a:rPr lang="zh-CN" altLang="zh-CN" sz="1600" dirty="0">
                    <a:cs typeface="MV Boli" panose="02000500030200090000" pitchFamily="2" charset="0"/>
                  </a:rPr>
                  <a:t>样条基函数</a:t>
                </a:r>
                <a:r>
                  <a:rPr lang="en-US" altLang="zh-CN" sz="1600" dirty="0">
                    <a:cs typeface="MV Boli" panose="02000500030200090000" pitchFamily="2" charset="0"/>
                  </a:rPr>
                  <a:t>, </a:t>
                </a:r>
                <a14:m>
                  <m:oMath xmlns:m="http://schemas.openxmlformats.org/officeDocument/2006/math">
                    <m:r>
                      <a:rPr lang="en-US" altLang="zh-CN" sz="1600" i="1">
                        <a:latin typeface="Cambria Math" panose="02040503050406030204" pitchFamily="18" charset="0"/>
                        <a:cs typeface="MV Boli" panose="02000500030200090000" pitchFamily="2" charset="0"/>
                      </a:rPr>
                      <m:t>2≤</m:t>
                    </m:r>
                    <m:r>
                      <a:rPr lang="en-US" altLang="zh-CN" sz="1600" i="1">
                        <a:latin typeface="Cambria Math" panose="02040503050406030204" pitchFamily="18" charset="0"/>
                        <a:cs typeface="MV Boli" panose="02000500030200090000" pitchFamily="2" charset="0"/>
                      </a:rPr>
                      <m:t>𝑛</m:t>
                    </m:r>
                    <m:r>
                      <a:rPr lang="en-US" altLang="zh-CN" sz="1600" i="1">
                        <a:latin typeface="Cambria Math" panose="02040503050406030204" pitchFamily="18" charset="0"/>
                        <a:cs typeface="MV Boli" panose="02000500030200090000" pitchFamily="2" charset="0"/>
                      </a:rPr>
                      <m:t>≤</m:t>
                    </m:r>
                    <m:r>
                      <a:rPr lang="en-US" altLang="zh-CN" sz="1600" i="1">
                        <a:latin typeface="Cambria Math" panose="02040503050406030204" pitchFamily="18" charset="0"/>
                        <a:cs typeface="MV Boli" panose="02000500030200090000" pitchFamily="2" charset="0"/>
                      </a:rPr>
                      <m:t>𝑚</m:t>
                    </m:r>
                  </m:oMath>
                </a14:m>
                <a:r>
                  <a:rPr lang="zh-CN" altLang="zh-CN" sz="1600" dirty="0">
                    <a:cs typeface="MV Boli" panose="02000500030200090000" pitchFamily="2" charset="0"/>
                  </a:rPr>
                  <a:t>，即当曲线有</a:t>
                </a:r>
                <a14:m>
                  <m:oMath xmlns:m="http://schemas.openxmlformats.org/officeDocument/2006/math">
                    <m:r>
                      <a:rPr lang="en-US" altLang="zh-CN" sz="1600" i="1">
                        <a:latin typeface="Cambria Math" panose="02040503050406030204" pitchFamily="18" charset="0"/>
                        <a:cs typeface="MV Boli" panose="02000500030200090000" pitchFamily="2" charset="0"/>
                      </a:rPr>
                      <m:t>𝑚</m:t>
                    </m:r>
                    <m:r>
                      <a:rPr lang="en-US" altLang="zh-CN" sz="1600" i="1">
                        <a:latin typeface="Cambria Math" panose="02040503050406030204" pitchFamily="18" charset="0"/>
                        <a:cs typeface="MV Boli" panose="02000500030200090000" pitchFamily="2" charset="0"/>
                      </a:rPr>
                      <m:t>+1</m:t>
                    </m:r>
                  </m:oMath>
                </a14:m>
                <a:r>
                  <a:rPr lang="zh-CN" altLang="zh-CN" sz="1600" dirty="0">
                    <a:cs typeface="MV Boli" panose="02000500030200090000" pitchFamily="2" charset="0"/>
                  </a:rPr>
                  <a:t>个控制点时，</a:t>
                </a:r>
                <a:r>
                  <a:rPr lang="en-US" altLang="zh-CN" sz="1600" dirty="0">
                    <a:cs typeface="MV Boli" panose="02000500030200090000" pitchFamily="2" charset="0"/>
                  </a:rPr>
                  <a:t>B</a:t>
                </a:r>
                <a:r>
                  <a:rPr lang="zh-CN" altLang="zh-CN" sz="1600" dirty="0">
                    <a:cs typeface="MV Boli" panose="02000500030200090000" pitchFamily="2" charset="0"/>
                  </a:rPr>
                  <a:t>样条基函数的次数可为</a:t>
                </a:r>
                <a:r>
                  <a:rPr lang="en-US" altLang="zh-CN" sz="1600" dirty="0">
                    <a:cs typeface="MV Boli" panose="02000500030200090000" pitchFamily="2" charset="0"/>
                  </a:rPr>
                  <a:t>2</a:t>
                </a:r>
                <a:r>
                  <a:rPr lang="zh-CN" altLang="zh-CN" sz="1600" dirty="0">
                    <a:cs typeface="MV Boli" panose="02000500030200090000" pitchFamily="2" charset="0"/>
                  </a:rPr>
                  <a:t>到</a:t>
                </a:r>
                <a14:m>
                  <m:oMath xmlns:m="http://schemas.openxmlformats.org/officeDocument/2006/math">
                    <m:r>
                      <a:rPr lang="en-US" altLang="zh-CN" sz="1600" i="1">
                        <a:latin typeface="Cambria Math" panose="02040503050406030204" pitchFamily="18" charset="0"/>
                        <a:cs typeface="MV Boli" panose="02000500030200090000" pitchFamily="2" charset="0"/>
                      </a:rPr>
                      <m:t>𝑚</m:t>
                    </m:r>
                  </m:oMath>
                </a14:m>
                <a:r>
                  <a:rPr lang="zh-CN" altLang="zh-CN" sz="1600" dirty="0">
                    <a:cs typeface="MV Boli" panose="02000500030200090000" pitchFamily="2" charset="0"/>
                  </a:rPr>
                  <a:t>次，将多个贝塞尔曲线连接就可以得到</a:t>
                </a:r>
                <a:r>
                  <a:rPr lang="en-US" altLang="zh-CN" sz="1600" dirty="0">
                    <a:cs typeface="MV Boli" panose="02000500030200090000" pitchFamily="2" charset="0"/>
                  </a:rPr>
                  <a:t>B</a:t>
                </a:r>
                <a:r>
                  <a:rPr lang="zh-CN" altLang="zh-CN" sz="1600" dirty="0">
                    <a:cs typeface="MV Boli" panose="02000500030200090000" pitchFamily="2" charset="0"/>
                  </a:rPr>
                  <a:t>样条。</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547664" y="1635646"/>
                <a:ext cx="6192688" cy="2160528"/>
              </a:xfrm>
              <a:prstGeom prst="rect">
                <a:avLst/>
              </a:prstGeom>
              <a:blipFill rotWithShape="1">
                <a:blip r:embed="rId4"/>
                <a:stretch>
                  <a:fillRect l="-3" t="-24" r="5" b="7"/>
                </a:stretch>
              </a:blipFill>
            </p:spPr>
            <p:txBody>
              <a:bodyPr/>
              <a:lstStyle/>
              <a:p>
                <a:r>
                  <a:rPr lang="zh-CN" altLang="en-US">
                    <a:noFill/>
                  </a:rPr>
                  <a:t> </a:t>
                </a:r>
              </a:p>
            </p:txBody>
          </p:sp>
        </mc:Fallback>
      </mc:AlternateContent>
      <p:sp>
        <p:nvSpPr>
          <p:cNvPr id="9" name="形状"/>
          <p:cNvSpPr/>
          <p:nvPr>
            <p:custDataLst>
              <p:tags r:id="rId1"/>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0" name="文本框 9"/>
          <p:cNvSpPr txBox="1"/>
          <p:nvPr/>
        </p:nvSpPr>
        <p:spPr>
          <a:xfrm>
            <a:off x="6629627" y="480343"/>
            <a:ext cx="1005403" cy="338554"/>
          </a:xfrm>
          <a:prstGeom prst="rect">
            <a:avLst/>
          </a:prstGeom>
          <a:noFill/>
        </p:spPr>
        <p:txBody>
          <a:bodyPr wrap="none" rtlCol="0">
            <a:spAutoFit/>
          </a:bodyPr>
          <a:lstStyle/>
          <a:p>
            <a:r>
              <a:rPr lang="zh-CN" altLang="en-US" sz="1600" dirty="0" smtClean="0">
                <a:solidFill>
                  <a:srgbClr val="FF0000"/>
                </a:solidFill>
              </a:rPr>
              <a:t>不过路点</a:t>
            </a:r>
            <a:endParaRPr lang="zh-CN" altLang="en-US" sz="16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2620872" y="361073"/>
            <a:ext cx="3651004" cy="461665"/>
          </a:xfrm>
          <a:prstGeom prst="rect">
            <a:avLst/>
          </a:prstGeom>
        </p:spPr>
        <p:txBody>
          <a:bodyPr wrap="square">
            <a:spAutoFit/>
          </a:bodyPr>
          <a:lstStyle/>
          <a:p>
            <a:r>
              <a:rPr lang="zh-CN" altLang="en-US" sz="2400" b="1" dirty="0">
                <a:solidFill>
                  <a:srgbClr val="002060"/>
                </a:solidFill>
              </a:rPr>
              <a:t>具有中间路点的轨迹生成</a:t>
            </a:r>
          </a:p>
        </p:txBody>
      </p:sp>
      <p:pic>
        <p:nvPicPr>
          <p:cNvPr id="9" name="图片 8"/>
          <p:cNvPicPr/>
          <p:nvPr/>
        </p:nvPicPr>
        <p:blipFill>
          <a:blip r:embed="rId6"/>
          <a:stretch>
            <a:fillRect/>
          </a:stretch>
        </p:blipFill>
        <p:spPr>
          <a:xfrm>
            <a:off x="395536" y="1168954"/>
            <a:ext cx="4248472" cy="2307700"/>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4788024" y="1533325"/>
                <a:ext cx="3693575" cy="3633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𝑋</m:t>
                          </m:r>
                        </m:e>
                        <m:sub>
                          <m:r>
                            <a:rPr lang="zh-CN" altLang="en-US" sz="1600" i="1">
                              <a:latin typeface="Cambria Math" panose="02040503050406030204" pitchFamily="18" charset="0"/>
                            </a:rPr>
                            <m:t>𝑗</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0</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𝑡</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3</m:t>
                          </m:r>
                        </m:sub>
                      </m:sSub>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𝑡</m:t>
                          </m:r>
                        </m:e>
                        <m:sup>
                          <m:r>
                            <a:rPr lang="zh-CN" altLang="en-US" sz="1600" i="0">
                              <a:latin typeface="Cambria Math" panose="02040503050406030204" pitchFamily="18" charset="0"/>
                            </a:rPr>
                            <m:t>3</m:t>
                          </m:r>
                        </m:sup>
                      </m:sSup>
                      <m:r>
                        <a:rPr lang="zh-CN" altLang="en-US" sz="1600" i="0">
                          <a:latin typeface="Cambria Math" panose="02040503050406030204" pitchFamily="18" charset="0"/>
                        </a:rPr>
                        <m:t> </m:t>
                      </m:r>
                      <m:r>
                        <a:rPr lang="zh-CN" altLang="en-US" sz="1600" i="1">
                          <a:latin typeface="Cambria Math" panose="02040503050406030204" pitchFamily="18" charset="0"/>
                        </a:rPr>
                        <m:t>𝑗</m:t>
                      </m:r>
                      <m:r>
                        <a:rPr lang="zh-CN" altLang="en-US" sz="1600" i="0">
                          <a:latin typeface="Cambria Math" panose="02040503050406030204" pitchFamily="18" charset="0"/>
                        </a:rPr>
                        <m:t>=1,2,3</m:t>
                      </m:r>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4788024" y="1533325"/>
                <a:ext cx="3693575" cy="363305"/>
              </a:xfrm>
              <a:prstGeom prst="rect">
                <a:avLst/>
              </a:prstGeom>
              <a:blipFill rotWithShape="1">
                <a:blip r:embed="rId7"/>
                <a:stretch>
                  <a:fillRect l="-3" t="-120" r="15" b="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535996" y="2006504"/>
                <a:ext cx="4572000" cy="1169551"/>
              </a:xfrm>
              <a:prstGeom prst="rect">
                <a:avLst/>
              </a:prstGeom>
            </p:spPr>
            <p:txBody>
              <a:bodyPr>
                <a:spAutoFit/>
              </a:bodyPr>
              <a:lstStyle/>
              <a:p>
                <a:pPr indent="266700"/>
                <a:r>
                  <a:rPr lang="zh-CN" altLang="zh-CN" sz="1400" dirty="0">
                    <a:latin typeface="宋体" panose="02010600030101010101" pitchFamily="2" charset="-122"/>
                    <a:cs typeface="MV Boli" panose="02000500030200090000" pitchFamily="2" charset="0"/>
                  </a:rPr>
                  <a:t>其中</a:t>
                </a:r>
                <a:r>
                  <a:rPr lang="en-US" altLang="zh-CN" sz="1400" dirty="0">
                    <a:latin typeface="宋体" panose="02010600030101010101" pitchFamily="2" charset="-122"/>
                    <a:cs typeface="MV Boli" panose="02000500030200090000" pitchFamily="2" charset="0"/>
                  </a:rPr>
                  <a:t>j</a:t>
                </a:r>
                <a:r>
                  <a:rPr lang="zh-CN" altLang="zh-CN" sz="1400" dirty="0">
                    <a:latin typeface="宋体" panose="02010600030101010101" pitchFamily="2" charset="-122"/>
                    <a:cs typeface="MV Boli" panose="02000500030200090000" pitchFamily="2" charset="0"/>
                  </a:rPr>
                  <a:t>为三段三次曲线的编号：</a:t>
                </a:r>
                <a:endParaRPr lang="zh-CN" altLang="zh-CN" sz="14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𝑐</m:t>
                          </m:r>
                        </m:e>
                        <m:sub>
                          <m:r>
                            <a:rPr lang="en-US" altLang="zh-CN" sz="1400" i="1">
                              <a:latin typeface="Cambria Math" panose="02040503050406030204" pitchFamily="18" charset="0"/>
                              <a:cs typeface="MV Boli" panose="02000500030200090000" pitchFamily="2" charset="0"/>
                            </a:rPr>
                            <m:t>0</m:t>
                          </m:r>
                        </m:sub>
                      </m:sSub>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−1</m:t>
                          </m:r>
                        </m:sub>
                      </m:sSub>
                    </m:oMath>
                  </m:oMathPara>
                </a14:m>
                <a:endParaRPr lang="zh-CN" altLang="zh-CN" sz="14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𝑐</m:t>
                          </m:r>
                        </m:e>
                        <m:sub>
                          <m:r>
                            <a:rPr lang="en-US" altLang="zh-CN" sz="1400" i="1">
                              <a:latin typeface="Cambria Math" panose="02040503050406030204" pitchFamily="18" charset="0"/>
                              <a:cs typeface="MV Boli" panose="02000500030200090000" pitchFamily="2" charset="0"/>
                            </a:rPr>
                            <m:t>1</m:t>
                          </m:r>
                        </m:sub>
                      </m:sSub>
                      <m:r>
                        <a:rPr lang="en-US" altLang="zh-CN" sz="1400" i="1">
                          <a:latin typeface="Cambria Math" panose="02040503050406030204" pitchFamily="18" charset="0"/>
                          <a:cs typeface="MV Boli" panose="02000500030200090000" pitchFamily="2" charset="0"/>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宋体" panose="02010600030101010101" pitchFamily="2" charset="-122"/>
                            </a:rPr>
                            <m:t>𝜏</m:t>
                          </m:r>
                        </m:e>
                      </m:d>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宋体" panose="02010600030101010101" pitchFamily="2" charset="-122"/>
                        </a:rPr>
                        <m:t>𝜏</m:t>
                      </m:r>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sub>
                      </m:sSub>
                    </m:oMath>
                  </m:oMathPara>
                </a14:m>
                <a:endParaRPr lang="zh-CN" altLang="zh-CN" sz="1400" dirty="0">
                  <a:latin typeface="宋体" panose="02010600030101010101" pitchFamily="2" charset="-122"/>
                  <a:cs typeface="宋体" panose="02010600030101010101" pitchFamily="2" charset="-122"/>
                </a:endParaRPr>
              </a:p>
              <a:p>
                <a:pPr indent="266700"/>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𝑐</m:t>
                          </m:r>
                        </m:e>
                        <m:sub>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MV Boli" panose="02000500030200090000" pitchFamily="2" charset="0"/>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2</m:t>
                          </m:r>
                          <m:r>
                            <a:rPr lang="en-US" altLang="zh-CN" sz="1400" i="1">
                              <a:latin typeface="Cambria Math" panose="02040503050406030204" pitchFamily="18" charset="0"/>
                              <a:cs typeface="宋体" panose="02010600030101010101" pitchFamily="2" charset="-122"/>
                            </a:rPr>
                            <m:t>𝜏</m:t>
                          </m:r>
                        </m:e>
                      </m:d>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MV Boli" panose="02000500030200090000" pitchFamily="2" charset="0"/>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宋体" panose="02010600030101010101" pitchFamily="2" charset="-122"/>
                            </a:rPr>
                            <m:t>𝜏</m:t>
                          </m:r>
                          <m:r>
                            <a:rPr lang="en-US" altLang="zh-CN" sz="1400" i="1">
                              <a:latin typeface="Cambria Math" panose="02040503050406030204" pitchFamily="18" charset="0"/>
                              <a:cs typeface="宋体" panose="02010600030101010101" pitchFamily="2" charset="-122"/>
                            </a:rPr>
                            <m:t>−3</m:t>
                          </m:r>
                        </m:e>
                      </m:d>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−1</m:t>
                          </m:r>
                        </m:sub>
                      </m:sSub>
                      <m:r>
                        <a:rPr lang="en-US" altLang="zh-CN" sz="1400" i="1">
                          <a:latin typeface="Cambria Math" panose="02040503050406030204" pitchFamily="18" charset="0"/>
                          <a:cs typeface="MV Boli" panose="02000500030200090000" pitchFamily="2" charset="0"/>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3−2</m:t>
                          </m:r>
                          <m:r>
                            <a:rPr lang="en-US" altLang="zh-CN" sz="1400" i="1">
                              <a:latin typeface="Cambria Math" panose="02040503050406030204" pitchFamily="18" charset="0"/>
                              <a:cs typeface="宋体" panose="02010600030101010101" pitchFamily="2" charset="-122"/>
                            </a:rPr>
                            <m:t>𝜏</m:t>
                          </m:r>
                        </m:e>
                      </m:d>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sub>
                      </m:sSub>
                      <m:r>
                        <a:rPr lang="en-US" altLang="zh-CN" sz="1400" i="1">
                          <a:latin typeface="Cambria Math" panose="02040503050406030204" pitchFamily="18" charset="0"/>
                          <a:cs typeface="MV Boli" panose="02000500030200090000" pitchFamily="2" charset="0"/>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宋体" panose="02010600030101010101" pitchFamily="2" charset="-122"/>
                            </a:rPr>
                            <m:t>𝜏</m:t>
                          </m:r>
                        </m:e>
                      </m:d>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+1</m:t>
                          </m:r>
                        </m:sub>
                      </m:sSub>
                    </m:oMath>
                  </m:oMathPara>
                </a14:m>
                <a:endParaRPr lang="zh-CN" altLang="zh-CN" sz="14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𝑐</m:t>
                          </m:r>
                        </m:e>
                        <m:sub>
                          <m:r>
                            <a:rPr lang="en-US" altLang="zh-CN" sz="1400" i="1">
                              <a:latin typeface="Cambria Math" panose="02040503050406030204" pitchFamily="18" charset="0"/>
                              <a:cs typeface="MV Boli" panose="02000500030200090000" pitchFamily="2" charset="0"/>
                            </a:rPr>
                            <m:t>3</m:t>
                          </m:r>
                        </m:sub>
                      </m:sSub>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Times New Roman" panose="02020603050405020304" pitchFamily="18" charset="0"/>
                            </a:rPr>
                            <m:t>𝜏</m:t>
                          </m:r>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Times New Roman" panose="02020603050405020304" pitchFamily="18" charset="0"/>
                            </a:rPr>
                            <m:t>2−</m:t>
                          </m:r>
                          <m:r>
                            <a:rPr lang="en-US" altLang="zh-CN" sz="1400" i="1">
                              <a:latin typeface="Cambria Math" panose="02040503050406030204" pitchFamily="18" charset="0"/>
                              <a:cs typeface="Times New Roman" panose="02020603050405020304" pitchFamily="18" charset="0"/>
                            </a:rPr>
                            <m:t>𝜏</m:t>
                          </m:r>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−1</m:t>
                          </m:r>
                        </m:sub>
                      </m:sSub>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Times New Roman" panose="02020603050405020304" pitchFamily="18" charset="0"/>
                            </a:rPr>
                            <m:t>𝜏</m:t>
                          </m:r>
                          <m:r>
                            <a:rPr lang="en-US" altLang="zh-CN" sz="1400" i="1">
                              <a:latin typeface="Cambria Math" panose="02040503050406030204" pitchFamily="18" charset="0"/>
                              <a:cs typeface="Times New Roman" panose="02020603050405020304" pitchFamily="18" charset="0"/>
                            </a:rPr>
                            <m:t>−2</m:t>
                          </m:r>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sub>
                      </m:sSub>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Times New Roman" panose="02020603050405020304" pitchFamily="18" charset="0"/>
                            </a:rPr>
                            <m:t>𝜏</m:t>
                          </m:r>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𝑋</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+1</m:t>
                          </m:r>
                        </m:sub>
                      </m:sSub>
                    </m:oMath>
                  </m:oMathPara>
                </a14:m>
                <a:endParaRPr lang="zh-CN" altLang="en-US" sz="1400" dirty="0"/>
              </a:p>
            </p:txBody>
          </p:sp>
        </mc:Choice>
        <mc:Fallback xmlns="">
          <p:sp>
            <p:nvSpPr>
              <p:cNvPr id="4" name="矩形 3"/>
              <p:cNvSpPr>
                <a:spLocks noRot="1" noChangeAspect="1" noMove="1" noResize="1" noEditPoints="1" noAdjustHandles="1" noChangeArrowheads="1" noChangeShapeType="1" noTextEdit="1"/>
              </p:cNvSpPr>
              <p:nvPr/>
            </p:nvSpPr>
            <p:spPr>
              <a:xfrm>
                <a:off x="4535996" y="2006504"/>
                <a:ext cx="4572000" cy="1169551"/>
              </a:xfrm>
              <a:prstGeom prst="rect">
                <a:avLst/>
              </a:prstGeom>
              <a:blipFill rotWithShape="1">
                <a:blip r:embed="rId8"/>
                <a:stretch>
                  <a:fillRect l="-4" t="-46" r="-218"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4535996" y="1189627"/>
                <a:ext cx="4284476" cy="276999"/>
              </a:xfrm>
              <a:prstGeom prst="rect">
                <a:avLst/>
              </a:prstGeom>
            </p:spPr>
            <p:txBody>
              <a:bodyPr wrap="square">
                <a:spAutoFit/>
              </a:bodyPr>
              <a:lstStyle/>
              <a:p>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rPr>
                        </m:ctrlPr>
                      </m:d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2</m:t>
                            </m:r>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0</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1</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0</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1</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2</m:t>
                            </m:r>
                          </m:sub>
                        </m:sSub>
                        <m:r>
                          <a:rPr lang="en-US" altLang="zh-CN" sz="1200" i="1">
                            <a:latin typeface="Cambria Math" panose="02040503050406030204" pitchFamily="18" charset="0"/>
                            <a:cs typeface="Times New Roman" panose="02020603050405020304" pitchFamily="18" charset="0"/>
                          </a:rPr>
                          <m:t> </m:t>
                        </m:r>
                      </m:e>
                    </m:d>
                  </m:oMath>
                </a14:m>
                <a:r>
                  <a:rPr lang="zh-CN" altLang="zh-CN" sz="1200" dirty="0">
                    <a:latin typeface="Calibri" panose="020F0502020204030204" charset="0"/>
                    <a:cs typeface="Times New Roman" panose="02020603050405020304" pitchFamily="18" charset="0"/>
                  </a:rPr>
                  <a:t>、</a:t>
                </a:r>
                <a14:m>
                  <m:oMath xmlns:m="http://schemas.openxmlformats.org/officeDocument/2006/math">
                    <m:d>
                      <m:dPr>
                        <m:begChr m:val="{"/>
                        <m:endChr m:val="}"/>
                        <m:ctrlPr>
                          <a:rPr lang="zh-CN" altLang="zh-CN" sz="1200" i="1">
                            <a:effectLst/>
                            <a:latin typeface="Cambria Math" panose="02040503050406030204" pitchFamily="18" charset="0"/>
                            <a:ea typeface="Cambria Math" panose="02040503050406030204" pitchFamily="18" charset="0"/>
                          </a:rPr>
                        </m:ctrlPr>
                      </m:d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0</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1</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2</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3</m:t>
                            </m:r>
                          </m:sub>
                        </m:sSub>
                        <m:r>
                          <a:rPr lang="en-US" altLang="zh-CN" sz="1200" i="1">
                            <a:latin typeface="Cambria Math" panose="02040503050406030204" pitchFamily="18" charset="0"/>
                            <a:cs typeface="Times New Roman" panose="02020603050405020304" pitchFamily="18" charset="0"/>
                          </a:rPr>
                          <m:t> </m:t>
                        </m:r>
                      </m:e>
                    </m:d>
                  </m:oMath>
                </a14:m>
                <a:r>
                  <a:rPr lang="zh-CN" altLang="zh-CN" sz="1200" dirty="0">
                    <a:latin typeface="Calibri" panose="020F0502020204030204" charset="0"/>
                    <a:cs typeface="Times New Roman" panose="02020603050405020304" pitchFamily="18" charset="0"/>
                  </a:rPr>
                  <a:t>、</a:t>
                </a:r>
                <a14:m>
                  <m:oMath xmlns:m="http://schemas.openxmlformats.org/officeDocument/2006/math">
                    <m:d>
                      <m:dPr>
                        <m:begChr m:val="{"/>
                        <m:endChr m:val="}"/>
                        <m:ctrlPr>
                          <a:rPr lang="zh-CN" altLang="zh-CN" sz="1200" i="1">
                            <a:effectLst/>
                            <a:latin typeface="Cambria Math" panose="02040503050406030204" pitchFamily="18" charset="0"/>
                            <a:ea typeface="Cambria Math" panose="02040503050406030204" pitchFamily="18" charset="0"/>
                          </a:rPr>
                        </m:ctrlPr>
                      </m:d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1</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2</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3</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2</m:t>
                            </m:r>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3</m:t>
                            </m:r>
                          </m:sub>
                        </m:sSub>
                        <m:r>
                          <a:rPr lang="en-US" altLang="zh-CN" sz="1200" i="1">
                            <a:latin typeface="Cambria Math" panose="02040503050406030204" pitchFamily="18" charset="0"/>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cs typeface="Times New Roman" panose="02020603050405020304" pitchFamily="18" charset="0"/>
                              </a:rPr>
                              <m:t>𝑋</m:t>
                            </m:r>
                          </m:e>
                          <m:sub>
                            <m:r>
                              <a:rPr lang="en-US" altLang="zh-CN" sz="1200" i="1">
                                <a:latin typeface="Cambria Math" panose="02040503050406030204" pitchFamily="18" charset="0"/>
                                <a:cs typeface="Times New Roman" panose="02020603050405020304" pitchFamily="18" charset="0"/>
                              </a:rPr>
                              <m:t>2</m:t>
                            </m:r>
                          </m:sub>
                        </m:sSub>
                      </m:e>
                    </m:d>
                  </m:oMath>
                </a14:m>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4535996" y="1189627"/>
                <a:ext cx="4284476" cy="276999"/>
              </a:xfrm>
              <a:prstGeom prst="rect">
                <a:avLst/>
              </a:prstGeom>
              <a:blipFill rotWithShape="1">
                <a:blip r:embed="rId9"/>
                <a:stretch>
                  <a:fillRect l="-4" t="-98" r="8" b="148"/>
                </a:stretch>
              </a:blipFill>
            </p:spPr>
            <p:txBody>
              <a:bodyPr/>
              <a:lstStyle/>
              <a:p>
                <a:r>
                  <a:rPr lang="zh-CN" altLang="en-US">
                    <a:noFill/>
                  </a:rPr>
                  <a:t> </a:t>
                </a:r>
              </a:p>
            </p:txBody>
          </p:sp>
        </mc:Fallback>
      </mc:AlternateContent>
      <p:pic>
        <p:nvPicPr>
          <p:cNvPr id="13" name="图片 12"/>
          <p:cNvPicPr/>
          <p:nvPr/>
        </p:nvPicPr>
        <p:blipFill>
          <a:blip r:embed="rId10"/>
          <a:stretch>
            <a:fillRect/>
          </a:stretch>
        </p:blipFill>
        <p:spPr>
          <a:xfrm>
            <a:off x="545736" y="3551631"/>
            <a:ext cx="4107272" cy="1073705"/>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1945186" y="4800598"/>
                <a:ext cx="1308371" cy="338554"/>
              </a:xfrm>
              <a:prstGeom prst="rect">
                <a:avLst/>
              </a:prstGeom>
            </p:spPr>
            <p:txBody>
              <a:bodyPr wrap="none">
                <a:spAutoFit/>
              </a:bodyPr>
              <a:lstStyle/>
              <a:p>
                <a14:m>
                  <m:oMath xmlns:m="http://schemas.openxmlformats.org/officeDocument/2006/math">
                    <m:r>
                      <m:rPr>
                        <m:sty m:val="p"/>
                      </m:rPr>
                      <a:rPr lang="en-US" altLang="zh-CN" sz="1600" smtClean="0">
                        <a:solidFill>
                          <a:srgbClr val="002060"/>
                        </a:solidFill>
                        <a:latin typeface="Cambria Math" panose="02040503050406030204" pitchFamily="18" charset="0"/>
                        <a:cs typeface="MV Boli" panose="02000500030200090000" pitchFamily="2" charset="0"/>
                      </a:rPr>
                      <m:t>τ</m:t>
                    </m:r>
                  </m:oMath>
                </a14:m>
                <a:r>
                  <a:rPr lang="zh-CN" altLang="zh-CN" sz="1600" dirty="0">
                    <a:solidFill>
                      <a:srgbClr val="002060"/>
                    </a:solidFill>
                    <a:cs typeface="MV Boli" panose="02000500030200090000" pitchFamily="2" charset="0"/>
                  </a:rPr>
                  <a:t>的取值影响</a:t>
                </a:r>
                <a:endParaRPr lang="zh-CN" altLang="en-US" sz="1600" dirty="0">
                  <a:solidFill>
                    <a:srgbClr val="00206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1945186" y="4800598"/>
                <a:ext cx="1308371" cy="338554"/>
              </a:xfrm>
              <a:prstGeom prst="rect">
                <a:avLst/>
              </a:prstGeom>
              <a:blipFill rotWithShape="1">
                <a:blip r:embed="rId11"/>
                <a:stretch>
                  <a:fillRect l="-14" t="-187" r="35" b="29"/>
                </a:stretch>
              </a:blipFill>
            </p:spPr>
            <p:txBody>
              <a:bodyPr/>
              <a:lstStyle/>
              <a:p>
                <a:r>
                  <a:rPr lang="zh-CN" altLang="en-US">
                    <a:noFill/>
                  </a:rPr>
                  <a:t> </a:t>
                </a:r>
              </a:p>
            </p:txBody>
          </p:sp>
        </mc:Fallback>
      </mc:AlternateContent>
      <p:pic>
        <p:nvPicPr>
          <p:cNvPr id="14" name="catmull_ro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12"/>
          <a:stretch>
            <a:fillRect/>
          </a:stretch>
        </p:blipFill>
        <p:spPr>
          <a:xfrm>
            <a:off x="5343620" y="3219822"/>
            <a:ext cx="2827873" cy="1871387"/>
          </a:xfrm>
          <a:prstGeom prst="rect">
            <a:avLst/>
          </a:prstGeom>
        </p:spPr>
      </p:pic>
      <p:sp>
        <p:nvSpPr>
          <p:cNvPr id="15" name="形状"/>
          <p:cNvSpPr/>
          <p:nvPr>
            <p:custDataLst>
              <p:tags r:id="rId3"/>
            </p:custDataLst>
          </p:nvPr>
        </p:nvSpPr>
        <p:spPr>
          <a:xfrm>
            <a:off x="7710791" y="50517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FF0000"/>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6" name="文本框 15"/>
          <p:cNvSpPr txBox="1"/>
          <p:nvPr/>
        </p:nvSpPr>
        <p:spPr>
          <a:xfrm>
            <a:off x="6409396" y="458836"/>
            <a:ext cx="1210588" cy="338554"/>
          </a:xfrm>
          <a:prstGeom prst="rect">
            <a:avLst/>
          </a:prstGeom>
          <a:noFill/>
        </p:spPr>
        <p:txBody>
          <a:bodyPr wrap="none" rtlCol="0">
            <a:spAutoFit/>
          </a:bodyPr>
          <a:lstStyle/>
          <a:p>
            <a:r>
              <a:rPr lang="zh-CN" altLang="en-US" sz="1600" dirty="0">
                <a:solidFill>
                  <a:srgbClr val="FF0000"/>
                </a:solidFill>
              </a:rPr>
              <a:t>严格</a:t>
            </a:r>
            <a:r>
              <a:rPr lang="zh-CN" altLang="en-US" sz="1600" dirty="0" smtClean="0">
                <a:solidFill>
                  <a:srgbClr val="FF0000"/>
                </a:solidFill>
              </a:rPr>
              <a:t>过路点</a:t>
            </a:r>
            <a:endParaRPr lang="zh-CN" altLang="en-US" sz="1600" dirty="0">
              <a:solidFill>
                <a:srgbClr val="FF0000"/>
              </a:solidFill>
            </a:endParaRPr>
          </a:p>
        </p:txBody>
      </p:sp>
      <p:sp>
        <p:nvSpPr>
          <p:cNvPr id="2" name="矩形 1"/>
          <p:cNvSpPr/>
          <p:nvPr/>
        </p:nvSpPr>
        <p:spPr>
          <a:xfrm>
            <a:off x="1842145" y="831886"/>
            <a:ext cx="4572000" cy="338554"/>
          </a:xfrm>
          <a:prstGeom prst="rect">
            <a:avLst/>
          </a:prstGeom>
        </p:spPr>
        <p:txBody>
          <a:bodyPr>
            <a:spAutoFit/>
          </a:bodyPr>
          <a:lstStyle/>
          <a:p>
            <a:r>
              <a:rPr lang="en-US" altLang="zh-CN" sz="1600" dirty="0" err="1">
                <a:solidFill>
                  <a:srgbClr val="002060"/>
                </a:solidFill>
                <a:latin typeface="宋体" panose="02010600030101010101" pitchFamily="2" charset="-122"/>
                <a:cs typeface="MV Boli" panose="02000500030200090000" pitchFamily="2" charset="0"/>
              </a:rPr>
              <a:t>Catmull</a:t>
            </a:r>
            <a:r>
              <a:rPr lang="en-US" altLang="zh-CN" sz="1600" dirty="0">
                <a:solidFill>
                  <a:srgbClr val="002060"/>
                </a:solidFill>
                <a:latin typeface="宋体" panose="02010600030101010101" pitchFamily="2" charset="-122"/>
                <a:cs typeface="MV Boli" panose="02000500030200090000" pitchFamily="2" charset="0"/>
              </a:rPr>
              <a:t>-Rom</a:t>
            </a:r>
            <a:r>
              <a:rPr lang="zh-CN" altLang="zh-CN" sz="1600" dirty="0">
                <a:solidFill>
                  <a:srgbClr val="002060"/>
                </a:solidFill>
                <a:cs typeface="MV Boli" panose="02000500030200090000" pitchFamily="2" charset="0"/>
              </a:rPr>
              <a:t>曲线实际为三段三次多项式曲线组成</a:t>
            </a:r>
            <a:endParaRPr lang="zh-CN" altLang="en-US" sz="16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4"/>
                                        </p:tgtEl>
                                      </p:cBhvr>
                                    </p:cmd>
                                  </p:childTnLst>
                                </p:cTn>
                              </p:par>
                            </p:childTnLst>
                          </p:cTn>
                        </p:par>
                      </p:childTnLst>
                    </p:cTn>
                  </p:par>
                </p:childTnLst>
              </p:cTn>
              <p:nextCondLst>
                <p:cond evt="onClick" delay="0">
                  <p:tgtEl>
                    <p:spTgt spid="14"/>
                  </p:tgtEl>
                </p:cond>
              </p:nextCondLst>
            </p:seq>
            <p:video>
              <p:cMediaNode vol="80000">
                <p:cTn id="7" fill="hold" display="0">
                  <p:stCondLst>
                    <p:cond delay="indefinite"/>
                  </p:stCondLst>
                </p:cTn>
                <p:tgtEl>
                  <p:spTgt spid="14"/>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Trajectory Generation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轨迹生成算法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384790"/>
            <a:ext cx="3651004" cy="461665"/>
          </a:xfrm>
          <a:prstGeom prst="rect">
            <a:avLst/>
          </a:prstGeom>
        </p:spPr>
        <p:txBody>
          <a:bodyPr wrap="square">
            <a:spAutoFit/>
          </a:bodyPr>
          <a:lstStyle/>
          <a:p>
            <a:r>
              <a:rPr lang="zh-CN" altLang="en-US" sz="2400" b="1" dirty="0">
                <a:solidFill>
                  <a:srgbClr val="002060"/>
                </a:solidFill>
              </a:rPr>
              <a:t>具有中间路点的轨迹生成</a:t>
            </a:r>
          </a:p>
        </p:txBody>
      </p:sp>
      <p:pic>
        <p:nvPicPr>
          <p:cNvPr id="9" name="图片 8"/>
          <p:cNvPicPr/>
          <p:nvPr/>
        </p:nvPicPr>
        <p:blipFill>
          <a:blip r:embed="rId3"/>
          <a:stretch>
            <a:fillRect/>
          </a:stretch>
        </p:blipFill>
        <p:spPr>
          <a:xfrm>
            <a:off x="400685" y="1432308"/>
            <a:ext cx="4171315" cy="3114040"/>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2038160" y="1029970"/>
                <a:ext cx="1122423" cy="338554"/>
              </a:xfrm>
              <a:prstGeom prst="rect">
                <a:avLst/>
              </a:prstGeom>
            </p:spPr>
            <p:txBody>
              <a:bodyPr wrap="none">
                <a:spAutoFit/>
              </a:bodyPr>
              <a:lstStyle/>
              <a:p>
                <a:r>
                  <a:rPr lang="zh-CN" altLang="zh-CN" sz="1600" b="1" dirty="0" smtClean="0">
                    <a:solidFill>
                      <a:srgbClr val="002060"/>
                    </a:solidFill>
                    <a:cs typeface="MV Boli" panose="02000500030200090000" pitchFamily="2" charset="0"/>
                  </a:rPr>
                  <a:t>交融半径</a:t>
                </a:r>
                <a14:m>
                  <m:oMath xmlns:m="http://schemas.openxmlformats.org/officeDocument/2006/math">
                    <m:r>
                      <a:rPr lang="en-US" altLang="zh-CN" sz="1600" b="1" i="1">
                        <a:solidFill>
                          <a:srgbClr val="002060"/>
                        </a:solidFill>
                        <a:latin typeface="Cambria Math" panose="02040503050406030204" pitchFamily="18" charset="0"/>
                        <a:cs typeface="MV Boli" panose="02000500030200090000" pitchFamily="2" charset="0"/>
                      </a:rPr>
                      <m:t>𝒓</m:t>
                    </m:r>
                  </m:oMath>
                </a14:m>
                <a:endParaRPr lang="zh-CN" altLang="en-US" sz="1600" b="1"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2038160" y="1029970"/>
                <a:ext cx="1122423" cy="338554"/>
              </a:xfrm>
              <a:prstGeom prst="rect">
                <a:avLst/>
              </a:prstGeom>
              <a:blipFill rotWithShape="1">
                <a:blip r:embed="rId4"/>
                <a:stretch>
                  <a:fillRect l="-40" r="17" b="29"/>
                </a:stretch>
              </a:blipFill>
            </p:spPr>
            <p:txBody>
              <a:bodyPr/>
              <a:lstStyle/>
              <a:p>
                <a:r>
                  <a:rPr lang="zh-CN" altLang="en-US">
                    <a:noFill/>
                  </a:rPr>
                  <a:t> </a:t>
                </a:r>
              </a:p>
            </p:txBody>
          </p:sp>
        </mc:Fallback>
      </mc:AlternateContent>
      <p:pic>
        <p:nvPicPr>
          <p:cNvPr id="6" name="图片 5"/>
          <p:cNvPicPr>
            <a:picLocks noChangeAspect="1"/>
          </p:cNvPicPr>
          <p:nvPr/>
        </p:nvPicPr>
        <p:blipFill>
          <a:blip r:embed="rId5"/>
          <a:stretch>
            <a:fillRect/>
          </a:stretch>
        </p:blipFill>
        <p:spPr>
          <a:xfrm>
            <a:off x="4609049" y="1011778"/>
            <a:ext cx="4067408" cy="2136593"/>
          </a:xfrm>
          <a:prstGeom prst="rect">
            <a:avLst/>
          </a:prstGeom>
        </p:spPr>
      </p:pic>
      <p:pic>
        <p:nvPicPr>
          <p:cNvPr id="5" name="图片 4"/>
          <p:cNvPicPr>
            <a:picLocks noChangeAspect="1"/>
          </p:cNvPicPr>
          <p:nvPr/>
        </p:nvPicPr>
        <p:blipFill>
          <a:blip r:embed="rId6"/>
          <a:stretch>
            <a:fillRect/>
          </a:stretch>
        </p:blipFill>
        <p:spPr>
          <a:xfrm>
            <a:off x="4609049" y="3019644"/>
            <a:ext cx="4067407" cy="1856362"/>
          </a:xfrm>
          <a:prstGeom prst="rect">
            <a:avLst/>
          </a:prstGeom>
        </p:spPr>
      </p:pic>
      <p:sp>
        <p:nvSpPr>
          <p:cNvPr id="7" name="文本框 6"/>
          <p:cNvSpPr txBox="1"/>
          <p:nvPr/>
        </p:nvSpPr>
        <p:spPr>
          <a:xfrm>
            <a:off x="6281114" y="3950851"/>
            <a:ext cx="723275" cy="307777"/>
          </a:xfrm>
          <a:prstGeom prst="rect">
            <a:avLst/>
          </a:prstGeom>
          <a:noFill/>
        </p:spPr>
        <p:txBody>
          <a:bodyPr wrap="none" rtlCol="0">
            <a:spAutoFit/>
          </a:bodyPr>
          <a:lstStyle/>
          <a:p>
            <a:r>
              <a:rPr lang="zh-CN" altLang="en-US" sz="1400" dirty="0" smtClean="0">
                <a:solidFill>
                  <a:srgbClr val="FF0000"/>
                </a:solidFill>
              </a:rPr>
              <a:t>原路点</a:t>
            </a:r>
            <a:endParaRPr lang="zh-CN" altLang="en-US" sz="1400" dirty="0">
              <a:solidFill>
                <a:srgbClr val="FF0000"/>
              </a:solidFill>
            </a:endParaRPr>
          </a:p>
        </p:txBody>
      </p:sp>
      <p:sp>
        <p:nvSpPr>
          <p:cNvPr id="17" name="文本框 16"/>
          <p:cNvSpPr txBox="1"/>
          <p:nvPr/>
        </p:nvSpPr>
        <p:spPr>
          <a:xfrm>
            <a:off x="6281113" y="3149282"/>
            <a:ext cx="723275" cy="307777"/>
          </a:xfrm>
          <a:prstGeom prst="rect">
            <a:avLst/>
          </a:prstGeom>
          <a:noFill/>
        </p:spPr>
        <p:txBody>
          <a:bodyPr wrap="none" rtlCol="0">
            <a:spAutoFit/>
          </a:bodyPr>
          <a:lstStyle/>
          <a:p>
            <a:r>
              <a:rPr lang="zh-CN" altLang="en-US" sz="1400" dirty="0" smtClean="0">
                <a:solidFill>
                  <a:srgbClr val="FF0000"/>
                </a:solidFill>
              </a:rPr>
              <a:t>伪路点</a:t>
            </a:r>
            <a:endParaRPr lang="zh-CN" altLang="en-US" sz="14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矩形 5"/>
              <p:cNvSpPr/>
              <p:nvPr/>
            </p:nvSpPr>
            <p:spPr>
              <a:xfrm>
                <a:off x="4139952" y="2019300"/>
                <a:ext cx="4357186" cy="1941830"/>
              </a:xfrm>
              <a:prstGeom prst="rect">
                <a:avLst/>
              </a:prstGeom>
            </p:spPr>
            <p:txBody>
              <a:bodyPr wrap="square">
                <a:spAutoFit/>
              </a:bodyPr>
              <a:lstStyle/>
              <a:p>
                <a:r>
                  <a:rPr lang="zh-CN" altLang="zh-CN" sz="1200" dirty="0"/>
                  <a:t>目前还没有任何一种单一的规划算法能适用于所有的运动规划问题。针对</a:t>
                </a:r>
                <a14:m>
                  <m:oMath xmlns:m="http://schemas.openxmlformats.org/officeDocument/2006/math">
                    <m:sSub>
                      <m:sSubPr>
                        <m:ctrlPr>
                          <a:rPr lang="zh-CN" altLang="zh-CN" sz="1200" i="1">
                            <a:latin typeface="Cambria Math" panose="02040503050406030204" pitchFamily="18" charset="0"/>
                          </a:rPr>
                        </m:ctrlPr>
                      </m:sSubPr>
                      <m:e>
                        <m:r>
                          <m:rPr>
                            <m:sty m:val="p"/>
                          </m:rPr>
                          <a:rPr lang="en-US" altLang="zh-CN" sz="1200">
                            <a:latin typeface="Cambria Math" panose="02040503050406030204" pitchFamily="18" charset="0"/>
                          </a:rPr>
                          <m:t>C</m:t>
                        </m:r>
                      </m:e>
                      <m:sub>
                        <m:r>
                          <m:rPr>
                            <m:sty m:val="p"/>
                          </m:rPr>
                          <a:rPr lang="en-US" altLang="zh-CN" sz="1200" i="1">
                            <a:latin typeface="Cambria Math" panose="02040503050406030204" pitchFamily="18" charset="0"/>
                          </a:rPr>
                          <m:t>space</m:t>
                        </m:r>
                      </m:sub>
                    </m:sSub>
                  </m:oMath>
                </a14:m>
                <a:r>
                  <a:rPr lang="zh-CN" altLang="zh-CN" sz="1200" dirty="0"/>
                  <a:t>中的</a:t>
                </a:r>
                <a14:m>
                  <m:oMath xmlns:m="http://schemas.openxmlformats.org/officeDocument/2006/math">
                    <m:sSub>
                      <m:sSubPr>
                        <m:ctrlPr>
                          <a:rPr lang="zh-CN" altLang="zh-CN" sz="1200" i="1">
                            <a:latin typeface="Cambria Math" panose="02040503050406030204" pitchFamily="18" charset="0"/>
                          </a:rPr>
                        </m:ctrlPr>
                      </m:sSubPr>
                      <m:e>
                        <m:r>
                          <m:rPr>
                            <m:sty m:val="p"/>
                          </m:rPr>
                          <a:rPr lang="en-US" altLang="zh-CN" sz="1200">
                            <a:latin typeface="Cambria Math" panose="02040503050406030204" pitchFamily="18" charset="0"/>
                          </a:rPr>
                          <m:t>C</m:t>
                        </m:r>
                      </m:e>
                      <m:sub>
                        <m:r>
                          <a:rPr lang="en-US" altLang="zh-CN" sz="1200" i="1">
                            <a:latin typeface="Cambria Math" panose="02040503050406030204" pitchFamily="18" charset="0"/>
                          </a:rPr>
                          <m:t>𝑓𝑟𝑒𝑒</m:t>
                        </m:r>
                      </m:sub>
                    </m:sSub>
                  </m:oMath>
                </a14:m>
                <a:r>
                  <a:rPr lang="zh-CN" altLang="zh-CN" sz="1200" dirty="0"/>
                  <a:t>和</a:t>
                </a:r>
                <a14:m>
                  <m:oMath xmlns:m="http://schemas.openxmlformats.org/officeDocument/2006/math">
                    <m:sSub>
                      <m:sSubPr>
                        <m:ctrlPr>
                          <a:rPr lang="zh-CN" altLang="zh-CN" sz="1200" i="1">
                            <a:latin typeface="Cambria Math" panose="02040503050406030204" pitchFamily="18" charset="0"/>
                          </a:rPr>
                        </m:ctrlPr>
                      </m:sSubPr>
                      <m:e>
                        <m:r>
                          <m:rPr>
                            <m:sty m:val="p"/>
                          </m:rPr>
                          <a:rPr lang="en-US" altLang="zh-CN" sz="1200">
                            <a:latin typeface="Cambria Math" panose="02040503050406030204" pitchFamily="18" charset="0"/>
                          </a:rPr>
                          <m:t>C</m:t>
                        </m:r>
                      </m:e>
                      <m:sub>
                        <m:r>
                          <a:rPr lang="en-US" altLang="zh-CN" sz="1200" i="1">
                            <a:latin typeface="Cambria Math" panose="02040503050406030204" pitchFamily="18" charset="0"/>
                          </a:rPr>
                          <m:t>𝑜𝑏𝑠</m:t>
                        </m:r>
                      </m:sub>
                    </m:sSub>
                  </m:oMath>
                </a14:m>
                <a:r>
                  <a:rPr lang="zh-CN" altLang="zh-CN" sz="1200" dirty="0"/>
                  <a:t>，其几何或拓扑的精确数学表达比较复杂，特别是高维空间或位形自由度较多的情况，其数学描述难以推导。</a:t>
                </a:r>
              </a:p>
              <a:p>
                <a:r>
                  <a:rPr lang="en-US" altLang="zh-CN" sz="1200" b="1" dirty="0">
                    <a:solidFill>
                      <a:srgbClr val="002060"/>
                    </a:solidFill>
                  </a:rPr>
                  <a:t>C-Space</a:t>
                </a:r>
                <a:r>
                  <a:rPr lang="zh-CN" altLang="zh-CN" sz="1200" b="1" dirty="0">
                    <a:solidFill>
                      <a:srgbClr val="002060"/>
                    </a:solidFill>
                  </a:rPr>
                  <a:t>离散化规划</a:t>
                </a:r>
                <a:r>
                  <a:rPr lang="zh-CN" altLang="zh-CN" sz="1200" b="1" dirty="0" smtClean="0">
                    <a:solidFill>
                      <a:srgbClr val="002060"/>
                    </a:solidFill>
                  </a:rPr>
                  <a:t>方法</a:t>
                </a:r>
                <a:r>
                  <a:rPr lang="zh-CN" altLang="en-US" sz="1200" b="1" dirty="0">
                    <a:solidFill>
                      <a:srgbClr val="002060"/>
                    </a:solidFill>
                  </a:rPr>
                  <a:t>（</a:t>
                </a:r>
                <a:r>
                  <a:rPr lang="en-US" altLang="zh-CN" sz="1200" b="1" dirty="0">
                    <a:solidFill>
                      <a:srgbClr val="002060"/>
                    </a:solidFill>
                  </a:rPr>
                  <a:t>C-Space </a:t>
                </a:r>
                <a:r>
                  <a:rPr lang="en-US" altLang="zh-CN" sz="1200" b="1" dirty="0" err="1">
                    <a:solidFill>
                      <a:srgbClr val="002060"/>
                    </a:solidFill>
                  </a:rPr>
                  <a:t>Discretizations</a:t>
                </a:r>
                <a:r>
                  <a:rPr lang="zh-CN" altLang="en-US" sz="1200" b="1" dirty="0">
                    <a:solidFill>
                      <a:srgbClr val="002060"/>
                    </a:solidFill>
                  </a:rPr>
                  <a:t>）</a:t>
                </a:r>
                <a:r>
                  <a:rPr lang="zh-CN" altLang="zh-CN" sz="1200" b="1" dirty="0" smtClean="0">
                    <a:solidFill>
                      <a:srgbClr val="002060"/>
                    </a:solidFill>
                  </a:rPr>
                  <a:t>有</a:t>
                </a:r>
                <a:r>
                  <a:rPr lang="zh-CN" altLang="zh-CN" sz="1200" b="1" dirty="0">
                    <a:solidFill>
                      <a:srgbClr val="002060"/>
                    </a:solidFill>
                  </a:rPr>
                  <a:t>两种</a:t>
                </a:r>
                <a:r>
                  <a:rPr lang="zh-CN" altLang="zh-CN" sz="1200" dirty="0"/>
                  <a:t>：</a:t>
                </a:r>
              </a:p>
              <a:p>
                <a:pPr marL="171450" lvl="0" indent="-171450">
                  <a:buFont typeface="Wingdings" panose="05000000000000000000" pitchFamily="2" charset="2"/>
                  <a:buChar char="Ø"/>
                </a:pPr>
                <a:r>
                  <a:rPr lang="zh-CN" altLang="zh-CN" sz="1200" b="1" dirty="0">
                    <a:solidFill>
                      <a:srgbClr val="002060"/>
                    </a:solidFill>
                  </a:rPr>
                  <a:t>组合规划方法</a:t>
                </a:r>
                <a:r>
                  <a:rPr lang="zh-CN" altLang="zh-CN" sz="1200" dirty="0"/>
                  <a:t>（</a:t>
                </a:r>
                <a:r>
                  <a:rPr lang="en-US" altLang="zh-CN" sz="1200" dirty="0"/>
                  <a:t>Combinatorial planning</a:t>
                </a:r>
                <a:r>
                  <a:rPr lang="zh-CN" altLang="zh-CN" sz="1200" dirty="0"/>
                  <a:t>）：判别</a:t>
                </a:r>
                <a:r>
                  <a:rPr lang="en-US" altLang="zh-CN" sz="1200" dirty="0" err="1"/>
                  <a:t>Cfree</a:t>
                </a:r>
                <a:r>
                  <a:rPr lang="zh-CN" altLang="zh-CN" sz="1200" dirty="0"/>
                  <a:t>的连通性，将</a:t>
                </a:r>
                <a:r>
                  <a:rPr lang="en-US" altLang="zh-CN" sz="1200" dirty="0" err="1"/>
                  <a:t>CFree</a:t>
                </a:r>
                <a:r>
                  <a:rPr lang="zh-CN" altLang="zh-CN" sz="1200" dirty="0"/>
                  <a:t>明确表征到图（</a:t>
                </a:r>
                <a:r>
                  <a:rPr lang="en-US" altLang="zh-CN" sz="1200" dirty="0"/>
                  <a:t>graph</a:t>
                </a:r>
                <a:r>
                  <a:rPr lang="zh-CN" altLang="zh-CN" sz="1200" dirty="0"/>
                  <a:t>）中，并使用搜索算法寻找路径；</a:t>
                </a:r>
              </a:p>
              <a:p>
                <a:pPr marL="171450" indent="-171450">
                  <a:buFont typeface="Wingdings" panose="05000000000000000000" pitchFamily="2" charset="2"/>
                  <a:buChar char="Ø"/>
                </a:pPr>
                <a:r>
                  <a:rPr lang="zh-CN" altLang="zh-CN" sz="1200" b="1" dirty="0">
                    <a:solidFill>
                      <a:srgbClr val="002060"/>
                    </a:solidFill>
                  </a:rPr>
                  <a:t>基于采样的规划方法</a:t>
                </a:r>
                <a:r>
                  <a:rPr lang="zh-CN" altLang="zh-CN" sz="1200" dirty="0"/>
                  <a:t>（</a:t>
                </a:r>
                <a:r>
                  <a:rPr lang="en-US" altLang="zh-CN" sz="1200" dirty="0"/>
                  <a:t>Sampling-based planning</a:t>
                </a:r>
                <a:r>
                  <a:rPr lang="zh-CN" altLang="zh-CN" sz="1200" dirty="0"/>
                  <a:t>）：使用碰撞检测来探查并逐步搜索</a:t>
                </a:r>
                <a:r>
                  <a:rPr lang="en-US" altLang="zh-CN" sz="1200" dirty="0"/>
                  <a:t>C-Space</a:t>
                </a:r>
                <a:r>
                  <a:rPr lang="zh-CN" altLang="zh-CN" sz="1200" dirty="0"/>
                  <a:t>得到规划路径。</a:t>
                </a:r>
                <a:endParaRPr lang="zh-CN" altLang="en-US" sz="1200" dirty="0">
                  <a:solidFill>
                    <a:schemeClr val="tx1"/>
                  </a:solidFill>
                  <a:latin typeface="Arial" panose="020B0604020202020204" pitchFamily="34" charset="0"/>
                  <a:ea typeface="微软雅黑" panose="020B0503020204020204" charset="-122"/>
                  <a:sym typeface="+mn-ea"/>
                </a:endParaRPr>
              </a:p>
            </p:txBody>
          </p:sp>
        </mc:Choice>
        <mc:Fallback xmlns="">
          <p:sp>
            <p:nvSpPr>
              <p:cNvPr id="6" name="矩形 5"/>
              <p:cNvSpPr>
                <a:spLocks noRot="1" noChangeAspect="1" noMove="1" noResize="1" noEditPoints="1" noAdjustHandles="1" noChangeArrowheads="1" noChangeShapeType="1" noTextEdit="1"/>
              </p:cNvSpPr>
              <p:nvPr/>
            </p:nvSpPr>
            <p:spPr>
              <a:xfrm>
                <a:off x="4139952" y="2019300"/>
                <a:ext cx="4357186" cy="1941830"/>
              </a:xfrm>
              <a:prstGeom prst="rect">
                <a:avLst/>
              </a:prstGeom>
              <a:blipFill rotWithShape="1">
                <a:blip r:embed="rId3"/>
                <a:stretch>
                  <a:fillRect l="-9" r="5"/>
                </a:stretch>
              </a:blipFill>
            </p:spPr>
            <p:txBody>
              <a:bodyPr/>
              <a:lstStyle/>
              <a:p>
                <a:r>
                  <a:rPr lang="zh-CN" altLang="en-US">
                    <a:noFill/>
                  </a:rPr>
                  <a:t> </a:t>
                </a:r>
              </a:p>
            </p:txBody>
          </p:sp>
        </mc:Fallback>
      </mc:AlternateContent>
      <p:sp>
        <p:nvSpPr>
          <p:cNvPr id="7" name="文本框 6"/>
          <p:cNvSpPr txBox="1"/>
          <p:nvPr/>
        </p:nvSpPr>
        <p:spPr>
          <a:xfrm>
            <a:off x="4139952" y="1339839"/>
            <a:ext cx="4357186"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位形空间离散化规划方法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04</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203848" y="443448"/>
            <a:ext cx="4464496" cy="400110"/>
          </a:xfrm>
          <a:prstGeom prst="rect">
            <a:avLst/>
          </a:prstGeom>
        </p:spPr>
        <p:txBody>
          <a:bodyPr wrap="square">
            <a:spAutoFit/>
          </a:bodyPr>
          <a:lstStyle/>
          <a:p>
            <a:r>
              <a:rPr lang="zh-CN" altLang="en-US" sz="2000" b="1" dirty="0">
                <a:solidFill>
                  <a:srgbClr val="002060"/>
                </a:solidFill>
              </a:rPr>
              <a:t>组合规划方法（</a:t>
            </a:r>
            <a:r>
              <a:rPr lang="en-US" altLang="zh-CN" sz="2000" b="1" dirty="0">
                <a:solidFill>
                  <a:srgbClr val="002060"/>
                </a:solidFill>
              </a:rPr>
              <a:t>Combinatorial planning</a:t>
            </a:r>
            <a:r>
              <a:rPr lang="zh-CN" altLang="en-US" sz="2000" b="1" dirty="0">
                <a:solidFill>
                  <a:srgbClr val="002060"/>
                </a:solidFill>
              </a:rPr>
              <a:t>）</a:t>
            </a:r>
          </a:p>
        </p:txBody>
      </p:sp>
      <mc:AlternateContent xmlns:mc="http://schemas.openxmlformats.org/markup-compatibility/2006" xmlns:a14="http://schemas.microsoft.com/office/drawing/2010/main">
        <mc:Choice Requires="a14">
          <p:sp>
            <p:nvSpPr>
              <p:cNvPr id="2" name="文本框 1"/>
              <p:cNvSpPr txBox="1"/>
              <p:nvPr/>
            </p:nvSpPr>
            <p:spPr>
              <a:xfrm>
                <a:off x="971600" y="1163355"/>
                <a:ext cx="7380312" cy="1740669"/>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dirty="0">
                    <a:solidFill>
                      <a:srgbClr val="002060"/>
                    </a:solidFill>
                  </a:rPr>
                  <a:t>组合规划方法有四种常用的地图表示方法：可视图</a:t>
                </a:r>
                <a:r>
                  <a:rPr lang="en-US" altLang="zh-CN" sz="1600" dirty="0">
                    <a:solidFill>
                      <a:srgbClr val="002060"/>
                    </a:solidFill>
                  </a:rPr>
                  <a:t>(Visibility graphs)</a:t>
                </a:r>
                <a:r>
                  <a:rPr lang="zh-CN" altLang="en-US" sz="1600" dirty="0">
                    <a:solidFill>
                      <a:srgbClr val="002060"/>
                    </a:solidFill>
                  </a:rPr>
                  <a:t>、</a:t>
                </a:r>
                <a:r>
                  <a:rPr lang="en-US" altLang="zh-CN" sz="1600" dirty="0" err="1">
                    <a:solidFill>
                      <a:srgbClr val="002060"/>
                    </a:solidFill>
                  </a:rPr>
                  <a:t>Voronoi</a:t>
                </a:r>
                <a:r>
                  <a:rPr lang="zh-CN" altLang="en-US" sz="1600" dirty="0">
                    <a:solidFill>
                      <a:srgbClr val="002060"/>
                    </a:solidFill>
                  </a:rPr>
                  <a:t>图</a:t>
                </a:r>
                <a:r>
                  <a:rPr lang="en-US" altLang="zh-CN" sz="1600" dirty="0">
                    <a:solidFill>
                      <a:srgbClr val="002060"/>
                    </a:solidFill>
                  </a:rPr>
                  <a:t>(</a:t>
                </a:r>
                <a:r>
                  <a:rPr lang="en-US" altLang="zh-CN" sz="1600" dirty="0" err="1">
                    <a:solidFill>
                      <a:srgbClr val="002060"/>
                    </a:solidFill>
                  </a:rPr>
                  <a:t>Voronoi</a:t>
                </a:r>
                <a:r>
                  <a:rPr lang="en-US" altLang="zh-CN" sz="1600" dirty="0">
                    <a:solidFill>
                      <a:srgbClr val="002060"/>
                    </a:solidFill>
                  </a:rPr>
                  <a:t> diagrams)</a:t>
                </a:r>
                <a:r>
                  <a:rPr lang="zh-CN" altLang="en-US" sz="1600" dirty="0">
                    <a:solidFill>
                      <a:srgbClr val="002060"/>
                    </a:solidFill>
                  </a:rPr>
                  <a:t>、精确单元分解</a:t>
                </a:r>
                <a:r>
                  <a:rPr lang="en-US" altLang="zh-CN" sz="1600" dirty="0">
                    <a:solidFill>
                      <a:srgbClr val="002060"/>
                    </a:solidFill>
                  </a:rPr>
                  <a:t>ECD(Exact cell decomposition)</a:t>
                </a:r>
                <a:r>
                  <a:rPr lang="zh-CN" altLang="en-US" sz="1600" dirty="0">
                    <a:solidFill>
                      <a:srgbClr val="002060"/>
                    </a:solidFill>
                  </a:rPr>
                  <a:t>、近似单元分解</a:t>
                </a:r>
                <a:r>
                  <a:rPr lang="en-US" altLang="zh-CN" sz="1600" dirty="0">
                    <a:solidFill>
                      <a:srgbClr val="002060"/>
                    </a:solidFill>
                  </a:rPr>
                  <a:t>ACD(Approximate cell decomposition</a:t>
                </a:r>
                <a:r>
                  <a:rPr lang="en-US" altLang="zh-CN" sz="1600" dirty="0" smtClean="0">
                    <a:solidFill>
                      <a:srgbClr val="002060"/>
                    </a:solidFill>
                  </a:rPr>
                  <a:t>)</a:t>
                </a:r>
                <a:r>
                  <a:rPr lang="en-US" altLang="zh-CN" sz="1600" dirty="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a:solidFill>
                      <a:srgbClr val="002060"/>
                    </a:solidFill>
                  </a:rPr>
                  <a:t>它们都生成路线图</a:t>
                </a:r>
                <a:r>
                  <a:rPr lang="en-US" altLang="zh-CN" sz="1600" dirty="0">
                    <a:solidFill>
                      <a:srgbClr val="002060"/>
                    </a:solidFill>
                  </a:rPr>
                  <a:t>(road map)</a:t>
                </a:r>
                <a:r>
                  <a:rPr lang="zh-CN" altLang="en-US" sz="1600" dirty="0">
                    <a:solidFill>
                      <a:srgbClr val="002060"/>
                    </a:solidFill>
                  </a:rPr>
                  <a:t>，路线图处于</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𝑓𝑟𝑒𝑒</m:t>
                        </m:r>
                      </m:sub>
                    </m:sSub>
                  </m:oMath>
                </a14:m>
                <a:r>
                  <a:rPr lang="zh-CN" altLang="en-US" sz="1600" dirty="0" smtClean="0">
                    <a:solidFill>
                      <a:srgbClr val="002060"/>
                    </a:solidFill>
                  </a:rPr>
                  <a:t>空间</a:t>
                </a:r>
                <a:r>
                  <a:rPr lang="en-US" altLang="zh-CN" sz="1600" dirty="0" smtClean="0">
                    <a:solidFill>
                      <a:srgbClr val="002060"/>
                    </a:solidFill>
                  </a:rPr>
                  <a:t>;</a:t>
                </a:r>
              </a:p>
              <a:p>
                <a:pPr marL="285750" indent="-285750">
                  <a:buFont typeface="Wingdings" panose="05000000000000000000" pitchFamily="2" charset="2"/>
                  <a:buChar char="Ø"/>
                </a:pPr>
                <a:r>
                  <a:rPr lang="zh-CN" altLang="en-US" sz="1600" dirty="0">
                    <a:solidFill>
                      <a:srgbClr val="002060"/>
                    </a:solidFill>
                  </a:rPr>
                  <a:t>除了代表自由空间的空白处外，</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𝐶</m:t>
                        </m:r>
                      </m:e>
                      <m:sub>
                        <m:r>
                          <a:rPr lang="en-US" altLang="zh-CN" sz="1600" i="1">
                            <a:latin typeface="Cambria Math" panose="02040503050406030204" pitchFamily="18" charset="0"/>
                          </a:rPr>
                          <m:t>𝑓𝑟𝑒𝑒</m:t>
                        </m:r>
                      </m:sub>
                    </m:sSub>
                  </m:oMath>
                </a14:m>
                <a:r>
                  <a:rPr lang="zh-CN" altLang="en-US" sz="1600" dirty="0">
                    <a:solidFill>
                      <a:srgbClr val="002060"/>
                    </a:solidFill>
                  </a:rPr>
                  <a:t>中每个</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𝑜𝑏𝑠</m:t>
                        </m:r>
                      </m:sub>
                    </m:sSub>
                  </m:oMath>
                </a14:m>
                <a:r>
                  <a:rPr lang="zh-CN" altLang="en-US" sz="1600" dirty="0">
                    <a:solidFill>
                      <a:srgbClr val="002060"/>
                    </a:solidFill>
                  </a:rPr>
                  <a:t>图形顶点也表示为</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𝑓𝑟𝑒𝑒</m:t>
                        </m:r>
                      </m:sub>
                    </m:sSub>
                  </m:oMath>
                </a14:m>
                <a:r>
                  <a:rPr lang="zh-CN" altLang="en-US" sz="1600" dirty="0">
                    <a:solidFill>
                      <a:srgbClr val="002060"/>
                    </a:solidFill>
                  </a:rPr>
                  <a:t>中的一个位形，每条边也为可通过</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𝑓𝑟𝑒𝑒</m:t>
                        </m:r>
                      </m:sub>
                    </m:sSub>
                  </m:oMath>
                </a14:m>
                <a:r>
                  <a:rPr lang="zh-CN" altLang="en-US" sz="1600" dirty="0">
                    <a:solidFill>
                      <a:srgbClr val="002060"/>
                    </a:solidFill>
                  </a:rPr>
                  <a:t>的一条无碰路径。</a:t>
                </a:r>
              </a:p>
            </p:txBody>
          </p:sp>
        </mc:Choice>
        <mc:Fallback xmlns="">
          <p:sp>
            <p:nvSpPr>
              <p:cNvPr id="2" name="文本框 1"/>
              <p:cNvSpPr txBox="1">
                <a:spLocks noRot="1" noChangeAspect="1" noMove="1" noResize="1" noEditPoints="1" noAdjustHandles="1" noChangeArrowheads="1" noChangeShapeType="1" noTextEdit="1"/>
              </p:cNvSpPr>
              <p:nvPr/>
            </p:nvSpPr>
            <p:spPr>
              <a:xfrm>
                <a:off x="971600" y="1163355"/>
                <a:ext cx="7380312" cy="1740669"/>
              </a:xfrm>
              <a:prstGeom prst="rect">
                <a:avLst/>
              </a:prstGeom>
              <a:blipFill rotWithShape="1">
                <a:blip r:embed="rId3"/>
                <a:stretch>
                  <a:fillRect l="-1" t="-2" r="5" b="10"/>
                </a:stretch>
              </a:blipFill>
            </p:spPr>
            <p:txBody>
              <a:bodyPr/>
              <a:lstStyle/>
              <a:p>
                <a:r>
                  <a:rPr lang="zh-CN" altLang="en-US">
                    <a:noFill/>
                  </a:rPr>
                  <a:t> </a:t>
                </a:r>
              </a:p>
            </p:txBody>
          </p:sp>
        </mc:Fallback>
      </mc:AlternateContent>
      <p:pic>
        <p:nvPicPr>
          <p:cNvPr id="9" name="图片 8"/>
          <p:cNvPicPr/>
          <p:nvPr/>
        </p:nvPicPr>
        <p:blipFill>
          <a:blip r:embed="rId4"/>
          <a:stretch>
            <a:fillRect/>
          </a:stretch>
        </p:blipFill>
        <p:spPr>
          <a:xfrm>
            <a:off x="2051720" y="3075806"/>
            <a:ext cx="4772025" cy="15563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2" name="图片 11"/>
          <p:cNvPicPr/>
          <p:nvPr/>
        </p:nvPicPr>
        <p:blipFill>
          <a:blip r:embed="rId4"/>
          <a:stretch>
            <a:fillRect/>
          </a:stretch>
        </p:blipFill>
        <p:spPr>
          <a:xfrm>
            <a:off x="1517314" y="1491630"/>
            <a:ext cx="6007013" cy="27363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1" name="Picture 4" descr="N968TA~AY37J`O{69VE3F)B"/>
          <p:cNvPicPr>
            <a:picLocks noChangeAspect="1" noChangeArrowheads="1"/>
          </p:cNvPicPr>
          <p:nvPr/>
        </p:nvPicPr>
        <p:blipFill rotWithShape="1">
          <a:blip r:embed="rId4">
            <a:extLst>
              <a:ext uri="{28A0092B-C50C-407E-A947-70E740481C1C}">
                <a14:useLocalDpi xmlns:a14="http://schemas.microsoft.com/office/drawing/2010/main" val="0"/>
              </a:ext>
            </a:extLst>
          </a:blip>
          <a:srcRect t="35664"/>
          <a:stretch>
            <a:fillRect/>
          </a:stretch>
        </p:blipFill>
        <p:spPr bwMode="auto">
          <a:xfrm>
            <a:off x="1319257" y="1347614"/>
            <a:ext cx="6433478" cy="278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2" name="Picture 4" descr="]K{QV$}8QKYOVFN6EM[[FO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850" y="1275606"/>
            <a:ext cx="6972300"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3"/>
          <p:cNvSpPr txBox="1"/>
          <p:nvPr/>
        </p:nvSpPr>
        <p:spPr>
          <a:xfrm>
            <a:off x="4939747" y="2621160"/>
            <a:ext cx="494046" cy="461665"/>
          </a:xfrm>
          <a:prstGeom prst="rect">
            <a:avLst/>
          </a:prstGeom>
          <a:noFill/>
        </p:spPr>
        <p:txBody>
          <a:bodyPr wrap="none" rtlCol="0">
            <a:spAutoFit/>
          </a:bodyPr>
          <a:lstStyle/>
          <a:p>
            <a:r>
              <a:rPr lang="en-US" altLang="zh-CN" sz="2400" b="1" dirty="0" smtClean="0">
                <a:solidFill>
                  <a:srgbClr val="FF0000"/>
                </a:solidFill>
                <a:latin typeface="楷体" panose="02010609060101010101" pitchFamily="49" charset="-122"/>
                <a:ea typeface="楷体" panose="02010609060101010101" pitchFamily="49" charset="-122"/>
              </a:rPr>
              <a:t>×</a:t>
            </a:r>
            <a:endParaRPr lang="zh-CN" altLang="en-US" sz="24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5" name="Picture 4" descr="2Z})0}0M(Z${S67C@9TGQ(M"/>
          <p:cNvPicPr>
            <a:picLocks noChangeAspect="1" noChangeArrowheads="1"/>
          </p:cNvPicPr>
          <p:nvPr/>
        </p:nvPicPr>
        <p:blipFill rotWithShape="1">
          <a:blip r:embed="rId4">
            <a:extLst>
              <a:ext uri="{28A0092B-C50C-407E-A947-70E740481C1C}">
                <a14:useLocalDpi xmlns:a14="http://schemas.microsoft.com/office/drawing/2010/main" val="0"/>
              </a:ext>
            </a:extLst>
          </a:blip>
          <a:srcRect t="38447"/>
          <a:stretch>
            <a:fillRect/>
          </a:stretch>
        </p:blipFill>
        <p:spPr bwMode="auto">
          <a:xfrm>
            <a:off x="944941" y="1246565"/>
            <a:ext cx="7182109" cy="288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1"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38137"/>
          <a:stretch>
            <a:fillRect/>
          </a:stretch>
        </p:blipFill>
        <p:spPr bwMode="auto">
          <a:xfrm>
            <a:off x="755576" y="1195755"/>
            <a:ext cx="7527646" cy="304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2" name="Picture 4" descr="B71)KQP%E3R@GEZ2DM_(POO"/>
          <p:cNvPicPr>
            <a:picLocks noChangeAspect="1" noChangeArrowheads="1"/>
          </p:cNvPicPr>
          <p:nvPr/>
        </p:nvPicPr>
        <p:blipFill rotWithShape="1">
          <a:blip r:embed="rId4">
            <a:extLst>
              <a:ext uri="{28A0092B-C50C-407E-A947-70E740481C1C}">
                <a14:useLocalDpi xmlns:a14="http://schemas.microsoft.com/office/drawing/2010/main" val="0"/>
              </a:ext>
            </a:extLst>
          </a:blip>
          <a:srcRect t="36060"/>
          <a:stretch>
            <a:fillRect/>
          </a:stretch>
        </p:blipFill>
        <p:spPr bwMode="auto">
          <a:xfrm>
            <a:off x="751669" y="1205925"/>
            <a:ext cx="7425151" cy="3045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2" name="图片 1"/>
          <p:cNvPicPr>
            <a:picLocks noChangeAspect="1"/>
          </p:cNvPicPr>
          <p:nvPr/>
        </p:nvPicPr>
        <p:blipFill>
          <a:blip r:embed="rId4"/>
          <a:stretch>
            <a:fillRect/>
          </a:stretch>
        </p:blipFill>
        <p:spPr>
          <a:xfrm>
            <a:off x="4743735" y="1635646"/>
            <a:ext cx="3615241" cy="2322777"/>
          </a:xfrm>
          <a:prstGeom prst="rect">
            <a:avLst/>
          </a:prstGeom>
        </p:spPr>
      </p:pic>
      <p:sp>
        <p:nvSpPr>
          <p:cNvPr id="13" name="Rectangle 3"/>
          <p:cNvSpPr>
            <a:spLocks noGrp="1" noChangeArrowheads="1"/>
          </p:cNvSpPr>
          <p:nvPr/>
        </p:nvSpPr>
        <p:spPr bwMode="auto">
          <a:xfrm>
            <a:off x="125413" y="1181894"/>
            <a:ext cx="4244975" cy="383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100000"/>
              <a:buFont typeface="Symbol" panose="05050102010706020507" pitchFamily="18" charset="2"/>
              <a:buChar char="-"/>
              <a:defRPr kumimoji="1" sz="2000">
                <a:solidFill>
                  <a:schemeClr val="tx1"/>
                </a:solidFill>
                <a:latin typeface="+mn-lt"/>
                <a:ea typeface="+mn-ea"/>
              </a:defRPr>
            </a:lvl9pPr>
          </a:lstStyle>
          <a:p>
            <a:r>
              <a:rPr lang="en-US" altLang="zh-CN" sz="1800" i="1" dirty="0"/>
              <a:t>Idea:</a:t>
            </a:r>
            <a:r>
              <a:rPr lang="en-US" altLang="zh-CN" sz="1800" dirty="0"/>
              <a:t> we don't really need all the edges in the visibility graph (even if we want </a:t>
            </a:r>
            <a:r>
              <a:rPr lang="en-US" altLang="zh-CN" sz="1800" dirty="0" smtClean="0"/>
              <a:t>shortest </a:t>
            </a:r>
            <a:r>
              <a:rPr lang="en-US" altLang="zh-CN" sz="1800" dirty="0"/>
              <a:t>paths)</a:t>
            </a:r>
          </a:p>
          <a:p>
            <a:pPr algn="dist"/>
            <a:endParaRPr lang="en-US" altLang="zh-CN" sz="1800" i="1" dirty="0"/>
          </a:p>
          <a:p>
            <a:r>
              <a:rPr lang="en-US" altLang="zh-CN" sz="1800" i="1" dirty="0"/>
              <a:t>Definition:</a:t>
            </a:r>
            <a:r>
              <a:rPr lang="en-US" altLang="zh-CN" sz="1800" dirty="0"/>
              <a:t> Let L be the line passing through an edge (</a:t>
            </a:r>
            <a:r>
              <a:rPr lang="en-US" altLang="zh-CN" sz="1800" dirty="0" err="1"/>
              <a:t>x,y</a:t>
            </a:r>
            <a:r>
              <a:rPr lang="en-US" altLang="zh-CN" sz="1800" dirty="0"/>
              <a:t>) in the visibility graph G. The segment (</a:t>
            </a:r>
            <a:r>
              <a:rPr lang="en-US" altLang="zh-CN" sz="1800" dirty="0" err="1"/>
              <a:t>x,y</a:t>
            </a:r>
            <a:r>
              <a:rPr lang="en-US" altLang="zh-CN" sz="1800" dirty="0"/>
              <a:t>) is a </a:t>
            </a:r>
            <a:r>
              <a:rPr lang="en-US" altLang="zh-CN" sz="1800" dirty="0">
                <a:solidFill>
                  <a:srgbClr val="FF0000"/>
                </a:solidFill>
              </a:rPr>
              <a:t>tangent segment</a:t>
            </a:r>
            <a:r>
              <a:rPr lang="en-US" altLang="zh-CN" sz="1800" dirty="0"/>
              <a:t> </a:t>
            </a:r>
            <a:r>
              <a:rPr lang="en-US" altLang="zh-CN" sz="1800" dirty="0" smtClean="0"/>
              <a:t>if </a:t>
            </a:r>
            <a:r>
              <a:rPr lang="en-US" altLang="zh-CN" sz="1800" dirty="0"/>
              <a:t>L is tangent to CB at both x and y.</a:t>
            </a:r>
          </a:p>
          <a:p>
            <a:endParaRPr lang="en-US" altLang="zh-CN" sz="1800" dirty="0"/>
          </a:p>
          <a:p>
            <a:r>
              <a:rPr lang="en-US" altLang="zh-CN" sz="1800" dirty="0"/>
              <a:t>Line segment is tangent if extending the line beyond each of the end points would not intersect the obstacles.</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903281" y="454099"/>
            <a:ext cx="1005403" cy="338554"/>
          </a:xfrm>
          <a:prstGeom prst="rect">
            <a:avLst/>
          </a:prstGeom>
        </p:spPr>
        <p:txBody>
          <a:bodyPr wrap="none">
            <a:spAutoFit/>
          </a:bodyPr>
          <a:lstStyle/>
          <a:p>
            <a:r>
              <a:rPr lang="zh-CN" altLang="en-US" sz="1600" b="1" dirty="0">
                <a:solidFill>
                  <a:srgbClr val="002060"/>
                </a:solidFill>
              </a:rPr>
              <a:t>可视图法</a:t>
            </a:r>
          </a:p>
        </p:txBody>
      </p:sp>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3898" y="1151255"/>
            <a:ext cx="6710506" cy="338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p:pic>
        <p:nvPicPr>
          <p:cNvPr id="11" name="Picture 4"/>
          <p:cNvPicPr/>
          <p:nvPr/>
        </p:nvPicPr>
        <p:blipFill>
          <a:blip r:embed="rId4">
            <a:extLst>
              <a:ext uri="{28A0092B-C50C-407E-A947-70E740481C1C}">
                <a14:useLocalDpi xmlns:a14="http://schemas.microsoft.com/office/drawing/2010/main" val="0"/>
              </a:ext>
            </a:extLst>
          </a:blip>
          <a:srcRect/>
          <a:stretch>
            <a:fillRect/>
          </a:stretch>
        </p:blipFill>
        <p:spPr bwMode="auto">
          <a:xfrm>
            <a:off x="1013696" y="1261795"/>
            <a:ext cx="6552728" cy="302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p:pic>
        <p:nvPicPr>
          <p:cNvPr id="2" name="图片 1"/>
          <p:cNvPicPr>
            <a:picLocks noChangeAspect="1"/>
          </p:cNvPicPr>
          <p:nvPr/>
        </p:nvPicPr>
        <p:blipFill>
          <a:blip r:embed="rId4"/>
          <a:stretch>
            <a:fillRect/>
          </a:stretch>
        </p:blipFill>
        <p:spPr>
          <a:xfrm>
            <a:off x="2612186" y="1075690"/>
            <a:ext cx="3847619" cy="36095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p:pic>
        <p:nvPicPr>
          <p:cNvPr id="4" name="图片 3"/>
          <p:cNvPicPr>
            <a:picLocks noChangeAspect="1"/>
          </p:cNvPicPr>
          <p:nvPr/>
        </p:nvPicPr>
        <p:blipFill rotWithShape="1">
          <a:blip r:embed="rId4"/>
          <a:srcRect l="1017" t="18661" r="-1017" b="15060"/>
          <a:stretch>
            <a:fillRect/>
          </a:stretch>
        </p:blipFill>
        <p:spPr>
          <a:xfrm>
            <a:off x="1259632" y="1075690"/>
            <a:ext cx="6542778" cy="3251113"/>
          </a:xfrm>
          <a:prstGeom prst="rect">
            <a:avLst/>
          </a:prstGeom>
        </p:spPr>
      </p:pic>
      <p:sp>
        <p:nvSpPr>
          <p:cNvPr id="5" name="矩形 4"/>
          <p:cNvSpPr/>
          <p:nvPr/>
        </p:nvSpPr>
        <p:spPr>
          <a:xfrm>
            <a:off x="1068690" y="4443958"/>
            <a:ext cx="7632848" cy="584775"/>
          </a:xfrm>
          <a:prstGeom prst="rect">
            <a:avLst/>
          </a:prstGeom>
        </p:spPr>
        <p:txBody>
          <a:bodyPr wrap="square">
            <a:spAutoFit/>
          </a:bodyPr>
          <a:lstStyle/>
          <a:p>
            <a:r>
              <a:rPr lang="zh-CN" altLang="en-US" sz="1600" dirty="0" smtClean="0">
                <a:solidFill>
                  <a:srgbClr val="002060"/>
                </a:solidFill>
              </a:rPr>
              <a:t>实例：许松清</a:t>
            </a:r>
            <a:r>
              <a:rPr lang="zh-CN" altLang="en-US" sz="1600" dirty="0">
                <a:solidFill>
                  <a:srgbClr val="002060"/>
                </a:solidFill>
              </a:rPr>
              <a:t>,吴海彬,林宜,高洪张,陈天炎. 基于Voronoi图法的移动机器人路径规划[J]. 中国工程机械学报,2005,(03):336-340</a:t>
            </a:r>
            <a:r>
              <a:rPr lang="zh-CN" altLang="en-US" sz="1600" dirty="0" smtClean="0">
                <a:solidFill>
                  <a:srgbClr val="002060"/>
                </a:solidFill>
              </a:rPr>
              <a:t>. （参考，但这个论文有明显错误！）</a:t>
            </a:r>
            <a:endParaRPr lang="zh-CN" altLang="en-US" sz="1600" dirty="0">
              <a:solidFill>
                <a:srgbClr val="002060"/>
              </a:solidFill>
            </a:endParaRPr>
          </a:p>
        </p:txBody>
      </p:sp>
      <p:sp>
        <p:nvSpPr>
          <p:cNvPr id="2" name="圆角矩形 1"/>
          <p:cNvSpPr/>
          <p:nvPr/>
        </p:nvSpPr>
        <p:spPr>
          <a:xfrm>
            <a:off x="1763688" y="4260327"/>
            <a:ext cx="3024336" cy="491992"/>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p:pic>
        <p:nvPicPr>
          <p:cNvPr id="5" name="图片 4"/>
          <p:cNvPicPr>
            <a:picLocks noChangeAspect="1"/>
          </p:cNvPicPr>
          <p:nvPr/>
        </p:nvPicPr>
        <p:blipFill rotWithShape="1">
          <a:blip r:embed="rId4"/>
          <a:srcRect t="16313" b="15420"/>
          <a:stretch>
            <a:fillRect/>
          </a:stretch>
        </p:blipFill>
        <p:spPr>
          <a:xfrm>
            <a:off x="1331838" y="1070655"/>
            <a:ext cx="6168811" cy="3157280"/>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4507239" y="4479568"/>
                <a:ext cx="2432589" cy="338554"/>
              </a:xfrm>
              <a:prstGeom prst="rect">
                <a:avLst/>
              </a:prstGeom>
            </p:spPr>
            <p:txBody>
              <a:bodyPr wrap="none">
                <a:spAutoFit/>
              </a:bodyPr>
              <a:lstStyle/>
              <a:p>
                <a14:m>
                  <m:oMath xmlns:m="http://schemas.openxmlformats.org/officeDocument/2006/math">
                    <m:sSub>
                      <m:sSubPr>
                        <m:ctrlPr>
                          <a:rPr lang="zh-CN" altLang="en-US" sz="1600" b="1" i="1" smtClean="0">
                            <a:solidFill>
                              <a:srgbClr val="FF0000"/>
                            </a:solidFill>
                            <a:latin typeface="Cambria Math" panose="02040503050406030204" pitchFamily="18" charset="0"/>
                          </a:rPr>
                        </m:ctrlPr>
                      </m:sSubPr>
                      <m:e>
                        <m:r>
                          <a:rPr lang="zh-CN" altLang="en-US" sz="1600" b="1" i="1">
                            <a:solidFill>
                              <a:srgbClr val="FF0000"/>
                            </a:solidFill>
                            <a:latin typeface="Cambria Math" panose="02040503050406030204" pitchFamily="18" charset="0"/>
                          </a:rPr>
                          <m:t>𝑪</m:t>
                        </m:r>
                      </m:e>
                      <m:sub>
                        <m:r>
                          <a:rPr lang="zh-CN" altLang="en-US" sz="1600" b="1" i="1">
                            <a:solidFill>
                              <a:srgbClr val="FF0000"/>
                            </a:solidFill>
                            <a:latin typeface="Cambria Math" panose="02040503050406030204" pitchFamily="18" charset="0"/>
                          </a:rPr>
                          <m:t>𝒐𝒃𝒔</m:t>
                        </m:r>
                      </m:sub>
                    </m:sSub>
                    <m:r>
                      <a:rPr lang="zh-CN" altLang="en-US" sz="1600" b="1" i="1" smtClean="0">
                        <a:solidFill>
                          <a:srgbClr val="FF0000"/>
                        </a:solidFill>
                        <a:latin typeface="Cambria Math" panose="02040503050406030204" pitchFamily="18" charset="0"/>
                      </a:rPr>
                      <m:t>膨胀</m:t>
                    </m:r>
                  </m:oMath>
                </a14:m>
                <a:r>
                  <a:rPr lang="zh-CN" altLang="en-US" sz="1600" b="1" dirty="0" smtClean="0">
                    <a:solidFill>
                      <a:srgbClr val="FF0000"/>
                    </a:solidFill>
                  </a:rPr>
                  <a:t>方法明显错误！</a:t>
                </a:r>
                <a:endParaRPr lang="zh-CN" altLang="en-US" sz="1600" b="1"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4507239" y="4479568"/>
                <a:ext cx="2432589" cy="338554"/>
              </a:xfrm>
              <a:prstGeom prst="rect">
                <a:avLst/>
              </a:prstGeom>
              <a:blipFill rotWithShape="1">
                <a:blip r:embed="rId5"/>
                <a:stretch>
                  <a:fillRect t="-82" r="23" b="11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mc:AlternateContent xmlns:mc="http://schemas.openxmlformats.org/markup-compatibility/2006" xmlns:a14="http://schemas.microsoft.com/office/drawing/2010/main">
        <mc:Choice Requires="a14">
          <p:sp>
            <p:nvSpPr>
              <p:cNvPr id="6" name="矩形 5"/>
              <p:cNvSpPr/>
              <p:nvPr/>
            </p:nvSpPr>
            <p:spPr>
              <a:xfrm>
                <a:off x="4507239" y="4479568"/>
                <a:ext cx="2432589" cy="338554"/>
              </a:xfrm>
              <a:prstGeom prst="rect">
                <a:avLst/>
              </a:prstGeom>
            </p:spPr>
            <p:txBody>
              <a:bodyPr wrap="none">
                <a:spAutoFit/>
              </a:bodyPr>
              <a:lstStyle/>
              <a:p>
                <a14:m>
                  <m:oMath xmlns:m="http://schemas.openxmlformats.org/officeDocument/2006/math">
                    <m:sSub>
                      <m:sSubPr>
                        <m:ctrlPr>
                          <a:rPr lang="zh-CN" altLang="en-US" sz="1600" b="1" i="1" smtClean="0">
                            <a:solidFill>
                              <a:srgbClr val="FF0000"/>
                            </a:solidFill>
                            <a:latin typeface="Cambria Math" panose="02040503050406030204" pitchFamily="18" charset="0"/>
                          </a:rPr>
                        </m:ctrlPr>
                      </m:sSubPr>
                      <m:e>
                        <m:r>
                          <a:rPr lang="zh-CN" altLang="en-US" sz="1600" b="1" i="1">
                            <a:solidFill>
                              <a:srgbClr val="FF0000"/>
                            </a:solidFill>
                            <a:latin typeface="Cambria Math" panose="02040503050406030204" pitchFamily="18" charset="0"/>
                          </a:rPr>
                          <m:t>𝑪</m:t>
                        </m:r>
                      </m:e>
                      <m:sub>
                        <m:r>
                          <a:rPr lang="zh-CN" altLang="en-US" sz="1600" b="1" i="1">
                            <a:solidFill>
                              <a:srgbClr val="FF0000"/>
                            </a:solidFill>
                            <a:latin typeface="Cambria Math" panose="02040503050406030204" pitchFamily="18" charset="0"/>
                          </a:rPr>
                          <m:t>𝒐𝒃𝒔</m:t>
                        </m:r>
                      </m:sub>
                    </m:sSub>
                    <m:r>
                      <a:rPr lang="zh-CN" altLang="en-US" sz="1600" b="1" i="1" smtClean="0">
                        <a:solidFill>
                          <a:srgbClr val="FF0000"/>
                        </a:solidFill>
                        <a:latin typeface="Cambria Math" panose="02040503050406030204" pitchFamily="18" charset="0"/>
                      </a:rPr>
                      <m:t>膨胀</m:t>
                    </m:r>
                  </m:oMath>
                </a14:m>
                <a:r>
                  <a:rPr lang="zh-CN" altLang="en-US" sz="1600" b="1" dirty="0" smtClean="0">
                    <a:solidFill>
                      <a:srgbClr val="FF0000"/>
                    </a:solidFill>
                  </a:rPr>
                  <a:t>方法明显错误！</a:t>
                </a:r>
                <a:endParaRPr lang="zh-CN" altLang="en-US" sz="1600" b="1"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4507239" y="4479568"/>
                <a:ext cx="2432589" cy="338554"/>
              </a:xfrm>
              <a:prstGeom prst="rect">
                <a:avLst/>
              </a:prstGeom>
              <a:blipFill rotWithShape="1">
                <a:blip r:embed="rId4"/>
                <a:stretch>
                  <a:fillRect t="-82" r="23" b="111"/>
                </a:stretch>
              </a:blipFill>
            </p:spPr>
            <p:txBody>
              <a:bodyPr/>
              <a:lstStyle/>
              <a:p>
                <a:r>
                  <a:rPr lang="zh-CN" altLang="en-US">
                    <a:noFill/>
                  </a:rPr>
                  <a:t> </a:t>
                </a:r>
              </a:p>
            </p:txBody>
          </p:sp>
        </mc:Fallback>
      </mc:AlternateContent>
      <p:pic>
        <p:nvPicPr>
          <p:cNvPr id="2" name="图片 1"/>
          <p:cNvPicPr>
            <a:picLocks noChangeAspect="1"/>
          </p:cNvPicPr>
          <p:nvPr/>
        </p:nvPicPr>
        <p:blipFill rotWithShape="1">
          <a:blip r:embed="rId5"/>
          <a:srcRect t="20601" b="17800"/>
          <a:stretch>
            <a:fillRect/>
          </a:stretch>
        </p:blipFill>
        <p:spPr>
          <a:xfrm>
            <a:off x="1143000" y="1059582"/>
            <a:ext cx="6858000" cy="31683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mc:AlternateContent xmlns:mc="http://schemas.openxmlformats.org/markup-compatibility/2006" xmlns:a14="http://schemas.microsoft.com/office/drawing/2010/main">
        <mc:Choice Requires="a14">
          <p:sp>
            <p:nvSpPr>
              <p:cNvPr id="6" name="矩形 5"/>
              <p:cNvSpPr/>
              <p:nvPr/>
            </p:nvSpPr>
            <p:spPr>
              <a:xfrm>
                <a:off x="4507239" y="4479568"/>
                <a:ext cx="2646878" cy="338554"/>
              </a:xfrm>
              <a:prstGeom prst="rect">
                <a:avLst/>
              </a:prstGeom>
            </p:spPr>
            <p:txBody>
              <a:bodyPr wrap="none">
                <a:spAutoFit/>
              </a:bodyPr>
              <a:lstStyle/>
              <a:p>
                <a14:m>
                  <m:oMath xmlns:m="http://schemas.openxmlformats.org/officeDocument/2006/math">
                    <m:r>
                      <a:rPr lang="en-US" altLang="zh-CN" sz="1600" b="1" i="1">
                        <a:solidFill>
                          <a:srgbClr val="FF0000"/>
                        </a:solidFill>
                        <a:latin typeface="Cambria Math" panose="02040503050406030204" pitchFamily="18" charset="0"/>
                      </a:rPr>
                      <m:t>𝑽𝒐𝒓𝒐𝒏𝒐𝒊</m:t>
                    </m:r>
                    <m:r>
                      <a:rPr lang="zh-CN" altLang="en-US" sz="1600" b="1" i="1">
                        <a:solidFill>
                          <a:srgbClr val="FF0000"/>
                        </a:solidFill>
                        <a:latin typeface="Cambria Math" panose="02040503050406030204" pitchFamily="18" charset="0"/>
                      </a:rPr>
                      <m:t>图</m:t>
                    </m:r>
                  </m:oMath>
                </a14:m>
                <a:r>
                  <a:rPr lang="zh-CN" altLang="en-US" sz="1600" b="1" dirty="0" smtClean="0">
                    <a:solidFill>
                      <a:srgbClr val="FF0000"/>
                    </a:solidFill>
                  </a:rPr>
                  <a:t>生成明显错误！</a:t>
                </a:r>
                <a:endParaRPr lang="zh-CN" altLang="en-US" sz="1600" b="1"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4507239" y="4479568"/>
                <a:ext cx="2646878" cy="338554"/>
              </a:xfrm>
              <a:prstGeom prst="rect">
                <a:avLst/>
              </a:prstGeom>
              <a:blipFill rotWithShape="1">
                <a:blip r:embed="rId4"/>
                <a:stretch>
                  <a:fillRect t="-82" r="8" b="111"/>
                </a:stretch>
              </a:blipFill>
            </p:spPr>
            <p:txBody>
              <a:bodyPr/>
              <a:lstStyle/>
              <a:p>
                <a:r>
                  <a:rPr lang="zh-CN" altLang="en-US">
                    <a:noFill/>
                  </a:rPr>
                  <a:t> </a:t>
                </a:r>
              </a:p>
            </p:txBody>
          </p:sp>
        </mc:Fallback>
      </mc:AlternateContent>
      <p:pic>
        <p:nvPicPr>
          <p:cNvPr id="13314" name="Picture 2" descr="https://pic2.zhimg.com/80/v2-0f968270de99e405d540daf4d83b430d_720w.jpg"/>
          <p:cNvPicPr>
            <a:picLocks noChangeAspect="1" noChangeArrowheads="1"/>
          </p:cNvPicPr>
          <p:nvPr/>
        </p:nvPicPr>
        <p:blipFill rotWithShape="1">
          <a:blip r:embed="rId5">
            <a:extLst>
              <a:ext uri="{28A0092B-C50C-407E-A947-70E740481C1C}">
                <a14:useLocalDpi xmlns:a14="http://schemas.microsoft.com/office/drawing/2010/main" val="0"/>
              </a:ext>
            </a:extLst>
          </a:blip>
          <a:srcRect t="19594" b="16006"/>
          <a:stretch>
            <a:fillRect/>
          </a:stretch>
        </p:blipFill>
        <p:spPr bwMode="auto">
          <a:xfrm>
            <a:off x="861060" y="997674"/>
            <a:ext cx="6858000" cy="3312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p:pic>
        <p:nvPicPr>
          <p:cNvPr id="15362" name="Picture 2" descr="https://pic1.zhimg.com/80/v2-60d1d8466ce710a7cbd9707d6d6dd174_720w.jpg"/>
          <p:cNvPicPr>
            <a:picLocks noChangeAspect="1" noChangeArrowheads="1"/>
          </p:cNvPicPr>
          <p:nvPr/>
        </p:nvPicPr>
        <p:blipFill rotWithShape="1">
          <a:blip r:embed="rId4">
            <a:extLst>
              <a:ext uri="{28A0092B-C50C-407E-A947-70E740481C1C}">
                <a14:useLocalDpi xmlns:a14="http://schemas.microsoft.com/office/drawing/2010/main" val="0"/>
              </a:ext>
            </a:extLst>
          </a:blip>
          <a:srcRect t="18439" b="17026"/>
          <a:stretch>
            <a:fillRect/>
          </a:stretch>
        </p:blipFill>
        <p:spPr bwMode="auto">
          <a:xfrm>
            <a:off x="1121708" y="1246565"/>
            <a:ext cx="6336704" cy="306590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1222553" y="4543305"/>
            <a:ext cx="6135013" cy="338554"/>
          </a:xfrm>
          <a:prstGeom prst="rect">
            <a:avLst/>
          </a:prstGeom>
          <a:noFill/>
        </p:spPr>
        <p:txBody>
          <a:bodyPr wrap="none" rtlCol="0">
            <a:spAutoFit/>
          </a:bodyPr>
          <a:lstStyle/>
          <a:p>
            <a:r>
              <a:rPr lang="zh-CN" altLang="en-US" sz="1600" b="1" dirty="0" smtClean="0">
                <a:solidFill>
                  <a:srgbClr val="FF0000"/>
                </a:solidFill>
              </a:rPr>
              <a:t>其实是应该得到一个路线图，然后再用图搜索算法寻找最优路径！</a:t>
            </a:r>
            <a:endParaRPr lang="zh-CN" altLang="en-US" sz="16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979712" y="1289508"/>
            <a:ext cx="5360474" cy="3442481"/>
          </a:xfrm>
          <a:prstGeom prst="rect">
            <a:avLst/>
          </a:prstGeom>
        </p:spPr>
      </p:pic>
      <p:sp>
        <p:nvSpPr>
          <p:cNvPr id="3" name="矩形 2"/>
          <p:cNvSpPr/>
          <p:nvPr/>
        </p:nvSpPr>
        <p:spPr>
          <a:xfrm>
            <a:off x="2393758" y="4731990"/>
            <a:ext cx="4356484" cy="276999"/>
          </a:xfrm>
          <a:prstGeom prst="rect">
            <a:avLst/>
          </a:prstGeom>
        </p:spPr>
        <p:txBody>
          <a:bodyPr wrap="square">
            <a:spAutoFit/>
          </a:bodyPr>
          <a:lstStyle/>
          <a:p>
            <a:r>
              <a:rPr lang="zh-CN" altLang="en-US" sz="1200" dirty="0"/>
              <a:t>https://www.cs.columbia.edu/~pblaer/projects/path_planner/</a:t>
            </a:r>
          </a:p>
        </p:txBody>
      </p:sp>
      <p:sp>
        <p:nvSpPr>
          <p:cNvPr id="4" name="矩形 3"/>
          <p:cNvSpPr/>
          <p:nvPr/>
        </p:nvSpPr>
        <p:spPr>
          <a:xfrm>
            <a:off x="1259632" y="881944"/>
            <a:ext cx="7272808" cy="369332"/>
          </a:xfrm>
          <a:prstGeom prst="rect">
            <a:avLst/>
          </a:prstGeom>
        </p:spPr>
        <p:txBody>
          <a:bodyPr wrap="square">
            <a:spAutoFit/>
          </a:bodyPr>
          <a:lstStyle/>
          <a:p>
            <a:r>
              <a:rPr lang="en-US" altLang="zh-CN" b="1" dirty="0">
                <a:solidFill>
                  <a:srgbClr val="000000"/>
                </a:solidFill>
                <a:latin typeface="微软雅黑" panose="020B0503020204020204" charset="-122"/>
                <a:ea typeface="微软雅黑" panose="020B0503020204020204" charset="-122"/>
              </a:rPr>
              <a:t>Robot Path Planning Using Generalized </a:t>
            </a:r>
            <a:r>
              <a:rPr lang="en-US" altLang="zh-CN" b="1" dirty="0" err="1">
                <a:solidFill>
                  <a:srgbClr val="000000"/>
                </a:solidFill>
                <a:latin typeface="微软雅黑" panose="020B0503020204020204" charset="-122"/>
                <a:ea typeface="微软雅黑" panose="020B0503020204020204" charset="-122"/>
              </a:rPr>
              <a:t>Voronoi</a:t>
            </a:r>
            <a:r>
              <a:rPr lang="en-US" altLang="zh-CN" b="1" dirty="0">
                <a:solidFill>
                  <a:srgbClr val="000000"/>
                </a:solidFill>
                <a:latin typeface="微软雅黑" panose="020B0503020204020204" charset="-122"/>
                <a:ea typeface="微软雅黑" panose="020B0503020204020204" charset="-122"/>
              </a:rPr>
              <a:t> Diagrams</a:t>
            </a:r>
            <a:endParaRPr lang="en-US" altLang="zh-CN" b="1" i="0" dirty="0">
              <a:solidFill>
                <a:srgbClr val="000000"/>
              </a:solidFill>
              <a:effectLst/>
              <a:latin typeface="微软雅黑" panose="020B0503020204020204" charset="-122"/>
              <a:ea typeface="微软雅黑" panose="020B0503020204020204" charset="-122"/>
            </a:endParaRPr>
          </a:p>
        </p:txBody>
      </p:sp>
      <p:cxnSp>
        <p:nvCxnSpPr>
          <p:cNvPr id="5" name="直接连接符 4"/>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1"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2" name="矩形 11"/>
          <p:cNvSpPr/>
          <p:nvPr/>
        </p:nvSpPr>
        <p:spPr>
          <a:xfrm>
            <a:off x="6876256" y="454099"/>
            <a:ext cx="1273938" cy="338554"/>
          </a:xfrm>
          <a:prstGeom prst="rect">
            <a:avLst/>
          </a:prstGeom>
        </p:spPr>
        <p:txBody>
          <a:bodyPr wrap="none">
            <a:spAutoFit/>
          </a:bodyPr>
          <a:lstStyle/>
          <a:p>
            <a:r>
              <a:rPr lang="en-US" altLang="zh-CN" sz="1600" b="1" dirty="0" err="1">
                <a:solidFill>
                  <a:srgbClr val="002060"/>
                </a:solidFill>
              </a:rPr>
              <a:t>Voronoi</a:t>
            </a:r>
            <a:r>
              <a:rPr lang="zh-CN" altLang="en-US" sz="1600" b="1" dirty="0">
                <a:solidFill>
                  <a:srgbClr val="002060"/>
                </a:solidFill>
              </a:rPr>
              <a:t>图法</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553922" y="454099"/>
            <a:ext cx="1632178" cy="338554"/>
          </a:xfrm>
          <a:prstGeom prst="rect">
            <a:avLst/>
          </a:prstGeom>
        </p:spPr>
        <p:txBody>
          <a:bodyPr wrap="none">
            <a:spAutoFit/>
          </a:bodyPr>
          <a:lstStyle/>
          <a:p>
            <a:r>
              <a:rPr lang="zh-CN" altLang="en-US" sz="1600" b="1" dirty="0">
                <a:solidFill>
                  <a:srgbClr val="002060"/>
                </a:solidFill>
              </a:rPr>
              <a:t>精确单元分解法</a:t>
            </a:r>
          </a:p>
        </p:txBody>
      </p:sp>
      <p:pic>
        <p:nvPicPr>
          <p:cNvPr id="12" name="图片 11"/>
          <p:cNvPicPr/>
          <p:nvPr/>
        </p:nvPicPr>
        <p:blipFill>
          <a:blip r:embed="rId4"/>
          <a:stretch>
            <a:fillRect/>
          </a:stretch>
        </p:blipFill>
        <p:spPr>
          <a:xfrm>
            <a:off x="1619672" y="1249095"/>
            <a:ext cx="5688632" cy="34367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148827" y="471300"/>
            <a:ext cx="2045753" cy="338554"/>
          </a:xfrm>
          <a:prstGeom prst="rect">
            <a:avLst/>
          </a:prstGeom>
        </p:spPr>
        <p:txBody>
          <a:bodyPr wrap="none">
            <a:spAutoFit/>
          </a:bodyPr>
          <a:lstStyle/>
          <a:p>
            <a:r>
              <a:rPr lang="zh-CN" altLang="en-US" sz="1600" b="1" dirty="0">
                <a:solidFill>
                  <a:srgbClr val="002060"/>
                </a:solidFill>
              </a:rPr>
              <a:t>近似单元单元分解法</a:t>
            </a:r>
          </a:p>
        </p:txBody>
      </p:sp>
      <p:pic>
        <p:nvPicPr>
          <p:cNvPr id="11" name="图片 10"/>
          <p:cNvPicPr/>
          <p:nvPr/>
        </p:nvPicPr>
        <p:blipFill>
          <a:blip r:embed="rId4"/>
          <a:stretch>
            <a:fillRect/>
          </a:stretch>
        </p:blipFill>
        <p:spPr>
          <a:xfrm>
            <a:off x="1475656" y="1234500"/>
            <a:ext cx="6192688" cy="32094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6148827" y="471300"/>
            <a:ext cx="2045753" cy="338554"/>
          </a:xfrm>
          <a:prstGeom prst="rect">
            <a:avLst/>
          </a:prstGeom>
        </p:spPr>
        <p:txBody>
          <a:bodyPr wrap="none">
            <a:spAutoFit/>
          </a:bodyPr>
          <a:lstStyle/>
          <a:p>
            <a:r>
              <a:rPr lang="zh-CN" altLang="en-US" sz="1600" b="1" dirty="0">
                <a:solidFill>
                  <a:srgbClr val="002060"/>
                </a:solidFill>
              </a:rPr>
              <a:t>近似单元单元分解法</a:t>
            </a:r>
          </a:p>
        </p:txBody>
      </p:sp>
      <p:pic>
        <p:nvPicPr>
          <p:cNvPr id="12" name="图片 11"/>
          <p:cNvPicPr/>
          <p:nvPr/>
        </p:nvPicPr>
        <p:blipFill>
          <a:blip r:embed="rId4"/>
          <a:stretch>
            <a:fillRect/>
          </a:stretch>
        </p:blipFill>
        <p:spPr>
          <a:xfrm>
            <a:off x="1331640" y="1141209"/>
            <a:ext cx="6048672" cy="34467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组合规划</a:t>
            </a:r>
            <a:r>
              <a:rPr lang="zh-CN" altLang="en-US" sz="2000" b="1" dirty="0" smtClean="0">
                <a:solidFill>
                  <a:srgbClr val="002060"/>
                </a:solidFill>
              </a:rPr>
              <a:t>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935596" y="1851670"/>
            <a:ext cx="7200800" cy="1569660"/>
          </a:xfrm>
          <a:prstGeom prst="rect">
            <a:avLst/>
          </a:prstGeom>
        </p:spPr>
        <p:txBody>
          <a:bodyPr wrap="square">
            <a:spAutoFit/>
          </a:bodyPr>
          <a:lstStyle/>
          <a:p>
            <a:pPr marL="285750" indent="-285750">
              <a:buFont typeface="Wingdings" panose="05000000000000000000" pitchFamily="2" charset="2"/>
              <a:buChar char="Ø"/>
            </a:pPr>
            <a:r>
              <a:rPr lang="zh-CN" altLang="en-US" sz="1600" dirty="0">
                <a:solidFill>
                  <a:srgbClr val="002060"/>
                </a:solidFill>
              </a:rPr>
              <a:t>以上介绍的组合规划方法优点有：可以采用重复相同的简单计算（迭代搜索算法），数值上更稳定，更易于实施，如果路径存在就可以找到完整的路径。但如果C-Space维度增加，组合规划方法的复杂度会呈指数级增加</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endParaRPr lang="zh-CN" altLang="en-US" sz="1600" dirty="0">
              <a:solidFill>
                <a:srgbClr val="002060"/>
              </a:solidFill>
            </a:endParaRPr>
          </a:p>
          <a:p>
            <a:pPr marL="285750" indent="-285750">
              <a:buFont typeface="Wingdings" panose="05000000000000000000" pitchFamily="2" charset="2"/>
              <a:buChar char="Ø"/>
            </a:pPr>
            <a:r>
              <a:rPr lang="zh-CN" altLang="en-US" sz="1600" dirty="0">
                <a:solidFill>
                  <a:srgbClr val="002060"/>
                </a:solidFill>
              </a:rPr>
              <a:t>针对这个问题，可使用基于采样的规划方法，以损失完备性为代价，而提高路径规划算法的执行效率。</a:t>
            </a:r>
          </a:p>
        </p:txBody>
      </p:sp>
      <p:sp>
        <p:nvSpPr>
          <p:cNvPr id="4" name="文本框 3"/>
          <p:cNvSpPr txBox="1"/>
          <p:nvPr/>
        </p:nvSpPr>
        <p:spPr>
          <a:xfrm>
            <a:off x="3953289" y="1271959"/>
            <a:ext cx="595035" cy="338554"/>
          </a:xfrm>
          <a:prstGeom prst="rect">
            <a:avLst/>
          </a:prstGeom>
          <a:noFill/>
        </p:spPr>
        <p:txBody>
          <a:bodyPr wrap="none" rtlCol="0">
            <a:spAutoFit/>
          </a:bodyPr>
          <a:lstStyle/>
          <a:p>
            <a:r>
              <a:rPr lang="zh-CN" altLang="en-US" sz="1600" b="1" dirty="0" smtClean="0">
                <a:solidFill>
                  <a:srgbClr val="002060"/>
                </a:solidFill>
              </a:rPr>
              <a:t>小结</a:t>
            </a:r>
            <a:endParaRPr lang="zh-CN" altLang="en-US" sz="1600" b="1"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2565092" y="1261299"/>
            <a:ext cx="3647152" cy="369332"/>
          </a:xfrm>
          <a:prstGeom prst="rect">
            <a:avLst/>
          </a:prstGeom>
        </p:spPr>
        <p:txBody>
          <a:bodyPr wrap="none">
            <a:spAutoFit/>
          </a:bodyPr>
          <a:lstStyle/>
          <a:p>
            <a:r>
              <a:rPr lang="zh-CN" altLang="en-US"/>
              <a:t>组合规划法中可用到的图搜索</a:t>
            </a:r>
            <a:r>
              <a:rPr lang="zh-CN" altLang="en-US" smtClean="0"/>
              <a:t>算法</a:t>
            </a:r>
            <a:endParaRPr lang="zh-CN" altLang="en-US"/>
          </a:p>
        </p:txBody>
      </p:sp>
      <mc:AlternateContent xmlns:mc="http://schemas.openxmlformats.org/markup-compatibility/2006" xmlns:a14="http://schemas.microsoft.com/office/drawing/2010/main">
        <mc:Choice Requires="a14">
          <p:sp>
            <p:nvSpPr>
              <p:cNvPr id="5" name="矩形 4"/>
              <p:cNvSpPr/>
              <p:nvPr/>
            </p:nvSpPr>
            <p:spPr>
              <a:xfrm>
                <a:off x="1115616" y="1833086"/>
                <a:ext cx="7068968" cy="3046988"/>
              </a:xfrm>
              <a:prstGeom prst="rect">
                <a:avLst/>
              </a:prstGeom>
            </p:spPr>
            <p:txBody>
              <a:bodyPr wrap="square">
                <a:spAutoFit/>
              </a:bodyPr>
              <a:lstStyle/>
              <a:p>
                <a:r>
                  <a:rPr lang="zh-CN" altLang="zh-CN" sz="1600" dirty="0" smtClean="0">
                    <a:solidFill>
                      <a:srgbClr val="002060"/>
                    </a:solidFill>
                    <a:cs typeface="MV Boli" panose="02000500030200090000" pitchFamily="2" charset="0"/>
                  </a:rPr>
                  <a:t>将自由空间表示为图之后，可以通过在图中搜索从起点到目标点的一条最优路径来进行运动规划。这些算法被称为启发式搜索算法，包括</a:t>
                </a:r>
                <a:r>
                  <a:rPr lang="zh-CN" altLang="en-US" sz="1600" dirty="0" smtClean="0">
                    <a:solidFill>
                      <a:srgbClr val="002060"/>
                    </a:solidFill>
                    <a:cs typeface="MV Boli" panose="02000500030200090000" pitchFamily="2" charset="0"/>
                  </a:rPr>
                  <a:t>：</a:t>
                </a:r>
                <a:endParaRPr lang="en-US" altLang="zh-CN" sz="1600" dirty="0" smtClean="0">
                  <a:solidFill>
                    <a:srgbClr val="002060"/>
                  </a:solidFill>
                  <a:cs typeface="MV Boli" panose="02000500030200090000" pitchFamily="2" charset="0"/>
                </a:endParaRPr>
              </a:p>
              <a:p>
                <a:endParaRPr lang="en-US" altLang="zh-CN" sz="1600" dirty="0" smtClean="0">
                  <a:solidFill>
                    <a:srgbClr val="002060"/>
                  </a:solidFill>
                  <a:cs typeface="MV Boli" panose="02000500030200090000" pitchFamily="2" charset="0"/>
                </a:endParaRPr>
              </a:p>
              <a:p>
                <a:pPr marL="285750" indent="-285750">
                  <a:buFont typeface="Wingdings" panose="05000000000000000000" pitchFamily="2" charset="2"/>
                  <a:buChar char="Ø"/>
                </a:pPr>
                <a:r>
                  <a:rPr lang="en-US" altLang="zh-CN" sz="1600" dirty="0" err="1" smtClean="0">
                    <a:solidFill>
                      <a:srgbClr val="002060"/>
                    </a:solidFill>
                    <a:cs typeface="MV Boli" panose="02000500030200090000" pitchFamily="2" charset="0"/>
                  </a:rPr>
                  <a:t>Dijkstra</a:t>
                </a:r>
                <a:r>
                  <a:rPr lang="zh-CN" altLang="zh-CN" sz="1600" dirty="0" smtClean="0">
                    <a:solidFill>
                      <a:srgbClr val="002060"/>
                    </a:solidFill>
                    <a:cs typeface="MV Boli" panose="02000500030200090000" pitchFamily="2" charset="0"/>
                  </a:rPr>
                  <a:t>算法</a:t>
                </a:r>
                <a:r>
                  <a:rPr lang="zh-CN" altLang="en-US" sz="1600" dirty="0" smtClean="0">
                    <a:solidFill>
                      <a:srgbClr val="002060"/>
                    </a:solidFill>
                    <a:cs typeface="MV Boli" panose="02000500030200090000" pitchFamily="2" charset="0"/>
                  </a:rPr>
                  <a:t>；</a:t>
                </a:r>
                <a:endParaRPr lang="en-US" altLang="zh-CN" sz="1600" dirty="0" smtClean="0">
                  <a:solidFill>
                    <a:srgbClr val="002060"/>
                  </a:solidFill>
                  <a:cs typeface="MV Boli" panose="02000500030200090000" pitchFamily="2" charset="0"/>
                </a:endParaRPr>
              </a:p>
              <a:p>
                <a:endParaRPr lang="en-US" altLang="zh-CN" sz="1600" dirty="0" smtClean="0">
                  <a:solidFill>
                    <a:srgbClr val="002060"/>
                  </a:solidFill>
                  <a:cs typeface="MV Boli" panose="02000500030200090000" pitchFamily="2" charset="0"/>
                </a:endParaRPr>
              </a:p>
              <a:p>
                <a:pPr marL="285750" indent="-285750">
                  <a:buFont typeface="Wingdings" panose="05000000000000000000" pitchFamily="2" charset="2"/>
                  <a:buChar char="Ø"/>
                </a:pPr>
                <a:r>
                  <a:rPr lang="zh-CN" altLang="zh-CN" sz="1600" dirty="0" smtClean="0">
                    <a:solidFill>
                      <a:srgbClr val="002060"/>
                    </a:solidFill>
                    <a:cs typeface="MV Boli" panose="02000500030200090000" pitchFamily="2" charset="0"/>
                  </a:rPr>
                  <a:t>广度优先搜索</a:t>
                </a:r>
                <a:r>
                  <a:rPr lang="zh-CN" altLang="en-US" sz="1600" dirty="0" smtClean="0">
                    <a:solidFill>
                      <a:srgbClr val="002060"/>
                    </a:solidFill>
                    <a:cs typeface="MV Boli" panose="02000500030200090000" pitchFamily="2" charset="0"/>
                  </a:rPr>
                  <a:t>；</a:t>
                </a:r>
                <a:endParaRPr lang="en-US" altLang="zh-CN" sz="1600" dirty="0" smtClean="0">
                  <a:solidFill>
                    <a:srgbClr val="002060"/>
                  </a:solidFill>
                  <a:cs typeface="MV Boli" panose="02000500030200090000" pitchFamily="2" charset="0"/>
                </a:endParaRPr>
              </a:p>
              <a:p>
                <a:pPr marL="285750" indent="-285750">
                  <a:buFont typeface="Wingdings" panose="05000000000000000000" pitchFamily="2" charset="2"/>
                  <a:buChar char="Ø"/>
                </a:pPr>
                <a:endParaRPr lang="en-US" altLang="zh-CN" sz="1600" i="1" dirty="0">
                  <a:solidFill>
                    <a:srgbClr val="002060"/>
                  </a:solidFill>
                  <a:effectLst/>
                  <a:latin typeface="Cambria Math" panose="02040503050406030204" pitchFamily="18" charset="0"/>
                  <a:ea typeface="Cambria Math" panose="02040503050406030204" pitchFamily="18" charset="0"/>
                  <a:cs typeface="MV Boli" panose="02000500030200090000" pitchFamily="2" charset="0"/>
                </a:endParaRPr>
              </a:p>
              <a:p>
                <a:pPr marL="285750" indent="-285750">
                  <a:buFont typeface="Wingdings" panose="05000000000000000000" pitchFamily="2" charset="2"/>
                  <a:buChar char="Ø"/>
                </a:pPr>
                <a14:m>
                  <m:oMath xmlns:m="http://schemas.openxmlformats.org/officeDocument/2006/math">
                    <m:sSup>
                      <m:sSup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pPr>
                      <m:e>
                        <m:r>
                          <m:rPr>
                            <m:sty m:val="p"/>
                          </m:rPr>
                          <a:rPr lang="en-US" altLang="zh-CN" sz="1600">
                            <a:solidFill>
                              <a:srgbClr val="002060"/>
                            </a:solidFill>
                            <a:latin typeface="Cambria Math" panose="02040503050406030204" pitchFamily="18" charset="0"/>
                            <a:cs typeface="MV Boli" panose="02000500030200090000" pitchFamily="2" charset="0"/>
                          </a:rPr>
                          <m:t>A</m:t>
                        </m:r>
                      </m:e>
                      <m:sup>
                        <m:r>
                          <a:rPr lang="en-US" altLang="zh-CN" sz="1600" i="1">
                            <a:solidFill>
                              <a:srgbClr val="002060"/>
                            </a:solidFill>
                            <a:latin typeface="Cambria Math" panose="02040503050406030204" pitchFamily="18" charset="0"/>
                            <a:cs typeface="MV Boli" panose="02000500030200090000" pitchFamily="2" charset="0"/>
                          </a:rPr>
                          <m:t>∗</m:t>
                        </m:r>
                      </m:sup>
                    </m:sSup>
                  </m:oMath>
                </a14:m>
                <a:r>
                  <a:rPr lang="zh-CN" altLang="zh-CN" sz="1600" dirty="0">
                    <a:solidFill>
                      <a:srgbClr val="002060"/>
                    </a:solidFill>
                    <a:cs typeface="MV Boli" panose="02000500030200090000" pitchFamily="2" charset="0"/>
                  </a:rPr>
                  <a:t>搜索</a:t>
                </a:r>
                <a:r>
                  <a:rPr lang="zh-CN" altLang="en-US" sz="1600" dirty="0" smtClean="0">
                    <a:solidFill>
                      <a:srgbClr val="002060"/>
                    </a:solidFill>
                    <a:cs typeface="MV Boli" panose="02000500030200090000" pitchFamily="2" charset="0"/>
                  </a:rPr>
                  <a:t>；</a:t>
                </a:r>
                <a:endParaRPr lang="en-US" altLang="zh-CN" sz="1600" dirty="0" smtClean="0">
                  <a:solidFill>
                    <a:srgbClr val="002060"/>
                  </a:solidFill>
                  <a:cs typeface="MV Boli" panose="02000500030200090000" pitchFamily="2" charset="0"/>
                </a:endParaRPr>
              </a:p>
              <a:p>
                <a:endParaRPr lang="en-US" altLang="zh-CN" sz="1600" i="1" dirty="0" smtClean="0">
                  <a:solidFill>
                    <a:srgbClr val="002060"/>
                  </a:solidFill>
                  <a:effectLst/>
                  <a:latin typeface="Cambria Math" panose="02040503050406030204" pitchFamily="18" charset="0"/>
                  <a:ea typeface="Cambria Math" panose="02040503050406030204" pitchFamily="18" charset="0"/>
                  <a:cs typeface="MV Boli" panose="02000500030200090000" pitchFamily="2" charset="0"/>
                </a:endParaRPr>
              </a:p>
              <a:p>
                <a:pPr marL="285750" indent="-285750">
                  <a:buFont typeface="Wingdings" panose="05000000000000000000" pitchFamily="2" charset="2"/>
                  <a:buChar char="Ø"/>
                </a:pPr>
                <a14:m>
                  <m:oMath xmlns:m="http://schemas.openxmlformats.org/officeDocument/2006/math">
                    <m:sSup>
                      <m:sSup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solidFill>
                              <a:srgbClr val="002060"/>
                            </a:solidFill>
                            <a:latin typeface="Cambria Math" panose="02040503050406030204" pitchFamily="18" charset="0"/>
                            <a:cs typeface="MV Boli" panose="02000500030200090000" pitchFamily="2" charset="0"/>
                          </a:rPr>
                          <m:t>𝐷</m:t>
                        </m:r>
                      </m:e>
                      <m:sup>
                        <m:r>
                          <a:rPr lang="en-US" altLang="zh-CN" sz="1600" i="1">
                            <a:solidFill>
                              <a:srgbClr val="002060"/>
                            </a:solidFill>
                            <a:latin typeface="Cambria Math" panose="02040503050406030204" pitchFamily="18" charset="0"/>
                            <a:cs typeface="MV Boli" panose="02000500030200090000" pitchFamily="2" charset="0"/>
                          </a:rPr>
                          <m:t>∗</m:t>
                        </m:r>
                      </m:sup>
                    </m:sSup>
                  </m:oMath>
                </a14:m>
                <a:r>
                  <a:rPr lang="zh-CN" altLang="zh-CN" sz="1600" dirty="0" smtClean="0">
                    <a:solidFill>
                      <a:srgbClr val="002060"/>
                    </a:solidFill>
                    <a:cs typeface="MV Boli" panose="02000500030200090000" pitchFamily="2" charset="0"/>
                  </a:rPr>
                  <a:t>搜索</a:t>
                </a:r>
                <a:r>
                  <a:rPr lang="zh-CN" altLang="en-US" sz="1600" dirty="0" smtClean="0">
                    <a:solidFill>
                      <a:srgbClr val="002060"/>
                    </a:solidFill>
                    <a:cs typeface="MV Boli" panose="02000500030200090000" pitchFamily="2" charset="0"/>
                  </a:rPr>
                  <a:t>；</a:t>
                </a:r>
                <a:endParaRPr lang="en-US" altLang="zh-CN" sz="1600" dirty="0" smtClean="0">
                  <a:solidFill>
                    <a:srgbClr val="002060"/>
                  </a:solidFill>
                  <a:cs typeface="MV Boli" panose="02000500030200090000" pitchFamily="2" charset="0"/>
                </a:endParaRPr>
              </a:p>
              <a:p>
                <a:endParaRPr lang="en-US" altLang="zh-CN" sz="1600" dirty="0" smtClean="0">
                  <a:solidFill>
                    <a:srgbClr val="002060"/>
                  </a:solidFill>
                  <a:cs typeface="MV Boli" panose="02000500030200090000" pitchFamily="2" charset="0"/>
                </a:endParaRPr>
              </a:p>
              <a:p>
                <a:pPr marL="285750" indent="-285750">
                  <a:buFont typeface="Wingdings" panose="05000000000000000000" pitchFamily="2" charset="2"/>
                  <a:buChar char="Ø"/>
                </a:pPr>
                <a:r>
                  <a:rPr lang="en-US" altLang="zh-CN" sz="1600" dirty="0" smtClean="0">
                    <a:solidFill>
                      <a:srgbClr val="002060"/>
                    </a:solidFill>
                    <a:cs typeface="MV Boli" panose="02000500030200090000" pitchFamily="2" charset="0"/>
                  </a:rPr>
                  <a:t>…</a:t>
                </a:r>
                <a:endParaRPr lang="zh-CN" altLang="en-US" sz="1600" dirty="0">
                  <a:solidFill>
                    <a:srgbClr val="00206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1115616" y="1833086"/>
                <a:ext cx="7068968" cy="3046988"/>
              </a:xfrm>
              <a:prstGeom prst="rect">
                <a:avLst/>
              </a:prstGeom>
              <a:blipFill rotWithShape="1">
                <a:blip r:embed="rId4"/>
                <a:stretch>
                  <a:fillRect l="-8" t="-16" r="1" b="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4" name="图片 3"/>
          <p:cNvPicPr>
            <a:picLocks noChangeAspect="1"/>
          </p:cNvPicPr>
          <p:nvPr/>
        </p:nvPicPr>
        <p:blipFill rotWithShape="1">
          <a:blip r:embed="rId4"/>
          <a:srcRect l="56781" t="10566" r="6232"/>
          <a:stretch>
            <a:fillRect/>
          </a:stretch>
        </p:blipFill>
        <p:spPr>
          <a:xfrm>
            <a:off x="2957307" y="1017330"/>
            <a:ext cx="2665505" cy="39625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mc:AlternateContent xmlns:mc="http://schemas.openxmlformats.org/markup-compatibility/2006" xmlns:a14="http://schemas.microsoft.com/office/drawing/2010/main">
        <mc:Choice Requires="a14">
          <p:sp>
            <p:nvSpPr>
              <p:cNvPr id="3" name="矩形 2"/>
              <p:cNvSpPr/>
              <p:nvPr/>
            </p:nvSpPr>
            <p:spPr>
              <a:xfrm>
                <a:off x="395536" y="1086425"/>
                <a:ext cx="8280920" cy="584775"/>
              </a:xfrm>
              <a:prstGeom prst="rect">
                <a:avLst/>
              </a:prstGeom>
            </p:spPr>
            <p:txBody>
              <a:bodyPr wrap="square">
                <a:spAutoFit/>
              </a:bodyPr>
              <a:lstStyle/>
              <a:p>
                <a:r>
                  <a:rPr lang="zh-CN" altLang="zh-CN" sz="1600" dirty="0" smtClean="0">
                    <a:solidFill>
                      <a:srgbClr val="002060"/>
                    </a:solidFill>
                    <a:cs typeface="MV Boli" panose="02000500030200090000" pitchFamily="2" charset="0"/>
                  </a:rPr>
                  <a:t>已知</a:t>
                </a:r>
                <a14:m>
                  <m:oMath xmlns:m="http://schemas.openxmlformats.org/officeDocument/2006/math">
                    <m:r>
                      <a:rPr lang="en-US" altLang="zh-CN" sz="1600" i="1">
                        <a:solidFill>
                          <a:srgbClr val="002060"/>
                        </a:solidFill>
                        <a:latin typeface="Cambria Math" panose="02040503050406030204" pitchFamily="18" charset="0"/>
                        <a:cs typeface="MV Boli" panose="02000500030200090000" pitchFamily="2" charset="0"/>
                      </a:rPr>
                      <m:t>𝐺</m:t>
                    </m:r>
                    <m:r>
                      <a:rPr lang="en-US" altLang="zh-CN" sz="1600">
                        <a:solidFill>
                          <a:srgbClr val="002060"/>
                        </a:solidFill>
                        <a:latin typeface="Cambria Math" panose="02040503050406030204" pitchFamily="18" charset="0"/>
                        <a:cs typeface="MV Boli" panose="02000500030200090000" pitchFamily="2" charset="0"/>
                      </a:rPr>
                      <m:t>=</m:t>
                    </m:r>
                    <m:d>
                      <m:d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600" i="1">
                            <a:solidFill>
                              <a:srgbClr val="002060"/>
                            </a:solidFill>
                            <a:latin typeface="Cambria Math" panose="02040503050406030204" pitchFamily="18" charset="0"/>
                            <a:cs typeface="MV Boli" panose="02000500030200090000" pitchFamily="2" charset="0"/>
                          </a:rPr>
                          <m:t>𝑉</m:t>
                        </m:r>
                        <m:r>
                          <a:rPr lang="en-US" altLang="zh-CN" sz="1600">
                            <a:solidFill>
                              <a:srgbClr val="002060"/>
                            </a:solidFill>
                            <a:latin typeface="Cambria Math" panose="02040503050406030204" pitchFamily="18" charset="0"/>
                            <a:cs typeface="MV Boli" panose="02000500030200090000" pitchFamily="2" charset="0"/>
                          </a:rPr>
                          <m:t>,</m:t>
                        </m:r>
                        <m:r>
                          <a:rPr lang="en-US" altLang="zh-CN" sz="1600" i="1">
                            <a:solidFill>
                              <a:srgbClr val="002060"/>
                            </a:solidFill>
                            <a:latin typeface="Cambria Math" panose="02040503050406030204" pitchFamily="18" charset="0"/>
                            <a:cs typeface="MV Boli" panose="02000500030200090000" pitchFamily="2" charset="0"/>
                          </a:rPr>
                          <m:t>𝐸</m:t>
                        </m:r>
                      </m:e>
                    </m:d>
                  </m:oMath>
                </a14:m>
                <a:r>
                  <a:rPr lang="zh-CN" altLang="zh-CN" sz="1600" dirty="0">
                    <a:solidFill>
                      <a:srgbClr val="002060"/>
                    </a:solidFill>
                    <a:cs typeface="MV Boli" panose="02000500030200090000" pitchFamily="2" charset="0"/>
                  </a:rPr>
                  <a:t>为加权有向图，</a:t>
                </a:r>
                <a14:m>
                  <m:oMath xmlns:m="http://schemas.openxmlformats.org/officeDocument/2006/math">
                    <m:r>
                      <a:rPr lang="en-US" altLang="zh-CN" sz="1600" i="1">
                        <a:solidFill>
                          <a:srgbClr val="002060"/>
                        </a:solidFill>
                        <a:latin typeface="Cambria Math" panose="02040503050406030204" pitchFamily="18" charset="0"/>
                        <a:cs typeface="MV Boli" panose="02000500030200090000" pitchFamily="2" charset="0"/>
                      </a:rPr>
                      <m:t>𝑆</m:t>
                    </m:r>
                  </m:oMath>
                </a14:m>
                <a:r>
                  <a:rPr lang="zh-CN" altLang="zh-CN" sz="1600" dirty="0">
                    <a:solidFill>
                      <a:srgbClr val="002060"/>
                    </a:solidFill>
                    <a:cs typeface="MV Boli" panose="02000500030200090000" pitchFamily="2" charset="0"/>
                  </a:rPr>
                  <a:t>表示最短路径的顶点集合，</a:t>
                </a:r>
                <a14:m>
                  <m:oMath xmlns:m="http://schemas.openxmlformats.org/officeDocument/2006/math">
                    <m:r>
                      <a:rPr lang="en-US" altLang="zh-CN" sz="1600" i="1">
                        <a:solidFill>
                          <a:srgbClr val="002060"/>
                        </a:solidFill>
                        <a:latin typeface="Cambria Math" panose="02040503050406030204" pitchFamily="18" charset="0"/>
                        <a:cs typeface="MV Boli" panose="02000500030200090000" pitchFamily="2" charset="0"/>
                      </a:rPr>
                      <m:t>𝑄</m:t>
                    </m:r>
                  </m:oMath>
                </a14:m>
                <a:r>
                  <a:rPr lang="zh-CN" altLang="zh-CN" sz="1600" dirty="0">
                    <a:solidFill>
                      <a:srgbClr val="002060"/>
                    </a:solidFill>
                    <a:cs typeface="MV Boli" panose="02000500030200090000" pitchFamily="2" charset="0"/>
                  </a:rPr>
                  <a:t>表示其余未确定最短路径的顶点集合。</a:t>
                </a:r>
                <a:endParaRPr lang="zh-CN" altLang="en-US" sz="16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395536" y="1086425"/>
                <a:ext cx="8280920" cy="584775"/>
              </a:xfrm>
              <a:prstGeom prst="rect">
                <a:avLst/>
              </a:prstGeom>
              <a:blipFill rotWithShape="1">
                <a:blip r:embed="rId4"/>
                <a:stretch>
                  <a:fillRect l="-7" t="-98" r="5" b="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72860" y="1779662"/>
                <a:ext cx="7776864" cy="3108543"/>
              </a:xfrm>
              <a:prstGeom prst="rect">
                <a:avLst/>
              </a:prstGeom>
            </p:spPr>
            <p:txBody>
              <a:bodyPr wrap="square">
                <a:spAutoFit/>
              </a:bodyPr>
              <a:lstStyle/>
              <a:p>
                <a:pPr indent="266700"/>
                <a:r>
                  <a:rPr lang="zh-CN" altLang="zh-CN" sz="1400" dirty="0" smtClean="0">
                    <a:solidFill>
                      <a:srgbClr val="002060"/>
                    </a:solidFill>
                    <a:latin typeface="宋体" panose="02010600030101010101" pitchFamily="2" charset="-122"/>
                    <a:cs typeface="MV Boli" panose="02000500030200090000" pitchFamily="2" charset="0"/>
                  </a:rPr>
                  <a:t>算法步骤：</a:t>
                </a:r>
                <a:endParaRPr lang="en-US" altLang="zh-CN" sz="1400" dirty="0" smtClean="0">
                  <a:solidFill>
                    <a:srgbClr val="002060"/>
                  </a:solidFill>
                  <a:latin typeface="宋体" panose="02010600030101010101" pitchFamily="2" charset="-122"/>
                  <a:cs typeface="MV Boli" panose="02000500030200090000" pitchFamily="2" charset="0"/>
                </a:endParaRPr>
              </a:p>
              <a:p>
                <a:pPr indent="266700"/>
                <a:endParaRPr lang="zh-CN" altLang="zh-CN" sz="1400" dirty="0">
                  <a:solidFill>
                    <a:srgbClr val="002060"/>
                  </a:solidFill>
                  <a:latin typeface="宋体" panose="02010600030101010101" pitchFamily="2" charset="-122"/>
                  <a:cs typeface="宋体" panose="02010600030101010101" pitchFamily="2" charset="-122"/>
                </a:endParaRPr>
              </a:p>
              <a:p>
                <a:pPr marL="342900" lvl="0" indent="-342900">
                  <a:buFont typeface="Wingdings" panose="05000000000000000000" pitchFamily="2" charset="2"/>
                  <a:buChar char=""/>
                </a:pPr>
                <a:r>
                  <a:rPr lang="en-US" altLang="zh-CN" sz="1400" dirty="0" smtClean="0">
                    <a:solidFill>
                      <a:srgbClr val="002060"/>
                    </a:solidFill>
                    <a:latin typeface="宋体" panose="02010600030101010101" pitchFamily="2" charset="-122"/>
                    <a:cs typeface="MV Boli" panose="02000500030200090000" pitchFamily="2" charset="0"/>
                  </a:rPr>
                  <a:t>1.</a:t>
                </a:r>
                <a:r>
                  <a:rPr lang="zh-CN" altLang="zh-CN" sz="1400" dirty="0" smtClean="0">
                    <a:solidFill>
                      <a:srgbClr val="002060"/>
                    </a:solidFill>
                    <a:latin typeface="宋体" panose="02010600030101010101" pitchFamily="2" charset="-122"/>
                    <a:cs typeface="MV Boli" panose="02000500030200090000" pitchFamily="2" charset="0"/>
                  </a:rPr>
                  <a:t>初始</a:t>
                </a:r>
                <a:r>
                  <a:rPr lang="zh-CN" altLang="zh-CN" sz="1400" dirty="0">
                    <a:solidFill>
                      <a:srgbClr val="002060"/>
                    </a:solidFill>
                    <a:latin typeface="宋体" panose="02010600030101010101" pitchFamily="2" charset="-122"/>
                    <a:cs typeface="MV Boli" panose="02000500030200090000" pitchFamily="2" charset="0"/>
                  </a:rPr>
                  <a:t>时，</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𝑆</m:t>
                    </m:r>
                  </m:oMath>
                </a14:m>
                <a:r>
                  <a:rPr lang="zh-CN" altLang="zh-CN" sz="1400" dirty="0">
                    <a:solidFill>
                      <a:srgbClr val="002060"/>
                    </a:solidFill>
                    <a:latin typeface="宋体" panose="02010600030101010101" pitchFamily="2" charset="-122"/>
                    <a:cs typeface="MV Boli" panose="02000500030200090000" pitchFamily="2" charset="0"/>
                  </a:rPr>
                  <a:t>只包含源点，即</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𝑆</m:t>
                    </m:r>
                    <m:r>
                      <a:rPr lang="zh-CN" altLang="zh-CN" sz="1400" i="1">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m:t>
                    </m:r>
                    <m:r>
                      <m:rPr>
                        <m:sty m:val="p"/>
                      </m:rPr>
                      <a:rPr lang="en-US" altLang="zh-CN" sz="1400">
                        <a:solidFill>
                          <a:srgbClr val="002060"/>
                        </a:solidFill>
                        <a:latin typeface="Cambria Math" panose="02040503050406030204" pitchFamily="18" charset="0"/>
                        <a:cs typeface="MV Boli" panose="02000500030200090000" pitchFamily="2" charset="0"/>
                      </a:rPr>
                      <m:t>v</m:t>
                    </m:r>
                    <m:r>
                      <a:rPr lang="en-US" altLang="zh-CN" sz="1400" i="1">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latin typeface="宋体" panose="02010600030101010101" pitchFamily="2" charset="-122"/>
                    <a:cs typeface="MV Boli" panose="02000500030200090000" pitchFamily="2" charset="0"/>
                  </a:rPr>
                  <a:t>，</a:t>
                </a:r>
                <a:r>
                  <a:rPr lang="en-US" altLang="zh-CN" sz="1400" dirty="0">
                    <a:solidFill>
                      <a:srgbClr val="002060"/>
                    </a:solidFill>
                    <a:latin typeface="宋体" panose="02010600030101010101" pitchFamily="2" charset="-122"/>
                    <a:cs typeface="MV Boli" panose="02000500030200090000" pitchFamily="2" charset="0"/>
                  </a:rPr>
                  <a:t>v</a:t>
                </a:r>
                <a:r>
                  <a:rPr lang="zh-CN" altLang="zh-CN" sz="1400" dirty="0">
                    <a:solidFill>
                      <a:srgbClr val="002060"/>
                    </a:solidFill>
                    <a:latin typeface="宋体" panose="02010600030101010101" pitchFamily="2" charset="-122"/>
                    <a:cs typeface="MV Boli" panose="02000500030200090000" pitchFamily="2" charset="0"/>
                  </a:rPr>
                  <a:t>的距离为</a:t>
                </a:r>
                <a:r>
                  <a:rPr lang="en-US" altLang="zh-CN" sz="1400" dirty="0">
                    <a:solidFill>
                      <a:srgbClr val="002060"/>
                    </a:solidFill>
                    <a:latin typeface="宋体" panose="02010600030101010101" pitchFamily="2" charset="-122"/>
                    <a:cs typeface="MV Boli" panose="02000500030200090000" pitchFamily="2" charset="0"/>
                  </a:rPr>
                  <a:t>0</a:t>
                </a:r>
                <a:r>
                  <a:rPr lang="zh-CN" altLang="zh-CN" sz="1400" dirty="0">
                    <a:solidFill>
                      <a:srgbClr val="002060"/>
                    </a:solidFill>
                    <a:latin typeface="宋体" panose="02010600030101010101" pitchFamily="2" charset="-122"/>
                    <a:cs typeface="MV Boli" panose="02000500030200090000" pitchFamily="2" charset="0"/>
                  </a:rPr>
                  <a:t>。</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𝑄</m:t>
                    </m:r>
                  </m:oMath>
                </a14:m>
                <a:r>
                  <a:rPr lang="zh-CN" altLang="zh-CN" sz="1400" dirty="0">
                    <a:solidFill>
                      <a:srgbClr val="002060"/>
                    </a:solidFill>
                    <a:latin typeface="宋体" panose="02010600030101010101" pitchFamily="2" charset="-122"/>
                    <a:cs typeface="MV Boli" panose="02000500030200090000" pitchFamily="2" charset="0"/>
                  </a:rPr>
                  <a:t>包含除</a:t>
                </a:r>
                <a:r>
                  <a:rPr lang="en-US" altLang="zh-CN" sz="1400" dirty="0">
                    <a:solidFill>
                      <a:srgbClr val="002060"/>
                    </a:solidFill>
                    <a:latin typeface="宋体" panose="02010600030101010101" pitchFamily="2" charset="-122"/>
                    <a:cs typeface="MV Boli" panose="02000500030200090000" pitchFamily="2" charset="0"/>
                  </a:rPr>
                  <a:t>v</a:t>
                </a:r>
                <a:r>
                  <a:rPr lang="zh-CN" altLang="zh-CN" sz="1400" dirty="0">
                    <a:solidFill>
                      <a:srgbClr val="002060"/>
                    </a:solidFill>
                    <a:latin typeface="宋体" panose="02010600030101010101" pitchFamily="2" charset="-122"/>
                    <a:cs typeface="MV Boli" panose="02000500030200090000" pitchFamily="2" charset="0"/>
                  </a:rPr>
                  <a:t>外的其他顶点，即：</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𝑄</m:t>
                    </m:r>
                    <m:r>
                      <a:rPr lang="en-US" altLang="zh-CN" sz="1400" i="1">
                        <a:solidFill>
                          <a:srgbClr val="002060"/>
                        </a:solidFill>
                        <a:latin typeface="Cambria Math" panose="02040503050406030204" pitchFamily="18" charset="0"/>
                        <a:cs typeface="MV Boli" panose="02000500030200090000" pitchFamily="2" charset="0"/>
                      </a:rPr>
                      <m:t>=</m:t>
                    </m:r>
                    <m:r>
                      <a:rPr lang="en-US" altLang="zh-CN" sz="1400">
                        <a:solidFill>
                          <a:srgbClr val="002060"/>
                        </a:solidFill>
                        <a:latin typeface="Cambria Math" panose="02040503050406030204" pitchFamily="18" charset="0"/>
                        <a:cs typeface="MV Boli" panose="02000500030200090000" pitchFamily="2" charset="0"/>
                      </a:rPr>
                      <m:t>{</m:t>
                    </m:r>
                    <m:r>
                      <a:rPr lang="zh-CN" altLang="zh-CN" sz="1400">
                        <a:solidFill>
                          <a:srgbClr val="002060"/>
                        </a:solidFill>
                        <a:latin typeface="Cambria Math" panose="02040503050406030204" pitchFamily="18" charset="0"/>
                        <a:cs typeface="MV Boli" panose="02000500030200090000" pitchFamily="2" charset="0"/>
                      </a:rPr>
                      <m:t>其余顶点</m:t>
                    </m:r>
                    <m:r>
                      <m:rPr>
                        <m:sty m:val="p"/>
                      </m:rPr>
                      <a:rPr lang="en-US" altLang="zh-CN" sz="1400">
                        <a:solidFill>
                          <a:srgbClr val="002060"/>
                        </a:solidFill>
                        <a:latin typeface="Cambria Math" panose="02040503050406030204" pitchFamily="18" charset="0"/>
                        <a:cs typeface="MV Boli" panose="02000500030200090000" pitchFamily="2" charset="0"/>
                      </a:rPr>
                      <m:t>u</m:t>
                    </m:r>
                    <m:r>
                      <a:rPr lang="en-US" altLang="zh-CN" sz="1400">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latin typeface="宋体" panose="02010600030101010101" pitchFamily="2" charset="-122"/>
                    <a:cs typeface="MV Boli" panose="02000500030200090000" pitchFamily="2" charset="0"/>
                  </a:rPr>
                  <a:t>，若</a:t>
                </a:r>
                <a:r>
                  <a:rPr lang="en-US" altLang="zh-CN" sz="1400" dirty="0">
                    <a:solidFill>
                      <a:srgbClr val="002060"/>
                    </a:solidFill>
                    <a:latin typeface="宋体" panose="02010600030101010101" pitchFamily="2" charset="-122"/>
                    <a:cs typeface="MV Boli" panose="02000500030200090000" pitchFamily="2" charset="0"/>
                  </a:rPr>
                  <a:t>v</a:t>
                </a:r>
                <a:r>
                  <a:rPr lang="zh-CN" altLang="zh-CN" sz="1400" dirty="0">
                    <a:solidFill>
                      <a:srgbClr val="002060"/>
                    </a:solidFill>
                    <a:latin typeface="宋体" panose="02010600030101010101" pitchFamily="2" charset="-122"/>
                    <a:cs typeface="MV Boli" panose="02000500030200090000" pitchFamily="2" charset="0"/>
                  </a:rPr>
                  <a:t>与</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𝑄</m:t>
                    </m:r>
                  </m:oMath>
                </a14:m>
                <a:r>
                  <a:rPr lang="zh-CN" altLang="zh-CN" sz="1400" dirty="0">
                    <a:solidFill>
                      <a:srgbClr val="002060"/>
                    </a:solidFill>
                    <a:latin typeface="宋体" panose="02010600030101010101" pitchFamily="2" charset="-122"/>
                    <a:cs typeface="MV Boli" panose="02000500030200090000" pitchFamily="2" charset="0"/>
                  </a:rPr>
                  <a:t>中顶点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u</m:t>
                    </m:r>
                  </m:oMath>
                </a14:m>
                <a:r>
                  <a:rPr lang="zh-CN" altLang="zh-CN" sz="1400" dirty="0">
                    <a:solidFill>
                      <a:srgbClr val="002060"/>
                    </a:solidFill>
                    <a:latin typeface="宋体" panose="02010600030101010101" pitchFamily="2" charset="-122"/>
                    <a:cs typeface="MV Boli" panose="02000500030200090000" pitchFamily="2" charset="0"/>
                  </a:rPr>
                  <a:t>有边，则</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&lt;</m:t>
                    </m:r>
                    <m:r>
                      <m:rPr>
                        <m:sty m:val="p"/>
                      </m:rPr>
                      <a:rPr lang="en-US" altLang="zh-CN" sz="1400">
                        <a:solidFill>
                          <a:srgbClr val="002060"/>
                        </a:solidFill>
                        <a:latin typeface="Cambria Math" panose="02040503050406030204" pitchFamily="18" charset="0"/>
                        <a:cs typeface="MV Boli" panose="02000500030200090000" pitchFamily="2" charset="0"/>
                      </a:rPr>
                      <m:t>u</m:t>
                    </m:r>
                    <m:r>
                      <a:rPr lang="en-US" altLang="zh-CN" sz="1400">
                        <a:solidFill>
                          <a:srgbClr val="002060"/>
                        </a:solidFill>
                        <a:latin typeface="Cambria Math" panose="02040503050406030204" pitchFamily="18" charset="0"/>
                        <a:cs typeface="MV Boli" panose="02000500030200090000" pitchFamily="2" charset="0"/>
                      </a:rPr>
                      <m:t>,</m:t>
                    </m:r>
                    <m:r>
                      <m:rPr>
                        <m:sty m:val="p"/>
                      </m:rPr>
                      <a:rPr lang="en-US" altLang="zh-CN" sz="1400">
                        <a:solidFill>
                          <a:srgbClr val="002060"/>
                        </a:solidFill>
                        <a:latin typeface="Cambria Math" panose="02040503050406030204" pitchFamily="18" charset="0"/>
                        <a:cs typeface="MV Boli" panose="02000500030200090000" pitchFamily="2" charset="0"/>
                      </a:rPr>
                      <m:t>v</m:t>
                    </m:r>
                    <m:r>
                      <a:rPr lang="en-US" altLang="zh-CN" sz="1400">
                        <a:solidFill>
                          <a:srgbClr val="002060"/>
                        </a:solidFill>
                        <a:latin typeface="Cambria Math" panose="02040503050406030204" pitchFamily="18" charset="0"/>
                        <a:cs typeface="MV Boli" panose="02000500030200090000" pitchFamily="2" charset="0"/>
                      </a:rPr>
                      <m:t>&gt;</m:t>
                    </m:r>
                  </m:oMath>
                </a14:m>
                <a:r>
                  <a:rPr lang="zh-CN" altLang="zh-CN" sz="1400" dirty="0">
                    <a:solidFill>
                      <a:srgbClr val="002060"/>
                    </a:solidFill>
                    <a:latin typeface="宋体" panose="02010600030101010101" pitchFamily="2" charset="-122"/>
                    <a:cs typeface="MV Boli" panose="02000500030200090000" pitchFamily="2" charset="0"/>
                  </a:rPr>
                  <a:t>正常有权值，若</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u</m:t>
                    </m:r>
                  </m:oMath>
                </a14:m>
                <a:r>
                  <a:rPr lang="zh-CN" altLang="zh-CN" sz="1400" dirty="0">
                    <a:solidFill>
                      <a:srgbClr val="002060"/>
                    </a:solidFill>
                    <a:latin typeface="宋体" panose="02010600030101010101" pitchFamily="2" charset="-122"/>
                    <a:cs typeface="MV Boli" panose="02000500030200090000" pitchFamily="2" charset="0"/>
                  </a:rPr>
                  <a:t>不是</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v</m:t>
                    </m:r>
                  </m:oMath>
                </a14:m>
                <a:r>
                  <a:rPr lang="zh-CN" altLang="zh-CN" sz="1400" dirty="0">
                    <a:solidFill>
                      <a:srgbClr val="002060"/>
                    </a:solidFill>
                    <a:latin typeface="宋体" panose="02010600030101010101" pitchFamily="2" charset="-122"/>
                    <a:cs typeface="MV Boli" panose="02000500030200090000" pitchFamily="2" charset="0"/>
                  </a:rPr>
                  <a:t>的有边连接点，则</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&lt;</m:t>
                    </m:r>
                    <m:r>
                      <m:rPr>
                        <m:sty m:val="p"/>
                      </m:rPr>
                      <a:rPr lang="en-US" altLang="zh-CN" sz="1400">
                        <a:solidFill>
                          <a:srgbClr val="002060"/>
                        </a:solidFill>
                        <a:latin typeface="Cambria Math" panose="02040503050406030204" pitchFamily="18" charset="0"/>
                        <a:cs typeface="MV Boli" panose="02000500030200090000" pitchFamily="2" charset="0"/>
                      </a:rPr>
                      <m:t>u</m:t>
                    </m:r>
                    <m:r>
                      <a:rPr lang="en-US" altLang="zh-CN" sz="1400">
                        <a:solidFill>
                          <a:srgbClr val="002060"/>
                        </a:solidFill>
                        <a:latin typeface="Cambria Math" panose="02040503050406030204" pitchFamily="18" charset="0"/>
                        <a:cs typeface="MV Boli" panose="02000500030200090000" pitchFamily="2" charset="0"/>
                      </a:rPr>
                      <m:t>,</m:t>
                    </m:r>
                    <m:r>
                      <m:rPr>
                        <m:sty m:val="p"/>
                      </m:rPr>
                      <a:rPr lang="en-US" altLang="zh-CN" sz="1400">
                        <a:solidFill>
                          <a:srgbClr val="002060"/>
                        </a:solidFill>
                        <a:latin typeface="Cambria Math" panose="02040503050406030204" pitchFamily="18" charset="0"/>
                        <a:cs typeface="MV Boli" panose="02000500030200090000" pitchFamily="2" charset="0"/>
                      </a:rPr>
                      <m:t>v</m:t>
                    </m:r>
                    <m:r>
                      <a:rPr lang="en-US" altLang="zh-CN" sz="1400">
                        <a:solidFill>
                          <a:srgbClr val="002060"/>
                        </a:solidFill>
                        <a:latin typeface="Cambria Math" panose="02040503050406030204" pitchFamily="18" charset="0"/>
                        <a:cs typeface="MV Boli" panose="02000500030200090000" pitchFamily="2" charset="0"/>
                      </a:rPr>
                      <m:t>&gt;</m:t>
                    </m:r>
                  </m:oMath>
                </a14:m>
                <a:r>
                  <a:rPr lang="zh-CN" altLang="zh-CN" sz="1400" dirty="0">
                    <a:solidFill>
                      <a:srgbClr val="002060"/>
                    </a:solidFill>
                    <a:latin typeface="宋体" panose="02010600030101010101" pitchFamily="2" charset="-122"/>
                    <a:cs typeface="MV Boli" panose="02000500030200090000" pitchFamily="2" charset="0"/>
                  </a:rPr>
                  <a:t>权值为</a:t>
                </a:r>
                <a14:m>
                  <m:oMath xmlns:m="http://schemas.openxmlformats.org/officeDocument/2006/math">
                    <m:r>
                      <a:rPr lang="zh-CN" altLang="zh-CN" sz="1400">
                        <a:solidFill>
                          <a:srgbClr val="002060"/>
                        </a:solidFill>
                        <a:latin typeface="Cambria Math" panose="02040503050406030204" pitchFamily="18" charset="0"/>
                        <a:cs typeface="MV Boli" panose="02000500030200090000" pitchFamily="2" charset="0"/>
                      </a:rPr>
                      <m:t>∞</m:t>
                    </m:r>
                  </m:oMath>
                </a14:m>
                <a:r>
                  <a:rPr lang="zh-CN" altLang="zh-CN" sz="1400" dirty="0" smtClean="0">
                    <a:solidFill>
                      <a:srgbClr val="002060"/>
                    </a:solidFill>
                    <a:latin typeface="宋体" panose="02010600030101010101" pitchFamily="2" charset="-122"/>
                    <a:cs typeface="MV Boli" panose="02000500030200090000" pitchFamily="2" charset="0"/>
                  </a:rPr>
                  <a:t>；</a:t>
                </a:r>
                <a:endParaRPr lang="en-US" altLang="zh-CN" sz="1400" dirty="0" smtClean="0">
                  <a:solidFill>
                    <a:srgbClr val="002060"/>
                  </a:solidFill>
                  <a:latin typeface="宋体" panose="02010600030101010101" pitchFamily="2" charset="-122"/>
                  <a:cs typeface="MV Boli" panose="02000500030200090000" pitchFamily="2" charset="0"/>
                </a:endParaRPr>
              </a:p>
              <a:p>
                <a:pPr marL="342900" lvl="0" indent="-342900">
                  <a:buFont typeface="Wingdings" panose="05000000000000000000" pitchFamily="2" charset="2"/>
                  <a:buChar char=""/>
                </a:pPr>
                <a:endParaRPr lang="zh-CN" altLang="zh-CN" sz="1400" dirty="0">
                  <a:solidFill>
                    <a:srgbClr val="002060"/>
                  </a:solidFill>
                  <a:latin typeface="宋体" panose="02010600030101010101" pitchFamily="2" charset="-122"/>
                  <a:cs typeface="宋体" panose="02010600030101010101" pitchFamily="2" charset="-122"/>
                </a:endParaRPr>
              </a:p>
              <a:p>
                <a:pPr marL="342900" lvl="0" indent="-342900">
                  <a:buFont typeface="Wingdings" panose="05000000000000000000" pitchFamily="2" charset="2"/>
                  <a:buChar char=""/>
                </a:pPr>
                <a:r>
                  <a:rPr lang="en-US" altLang="zh-CN" sz="1400" dirty="0" smtClean="0">
                    <a:solidFill>
                      <a:srgbClr val="002060"/>
                    </a:solidFill>
                    <a:latin typeface="宋体" panose="02010600030101010101" pitchFamily="2" charset="-122"/>
                    <a:cs typeface="MV Boli" panose="02000500030200090000" pitchFamily="2" charset="0"/>
                  </a:rPr>
                  <a:t>2. </a:t>
                </a:r>
                <a:r>
                  <a:rPr lang="zh-CN" altLang="zh-CN" sz="1400" dirty="0" smtClean="0">
                    <a:solidFill>
                      <a:srgbClr val="002060"/>
                    </a:solidFill>
                    <a:latin typeface="宋体" panose="02010600030101010101" pitchFamily="2" charset="-122"/>
                    <a:cs typeface="MV Boli" panose="02000500030200090000" pitchFamily="2" charset="0"/>
                  </a:rPr>
                  <a:t>从</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𝑄</m:t>
                    </m:r>
                  </m:oMath>
                </a14:m>
                <a:r>
                  <a:rPr lang="zh-CN" altLang="zh-CN" sz="1400" dirty="0">
                    <a:solidFill>
                      <a:srgbClr val="002060"/>
                    </a:solidFill>
                    <a:latin typeface="宋体" panose="02010600030101010101" pitchFamily="2" charset="-122"/>
                    <a:cs typeface="MV Boli" panose="02000500030200090000" pitchFamily="2" charset="0"/>
                  </a:rPr>
                  <a:t>中选取一个与</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v</m:t>
                    </m:r>
                  </m:oMath>
                </a14:m>
                <a:r>
                  <a:rPr lang="zh-CN" altLang="zh-CN" sz="1400" dirty="0">
                    <a:solidFill>
                      <a:srgbClr val="002060"/>
                    </a:solidFill>
                    <a:latin typeface="宋体" panose="02010600030101010101" pitchFamily="2" charset="-122"/>
                    <a:cs typeface="MV Boli" panose="02000500030200090000" pitchFamily="2" charset="0"/>
                  </a:rPr>
                  <a:t>的距离最小的顶点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k</m:t>
                    </m:r>
                  </m:oMath>
                </a14:m>
                <a:r>
                  <a:rPr lang="zh-CN" altLang="zh-CN" sz="1400" dirty="0">
                    <a:solidFill>
                      <a:srgbClr val="002060"/>
                    </a:solidFill>
                    <a:latin typeface="宋体" panose="02010600030101010101" pitchFamily="2" charset="-122"/>
                    <a:cs typeface="MV Boli" panose="02000500030200090000" pitchFamily="2" charset="0"/>
                  </a:rPr>
                  <a:t>，将</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k</m:t>
                    </m:r>
                  </m:oMath>
                </a14:m>
                <a:r>
                  <a:rPr lang="zh-CN" altLang="zh-CN" sz="1400" dirty="0">
                    <a:solidFill>
                      <a:srgbClr val="002060"/>
                    </a:solidFill>
                    <a:latin typeface="宋体" panose="02010600030101010101" pitchFamily="2" charset="-122"/>
                    <a:cs typeface="MV Boli" panose="02000500030200090000" pitchFamily="2" charset="0"/>
                  </a:rPr>
                  <a:t>加入</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𝑆</m:t>
                    </m:r>
                  </m:oMath>
                </a14:m>
                <a:r>
                  <a:rPr lang="zh-CN" altLang="zh-CN" sz="1400" dirty="0">
                    <a:solidFill>
                      <a:srgbClr val="002060"/>
                    </a:solidFill>
                    <a:latin typeface="宋体" panose="02010600030101010101" pitchFamily="2" charset="-122"/>
                    <a:cs typeface="MV Boli" panose="02000500030200090000" pitchFamily="2" charset="0"/>
                  </a:rPr>
                  <a:t>中（该选定的距离就是</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v</m:t>
                    </m:r>
                  </m:oMath>
                </a14:m>
                <a:r>
                  <a:rPr lang="zh-CN" altLang="zh-CN" sz="1400" dirty="0">
                    <a:solidFill>
                      <a:srgbClr val="002060"/>
                    </a:solidFill>
                    <a:latin typeface="宋体" panose="02010600030101010101" pitchFamily="2" charset="-122"/>
                    <a:cs typeface="MV Boli" panose="02000500030200090000" pitchFamily="2" charset="0"/>
                  </a:rPr>
                  <a:t>到</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k</m:t>
                    </m:r>
                  </m:oMath>
                </a14:m>
                <a:r>
                  <a:rPr lang="zh-CN" altLang="zh-CN" sz="1400" dirty="0">
                    <a:solidFill>
                      <a:srgbClr val="002060"/>
                    </a:solidFill>
                    <a:latin typeface="宋体" panose="02010600030101010101" pitchFamily="2" charset="-122"/>
                    <a:cs typeface="MV Boli" panose="02000500030200090000" pitchFamily="2" charset="0"/>
                  </a:rPr>
                  <a:t>的最短路径长度）</a:t>
                </a:r>
                <a:r>
                  <a:rPr lang="zh-CN" altLang="zh-CN" sz="1400" dirty="0" smtClean="0">
                    <a:solidFill>
                      <a:srgbClr val="002060"/>
                    </a:solidFill>
                    <a:latin typeface="宋体" panose="02010600030101010101" pitchFamily="2" charset="-122"/>
                    <a:cs typeface="MV Boli" panose="02000500030200090000" pitchFamily="2" charset="0"/>
                  </a:rPr>
                  <a:t>；</a:t>
                </a:r>
                <a:endParaRPr lang="en-US" altLang="zh-CN" sz="1400" dirty="0" smtClean="0">
                  <a:solidFill>
                    <a:srgbClr val="002060"/>
                  </a:solidFill>
                  <a:latin typeface="宋体" panose="02010600030101010101" pitchFamily="2" charset="-122"/>
                  <a:cs typeface="MV Boli" panose="02000500030200090000" pitchFamily="2" charset="0"/>
                </a:endParaRPr>
              </a:p>
              <a:p>
                <a:pPr marL="342900" lvl="0" indent="-342900">
                  <a:buFont typeface="Wingdings" panose="05000000000000000000" pitchFamily="2" charset="2"/>
                  <a:buChar char=""/>
                </a:pPr>
                <a:endParaRPr lang="zh-CN" altLang="zh-CN" sz="1400" dirty="0">
                  <a:solidFill>
                    <a:srgbClr val="002060"/>
                  </a:solidFill>
                  <a:latin typeface="宋体" panose="02010600030101010101" pitchFamily="2" charset="-122"/>
                  <a:cs typeface="宋体" panose="02010600030101010101" pitchFamily="2" charset="-122"/>
                </a:endParaRPr>
              </a:p>
              <a:p>
                <a:pPr marL="342900" lvl="0" indent="-342900">
                  <a:buFont typeface="Wingdings" panose="05000000000000000000" pitchFamily="2" charset="2"/>
                  <a:buChar char=""/>
                </a:pPr>
                <a:r>
                  <a:rPr lang="en-US" altLang="zh-CN" sz="1400" dirty="0" smtClean="0">
                    <a:solidFill>
                      <a:srgbClr val="002060"/>
                    </a:solidFill>
                    <a:latin typeface="宋体" panose="02010600030101010101" pitchFamily="2" charset="-122"/>
                    <a:cs typeface="MV Boli" panose="02000500030200090000" pitchFamily="2" charset="0"/>
                  </a:rPr>
                  <a:t>3. </a:t>
                </a:r>
                <a:r>
                  <a:rPr lang="zh-CN" altLang="zh-CN" sz="1400" dirty="0" smtClean="0">
                    <a:solidFill>
                      <a:srgbClr val="002060"/>
                    </a:solidFill>
                    <a:latin typeface="宋体" panose="02010600030101010101" pitchFamily="2" charset="-122"/>
                    <a:cs typeface="MV Boli" panose="02000500030200090000" pitchFamily="2" charset="0"/>
                  </a:rPr>
                  <a:t>以</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k</m:t>
                    </m:r>
                  </m:oMath>
                </a14:m>
                <a:r>
                  <a:rPr lang="zh-CN" altLang="zh-CN" sz="1400" dirty="0">
                    <a:solidFill>
                      <a:srgbClr val="002060"/>
                    </a:solidFill>
                    <a:latin typeface="宋体" panose="02010600030101010101" pitchFamily="2" charset="-122"/>
                    <a:cs typeface="MV Boli" panose="02000500030200090000" pitchFamily="2" charset="0"/>
                  </a:rPr>
                  <a:t>为新考虑的中间点，修改</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𝑄</m:t>
                    </m:r>
                  </m:oMath>
                </a14:m>
                <a:r>
                  <a:rPr lang="zh-CN" altLang="zh-CN" sz="1400" dirty="0">
                    <a:solidFill>
                      <a:srgbClr val="002060"/>
                    </a:solidFill>
                    <a:latin typeface="宋体" panose="02010600030101010101" pitchFamily="2" charset="-122"/>
                    <a:cs typeface="MV Boli" panose="02000500030200090000" pitchFamily="2" charset="0"/>
                  </a:rPr>
                  <a:t>中各顶点的距离；若从源点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v</m:t>
                    </m:r>
                  </m:oMath>
                </a14:m>
                <a:r>
                  <a:rPr lang="zh-CN" altLang="zh-CN" sz="1400" dirty="0">
                    <a:solidFill>
                      <a:srgbClr val="002060"/>
                    </a:solidFill>
                    <a:latin typeface="宋体" panose="02010600030101010101" pitchFamily="2" charset="-122"/>
                    <a:cs typeface="MV Boli" panose="02000500030200090000" pitchFamily="2" charset="0"/>
                  </a:rPr>
                  <a:t>到顶点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u</m:t>
                    </m:r>
                  </m:oMath>
                </a14:m>
                <a:r>
                  <a:rPr lang="zh-CN" altLang="zh-CN" sz="1400" dirty="0">
                    <a:solidFill>
                      <a:srgbClr val="002060"/>
                    </a:solidFill>
                    <a:latin typeface="宋体" panose="02010600030101010101" pitchFamily="2" charset="-122"/>
                    <a:cs typeface="MV Boli" panose="02000500030200090000" pitchFamily="2" charset="0"/>
                  </a:rPr>
                  <a:t>的距离（经过顶点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k</m:t>
                    </m:r>
                  </m:oMath>
                </a14:m>
                <a:r>
                  <a:rPr lang="zh-CN" altLang="zh-CN" sz="1400" dirty="0">
                    <a:solidFill>
                      <a:srgbClr val="002060"/>
                    </a:solidFill>
                    <a:latin typeface="宋体" panose="02010600030101010101" pitchFamily="2" charset="-122"/>
                    <a:cs typeface="MV Boli" panose="02000500030200090000" pitchFamily="2" charset="0"/>
                  </a:rPr>
                  <a:t>）比原来距离（不经过顶点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k</m:t>
                    </m:r>
                  </m:oMath>
                </a14:m>
                <a:r>
                  <a:rPr lang="zh-CN" altLang="zh-CN" sz="1400" dirty="0">
                    <a:solidFill>
                      <a:srgbClr val="002060"/>
                    </a:solidFill>
                    <a:latin typeface="宋体" panose="02010600030101010101" pitchFamily="2" charset="-122"/>
                    <a:cs typeface="MV Boli" panose="02000500030200090000" pitchFamily="2" charset="0"/>
                  </a:rPr>
                  <a:t>）短，则修改顶点</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u</m:t>
                    </m:r>
                  </m:oMath>
                </a14:m>
                <a:r>
                  <a:rPr lang="zh-CN" altLang="zh-CN" sz="1400" dirty="0">
                    <a:solidFill>
                      <a:srgbClr val="002060"/>
                    </a:solidFill>
                    <a:latin typeface="宋体" panose="02010600030101010101" pitchFamily="2" charset="-122"/>
                    <a:cs typeface="MV Boli" panose="02000500030200090000" pitchFamily="2" charset="0"/>
                  </a:rPr>
                  <a:t>的距离值，修改后的距离值为顶点</a:t>
                </a:r>
                <a:r>
                  <a:rPr lang="en-US" altLang="zh-CN" sz="1400" dirty="0">
                    <a:solidFill>
                      <a:srgbClr val="002060"/>
                    </a:solidFill>
                    <a:latin typeface="宋体" panose="02010600030101010101" pitchFamily="2" charset="-122"/>
                    <a:cs typeface="MV Boli" panose="02000500030200090000" pitchFamily="2" charset="0"/>
                  </a:rPr>
                  <a:t>k</a:t>
                </a:r>
                <a:r>
                  <a:rPr lang="zh-CN" altLang="zh-CN" sz="1400" dirty="0">
                    <a:solidFill>
                      <a:srgbClr val="002060"/>
                    </a:solidFill>
                    <a:latin typeface="宋体" panose="02010600030101010101" pitchFamily="2" charset="-122"/>
                    <a:cs typeface="MV Boli" panose="02000500030200090000" pitchFamily="2" charset="0"/>
                  </a:rPr>
                  <a:t>的距离加上边的权</a:t>
                </a:r>
                <a:r>
                  <a:rPr lang="zh-CN" altLang="zh-CN" sz="1400" dirty="0" smtClean="0">
                    <a:solidFill>
                      <a:srgbClr val="002060"/>
                    </a:solidFill>
                    <a:latin typeface="宋体" panose="02010600030101010101" pitchFamily="2" charset="-122"/>
                    <a:cs typeface="MV Boli" panose="02000500030200090000" pitchFamily="2" charset="0"/>
                  </a:rPr>
                  <a:t>值</a:t>
                </a:r>
                <a:r>
                  <a:rPr lang="zh-CN" altLang="en-US" sz="1400" dirty="0" smtClean="0">
                    <a:solidFill>
                      <a:srgbClr val="002060"/>
                    </a:solidFill>
                    <a:latin typeface="宋体" panose="02010600030101010101" pitchFamily="2" charset="-122"/>
                    <a:cs typeface="MV Boli" panose="02000500030200090000" pitchFamily="2" charset="0"/>
                  </a:rPr>
                  <a:t>；</a:t>
                </a:r>
                <a:endParaRPr lang="en-US" altLang="zh-CN" sz="1400" dirty="0" smtClean="0">
                  <a:solidFill>
                    <a:srgbClr val="002060"/>
                  </a:solidFill>
                  <a:latin typeface="宋体" panose="02010600030101010101" pitchFamily="2" charset="-122"/>
                  <a:cs typeface="MV Boli" panose="02000500030200090000" pitchFamily="2" charset="0"/>
                </a:endParaRPr>
              </a:p>
              <a:p>
                <a:pPr marL="342900" lvl="0" indent="-342900">
                  <a:buFont typeface="Wingdings" panose="05000000000000000000" pitchFamily="2" charset="2"/>
                  <a:buChar char=""/>
                </a:pPr>
                <a:endParaRPr lang="zh-CN" altLang="zh-CN" sz="1400" dirty="0">
                  <a:solidFill>
                    <a:srgbClr val="002060"/>
                  </a:solidFill>
                  <a:latin typeface="宋体" panose="02010600030101010101" pitchFamily="2" charset="-122"/>
                  <a:cs typeface="宋体" panose="02010600030101010101" pitchFamily="2" charset="-122"/>
                </a:endParaRPr>
              </a:p>
              <a:p>
                <a:pPr marL="285750" indent="-285750">
                  <a:buFont typeface="Wingdings" panose="05000000000000000000" pitchFamily="2" charset="2"/>
                  <a:buChar char="Ø"/>
                </a:pPr>
                <a:r>
                  <a:rPr lang="en-US" altLang="zh-CN" sz="1400" dirty="0" smtClean="0">
                    <a:solidFill>
                      <a:srgbClr val="002060"/>
                    </a:solidFill>
                    <a:cs typeface="MV Boli" panose="02000500030200090000" pitchFamily="2" charset="0"/>
                  </a:rPr>
                  <a:t>4. </a:t>
                </a:r>
                <a:r>
                  <a:rPr lang="zh-CN" altLang="zh-CN" sz="1400" dirty="0" smtClean="0">
                    <a:solidFill>
                      <a:srgbClr val="002060"/>
                    </a:solidFill>
                    <a:cs typeface="MV Boli" panose="02000500030200090000" pitchFamily="2" charset="0"/>
                  </a:rPr>
                  <a:t>重复步骤</a:t>
                </a:r>
                <a:r>
                  <a:rPr lang="en-US" altLang="zh-CN" sz="1400" dirty="0" smtClean="0">
                    <a:solidFill>
                      <a:srgbClr val="002060"/>
                    </a:solidFill>
                    <a:cs typeface="MV Boli" panose="02000500030200090000" pitchFamily="2" charset="0"/>
                  </a:rPr>
                  <a:t>2</a:t>
                </a:r>
                <a:r>
                  <a:rPr lang="zh-CN" altLang="zh-CN" sz="1400" dirty="0" smtClean="0">
                    <a:solidFill>
                      <a:srgbClr val="002060"/>
                    </a:solidFill>
                    <a:cs typeface="MV Boli" panose="02000500030200090000" pitchFamily="2" charset="0"/>
                  </a:rPr>
                  <a:t>和</a:t>
                </a:r>
                <a:r>
                  <a:rPr lang="en-US" altLang="zh-CN" sz="1400" dirty="0" smtClean="0">
                    <a:solidFill>
                      <a:srgbClr val="002060"/>
                    </a:solidFill>
                    <a:cs typeface="MV Boli" panose="02000500030200090000" pitchFamily="2" charset="0"/>
                  </a:rPr>
                  <a:t>3</a:t>
                </a:r>
                <a:r>
                  <a:rPr lang="zh-CN" altLang="zh-CN" sz="1400" dirty="0" smtClean="0">
                    <a:solidFill>
                      <a:srgbClr val="002060"/>
                    </a:solidFill>
                    <a:cs typeface="MV Boli" panose="02000500030200090000" pitchFamily="2" charset="0"/>
                  </a:rPr>
                  <a:t>直到</a:t>
                </a:r>
                <a:r>
                  <a:rPr lang="zh-CN" altLang="zh-CN" sz="1400" dirty="0">
                    <a:solidFill>
                      <a:srgbClr val="002060"/>
                    </a:solidFill>
                    <a:cs typeface="MV Boli" panose="02000500030200090000" pitchFamily="2" charset="0"/>
                  </a:rPr>
                  <a:t>所有顶点都包含在</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𝑆</m:t>
                    </m:r>
                  </m:oMath>
                </a14:m>
                <a:r>
                  <a:rPr lang="zh-CN" altLang="zh-CN" sz="1400" dirty="0">
                    <a:solidFill>
                      <a:srgbClr val="002060"/>
                    </a:solidFill>
                    <a:cs typeface="MV Boli" panose="02000500030200090000" pitchFamily="2" charset="0"/>
                  </a:rPr>
                  <a:t>中。</a:t>
                </a:r>
                <a:endParaRPr lang="zh-CN" altLang="en-US" sz="1400" dirty="0">
                  <a:solidFill>
                    <a:srgbClr val="00206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572860" y="1779662"/>
                <a:ext cx="7776864" cy="3108543"/>
              </a:xfrm>
              <a:prstGeom prst="rect">
                <a:avLst/>
              </a:prstGeom>
              <a:blipFill rotWithShape="1">
                <a:blip r:embed="rId5"/>
                <a:stretch>
                  <a:fillRect l="-1" t="-13" r="1" b="2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0KXKRJ1H5NYIT)MHI%(E~O"/>
          <p:cNvPicPr>
            <a:picLocks noChangeAspect="1" noChangeArrowheads="1"/>
          </p:cNvPicPr>
          <p:nvPr/>
        </p:nvPicPr>
        <p:blipFill rotWithShape="1">
          <a:blip r:embed="rId4">
            <a:extLst>
              <a:ext uri="{28A0092B-C50C-407E-A947-70E740481C1C}">
                <a14:useLocalDpi xmlns:a14="http://schemas.microsoft.com/office/drawing/2010/main" val="0"/>
              </a:ext>
            </a:extLst>
          </a:blip>
          <a:srcRect t="36056"/>
          <a:stretch>
            <a:fillRect/>
          </a:stretch>
        </p:blipFill>
        <p:spPr bwMode="auto">
          <a:xfrm>
            <a:off x="1115616" y="1347614"/>
            <a:ext cx="6696744" cy="296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203848" y="4440742"/>
            <a:ext cx="2590774" cy="338554"/>
          </a:xfrm>
          <a:prstGeom prst="rect">
            <a:avLst/>
          </a:prstGeom>
        </p:spPr>
        <p:txBody>
          <a:bodyPr wrap="none">
            <a:spAutoFit/>
          </a:bodyPr>
          <a:lstStyle/>
          <a:p>
            <a:r>
              <a:rPr lang="zh-CN" altLang="en-US" sz="1600" dirty="0">
                <a:solidFill>
                  <a:srgbClr val="002060"/>
                </a:solidFill>
              </a:rPr>
              <a:t>寻找一条从s到t的最短路径</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3"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9991"/>
          <a:stretch>
            <a:fillRect/>
          </a:stretch>
        </p:blipFill>
        <p:spPr bwMode="auto">
          <a:xfrm>
            <a:off x="1139540" y="1225347"/>
            <a:ext cx="6792912" cy="3343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11380"/>
          <a:stretch>
            <a:fillRect/>
          </a:stretch>
        </p:blipFill>
        <p:spPr bwMode="auto">
          <a:xfrm>
            <a:off x="1163638" y="1131589"/>
            <a:ext cx="6818312" cy="330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9757"/>
          <a:stretch>
            <a:fillRect/>
          </a:stretch>
        </p:blipFill>
        <p:spPr bwMode="auto">
          <a:xfrm>
            <a:off x="1052513" y="1059582"/>
            <a:ext cx="7040562" cy="3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10964"/>
          <a:stretch>
            <a:fillRect/>
          </a:stretch>
        </p:blipFill>
        <p:spPr bwMode="auto">
          <a:xfrm>
            <a:off x="1052513" y="1104900"/>
            <a:ext cx="7040562" cy="334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11673"/>
          <a:stretch>
            <a:fillRect/>
          </a:stretch>
        </p:blipFill>
        <p:spPr bwMode="auto">
          <a:xfrm>
            <a:off x="1052513" y="1131590"/>
            <a:ext cx="7040562" cy="331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9757"/>
          <a:stretch>
            <a:fillRect/>
          </a:stretch>
        </p:blipFill>
        <p:spPr bwMode="auto">
          <a:xfrm>
            <a:off x="1052513" y="1059582"/>
            <a:ext cx="7040562" cy="3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11673"/>
          <a:stretch>
            <a:fillRect/>
          </a:stretch>
        </p:blipFill>
        <p:spPr bwMode="auto">
          <a:xfrm>
            <a:off x="1052513" y="1131590"/>
            <a:ext cx="7040562" cy="331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7"/>
          <p:cNvPicPr>
            <a:picLocks noChangeAspect="1" noChangeArrowheads="1"/>
          </p:cNvPicPr>
          <p:nvPr/>
        </p:nvPicPr>
        <p:blipFill rotWithShape="1">
          <a:blip r:embed="rId4">
            <a:extLst>
              <a:ext uri="{28A0092B-C50C-407E-A947-70E740481C1C}">
                <a14:useLocalDpi xmlns:a14="http://schemas.microsoft.com/office/drawing/2010/main" val="0"/>
              </a:ext>
            </a:extLst>
          </a:blip>
          <a:srcRect t="11673"/>
          <a:stretch>
            <a:fillRect/>
          </a:stretch>
        </p:blipFill>
        <p:spPr bwMode="auto">
          <a:xfrm>
            <a:off x="1052513" y="1131590"/>
            <a:ext cx="7040562" cy="331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EO1BFB_0}V3T81S0~ET}MD5"/>
          <p:cNvPicPr>
            <a:picLocks noChangeAspect="1" noChangeArrowheads="1"/>
          </p:cNvPicPr>
          <p:nvPr/>
        </p:nvPicPr>
        <p:blipFill rotWithShape="1">
          <a:blip r:embed="rId4">
            <a:extLst>
              <a:ext uri="{28A0092B-C50C-407E-A947-70E740481C1C}">
                <a14:useLocalDpi xmlns:a14="http://schemas.microsoft.com/office/drawing/2010/main" val="0"/>
              </a:ext>
            </a:extLst>
          </a:blip>
          <a:srcRect t="11007"/>
          <a:stretch>
            <a:fillRect/>
          </a:stretch>
        </p:blipFill>
        <p:spPr bwMode="auto">
          <a:xfrm>
            <a:off x="1109664" y="1131590"/>
            <a:ext cx="6924675" cy="3286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4" descr="4XOJFDP}4UNOSFK7H%]CF(E"/>
          <p:cNvPicPr>
            <a:picLocks noChangeAspect="1" noChangeArrowheads="1"/>
          </p:cNvPicPr>
          <p:nvPr/>
        </p:nvPicPr>
        <p:blipFill rotWithShape="1">
          <a:blip r:embed="rId4">
            <a:extLst>
              <a:ext uri="{28A0092B-C50C-407E-A947-70E740481C1C}">
                <a14:useLocalDpi xmlns:a14="http://schemas.microsoft.com/office/drawing/2010/main" val="0"/>
              </a:ext>
            </a:extLst>
          </a:blip>
          <a:srcRect t="11231"/>
          <a:stretch>
            <a:fillRect/>
          </a:stretch>
        </p:blipFill>
        <p:spPr bwMode="auto">
          <a:xfrm>
            <a:off x="1076325" y="1131589"/>
            <a:ext cx="6991350" cy="3297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JYNF}YT3O1@X)XX$(7A45%W"/>
          <p:cNvPicPr>
            <a:picLocks noChangeAspect="1" noChangeArrowheads="1"/>
          </p:cNvPicPr>
          <p:nvPr/>
        </p:nvPicPr>
        <p:blipFill rotWithShape="1">
          <a:blip r:embed="rId4">
            <a:extLst>
              <a:ext uri="{28A0092B-C50C-407E-A947-70E740481C1C}">
                <a14:useLocalDpi xmlns:a14="http://schemas.microsoft.com/office/drawing/2010/main" val="0"/>
              </a:ext>
            </a:extLst>
          </a:blip>
          <a:srcRect t="10931"/>
          <a:stretch>
            <a:fillRect/>
          </a:stretch>
        </p:blipFill>
        <p:spPr bwMode="auto">
          <a:xfrm>
            <a:off x="1104900" y="1131590"/>
            <a:ext cx="6934200" cy="328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4" descr="H@OY]UC3U(0AA}@{PV{7F47"/>
          <p:cNvPicPr>
            <a:picLocks noChangeAspect="1" noChangeArrowheads="1"/>
          </p:cNvPicPr>
          <p:nvPr/>
        </p:nvPicPr>
        <p:blipFill rotWithShape="1">
          <a:blip r:embed="rId4">
            <a:extLst>
              <a:ext uri="{28A0092B-C50C-407E-A947-70E740481C1C}">
                <a14:useLocalDpi xmlns:a14="http://schemas.microsoft.com/office/drawing/2010/main" val="0"/>
              </a:ext>
            </a:extLst>
          </a:blip>
          <a:srcRect t="10702"/>
          <a:stretch>
            <a:fillRect/>
          </a:stretch>
        </p:blipFill>
        <p:spPr bwMode="auto">
          <a:xfrm>
            <a:off x="1133475" y="1131589"/>
            <a:ext cx="6877050" cy="3272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F@$LBPHLB~}AL]8B_RLUY70"/>
          <p:cNvPicPr>
            <a:picLocks noChangeAspect="1" noChangeArrowheads="1"/>
          </p:cNvPicPr>
          <p:nvPr/>
        </p:nvPicPr>
        <p:blipFill rotWithShape="1">
          <a:blip r:embed="rId4">
            <a:extLst>
              <a:ext uri="{28A0092B-C50C-407E-A947-70E740481C1C}">
                <a14:useLocalDpi xmlns:a14="http://schemas.microsoft.com/office/drawing/2010/main" val="0"/>
              </a:ext>
            </a:extLst>
          </a:blip>
          <a:srcRect t="10778"/>
          <a:stretch>
            <a:fillRect/>
          </a:stretch>
        </p:blipFill>
        <p:spPr bwMode="auto">
          <a:xfrm>
            <a:off x="1057275" y="1131590"/>
            <a:ext cx="7029450" cy="327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4" descr="CR$~9FVEQ{MNAW`L(MKSIX6"/>
          <p:cNvPicPr>
            <a:picLocks noChangeAspect="1" noChangeArrowheads="1"/>
          </p:cNvPicPr>
          <p:nvPr/>
        </p:nvPicPr>
        <p:blipFill rotWithShape="1">
          <a:blip r:embed="rId4">
            <a:extLst>
              <a:ext uri="{28A0092B-C50C-407E-A947-70E740481C1C}">
                <a14:useLocalDpi xmlns:a14="http://schemas.microsoft.com/office/drawing/2010/main" val="0"/>
              </a:ext>
            </a:extLst>
          </a:blip>
          <a:srcRect t="11007"/>
          <a:stretch>
            <a:fillRect/>
          </a:stretch>
        </p:blipFill>
        <p:spPr bwMode="auto">
          <a:xfrm>
            <a:off x="1085850" y="1131590"/>
            <a:ext cx="6972300" cy="3286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TD$[1@A`5JSYB82(3MB2X"/>
          <p:cNvPicPr>
            <a:picLocks noChangeAspect="1" noChangeArrowheads="1"/>
          </p:cNvPicPr>
          <p:nvPr/>
        </p:nvPicPr>
        <p:blipFill rotWithShape="1">
          <a:blip r:embed="rId4">
            <a:extLst>
              <a:ext uri="{28A0092B-C50C-407E-A947-70E740481C1C}">
                <a14:useLocalDpi xmlns:a14="http://schemas.microsoft.com/office/drawing/2010/main" val="0"/>
              </a:ext>
            </a:extLst>
          </a:blip>
          <a:srcRect t="10931"/>
          <a:stretch>
            <a:fillRect/>
          </a:stretch>
        </p:blipFill>
        <p:spPr bwMode="auto">
          <a:xfrm>
            <a:off x="1128714" y="1131590"/>
            <a:ext cx="6886575" cy="328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4" descr="CJOLS`O](8UJS6O}MTK01S8"/>
          <p:cNvPicPr>
            <a:picLocks noChangeAspect="1" noChangeArrowheads="1"/>
          </p:cNvPicPr>
          <p:nvPr/>
        </p:nvPicPr>
        <p:blipFill rotWithShape="1">
          <a:blip r:embed="rId4">
            <a:extLst>
              <a:ext uri="{28A0092B-C50C-407E-A947-70E740481C1C}">
                <a14:useLocalDpi xmlns:a14="http://schemas.microsoft.com/office/drawing/2010/main" val="0"/>
              </a:ext>
            </a:extLst>
          </a:blip>
          <a:srcRect t="10855"/>
          <a:stretch>
            <a:fillRect/>
          </a:stretch>
        </p:blipFill>
        <p:spPr bwMode="auto">
          <a:xfrm>
            <a:off x="1095375" y="1131590"/>
            <a:ext cx="6953250" cy="3279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S0)DJ@BAXR}NE5KUME3]BDT"/>
          <p:cNvPicPr>
            <a:picLocks noChangeAspect="1" noChangeArrowheads="1"/>
          </p:cNvPicPr>
          <p:nvPr/>
        </p:nvPicPr>
        <p:blipFill rotWithShape="1">
          <a:blip r:embed="rId4">
            <a:extLst>
              <a:ext uri="{28A0092B-C50C-407E-A947-70E740481C1C}">
                <a14:useLocalDpi xmlns:a14="http://schemas.microsoft.com/office/drawing/2010/main" val="0"/>
              </a:ext>
            </a:extLst>
          </a:blip>
          <a:srcRect t="11380"/>
          <a:stretch>
            <a:fillRect/>
          </a:stretch>
        </p:blipFill>
        <p:spPr bwMode="auto">
          <a:xfrm>
            <a:off x="1062039" y="1131589"/>
            <a:ext cx="7019925" cy="330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1" name="Picture 4" descr="WB`82CHJ6E)C[)P9@KJOKSB"/>
          <p:cNvPicPr>
            <a:picLocks noChangeAspect="1" noChangeArrowheads="1"/>
          </p:cNvPicPr>
          <p:nvPr/>
        </p:nvPicPr>
        <p:blipFill rotWithShape="1">
          <a:blip r:embed="rId4">
            <a:extLst>
              <a:ext uri="{28A0092B-C50C-407E-A947-70E740481C1C}">
                <a14:useLocalDpi xmlns:a14="http://schemas.microsoft.com/office/drawing/2010/main" val="0"/>
              </a:ext>
            </a:extLst>
          </a:blip>
          <a:srcRect t="10855"/>
          <a:stretch>
            <a:fillRect/>
          </a:stretch>
        </p:blipFill>
        <p:spPr bwMode="auto">
          <a:xfrm>
            <a:off x="1085850" y="1131590"/>
            <a:ext cx="6972300" cy="3279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S0)DJ@BAXR}NE5KUME3]BDT"/>
          <p:cNvPicPr>
            <a:picLocks noChangeAspect="1" noChangeArrowheads="1"/>
          </p:cNvPicPr>
          <p:nvPr/>
        </p:nvPicPr>
        <p:blipFill rotWithShape="1">
          <a:blip r:embed="rId4">
            <a:extLst>
              <a:ext uri="{28A0092B-C50C-407E-A947-70E740481C1C}">
                <a14:useLocalDpi xmlns:a14="http://schemas.microsoft.com/office/drawing/2010/main" val="0"/>
              </a:ext>
            </a:extLst>
          </a:blip>
          <a:srcRect t="11380"/>
          <a:stretch>
            <a:fillRect/>
          </a:stretch>
        </p:blipFill>
        <p:spPr bwMode="auto">
          <a:xfrm>
            <a:off x="1062039" y="1131589"/>
            <a:ext cx="7019925" cy="330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sp>
        <p:nvSpPr>
          <p:cNvPr id="4" name="椭圆 3"/>
          <p:cNvSpPr/>
          <p:nvPr/>
        </p:nvSpPr>
        <p:spPr>
          <a:xfrm>
            <a:off x="4395026" y="3147814"/>
            <a:ext cx="281940"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574772" y="4536735"/>
            <a:ext cx="1994457" cy="369332"/>
          </a:xfrm>
          <a:prstGeom prst="rect">
            <a:avLst/>
          </a:prstGeom>
        </p:spPr>
        <p:txBody>
          <a:bodyPr wrap="none">
            <a:spAutoFit/>
          </a:bodyPr>
          <a:lstStyle/>
          <a:p>
            <a:r>
              <a:rPr lang="zh-CN" altLang="en-US" dirty="0">
                <a:solidFill>
                  <a:srgbClr val="FF0000"/>
                </a:solidFill>
              </a:rPr>
              <a:t>t的最近前节点是5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F@$LBPHLB~}AL]8B_RLUY70"/>
          <p:cNvPicPr>
            <a:picLocks noChangeAspect="1" noChangeArrowheads="1"/>
          </p:cNvPicPr>
          <p:nvPr/>
        </p:nvPicPr>
        <p:blipFill rotWithShape="1">
          <a:blip r:embed="rId4">
            <a:extLst>
              <a:ext uri="{28A0092B-C50C-407E-A947-70E740481C1C}">
                <a14:useLocalDpi xmlns:a14="http://schemas.microsoft.com/office/drawing/2010/main" val="0"/>
              </a:ext>
            </a:extLst>
          </a:blip>
          <a:srcRect t="10778"/>
          <a:stretch>
            <a:fillRect/>
          </a:stretch>
        </p:blipFill>
        <p:spPr bwMode="auto">
          <a:xfrm>
            <a:off x="1057275" y="1131590"/>
            <a:ext cx="7029450" cy="327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椭圆 2"/>
          <p:cNvSpPr/>
          <p:nvPr/>
        </p:nvSpPr>
        <p:spPr>
          <a:xfrm>
            <a:off x="7303599" y="2067694"/>
            <a:ext cx="288032"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518730" y="4635554"/>
            <a:ext cx="2034531" cy="369332"/>
          </a:xfrm>
          <a:prstGeom prst="rect">
            <a:avLst/>
          </a:prstGeom>
        </p:spPr>
        <p:txBody>
          <a:bodyPr wrap="none">
            <a:spAutoFit/>
          </a:bodyPr>
          <a:lstStyle/>
          <a:p>
            <a:r>
              <a:rPr lang="zh-CN" altLang="en-US" dirty="0">
                <a:solidFill>
                  <a:srgbClr val="FF0000"/>
                </a:solidFill>
              </a:rPr>
              <a:t>5的最近前节点是3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4" descr="JYNF}YT3O1@X)XX$(7A45%W"/>
          <p:cNvPicPr>
            <a:picLocks noChangeAspect="1" noChangeArrowheads="1"/>
          </p:cNvPicPr>
          <p:nvPr/>
        </p:nvPicPr>
        <p:blipFill rotWithShape="1">
          <a:blip r:embed="rId4">
            <a:extLst>
              <a:ext uri="{28A0092B-C50C-407E-A947-70E740481C1C}">
                <a14:useLocalDpi xmlns:a14="http://schemas.microsoft.com/office/drawing/2010/main" val="0"/>
              </a:ext>
            </a:extLst>
          </a:blip>
          <a:srcRect t="10931"/>
          <a:stretch>
            <a:fillRect/>
          </a:stretch>
        </p:blipFill>
        <p:spPr bwMode="auto">
          <a:xfrm>
            <a:off x="1104900" y="1131590"/>
            <a:ext cx="6934200" cy="328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401896" y="4515306"/>
            <a:ext cx="2034531" cy="369332"/>
          </a:xfrm>
          <a:prstGeom prst="rect">
            <a:avLst/>
          </a:prstGeom>
        </p:spPr>
        <p:txBody>
          <a:bodyPr wrap="none">
            <a:spAutoFit/>
          </a:bodyPr>
          <a:lstStyle/>
          <a:p>
            <a:r>
              <a:rPr lang="zh-CN" altLang="en-US" dirty="0">
                <a:solidFill>
                  <a:srgbClr val="FF0000"/>
                </a:solidFill>
              </a:rPr>
              <a:t>3的最近前节点是6</a:t>
            </a:r>
          </a:p>
        </p:txBody>
      </p:sp>
      <p:sp>
        <p:nvSpPr>
          <p:cNvPr id="4" name="椭圆 3"/>
          <p:cNvSpPr/>
          <p:nvPr/>
        </p:nvSpPr>
        <p:spPr>
          <a:xfrm>
            <a:off x="3203848" y="2773214"/>
            <a:ext cx="288032" cy="23058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pic>
        <p:nvPicPr>
          <p:cNvPr id="12"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11673"/>
          <a:stretch>
            <a:fillRect/>
          </a:stretch>
        </p:blipFill>
        <p:spPr bwMode="auto">
          <a:xfrm>
            <a:off x="1052513" y="1131590"/>
            <a:ext cx="7040562" cy="331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395288" y="4551025"/>
            <a:ext cx="2007281" cy="369332"/>
          </a:xfrm>
          <a:prstGeom prst="rect">
            <a:avLst/>
          </a:prstGeom>
        </p:spPr>
        <p:txBody>
          <a:bodyPr wrap="none">
            <a:spAutoFit/>
          </a:bodyPr>
          <a:lstStyle/>
          <a:p>
            <a:r>
              <a:rPr lang="zh-CN" altLang="en-US" dirty="0">
                <a:solidFill>
                  <a:srgbClr val="FF0000"/>
                </a:solidFill>
              </a:rPr>
              <a:t>6的最近前节点是s</a:t>
            </a:r>
          </a:p>
        </p:txBody>
      </p:sp>
      <p:sp>
        <p:nvSpPr>
          <p:cNvPr id="4" name="椭圆 3"/>
          <p:cNvSpPr/>
          <p:nvPr/>
        </p:nvSpPr>
        <p:spPr>
          <a:xfrm>
            <a:off x="1052513" y="2355726"/>
            <a:ext cx="279127"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1348639" cy="369332"/>
          </a:xfrm>
          <a:prstGeom prst="rect">
            <a:avLst/>
          </a:prstGeom>
        </p:spPr>
        <p:txBody>
          <a:bodyPr wrap="none">
            <a:spAutoFit/>
          </a:bodyPr>
          <a:lstStyle/>
          <a:p>
            <a:r>
              <a:rPr lang="en-US" altLang="zh-CN" dirty="0" err="1">
                <a:solidFill>
                  <a:srgbClr val="002060"/>
                </a:solidFill>
                <a:cs typeface="MV Boli" panose="02000500030200090000" pitchFamily="2" charset="0"/>
              </a:rPr>
              <a:t>Dijkstra</a:t>
            </a:r>
            <a:r>
              <a:rPr lang="zh-CN" altLang="zh-CN" dirty="0">
                <a:solidFill>
                  <a:srgbClr val="002060"/>
                </a:solidFill>
                <a:cs typeface="MV Boli" panose="02000500030200090000" pitchFamily="2" charset="0"/>
              </a:rPr>
              <a:t>算法</a:t>
            </a:r>
            <a:endParaRPr lang="zh-CN" altLang="en-US" dirty="0"/>
          </a:p>
        </p:txBody>
      </p:sp>
      <p:sp>
        <p:nvSpPr>
          <p:cNvPr id="4" name="矩形 3"/>
          <p:cNvSpPr/>
          <p:nvPr/>
        </p:nvSpPr>
        <p:spPr>
          <a:xfrm>
            <a:off x="3203848" y="4440742"/>
            <a:ext cx="3423758" cy="338554"/>
          </a:xfrm>
          <a:prstGeom prst="rect">
            <a:avLst/>
          </a:prstGeom>
        </p:spPr>
        <p:txBody>
          <a:bodyPr wrap="none">
            <a:spAutoFit/>
          </a:bodyPr>
          <a:lstStyle/>
          <a:p>
            <a:r>
              <a:rPr lang="zh-CN" altLang="en-US" sz="1600" dirty="0" smtClean="0">
                <a:solidFill>
                  <a:srgbClr val="002060"/>
                </a:solidFill>
              </a:rPr>
              <a:t>从</a:t>
            </a:r>
            <a:r>
              <a:rPr lang="zh-CN" altLang="en-US" sz="1600" dirty="0">
                <a:solidFill>
                  <a:srgbClr val="002060"/>
                </a:solidFill>
              </a:rPr>
              <a:t>s到t的最短</a:t>
            </a:r>
            <a:r>
              <a:rPr lang="zh-CN" altLang="en-US" sz="1600" dirty="0" smtClean="0">
                <a:solidFill>
                  <a:srgbClr val="002060"/>
                </a:solidFill>
              </a:rPr>
              <a:t>路径：</a:t>
            </a:r>
            <a:r>
              <a:rPr lang="en-US" altLang="zh-CN" sz="1600" dirty="0" smtClean="0">
                <a:solidFill>
                  <a:srgbClr val="FF0000"/>
                </a:solidFill>
              </a:rPr>
              <a:t>s,6,3,5,t d(</a:t>
            </a:r>
            <a:r>
              <a:rPr lang="en-US" altLang="zh-CN" sz="1600" dirty="0" err="1" smtClean="0">
                <a:solidFill>
                  <a:srgbClr val="FF0000"/>
                </a:solidFill>
              </a:rPr>
              <a:t>s,t</a:t>
            </a:r>
            <a:r>
              <a:rPr lang="en-US" altLang="zh-CN" sz="1600" dirty="0" smtClean="0">
                <a:solidFill>
                  <a:srgbClr val="FF0000"/>
                </a:solidFill>
              </a:rPr>
              <a:t>)=50</a:t>
            </a:r>
            <a:endParaRPr lang="zh-CN" altLang="en-US" sz="1600" dirty="0">
              <a:solidFill>
                <a:srgbClr val="FF0000"/>
              </a:solidFill>
            </a:endParaRPr>
          </a:p>
        </p:txBody>
      </p:sp>
      <p:grpSp>
        <p:nvGrpSpPr>
          <p:cNvPr id="17" name="组合 16"/>
          <p:cNvGrpSpPr/>
          <p:nvPr/>
        </p:nvGrpSpPr>
        <p:grpSpPr>
          <a:xfrm>
            <a:off x="1115616" y="1347614"/>
            <a:ext cx="6696744" cy="2961302"/>
            <a:chOff x="1115616" y="1347614"/>
            <a:chExt cx="6696744" cy="2961302"/>
          </a:xfrm>
        </p:grpSpPr>
        <p:pic>
          <p:nvPicPr>
            <p:cNvPr id="12" name="Picture 4" descr="%0KXKRJ1H5NYIT)MHI%(E~O"/>
            <p:cNvPicPr>
              <a:picLocks noChangeAspect="1" noChangeArrowheads="1"/>
            </p:cNvPicPr>
            <p:nvPr/>
          </p:nvPicPr>
          <p:blipFill rotWithShape="1">
            <a:blip r:embed="rId4">
              <a:extLst>
                <a:ext uri="{28A0092B-C50C-407E-A947-70E740481C1C}">
                  <a14:useLocalDpi xmlns:a14="http://schemas.microsoft.com/office/drawing/2010/main" val="0"/>
                </a:ext>
              </a:extLst>
            </a:blip>
            <a:srcRect t="36056"/>
            <a:stretch>
              <a:fillRect/>
            </a:stretch>
          </p:blipFill>
          <p:spPr bwMode="auto">
            <a:xfrm>
              <a:off x="1115616" y="1347614"/>
              <a:ext cx="6696744" cy="296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nvCxnSpPr>
          <p:spPr>
            <a:xfrm>
              <a:off x="1403648" y="2067694"/>
              <a:ext cx="1800200" cy="4320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361256" y="1707654"/>
              <a:ext cx="3731024" cy="8640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499992" y="1779662"/>
              <a:ext cx="2736304" cy="12961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499992" y="3291830"/>
              <a:ext cx="2880320" cy="7200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8" name="Picture 3" descr="I((PH~KM3){5Y$RJM3J5OP6"/>
          <p:cNvPicPr>
            <a:picLocks noChangeAspect="1" noChangeArrowheads="1"/>
          </p:cNvPicPr>
          <p:nvPr/>
        </p:nvPicPr>
        <p:blipFill rotWithShape="1">
          <a:blip r:embed="rId4">
            <a:extLst>
              <a:ext uri="{28A0092B-C50C-407E-A947-70E740481C1C}">
                <a14:useLocalDpi xmlns:a14="http://schemas.microsoft.com/office/drawing/2010/main" val="0"/>
              </a:ext>
            </a:extLst>
          </a:blip>
          <a:srcRect t="15728" b="4012"/>
          <a:stretch>
            <a:fillRect/>
          </a:stretch>
        </p:blipFill>
        <p:spPr bwMode="auto">
          <a:xfrm>
            <a:off x="395536" y="2139702"/>
            <a:ext cx="8240280"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4515676" y="920595"/>
            <a:ext cx="4160780" cy="1569660"/>
          </a:xfrm>
          <a:prstGeom prst="rect">
            <a:avLst/>
          </a:prstGeom>
        </p:spPr>
        <p:txBody>
          <a:bodyPr wrap="square">
            <a:spAutoFit/>
          </a:bodyPr>
          <a:lstStyle/>
          <a:p>
            <a:r>
              <a:rPr lang="zh-CN" altLang="en-US" sz="1600" b="1" dirty="0">
                <a:solidFill>
                  <a:srgbClr val="FF0000"/>
                </a:solidFill>
              </a:rPr>
              <a:t>在 Dijkstra 的基础上引入了启发式函数 h(n)</a:t>
            </a:r>
          </a:p>
          <a:p>
            <a:pPr marL="285750" indent="-285750">
              <a:buFont typeface="Wingdings" panose="05000000000000000000" pitchFamily="2" charset="2"/>
              <a:buChar char="Ø"/>
            </a:pPr>
            <a:r>
              <a:rPr lang="zh-CN" altLang="en-US" sz="1600" dirty="0">
                <a:solidFill>
                  <a:srgbClr val="002060"/>
                </a:solidFill>
              </a:rPr>
              <a:t>代价估计函数f(n)=g(n)+h(n)</a:t>
            </a:r>
          </a:p>
          <a:p>
            <a:pPr marL="285750" indent="-285750">
              <a:buFont typeface="Wingdings" panose="05000000000000000000" pitchFamily="2" charset="2"/>
              <a:buChar char="Ø"/>
            </a:pPr>
            <a:r>
              <a:rPr lang="zh-CN" altLang="en-US" sz="1600" dirty="0">
                <a:solidFill>
                  <a:srgbClr val="002060"/>
                </a:solidFill>
              </a:rPr>
              <a:t>g(n)-从初始节点到节点n的累计成本；</a:t>
            </a:r>
          </a:p>
          <a:p>
            <a:pPr marL="285750" indent="-285750">
              <a:buFont typeface="Wingdings" panose="05000000000000000000" pitchFamily="2" charset="2"/>
              <a:buChar char="Ø"/>
            </a:pPr>
            <a:r>
              <a:rPr lang="zh-CN" altLang="en-US" sz="1600" dirty="0">
                <a:solidFill>
                  <a:srgbClr val="002060"/>
                </a:solidFill>
              </a:rPr>
              <a:t>h(n)-启发式函数，从节点n到目标节点的代价估计。</a:t>
            </a:r>
          </a:p>
          <a:p>
            <a:r>
              <a:rPr lang="zh-CN" altLang="en-US" sz="1600" b="1" dirty="0">
                <a:solidFill>
                  <a:srgbClr val="FF0000"/>
                </a:solidFill>
              </a:rPr>
              <a:t>策略</a:t>
            </a:r>
            <a:r>
              <a:rPr lang="zh-CN" altLang="en-US" sz="1600" dirty="0">
                <a:solidFill>
                  <a:srgbClr val="002060"/>
                </a:solidFill>
              </a:rPr>
              <a:t>：每次访问f(n)值最小的节点</a:t>
            </a:r>
          </a:p>
        </p:txBody>
      </p:sp>
      <p:sp>
        <p:nvSpPr>
          <p:cNvPr id="6" name="矩形 5"/>
          <p:cNvSpPr/>
          <p:nvPr/>
        </p:nvSpPr>
        <p:spPr>
          <a:xfrm>
            <a:off x="696791" y="1330094"/>
            <a:ext cx="1758815" cy="400110"/>
          </a:xfrm>
          <a:prstGeom prst="rect">
            <a:avLst/>
          </a:prstGeom>
        </p:spPr>
        <p:txBody>
          <a:bodyPr wrap="none">
            <a:spAutoFit/>
          </a:bodyPr>
          <a:lstStyle/>
          <a:p>
            <a:r>
              <a:rPr lang="en-US" altLang="zh-CN" sz="2000" b="1" dirty="0">
                <a:solidFill>
                  <a:srgbClr val="002060"/>
                </a:solidFill>
                <a:cs typeface="MV Boli" panose="02000500030200090000" pitchFamily="2" charset="0"/>
              </a:rPr>
              <a:t>A*</a:t>
            </a:r>
            <a:r>
              <a:rPr lang="zh-CN" altLang="zh-CN" sz="2000" b="1" dirty="0" smtClean="0">
                <a:solidFill>
                  <a:srgbClr val="002060"/>
                </a:solidFill>
                <a:cs typeface="MV Boli" panose="02000500030200090000" pitchFamily="2" charset="0"/>
              </a:rPr>
              <a:t>算法</a:t>
            </a:r>
            <a:r>
              <a:rPr lang="zh-CN" altLang="en-US" sz="2000" b="1" dirty="0" smtClean="0">
                <a:solidFill>
                  <a:srgbClr val="002060"/>
                </a:solidFill>
                <a:cs typeface="MV Boli" panose="02000500030200090000" pitchFamily="2" charset="0"/>
              </a:rPr>
              <a:t>步骤：</a:t>
            </a:r>
            <a:endParaRPr lang="zh-CN" altLang="en-US" sz="2000" b="1" dirty="0">
              <a:solidFill>
                <a:srgbClr val="002060"/>
              </a:solidFill>
            </a:endParaRPr>
          </a:p>
        </p:txBody>
      </p:sp>
      <p:sp>
        <p:nvSpPr>
          <p:cNvPr id="7" name="圆角矩形 6"/>
          <p:cNvSpPr/>
          <p:nvPr/>
        </p:nvSpPr>
        <p:spPr>
          <a:xfrm>
            <a:off x="4515676" y="920595"/>
            <a:ext cx="4120140" cy="156966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1" name="Picture 2" descr="Z7GEG6MG1]U{@8HM~G1ONRB"/>
          <p:cNvPicPr>
            <a:picLocks noChangeAspect="1" noChangeArrowheads="1"/>
          </p:cNvPicPr>
          <p:nvPr/>
        </p:nvPicPr>
        <p:blipFill rotWithShape="1">
          <a:blip r:embed="rId4">
            <a:extLst>
              <a:ext uri="{28A0092B-C50C-407E-A947-70E740481C1C}">
                <a14:useLocalDpi xmlns:a14="http://schemas.microsoft.com/office/drawing/2010/main" val="0"/>
              </a:ext>
            </a:extLst>
          </a:blip>
          <a:srcRect t="17205"/>
          <a:stretch>
            <a:fillRect/>
          </a:stretch>
        </p:blipFill>
        <p:spPr bwMode="auto">
          <a:xfrm>
            <a:off x="373010" y="1131590"/>
            <a:ext cx="8351838" cy="3856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3" name="图片 2"/>
          <p:cNvPicPr>
            <a:picLocks noChangeAspect="1"/>
          </p:cNvPicPr>
          <p:nvPr/>
        </p:nvPicPr>
        <p:blipFill rotWithShape="1">
          <a:blip r:embed="rId4"/>
          <a:srcRect l="16010" r="12824" b="5561"/>
          <a:stretch>
            <a:fillRect/>
          </a:stretch>
        </p:blipFill>
        <p:spPr>
          <a:xfrm>
            <a:off x="1641696" y="1294355"/>
            <a:ext cx="4824536" cy="2907526"/>
          </a:xfrm>
          <a:prstGeom prst="rect">
            <a:avLst/>
          </a:prstGeom>
        </p:spPr>
      </p:pic>
      <p:sp>
        <p:nvSpPr>
          <p:cNvPr id="12" name="矩形 11"/>
          <p:cNvSpPr/>
          <p:nvPr/>
        </p:nvSpPr>
        <p:spPr>
          <a:xfrm>
            <a:off x="2527590" y="955801"/>
            <a:ext cx="3329245" cy="338554"/>
          </a:xfrm>
          <a:prstGeom prst="rect">
            <a:avLst/>
          </a:prstGeom>
        </p:spPr>
        <p:txBody>
          <a:bodyPr wrap="none">
            <a:spAutoFit/>
          </a:bodyPr>
          <a:lstStyle/>
          <a:p>
            <a:r>
              <a:rPr lang="en-US" altLang="zh-CN" sz="1600" b="1" dirty="0" smtClean="0">
                <a:solidFill>
                  <a:srgbClr val="002060"/>
                </a:solidFill>
                <a:latin typeface="Times New Roman" panose="02020603050405020304" pitchFamily="18" charset="0"/>
                <a:cs typeface="Times New Roman" panose="02020603050405020304" pitchFamily="18" charset="0"/>
              </a:rPr>
              <a:t>First step</a:t>
            </a:r>
            <a:r>
              <a:rPr lang="zh-CN" altLang="en-US" sz="1600" b="1" dirty="0" smtClean="0">
                <a:solidFill>
                  <a:srgbClr val="002060"/>
                </a:solidFill>
                <a:latin typeface="Times New Roman" panose="02020603050405020304" pitchFamily="18" charset="0"/>
                <a:cs typeface="Times New Roman" panose="02020603050405020304" pitchFamily="18" charset="0"/>
              </a:rPr>
              <a:t>：</a:t>
            </a:r>
            <a:r>
              <a:rPr lang="en-US" altLang="zh-CN" sz="1600" b="1" dirty="0" smtClean="0">
                <a:solidFill>
                  <a:srgbClr val="002060"/>
                </a:solidFill>
                <a:latin typeface="Times New Roman" panose="02020603050405020304" pitchFamily="18" charset="0"/>
                <a:cs typeface="Times New Roman" panose="02020603050405020304" pitchFamily="18" charset="0"/>
              </a:rPr>
              <a:t> </a:t>
            </a:r>
            <a:r>
              <a:rPr lang="en-US" altLang="zh-CN" sz="1600" b="1" dirty="0">
                <a:solidFill>
                  <a:srgbClr val="002060"/>
                </a:solidFill>
                <a:latin typeface="Times New Roman" panose="02020603050405020304" pitchFamily="18" charset="0"/>
                <a:cs typeface="Times New Roman" panose="02020603050405020304" pitchFamily="18" charset="0"/>
              </a:rPr>
              <a:t>Environmental division</a:t>
            </a:r>
            <a:endParaRPr lang="zh-CN" altLang="en-US" sz="1600" b="1" dirty="0">
              <a:solidFill>
                <a:srgbClr val="002060"/>
              </a:solidFill>
              <a:latin typeface="Times New Roman" panose="02020603050405020304" pitchFamily="18" charset="0"/>
              <a:cs typeface="Times New Roman" panose="02020603050405020304" pitchFamily="18" charset="0"/>
            </a:endParaRPr>
          </a:p>
        </p:txBody>
      </p:sp>
      <p:sp>
        <p:nvSpPr>
          <p:cNvPr id="4" name="矩形 3"/>
          <p:cNvSpPr/>
          <p:nvPr/>
        </p:nvSpPr>
        <p:spPr>
          <a:xfrm>
            <a:off x="1438906" y="4078770"/>
            <a:ext cx="6194180" cy="923330"/>
          </a:xfrm>
          <a:prstGeom prst="rect">
            <a:avLst/>
          </a:prstGeom>
        </p:spPr>
        <p:txBody>
          <a:bodyPr wrap="square">
            <a:spAutoFit/>
          </a:bodyPr>
          <a:lstStyle/>
          <a:p>
            <a:r>
              <a:rPr lang="en-US" altLang="zh-CN" dirty="0">
                <a:solidFill>
                  <a:srgbClr val="002060"/>
                </a:solidFill>
              </a:rPr>
              <a:t>The search requires 2 lists to store information about nodes</a:t>
            </a:r>
          </a:p>
          <a:p>
            <a:pPr marL="285750" indent="-285750">
              <a:buFont typeface="Wingdings" panose="05000000000000000000" pitchFamily="2" charset="2"/>
              <a:buChar char="Ø"/>
            </a:pPr>
            <a:r>
              <a:rPr lang="en-US" altLang="zh-CN" dirty="0" smtClean="0">
                <a:solidFill>
                  <a:srgbClr val="002060"/>
                </a:solidFill>
              </a:rPr>
              <a:t>Open </a:t>
            </a:r>
            <a:r>
              <a:rPr lang="en-US" altLang="zh-CN" dirty="0">
                <a:solidFill>
                  <a:srgbClr val="002060"/>
                </a:solidFill>
              </a:rPr>
              <a:t>list (O) stores nodes for expansions</a:t>
            </a:r>
          </a:p>
          <a:p>
            <a:pPr marL="285750" indent="-285750">
              <a:buFont typeface="Wingdings" panose="05000000000000000000" pitchFamily="2" charset="2"/>
              <a:buChar char="Ø"/>
            </a:pPr>
            <a:r>
              <a:rPr lang="en-US" altLang="zh-CN" dirty="0" smtClean="0">
                <a:solidFill>
                  <a:srgbClr val="002060"/>
                </a:solidFill>
              </a:rPr>
              <a:t>Closed </a:t>
            </a:r>
            <a:r>
              <a:rPr lang="en-US" altLang="zh-CN" dirty="0">
                <a:solidFill>
                  <a:srgbClr val="002060"/>
                </a:solidFill>
              </a:rPr>
              <a:t>list (C) stores nodes which we have explored</a:t>
            </a:r>
            <a:endParaRPr lang="zh-CN" altLang="en-US"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sp>
        <p:nvSpPr>
          <p:cNvPr id="4" name="矩形 3"/>
          <p:cNvSpPr/>
          <p:nvPr/>
        </p:nvSpPr>
        <p:spPr>
          <a:xfrm>
            <a:off x="1343824" y="1635646"/>
            <a:ext cx="6840760" cy="1569660"/>
          </a:xfrm>
          <a:prstGeom prst="rect">
            <a:avLst/>
          </a:prstGeom>
        </p:spPr>
        <p:txBody>
          <a:bodyPr wrap="square">
            <a:spAutoFit/>
          </a:bodyPr>
          <a:lstStyle/>
          <a:p>
            <a:r>
              <a:rPr lang="zh-CN" altLang="en-US" sz="1600" b="1" dirty="0">
                <a:solidFill>
                  <a:srgbClr val="002060"/>
                </a:solidFill>
              </a:rPr>
              <a:t>第二步，生成</a:t>
            </a:r>
            <a:r>
              <a:rPr lang="zh-CN" altLang="en-US" sz="1600" b="1" dirty="0" smtClean="0">
                <a:solidFill>
                  <a:srgbClr val="002060"/>
                </a:solidFill>
              </a:rPr>
              <a:t>“开启列表”</a:t>
            </a:r>
            <a:r>
              <a:rPr lang="en-US" altLang="zh-CN" sz="1600" b="1" dirty="0" smtClean="0">
                <a:solidFill>
                  <a:srgbClr val="002060"/>
                </a:solidFill>
              </a:rPr>
              <a:t>:</a:t>
            </a:r>
          </a:p>
          <a:p>
            <a:endParaRPr lang="zh-CN" altLang="en-US" sz="1600" b="1" dirty="0">
              <a:solidFill>
                <a:srgbClr val="002060"/>
              </a:solidFill>
            </a:endParaRPr>
          </a:p>
          <a:p>
            <a:pPr marL="285750" indent="-285750">
              <a:buFont typeface="Wingdings" panose="05000000000000000000" pitchFamily="2" charset="2"/>
              <a:buChar char="Ø"/>
            </a:pPr>
            <a:r>
              <a:rPr lang="zh-CN" altLang="en-US" sz="1600" b="1" dirty="0">
                <a:solidFill>
                  <a:srgbClr val="002060"/>
                </a:solidFill>
              </a:rPr>
              <a:t>生成一个开启列表，并将S添加到开启列表</a:t>
            </a:r>
            <a:r>
              <a:rPr lang="zh-CN" altLang="en-US" sz="1600" b="1" dirty="0" smtClean="0">
                <a:solidFill>
                  <a:srgbClr val="002060"/>
                </a:solidFill>
              </a:rPr>
              <a:t>；</a:t>
            </a:r>
            <a:endParaRPr lang="en-US" altLang="zh-CN" sz="1600" b="1" dirty="0" smtClean="0">
              <a:solidFill>
                <a:srgbClr val="002060"/>
              </a:solidFill>
            </a:endParaRPr>
          </a:p>
          <a:p>
            <a:pPr marL="285750" indent="-285750">
              <a:buFont typeface="Wingdings" panose="05000000000000000000" pitchFamily="2" charset="2"/>
              <a:buChar char="Ø"/>
            </a:pPr>
            <a:endParaRPr lang="zh-CN" altLang="en-US" sz="1600" b="1" dirty="0">
              <a:solidFill>
                <a:srgbClr val="002060"/>
              </a:solidFill>
            </a:endParaRPr>
          </a:p>
          <a:p>
            <a:pPr marL="285750" indent="-285750">
              <a:buFont typeface="Wingdings" panose="05000000000000000000" pitchFamily="2" charset="2"/>
              <a:buChar char="Ø"/>
            </a:pPr>
            <a:r>
              <a:rPr lang="zh-CN" altLang="en-US" sz="1600" b="1" dirty="0">
                <a:solidFill>
                  <a:srgbClr val="002060"/>
                </a:solidFill>
              </a:rPr>
              <a:t>寻找当前选中点（起点）周围所有可到达或可通过的方格，也把它们加入开启列表，为所有这些方格保存点S为“父方格”。</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sp>
        <p:nvSpPr>
          <p:cNvPr id="4" name="矩形 3"/>
          <p:cNvSpPr/>
          <p:nvPr/>
        </p:nvSpPr>
        <p:spPr>
          <a:xfrm>
            <a:off x="1619672" y="1269311"/>
            <a:ext cx="5604440" cy="830997"/>
          </a:xfrm>
          <a:prstGeom prst="rect">
            <a:avLst/>
          </a:prstGeom>
        </p:spPr>
        <p:txBody>
          <a:bodyPr wrap="square">
            <a:spAutoFit/>
          </a:bodyPr>
          <a:lstStyle/>
          <a:p>
            <a:r>
              <a:rPr lang="zh-CN" altLang="en-US" sz="1600" b="1" dirty="0" smtClean="0">
                <a:solidFill>
                  <a:srgbClr val="002060"/>
                </a:solidFill>
              </a:rPr>
              <a:t>第</a:t>
            </a:r>
            <a:r>
              <a:rPr lang="zh-CN" altLang="en-US" sz="1600" b="1" dirty="0">
                <a:solidFill>
                  <a:srgbClr val="002060"/>
                </a:solidFill>
              </a:rPr>
              <a:t>三</a:t>
            </a:r>
            <a:r>
              <a:rPr lang="zh-CN" altLang="en-US" sz="1600" b="1" dirty="0" smtClean="0">
                <a:solidFill>
                  <a:srgbClr val="002060"/>
                </a:solidFill>
              </a:rPr>
              <a:t>步</a:t>
            </a:r>
            <a:r>
              <a:rPr lang="zh-CN" altLang="en-US" sz="1600" b="1" dirty="0">
                <a:solidFill>
                  <a:srgbClr val="002060"/>
                </a:solidFill>
              </a:rPr>
              <a:t>，生成</a:t>
            </a:r>
            <a:r>
              <a:rPr lang="zh-CN" altLang="en-US" sz="1600" b="1" dirty="0" smtClean="0">
                <a:solidFill>
                  <a:srgbClr val="002060"/>
                </a:solidFill>
              </a:rPr>
              <a:t>“关闭列表”</a:t>
            </a:r>
            <a:r>
              <a:rPr lang="en-US" altLang="zh-CN" sz="1600" b="1" dirty="0" smtClean="0">
                <a:solidFill>
                  <a:srgbClr val="002060"/>
                </a:solidFill>
              </a:rPr>
              <a:t>:</a:t>
            </a:r>
          </a:p>
          <a:p>
            <a:endParaRPr lang="zh-CN" altLang="en-US" sz="1600" b="1" dirty="0">
              <a:solidFill>
                <a:srgbClr val="002060"/>
              </a:solidFill>
            </a:endParaRPr>
          </a:p>
          <a:p>
            <a:pPr marL="285750" indent="-285750">
              <a:buFont typeface="Wingdings" panose="05000000000000000000" pitchFamily="2" charset="2"/>
              <a:buChar char="Ø"/>
            </a:pPr>
            <a:r>
              <a:rPr lang="zh-CN" altLang="en-US" sz="1600" b="1" dirty="0">
                <a:solidFill>
                  <a:srgbClr val="002060"/>
                </a:solidFill>
              </a:rPr>
              <a:t>从开启列表中删除节点</a:t>
            </a:r>
            <a:r>
              <a:rPr lang="en-US" altLang="zh-CN" sz="1600" b="1" dirty="0">
                <a:solidFill>
                  <a:srgbClr val="002060"/>
                </a:solidFill>
              </a:rPr>
              <a:t>S</a:t>
            </a:r>
            <a:r>
              <a:rPr lang="zh-CN" altLang="en-US" sz="1600" b="1" dirty="0">
                <a:solidFill>
                  <a:srgbClr val="002060"/>
                </a:solidFill>
              </a:rPr>
              <a:t>，把它加入到“关闭列表”</a:t>
            </a:r>
            <a:r>
              <a:rPr lang="zh-CN" altLang="en-US" sz="1600" b="1" dirty="0" smtClean="0">
                <a:solidFill>
                  <a:srgbClr val="002060"/>
                </a:solidFill>
              </a:rPr>
              <a:t>。</a:t>
            </a:r>
            <a:endParaRPr lang="zh-CN" altLang="en-US" sz="1600" b="1" dirty="0">
              <a:solidFill>
                <a:srgbClr val="002060"/>
              </a:solidFill>
            </a:endParaRPr>
          </a:p>
        </p:txBody>
      </p:sp>
      <p:pic>
        <p:nvPicPr>
          <p:cNvPr id="11" name="Picture 2" descr="J9~GUC2WHMNZ23@0OHVGN5F"/>
          <p:cNvPicPr>
            <a:picLocks noChangeAspect="1" noChangeArrowheads="1"/>
          </p:cNvPicPr>
          <p:nvPr/>
        </p:nvPicPr>
        <p:blipFill rotWithShape="1">
          <a:blip r:embed="rId4">
            <a:extLst>
              <a:ext uri="{28A0092B-C50C-407E-A947-70E740481C1C}">
                <a14:useLocalDpi xmlns:a14="http://schemas.microsoft.com/office/drawing/2010/main" val="0"/>
              </a:ext>
            </a:extLst>
          </a:blip>
          <a:srcRect l="23435" t="29719" r="13474"/>
          <a:stretch>
            <a:fillRect/>
          </a:stretch>
        </p:blipFill>
        <p:spPr bwMode="auto">
          <a:xfrm>
            <a:off x="2483767" y="2211710"/>
            <a:ext cx="4104457" cy="249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sp>
        <p:nvSpPr>
          <p:cNvPr id="4" name="矩形 3"/>
          <p:cNvSpPr/>
          <p:nvPr/>
        </p:nvSpPr>
        <p:spPr>
          <a:xfrm>
            <a:off x="1373889" y="1491630"/>
            <a:ext cx="7140976" cy="2554545"/>
          </a:xfrm>
          <a:prstGeom prst="rect">
            <a:avLst/>
          </a:prstGeom>
        </p:spPr>
        <p:txBody>
          <a:bodyPr wrap="square">
            <a:spAutoFit/>
          </a:bodyPr>
          <a:lstStyle/>
          <a:p>
            <a:r>
              <a:rPr lang="zh-CN" altLang="en-US" sz="1600" b="1" dirty="0">
                <a:solidFill>
                  <a:srgbClr val="002060"/>
                </a:solidFill>
              </a:rPr>
              <a:t>第四步，更新</a:t>
            </a:r>
            <a:r>
              <a:rPr lang="zh-CN" altLang="en-US" sz="1600" b="1" dirty="0" smtClean="0">
                <a:solidFill>
                  <a:srgbClr val="002060"/>
                </a:solidFill>
              </a:rPr>
              <a:t>“关闭列表”：</a:t>
            </a:r>
            <a:endParaRPr lang="en-US" altLang="zh-CN" sz="1600" b="1" dirty="0" smtClean="0">
              <a:solidFill>
                <a:srgbClr val="002060"/>
              </a:solidFill>
            </a:endParaRPr>
          </a:p>
          <a:p>
            <a:endParaRPr lang="zh-CN" altLang="en-US" sz="1600" b="1" dirty="0">
              <a:solidFill>
                <a:srgbClr val="002060"/>
              </a:solidFill>
            </a:endParaRPr>
          </a:p>
          <a:p>
            <a:pPr marL="285750" indent="-285750">
              <a:buFont typeface="Wingdings" panose="05000000000000000000" pitchFamily="2" charset="2"/>
              <a:buChar char="u"/>
            </a:pPr>
            <a:r>
              <a:rPr lang="zh-CN" altLang="en-US" sz="1600" b="1" dirty="0">
                <a:solidFill>
                  <a:srgbClr val="002060"/>
                </a:solidFill>
              </a:rPr>
              <a:t>搜索下一个放入关闭列表的节点</a:t>
            </a:r>
          </a:p>
          <a:p>
            <a:pPr marL="742950" lvl="1" indent="-285750">
              <a:buFont typeface="Wingdings" panose="05000000000000000000" pitchFamily="2" charset="2"/>
              <a:buChar char="Ø"/>
            </a:pPr>
            <a:r>
              <a:rPr lang="en-US" altLang="zh-CN" sz="1600" b="1" dirty="0" smtClean="0">
                <a:solidFill>
                  <a:srgbClr val="002060"/>
                </a:solidFill>
              </a:rPr>
              <a:t>F=G+H</a:t>
            </a:r>
          </a:p>
          <a:p>
            <a:pPr marL="742950" lvl="1" indent="-285750">
              <a:buFont typeface="Wingdings" panose="05000000000000000000" pitchFamily="2" charset="2"/>
              <a:buChar char="Ø"/>
            </a:pPr>
            <a:endParaRPr lang="en-US" altLang="zh-CN" sz="1600" b="1" dirty="0">
              <a:solidFill>
                <a:srgbClr val="002060"/>
              </a:solidFill>
            </a:endParaRPr>
          </a:p>
          <a:p>
            <a:pPr marL="742950" lvl="1" indent="-285750">
              <a:buFont typeface="Wingdings" panose="05000000000000000000" pitchFamily="2" charset="2"/>
              <a:buChar char="Ø"/>
            </a:pPr>
            <a:r>
              <a:rPr lang="en-US" altLang="zh-CN" sz="1600" b="1" dirty="0">
                <a:solidFill>
                  <a:srgbClr val="002060"/>
                </a:solidFill>
              </a:rPr>
              <a:t>G=</a:t>
            </a:r>
            <a:r>
              <a:rPr lang="zh-CN" altLang="en-US" sz="1600" b="1" dirty="0">
                <a:solidFill>
                  <a:srgbClr val="002060"/>
                </a:solidFill>
              </a:rPr>
              <a:t>从起点</a:t>
            </a:r>
            <a:r>
              <a:rPr lang="en-US" altLang="zh-CN" sz="1600" b="1" dirty="0">
                <a:solidFill>
                  <a:srgbClr val="002060"/>
                </a:solidFill>
              </a:rPr>
              <a:t>S</a:t>
            </a:r>
            <a:r>
              <a:rPr lang="zh-CN" altLang="en-US" sz="1600" b="1" dirty="0">
                <a:solidFill>
                  <a:srgbClr val="002060"/>
                </a:solidFill>
              </a:rPr>
              <a:t>，沿着产生的路径，移动到网格上指定方格的移动耗费</a:t>
            </a:r>
            <a:r>
              <a:rPr lang="zh-CN" altLang="en-US" sz="1600" b="1" dirty="0" smtClean="0">
                <a:solidFill>
                  <a:srgbClr val="002060"/>
                </a:solidFill>
              </a:rPr>
              <a:t>；</a:t>
            </a:r>
            <a:endParaRPr lang="en-US" altLang="zh-CN" sz="1600" b="1" dirty="0" smtClean="0">
              <a:solidFill>
                <a:srgbClr val="002060"/>
              </a:solidFill>
            </a:endParaRPr>
          </a:p>
          <a:p>
            <a:pPr marL="742950" lvl="1" indent="-285750">
              <a:buFont typeface="Wingdings" panose="05000000000000000000" pitchFamily="2" charset="2"/>
              <a:buChar char="Ø"/>
            </a:pPr>
            <a:endParaRPr lang="zh-CN" altLang="en-US" sz="1600" b="1" dirty="0">
              <a:solidFill>
                <a:srgbClr val="002060"/>
              </a:solidFill>
            </a:endParaRPr>
          </a:p>
          <a:p>
            <a:pPr marL="742950" lvl="1" indent="-285750">
              <a:buFont typeface="Wingdings" panose="05000000000000000000" pitchFamily="2" charset="2"/>
              <a:buChar char="Ø"/>
            </a:pPr>
            <a:r>
              <a:rPr lang="en-US" altLang="zh-CN" sz="1600" b="1" dirty="0">
                <a:solidFill>
                  <a:srgbClr val="002060"/>
                </a:solidFill>
              </a:rPr>
              <a:t>H=</a:t>
            </a:r>
            <a:r>
              <a:rPr lang="zh-CN" altLang="en-US" sz="1600" b="1" dirty="0">
                <a:solidFill>
                  <a:srgbClr val="002060"/>
                </a:solidFill>
              </a:rPr>
              <a:t>从网格上那个方格移动到终点</a:t>
            </a:r>
            <a:r>
              <a:rPr lang="en-US" altLang="zh-CN" sz="1600" b="1" dirty="0">
                <a:solidFill>
                  <a:srgbClr val="002060"/>
                </a:solidFill>
              </a:rPr>
              <a:t>G</a:t>
            </a:r>
            <a:r>
              <a:rPr lang="zh-CN" altLang="en-US" sz="1600" b="1" dirty="0">
                <a:solidFill>
                  <a:srgbClr val="002060"/>
                </a:solidFill>
              </a:rPr>
              <a:t>的预移动耗费</a:t>
            </a:r>
            <a:r>
              <a:rPr lang="zh-CN" altLang="en-US" sz="1600" b="1" dirty="0" smtClean="0">
                <a:solidFill>
                  <a:srgbClr val="002060"/>
                </a:solidFill>
              </a:rPr>
              <a:t>。</a:t>
            </a:r>
            <a:endParaRPr lang="en-US" altLang="zh-CN" sz="1600" b="1" dirty="0" smtClean="0">
              <a:solidFill>
                <a:srgbClr val="002060"/>
              </a:solidFill>
            </a:endParaRPr>
          </a:p>
          <a:p>
            <a:pPr marL="742950" lvl="1" indent="-285750">
              <a:buFont typeface="Wingdings" panose="05000000000000000000" pitchFamily="2" charset="2"/>
              <a:buChar char="Ø"/>
            </a:pPr>
            <a:endParaRPr lang="zh-CN" altLang="en-US" sz="1600" b="1" dirty="0">
              <a:solidFill>
                <a:srgbClr val="002060"/>
              </a:solidFill>
            </a:endParaRPr>
          </a:p>
          <a:p>
            <a:pPr marL="285750" indent="-285750">
              <a:buFont typeface="Wingdings" panose="05000000000000000000" pitchFamily="2" charset="2"/>
              <a:buChar char="u"/>
            </a:pPr>
            <a:r>
              <a:rPr lang="zh-CN" altLang="en-US" sz="1600" b="1" dirty="0">
                <a:solidFill>
                  <a:srgbClr val="002060"/>
                </a:solidFill>
              </a:rPr>
              <a:t>把</a:t>
            </a:r>
            <a:r>
              <a:rPr lang="en-US" altLang="zh-CN" sz="1600" b="1" dirty="0">
                <a:solidFill>
                  <a:srgbClr val="002060"/>
                </a:solidFill>
              </a:rPr>
              <a:t>F</a:t>
            </a:r>
            <a:r>
              <a:rPr lang="zh-CN" altLang="en-US" sz="1600" b="1" dirty="0">
                <a:solidFill>
                  <a:srgbClr val="002060"/>
                </a:solidFill>
              </a:rPr>
              <a:t>值最小的节点，从开启列表中删除，然后添加到关闭列表中。</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1" name="Picture 2" descr="ITDU[O7$DV_(D_]LV(I8SV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1335881"/>
            <a:ext cx="6324600"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2" name="Picture 2" descr="51RH3THD1N636R)SMKT3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96591"/>
            <a:ext cx="6096000" cy="2550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1" name="Picture 2" descr="U{CBYRERG95YFD%9(@N2EL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5133" y="1151255"/>
            <a:ext cx="6181725" cy="3579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sp>
        <p:nvSpPr>
          <p:cNvPr id="3" name="矩形 2"/>
          <p:cNvSpPr/>
          <p:nvPr/>
        </p:nvSpPr>
        <p:spPr>
          <a:xfrm>
            <a:off x="1127800" y="1419622"/>
            <a:ext cx="7056784" cy="3046988"/>
          </a:xfrm>
          <a:prstGeom prst="rect">
            <a:avLst/>
          </a:prstGeom>
        </p:spPr>
        <p:txBody>
          <a:bodyPr wrap="square">
            <a:spAutoFit/>
          </a:bodyPr>
          <a:lstStyle/>
          <a:p>
            <a:r>
              <a:rPr lang="zh-CN" altLang="en-US" sz="1600" b="1" dirty="0">
                <a:solidFill>
                  <a:srgbClr val="002060"/>
                </a:solidFill>
              </a:rPr>
              <a:t>第五步，更新</a:t>
            </a:r>
            <a:r>
              <a:rPr lang="zh-CN" altLang="en-US" sz="1600" b="1" dirty="0" smtClean="0">
                <a:solidFill>
                  <a:srgbClr val="002060"/>
                </a:solidFill>
              </a:rPr>
              <a:t>“开启列表”</a:t>
            </a:r>
            <a:endParaRPr lang="en-US" altLang="zh-CN" sz="1600" b="1" dirty="0" smtClean="0">
              <a:solidFill>
                <a:srgbClr val="002060"/>
              </a:solidFill>
            </a:endParaRPr>
          </a:p>
          <a:p>
            <a:endParaRPr lang="zh-CN" altLang="en-US" sz="1600" dirty="0">
              <a:solidFill>
                <a:srgbClr val="002060"/>
              </a:solidFill>
            </a:endParaRPr>
          </a:p>
          <a:p>
            <a:pPr marL="285750" indent="-285750">
              <a:buFont typeface="Wingdings" panose="05000000000000000000" pitchFamily="2" charset="2"/>
              <a:buChar char="Ø"/>
            </a:pPr>
            <a:r>
              <a:rPr lang="zh-CN" altLang="en-US" sz="1600" dirty="0">
                <a:solidFill>
                  <a:srgbClr val="002060"/>
                </a:solidFill>
              </a:rPr>
              <a:t>检查所有相邻节点</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endParaRPr lang="zh-CN" altLang="en-US" sz="1600" dirty="0">
              <a:solidFill>
                <a:srgbClr val="002060"/>
              </a:solidFill>
            </a:endParaRPr>
          </a:p>
          <a:p>
            <a:pPr marL="285750" indent="-285750">
              <a:buFont typeface="Wingdings" panose="05000000000000000000" pitchFamily="2" charset="2"/>
              <a:buChar char="Ø"/>
            </a:pPr>
            <a:r>
              <a:rPr lang="zh-CN" altLang="en-US" sz="1600" dirty="0">
                <a:solidFill>
                  <a:srgbClr val="002060"/>
                </a:solidFill>
              </a:rPr>
              <a:t>如果某个相邻节点还不在开启列表中，把它们加入到开启列表中</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endParaRPr lang="zh-CN" altLang="en-US" sz="1600" dirty="0">
              <a:solidFill>
                <a:srgbClr val="002060"/>
              </a:solidFill>
            </a:endParaRPr>
          </a:p>
          <a:p>
            <a:pPr marL="285750" indent="-285750">
              <a:buFont typeface="Wingdings" panose="05000000000000000000" pitchFamily="2" charset="2"/>
              <a:buChar char="Ø"/>
            </a:pPr>
            <a:r>
              <a:rPr lang="zh-CN" altLang="en-US" sz="1600" dirty="0">
                <a:solidFill>
                  <a:srgbClr val="002060"/>
                </a:solidFill>
              </a:rPr>
              <a:t>如果某个相邻节点已经在开启列表里了，检查通过当前节点到达该相邻节点是否G值更低（路径更短</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endParaRPr lang="zh-CN" altLang="en-US" sz="1600" dirty="0">
              <a:solidFill>
                <a:srgbClr val="002060"/>
              </a:solidFill>
            </a:endParaRPr>
          </a:p>
          <a:p>
            <a:pPr marL="742950" lvl="1" indent="-285750">
              <a:buFont typeface="Wingdings" panose="05000000000000000000" pitchFamily="2" charset="2"/>
              <a:buChar char="Ø"/>
            </a:pPr>
            <a:r>
              <a:rPr lang="zh-CN" altLang="en-US" sz="1600" dirty="0">
                <a:solidFill>
                  <a:srgbClr val="002060"/>
                </a:solidFill>
              </a:rPr>
              <a:t>如果G值更低，则将该节点的父节点更新为当前选中节点</a:t>
            </a:r>
            <a:r>
              <a:rPr lang="zh-CN" altLang="en-US" sz="1600" dirty="0" smtClean="0">
                <a:solidFill>
                  <a:srgbClr val="002060"/>
                </a:solidFill>
              </a:rPr>
              <a:t>；</a:t>
            </a:r>
            <a:endParaRPr lang="en-US" altLang="zh-CN" sz="1600" dirty="0" smtClean="0">
              <a:solidFill>
                <a:srgbClr val="002060"/>
              </a:solidFill>
            </a:endParaRPr>
          </a:p>
          <a:p>
            <a:pPr marL="742950" lvl="1" indent="-285750">
              <a:buFont typeface="Wingdings" panose="05000000000000000000" pitchFamily="2" charset="2"/>
              <a:buChar char="Ø"/>
            </a:pPr>
            <a:endParaRPr lang="zh-CN" altLang="en-US" sz="1600" dirty="0">
              <a:solidFill>
                <a:srgbClr val="002060"/>
              </a:solidFill>
            </a:endParaRPr>
          </a:p>
          <a:p>
            <a:pPr marL="742950" lvl="1" indent="-285750">
              <a:buFont typeface="Wingdings" panose="05000000000000000000" pitchFamily="2" charset="2"/>
              <a:buChar char="Ø"/>
            </a:pPr>
            <a:r>
              <a:rPr lang="zh-CN" altLang="en-US" sz="1600" dirty="0">
                <a:solidFill>
                  <a:srgbClr val="002060"/>
                </a:solidFill>
              </a:rPr>
              <a:t>否则不做任何更新。</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1" name="Picture 2" descr="{S7WLQVQW{~6VNIEDDB]({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003464"/>
            <a:ext cx="6880493" cy="3871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sp>
        <p:nvSpPr>
          <p:cNvPr id="3" name="矩形 2"/>
          <p:cNvSpPr/>
          <p:nvPr/>
        </p:nvSpPr>
        <p:spPr>
          <a:xfrm>
            <a:off x="1259632" y="1833086"/>
            <a:ext cx="6696744" cy="1569660"/>
          </a:xfrm>
          <a:prstGeom prst="rect">
            <a:avLst/>
          </a:prstGeom>
        </p:spPr>
        <p:txBody>
          <a:bodyPr wrap="square">
            <a:spAutoFit/>
          </a:bodyPr>
          <a:lstStyle/>
          <a:p>
            <a:r>
              <a:rPr lang="zh-CN" altLang="en-US" sz="1600" b="1" dirty="0">
                <a:solidFill>
                  <a:srgbClr val="002060"/>
                </a:solidFill>
              </a:rPr>
              <a:t>第六步，判断终点是否在开启</a:t>
            </a:r>
            <a:r>
              <a:rPr lang="zh-CN" altLang="en-US" sz="1600" b="1" dirty="0" smtClean="0">
                <a:solidFill>
                  <a:srgbClr val="002060"/>
                </a:solidFill>
              </a:rPr>
              <a:t>列表</a:t>
            </a:r>
            <a:endParaRPr lang="en-US" altLang="zh-CN" sz="1600" b="1" dirty="0" smtClean="0">
              <a:solidFill>
                <a:srgbClr val="002060"/>
              </a:solidFill>
            </a:endParaRPr>
          </a:p>
          <a:p>
            <a:endParaRPr lang="zh-CN" altLang="en-US" sz="1600" b="1" dirty="0">
              <a:solidFill>
                <a:srgbClr val="002060"/>
              </a:solidFill>
            </a:endParaRPr>
          </a:p>
          <a:p>
            <a:pPr marL="285750" indent="-285750">
              <a:buFont typeface="Wingdings" panose="05000000000000000000" pitchFamily="2" charset="2"/>
              <a:buChar char="Ø"/>
            </a:pPr>
            <a:r>
              <a:rPr lang="zh-CN" altLang="en-US" sz="1600" dirty="0"/>
              <a:t>如果终点不在开启列表，则返回第四步重复</a:t>
            </a:r>
            <a:r>
              <a:rPr lang="zh-CN" altLang="en-US" sz="1600" dirty="0" smtClean="0"/>
              <a:t>；</a:t>
            </a:r>
            <a:endParaRPr lang="en-US" altLang="zh-CN" sz="1600" dirty="0" smtClean="0"/>
          </a:p>
          <a:p>
            <a:pPr marL="285750" indent="-285750">
              <a:buFont typeface="Wingdings" panose="05000000000000000000" pitchFamily="2" charset="2"/>
              <a:buChar char="Ø"/>
            </a:pPr>
            <a:endParaRPr lang="zh-CN" altLang="en-US" sz="1600" dirty="0"/>
          </a:p>
          <a:p>
            <a:pPr marL="285750" indent="-285750">
              <a:buFont typeface="Wingdings" panose="05000000000000000000" pitchFamily="2" charset="2"/>
              <a:buChar char="Ø"/>
            </a:pPr>
            <a:r>
              <a:rPr lang="zh-CN" altLang="en-US" sz="1600" dirty="0"/>
              <a:t>如果终点已在开启列表中，则从终点开始，按照父节点方向，即可得到从起点到终点的路径。</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pic>
        <p:nvPicPr>
          <p:cNvPr id="11" name="Picture 2" descr="[R9RSPPWXV_[T$3B`FTFY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7036" y="1065024"/>
            <a:ext cx="6537920" cy="364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894797" cy="369332"/>
          </a:xfrm>
          <a:prstGeom prst="rect">
            <a:avLst/>
          </a:prstGeom>
        </p:spPr>
        <p:txBody>
          <a:bodyPr wrap="none">
            <a:spAutoFit/>
          </a:bodyPr>
          <a:lstStyle/>
          <a:p>
            <a:r>
              <a:rPr lang="en-US" altLang="zh-CN" dirty="0" smtClean="0">
                <a:solidFill>
                  <a:srgbClr val="002060"/>
                </a:solidFill>
                <a:cs typeface="MV Boli" panose="02000500030200090000" pitchFamily="2" charset="0"/>
              </a:rPr>
              <a:t>A*</a:t>
            </a:r>
            <a:r>
              <a:rPr lang="zh-CN" altLang="zh-CN" dirty="0" smtClean="0">
                <a:solidFill>
                  <a:srgbClr val="002060"/>
                </a:solidFill>
                <a:cs typeface="MV Boli" panose="02000500030200090000" pitchFamily="2" charset="0"/>
              </a:rPr>
              <a:t>算法</a:t>
            </a:r>
            <a:endParaRPr lang="zh-CN" altLang="en-US" dirty="0"/>
          </a:p>
        </p:txBody>
      </p:sp>
      <p:sp>
        <p:nvSpPr>
          <p:cNvPr id="3" name="矩形 2"/>
          <p:cNvSpPr/>
          <p:nvPr/>
        </p:nvSpPr>
        <p:spPr>
          <a:xfrm>
            <a:off x="1331640" y="1151255"/>
            <a:ext cx="4572000" cy="3139321"/>
          </a:xfrm>
          <a:prstGeom prst="rect">
            <a:avLst/>
          </a:prstGeom>
        </p:spPr>
        <p:txBody>
          <a:bodyPr>
            <a:spAutoFit/>
          </a:bodyPr>
          <a:lstStyle/>
          <a:p>
            <a:r>
              <a:rPr lang="zh-CN" altLang="en-US" b="1" dirty="0">
                <a:solidFill>
                  <a:srgbClr val="002060"/>
                </a:solidFill>
              </a:rPr>
              <a:t>A*算法的</a:t>
            </a:r>
            <a:r>
              <a:rPr lang="zh-CN" altLang="en-US" b="1" dirty="0" smtClean="0">
                <a:solidFill>
                  <a:srgbClr val="002060"/>
                </a:solidFill>
              </a:rPr>
              <a:t>特点</a:t>
            </a:r>
            <a:endParaRPr lang="en-US" altLang="zh-CN" b="1" dirty="0" smtClean="0">
              <a:solidFill>
                <a:srgbClr val="002060"/>
              </a:solidFill>
            </a:endParaRPr>
          </a:p>
          <a:p>
            <a:endParaRPr lang="zh-CN" altLang="en-US" b="1" dirty="0">
              <a:solidFill>
                <a:srgbClr val="002060"/>
              </a:solidFill>
            </a:endParaRPr>
          </a:p>
          <a:p>
            <a:pPr marL="285750" indent="-285750">
              <a:buFont typeface="Wingdings" panose="05000000000000000000" pitchFamily="2" charset="2"/>
              <a:buChar char="Ø"/>
            </a:pPr>
            <a:r>
              <a:rPr lang="zh-CN" altLang="en-US" dirty="0">
                <a:solidFill>
                  <a:srgbClr val="002060"/>
                </a:solidFill>
              </a:rPr>
              <a:t>A*算法是一种典型的启发式搜索算法</a:t>
            </a:r>
            <a:r>
              <a:rPr lang="zh-CN" altLang="en-US" dirty="0" smtClean="0">
                <a:solidFill>
                  <a:srgbClr val="002060"/>
                </a:solidFill>
              </a:rPr>
              <a:t>；</a:t>
            </a:r>
            <a:endParaRPr lang="en-US" altLang="zh-CN" dirty="0" smtClean="0">
              <a:solidFill>
                <a:srgbClr val="002060"/>
              </a:solidFill>
            </a:endParaRPr>
          </a:p>
          <a:p>
            <a:pPr marL="285750" indent="-285750">
              <a:buFont typeface="Wingdings" panose="05000000000000000000" pitchFamily="2" charset="2"/>
              <a:buChar char="Ø"/>
            </a:pPr>
            <a:endParaRPr lang="zh-CN" altLang="en-US" dirty="0">
              <a:solidFill>
                <a:srgbClr val="002060"/>
              </a:solidFill>
            </a:endParaRPr>
          </a:p>
          <a:p>
            <a:pPr marL="742950" lvl="1" indent="-285750">
              <a:buFont typeface="Wingdings" panose="05000000000000000000" pitchFamily="2" charset="2"/>
              <a:buChar char="p"/>
            </a:pPr>
            <a:r>
              <a:rPr lang="zh-CN" altLang="en-US" dirty="0">
                <a:solidFill>
                  <a:srgbClr val="002060"/>
                </a:solidFill>
              </a:rPr>
              <a:t>F=G+</a:t>
            </a:r>
            <a:r>
              <a:rPr lang="zh-CN" altLang="en-US" dirty="0" smtClean="0">
                <a:solidFill>
                  <a:srgbClr val="002060"/>
                </a:solidFill>
              </a:rPr>
              <a:t>H</a:t>
            </a:r>
            <a:endParaRPr lang="en-US" altLang="zh-CN" dirty="0" smtClean="0">
              <a:solidFill>
                <a:srgbClr val="002060"/>
              </a:solidFill>
            </a:endParaRPr>
          </a:p>
          <a:p>
            <a:pPr marL="742950" lvl="1" indent="-285750">
              <a:buFont typeface="Wingdings" panose="05000000000000000000" pitchFamily="2" charset="2"/>
              <a:buChar char="p"/>
            </a:pPr>
            <a:endParaRPr lang="zh-CN" altLang="en-US" dirty="0">
              <a:solidFill>
                <a:srgbClr val="002060"/>
              </a:solidFill>
            </a:endParaRPr>
          </a:p>
          <a:p>
            <a:pPr marL="285750" indent="-285750">
              <a:buFont typeface="Wingdings" panose="05000000000000000000" pitchFamily="2" charset="2"/>
              <a:buChar char="Ø"/>
            </a:pPr>
            <a:r>
              <a:rPr lang="zh-CN" altLang="en-US" dirty="0">
                <a:solidFill>
                  <a:srgbClr val="002060"/>
                </a:solidFill>
              </a:rPr>
              <a:t>A*算法与广度优先及深度优先的联系</a:t>
            </a:r>
            <a:r>
              <a:rPr lang="zh-CN" altLang="en-US" dirty="0" smtClean="0">
                <a:solidFill>
                  <a:srgbClr val="002060"/>
                </a:solidFill>
              </a:rPr>
              <a:t>：</a:t>
            </a:r>
            <a:endParaRPr lang="en-US" altLang="zh-CN" dirty="0" smtClean="0">
              <a:solidFill>
                <a:srgbClr val="002060"/>
              </a:solidFill>
            </a:endParaRPr>
          </a:p>
          <a:p>
            <a:pPr marL="285750" indent="-285750">
              <a:buFont typeface="Wingdings" panose="05000000000000000000" pitchFamily="2" charset="2"/>
              <a:buChar char="Ø"/>
            </a:pPr>
            <a:endParaRPr lang="zh-CN" altLang="en-US" dirty="0">
              <a:solidFill>
                <a:srgbClr val="002060"/>
              </a:solidFill>
            </a:endParaRPr>
          </a:p>
          <a:p>
            <a:pPr marL="742950" lvl="1" indent="-285750">
              <a:buFont typeface="Wingdings" panose="05000000000000000000" pitchFamily="2" charset="2"/>
              <a:buChar char="ü"/>
            </a:pPr>
            <a:r>
              <a:rPr lang="zh-CN" altLang="en-US" dirty="0">
                <a:solidFill>
                  <a:srgbClr val="002060"/>
                </a:solidFill>
              </a:rPr>
              <a:t>当g(n)=0时，该算法类似</a:t>
            </a:r>
            <a:r>
              <a:rPr lang="zh-CN" altLang="en-US" dirty="0" smtClean="0">
                <a:solidFill>
                  <a:srgbClr val="002060"/>
                </a:solidFill>
              </a:rPr>
              <a:t>DFS</a:t>
            </a:r>
            <a:endParaRPr lang="en-US" altLang="zh-CN" dirty="0" smtClean="0">
              <a:solidFill>
                <a:srgbClr val="002060"/>
              </a:solidFill>
            </a:endParaRPr>
          </a:p>
          <a:p>
            <a:pPr marL="742950" lvl="1" indent="-285750">
              <a:buFont typeface="Wingdings" panose="05000000000000000000" pitchFamily="2" charset="2"/>
              <a:buChar char="ü"/>
            </a:pPr>
            <a:endParaRPr lang="zh-CN" altLang="en-US" dirty="0">
              <a:solidFill>
                <a:srgbClr val="002060"/>
              </a:solidFill>
            </a:endParaRPr>
          </a:p>
          <a:p>
            <a:pPr marL="742950" lvl="1" indent="-285750">
              <a:buFont typeface="Wingdings" panose="05000000000000000000" pitchFamily="2" charset="2"/>
              <a:buChar char="ü"/>
            </a:pPr>
            <a:r>
              <a:rPr lang="zh-CN" altLang="en-US" dirty="0">
                <a:solidFill>
                  <a:srgbClr val="002060"/>
                </a:solidFill>
              </a:rPr>
              <a:t>当h(n)=0时，该算法类似于BFS</a:t>
            </a:r>
          </a:p>
        </p:txBody>
      </p:sp>
      <p:sp>
        <p:nvSpPr>
          <p:cNvPr id="4" name="矩形 3"/>
          <p:cNvSpPr/>
          <p:nvPr/>
        </p:nvSpPr>
        <p:spPr>
          <a:xfrm>
            <a:off x="6071984" y="1779662"/>
            <a:ext cx="2604472" cy="2308324"/>
          </a:xfrm>
          <a:prstGeom prst="rect">
            <a:avLst/>
          </a:prstGeom>
        </p:spPr>
        <p:txBody>
          <a:bodyPr wrap="square">
            <a:spAutoFit/>
          </a:bodyPr>
          <a:lstStyle/>
          <a:p>
            <a:r>
              <a:rPr lang="zh-CN" altLang="en-US" dirty="0">
                <a:solidFill>
                  <a:srgbClr val="FF0000"/>
                </a:solidFill>
              </a:rPr>
              <a:t>A*算法有待改进的地方：</a:t>
            </a:r>
          </a:p>
          <a:p>
            <a:pPr marL="285750" indent="-285750">
              <a:buFont typeface="Wingdings" panose="05000000000000000000" pitchFamily="2" charset="2"/>
              <a:buChar char="Ø"/>
            </a:pPr>
            <a:r>
              <a:rPr lang="zh-CN" altLang="en-US" dirty="0">
                <a:solidFill>
                  <a:srgbClr val="FF0000"/>
                </a:solidFill>
              </a:rPr>
              <a:t>路径的平滑性</a:t>
            </a:r>
          </a:p>
          <a:p>
            <a:pPr marL="285750" indent="-285750">
              <a:buFont typeface="Wingdings" panose="05000000000000000000" pitchFamily="2" charset="2"/>
              <a:buChar char="Ø"/>
            </a:pPr>
            <a:r>
              <a:rPr lang="zh-CN" altLang="en-US" dirty="0">
                <a:solidFill>
                  <a:srgbClr val="FF0000"/>
                </a:solidFill>
              </a:rPr>
              <a:t>搜索速度的快慢</a:t>
            </a:r>
          </a:p>
          <a:p>
            <a:pPr marL="285750" indent="-285750">
              <a:buFont typeface="Wingdings" panose="05000000000000000000" pitchFamily="2" charset="2"/>
              <a:buChar char="Ø"/>
            </a:pPr>
            <a:r>
              <a:rPr lang="zh-CN" altLang="en-US" dirty="0">
                <a:solidFill>
                  <a:srgbClr val="FF0000"/>
                </a:solidFill>
              </a:rPr>
              <a:t>三维地图？</a:t>
            </a:r>
          </a:p>
          <a:p>
            <a:pPr marL="285750" indent="-285750">
              <a:buFont typeface="Wingdings" panose="05000000000000000000" pitchFamily="2" charset="2"/>
              <a:buChar char="Ø"/>
            </a:pPr>
            <a:r>
              <a:rPr lang="zh-CN" altLang="en-US" dirty="0">
                <a:solidFill>
                  <a:srgbClr val="FF0000"/>
                </a:solidFill>
              </a:rPr>
              <a:t>非方形搜索区域？</a:t>
            </a:r>
          </a:p>
          <a:p>
            <a:pPr marL="285750" indent="-285750">
              <a:buFont typeface="Wingdings" panose="05000000000000000000" pitchFamily="2" charset="2"/>
              <a:buChar char="Ø"/>
            </a:pPr>
            <a:r>
              <a:rPr lang="zh-CN" altLang="en-US" dirty="0">
                <a:solidFill>
                  <a:srgbClr val="FF0000"/>
                </a:solidFill>
              </a:rPr>
              <a:t>不同的地形损耗</a:t>
            </a:r>
          </a:p>
          <a:p>
            <a:pPr marL="285750" indent="-285750">
              <a:buFont typeface="Wingdings" panose="05000000000000000000" pitchFamily="2" charset="2"/>
              <a:buChar char="Ø"/>
            </a:pPr>
            <a:r>
              <a:rPr lang="zh-CN" altLang="en-US" dirty="0">
                <a:solidFill>
                  <a:srgbClr val="FF0000"/>
                </a:solidFill>
              </a:rPr>
              <a:t>多个目标</a:t>
            </a:r>
          </a:p>
          <a:p>
            <a:r>
              <a:rPr lang="zh-CN" altLang="en-US" dirty="0">
                <a:solidFill>
                  <a:srgbClr val="FF0000"/>
                </a:solidFill>
              </a:rPr>
              <a:t>......</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6" y="458410"/>
            <a:ext cx="1857608" cy="400110"/>
          </a:xfrm>
          <a:prstGeom prst="rect">
            <a:avLst/>
          </a:prstGeom>
        </p:spPr>
        <p:txBody>
          <a:bodyPr wrap="square">
            <a:spAutoFit/>
          </a:bodyPr>
          <a:lstStyle/>
          <a:p>
            <a:r>
              <a:rPr lang="zh-CN" altLang="en-US" sz="2000" b="1" dirty="0">
                <a:solidFill>
                  <a:srgbClr val="002060"/>
                </a:solidFill>
              </a:rPr>
              <a:t>图搜索算法</a:t>
            </a: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648752" y="468833"/>
            <a:ext cx="904415" cy="369332"/>
          </a:xfrm>
          <a:prstGeom prst="rect">
            <a:avLst/>
          </a:prstGeom>
        </p:spPr>
        <p:txBody>
          <a:bodyPr wrap="none">
            <a:spAutoFit/>
          </a:bodyPr>
          <a:lstStyle/>
          <a:p>
            <a:r>
              <a:rPr lang="en-US" altLang="zh-CN" dirty="0">
                <a:solidFill>
                  <a:srgbClr val="002060"/>
                </a:solidFill>
                <a:cs typeface="MV Boli" panose="02000500030200090000" pitchFamily="2" charset="0"/>
              </a:rPr>
              <a:t>D</a:t>
            </a:r>
            <a:r>
              <a:rPr lang="en-US" altLang="zh-CN" dirty="0" smtClean="0">
                <a:solidFill>
                  <a:srgbClr val="002060"/>
                </a:solidFill>
                <a:cs typeface="MV Boli" panose="02000500030200090000" pitchFamily="2" charset="0"/>
              </a:rPr>
              <a:t>*</a:t>
            </a:r>
            <a:r>
              <a:rPr lang="zh-CN" altLang="zh-CN" dirty="0" smtClean="0">
                <a:solidFill>
                  <a:srgbClr val="002060"/>
                </a:solidFill>
                <a:cs typeface="MV Boli" panose="02000500030200090000" pitchFamily="2" charset="0"/>
              </a:rPr>
              <a:t>算法</a:t>
            </a:r>
            <a:endParaRPr lang="zh-CN" altLang="en-US" dirty="0"/>
          </a:p>
        </p:txBody>
      </p:sp>
      <p:sp>
        <p:nvSpPr>
          <p:cNvPr id="12" name="Rectangle 3"/>
          <p:cNvSpPr txBox="1">
            <a:spLocks noChangeArrowheads="1"/>
          </p:cNvSpPr>
          <p:nvPr/>
        </p:nvSpPr>
        <p:spPr>
          <a:xfrm>
            <a:off x="22542" y="947420"/>
            <a:ext cx="5557570" cy="3934172"/>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defRPr/>
            </a:pPr>
            <a:r>
              <a:rPr lang="zh-CN" altLang="en-US" sz="1600" kern="0" dirty="0" smtClean="0">
                <a:ea typeface="宋体" panose="02010600030101010101" pitchFamily="2" charset="-122"/>
              </a:rPr>
              <a:t>D*是动态A*（D-Star,Dynamic A Star） 卡内基梅隆机器人中心的Stentz在1994和1995年两篇文章提出，主要用于机器人探路。曾经是火星探测器采用的寻路算法。</a:t>
            </a:r>
          </a:p>
          <a:p>
            <a:pPr>
              <a:buFont typeface="Wingdings" panose="05000000000000000000" pitchFamily="2" charset="2"/>
              <a:buNone/>
              <a:defRPr/>
            </a:pPr>
            <a:r>
              <a:rPr lang="zh-CN" altLang="en-US" sz="1600" kern="0" dirty="0" smtClean="0">
                <a:ea typeface="宋体" panose="02010600030101010101" pitchFamily="2" charset="-122"/>
              </a:rPr>
              <a:t>1.  先用Dij</a:t>
            </a:r>
            <a:r>
              <a:rPr lang="en-US" altLang="zh-CN" sz="1600" kern="0" dirty="0" smtClean="0">
                <a:ea typeface="宋体" panose="02010600030101010101" pitchFamily="2" charset="-122"/>
              </a:rPr>
              <a:t>k</a:t>
            </a:r>
            <a:r>
              <a:rPr lang="zh-CN" altLang="en-US" sz="1600" kern="0" dirty="0" smtClean="0">
                <a:ea typeface="宋体" panose="02010600030101010101" pitchFamily="2" charset="-122"/>
              </a:rPr>
              <a:t>stra算法从目标节点G向起始节点搜索。储存图中目标点到各个节点的最短路和该位置到目标点的实际值h</a:t>
            </a:r>
          </a:p>
          <a:p>
            <a:pPr>
              <a:buFont typeface="Wingdings" panose="05000000000000000000" pitchFamily="2" charset="2"/>
              <a:buNone/>
              <a:defRPr/>
            </a:pPr>
            <a:r>
              <a:rPr lang="zh-CN" altLang="en-US" sz="1600" kern="0" dirty="0" smtClean="0">
                <a:ea typeface="宋体" panose="02010600030101010101" pitchFamily="2" charset="-122"/>
              </a:rPr>
              <a:t>2.  机器人沿最短路开始移动，在移动的下一节点没有变化时，无需计算，利用上一步Dij</a:t>
            </a:r>
            <a:r>
              <a:rPr lang="en-US" altLang="zh-CN" sz="1600" kern="0" dirty="0" smtClean="0">
                <a:ea typeface="宋体" panose="02010600030101010101" pitchFamily="2" charset="-122"/>
              </a:rPr>
              <a:t>k</a:t>
            </a:r>
            <a:r>
              <a:rPr lang="zh-CN" altLang="en-US" sz="1600" kern="0" dirty="0" smtClean="0">
                <a:ea typeface="宋体" panose="02010600030101010101" pitchFamily="2" charset="-122"/>
              </a:rPr>
              <a:t>stra计算出的最短路信息从出发点向后追述即可，当在Y点探测到下一节点X状态发生改变，如堵塞。机器人首先调整自己在当前位置Y到目标点G的实际值h(Y)，h(Y)=X到Y的新权值c(X,Y)+X的原实际值h(X)。X为下一节点(到目标点方向Y-&gt;X-&gt;G），Y是当前点。k值取h值变化前后的最小。</a:t>
            </a:r>
          </a:p>
          <a:p>
            <a:pPr>
              <a:buFont typeface="Wingdings" panose="05000000000000000000" pitchFamily="2" charset="2"/>
              <a:buNone/>
              <a:defRPr/>
            </a:pPr>
            <a:r>
              <a:rPr lang="zh-CN" altLang="en-US" sz="1600" kern="0" dirty="0" smtClean="0">
                <a:ea typeface="宋体" panose="02010600030101010101" pitchFamily="2" charset="-122"/>
              </a:rPr>
              <a:t>3.  用A*或其它算法计算，这里假设用A*算法,遍历Y的子节点，点放入CLOSE,调整Y的子节点a的h值，h(a)=h(Y)+Y到子节点a的权重C(Y,a),比较a点是否存在于OPEN和CLOSE中</a:t>
            </a:r>
          </a:p>
          <a:p>
            <a:pPr>
              <a:defRPr/>
            </a:pPr>
            <a:endParaRPr lang="en-US" altLang="zh-CN" sz="1600" kern="0" dirty="0">
              <a:ea typeface="宋体" panose="02010600030101010101" pitchFamily="2" charset="-122"/>
            </a:endParaRPr>
          </a:p>
        </p:txBody>
      </p:sp>
      <p:pic>
        <p:nvPicPr>
          <p:cNvPr id="13" name="Picture 6" descr="d_st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579" y="1491630"/>
            <a:ext cx="3319893" cy="2605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6624592" y="1001776"/>
            <a:ext cx="1415772" cy="338554"/>
          </a:xfrm>
          <a:prstGeom prst="rect">
            <a:avLst/>
          </a:prstGeom>
        </p:spPr>
        <p:txBody>
          <a:bodyPr wrap="none">
            <a:spAutoFit/>
          </a:bodyPr>
          <a:lstStyle/>
          <a:p>
            <a:r>
              <a:rPr lang="zh-CN" altLang="en-US" sz="1600" b="1" dirty="0">
                <a:solidFill>
                  <a:srgbClr val="002060"/>
                </a:solidFill>
              </a:rPr>
              <a:t>动态路径规划</a:t>
            </a:r>
          </a:p>
        </p:txBody>
      </p:sp>
      <p:sp>
        <p:nvSpPr>
          <p:cNvPr id="15" name="矩形 14"/>
          <p:cNvSpPr/>
          <p:nvPr/>
        </p:nvSpPr>
        <p:spPr>
          <a:xfrm>
            <a:off x="5964326" y="4403602"/>
            <a:ext cx="2736304" cy="338554"/>
          </a:xfrm>
          <a:prstGeom prst="rect">
            <a:avLst/>
          </a:prstGeom>
        </p:spPr>
        <p:txBody>
          <a:bodyPr wrap="square">
            <a:spAutoFit/>
          </a:bodyPr>
          <a:lstStyle/>
          <a:p>
            <a:r>
              <a:rPr lang="en-US" altLang="zh-CN" sz="1600" dirty="0">
                <a:solidFill>
                  <a:srgbClr val="FF0000"/>
                </a:solidFill>
              </a:rPr>
              <a:t>Any-Angle A*, </a:t>
            </a:r>
            <a:r>
              <a:rPr lang="en-US" altLang="zh-CN" sz="1600" dirty="0" smtClean="0">
                <a:solidFill>
                  <a:srgbClr val="FF0000"/>
                </a:solidFill>
              </a:rPr>
              <a:t>D</a:t>
            </a:r>
            <a:r>
              <a:rPr lang="en-US" altLang="zh-CN" sz="1600" dirty="0">
                <a:solidFill>
                  <a:srgbClr val="FF0000"/>
                </a:solidFill>
              </a:rPr>
              <a:t>* </a:t>
            </a:r>
            <a:r>
              <a:rPr lang="en-US" altLang="zh-CN" sz="1600" dirty="0" smtClean="0">
                <a:solidFill>
                  <a:srgbClr val="FF0000"/>
                </a:solidFill>
              </a:rPr>
              <a:t>Lite……</a:t>
            </a:r>
            <a:endParaRPr lang="zh-CN" altLang="en-US" sz="16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 name="矩形 2"/>
          <p:cNvSpPr/>
          <p:nvPr/>
        </p:nvSpPr>
        <p:spPr>
          <a:xfrm>
            <a:off x="719609" y="1246565"/>
            <a:ext cx="7357000" cy="2308324"/>
          </a:xfrm>
          <a:prstGeom prst="rect">
            <a:avLst/>
          </a:prstGeom>
        </p:spPr>
        <p:txBody>
          <a:bodyPr wrap="square">
            <a:spAutoFit/>
          </a:bodyPr>
          <a:lstStyle/>
          <a:p>
            <a:r>
              <a:rPr lang="zh-CN" altLang="en-US" sz="1600" dirty="0">
                <a:solidFill>
                  <a:srgbClr val="002060"/>
                </a:solidFill>
              </a:rPr>
              <a:t>如果我们无法预先知道C-Space中的Cfree和Cobs，机器人在探索Cfree的时候，就会类似于在黑暗中摸索，那么这个时候唯一的</a:t>
            </a:r>
            <a:r>
              <a:rPr lang="zh-CN" altLang="en-US" sz="1600" dirty="0" smtClean="0">
                <a:solidFill>
                  <a:srgbClr val="002060"/>
                </a:solidFill>
              </a:rPr>
              <a:t>光线就</a:t>
            </a:r>
            <a:r>
              <a:rPr lang="zh-CN" altLang="en-US" sz="1600" dirty="0">
                <a:solidFill>
                  <a:srgbClr val="002060"/>
                </a:solidFill>
              </a:rPr>
              <a:t>来自于</a:t>
            </a:r>
            <a:r>
              <a:rPr lang="zh-CN" altLang="en-US" sz="1600" b="1" dirty="0">
                <a:solidFill>
                  <a:srgbClr val="002060"/>
                </a:solidFill>
              </a:rPr>
              <a:t>碰撞检测</a:t>
            </a:r>
            <a:r>
              <a:rPr lang="zh-CN" altLang="en-US" sz="1600" dirty="0">
                <a:solidFill>
                  <a:srgbClr val="002060"/>
                </a:solidFill>
              </a:rPr>
              <a:t>算法，下面我们讨论几种</a:t>
            </a:r>
            <a:r>
              <a:rPr lang="zh-CN" altLang="en-US" sz="1600" b="1" dirty="0">
                <a:solidFill>
                  <a:srgbClr val="002060"/>
                </a:solidFill>
              </a:rPr>
              <a:t>基于概率</a:t>
            </a:r>
            <a:r>
              <a:rPr lang="zh-CN" altLang="en-US" sz="1600" dirty="0">
                <a:solidFill>
                  <a:srgbClr val="002060"/>
                </a:solidFill>
              </a:rPr>
              <a:t>的路径规划算法：</a:t>
            </a:r>
          </a:p>
          <a:p>
            <a:endParaRPr lang="zh-CN" altLang="en-US" sz="1600" dirty="0">
              <a:solidFill>
                <a:srgbClr val="002060"/>
              </a:solidFill>
            </a:endParaRPr>
          </a:p>
          <a:p>
            <a:pPr marL="285750" indent="-285750">
              <a:buFont typeface="Wingdings" panose="05000000000000000000" pitchFamily="2" charset="2"/>
              <a:buChar char="Ø"/>
            </a:pPr>
            <a:r>
              <a:rPr lang="zh-CN" altLang="en-US" sz="1600" dirty="0">
                <a:solidFill>
                  <a:srgbClr val="002060"/>
                </a:solidFill>
              </a:rPr>
              <a:t>概率路线图（PRM Probabilistic road map）</a:t>
            </a:r>
          </a:p>
          <a:p>
            <a:r>
              <a:rPr lang="zh-CN" altLang="en-US" sz="1600" dirty="0">
                <a:solidFill>
                  <a:srgbClr val="002060"/>
                </a:solidFill>
              </a:rPr>
              <a:t>[Kavraki et al，1992]</a:t>
            </a:r>
          </a:p>
          <a:p>
            <a:endParaRPr lang="zh-CN" altLang="en-US" sz="1600" dirty="0">
              <a:solidFill>
                <a:srgbClr val="002060"/>
              </a:solidFill>
            </a:endParaRPr>
          </a:p>
          <a:p>
            <a:pPr marL="285750" indent="-285750">
              <a:buFont typeface="Wingdings" panose="05000000000000000000" pitchFamily="2" charset="2"/>
              <a:buChar char="Ø"/>
            </a:pPr>
            <a:r>
              <a:rPr lang="zh-CN" altLang="en-US" sz="1600" dirty="0">
                <a:solidFill>
                  <a:srgbClr val="002060"/>
                </a:solidFill>
              </a:rPr>
              <a:t>快速搜索随机树（RRT Rapidly exploring random trees）</a:t>
            </a:r>
          </a:p>
          <a:p>
            <a:r>
              <a:rPr lang="zh-CN" altLang="en-US" sz="1600" dirty="0">
                <a:solidFill>
                  <a:srgbClr val="002060"/>
                </a:solidFill>
              </a:rPr>
              <a:t>[Lavalle and Kuffner，1999]</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101963" y="471300"/>
            <a:ext cx="2082621" cy="338554"/>
          </a:xfrm>
          <a:prstGeom prst="rect">
            <a:avLst/>
          </a:prstGeom>
        </p:spPr>
        <p:txBody>
          <a:bodyPr wrap="none">
            <a:spAutoFit/>
          </a:bodyPr>
          <a:lstStyle/>
          <a:p>
            <a:r>
              <a:rPr lang="zh-CN" altLang="en-US" sz="1600" b="1" dirty="0">
                <a:solidFill>
                  <a:srgbClr val="002060"/>
                </a:solidFill>
              </a:rPr>
              <a:t>概率路线图（</a:t>
            </a:r>
            <a:r>
              <a:rPr lang="zh-CN" altLang="en-US" sz="1600" b="1" dirty="0" smtClean="0">
                <a:solidFill>
                  <a:srgbClr val="002060"/>
                </a:solidFill>
              </a:rPr>
              <a:t>PRM） </a:t>
            </a:r>
            <a:endParaRPr lang="zh-CN" altLang="en-US" sz="1600" b="1" dirty="0">
              <a:solidFill>
                <a:srgbClr val="002060"/>
              </a:solidFill>
            </a:endParaRPr>
          </a:p>
        </p:txBody>
      </p:sp>
      <p:sp>
        <p:nvSpPr>
          <p:cNvPr id="4" name="矩形 3"/>
          <p:cNvSpPr/>
          <p:nvPr/>
        </p:nvSpPr>
        <p:spPr>
          <a:xfrm>
            <a:off x="395536" y="1491630"/>
            <a:ext cx="8280920" cy="2862322"/>
          </a:xfrm>
          <a:prstGeom prst="rect">
            <a:avLst/>
          </a:prstGeom>
        </p:spPr>
        <p:txBody>
          <a:bodyPr wrap="square">
            <a:spAutoFit/>
          </a:bodyPr>
          <a:lstStyle/>
          <a:p>
            <a:r>
              <a:rPr lang="zh-CN" altLang="en-US" dirty="0"/>
              <a:t>思路：从C-</a:t>
            </a:r>
            <a:r>
              <a:rPr lang="zh-CN" altLang="en-US" dirty="0" smtClean="0"/>
              <a:t>Sp</a:t>
            </a:r>
            <a:r>
              <a:rPr lang="en-US" altLang="zh-CN" dirty="0" smtClean="0"/>
              <a:t>a</a:t>
            </a:r>
            <a:r>
              <a:rPr lang="zh-CN" altLang="en-US" dirty="0" smtClean="0"/>
              <a:t>ce</a:t>
            </a:r>
            <a:r>
              <a:rPr lang="zh-CN" altLang="en-US" dirty="0"/>
              <a:t>中随机抽取样本，如果在Cfree中，则将它们声明为顶点，尝试使用局部规划器连接附近的顶点。</a:t>
            </a:r>
          </a:p>
          <a:p>
            <a:endParaRPr lang="en-US" altLang="zh-CN" dirty="0" smtClean="0"/>
          </a:p>
          <a:p>
            <a:pPr marL="285750" indent="-285750">
              <a:buFont typeface="Wingdings" panose="05000000000000000000" pitchFamily="2" charset="2"/>
              <a:buChar char="u"/>
            </a:pPr>
            <a:r>
              <a:rPr lang="zh-CN" altLang="en-US" dirty="0" smtClean="0"/>
              <a:t>局部</a:t>
            </a:r>
            <a:r>
              <a:rPr lang="zh-CN" altLang="en-US" dirty="0"/>
              <a:t>规划</a:t>
            </a:r>
            <a:r>
              <a:rPr lang="zh-CN" altLang="en-US" dirty="0" smtClean="0"/>
              <a:t>器：检测</a:t>
            </a:r>
            <a:r>
              <a:rPr lang="zh-CN" altLang="en-US" dirty="0"/>
              <a:t>视线(line-of-sight)是否有碰撞（简单直接）</a:t>
            </a:r>
          </a:p>
          <a:p>
            <a:endParaRPr lang="zh-CN" altLang="en-US" dirty="0"/>
          </a:p>
          <a:p>
            <a:pPr marL="285750" indent="-285750">
              <a:buFont typeface="Wingdings" panose="05000000000000000000" pitchFamily="2" charset="2"/>
              <a:buChar char="u"/>
            </a:pPr>
            <a:r>
              <a:rPr lang="zh-CN" altLang="en-US" dirty="0"/>
              <a:t>k-nearest neighbors选择：指定半径内的k-nearest neighbors或所有近邻</a:t>
            </a:r>
          </a:p>
          <a:p>
            <a:endParaRPr lang="zh-CN" altLang="en-US" dirty="0"/>
          </a:p>
          <a:p>
            <a:pPr marL="285750" indent="-285750">
              <a:buFont typeface="Wingdings" panose="05000000000000000000" pitchFamily="2" charset="2"/>
              <a:buChar char="u"/>
            </a:pPr>
            <a:r>
              <a:rPr lang="zh-CN" altLang="en-US" dirty="0"/>
              <a:t>将位形和连接添加到图(graph)中，直到路线图足够</a:t>
            </a:r>
            <a:r>
              <a:rPr lang="zh-CN" altLang="en-US" dirty="0" smtClean="0"/>
              <a:t>密集</a:t>
            </a:r>
            <a:endParaRPr lang="en-US" altLang="zh-CN" dirty="0" smtClean="0"/>
          </a:p>
          <a:p>
            <a:pPr marL="285750" indent="-285750">
              <a:buFont typeface="Wingdings" panose="05000000000000000000" pitchFamily="2" charset="2"/>
              <a:buChar char="u"/>
            </a:pPr>
            <a:endParaRPr lang="en-US" altLang="zh-CN" dirty="0"/>
          </a:p>
          <a:p>
            <a:pPr marL="285750" indent="-285750">
              <a:buFont typeface="Wingdings" panose="05000000000000000000" pitchFamily="2" charset="2"/>
              <a:buChar char="u"/>
            </a:pPr>
            <a:r>
              <a:rPr lang="zh-CN" altLang="en-US" dirty="0"/>
              <a:t>采用图搜索算法寻找最优路径</a:t>
            </a:r>
          </a:p>
        </p:txBody>
      </p:sp>
      <p:sp>
        <p:nvSpPr>
          <p:cNvPr id="5" name="矩形 4"/>
          <p:cNvSpPr/>
          <p:nvPr/>
        </p:nvSpPr>
        <p:spPr>
          <a:xfrm>
            <a:off x="3122196" y="4515966"/>
            <a:ext cx="2581476" cy="369332"/>
          </a:xfrm>
          <a:prstGeom prst="rect">
            <a:avLst/>
          </a:prstGeom>
        </p:spPr>
        <p:txBody>
          <a:bodyPr wrap="none">
            <a:spAutoFit/>
          </a:bodyPr>
          <a:lstStyle/>
          <a:p>
            <a:r>
              <a:rPr lang="en-US" altLang="zh-CN" b="1" dirty="0" smtClean="0">
                <a:solidFill>
                  <a:srgbClr val="FF0000"/>
                </a:solidFill>
              </a:rPr>
              <a:t>Consists </a:t>
            </a:r>
            <a:r>
              <a:rPr lang="en-US" altLang="zh-CN" b="1" dirty="0">
                <a:solidFill>
                  <a:srgbClr val="FF0000"/>
                </a:solidFill>
              </a:rPr>
              <a:t>of two </a:t>
            </a:r>
            <a:r>
              <a:rPr lang="en-US" altLang="zh-CN" b="1" dirty="0" smtClean="0">
                <a:solidFill>
                  <a:srgbClr val="FF0000"/>
                </a:solidFill>
              </a:rPr>
              <a:t>phases</a:t>
            </a:r>
            <a:r>
              <a:rPr lang="zh-CN" altLang="en-US" b="1" dirty="0" smtClean="0">
                <a:solidFill>
                  <a:srgbClr val="FF0000"/>
                </a:solidFill>
              </a:rPr>
              <a:t>！</a:t>
            </a:r>
            <a:endParaRPr lang="zh-CN" altLang="en-US"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101963" y="471300"/>
            <a:ext cx="2082621" cy="338554"/>
          </a:xfrm>
          <a:prstGeom prst="rect">
            <a:avLst/>
          </a:prstGeom>
        </p:spPr>
        <p:txBody>
          <a:bodyPr wrap="none">
            <a:spAutoFit/>
          </a:bodyPr>
          <a:lstStyle/>
          <a:p>
            <a:r>
              <a:rPr lang="zh-CN" altLang="en-US" sz="1600" b="1" dirty="0">
                <a:solidFill>
                  <a:srgbClr val="002060"/>
                </a:solidFill>
              </a:rPr>
              <a:t>概率路线图（</a:t>
            </a:r>
            <a:r>
              <a:rPr lang="zh-CN" altLang="en-US" sz="1600" b="1" dirty="0" smtClean="0">
                <a:solidFill>
                  <a:srgbClr val="002060"/>
                </a:solidFill>
              </a:rPr>
              <a:t>PRM） </a:t>
            </a:r>
            <a:endParaRPr lang="zh-CN" altLang="en-US" sz="1600" b="1" dirty="0">
              <a:solidFill>
                <a:srgbClr val="002060"/>
              </a:solidFill>
            </a:endParaRPr>
          </a:p>
        </p:txBody>
      </p:sp>
      <p:sp>
        <p:nvSpPr>
          <p:cNvPr id="3" name="矩形 2"/>
          <p:cNvSpPr/>
          <p:nvPr/>
        </p:nvSpPr>
        <p:spPr>
          <a:xfrm>
            <a:off x="899592" y="1205925"/>
            <a:ext cx="595035" cy="338554"/>
          </a:xfrm>
          <a:prstGeom prst="rect">
            <a:avLst/>
          </a:prstGeom>
        </p:spPr>
        <p:txBody>
          <a:bodyPr wrap="none">
            <a:spAutoFit/>
          </a:bodyPr>
          <a:lstStyle/>
          <a:p>
            <a:r>
              <a:rPr lang="zh-CN" altLang="en-US" sz="1600" b="1" dirty="0">
                <a:solidFill>
                  <a:srgbClr val="002060"/>
                </a:solidFill>
              </a:rPr>
              <a:t>举例</a:t>
            </a:r>
          </a:p>
        </p:txBody>
      </p:sp>
      <p:pic>
        <p:nvPicPr>
          <p:cNvPr id="5" name="图片 4"/>
          <p:cNvPicPr>
            <a:picLocks noChangeAspect="1"/>
          </p:cNvPicPr>
          <p:nvPr/>
        </p:nvPicPr>
        <p:blipFill>
          <a:blip r:embed="rId4"/>
          <a:stretch>
            <a:fillRect/>
          </a:stretch>
        </p:blipFill>
        <p:spPr>
          <a:xfrm>
            <a:off x="3305092" y="1172425"/>
            <a:ext cx="4875548" cy="2656044"/>
          </a:xfrm>
          <a:prstGeom prst="rect">
            <a:avLst/>
          </a:prstGeom>
        </p:spPr>
      </p:pic>
      <p:pic>
        <p:nvPicPr>
          <p:cNvPr id="6" name="图片 5"/>
          <p:cNvPicPr>
            <a:picLocks noChangeAspect="1"/>
          </p:cNvPicPr>
          <p:nvPr/>
        </p:nvPicPr>
        <p:blipFill>
          <a:blip r:embed="rId5"/>
          <a:stretch>
            <a:fillRect/>
          </a:stretch>
        </p:blipFill>
        <p:spPr>
          <a:xfrm>
            <a:off x="899592" y="3723878"/>
            <a:ext cx="1944216" cy="1041701"/>
          </a:xfrm>
          <a:prstGeom prst="rect">
            <a:avLst/>
          </a:prstGeom>
        </p:spPr>
      </p:pic>
      <p:cxnSp>
        <p:nvCxnSpPr>
          <p:cNvPr id="8" name="直接连接符 7"/>
          <p:cNvCxnSpPr/>
          <p:nvPr/>
        </p:nvCxnSpPr>
        <p:spPr>
          <a:xfrm flipH="1">
            <a:off x="2285682" y="3075806"/>
            <a:ext cx="1782262"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716016" y="3507854"/>
            <a:ext cx="432048" cy="504056"/>
          </a:xfrm>
          <a:prstGeom prst="line">
            <a:avLst/>
          </a:prstGeom>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917440" y="3902830"/>
            <a:ext cx="1987211" cy="369332"/>
          </a:xfrm>
          <a:prstGeom prst="rect">
            <a:avLst/>
          </a:prstGeom>
        </p:spPr>
        <p:txBody>
          <a:bodyPr wrap="none">
            <a:spAutoFit/>
          </a:bodyPr>
          <a:lstStyle/>
          <a:p>
            <a:r>
              <a:rPr lang="en-US" altLang="zh-CN" dirty="0">
                <a:latin typeface="Verdana" panose="020B0604030504040204" pitchFamily="34" charset="0"/>
              </a:rPr>
              <a:t>specified radius</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101963" y="471300"/>
            <a:ext cx="2082621" cy="338554"/>
          </a:xfrm>
          <a:prstGeom prst="rect">
            <a:avLst/>
          </a:prstGeom>
        </p:spPr>
        <p:txBody>
          <a:bodyPr wrap="none">
            <a:spAutoFit/>
          </a:bodyPr>
          <a:lstStyle/>
          <a:p>
            <a:r>
              <a:rPr lang="zh-CN" altLang="en-US" sz="1600" b="1" dirty="0">
                <a:solidFill>
                  <a:srgbClr val="002060"/>
                </a:solidFill>
              </a:rPr>
              <a:t>概率路线图（</a:t>
            </a:r>
            <a:r>
              <a:rPr lang="zh-CN" altLang="en-US" sz="1600" b="1" dirty="0" smtClean="0">
                <a:solidFill>
                  <a:srgbClr val="002060"/>
                </a:solidFill>
              </a:rPr>
              <a:t>PRM） </a:t>
            </a:r>
            <a:endParaRPr lang="zh-CN" altLang="en-US" sz="1600" b="1" dirty="0">
              <a:solidFill>
                <a:srgbClr val="002060"/>
              </a:solidFill>
            </a:endParaRPr>
          </a:p>
        </p:txBody>
      </p:sp>
      <p:pic>
        <p:nvPicPr>
          <p:cNvPr id="4" name="图片 3"/>
          <p:cNvPicPr>
            <a:picLocks noChangeAspect="1"/>
          </p:cNvPicPr>
          <p:nvPr/>
        </p:nvPicPr>
        <p:blipFill>
          <a:blip r:embed="rId4"/>
          <a:stretch>
            <a:fillRect/>
          </a:stretch>
        </p:blipFill>
        <p:spPr>
          <a:xfrm>
            <a:off x="420564" y="920595"/>
            <a:ext cx="4476750" cy="4181475"/>
          </a:xfrm>
          <a:prstGeom prst="rect">
            <a:avLst/>
          </a:prstGeom>
        </p:spPr>
      </p:pic>
      <p:sp>
        <p:nvSpPr>
          <p:cNvPr id="7" name="矩形 6"/>
          <p:cNvSpPr/>
          <p:nvPr/>
        </p:nvSpPr>
        <p:spPr>
          <a:xfrm>
            <a:off x="4716016" y="1063626"/>
            <a:ext cx="4248472" cy="3539430"/>
          </a:xfrm>
          <a:prstGeom prst="rect">
            <a:avLst/>
          </a:prstGeom>
        </p:spPr>
        <p:txBody>
          <a:bodyPr wrap="square">
            <a:spAutoFit/>
          </a:bodyPr>
          <a:lstStyle/>
          <a:p>
            <a:pPr marL="285750" indent="-285750">
              <a:buFont typeface="Wingdings" panose="05000000000000000000" pitchFamily="2" charset="2"/>
              <a:buChar char="Ø"/>
            </a:pPr>
            <a:r>
              <a:rPr lang="zh-CN" altLang="en-US" sz="1600" dirty="0">
                <a:solidFill>
                  <a:srgbClr val="002060"/>
                </a:solidFill>
              </a:rPr>
              <a:t>基于随机采样技术的</a:t>
            </a:r>
            <a:r>
              <a:rPr lang="en-US" altLang="zh-CN" sz="1600" dirty="0">
                <a:solidFill>
                  <a:srgbClr val="002060"/>
                </a:solidFill>
              </a:rPr>
              <a:t>PRM</a:t>
            </a:r>
            <a:r>
              <a:rPr lang="zh-CN" altLang="en-US" sz="1600" dirty="0">
                <a:solidFill>
                  <a:srgbClr val="002060"/>
                </a:solidFill>
              </a:rPr>
              <a:t>法可以有效解决高维空间和复杂约束中的路径规划问题。</a:t>
            </a:r>
          </a:p>
          <a:p>
            <a:pPr marL="285750" indent="-285750">
              <a:buFont typeface="Wingdings" panose="05000000000000000000" pitchFamily="2" charset="2"/>
              <a:buChar char="Ø"/>
            </a:pPr>
            <a:r>
              <a:rPr lang="en-US" altLang="zh-CN" sz="1600" dirty="0" smtClean="0">
                <a:solidFill>
                  <a:srgbClr val="002060"/>
                </a:solidFill>
              </a:rPr>
              <a:t>PRM</a:t>
            </a:r>
            <a:r>
              <a:rPr lang="zh-CN" altLang="en-US" sz="1600" dirty="0">
                <a:solidFill>
                  <a:srgbClr val="002060"/>
                </a:solidFill>
              </a:rPr>
              <a:t>是一种基于图搜索的方法，它将连续空间转换成离散空间，再利用</a:t>
            </a:r>
            <a:r>
              <a:rPr lang="en-US" altLang="zh-CN" sz="1600" dirty="0">
                <a:solidFill>
                  <a:srgbClr val="002060"/>
                </a:solidFill>
              </a:rPr>
              <a:t>A*</a:t>
            </a:r>
            <a:r>
              <a:rPr lang="zh-CN" altLang="en-US" sz="1600" dirty="0">
                <a:solidFill>
                  <a:srgbClr val="002060"/>
                </a:solidFill>
              </a:rPr>
              <a:t>等搜索算法在路线图上寻找路径，以提高搜索效率</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这种</a:t>
            </a:r>
            <a:r>
              <a:rPr lang="zh-CN" altLang="en-US" sz="1600" dirty="0">
                <a:solidFill>
                  <a:srgbClr val="002060"/>
                </a:solidFill>
              </a:rPr>
              <a:t>方法能用相对少的随机采样点来找到一个解，对多数问题而言，相对少的样本足以覆盖大部分可行的空间，并且找到路径的概率为</a:t>
            </a:r>
            <a:r>
              <a:rPr lang="en-US" altLang="zh-CN" sz="1600" dirty="0">
                <a:solidFill>
                  <a:srgbClr val="002060"/>
                </a:solidFill>
              </a:rPr>
              <a:t>1</a:t>
            </a:r>
            <a:r>
              <a:rPr lang="zh-CN" altLang="en-US" sz="1600" dirty="0">
                <a:solidFill>
                  <a:srgbClr val="002060"/>
                </a:solidFill>
              </a:rPr>
              <a:t>（随着采样数增加，</a:t>
            </a:r>
            <a:r>
              <a:rPr lang="en-US" altLang="zh-CN" sz="1600" dirty="0">
                <a:solidFill>
                  <a:srgbClr val="002060"/>
                </a:solidFill>
              </a:rPr>
              <a:t>P</a:t>
            </a:r>
            <a:r>
              <a:rPr lang="zh-CN" altLang="en-US" sz="1600" dirty="0">
                <a:solidFill>
                  <a:srgbClr val="002060"/>
                </a:solidFill>
              </a:rPr>
              <a:t>（找到一条路径）指数的趋向于</a:t>
            </a:r>
            <a:r>
              <a:rPr lang="en-US" altLang="zh-CN" sz="1600" dirty="0">
                <a:solidFill>
                  <a:srgbClr val="002060"/>
                </a:solidFill>
              </a:rPr>
              <a:t>1</a:t>
            </a:r>
            <a:r>
              <a:rPr lang="zh-CN" altLang="en-US" sz="1600" dirty="0">
                <a:solidFill>
                  <a:srgbClr val="002060"/>
                </a:solidFill>
              </a:rPr>
              <a:t>）</a:t>
            </a:r>
            <a:r>
              <a:rPr lang="zh-CN" altLang="en-US" sz="1600" dirty="0" smtClean="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显然</a:t>
            </a:r>
            <a:r>
              <a:rPr lang="zh-CN" altLang="en-US" sz="1600" dirty="0">
                <a:solidFill>
                  <a:srgbClr val="002060"/>
                </a:solidFill>
              </a:rPr>
              <a:t>，当采样点太少，或者分布不合理时，</a:t>
            </a:r>
            <a:r>
              <a:rPr lang="en-US" altLang="zh-CN" sz="1600" dirty="0">
                <a:solidFill>
                  <a:srgbClr val="002060"/>
                </a:solidFill>
              </a:rPr>
              <a:t>PRM</a:t>
            </a:r>
            <a:r>
              <a:rPr lang="zh-CN" altLang="en-US" sz="1600" dirty="0">
                <a:solidFill>
                  <a:srgbClr val="002060"/>
                </a:solidFill>
              </a:rPr>
              <a:t>算法是不完备的，但是随着采用点的增加，也可以达到完备。所以</a:t>
            </a:r>
            <a:r>
              <a:rPr lang="en-US" altLang="zh-CN" sz="1600" dirty="0">
                <a:solidFill>
                  <a:srgbClr val="002060"/>
                </a:solidFill>
              </a:rPr>
              <a:t>PRM</a:t>
            </a:r>
            <a:r>
              <a:rPr lang="zh-CN" altLang="en-US" sz="1600" dirty="0">
                <a:solidFill>
                  <a:srgbClr val="002060"/>
                </a:solidFill>
              </a:rPr>
              <a:t>是概率完备且不最优的。</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101963" y="471300"/>
            <a:ext cx="2082621" cy="338554"/>
          </a:xfrm>
          <a:prstGeom prst="rect">
            <a:avLst/>
          </a:prstGeom>
        </p:spPr>
        <p:txBody>
          <a:bodyPr wrap="none">
            <a:spAutoFit/>
          </a:bodyPr>
          <a:lstStyle/>
          <a:p>
            <a:r>
              <a:rPr lang="zh-CN" altLang="en-US" sz="1600" b="1" dirty="0">
                <a:solidFill>
                  <a:srgbClr val="002060"/>
                </a:solidFill>
              </a:rPr>
              <a:t>概率路线图（</a:t>
            </a:r>
            <a:r>
              <a:rPr lang="zh-CN" altLang="en-US" sz="1600" b="1" dirty="0" smtClean="0">
                <a:solidFill>
                  <a:srgbClr val="002060"/>
                </a:solidFill>
              </a:rPr>
              <a:t>PRM） </a:t>
            </a:r>
            <a:endParaRPr lang="zh-CN" altLang="en-US" sz="1600" b="1" dirty="0">
              <a:solidFill>
                <a:srgbClr val="002060"/>
              </a:solidFill>
            </a:endParaRPr>
          </a:p>
        </p:txBody>
      </p:sp>
      <p:pic>
        <p:nvPicPr>
          <p:cNvPr id="12" name="Picture 2" descr="https://images2017.cnblogs.com/blog/890966/201709/890966-20170905165435147-299151639.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903221" y="920595"/>
            <a:ext cx="3980931" cy="3980932"/>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5044996" y="2268162"/>
            <a:ext cx="4099004" cy="2554545"/>
          </a:xfrm>
          <a:prstGeom prst="rect">
            <a:avLst/>
          </a:prstGeom>
        </p:spPr>
        <p:txBody>
          <a:bodyPr wrap="square">
            <a:spAutoFit/>
          </a:bodyPr>
          <a:lstStyle/>
          <a:p>
            <a:r>
              <a:rPr lang="zh-CN" altLang="en-US" sz="1600" dirty="0">
                <a:solidFill>
                  <a:srgbClr val="002060"/>
                </a:solidFill>
              </a:rPr>
              <a:t>Pros:</a:t>
            </a:r>
          </a:p>
          <a:p>
            <a:pPr marL="285750" indent="-285750">
              <a:buFont typeface="Wingdings" panose="05000000000000000000" pitchFamily="2" charset="2"/>
              <a:buChar char="Ø"/>
            </a:pPr>
            <a:r>
              <a:rPr lang="zh-CN" altLang="en-US" sz="1600" dirty="0" smtClean="0">
                <a:solidFill>
                  <a:srgbClr val="002060"/>
                </a:solidFill>
              </a:rPr>
              <a:t>Probabilistically </a:t>
            </a:r>
            <a:r>
              <a:rPr lang="zh-CN" altLang="en-US" sz="1600" dirty="0">
                <a:solidFill>
                  <a:srgbClr val="002060"/>
                </a:solidFill>
              </a:rPr>
              <a:t>complete</a:t>
            </a:r>
          </a:p>
          <a:p>
            <a:pPr marL="285750" indent="-285750">
              <a:buFont typeface="Wingdings" panose="05000000000000000000" pitchFamily="2" charset="2"/>
              <a:buChar char="Ø"/>
            </a:pPr>
            <a:r>
              <a:rPr lang="zh-CN" altLang="en-US" sz="1600" dirty="0" smtClean="0">
                <a:solidFill>
                  <a:srgbClr val="002060"/>
                </a:solidFill>
              </a:rPr>
              <a:t> </a:t>
            </a:r>
            <a:r>
              <a:rPr lang="zh-CN" altLang="en-US" sz="1600" dirty="0">
                <a:solidFill>
                  <a:srgbClr val="002060"/>
                </a:solidFill>
              </a:rPr>
              <a:t>Do not construct C-space</a:t>
            </a:r>
          </a:p>
          <a:p>
            <a:pPr marL="285750" indent="-285750">
              <a:buFont typeface="Wingdings" panose="05000000000000000000" pitchFamily="2" charset="2"/>
              <a:buChar char="Ø"/>
            </a:pPr>
            <a:r>
              <a:rPr lang="zh-CN" altLang="en-US" sz="1600" dirty="0" smtClean="0">
                <a:solidFill>
                  <a:srgbClr val="002060"/>
                </a:solidFill>
              </a:rPr>
              <a:t>Apply </a:t>
            </a:r>
            <a:r>
              <a:rPr lang="zh-CN" altLang="en-US" sz="1600" dirty="0">
                <a:solidFill>
                  <a:srgbClr val="002060"/>
                </a:solidFill>
              </a:rPr>
              <a:t>easily to high-dim. C's</a:t>
            </a:r>
          </a:p>
          <a:p>
            <a:pPr marL="285750" indent="-285750">
              <a:buFont typeface="Wingdings" panose="05000000000000000000" pitchFamily="2" charset="2"/>
              <a:buChar char="Ø"/>
            </a:pPr>
            <a:r>
              <a:rPr lang="zh-CN" altLang="en-US" sz="1600" dirty="0" smtClean="0">
                <a:solidFill>
                  <a:srgbClr val="002060"/>
                </a:solidFill>
              </a:rPr>
              <a:t>PRMs </a:t>
            </a:r>
            <a:r>
              <a:rPr lang="zh-CN" altLang="en-US" sz="1600" dirty="0">
                <a:solidFill>
                  <a:srgbClr val="002060"/>
                </a:solidFill>
              </a:rPr>
              <a:t>have solved previously unsolved problems</a:t>
            </a:r>
          </a:p>
          <a:p>
            <a:r>
              <a:rPr lang="zh-CN" altLang="en-US" sz="1600" dirty="0">
                <a:solidFill>
                  <a:srgbClr val="002060"/>
                </a:solidFill>
              </a:rPr>
              <a:t>Cons:</a:t>
            </a:r>
          </a:p>
          <a:p>
            <a:pPr marL="285750" indent="-285750">
              <a:buFont typeface="Wingdings" panose="05000000000000000000" pitchFamily="2" charset="2"/>
              <a:buChar char="Ø"/>
            </a:pPr>
            <a:r>
              <a:rPr lang="zh-CN" altLang="en-US" sz="1600" dirty="0" smtClean="0">
                <a:solidFill>
                  <a:srgbClr val="002060"/>
                </a:solidFill>
              </a:rPr>
              <a:t>Do </a:t>
            </a:r>
            <a:r>
              <a:rPr lang="zh-CN" altLang="en-US" sz="1600" dirty="0">
                <a:solidFill>
                  <a:srgbClr val="002060"/>
                </a:solidFill>
              </a:rPr>
              <a:t>not work well for some problems, narrow passages</a:t>
            </a:r>
          </a:p>
          <a:p>
            <a:pPr marL="285750" indent="-285750">
              <a:buFont typeface="Wingdings" panose="05000000000000000000" pitchFamily="2" charset="2"/>
              <a:buChar char="Ø"/>
            </a:pPr>
            <a:r>
              <a:rPr lang="zh-CN" altLang="en-US" sz="1600" dirty="0" smtClean="0">
                <a:solidFill>
                  <a:srgbClr val="002060"/>
                </a:solidFill>
              </a:rPr>
              <a:t>Not </a:t>
            </a:r>
            <a:r>
              <a:rPr lang="zh-CN" altLang="en-US" sz="1600" dirty="0">
                <a:solidFill>
                  <a:srgbClr val="002060"/>
                </a:solidFill>
              </a:rPr>
              <a:t>optimal, not complete</a:t>
            </a:r>
          </a:p>
        </p:txBody>
      </p:sp>
      <p:sp>
        <p:nvSpPr>
          <p:cNvPr id="5" name="矩形 4"/>
          <p:cNvSpPr/>
          <p:nvPr/>
        </p:nvSpPr>
        <p:spPr>
          <a:xfrm>
            <a:off x="4884152" y="932659"/>
            <a:ext cx="4032617" cy="1323439"/>
          </a:xfrm>
          <a:prstGeom prst="rect">
            <a:avLst/>
          </a:prstGeom>
        </p:spPr>
        <p:txBody>
          <a:bodyPr wrap="square">
            <a:spAutoFit/>
          </a:bodyPr>
          <a:lstStyle/>
          <a:p>
            <a:pPr marL="285750" indent="-285750">
              <a:buFont typeface="Wingdings" panose="05000000000000000000" pitchFamily="2" charset="2"/>
              <a:buChar char="Ø"/>
            </a:pPr>
            <a:r>
              <a:rPr lang="zh-CN" altLang="en-US" sz="1600" dirty="0">
                <a:solidFill>
                  <a:srgbClr val="002060"/>
                </a:solidFill>
              </a:rPr>
              <a:t>学习阶段：在给定图的自由空间里随机撒点（自定义个数），构建一个路径</a:t>
            </a:r>
            <a:r>
              <a:rPr lang="zh-CN" altLang="en-US" sz="1600" dirty="0" smtClean="0">
                <a:solidFill>
                  <a:srgbClr val="002060"/>
                </a:solidFill>
              </a:rPr>
              <a:t>网络图</a:t>
            </a:r>
            <a:r>
              <a:rPr lang="zh-CN" altLang="en-US" sz="1600" dirty="0">
                <a:solidFill>
                  <a:srgbClr val="002060"/>
                </a:solidFill>
              </a:rPr>
              <a:t>；</a:t>
            </a:r>
            <a:endParaRPr lang="en-US" altLang="zh-CN" sz="1600" dirty="0" smtClean="0">
              <a:solidFill>
                <a:srgbClr val="002060"/>
              </a:solidFill>
            </a:endParaRPr>
          </a:p>
          <a:p>
            <a:pPr marL="285750" indent="-285750">
              <a:buFont typeface="Wingdings" panose="05000000000000000000" pitchFamily="2" charset="2"/>
              <a:buChar char="Ø"/>
            </a:pPr>
            <a:r>
              <a:rPr lang="zh-CN" altLang="en-US" sz="1600" dirty="0" smtClean="0">
                <a:solidFill>
                  <a:srgbClr val="002060"/>
                </a:solidFill>
              </a:rPr>
              <a:t>查询</a:t>
            </a:r>
            <a:r>
              <a:rPr lang="zh-CN" altLang="en-US" sz="1600" dirty="0">
                <a:solidFill>
                  <a:srgbClr val="002060"/>
                </a:solidFill>
              </a:rPr>
              <a:t>阶段：采用图搜索算法（比如</a:t>
            </a:r>
            <a:r>
              <a:rPr lang="en-US" altLang="zh-CN" sz="1600" dirty="0">
                <a:solidFill>
                  <a:srgbClr val="002060"/>
                </a:solidFill>
              </a:rPr>
              <a:t>A*</a:t>
            </a:r>
            <a:r>
              <a:rPr lang="zh-CN" altLang="en-US" sz="1600" dirty="0">
                <a:solidFill>
                  <a:srgbClr val="002060"/>
                </a:solidFill>
              </a:rPr>
              <a:t>）寻找从起点到终点的路径。</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5724129" y="471300"/>
            <a:ext cx="2460456" cy="338554"/>
          </a:xfrm>
          <a:prstGeom prst="rect">
            <a:avLst/>
          </a:prstGeom>
        </p:spPr>
        <p:txBody>
          <a:bodyPr wrap="square">
            <a:spAutoFit/>
          </a:bodyPr>
          <a:lstStyle/>
          <a:p>
            <a:r>
              <a:rPr lang="zh-CN" altLang="en-US" sz="1600" b="1" dirty="0">
                <a:solidFill>
                  <a:srgbClr val="002060"/>
                </a:solidFill>
              </a:rPr>
              <a:t>快速搜索随机树</a:t>
            </a:r>
            <a:r>
              <a:rPr lang="zh-CN" altLang="en-US" sz="1600" b="1" dirty="0" smtClean="0">
                <a:solidFill>
                  <a:srgbClr val="002060"/>
                </a:solidFill>
              </a:rPr>
              <a:t>（</a:t>
            </a:r>
            <a:r>
              <a:rPr lang="en-US" altLang="zh-CN" sz="1600" b="1" dirty="0" smtClean="0">
                <a:solidFill>
                  <a:srgbClr val="002060"/>
                </a:solidFill>
              </a:rPr>
              <a:t>RRT</a:t>
            </a:r>
            <a:r>
              <a:rPr lang="zh-CN" altLang="en-US" sz="1600" b="1" dirty="0" smtClean="0">
                <a:solidFill>
                  <a:srgbClr val="002060"/>
                </a:solidFill>
              </a:rPr>
              <a:t>） </a:t>
            </a:r>
            <a:endParaRPr lang="zh-CN" altLang="en-US" sz="1600" b="1" dirty="0">
              <a:solidFill>
                <a:srgbClr val="002060"/>
              </a:solidFill>
            </a:endParaRPr>
          </a:p>
        </p:txBody>
      </p:sp>
      <p:sp>
        <p:nvSpPr>
          <p:cNvPr id="4" name="矩形 3"/>
          <p:cNvSpPr/>
          <p:nvPr/>
        </p:nvSpPr>
        <p:spPr>
          <a:xfrm>
            <a:off x="395536" y="1073160"/>
            <a:ext cx="8280920" cy="830997"/>
          </a:xfrm>
          <a:prstGeom prst="rect">
            <a:avLst/>
          </a:prstGeom>
        </p:spPr>
        <p:txBody>
          <a:bodyPr wrap="square">
            <a:spAutoFit/>
          </a:bodyPr>
          <a:lstStyle/>
          <a:p>
            <a:r>
              <a:rPr lang="zh-CN" altLang="en-US" sz="1600" dirty="0">
                <a:solidFill>
                  <a:srgbClr val="002060"/>
                </a:solidFill>
              </a:rPr>
              <a:t>思路：从初始位形q0开始，积极探索C空间，通过状态空间的随机采样点，把搜索导向空白区域，从而寻找到一条从起始点到目标点的规划路径，探索出的区域为以q0为根节点的一棵树(tree</a:t>
            </a:r>
            <a:r>
              <a:rPr lang="zh-CN" altLang="en-US" sz="1600" dirty="0" smtClean="0">
                <a:solidFill>
                  <a:srgbClr val="002060"/>
                </a:solidFill>
              </a:rPr>
              <a:t>)。</a:t>
            </a:r>
            <a:endParaRPr lang="zh-CN" altLang="en-US" sz="1600" dirty="0">
              <a:solidFill>
                <a:srgbClr val="002060"/>
              </a:solidFill>
            </a:endParaRPr>
          </a:p>
        </p:txBody>
      </p:sp>
      <p:pic>
        <p:nvPicPr>
          <p:cNvPr id="13" name="Picture 2" descr="https://images2015.cnblogs.com/blog/890966/201701/890966-20170119115427765-1225467664.jpg"/>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474037" y="1904157"/>
            <a:ext cx="3632045" cy="3073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5724129" y="471300"/>
            <a:ext cx="2460456" cy="338554"/>
          </a:xfrm>
          <a:prstGeom prst="rect">
            <a:avLst/>
          </a:prstGeom>
        </p:spPr>
        <p:txBody>
          <a:bodyPr wrap="square">
            <a:spAutoFit/>
          </a:bodyPr>
          <a:lstStyle/>
          <a:p>
            <a:r>
              <a:rPr lang="zh-CN" altLang="en-US" sz="1600" b="1" dirty="0">
                <a:solidFill>
                  <a:srgbClr val="002060"/>
                </a:solidFill>
              </a:rPr>
              <a:t>快速搜索随机树</a:t>
            </a:r>
            <a:r>
              <a:rPr lang="zh-CN" altLang="en-US" sz="1600" b="1" dirty="0" smtClean="0">
                <a:solidFill>
                  <a:srgbClr val="002060"/>
                </a:solidFill>
              </a:rPr>
              <a:t>（</a:t>
            </a:r>
            <a:r>
              <a:rPr lang="en-US" altLang="zh-CN" sz="1600" b="1" dirty="0" smtClean="0">
                <a:solidFill>
                  <a:srgbClr val="002060"/>
                </a:solidFill>
              </a:rPr>
              <a:t>RRT</a:t>
            </a:r>
            <a:r>
              <a:rPr lang="zh-CN" altLang="en-US" sz="1600" b="1" dirty="0" smtClean="0">
                <a:solidFill>
                  <a:srgbClr val="002060"/>
                </a:solidFill>
              </a:rPr>
              <a:t>） </a:t>
            </a:r>
            <a:endParaRPr lang="zh-CN" altLang="en-US" sz="1600" b="1" dirty="0">
              <a:solidFill>
                <a:srgbClr val="002060"/>
              </a:solidFill>
            </a:endParaRP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768" y="914777"/>
            <a:ext cx="8316688" cy="29627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3013431"/>
            <a:ext cx="4198011" cy="2130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5724129" y="471300"/>
            <a:ext cx="2460456" cy="338554"/>
          </a:xfrm>
          <a:prstGeom prst="rect">
            <a:avLst/>
          </a:prstGeom>
        </p:spPr>
        <p:txBody>
          <a:bodyPr wrap="square">
            <a:spAutoFit/>
          </a:bodyPr>
          <a:lstStyle/>
          <a:p>
            <a:r>
              <a:rPr lang="zh-CN" altLang="en-US" sz="1600" b="1" dirty="0">
                <a:solidFill>
                  <a:srgbClr val="002060"/>
                </a:solidFill>
              </a:rPr>
              <a:t>快速搜索随机树</a:t>
            </a:r>
            <a:r>
              <a:rPr lang="zh-CN" altLang="en-US" sz="1600" b="1" dirty="0" smtClean="0">
                <a:solidFill>
                  <a:srgbClr val="002060"/>
                </a:solidFill>
              </a:rPr>
              <a:t>（</a:t>
            </a:r>
            <a:r>
              <a:rPr lang="en-US" altLang="zh-CN" sz="1600" b="1" dirty="0" smtClean="0">
                <a:solidFill>
                  <a:srgbClr val="002060"/>
                </a:solidFill>
              </a:rPr>
              <a:t>RRT</a:t>
            </a:r>
            <a:r>
              <a:rPr lang="zh-CN" altLang="en-US" sz="1600" b="1" dirty="0" smtClean="0">
                <a:solidFill>
                  <a:srgbClr val="002060"/>
                </a:solidFill>
              </a:rPr>
              <a:t>） </a:t>
            </a:r>
            <a:endParaRPr lang="zh-CN" altLang="en-US" sz="1600" b="1" dirty="0">
              <a:solidFill>
                <a:srgbClr val="002060"/>
              </a:solidFill>
            </a:endParaRPr>
          </a:p>
        </p:txBody>
      </p:sp>
      <p:pic>
        <p:nvPicPr>
          <p:cNvPr id="13" name="Picture 2" descr="https://images2017.cnblogs.com/blog/890966/201710/890966-20171030174158324-1680318999.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45030" y="1001550"/>
            <a:ext cx="3945030" cy="394503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s://images2017.cnblogs.com/blog/890966/201710/890966-20171030151756277-2139864187.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572605" y="1001550"/>
            <a:ext cx="3815819" cy="3815819"/>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395536" y="4817369"/>
            <a:ext cx="8280920" cy="307777"/>
          </a:xfrm>
          <a:prstGeom prst="rect">
            <a:avLst/>
          </a:prstGeom>
        </p:spPr>
        <p:txBody>
          <a:bodyPr wrap="square">
            <a:spAutoFit/>
          </a:bodyPr>
          <a:lstStyle/>
          <a:p>
            <a:r>
              <a:rPr lang="zh-CN" altLang="en-US" sz="1400" b="1" dirty="0">
                <a:solidFill>
                  <a:srgbClr val="FF0000"/>
                </a:solidFill>
              </a:rPr>
              <a:t>对环境类型不敏感，当</a:t>
            </a:r>
            <a:r>
              <a:rPr lang="en-US" altLang="zh-CN" sz="1400" b="1" dirty="0">
                <a:solidFill>
                  <a:srgbClr val="FF0000"/>
                </a:solidFill>
              </a:rPr>
              <a:t>C-</a:t>
            </a:r>
            <a:r>
              <a:rPr lang="zh-CN" altLang="en-US" sz="1400" b="1" dirty="0" smtClean="0">
                <a:solidFill>
                  <a:srgbClr val="FF0000"/>
                </a:solidFill>
              </a:rPr>
              <a:t>空间包含</a:t>
            </a:r>
            <a:r>
              <a:rPr lang="zh-CN" altLang="en-US" sz="1400" b="1" dirty="0">
                <a:solidFill>
                  <a:srgbClr val="FF0000"/>
                </a:solidFill>
              </a:rPr>
              <a:t>大量障碍物或狭窄通道约束时，算法的收敛速度慢，效率会大幅下降</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C-Space </a:t>
              </a:r>
              <a:r>
                <a:rPr lang="en-US" altLang="zh-CN" sz="1000" dirty="0" err="1">
                  <a:latin typeface="Arial" panose="020B0604020202020204" pitchFamily="34" charset="0"/>
                  <a:ea typeface="微软雅黑" panose="020B0503020204020204" charset="-122"/>
                  <a:sym typeface="+mn-ea"/>
                </a:rPr>
                <a:t>Discretizations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位形空间离散化规划方法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3361255" y="458410"/>
            <a:ext cx="2073709" cy="400110"/>
          </a:xfrm>
          <a:prstGeom prst="rect">
            <a:avLst/>
          </a:prstGeom>
        </p:spPr>
        <p:txBody>
          <a:bodyPr wrap="square">
            <a:spAutoFit/>
          </a:bodyPr>
          <a:lstStyle/>
          <a:p>
            <a:r>
              <a:rPr lang="zh-CN" altLang="en-US" sz="2000" b="1" dirty="0" smtClean="0">
                <a:solidFill>
                  <a:srgbClr val="002060"/>
                </a:solidFill>
              </a:rPr>
              <a:t>基于采样的方法</a:t>
            </a:r>
            <a:endParaRPr lang="zh-CN" altLang="en-US" sz="2000" b="1" dirty="0">
              <a:solidFill>
                <a:srgbClr val="002060"/>
              </a:solidFill>
            </a:endParaRPr>
          </a:p>
        </p:txBody>
      </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5724129" y="471300"/>
            <a:ext cx="2460456" cy="338554"/>
          </a:xfrm>
          <a:prstGeom prst="rect">
            <a:avLst/>
          </a:prstGeom>
        </p:spPr>
        <p:txBody>
          <a:bodyPr wrap="square">
            <a:spAutoFit/>
          </a:bodyPr>
          <a:lstStyle/>
          <a:p>
            <a:r>
              <a:rPr lang="zh-CN" altLang="en-US" sz="1600" b="1" dirty="0">
                <a:solidFill>
                  <a:srgbClr val="002060"/>
                </a:solidFill>
              </a:rPr>
              <a:t>快速搜索随机树</a:t>
            </a:r>
            <a:r>
              <a:rPr lang="zh-CN" altLang="en-US" sz="1600" b="1" dirty="0" smtClean="0">
                <a:solidFill>
                  <a:srgbClr val="002060"/>
                </a:solidFill>
              </a:rPr>
              <a:t>（</a:t>
            </a:r>
            <a:r>
              <a:rPr lang="en-US" altLang="zh-CN" sz="1600" b="1" dirty="0" smtClean="0">
                <a:solidFill>
                  <a:srgbClr val="002060"/>
                </a:solidFill>
              </a:rPr>
              <a:t>RRT</a:t>
            </a:r>
            <a:r>
              <a:rPr lang="zh-CN" altLang="en-US" sz="1600" b="1" dirty="0" smtClean="0">
                <a:solidFill>
                  <a:srgbClr val="002060"/>
                </a:solidFill>
              </a:rPr>
              <a:t>） </a:t>
            </a:r>
            <a:endParaRPr lang="zh-CN" altLang="en-US" sz="1600" b="1" dirty="0">
              <a:solidFill>
                <a:srgbClr val="002060"/>
              </a:solidFill>
            </a:endParaRPr>
          </a:p>
        </p:txBody>
      </p:sp>
      <p:pic>
        <p:nvPicPr>
          <p:cNvPr id="14" name="Picture 5" descr="https://images2017.cnblogs.com/blog/890966/201710/890966-20171030152023152-1595959232.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67644" y="1070472"/>
            <a:ext cx="3790837" cy="379083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 descr="https://images2017.cnblogs.com/blog/890966/201710/890966-20171030152028011-834894850.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698256" y="1070472"/>
            <a:ext cx="3790837" cy="3790837"/>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451761" y="865169"/>
            <a:ext cx="2236510" cy="338554"/>
          </a:xfrm>
          <a:prstGeom prst="rect">
            <a:avLst/>
          </a:prstGeom>
        </p:spPr>
        <p:txBody>
          <a:bodyPr wrap="none">
            <a:spAutoFit/>
          </a:bodyPr>
          <a:lstStyle/>
          <a:p>
            <a:r>
              <a:rPr lang="zh-CN" altLang="en-US" sz="1600" dirty="0">
                <a:solidFill>
                  <a:srgbClr val="FF0000"/>
                </a:solidFill>
              </a:rPr>
              <a:t>这种情况下如何改进？</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167371"/>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前面讨论的所有技术都旨在将</a:t>
            </a:r>
            <a:r>
              <a:rPr lang="en-US" altLang="zh-CN" sz="1200" dirty="0" err="1">
                <a:latin typeface="Arial" panose="020B0604020202020204" pitchFamily="34" charset="0"/>
                <a:ea typeface="微软雅黑" panose="020B0503020204020204" charset="-122"/>
                <a:sym typeface="+mn-ea"/>
              </a:rPr>
              <a:t>Cfree</a:t>
            </a:r>
            <a:r>
              <a:rPr lang="zh-CN" altLang="en-US" sz="1200" dirty="0">
                <a:latin typeface="Arial" panose="020B0604020202020204" pitchFamily="34" charset="0"/>
                <a:ea typeface="微软雅黑" panose="020B0503020204020204" charset="-122"/>
                <a:sym typeface="+mn-ea"/>
              </a:rPr>
              <a:t>的连通图中寻找避碰</a:t>
            </a:r>
            <a:r>
              <a:rPr lang="zh-CN" altLang="en-US" sz="1200" dirty="0" smtClean="0">
                <a:latin typeface="Arial" panose="020B0604020202020204" pitchFamily="34" charset="0"/>
                <a:ea typeface="微软雅黑" panose="020B0503020204020204" charset="-122"/>
                <a:sym typeface="+mn-ea"/>
              </a:rPr>
              <a:t>路径，而</a:t>
            </a:r>
            <a:r>
              <a:rPr lang="zh-CN" altLang="en-US" sz="1200" dirty="0">
                <a:latin typeface="Arial" panose="020B0604020202020204" pitchFamily="34" charset="0"/>
                <a:ea typeface="微软雅黑" panose="020B0503020204020204" charset="-122"/>
                <a:sym typeface="+mn-ea"/>
              </a:rPr>
              <a:t>势场法遵循不同的理念：将机器人抽象为一个粒子，在人工势场的作用下，机器人在排斥力和吸引力的合力作用下向目标点</a:t>
            </a:r>
            <a:r>
              <a:rPr lang="zh-CN" altLang="en-US" sz="1200" dirty="0" smtClean="0">
                <a:latin typeface="Arial" panose="020B0604020202020204" pitchFamily="34" charset="0"/>
                <a:ea typeface="微软雅黑" panose="020B0503020204020204" charset="-122"/>
                <a:sym typeface="+mn-ea"/>
              </a:rPr>
              <a:t>移动</a:t>
            </a:r>
            <a:r>
              <a:rPr lang="zh-CN" altLang="en-US" sz="1200" dirty="0" smtClean="0">
                <a:solidFill>
                  <a:schemeClr val="tx1"/>
                </a:solidFill>
                <a:latin typeface="Arial" panose="020B0604020202020204" pitchFamily="34" charset="0"/>
                <a:ea typeface="微软雅黑" panose="020B0503020204020204" charset="-122"/>
                <a:sym typeface="+mn-ea"/>
              </a:rPr>
              <a:t>。</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势场</a:t>
            </a:r>
            <a:r>
              <a:rPr lang="zh-CN" altLang="en-US" sz="2800" b="1" dirty="0" smtClean="0">
                <a:latin typeface="Arial" panose="020B0604020202020204" pitchFamily="34" charset="0"/>
                <a:ea typeface="微软雅黑" panose="020B0503020204020204" charset="-122"/>
                <a:sym typeface="+mn-ea"/>
              </a:rPr>
              <a:t>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05</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Potential Field Methods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势场法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3" name="Text Box 6"/>
          <p:cNvSpPr txBox="1">
            <a:spLocks noChangeArrowheads="1"/>
          </p:cNvSpPr>
          <p:nvPr/>
        </p:nvSpPr>
        <p:spPr bwMode="auto">
          <a:xfrm>
            <a:off x="395536" y="1168003"/>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
              <a:defRPr kumimoji="1" sz="3200">
                <a:solidFill>
                  <a:schemeClr val="tx1"/>
                </a:solidFill>
                <a:latin typeface="Arial" panose="020B0604020202020204" pitchFamily="34" charset="0"/>
              </a:defRPr>
            </a:lvl1pPr>
            <a:lvl2pPr marL="742950" indent="-285750" eaLnBrk="0" hangingPunct="0">
              <a:defRPr kumimoji="1" sz="2800">
                <a:solidFill>
                  <a:schemeClr val="tx1"/>
                </a:solidFill>
                <a:latin typeface="Arial" panose="020B0604020202020204" pitchFamily="34" charset="0"/>
              </a:defRPr>
            </a:lvl2pPr>
            <a:lvl3pPr marL="1143000" indent="-228600" eaLnBrk="0" hangingPunct="0">
              <a:buChar char="•"/>
              <a:defRPr kumimoji="1" sz="2400">
                <a:solidFill>
                  <a:schemeClr val="tx1"/>
                </a:solidFill>
                <a:latin typeface="Arial" panose="020B0604020202020204" pitchFamily="34" charset="0"/>
              </a:defRPr>
            </a:lvl3pPr>
            <a:lvl4pPr marL="1600200" indent="-228600" eaLnBrk="0" hangingPunct="0">
              <a:defRPr kumimoji="1" sz="2000">
                <a:solidFill>
                  <a:schemeClr val="tx1"/>
                </a:solidFill>
                <a:latin typeface="Arial" panose="020B0604020202020204" pitchFamily="34" charset="0"/>
              </a:defRPr>
            </a:lvl4pPr>
            <a:lvl5pPr marL="2057400" indent="-228600" eaLnBrk="0" hangingPunct="0">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spcBef>
                <a:spcPct val="50000"/>
              </a:spcBef>
              <a:buFontTx/>
              <a:buNone/>
            </a:pPr>
            <a:r>
              <a:rPr lang="zh-CN" altLang="en-US" sz="1600" dirty="0">
                <a:solidFill>
                  <a:srgbClr val="002060"/>
                </a:solidFill>
                <a:latin typeface="Times New Roman" panose="02020603050405020304" pitchFamily="18" charset="0"/>
              </a:rPr>
              <a:t>障碍物对机器人施加排斥力，目标点对机器人施加吸引力合力形成势场，机器人移动就像球从山上滚下来</a:t>
            </a:r>
            <a:r>
              <a:rPr lang="zh-CN" altLang="en-US" sz="1600" dirty="0" smtClean="0">
                <a:solidFill>
                  <a:srgbClr val="002060"/>
                </a:solidFill>
                <a:latin typeface="Times New Roman" panose="02020603050405020304" pitchFamily="18" charset="0"/>
              </a:rPr>
              <a:t>一样，机器人</a:t>
            </a:r>
            <a:r>
              <a:rPr lang="zh-CN" altLang="en-US" sz="1600" dirty="0">
                <a:solidFill>
                  <a:srgbClr val="002060"/>
                </a:solidFill>
                <a:latin typeface="Times New Roman" panose="02020603050405020304" pitchFamily="18" charset="0"/>
              </a:rPr>
              <a:t>在合力作用下向目标点</a:t>
            </a:r>
            <a:r>
              <a:rPr lang="zh-CN" altLang="en-US" sz="1600" dirty="0" smtClean="0">
                <a:solidFill>
                  <a:srgbClr val="002060"/>
                </a:solidFill>
                <a:latin typeface="Times New Roman" panose="02020603050405020304" pitchFamily="18" charset="0"/>
              </a:rPr>
              <a:t>移动</a:t>
            </a:r>
            <a:r>
              <a:rPr lang="zh-CN" altLang="en-US" sz="1600" dirty="0">
                <a:solidFill>
                  <a:srgbClr val="002060"/>
                </a:solidFill>
                <a:latin typeface="Times New Roman" panose="02020603050405020304" pitchFamily="18" charset="0"/>
              </a:rPr>
              <a:t>。</a:t>
            </a:r>
          </a:p>
        </p:txBody>
      </p:sp>
      <p:grpSp>
        <p:nvGrpSpPr>
          <p:cNvPr id="15" name="组合 14"/>
          <p:cNvGrpSpPr/>
          <p:nvPr/>
        </p:nvGrpSpPr>
        <p:grpSpPr>
          <a:xfrm>
            <a:off x="1295636" y="2643758"/>
            <a:ext cx="6480719" cy="1647483"/>
            <a:chOff x="611561" y="2505213"/>
            <a:chExt cx="6480719" cy="1647483"/>
          </a:xfrm>
        </p:grpSpPr>
        <p:pic>
          <p:nvPicPr>
            <p:cNvPr id="3" name="图片 2"/>
            <p:cNvPicPr>
              <a:picLocks noChangeAspect="1"/>
            </p:cNvPicPr>
            <p:nvPr/>
          </p:nvPicPr>
          <p:blipFill>
            <a:blip r:embed="rId4"/>
            <a:stretch>
              <a:fillRect/>
            </a:stretch>
          </p:blipFill>
          <p:spPr>
            <a:xfrm>
              <a:off x="611561" y="2505213"/>
              <a:ext cx="2016224" cy="1647483"/>
            </a:xfrm>
            <a:prstGeom prst="rect">
              <a:avLst/>
            </a:prstGeom>
          </p:spPr>
        </p:pic>
        <p:pic>
          <p:nvPicPr>
            <p:cNvPr id="5" name="图片 4"/>
            <p:cNvPicPr>
              <a:picLocks noChangeAspect="1"/>
            </p:cNvPicPr>
            <p:nvPr/>
          </p:nvPicPr>
          <p:blipFill>
            <a:blip r:embed="rId5"/>
            <a:stretch>
              <a:fillRect/>
            </a:stretch>
          </p:blipFill>
          <p:spPr>
            <a:xfrm>
              <a:off x="2858240" y="2505213"/>
              <a:ext cx="2016224" cy="1647483"/>
            </a:xfrm>
            <a:prstGeom prst="rect">
              <a:avLst/>
            </a:prstGeom>
          </p:spPr>
        </p:pic>
        <p:pic>
          <p:nvPicPr>
            <p:cNvPr id="6" name="图片 5"/>
            <p:cNvPicPr>
              <a:picLocks noChangeAspect="1"/>
            </p:cNvPicPr>
            <p:nvPr/>
          </p:nvPicPr>
          <p:blipFill>
            <a:blip r:embed="rId6"/>
            <a:stretch>
              <a:fillRect/>
            </a:stretch>
          </p:blipFill>
          <p:spPr>
            <a:xfrm>
              <a:off x="5104919" y="2505213"/>
              <a:ext cx="1987361" cy="1643023"/>
            </a:xfrm>
            <a:prstGeom prst="rect">
              <a:avLst/>
            </a:prstGeom>
          </p:spPr>
        </p:pic>
        <p:sp>
          <p:nvSpPr>
            <p:cNvPr id="7" name="矩形 6"/>
            <p:cNvSpPr/>
            <p:nvPr/>
          </p:nvSpPr>
          <p:spPr>
            <a:xfrm>
              <a:off x="2592170" y="3265266"/>
              <a:ext cx="301686" cy="369332"/>
            </a:xfrm>
            <a:prstGeom prst="rect">
              <a:avLst/>
            </a:prstGeom>
          </p:spPr>
          <p:txBody>
            <a:bodyPr wrap="none">
              <a:spAutoFit/>
            </a:bodyPr>
            <a:lstStyle/>
            <a:p>
              <a:r>
                <a:rPr lang="en-US" altLang="zh-CN" b="1" dirty="0">
                  <a:effectLst>
                    <a:outerShdw blurRad="38100" dist="38100" dir="2700000" algn="tl">
                      <a:srgbClr val="000000">
                        <a:alpha val="43137"/>
                      </a:srgbClr>
                    </a:outerShdw>
                  </a:effectLst>
                  <a:latin typeface="Verdana-Bold"/>
                </a:rPr>
                <a:t>+</a:t>
              </a:r>
              <a:endParaRPr lang="zh-CN" altLang="en-US" dirty="0">
                <a:effectLst>
                  <a:outerShdw blurRad="38100" dist="38100" dir="2700000" algn="tl">
                    <a:srgbClr val="000000">
                      <a:alpha val="43137"/>
                    </a:srgbClr>
                  </a:outerShdw>
                </a:effectLst>
              </a:endParaRPr>
            </a:p>
          </p:txBody>
        </p:sp>
        <p:sp>
          <p:nvSpPr>
            <p:cNvPr id="8" name="矩形 7"/>
            <p:cNvSpPr/>
            <p:nvPr/>
          </p:nvSpPr>
          <p:spPr>
            <a:xfrm>
              <a:off x="4866345" y="3142058"/>
              <a:ext cx="301686" cy="369332"/>
            </a:xfrm>
            <a:prstGeom prst="rect">
              <a:avLst/>
            </a:prstGeom>
          </p:spPr>
          <p:txBody>
            <a:bodyPr wrap="none">
              <a:spAutoFit/>
            </a:bodyPr>
            <a:lstStyle/>
            <a:p>
              <a:r>
                <a:rPr lang="en-US" altLang="zh-CN" b="1" dirty="0">
                  <a:effectLst>
                    <a:outerShdw blurRad="38100" dist="38100" dir="2700000" algn="tl">
                      <a:srgbClr val="000000">
                        <a:alpha val="43137"/>
                      </a:srgbClr>
                    </a:outerShdw>
                  </a:effectLst>
                  <a:latin typeface="Verdana-Bold"/>
                </a:rPr>
                <a:t>=</a:t>
              </a:r>
              <a:endParaRPr lang="zh-CN" altLang="en-US" dirty="0">
                <a:effectLst>
                  <a:outerShdw blurRad="38100" dist="38100" dir="2700000" algn="tl">
                    <a:srgbClr val="000000">
                      <a:alpha val="43137"/>
                    </a:srgbClr>
                  </a:outerShdw>
                </a:effectLst>
              </a:endParaRPr>
            </a:p>
          </p:txBody>
        </p:sp>
      </p:grpSp>
      <mc:AlternateContent xmlns:mc="http://schemas.openxmlformats.org/markup-compatibility/2006" xmlns:a14="http://schemas.microsoft.com/office/drawing/2010/main">
        <mc:Choice Requires="a14">
          <p:sp>
            <p:nvSpPr>
              <p:cNvPr id="11" name="矩形 10"/>
              <p:cNvSpPr/>
              <p:nvPr/>
            </p:nvSpPr>
            <p:spPr>
              <a:xfrm>
                <a:off x="2858240" y="1844988"/>
                <a:ext cx="2803716" cy="390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𝑈</m:t>
                      </m:r>
                      <m:d>
                        <m:dPr>
                          <m:ctrlPr>
                            <a:rPr lang="zh-CN" altLang="en-US" i="1">
                              <a:latin typeface="Cambria Math" panose="02040503050406030204" pitchFamily="18" charset="0"/>
                            </a:rPr>
                          </m:ctrlPr>
                        </m:dPr>
                        <m:e>
                          <m:r>
                            <a:rPr lang="zh-CN" altLang="en-US" i="1">
                              <a:latin typeface="Cambria Math" panose="02040503050406030204" pitchFamily="18" charset="0"/>
                            </a:rPr>
                            <m:t>𝑞</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𝑎𝑡𝑡</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𝑞</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𝑟𝑒𝑝</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𝑞</m:t>
                          </m:r>
                        </m:e>
                      </m:d>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2858240" y="1844988"/>
                <a:ext cx="2803716" cy="390748"/>
              </a:xfrm>
              <a:prstGeom prst="rect">
                <a:avLst/>
              </a:prstGeom>
              <a:blipFill rotWithShape="1">
                <a:blip r:embed="rId7"/>
                <a:stretch>
                  <a:fillRect l="-4" t="-80" r="11" b="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5724128" y="1827771"/>
                <a:ext cx="1818703" cy="4251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𝐹</m:t>
                              </m:r>
                            </m:e>
                          </m:acc>
                          <m:d>
                            <m:dPr>
                              <m:ctrlPr>
                                <a:rPr lang="zh-CN" altLang="en-US" i="1">
                                  <a:latin typeface="Cambria Math" panose="02040503050406030204" pitchFamily="18" charset="0"/>
                                </a:rPr>
                              </m:ctrlPr>
                            </m:dPr>
                            <m:e>
                              <m:r>
                                <a:rPr lang="zh-CN" altLang="en-US" i="1">
                                  <a:latin typeface="Cambria Math" panose="02040503050406030204" pitchFamily="18" charset="0"/>
                                </a:rPr>
                                <m:t>𝑞</m:t>
                              </m:r>
                            </m:e>
                          </m:d>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0">
                                  <a:latin typeface="Cambria Math" panose="02040503050406030204" pitchFamily="18" charset="0"/>
                                </a:rPr>
                                <m:t>𝛻</m:t>
                              </m:r>
                            </m:e>
                          </m:acc>
                          <m:r>
                            <a:rPr lang="zh-CN" altLang="en-US" i="1">
                              <a:latin typeface="Cambria Math" panose="02040503050406030204" pitchFamily="18" charset="0"/>
                            </a:rPr>
                            <m:t>𝑈</m:t>
                          </m:r>
                          <m:r>
                            <a:rPr lang="zh-CN" altLang="en-US" i="0">
                              <a:latin typeface="Cambria Math" panose="02040503050406030204" pitchFamily="18" charset="0"/>
                            </a:rPr>
                            <m:t>(</m:t>
                          </m:r>
                          <m:r>
                            <a:rPr lang="zh-CN" altLang="en-US" i="1">
                              <a:latin typeface="Cambria Math" panose="02040503050406030204" pitchFamily="18" charset="0"/>
                            </a:rPr>
                            <m:t>𝑞</m:t>
                          </m:r>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5724128" y="1827771"/>
                <a:ext cx="1818703" cy="425181"/>
              </a:xfrm>
              <a:prstGeom prst="rect">
                <a:avLst/>
              </a:prstGeom>
              <a:blipFill rotWithShape="1">
                <a:blip r:embed="rId8"/>
                <a:stretch>
                  <a:fillRect l="-13" t="-57" r="17" b="14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Potential Field Methods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势场法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2"/>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888399" y="445790"/>
            <a:ext cx="4405950" cy="338554"/>
          </a:xfrm>
          <a:prstGeom prst="rect">
            <a:avLst/>
          </a:prstGeom>
        </p:spPr>
        <p:txBody>
          <a:bodyPr wrap="none">
            <a:spAutoFit/>
          </a:bodyPr>
          <a:lstStyle/>
          <a:p>
            <a:r>
              <a:rPr lang="zh-CN" altLang="en-US" sz="1600" b="1" dirty="0">
                <a:solidFill>
                  <a:srgbClr val="002060"/>
                </a:solidFill>
              </a:rPr>
              <a:t>人工势场</a:t>
            </a:r>
            <a:r>
              <a:rPr lang="zh-CN" altLang="en-US" sz="1600" b="1" dirty="0" smtClean="0">
                <a:solidFill>
                  <a:srgbClr val="002060"/>
                </a:solidFill>
              </a:rPr>
              <a:t>法（</a:t>
            </a:r>
            <a:r>
              <a:rPr lang="en-US" altLang="zh-CN" sz="1600" b="1" dirty="0">
                <a:solidFill>
                  <a:srgbClr val="002060"/>
                </a:solidFill>
              </a:rPr>
              <a:t> Artificial potential field method </a:t>
            </a:r>
            <a:r>
              <a:rPr lang="zh-CN" altLang="en-US" sz="1600" b="1" dirty="0" smtClean="0">
                <a:solidFill>
                  <a:srgbClr val="002060"/>
                </a:solidFill>
              </a:rPr>
              <a:t>）</a:t>
            </a:r>
            <a:endParaRPr lang="zh-CN" altLang="en-US" sz="1600" b="1" dirty="0">
              <a:solidFill>
                <a:srgbClr val="002060"/>
              </a:solidFill>
            </a:endParaRPr>
          </a:p>
        </p:txBody>
      </p:sp>
      <p:grpSp>
        <p:nvGrpSpPr>
          <p:cNvPr id="14" name="组合 13"/>
          <p:cNvGrpSpPr/>
          <p:nvPr/>
        </p:nvGrpSpPr>
        <p:grpSpPr>
          <a:xfrm>
            <a:off x="395536" y="1110615"/>
            <a:ext cx="8280920" cy="2478444"/>
            <a:chOff x="395536" y="1029410"/>
            <a:chExt cx="8623479" cy="2658430"/>
          </a:xfrm>
        </p:grpSpPr>
        <p:pic>
          <p:nvPicPr>
            <p:cNvPr id="1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395536" y="1029410"/>
              <a:ext cx="5328592" cy="2658430"/>
            </a:xfrm>
            <a:prstGeom prst="rect">
              <a:avLst/>
            </a:prstGeo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 name="Rectangle 11"/>
            <p:cNvSpPr>
              <a:spLocks noChangeArrowheads="1"/>
            </p:cNvSpPr>
            <p:nvPr/>
          </p:nvSpPr>
          <p:spPr bwMode="auto">
            <a:xfrm>
              <a:off x="4224452" y="3191069"/>
              <a:ext cx="244169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
                <a:defRPr kumimoji="1" sz="3200">
                  <a:solidFill>
                    <a:schemeClr val="tx1"/>
                  </a:solidFill>
                  <a:latin typeface="Arial" panose="020B0604020202020204" pitchFamily="34" charset="0"/>
                </a:defRPr>
              </a:lvl1pPr>
              <a:lvl2pPr marL="742950" indent="-285750" eaLnBrk="0" hangingPunct="0">
                <a:defRPr kumimoji="1" sz="2800">
                  <a:solidFill>
                    <a:schemeClr val="tx1"/>
                  </a:solidFill>
                  <a:latin typeface="Arial" panose="020B0604020202020204" pitchFamily="34" charset="0"/>
                </a:defRPr>
              </a:lvl2pPr>
              <a:lvl3pPr marL="1143000" indent="-228600" eaLnBrk="0" hangingPunct="0">
                <a:buChar char="•"/>
                <a:defRPr kumimoji="1" sz="2400">
                  <a:solidFill>
                    <a:schemeClr val="tx1"/>
                  </a:solidFill>
                  <a:latin typeface="Arial" panose="020B0604020202020204" pitchFamily="34" charset="0"/>
                </a:defRPr>
              </a:lvl3pPr>
              <a:lvl4pPr marL="1600200" indent="-228600" eaLnBrk="0" hangingPunct="0">
                <a:defRPr kumimoji="1" sz="2000">
                  <a:solidFill>
                    <a:schemeClr val="tx1"/>
                  </a:solidFill>
                  <a:latin typeface="Arial" panose="020B0604020202020204" pitchFamily="34" charset="0"/>
                </a:defRPr>
              </a:lvl4pPr>
              <a:lvl5pPr marL="2057400" indent="-228600" eaLnBrk="0" hangingPunct="0">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defRPr>
              </a:lvl9pPr>
            </a:lstStyle>
            <a:p>
              <a:pPr eaLnBrk="1" hangingPunct="1">
                <a:buNone/>
              </a:pPr>
              <a:r>
                <a:rPr lang="zh-CN" altLang="en-US" sz="1600" dirty="0">
                  <a:solidFill>
                    <a:srgbClr val="002060"/>
                  </a:solidFill>
                  <a:latin typeface="Times New Roman" panose="02020603050405020304" pitchFamily="18" charset="0"/>
                  <a:cs typeface="Times New Roman" panose="02020603050405020304" pitchFamily="18" charset="0"/>
                </a:rPr>
                <a:t>机器人所受到的合力为：</a:t>
              </a:r>
            </a:p>
          </p:txBody>
        </p:sp>
        <p:graphicFrame>
          <p:nvGraphicFramePr>
            <p:cNvPr id="20" name="Object 10"/>
            <p:cNvGraphicFramePr>
              <a:graphicFrameLocks noChangeAspect="1"/>
            </p:cNvGraphicFramePr>
            <p:nvPr/>
          </p:nvGraphicFramePr>
          <p:xfrm>
            <a:off x="6645252" y="3236604"/>
            <a:ext cx="2031204" cy="378966"/>
          </p:xfrm>
          <a:graphic>
            <a:graphicData uri="http://schemas.openxmlformats.org/presentationml/2006/ole">
              <mc:AlternateContent xmlns:mc="http://schemas.openxmlformats.org/markup-compatibility/2006">
                <mc:Choice xmlns:v="urn:schemas-microsoft-com:vml" Requires="v">
                  <p:oleObj spid="_x0000_s12325" name="公式" r:id="rId6" imgW="951865" imgH="241300" progId="Equation.3">
                    <p:embed/>
                  </p:oleObj>
                </mc:Choice>
                <mc:Fallback>
                  <p:oleObj name="公式" r:id="rId6" imgW="951865" imgH="24130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45252" y="3236604"/>
                          <a:ext cx="2031204" cy="378966"/>
                        </a:xfrm>
                        <a:prstGeom prst="rect">
                          <a:avLst/>
                        </a:prstGeom>
                        <a:noFill/>
                        <a:ln>
                          <a:noFill/>
                        </a:ln>
                      </p:spPr>
                    </p:pic>
                  </p:oleObj>
                </mc:Fallback>
              </mc:AlternateContent>
            </a:graphicData>
          </a:graphic>
        </p:graphicFrame>
        <p:pic>
          <p:nvPicPr>
            <p:cNvPr id="4" name="图片 3"/>
            <p:cNvPicPr>
              <a:picLocks noChangeAspect="1"/>
            </p:cNvPicPr>
            <p:nvPr/>
          </p:nvPicPr>
          <p:blipFill>
            <a:blip r:embed="rId8"/>
            <a:stretch>
              <a:fillRect/>
            </a:stretch>
          </p:blipFill>
          <p:spPr>
            <a:xfrm>
              <a:off x="5708600" y="1043916"/>
              <a:ext cx="3310415" cy="1908213"/>
            </a:xfrm>
            <a:prstGeom prst="rect">
              <a:avLst/>
            </a:prstGeom>
          </p:spPr>
        </p:pic>
      </p:grpSp>
      <p:sp>
        <p:nvSpPr>
          <p:cNvPr id="9" name="矩形 8"/>
          <p:cNvSpPr/>
          <p:nvPr/>
        </p:nvSpPr>
        <p:spPr>
          <a:xfrm>
            <a:off x="467544" y="4011910"/>
            <a:ext cx="8280920" cy="584775"/>
          </a:xfrm>
          <a:prstGeom prst="rect">
            <a:avLst/>
          </a:prstGeom>
        </p:spPr>
        <p:txBody>
          <a:bodyPr wrap="square">
            <a:spAutoFit/>
          </a:bodyPr>
          <a:lstStyle/>
          <a:p>
            <a:r>
              <a:rPr lang="zh-CN" altLang="en-US" sz="1600" b="1" dirty="0">
                <a:solidFill>
                  <a:srgbClr val="002060"/>
                </a:solidFill>
                <a:latin typeface="Times New Roman" panose="02020603050405020304" pitchFamily="18" charset="0"/>
              </a:rPr>
              <a:t>该方法结构简单，广泛用于实时避障和平滑的轨迹控制方面，但存在局部极小问题、抖动问题及目标不可达问题，容易产生死锁现象。</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68868" y="2019300"/>
            <a:ext cx="3849370" cy="2829364"/>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除了人工势场法之外，动态窗口法</a:t>
            </a:r>
            <a:r>
              <a:rPr lang="en-US" altLang="zh-CN" sz="1200" dirty="0">
                <a:latin typeface="Arial" panose="020B0604020202020204" pitchFamily="34" charset="0"/>
                <a:ea typeface="微软雅黑" panose="020B0503020204020204" charset="-122"/>
                <a:sym typeface="+mn-ea"/>
              </a:rPr>
              <a:t>(Dynamic Window </a:t>
            </a:r>
            <a:r>
              <a:rPr lang="en-US" altLang="zh-CN" sz="1200" dirty="0" err="1">
                <a:latin typeface="Arial" panose="020B0604020202020204" pitchFamily="34" charset="0"/>
                <a:ea typeface="微软雅黑" panose="020B0503020204020204" charset="-122"/>
                <a:sym typeface="+mn-ea"/>
              </a:rPr>
              <a:t>Approach,DWA</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也可以作为局部规划方法。动态窗口法直接从机器人的动力学出发，对机器人速度和加速度施加约束，进行运动规划。它由两个主要部分组成：第一部分生成一个有效的搜索空间，一般这个搜索空间仅限于可以在短时间内到达且没有碰撞的安全圆弧轨迹，例如差速驱动机器人，其搜索空间为速度空间</a:t>
            </a:r>
            <a:r>
              <a:rPr lang="en-US" altLang="zh-CN" sz="1200" dirty="0">
                <a:latin typeface="Arial" panose="020B0604020202020204" pitchFamily="34" charset="0"/>
                <a:ea typeface="微软雅黑" panose="020B0503020204020204" charset="-122"/>
                <a:sym typeface="+mn-ea"/>
              </a:rPr>
              <a:t>(</a:t>
            </a:r>
            <a:r>
              <a:rPr lang="en-US" altLang="zh-CN" sz="1200" dirty="0" err="1">
                <a:latin typeface="Arial" panose="020B0604020202020204" pitchFamily="34" charset="0"/>
                <a:ea typeface="微软雅黑" panose="020B0503020204020204" charset="-122"/>
                <a:sym typeface="+mn-ea"/>
              </a:rPr>
              <a:t>v,ω</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；第二部分在搜索空间中选择最佳解决方案，其优化目标一般是选择一个方向和速度，使机器人以最大的障碍物间隙距离到达目标。</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241119" y="1496080"/>
            <a:ext cx="3335655"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动态窗口法</a:t>
            </a:r>
            <a:r>
              <a:rPr lang="en-US" altLang="zh-CN" sz="2800" b="1" dirty="0" smtClean="0">
                <a:latin typeface="Arial" panose="020B0604020202020204" pitchFamily="34" charset="0"/>
                <a:ea typeface="微软雅黑" panose="020B0503020204020204" charset="-122"/>
                <a:sym typeface="+mn-ea"/>
              </a:rPr>
              <a:t>(DWA)</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06</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19" name="图片 18"/>
          <p:cNvPicPr/>
          <p:nvPr/>
        </p:nvPicPr>
        <p:blipFill>
          <a:blip r:embed="rId4">
            <a:extLst>
              <a:ext uri="{28A0092B-C50C-407E-A947-70E740481C1C}">
                <a14:useLocalDpi xmlns:a14="http://schemas.microsoft.com/office/drawing/2010/main" val="0"/>
              </a:ext>
            </a:extLst>
          </a:blip>
          <a:srcRect/>
          <a:stretch>
            <a:fillRect/>
          </a:stretch>
        </p:blipFill>
        <p:spPr>
          <a:xfrm>
            <a:off x="2138362" y="1423987"/>
            <a:ext cx="4867275" cy="22955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11" name="图片 10"/>
          <p:cNvPicPr/>
          <p:nvPr/>
        </p:nvPicPr>
        <p:blipFill>
          <a:blip r:embed="rId4">
            <a:extLst>
              <a:ext uri="{28A0092B-C50C-407E-A947-70E740481C1C}">
                <a14:useLocalDpi xmlns:a14="http://schemas.microsoft.com/office/drawing/2010/main" val="0"/>
              </a:ext>
            </a:extLst>
          </a:blip>
          <a:srcRect/>
          <a:stretch>
            <a:fillRect/>
          </a:stretch>
        </p:blipFill>
        <p:spPr>
          <a:xfrm>
            <a:off x="2138362" y="1423987"/>
            <a:ext cx="4867275" cy="2295525"/>
          </a:xfrm>
          <a:prstGeom prst="rect">
            <a:avLst/>
          </a:prstGeom>
          <a:noFill/>
          <a:ln>
            <a:noFill/>
          </a:ln>
        </p:spPr>
      </p:pic>
      <mc:AlternateContent xmlns:mc="http://schemas.openxmlformats.org/markup-compatibility/2006" xmlns:a14="http://schemas.microsoft.com/office/drawing/2010/main">
        <mc:Choice Requires="a14">
          <p:sp>
            <p:nvSpPr>
              <p:cNvPr id="3" name="矩形 2"/>
              <p:cNvSpPr/>
              <p:nvPr/>
            </p:nvSpPr>
            <p:spPr>
              <a:xfrm>
                <a:off x="1187624" y="4297043"/>
                <a:ext cx="6996960" cy="50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𝑎</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r>
                            <a:rPr lang="zh-CN" altLang="en-US" i="1">
                              <a:latin typeface="Cambria Math" panose="02040503050406030204" pitchFamily="18" charset="0"/>
                            </a:rPr>
                            <m:t>𝑣</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r>
                                <a:rPr lang="zh-CN" altLang="en-US" i="1">
                                  <a:latin typeface="Cambria Math" panose="02040503050406030204" pitchFamily="18" charset="0"/>
                                </a:rPr>
                                <m:t>𝑑𝑖𝑠𝑡</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e>
                                <m:sub>
                                  <m:r>
                                    <a:rPr lang="zh-CN" altLang="en-US" i="1">
                                      <a:latin typeface="Cambria Math" panose="02040503050406030204" pitchFamily="18" charset="0"/>
                                    </a:rPr>
                                    <m:t>𝑏</m:t>
                                  </m:r>
                                </m:sub>
                              </m:sSub>
                            </m:e>
                          </m:rad>
                          <m:r>
                            <a:rPr lang="zh-CN" altLang="en-US" i="0">
                              <a:latin typeface="Cambria Math" panose="02040503050406030204" pitchFamily="18" charset="0"/>
                            </a:rPr>
                            <m:t> ˄ </m:t>
                          </m:r>
                          <m:r>
                            <a:rPr lang="zh-CN" altLang="en-US" i="1">
                              <a:latin typeface="Cambria Math" panose="02040503050406030204" pitchFamily="18" charset="0"/>
                            </a:rPr>
                            <m:t>𝜔</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r>
                                <a:rPr lang="zh-CN" altLang="en-US" i="1">
                                  <a:latin typeface="Cambria Math" panose="02040503050406030204" pitchFamily="18" charset="0"/>
                                </a:rPr>
                                <m:t>𝑑𝑖𝑠𝑡</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sub>
                                  <m:r>
                                    <a:rPr lang="zh-CN" altLang="en-US" i="1">
                                      <a:latin typeface="Cambria Math" panose="02040503050406030204" pitchFamily="18" charset="0"/>
                                    </a:rPr>
                                    <m:t>𝑏</m:t>
                                  </m:r>
                                </m:sub>
                              </m:sSub>
                            </m:e>
                          </m:rad>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187624" y="4297043"/>
                <a:ext cx="6996960" cy="504369"/>
              </a:xfrm>
              <a:prstGeom prst="rect">
                <a:avLst/>
              </a:prstGeom>
              <a:blipFill rotWithShape="1">
                <a:blip r:embed="rId5"/>
                <a:stretch>
                  <a:fillRect l="-2" t="-126" r="1" b="35"/>
                </a:stretch>
              </a:blipFill>
            </p:spPr>
            <p:txBody>
              <a:bodyPr/>
              <a:lstStyle/>
              <a:p>
                <a:r>
                  <a:rPr lang="zh-CN" altLang="en-US">
                    <a:noFill/>
                  </a:rPr>
                  <a:t> </a:t>
                </a:r>
              </a:p>
            </p:txBody>
          </p:sp>
        </mc:Fallback>
      </mc:AlternateContent>
      <p:sp>
        <p:nvSpPr>
          <p:cNvPr id="4" name="矩形 3"/>
          <p:cNvSpPr/>
          <p:nvPr/>
        </p:nvSpPr>
        <p:spPr>
          <a:xfrm>
            <a:off x="1468293" y="3880001"/>
            <a:ext cx="2262158" cy="369332"/>
          </a:xfrm>
          <a:prstGeom prst="rect">
            <a:avLst/>
          </a:prstGeom>
        </p:spPr>
        <p:txBody>
          <a:bodyPr wrap="none">
            <a:spAutoFit/>
          </a:bodyPr>
          <a:lstStyle/>
          <a:p>
            <a:r>
              <a:rPr lang="zh-CN" altLang="zh-CN" dirty="0">
                <a:solidFill>
                  <a:srgbClr val="FF0000"/>
                </a:solidFill>
              </a:rPr>
              <a:t>障碍物速度约束公式</a:t>
            </a:r>
            <a:endParaRPr lang="zh-CN" altLang="en-US" dirty="0">
              <a:solidFill>
                <a:srgbClr val="FF0000"/>
              </a:solidFill>
            </a:endParaRPr>
          </a:p>
        </p:txBody>
      </p:sp>
      <p:sp>
        <p:nvSpPr>
          <p:cNvPr id="5" name="圆角矩形 4"/>
          <p:cNvSpPr/>
          <p:nvPr/>
        </p:nvSpPr>
        <p:spPr>
          <a:xfrm>
            <a:off x="1187624" y="3880001"/>
            <a:ext cx="6840760" cy="106801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9" name="图片 8"/>
          <p:cNvPicPr/>
          <p:nvPr/>
        </p:nvPicPr>
        <p:blipFill>
          <a:blip r:embed="rId4">
            <a:extLst>
              <a:ext uri="{28A0092B-C50C-407E-A947-70E740481C1C}">
                <a14:useLocalDpi xmlns:a14="http://schemas.microsoft.com/office/drawing/2010/main" val="0"/>
              </a:ext>
            </a:extLst>
          </a:blip>
          <a:srcRect/>
          <a:stretch>
            <a:fillRect/>
          </a:stretch>
        </p:blipFill>
        <p:spPr>
          <a:xfrm>
            <a:off x="1938337" y="987574"/>
            <a:ext cx="5267325" cy="2857500"/>
          </a:xfrm>
          <a:prstGeom prst="rect">
            <a:avLst/>
          </a:prstGeom>
          <a:noFill/>
          <a:ln>
            <a:noFill/>
          </a:ln>
        </p:spPr>
      </p:pic>
      <mc:AlternateContent xmlns:mc="http://schemas.openxmlformats.org/markup-compatibility/2006" xmlns:a14="http://schemas.microsoft.com/office/drawing/2010/main">
        <mc:Choice Requires="a14">
          <p:sp>
            <p:nvSpPr>
              <p:cNvPr id="11" name="矩形 10"/>
              <p:cNvSpPr/>
              <p:nvPr/>
            </p:nvSpPr>
            <p:spPr>
              <a:xfrm>
                <a:off x="1187624" y="4369051"/>
                <a:ext cx="6996960" cy="50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𝑎</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r>
                            <a:rPr lang="zh-CN" altLang="en-US" i="1">
                              <a:latin typeface="Cambria Math" panose="02040503050406030204" pitchFamily="18" charset="0"/>
                            </a:rPr>
                            <m:t>𝑣</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r>
                                <a:rPr lang="zh-CN" altLang="en-US" i="1">
                                  <a:latin typeface="Cambria Math" panose="02040503050406030204" pitchFamily="18" charset="0"/>
                                </a:rPr>
                                <m:t>𝑑𝑖𝑠𝑡</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e>
                                <m:sub>
                                  <m:r>
                                    <a:rPr lang="zh-CN" altLang="en-US" i="1">
                                      <a:latin typeface="Cambria Math" panose="02040503050406030204" pitchFamily="18" charset="0"/>
                                    </a:rPr>
                                    <m:t>𝑏</m:t>
                                  </m:r>
                                </m:sub>
                              </m:sSub>
                            </m:e>
                          </m:rad>
                          <m:r>
                            <a:rPr lang="zh-CN" altLang="en-US" i="0">
                              <a:latin typeface="Cambria Math" panose="02040503050406030204" pitchFamily="18" charset="0"/>
                            </a:rPr>
                            <m:t> ˄ </m:t>
                          </m:r>
                          <m:r>
                            <a:rPr lang="zh-CN" altLang="en-US" i="1">
                              <a:latin typeface="Cambria Math" panose="02040503050406030204" pitchFamily="18" charset="0"/>
                            </a:rPr>
                            <m:t>𝜔</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r>
                                <a:rPr lang="zh-CN" altLang="en-US" i="1">
                                  <a:latin typeface="Cambria Math" panose="02040503050406030204" pitchFamily="18" charset="0"/>
                                </a:rPr>
                                <m:t>𝑑𝑖𝑠𝑡</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sub>
                                  <m:r>
                                    <a:rPr lang="zh-CN" altLang="en-US" i="1">
                                      <a:latin typeface="Cambria Math" panose="02040503050406030204" pitchFamily="18" charset="0"/>
                                    </a:rPr>
                                    <m:t>𝑏</m:t>
                                  </m:r>
                                </m:sub>
                              </m:sSub>
                            </m:e>
                          </m:rad>
                        </m:e>
                      </m:d>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1187624" y="4369051"/>
                <a:ext cx="6996960" cy="504369"/>
              </a:xfrm>
              <a:prstGeom prst="rect">
                <a:avLst/>
              </a:prstGeom>
              <a:blipFill rotWithShape="1">
                <a:blip r:embed="rId5"/>
                <a:stretch>
                  <a:fillRect l="-2" t="-50" r="1" b="85"/>
                </a:stretch>
              </a:blipFill>
            </p:spPr>
            <p:txBody>
              <a:bodyPr/>
              <a:lstStyle/>
              <a:p>
                <a:r>
                  <a:rPr lang="zh-CN" altLang="en-US">
                    <a:noFill/>
                  </a:rPr>
                  <a:t> </a:t>
                </a:r>
              </a:p>
            </p:txBody>
          </p:sp>
        </mc:Fallback>
      </mc:AlternateContent>
      <p:sp>
        <p:nvSpPr>
          <p:cNvPr id="12" name="矩形 11"/>
          <p:cNvSpPr/>
          <p:nvPr/>
        </p:nvSpPr>
        <p:spPr>
          <a:xfrm>
            <a:off x="1468293" y="3952009"/>
            <a:ext cx="2262158" cy="369332"/>
          </a:xfrm>
          <a:prstGeom prst="rect">
            <a:avLst/>
          </a:prstGeom>
        </p:spPr>
        <p:txBody>
          <a:bodyPr wrap="none">
            <a:spAutoFit/>
          </a:bodyPr>
          <a:lstStyle/>
          <a:p>
            <a:r>
              <a:rPr lang="zh-CN" altLang="zh-CN" dirty="0">
                <a:solidFill>
                  <a:srgbClr val="FF0000"/>
                </a:solidFill>
              </a:rPr>
              <a:t>障碍物速度约束公式</a:t>
            </a:r>
            <a:endParaRPr lang="zh-CN" altLang="en-US" dirty="0">
              <a:solidFill>
                <a:srgbClr val="FF0000"/>
              </a:solidFill>
            </a:endParaRPr>
          </a:p>
        </p:txBody>
      </p:sp>
      <p:sp>
        <p:nvSpPr>
          <p:cNvPr id="13" name="圆角矩形 12"/>
          <p:cNvSpPr/>
          <p:nvPr/>
        </p:nvSpPr>
        <p:spPr>
          <a:xfrm>
            <a:off x="1187624" y="3952009"/>
            <a:ext cx="6840760" cy="106801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9" name="图片 8"/>
          <p:cNvPicPr/>
          <p:nvPr/>
        </p:nvPicPr>
        <p:blipFill>
          <a:blip r:embed="rId4">
            <a:extLst>
              <a:ext uri="{28A0092B-C50C-407E-A947-70E740481C1C}">
                <a14:useLocalDpi xmlns:a14="http://schemas.microsoft.com/office/drawing/2010/main" val="0"/>
              </a:ext>
            </a:extLst>
          </a:blip>
          <a:srcRect/>
          <a:stretch>
            <a:fillRect/>
          </a:stretch>
        </p:blipFill>
        <p:spPr>
          <a:xfrm>
            <a:off x="2085975" y="1300162"/>
            <a:ext cx="4972050" cy="2543175"/>
          </a:xfrm>
          <a:prstGeom prst="rect">
            <a:avLst/>
          </a:prstGeom>
          <a:noFill/>
          <a:ln>
            <a:noFill/>
          </a:ln>
        </p:spPr>
      </p:pic>
      <mc:AlternateContent xmlns:mc="http://schemas.openxmlformats.org/markup-compatibility/2006" xmlns:a14="http://schemas.microsoft.com/office/drawing/2010/main">
        <mc:Choice Requires="a14">
          <p:sp>
            <p:nvSpPr>
              <p:cNvPr id="3" name="矩形 2"/>
              <p:cNvSpPr/>
              <p:nvPr/>
            </p:nvSpPr>
            <p:spPr>
              <a:xfrm>
                <a:off x="774560" y="4298656"/>
                <a:ext cx="750101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𝑑</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r>
                            <a:rPr lang="zh-CN" altLang="en-US" i="1">
                              <a:latin typeface="Cambria Math" panose="02040503050406030204" pitchFamily="18" charset="0"/>
                            </a:rPr>
                            <m:t>𝑣</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𝑎</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𝑎</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 ˄ </m:t>
                          </m:r>
                          <m:r>
                            <a:rPr lang="zh-CN" altLang="en-US" i="1">
                              <a:latin typeface="Cambria Math" panose="02040503050406030204" pitchFamily="18" charset="0"/>
                            </a:rPr>
                            <m:t>𝜔</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𝑎</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𝑎</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 </m:t>
                          </m:r>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774560" y="4298656"/>
                <a:ext cx="7501016" cy="369332"/>
              </a:xfrm>
              <a:prstGeom prst="rect">
                <a:avLst/>
              </a:prstGeom>
              <a:blipFill rotWithShape="1">
                <a:blip r:embed="rId5"/>
                <a:stretch>
                  <a:fillRect l="-7" t="-92" r="3" b="28"/>
                </a:stretch>
              </a:blipFill>
            </p:spPr>
            <p:txBody>
              <a:bodyPr/>
              <a:lstStyle/>
              <a:p>
                <a:r>
                  <a:rPr lang="zh-CN" altLang="en-US">
                    <a:noFill/>
                  </a:rPr>
                  <a:t> </a:t>
                </a:r>
              </a:p>
            </p:txBody>
          </p:sp>
        </mc:Fallback>
      </mc:AlternateContent>
      <p:sp>
        <p:nvSpPr>
          <p:cNvPr id="4" name="矩形 3"/>
          <p:cNvSpPr/>
          <p:nvPr/>
        </p:nvSpPr>
        <p:spPr>
          <a:xfrm>
            <a:off x="1189700" y="3938161"/>
            <a:ext cx="2031325" cy="369332"/>
          </a:xfrm>
          <a:prstGeom prst="rect">
            <a:avLst/>
          </a:prstGeom>
        </p:spPr>
        <p:txBody>
          <a:bodyPr wrap="none">
            <a:spAutoFit/>
          </a:bodyPr>
          <a:lstStyle/>
          <a:p>
            <a:r>
              <a:rPr lang="zh-CN" altLang="zh-CN" dirty="0"/>
              <a:t>动态窗口</a:t>
            </a:r>
            <a:r>
              <a:rPr lang="zh-CN" altLang="zh-CN" dirty="0" smtClean="0"/>
              <a:t>约束</a:t>
            </a:r>
            <a:r>
              <a:rPr lang="zh-CN" altLang="en-US" dirty="0" smtClean="0"/>
              <a:t>方程</a:t>
            </a:r>
            <a:endParaRPr lang="zh-CN" altLang="en-US" dirty="0"/>
          </a:p>
        </p:txBody>
      </p:sp>
      <p:sp>
        <p:nvSpPr>
          <p:cNvPr id="5" name="圆角矩形 4"/>
          <p:cNvSpPr/>
          <p:nvPr/>
        </p:nvSpPr>
        <p:spPr>
          <a:xfrm>
            <a:off x="774560" y="3938161"/>
            <a:ext cx="7253824" cy="100985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sp>
        <p:nvSpPr>
          <p:cNvPr id="3" name="矩形 2"/>
          <p:cNvSpPr/>
          <p:nvPr/>
        </p:nvSpPr>
        <p:spPr>
          <a:xfrm>
            <a:off x="683568" y="930344"/>
            <a:ext cx="7704856" cy="584775"/>
          </a:xfrm>
          <a:prstGeom prst="rect">
            <a:avLst/>
          </a:prstGeom>
        </p:spPr>
        <p:txBody>
          <a:bodyPr wrap="square">
            <a:spAutoFit/>
          </a:bodyPr>
          <a:lstStyle/>
          <a:p>
            <a:r>
              <a:rPr lang="zh-CN" altLang="en-US" sz="1600" dirty="0"/>
              <a:t>已知：目标路径（一组途径点）、可对局部邻近区域进行距离扫描、动态</a:t>
            </a:r>
            <a:r>
              <a:rPr lang="zh-CN" altLang="en-US" sz="1600" dirty="0" smtClean="0"/>
              <a:t>约束；</a:t>
            </a:r>
            <a:endParaRPr lang="en-US" altLang="zh-CN" sz="1600" dirty="0" smtClean="0"/>
          </a:p>
          <a:p>
            <a:r>
              <a:rPr lang="zh-CN" altLang="en-US" sz="1600" dirty="0"/>
              <a:t>控制</a:t>
            </a:r>
            <a:r>
              <a:rPr lang="zh-CN" altLang="en-US" sz="1600" dirty="0" smtClean="0"/>
              <a:t>：机器人无</a:t>
            </a:r>
            <a:r>
              <a:rPr lang="zh-CN" altLang="en-US" sz="1600" dirty="0"/>
              <a:t>碰撞、安全、快速向目标</a:t>
            </a:r>
            <a:r>
              <a:rPr lang="zh-CN" altLang="en-US" sz="1600" dirty="0" smtClean="0"/>
              <a:t>移动。</a:t>
            </a:r>
            <a:endParaRPr lang="zh-CN" altLang="en-US" sz="1600" dirty="0"/>
          </a:p>
        </p:txBody>
      </p:sp>
      <p:pic>
        <p:nvPicPr>
          <p:cNvPr id="5" name="图片 4"/>
          <p:cNvPicPr>
            <a:picLocks noChangeAspect="1"/>
          </p:cNvPicPr>
          <p:nvPr/>
        </p:nvPicPr>
        <p:blipFill>
          <a:blip r:embed="rId4"/>
          <a:stretch>
            <a:fillRect/>
          </a:stretch>
        </p:blipFill>
        <p:spPr>
          <a:xfrm>
            <a:off x="815845" y="1573826"/>
            <a:ext cx="2866382" cy="2406447"/>
          </a:xfrm>
          <a:prstGeom prst="rect">
            <a:avLst/>
          </a:prstGeom>
        </p:spPr>
      </p:pic>
      <p:pic>
        <p:nvPicPr>
          <p:cNvPr id="6" name="图片 5"/>
          <p:cNvPicPr>
            <a:picLocks noChangeAspect="1"/>
          </p:cNvPicPr>
          <p:nvPr/>
        </p:nvPicPr>
        <p:blipFill>
          <a:blip r:embed="rId5"/>
          <a:stretch>
            <a:fillRect/>
          </a:stretch>
        </p:blipFill>
        <p:spPr>
          <a:xfrm>
            <a:off x="4172006" y="1562884"/>
            <a:ext cx="4504450" cy="2404041"/>
          </a:xfrm>
          <a:prstGeom prst="rect">
            <a:avLst/>
          </a:prstGeom>
        </p:spPr>
      </p:pic>
      <p:sp>
        <p:nvSpPr>
          <p:cNvPr id="7" name="右箭头 6"/>
          <p:cNvSpPr/>
          <p:nvPr/>
        </p:nvSpPr>
        <p:spPr>
          <a:xfrm>
            <a:off x="3832335" y="3003798"/>
            <a:ext cx="307617" cy="2697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580112" y="3866158"/>
            <a:ext cx="2474524" cy="369332"/>
          </a:xfrm>
          <a:prstGeom prst="rect">
            <a:avLst/>
          </a:prstGeom>
        </p:spPr>
        <p:txBody>
          <a:bodyPr wrap="none">
            <a:spAutoFit/>
          </a:bodyPr>
          <a:lstStyle/>
          <a:p>
            <a:r>
              <a:rPr lang="zh-CN" altLang="en-US" dirty="0"/>
              <a:t>2D velocity search space</a:t>
            </a:r>
          </a:p>
        </p:txBody>
      </p:sp>
      <p:sp>
        <p:nvSpPr>
          <p:cNvPr id="9" name="矩形 8"/>
          <p:cNvSpPr/>
          <p:nvPr/>
        </p:nvSpPr>
        <p:spPr>
          <a:xfrm>
            <a:off x="805973" y="4267280"/>
            <a:ext cx="4764267" cy="738664"/>
          </a:xfrm>
          <a:prstGeom prst="rect">
            <a:avLst/>
          </a:prstGeom>
        </p:spPr>
        <p:txBody>
          <a:bodyPr wrap="square">
            <a:spAutoFit/>
          </a:bodyPr>
          <a:lstStyle/>
          <a:p>
            <a:r>
              <a:rPr lang="zh-CN" altLang="en-US" sz="1400" dirty="0" smtClean="0">
                <a:solidFill>
                  <a:srgbClr val="002060"/>
                </a:solidFill>
              </a:rPr>
              <a:t>Vs：机器人</a:t>
            </a:r>
            <a:r>
              <a:rPr lang="zh-CN" altLang="en-US" sz="1400" dirty="0">
                <a:solidFill>
                  <a:srgbClr val="002060"/>
                </a:solidFill>
              </a:rPr>
              <a:t>的所有可能</a:t>
            </a:r>
            <a:r>
              <a:rPr lang="zh-CN" altLang="en-US" sz="1400" dirty="0" smtClean="0">
                <a:solidFill>
                  <a:srgbClr val="002060"/>
                </a:solidFill>
              </a:rPr>
              <a:t>速度</a:t>
            </a:r>
            <a:endParaRPr lang="zh-CN" altLang="en-US" sz="1400" dirty="0">
              <a:solidFill>
                <a:srgbClr val="002060"/>
              </a:solidFill>
            </a:endParaRPr>
          </a:p>
          <a:p>
            <a:r>
              <a:rPr lang="zh-CN" altLang="en-US" sz="1400" dirty="0" smtClean="0">
                <a:solidFill>
                  <a:srgbClr val="002060"/>
                </a:solidFill>
              </a:rPr>
              <a:t>Va：无</a:t>
            </a:r>
            <a:r>
              <a:rPr lang="zh-CN" altLang="en-US" sz="1400" dirty="0">
                <a:solidFill>
                  <a:srgbClr val="002060"/>
                </a:solidFill>
              </a:rPr>
              <a:t>障碍</a:t>
            </a:r>
            <a:r>
              <a:rPr lang="zh-CN" altLang="en-US" sz="1400" dirty="0" smtClean="0">
                <a:solidFill>
                  <a:srgbClr val="002060"/>
                </a:solidFill>
              </a:rPr>
              <a:t>区速度</a:t>
            </a:r>
            <a:endParaRPr lang="zh-CN" altLang="en-US" sz="1400" dirty="0">
              <a:solidFill>
                <a:srgbClr val="002060"/>
              </a:solidFill>
            </a:endParaRPr>
          </a:p>
          <a:p>
            <a:r>
              <a:rPr lang="zh-CN" altLang="en-US" sz="1400" dirty="0" smtClean="0">
                <a:solidFill>
                  <a:srgbClr val="002060"/>
                </a:solidFill>
              </a:rPr>
              <a:t>Vd：给定</a:t>
            </a:r>
            <a:r>
              <a:rPr lang="zh-CN" altLang="en-US" sz="1400" dirty="0">
                <a:solidFill>
                  <a:srgbClr val="002060"/>
                </a:solidFill>
              </a:rPr>
              <a:t>加速度约束条件下一个时间范围内可达到的速度</a:t>
            </a:r>
          </a:p>
        </p:txBody>
      </p:sp>
      <mc:AlternateContent xmlns:mc="http://schemas.openxmlformats.org/markup-compatibility/2006" xmlns:a14="http://schemas.microsoft.com/office/drawing/2010/main">
        <mc:Choice Requires="a14">
          <p:sp>
            <p:nvSpPr>
              <p:cNvPr id="15" name="矩形 14"/>
              <p:cNvSpPr/>
              <p:nvPr/>
            </p:nvSpPr>
            <p:spPr>
              <a:xfrm>
                <a:off x="5762918" y="4498687"/>
                <a:ext cx="22917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0000"/>
                          </a:solidFill>
                          <a:latin typeface="Cambria Math" panose="02040503050406030204" pitchFamily="18" charset="0"/>
                        </a:rPr>
                        <m:t>𝑆𝑝𝑎𝑐𝑒</m:t>
                      </m:r>
                      <m:r>
                        <a:rPr lang="zh-CN" altLang="en-US" i="0">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𝑉</m:t>
                          </m:r>
                        </m:e>
                        <m:sub>
                          <m:r>
                            <a:rPr lang="zh-CN" altLang="en-US" i="1">
                              <a:solidFill>
                                <a:srgbClr val="FF0000"/>
                              </a:solidFill>
                              <a:latin typeface="Cambria Math" panose="02040503050406030204" pitchFamily="18" charset="0"/>
                            </a:rPr>
                            <m:t>𝑠</m:t>
                          </m:r>
                        </m:sub>
                      </m:sSub>
                      <m:r>
                        <a:rPr lang="zh-CN" altLang="en-US" i="0">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𝑉</m:t>
                          </m:r>
                        </m:e>
                        <m:sub>
                          <m:r>
                            <a:rPr lang="zh-CN" altLang="en-US" i="1">
                              <a:solidFill>
                                <a:srgbClr val="FF0000"/>
                              </a:solidFill>
                              <a:latin typeface="Cambria Math" panose="02040503050406030204" pitchFamily="18" charset="0"/>
                            </a:rPr>
                            <m:t>𝑎</m:t>
                          </m:r>
                        </m:sub>
                      </m:sSub>
                      <m:r>
                        <a:rPr lang="zh-CN" altLang="en-US" i="0">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𝑉</m:t>
                          </m:r>
                        </m:e>
                        <m:sub>
                          <m:r>
                            <a:rPr lang="zh-CN" altLang="en-US" i="1">
                              <a:solidFill>
                                <a:srgbClr val="FF0000"/>
                              </a:solidFill>
                              <a:latin typeface="Cambria Math" panose="02040503050406030204" pitchFamily="18" charset="0"/>
                            </a:rPr>
                            <m:t>𝑑</m:t>
                          </m:r>
                        </m:sub>
                      </m:sSub>
                    </m:oMath>
                  </m:oMathPara>
                </a14:m>
                <a:endParaRPr lang="zh-CN" altLang="en-US" dirty="0">
                  <a:solidFill>
                    <a:srgbClr val="FF0000"/>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5762918" y="4498687"/>
                <a:ext cx="2291718" cy="369332"/>
              </a:xfrm>
              <a:prstGeom prst="rect">
                <a:avLst/>
              </a:prstGeom>
              <a:blipFill rotWithShape="1">
                <a:blip r:embed="rId6"/>
                <a:stretch>
                  <a:fillRect l="-13" t="-94" r="-153" b="30"/>
                </a:stretch>
              </a:blipFill>
            </p:spPr>
            <p:txBody>
              <a:bodyPr/>
              <a:lstStyle/>
              <a:p>
                <a:r>
                  <a:rPr lang="zh-CN" altLang="en-US">
                    <a:noFill/>
                  </a:rPr>
                  <a:t> </a:t>
                </a:r>
              </a:p>
            </p:txBody>
          </p:sp>
        </mc:Fallback>
      </mc:AlternateContent>
      <p:sp>
        <p:nvSpPr>
          <p:cNvPr id="16" name="圆角矩形 15"/>
          <p:cNvSpPr/>
          <p:nvPr/>
        </p:nvSpPr>
        <p:spPr>
          <a:xfrm>
            <a:off x="5762918" y="4498687"/>
            <a:ext cx="2291718" cy="50725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183868" y="476864"/>
            <a:ext cx="1686680" cy="338554"/>
          </a:xfrm>
          <a:prstGeom prst="rect">
            <a:avLst/>
          </a:prstGeom>
        </p:spPr>
        <p:txBody>
          <a:bodyPr wrap="none">
            <a:spAutoFit/>
          </a:bodyPr>
          <a:lstStyle/>
          <a:p>
            <a:r>
              <a:rPr lang="zh-CN" altLang="en-US" sz="1600" b="1" dirty="0">
                <a:solidFill>
                  <a:srgbClr val="FF0000"/>
                </a:solidFill>
              </a:rPr>
              <a:t>如何</a:t>
            </a:r>
            <a:r>
              <a:rPr lang="zh-CN" altLang="en-US" sz="1600" b="1" dirty="0" smtClean="0">
                <a:solidFill>
                  <a:srgbClr val="FF0000"/>
                </a:solidFill>
              </a:rPr>
              <a:t>选择</a:t>
            </a:r>
            <a:r>
              <a:rPr lang="en-US" altLang="zh-CN" sz="1600" b="1" dirty="0" smtClean="0">
                <a:solidFill>
                  <a:srgbClr val="FF0000"/>
                </a:solidFill>
              </a:rPr>
              <a:t>(v</a:t>
            </a:r>
            <a:r>
              <a:rPr lang="zh-CN" altLang="en-US" sz="1600" b="1" dirty="0">
                <a:solidFill>
                  <a:srgbClr val="FF0000"/>
                </a:solidFill>
              </a:rPr>
              <a:t>，</a:t>
            </a:r>
            <a:r>
              <a:rPr lang="en-US" altLang="zh-CN" sz="1600" b="1" dirty="0" smtClean="0">
                <a:solidFill>
                  <a:srgbClr val="FF0000"/>
                </a:solidFill>
              </a:rPr>
              <a:t>ω)?</a:t>
            </a:r>
            <a:endParaRPr lang="en-US" altLang="zh-CN" sz="16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sp>
        <p:nvSpPr>
          <p:cNvPr id="17" name="矩形 16"/>
          <p:cNvSpPr/>
          <p:nvPr/>
        </p:nvSpPr>
        <p:spPr>
          <a:xfrm>
            <a:off x="6183868" y="476864"/>
            <a:ext cx="1686680" cy="338554"/>
          </a:xfrm>
          <a:prstGeom prst="rect">
            <a:avLst/>
          </a:prstGeom>
        </p:spPr>
        <p:txBody>
          <a:bodyPr wrap="none">
            <a:spAutoFit/>
          </a:bodyPr>
          <a:lstStyle/>
          <a:p>
            <a:r>
              <a:rPr lang="zh-CN" altLang="en-US" sz="1600" b="1" dirty="0">
                <a:solidFill>
                  <a:srgbClr val="FF0000"/>
                </a:solidFill>
              </a:rPr>
              <a:t>如何</a:t>
            </a:r>
            <a:r>
              <a:rPr lang="zh-CN" altLang="en-US" sz="1600" b="1" dirty="0" smtClean="0">
                <a:solidFill>
                  <a:srgbClr val="FF0000"/>
                </a:solidFill>
              </a:rPr>
              <a:t>选择</a:t>
            </a:r>
            <a:r>
              <a:rPr lang="en-US" altLang="zh-CN" sz="1600" b="1" dirty="0" smtClean="0">
                <a:solidFill>
                  <a:srgbClr val="FF0000"/>
                </a:solidFill>
              </a:rPr>
              <a:t>(v</a:t>
            </a:r>
            <a:r>
              <a:rPr lang="zh-CN" altLang="en-US" sz="1600" b="1" dirty="0">
                <a:solidFill>
                  <a:srgbClr val="FF0000"/>
                </a:solidFill>
              </a:rPr>
              <a:t>，</a:t>
            </a:r>
            <a:r>
              <a:rPr lang="en-US" altLang="zh-CN" sz="1600" b="1" dirty="0" smtClean="0">
                <a:solidFill>
                  <a:srgbClr val="FF0000"/>
                </a:solidFill>
              </a:rPr>
              <a:t>ω)?</a:t>
            </a:r>
            <a:endParaRPr lang="en-US" altLang="zh-CN" sz="1600" b="1" dirty="0">
              <a:solidFill>
                <a:srgbClr val="FF0000"/>
              </a:solidFill>
            </a:endParaRPr>
          </a:p>
        </p:txBody>
      </p:sp>
      <p:grpSp>
        <p:nvGrpSpPr>
          <p:cNvPr id="22" name="组合 21"/>
          <p:cNvGrpSpPr/>
          <p:nvPr/>
        </p:nvGrpSpPr>
        <p:grpSpPr>
          <a:xfrm>
            <a:off x="790517" y="3367976"/>
            <a:ext cx="7724347" cy="1607453"/>
            <a:chOff x="2149607" y="2188433"/>
            <a:chExt cx="5720941" cy="1607453"/>
          </a:xfrm>
        </p:grpSpPr>
        <p:sp>
          <p:nvSpPr>
            <p:cNvPr id="13" name="矩形 12"/>
            <p:cNvSpPr/>
            <p:nvPr/>
          </p:nvSpPr>
          <p:spPr>
            <a:xfrm>
              <a:off x="2149607" y="2188433"/>
              <a:ext cx="2031325" cy="369332"/>
            </a:xfrm>
            <a:prstGeom prst="rect">
              <a:avLst/>
            </a:prstGeom>
          </p:spPr>
          <p:txBody>
            <a:bodyPr wrap="none">
              <a:spAutoFit/>
            </a:bodyPr>
            <a:lstStyle/>
            <a:p>
              <a:r>
                <a:rPr lang="zh-CN" altLang="en-US" dirty="0">
                  <a:solidFill>
                    <a:srgbClr val="002060"/>
                  </a:solidFill>
                </a:rPr>
                <a:t>启发式导航</a:t>
              </a:r>
              <a:r>
                <a:rPr lang="zh-CN" altLang="en-US" dirty="0" smtClean="0">
                  <a:solidFill>
                    <a:srgbClr val="002060"/>
                  </a:solidFill>
                </a:rPr>
                <a:t>函数：</a:t>
              </a:r>
              <a:endParaRPr lang="zh-CN" altLang="en-US" dirty="0">
                <a:solidFill>
                  <a:srgbClr val="002060"/>
                </a:solidFill>
              </a:endParaRPr>
            </a:p>
          </p:txBody>
        </p:sp>
        <mc:AlternateContent xmlns:mc="http://schemas.openxmlformats.org/markup-compatibility/2006" xmlns:a14="http://schemas.microsoft.com/office/drawing/2010/main">
          <mc:Choice Requires="a14">
            <p:sp>
              <p:nvSpPr>
                <p:cNvPr id="14" name="矩形 13"/>
                <p:cNvSpPr/>
                <p:nvPr/>
              </p:nvSpPr>
              <p:spPr>
                <a:xfrm>
                  <a:off x="2285682" y="2755925"/>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2285682" y="2755925"/>
                  <a:ext cx="4370748" cy="369332"/>
                </a:xfrm>
                <a:prstGeom prst="rect">
                  <a:avLst/>
                </a:prstGeom>
                <a:blipFill rotWithShape="1">
                  <a:blip r:embed="rId4"/>
                </a:blipFill>
              </p:spPr>
              <p:txBody>
                <a:bodyPr/>
                <a:lstStyle/>
                <a:p>
                  <a:r>
                    <a:rPr lang="zh-CN" altLang="en-US">
                      <a:noFill/>
                    </a:rPr>
                    <a:t> </a:t>
                  </a:r>
                </a:p>
              </p:txBody>
            </p:sp>
          </mc:Fallback>
        </mc:AlternateContent>
        <p:sp>
          <p:nvSpPr>
            <p:cNvPr id="19" name="圆角矩形标注 18"/>
            <p:cNvSpPr/>
            <p:nvPr/>
          </p:nvSpPr>
          <p:spPr>
            <a:xfrm>
              <a:off x="2302160" y="3333823"/>
              <a:ext cx="914400" cy="462063"/>
            </a:xfrm>
            <a:prstGeom prst="wedgeRoundRectCallout">
              <a:avLst>
                <a:gd name="adj1" fmla="val 76389"/>
                <a:gd name="adj2" fmla="val -103337"/>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rgbClr val="002060"/>
                  </a:solidFill>
                </a:rPr>
                <a:t>最大速度</a:t>
              </a:r>
              <a:endParaRPr lang="zh-CN" altLang="en-US" sz="1200" dirty="0">
                <a:solidFill>
                  <a:srgbClr val="002060"/>
                </a:solidFill>
              </a:endParaRPr>
            </a:p>
          </p:txBody>
        </p:sp>
        <p:sp>
          <p:nvSpPr>
            <p:cNvPr id="28" name="圆角矩形标注 27"/>
            <p:cNvSpPr/>
            <p:nvPr/>
          </p:nvSpPr>
          <p:spPr>
            <a:xfrm>
              <a:off x="3570126" y="3320254"/>
              <a:ext cx="1439867" cy="462063"/>
            </a:xfrm>
            <a:prstGeom prst="wedgeRoundRectCallout">
              <a:avLst>
                <a:gd name="adj1" fmla="val 1417"/>
                <a:gd name="adj2" fmla="val -108834"/>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rgbClr val="002060"/>
                  </a:solidFill>
                </a:rPr>
                <a:t>Rewards </a:t>
              </a:r>
              <a:r>
                <a:rPr lang="en-US" altLang="zh-CN" sz="1200" dirty="0">
                  <a:solidFill>
                    <a:srgbClr val="002060"/>
                  </a:solidFill>
                </a:rPr>
                <a:t>alignment to NF1/A* gradient</a:t>
              </a:r>
              <a:endParaRPr lang="zh-CN" altLang="en-US" sz="1200" dirty="0">
                <a:solidFill>
                  <a:srgbClr val="002060"/>
                </a:solidFill>
              </a:endParaRPr>
            </a:p>
          </p:txBody>
        </p:sp>
        <p:sp>
          <p:nvSpPr>
            <p:cNvPr id="20" name="圆角矩形标注 19"/>
            <p:cNvSpPr/>
            <p:nvPr/>
          </p:nvSpPr>
          <p:spPr>
            <a:xfrm>
              <a:off x="5550672" y="3228559"/>
              <a:ext cx="1728192" cy="526613"/>
            </a:xfrm>
            <a:prstGeom prst="wedgeRoundRectCallout">
              <a:avLst>
                <a:gd name="adj1" fmla="val -64925"/>
                <a:gd name="adj2" fmla="val -91845"/>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002060"/>
                  </a:solidFill>
                </a:rPr>
                <a:t>Rewards large advances on NF1/A* path</a:t>
              </a:r>
              <a:endParaRPr lang="zh-CN" altLang="en-US" sz="1200">
                <a:solidFill>
                  <a:srgbClr val="002060"/>
                </a:solidFill>
              </a:endParaRPr>
            </a:p>
          </p:txBody>
        </p:sp>
        <p:sp>
          <p:nvSpPr>
            <p:cNvPr id="21" name="圆角矩形标注 20"/>
            <p:cNvSpPr/>
            <p:nvPr/>
          </p:nvSpPr>
          <p:spPr>
            <a:xfrm>
              <a:off x="6290776" y="2204650"/>
              <a:ext cx="1579772" cy="439108"/>
            </a:xfrm>
            <a:prstGeom prst="wedgeRoundRectCallout">
              <a:avLst>
                <a:gd name="adj1" fmla="val -50578"/>
                <a:gd name="adj2" fmla="val 108776"/>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002060"/>
                  </a:solidFill>
                </a:rPr>
                <a:t>Comes in when goal region reached</a:t>
              </a:r>
              <a:endParaRPr lang="zh-CN" altLang="en-US" sz="1200">
                <a:solidFill>
                  <a:srgbClr val="002060"/>
                </a:solidFill>
              </a:endParaRPr>
            </a:p>
          </p:txBody>
        </p:sp>
      </p:grpSp>
      <p:grpSp>
        <p:nvGrpSpPr>
          <p:cNvPr id="18" name="组合 17"/>
          <p:cNvGrpSpPr/>
          <p:nvPr/>
        </p:nvGrpSpPr>
        <p:grpSpPr>
          <a:xfrm>
            <a:off x="-236220" y="219075"/>
            <a:ext cx="5153660" cy="598805"/>
            <a:chOff x="-372" y="345"/>
            <a:chExt cx="8116" cy="943"/>
          </a:xfrm>
        </p:grpSpPr>
        <p:sp>
          <p:nvSpPr>
            <p:cNvPr id="29" name="矩形 2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0" name="文本框 29"/>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1" name="椭圆 3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 name="矩形 2"/>
              <p:cNvSpPr/>
              <p:nvPr/>
            </p:nvSpPr>
            <p:spPr>
              <a:xfrm>
                <a:off x="1199808" y="1682085"/>
                <a:ext cx="698477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𝐺</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r>
                        <a:rPr lang="zh-CN" altLang="en-US" i="1">
                          <a:latin typeface="Cambria Math" panose="02040503050406030204" pitchFamily="18" charset="0"/>
                        </a:rPr>
                        <m:t>𝜎</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h𝑒𝑎𝑑𝑖𝑛𝑔</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𝑑𝑖𝑠𝑡</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𝑣𝑒𝑙</m:t>
                      </m:r>
                      <m:d>
                        <m:dPr>
                          <m:ctrlPr>
                            <a:rPr lang="zh-CN" altLang="en-US" i="1">
                              <a:latin typeface="Cambria Math" panose="02040503050406030204" pitchFamily="18" charset="0"/>
                            </a:rPr>
                          </m:ctrlPr>
                        </m:dPr>
                        <m:e>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𝜔</m:t>
                          </m:r>
                        </m:e>
                      </m:d>
                      <m:r>
                        <a:rPr lang="zh-CN" altLang="en-US" i="0">
                          <a:latin typeface="Cambria Math" panose="02040503050406030204" pitchFamily="18" charset="0"/>
                        </a:rPr>
                        <m:t>）</m:t>
                      </m:r>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199808" y="1682085"/>
                <a:ext cx="6984776" cy="369332"/>
              </a:xfrm>
              <a:prstGeom prst="rect">
                <a:avLst/>
              </a:prstGeom>
              <a:blipFill rotWithShape="1">
                <a:blip r:embed="rId5"/>
                <a:stretch>
                  <a:fillRect l="-4" t="-164" r="1" b="99"/>
                </a:stretch>
              </a:blipFill>
            </p:spPr>
            <p:txBody>
              <a:bodyPr/>
              <a:lstStyle/>
              <a:p>
                <a:r>
                  <a:rPr lang="zh-CN" altLang="en-US">
                    <a:noFill/>
                  </a:rPr>
                  <a:t> </a:t>
                </a:r>
              </a:p>
            </p:txBody>
          </p:sp>
        </mc:Fallback>
      </mc:AlternateContent>
      <p:sp>
        <p:nvSpPr>
          <p:cNvPr id="4" name="圆角矩形 3"/>
          <p:cNvSpPr/>
          <p:nvPr/>
        </p:nvSpPr>
        <p:spPr>
          <a:xfrm>
            <a:off x="1331640" y="1435098"/>
            <a:ext cx="6538908" cy="85306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533188" y="987574"/>
            <a:ext cx="2031325" cy="369332"/>
          </a:xfrm>
          <a:prstGeom prst="rect">
            <a:avLst/>
          </a:prstGeom>
        </p:spPr>
        <p:txBody>
          <a:bodyPr wrap="none">
            <a:spAutoFit/>
          </a:bodyPr>
          <a:lstStyle/>
          <a:p>
            <a:r>
              <a:rPr lang="zh-CN" altLang="zh-CN" dirty="0"/>
              <a:t>轨迹评价目标函数</a:t>
            </a:r>
            <a:endParaRPr lang="zh-CN" altLang="en-US" dirty="0"/>
          </a:p>
        </p:txBody>
      </p:sp>
      <p:sp>
        <p:nvSpPr>
          <p:cNvPr id="32" name="矩形 31"/>
          <p:cNvSpPr/>
          <p:nvPr/>
        </p:nvSpPr>
        <p:spPr>
          <a:xfrm>
            <a:off x="611560" y="2371434"/>
            <a:ext cx="8280920" cy="923330"/>
          </a:xfrm>
          <a:prstGeom prst="rect">
            <a:avLst/>
          </a:prstGeom>
        </p:spPr>
        <p:txBody>
          <a:bodyPr wrap="square">
            <a:spAutoFit/>
          </a:bodyPr>
          <a:lstStyle/>
          <a:p>
            <a:r>
              <a:rPr lang="zh-CN" altLang="en-US" dirty="0"/>
              <a:t>如果应用到全局规划和局部规划结合</a:t>
            </a:r>
            <a:r>
              <a:rPr lang="zh-CN" altLang="en-US" dirty="0" smtClean="0"/>
              <a:t>：</a:t>
            </a:r>
            <a:endParaRPr lang="en-US" altLang="zh-CN" dirty="0" smtClean="0"/>
          </a:p>
          <a:p>
            <a:r>
              <a:rPr lang="zh-CN" altLang="en-US" dirty="0" smtClean="0"/>
              <a:t>假设</a:t>
            </a:r>
            <a:r>
              <a:rPr lang="zh-CN" altLang="en-US" dirty="0"/>
              <a:t>已经从第一层的导航</a:t>
            </a:r>
            <a:r>
              <a:rPr lang="zh-CN" altLang="en-US" dirty="0" smtClean="0"/>
              <a:t>函数</a:t>
            </a:r>
            <a:r>
              <a:rPr lang="en-US" altLang="zh-CN" dirty="0" smtClean="0"/>
              <a:t>(NF1)</a:t>
            </a:r>
            <a:r>
              <a:rPr lang="zh-CN" altLang="en-US" dirty="0" smtClean="0"/>
              <a:t>算法</a:t>
            </a:r>
            <a:r>
              <a:rPr lang="zh-CN" altLang="en-US" dirty="0"/>
              <a:t>中预先计算了目标距离，对(v，ω)-space进行约束：</a:t>
            </a:r>
          </a:p>
        </p:txBody>
      </p:sp>
      <p:sp>
        <p:nvSpPr>
          <p:cNvPr id="6" name="圆角矩形 5"/>
          <p:cNvSpPr/>
          <p:nvPr/>
        </p:nvSpPr>
        <p:spPr>
          <a:xfrm>
            <a:off x="395536" y="2371434"/>
            <a:ext cx="8568952" cy="26485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3" name="图片 2"/>
          <p:cNvPicPr>
            <a:picLocks noChangeAspect="1"/>
          </p:cNvPicPr>
          <p:nvPr/>
        </p:nvPicPr>
        <p:blipFill>
          <a:blip r:embed="rId4"/>
          <a:stretch>
            <a:fillRect/>
          </a:stretch>
        </p:blipFill>
        <p:spPr>
          <a:xfrm>
            <a:off x="1146895" y="1275606"/>
            <a:ext cx="6778201" cy="3150400"/>
          </a:xfrm>
          <a:prstGeom prst="rect">
            <a:avLst/>
          </a:prstGeom>
        </p:spPr>
      </p:pic>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5"/>
                <a:stretch>
                  <a:fillRect l="-11" t="-50" r="12" b="157"/>
                </a:stretch>
              </a:blipFill>
            </p:spPr>
            <p:txBody>
              <a:bodyPr/>
              <a:lstStyle/>
              <a:p>
                <a:r>
                  <a:rPr lang="zh-CN" altLang="en-US">
                    <a:noFill/>
                  </a:rPr>
                  <a:t> </a:t>
                </a:r>
              </a:p>
            </p:txBody>
          </p:sp>
        </mc:Fallback>
      </mc:AlternateContent>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3" name="图片 2"/>
          <p:cNvPicPr>
            <a:picLocks noChangeAspect="1"/>
          </p:cNvPicPr>
          <p:nvPr/>
        </p:nvPicPr>
        <p:blipFill>
          <a:blip r:embed="rId4"/>
          <a:stretch>
            <a:fillRect/>
          </a:stretch>
        </p:blipFill>
        <p:spPr>
          <a:xfrm>
            <a:off x="1146895" y="1275606"/>
            <a:ext cx="6778201" cy="3150400"/>
          </a:xfrm>
          <a:prstGeom prst="rect">
            <a:avLst/>
          </a:prstGeom>
        </p:spPr>
      </p:pic>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5"/>
                <a:stretch>
                  <a:fillRect l="-11" t="-50" r="12" b="157"/>
                </a:stretch>
              </a:blipFill>
            </p:spPr>
            <p:txBody>
              <a:bodyPr/>
              <a:lstStyle/>
              <a:p>
                <a:r>
                  <a:rPr lang="zh-CN" altLang="en-US">
                    <a:noFill/>
                  </a:rPr>
                  <a:t> </a:t>
                </a:r>
              </a:p>
            </p:txBody>
          </p:sp>
        </mc:Fallback>
      </mc:AlternateContent>
      <p:sp>
        <p:nvSpPr>
          <p:cNvPr id="5" name="圆角矩形标注 4"/>
          <p:cNvSpPr/>
          <p:nvPr/>
        </p:nvSpPr>
        <p:spPr>
          <a:xfrm>
            <a:off x="6372200" y="987574"/>
            <a:ext cx="1008112" cy="432048"/>
          </a:xfrm>
          <a:prstGeom prst="wedgeRoundRectCallout">
            <a:avLst>
              <a:gd name="adj1" fmla="val -115317"/>
              <a:gd name="adj2" fmla="val 118350"/>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rgbClr val="FF0000"/>
                </a:solidFill>
              </a:rPr>
              <a:t>机器人速度</a:t>
            </a:r>
            <a:endParaRPr lang="zh-CN" altLang="en-US" sz="1200" dirty="0">
              <a:solidFill>
                <a:srgbClr val="FF0000"/>
              </a:solidFill>
            </a:endParaRPr>
          </a:p>
        </p:txBody>
      </p:sp>
      <p:cxnSp>
        <p:nvCxnSpPr>
          <p:cNvPr id="12" name="直接连接符 11"/>
          <p:cNvCxnSpPr/>
          <p:nvPr/>
        </p:nvCxnSpPr>
        <p:spPr>
          <a:xfrm flipH="1">
            <a:off x="5508104" y="1779662"/>
            <a:ext cx="360040" cy="0"/>
          </a:xfrm>
          <a:prstGeom prst="line">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5436096" y="1923678"/>
            <a:ext cx="504056" cy="8384"/>
          </a:xfrm>
          <a:prstGeom prst="line">
            <a:avLst/>
          </a:prstGeom>
          <a:ln w="381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圆角矩形标注 13"/>
          <p:cNvSpPr/>
          <p:nvPr/>
        </p:nvSpPr>
        <p:spPr>
          <a:xfrm>
            <a:off x="6084168" y="2715766"/>
            <a:ext cx="1296144" cy="576064"/>
          </a:xfrm>
          <a:prstGeom prst="wedgeRoundRectCallout">
            <a:avLst>
              <a:gd name="adj1" fmla="val -82111"/>
              <a:gd name="adj2" fmla="val -180008"/>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a:solidFill>
                  <a:schemeClr val="tx2"/>
                </a:solidFill>
              </a:rPr>
              <a:t>Preferred</a:t>
            </a:r>
          </a:p>
          <a:p>
            <a:r>
              <a:rPr lang="en-US" altLang="zh-CN" sz="1200">
                <a:solidFill>
                  <a:schemeClr val="tx2"/>
                </a:solidFill>
              </a:rPr>
              <a:t>direction of </a:t>
            </a:r>
            <a:r>
              <a:rPr lang="en-US" altLang="zh-CN" sz="1200" i="1">
                <a:solidFill>
                  <a:schemeClr val="tx2"/>
                </a:solidFill>
              </a:rPr>
              <a:t>NF</a:t>
            </a:r>
            <a:r>
              <a:rPr lang="en-US" altLang="zh-CN" sz="1200">
                <a:solidFill>
                  <a:schemeClr val="tx2"/>
                </a:solidFill>
              </a:rPr>
              <a:t>.</a:t>
            </a:r>
            <a:endParaRPr lang="zh-CN" altLang="en-US" sz="1200">
              <a:solidFill>
                <a:schemeClr val="tx2"/>
              </a:solidFill>
            </a:endParaRPr>
          </a:p>
        </p:txBody>
      </p:sp>
      <p:grpSp>
        <p:nvGrpSpPr>
          <p:cNvPr id="15" name="组合 14"/>
          <p:cNvGrpSpPr/>
          <p:nvPr/>
        </p:nvGrpSpPr>
        <p:grpSpPr>
          <a:xfrm>
            <a:off x="-236220" y="219075"/>
            <a:ext cx="5153660" cy="598805"/>
            <a:chOff x="-372" y="345"/>
            <a:chExt cx="8116" cy="943"/>
          </a:xfrm>
        </p:grpSpPr>
        <p:sp>
          <p:nvSpPr>
            <p:cNvPr id="16" name="矩形 15"/>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7" name="文本框 16"/>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9" name="椭圆 1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4"/>
                <a:stretch>
                  <a:fillRect l="-11" t="-50" r="12" b="157"/>
                </a:stretch>
              </a:blipFill>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1182899" y="996550"/>
            <a:ext cx="6778201" cy="3150400"/>
          </a:xfrm>
          <a:prstGeom prst="rect">
            <a:avLst/>
          </a:prstGeom>
        </p:spPr>
      </p:pic>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4"/>
                <a:stretch>
                  <a:fillRect l="-11" t="-50" r="12" b="157"/>
                </a:stretch>
              </a:blipFill>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1182899" y="996550"/>
            <a:ext cx="6778201" cy="3150400"/>
          </a:xfrm>
          <a:prstGeom prst="rect">
            <a:avLst/>
          </a:prstGeom>
        </p:spPr>
      </p:pic>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4"/>
                <a:stretch>
                  <a:fillRect l="-11" t="-50" r="12" b="157"/>
                </a:stretch>
              </a:blipFill>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1182899" y="996550"/>
            <a:ext cx="6778201" cy="3150400"/>
          </a:xfrm>
          <a:prstGeom prst="rect">
            <a:avLst/>
          </a:prstGeom>
        </p:spPr>
      </p:pic>
      <p:sp>
        <p:nvSpPr>
          <p:cNvPr id="6" name="矩形 5"/>
          <p:cNvSpPr/>
          <p:nvPr/>
        </p:nvSpPr>
        <p:spPr>
          <a:xfrm>
            <a:off x="4716016" y="2594869"/>
            <a:ext cx="3312368" cy="276999"/>
          </a:xfrm>
          <a:prstGeom prst="rect">
            <a:avLst/>
          </a:prstGeom>
        </p:spPr>
        <p:txBody>
          <a:bodyPr wrap="square">
            <a:spAutoFit/>
          </a:bodyPr>
          <a:lstStyle/>
          <a:p>
            <a:r>
              <a:rPr lang="zh-CN" altLang="en-US" sz="1200" dirty="0">
                <a:solidFill>
                  <a:srgbClr val="FF0000"/>
                </a:solidFill>
              </a:rPr>
              <a:t>机器人在c0处开得太快，无法进入朝南的走廊</a:t>
            </a:r>
          </a:p>
        </p:txBody>
      </p:sp>
      <p:sp>
        <p:nvSpPr>
          <p:cNvPr id="7" name="矩形 6"/>
          <p:cNvSpPr/>
          <p:nvPr/>
        </p:nvSpPr>
        <p:spPr>
          <a:xfrm>
            <a:off x="3532128" y="4146950"/>
            <a:ext cx="1338828" cy="369332"/>
          </a:xfrm>
          <a:prstGeom prst="rect">
            <a:avLst/>
          </a:prstGeom>
        </p:spPr>
        <p:txBody>
          <a:bodyPr wrap="none">
            <a:spAutoFit/>
          </a:bodyPr>
          <a:lstStyle/>
          <a:p>
            <a:r>
              <a:rPr lang="zh-CN" altLang="en-US" b="1" dirty="0">
                <a:solidFill>
                  <a:srgbClr val="FF0000"/>
                </a:solidFill>
              </a:rPr>
              <a:t>问题出现！</a:t>
            </a:r>
          </a:p>
        </p:txBody>
      </p:sp>
      <p:grpSp>
        <p:nvGrpSpPr>
          <p:cNvPr id="13" name="组合 12"/>
          <p:cNvGrpSpPr/>
          <p:nvPr/>
        </p:nvGrpSpPr>
        <p:grpSpPr>
          <a:xfrm>
            <a:off x="-236220" y="219075"/>
            <a:ext cx="5153660" cy="598805"/>
            <a:chOff x="-372" y="345"/>
            <a:chExt cx="8116" cy="943"/>
          </a:xfrm>
        </p:grpSpPr>
        <p:sp>
          <p:nvSpPr>
            <p:cNvPr id="14" name="矩形 1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5" name="文本框 14"/>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6" name="椭圆 1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4"/>
                <a:stretch>
                  <a:fillRect l="-11" t="-50" r="12" b="157"/>
                </a:stretch>
              </a:blipFill>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1182899" y="996550"/>
            <a:ext cx="6778201" cy="3150400"/>
          </a:xfrm>
          <a:prstGeom prst="rect">
            <a:avLst/>
          </a:prstGeom>
        </p:spPr>
      </p:pic>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4"/>
                <a:stretch>
                  <a:fillRect l="-11" t="-50" r="12" b="157"/>
                </a:stretch>
              </a:blipFill>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1182899" y="996550"/>
            <a:ext cx="6778201" cy="3150400"/>
          </a:xfrm>
          <a:prstGeom prst="rect">
            <a:avLst/>
          </a:prstGeom>
        </p:spPr>
      </p:pic>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350621" y="4485824"/>
                <a:ext cx="43707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𝑁𝐹</m:t>
                      </m:r>
                      <m:r>
                        <a:rPr lang="zh-CN" altLang="en-US" i="0">
                          <a:latin typeface="Cambria Math" panose="02040503050406030204" pitchFamily="18" charset="0"/>
                        </a:rPr>
                        <m:t>=</m:t>
                      </m:r>
                      <m:r>
                        <a:rPr lang="zh-CN" altLang="en-US" i="1">
                          <a:latin typeface="Cambria Math" panose="02040503050406030204" pitchFamily="18" charset="0"/>
                        </a:rPr>
                        <m:t>𝛼</m:t>
                      </m:r>
                      <m:r>
                        <a:rPr lang="zh-CN" altLang="en-US" i="0">
                          <a:latin typeface="Cambria Math" panose="02040503050406030204" pitchFamily="18" charset="0"/>
                        </a:rPr>
                        <m:t>∙</m:t>
                      </m:r>
                      <m:r>
                        <a:rPr lang="zh-CN" altLang="en-US" i="1">
                          <a:latin typeface="Cambria Math" panose="02040503050406030204" pitchFamily="18" charset="0"/>
                        </a:rPr>
                        <m:t>𝑣𝑒𝑙</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𝛾</m:t>
                      </m:r>
                      <m:r>
                        <a:rPr lang="zh-CN" altLang="en-US" i="0">
                          <a:latin typeface="Cambria Math" panose="02040503050406030204" pitchFamily="18" charset="0"/>
                        </a:rPr>
                        <m:t>∙∆</m:t>
                      </m:r>
                      <m:r>
                        <a:rPr lang="zh-CN" altLang="en-US" i="1">
                          <a:latin typeface="Cambria Math" panose="02040503050406030204" pitchFamily="18" charset="0"/>
                        </a:rPr>
                        <m:t>𝑛𝑓</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0">
                          <a:latin typeface="Cambria Math" panose="02040503050406030204" pitchFamily="18" charset="0"/>
                        </a:rPr>
                        <m:t>∙</m:t>
                      </m:r>
                      <m:r>
                        <a:rPr lang="zh-CN" altLang="en-US" i="1">
                          <a:latin typeface="Cambria Math" panose="02040503050406030204" pitchFamily="18" charset="0"/>
                        </a:rPr>
                        <m:t>𝑔𝑜𝑎𝑙</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350621" y="4485824"/>
                <a:ext cx="4370748" cy="369332"/>
              </a:xfrm>
              <a:prstGeom prst="rect">
                <a:avLst/>
              </a:prstGeom>
              <a:blipFill rotWithShape="1">
                <a:blip r:embed="rId4"/>
                <a:stretch>
                  <a:fillRect l="-11" t="-50" r="12" b="157"/>
                </a:stretch>
              </a:blipFill>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1182899" y="996550"/>
            <a:ext cx="6778201" cy="3150400"/>
          </a:xfrm>
          <a:prstGeom prst="rect">
            <a:avLst/>
          </a:prstGeom>
        </p:spPr>
      </p:pic>
      <p:sp>
        <p:nvSpPr>
          <p:cNvPr id="6" name="矩形 5"/>
          <p:cNvSpPr/>
          <p:nvPr/>
        </p:nvSpPr>
        <p:spPr>
          <a:xfrm>
            <a:off x="1219542" y="2202418"/>
            <a:ext cx="2262158" cy="369332"/>
          </a:xfrm>
          <a:prstGeom prst="rect">
            <a:avLst/>
          </a:prstGeom>
        </p:spPr>
        <p:txBody>
          <a:bodyPr wrap="none">
            <a:spAutoFit/>
          </a:bodyPr>
          <a:lstStyle/>
          <a:p>
            <a:r>
              <a:rPr lang="zh-CN" altLang="en-US" dirty="0" smtClean="0"/>
              <a:t>回过头情况会一样！</a:t>
            </a:r>
            <a:endParaRPr lang="zh-CN" altLang="en-US" dirty="0"/>
          </a:p>
        </p:txBody>
      </p:sp>
      <p:grpSp>
        <p:nvGrpSpPr>
          <p:cNvPr id="12" name="组合 11"/>
          <p:cNvGrpSpPr/>
          <p:nvPr/>
        </p:nvGrpSpPr>
        <p:grpSpPr>
          <a:xfrm>
            <a:off x="-236220" y="219075"/>
            <a:ext cx="5153660" cy="598805"/>
            <a:chOff x="-372" y="345"/>
            <a:chExt cx="8116" cy="943"/>
          </a:xfrm>
        </p:grpSpPr>
        <p:sp>
          <p:nvSpPr>
            <p:cNvPr id="13" name="矩形 12"/>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4" name="文本框 1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5" name="椭圆 1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grpSp>
        <p:nvGrpSpPr>
          <p:cNvPr id="12" name="组合 11"/>
          <p:cNvGrpSpPr/>
          <p:nvPr/>
        </p:nvGrpSpPr>
        <p:grpSpPr>
          <a:xfrm>
            <a:off x="-236220" y="219075"/>
            <a:ext cx="5153660" cy="598805"/>
            <a:chOff x="-372" y="345"/>
            <a:chExt cx="8116" cy="943"/>
          </a:xfrm>
        </p:grpSpPr>
        <p:sp>
          <p:nvSpPr>
            <p:cNvPr id="13" name="矩形 12"/>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4" name="文本框 1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5" name="椭圆 1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p:nvPicPr>
        <p:blipFill>
          <a:blip r:embed="rId4"/>
          <a:stretch>
            <a:fillRect/>
          </a:stretch>
        </p:blipFill>
        <p:spPr>
          <a:xfrm>
            <a:off x="2411760" y="922020"/>
            <a:ext cx="4342501" cy="422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759360" y="429414"/>
            <a:ext cx="3531416" cy="369332"/>
          </a:xfrm>
          <a:prstGeom prst="rect">
            <a:avLst/>
          </a:prstGeom>
        </p:spPr>
        <p:txBody>
          <a:bodyPr wrap="none">
            <a:spAutoFit/>
          </a:bodyPr>
          <a:lstStyle/>
          <a:p>
            <a:r>
              <a:rPr lang="en-US" altLang="zh-CN" b="1" dirty="0"/>
              <a:t>DWA(Dynamic Window Approach) </a:t>
            </a:r>
            <a:endParaRPr lang="zh-CN" altLang="en-US" dirty="0"/>
          </a:p>
        </p:txBody>
      </p:sp>
      <p:pic>
        <p:nvPicPr>
          <p:cNvPr id="3" name="图片 2"/>
          <p:cNvPicPr>
            <a:picLocks noChangeAspect="1"/>
          </p:cNvPicPr>
          <p:nvPr/>
        </p:nvPicPr>
        <p:blipFill>
          <a:blip r:embed="rId4"/>
          <a:stretch>
            <a:fillRect/>
          </a:stretch>
        </p:blipFill>
        <p:spPr>
          <a:xfrm>
            <a:off x="2563120" y="1231221"/>
            <a:ext cx="3879016" cy="3237035"/>
          </a:xfrm>
          <a:prstGeom prst="rect">
            <a:avLst/>
          </a:prstGeom>
        </p:spPr>
      </p:pic>
      <p:sp>
        <p:nvSpPr>
          <p:cNvPr id="7" name="矩形 6"/>
          <p:cNvSpPr/>
          <p:nvPr/>
        </p:nvSpPr>
        <p:spPr>
          <a:xfrm>
            <a:off x="2563120" y="4683744"/>
            <a:ext cx="4572000" cy="338554"/>
          </a:xfrm>
          <a:prstGeom prst="rect">
            <a:avLst/>
          </a:prstGeom>
        </p:spPr>
        <p:txBody>
          <a:bodyPr>
            <a:spAutoFit/>
          </a:bodyPr>
          <a:lstStyle/>
          <a:p>
            <a:r>
              <a:rPr lang="zh-CN" altLang="en-US" sz="1600" dirty="0" smtClean="0">
                <a:solidFill>
                  <a:srgbClr val="FF0000"/>
                </a:solidFill>
              </a:rPr>
              <a:t>机器人</a:t>
            </a:r>
            <a:r>
              <a:rPr lang="zh-CN" altLang="en-US" sz="1600" dirty="0">
                <a:solidFill>
                  <a:srgbClr val="FF0000"/>
                </a:solidFill>
              </a:rPr>
              <a:t>减速不够早，导致无法进入门口。</a:t>
            </a:r>
          </a:p>
        </p:txBody>
      </p:sp>
      <p:sp>
        <p:nvSpPr>
          <p:cNvPr id="8" name="矩形 7"/>
          <p:cNvSpPr/>
          <p:nvPr/>
        </p:nvSpPr>
        <p:spPr>
          <a:xfrm>
            <a:off x="3289501" y="848702"/>
            <a:ext cx="2492990" cy="369332"/>
          </a:xfrm>
          <a:prstGeom prst="rect">
            <a:avLst/>
          </a:prstGeom>
        </p:spPr>
        <p:txBody>
          <a:bodyPr wrap="none">
            <a:spAutoFit/>
          </a:bodyPr>
          <a:lstStyle/>
          <a:p>
            <a:r>
              <a:rPr lang="zh-CN" altLang="en-US" dirty="0">
                <a:solidFill>
                  <a:srgbClr val="FF0000"/>
                </a:solidFill>
              </a:rPr>
              <a:t>现实世界中的典型</a:t>
            </a:r>
            <a:r>
              <a:rPr lang="zh-CN" altLang="en-US" dirty="0" smtClean="0">
                <a:solidFill>
                  <a:srgbClr val="FF0000"/>
                </a:solidFill>
              </a:rPr>
              <a:t>问题</a:t>
            </a:r>
            <a:endParaRPr lang="zh-CN" altLang="en-US" dirty="0">
              <a:solidFill>
                <a:srgbClr val="FF0000"/>
              </a:solidFill>
            </a:endParaRPr>
          </a:p>
        </p:txBody>
      </p:sp>
      <p:sp>
        <p:nvSpPr>
          <p:cNvPr id="9" name="椭圆 8"/>
          <p:cNvSpPr/>
          <p:nvPr/>
        </p:nvSpPr>
        <p:spPr>
          <a:xfrm>
            <a:off x="5292080" y="2561706"/>
            <a:ext cx="360040"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236220" y="219075"/>
            <a:ext cx="5153660" cy="598805"/>
            <a:chOff x="-372" y="345"/>
            <a:chExt cx="8116" cy="943"/>
          </a:xfrm>
        </p:grpSpPr>
        <p:sp>
          <p:nvSpPr>
            <p:cNvPr id="14" name="矩形 1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5" name="文本框 14"/>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6" name="椭圆 1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4" name="矩形 3"/>
          <p:cNvSpPr/>
          <p:nvPr/>
        </p:nvSpPr>
        <p:spPr>
          <a:xfrm>
            <a:off x="3400688" y="410282"/>
            <a:ext cx="3217547" cy="369332"/>
          </a:xfrm>
          <a:prstGeom prst="rect">
            <a:avLst/>
          </a:prstGeom>
        </p:spPr>
        <p:txBody>
          <a:bodyPr wrap="none">
            <a:spAutoFit/>
          </a:bodyPr>
          <a:lstStyle/>
          <a:p>
            <a:r>
              <a:rPr lang="en-US" altLang="zh-CN" b="1" dirty="0" smtClean="0">
                <a:solidFill>
                  <a:srgbClr val="33669A"/>
                </a:solidFill>
                <a:latin typeface="Verdana-Bold"/>
              </a:rPr>
              <a:t>DWA</a:t>
            </a:r>
            <a:r>
              <a:rPr lang="zh-CN" altLang="en-US" b="1" dirty="0" smtClean="0">
                <a:solidFill>
                  <a:srgbClr val="33669A"/>
                </a:solidFill>
                <a:latin typeface="Verdana-Bold"/>
              </a:rPr>
              <a:t>的替代算法：</a:t>
            </a:r>
            <a:r>
              <a:rPr lang="en-US" altLang="zh-CN" b="1" dirty="0" smtClean="0">
                <a:solidFill>
                  <a:srgbClr val="33669A"/>
                </a:solidFill>
                <a:latin typeface="Verdana-Bold"/>
              </a:rPr>
              <a:t>5D-Planning</a:t>
            </a:r>
            <a:endParaRPr lang="zh-CN" altLang="en-US" dirty="0"/>
          </a:p>
        </p:txBody>
      </p:sp>
      <p:sp>
        <p:nvSpPr>
          <p:cNvPr id="5" name="矩形 4"/>
          <p:cNvSpPr/>
          <p:nvPr/>
        </p:nvSpPr>
        <p:spPr>
          <a:xfrm>
            <a:off x="1967023" y="938237"/>
            <a:ext cx="5137945" cy="338554"/>
          </a:xfrm>
          <a:prstGeom prst="rect">
            <a:avLst/>
          </a:prstGeom>
        </p:spPr>
        <p:txBody>
          <a:bodyPr wrap="none">
            <a:spAutoFit/>
          </a:bodyPr>
          <a:lstStyle/>
          <a:p>
            <a:r>
              <a:rPr lang="zh-CN" altLang="en-US" sz="1600" dirty="0" smtClean="0">
                <a:solidFill>
                  <a:srgbClr val="002060"/>
                </a:solidFill>
                <a:latin typeface="TimesNewRomanPS-ItalicMT"/>
              </a:rPr>
              <a:t>在完整的</a:t>
            </a:r>
            <a:r>
              <a:rPr lang="en-US" altLang="zh-CN" sz="1600" i="1" dirty="0" smtClean="0">
                <a:solidFill>
                  <a:srgbClr val="002060"/>
                </a:solidFill>
                <a:latin typeface="TimesNewRomanPS-ItalicMT"/>
              </a:rPr>
              <a:t>&lt;</a:t>
            </a:r>
            <a:r>
              <a:rPr lang="en-US" altLang="zh-CN" sz="1600" i="1" dirty="0" err="1" smtClean="0">
                <a:solidFill>
                  <a:srgbClr val="002060"/>
                </a:solidFill>
                <a:latin typeface="TimesNewRomanPS-ItalicMT"/>
              </a:rPr>
              <a:t>x,y</a:t>
            </a:r>
            <a:r>
              <a:rPr lang="en-US" altLang="zh-CN" sz="1600" i="1" dirty="0" smtClean="0">
                <a:solidFill>
                  <a:srgbClr val="002060"/>
                </a:solidFill>
                <a:latin typeface="TimesNewRomanPS-ItalicMT"/>
              </a:rPr>
              <a:t>,</a:t>
            </a:r>
            <a:r>
              <a:rPr lang="el-GR" altLang="zh-CN" sz="1600" i="1" dirty="0">
                <a:solidFill>
                  <a:srgbClr val="002060"/>
                </a:solidFill>
                <a:latin typeface="TimesNewRomanPS-ItalicMT"/>
              </a:rPr>
              <a:t>θ,</a:t>
            </a:r>
            <a:r>
              <a:rPr lang="en-US" altLang="zh-CN" sz="1600" i="1" dirty="0">
                <a:solidFill>
                  <a:srgbClr val="002060"/>
                </a:solidFill>
                <a:latin typeface="TimesNewRomanPS-ItalicMT"/>
              </a:rPr>
              <a:t>v,</a:t>
            </a:r>
            <a:r>
              <a:rPr lang="el-GR" altLang="zh-CN" sz="1600" i="1" dirty="0">
                <a:solidFill>
                  <a:srgbClr val="002060"/>
                </a:solidFill>
                <a:latin typeface="TimesNewRomanPS-ItalicMT"/>
              </a:rPr>
              <a:t>ω&gt;</a:t>
            </a:r>
            <a:r>
              <a:rPr lang="el-GR" altLang="zh-CN" sz="1600" dirty="0">
                <a:solidFill>
                  <a:srgbClr val="002060"/>
                </a:solidFill>
                <a:latin typeface="Verdana" panose="020B0604030504040204" pitchFamily="34" charset="0"/>
              </a:rPr>
              <a:t>-</a:t>
            </a:r>
            <a:r>
              <a:rPr lang="en-US" altLang="zh-CN" sz="1600" dirty="0" smtClean="0">
                <a:solidFill>
                  <a:srgbClr val="002060"/>
                </a:solidFill>
                <a:latin typeface="Verdana" panose="020B0604030504040204" pitchFamily="34" charset="0"/>
              </a:rPr>
              <a:t>space</a:t>
            </a:r>
            <a:r>
              <a:rPr lang="zh-CN" altLang="en-US" sz="1600" dirty="0" smtClean="0">
                <a:solidFill>
                  <a:srgbClr val="002060"/>
                </a:solidFill>
                <a:latin typeface="Verdana" panose="020B0604030504040204" pitchFamily="34" charset="0"/>
              </a:rPr>
              <a:t>位形空间中采用</a:t>
            </a:r>
            <a:r>
              <a:rPr lang="en-US" altLang="zh-CN" sz="1600" dirty="0" smtClean="0">
                <a:solidFill>
                  <a:srgbClr val="002060"/>
                </a:solidFill>
                <a:latin typeface="Verdana" panose="020B0604030504040204" pitchFamily="34" charset="0"/>
              </a:rPr>
              <a:t>A*</a:t>
            </a:r>
            <a:r>
              <a:rPr lang="zh-CN" altLang="en-US" sz="1600" dirty="0" smtClean="0">
                <a:solidFill>
                  <a:srgbClr val="002060"/>
                </a:solidFill>
                <a:latin typeface="Verdana" panose="020B0604030504040204" pitchFamily="34" charset="0"/>
              </a:rPr>
              <a:t>算法</a:t>
            </a:r>
            <a:endParaRPr lang="zh-CN" altLang="en-US" sz="1600" dirty="0">
              <a:solidFill>
                <a:srgbClr val="002060"/>
              </a:solidFill>
            </a:endParaRPr>
          </a:p>
        </p:txBody>
      </p:sp>
      <p:sp>
        <p:nvSpPr>
          <p:cNvPr id="6" name="矩形 5"/>
          <p:cNvSpPr/>
          <p:nvPr/>
        </p:nvSpPr>
        <p:spPr>
          <a:xfrm>
            <a:off x="1505050" y="1210650"/>
            <a:ext cx="7008821" cy="954107"/>
          </a:xfrm>
          <a:prstGeom prst="rect">
            <a:avLst/>
          </a:prstGeom>
        </p:spPr>
        <p:txBody>
          <a:bodyPr wrap="square">
            <a:spAutoFit/>
          </a:bodyPr>
          <a:lstStyle/>
          <a:p>
            <a:pPr marL="285750" indent="-285750">
              <a:buFont typeface="Wingdings" panose="05000000000000000000" pitchFamily="2" charset="2"/>
              <a:buChar char="Ø"/>
            </a:pPr>
            <a:r>
              <a:rPr lang="zh-CN" altLang="en-US" sz="1400" dirty="0">
                <a:solidFill>
                  <a:srgbClr val="002060"/>
                </a:solidFill>
              </a:rPr>
              <a:t>问题：搜索空间太大，无法实时搜索</a:t>
            </a:r>
          </a:p>
          <a:p>
            <a:pPr marL="285750" indent="-285750">
              <a:buFont typeface="Wingdings" panose="05000000000000000000" pitchFamily="2" charset="2"/>
              <a:buChar char="Ø"/>
            </a:pPr>
            <a:r>
              <a:rPr lang="zh-CN" altLang="en-US" sz="1400" dirty="0">
                <a:solidFill>
                  <a:srgbClr val="002060"/>
                </a:solidFill>
              </a:rPr>
              <a:t>解决方案：将整个搜索空间限制为</a:t>
            </a:r>
            <a:r>
              <a:rPr lang="zh-CN" altLang="en-US" sz="1400" dirty="0" smtClean="0">
                <a:solidFill>
                  <a:srgbClr val="002060"/>
                </a:solidFill>
              </a:rPr>
              <a:t>“channels”</a:t>
            </a:r>
            <a:endParaRPr lang="en-US" altLang="zh-CN" sz="1400" dirty="0" smtClean="0">
              <a:solidFill>
                <a:srgbClr val="002060"/>
              </a:solidFill>
            </a:endParaRPr>
          </a:p>
          <a:p>
            <a:pPr marL="285750" indent="-285750">
              <a:buFont typeface="Wingdings" panose="05000000000000000000" pitchFamily="2" charset="2"/>
              <a:buChar char="Ø"/>
            </a:pPr>
            <a:r>
              <a:rPr lang="zh-CN" altLang="en-US" sz="1400" dirty="0">
                <a:solidFill>
                  <a:srgbClr val="002060"/>
                </a:solidFill>
              </a:rPr>
              <a:t>在通道内的路径上选择一个</a:t>
            </a:r>
            <a:r>
              <a:rPr lang="en-US" altLang="zh-CN" sz="1400" dirty="0" err="1" smtClean="0">
                <a:solidFill>
                  <a:srgbClr val="002060"/>
                </a:solidFill>
              </a:rPr>
              <a:t>subgoal</a:t>
            </a:r>
            <a:endParaRPr lang="en-US" altLang="zh-CN" sz="1400" dirty="0" smtClean="0">
              <a:solidFill>
                <a:srgbClr val="002060"/>
              </a:solidFill>
            </a:endParaRPr>
          </a:p>
          <a:p>
            <a:pPr marL="285750" indent="-285750">
              <a:buFont typeface="Wingdings" panose="05000000000000000000" pitchFamily="2" charset="2"/>
              <a:buChar char="Ø"/>
            </a:pPr>
            <a:r>
              <a:rPr lang="zh-CN" altLang="en-US" sz="1400" dirty="0">
                <a:solidFill>
                  <a:srgbClr val="002060"/>
                </a:solidFill>
              </a:rPr>
              <a:t>在“</a:t>
            </a:r>
            <a:r>
              <a:rPr lang="en-US" altLang="zh-CN" sz="1400" dirty="0">
                <a:solidFill>
                  <a:srgbClr val="002060"/>
                </a:solidFill>
              </a:rPr>
              <a:t>channel”5D</a:t>
            </a:r>
            <a:r>
              <a:rPr lang="zh-CN" altLang="en-US" sz="1400" dirty="0">
                <a:solidFill>
                  <a:srgbClr val="002060"/>
                </a:solidFill>
              </a:rPr>
              <a:t>空间中使用</a:t>
            </a:r>
            <a:r>
              <a:rPr lang="en-US" altLang="zh-CN" sz="1400" dirty="0">
                <a:solidFill>
                  <a:srgbClr val="002060"/>
                </a:solidFill>
              </a:rPr>
              <a:t>A*</a:t>
            </a:r>
            <a:r>
              <a:rPr lang="zh-CN" altLang="en-US" sz="1400" dirty="0">
                <a:solidFill>
                  <a:srgbClr val="002060"/>
                </a:solidFill>
              </a:rPr>
              <a:t>来查找一系列转向命令，以达到子目标</a:t>
            </a:r>
          </a:p>
        </p:txBody>
      </p:sp>
      <p:pic>
        <p:nvPicPr>
          <p:cNvPr id="11" name="图片 10"/>
          <p:cNvPicPr>
            <a:picLocks noChangeAspect="1"/>
          </p:cNvPicPr>
          <p:nvPr/>
        </p:nvPicPr>
        <p:blipFill>
          <a:blip r:embed="rId4"/>
          <a:stretch>
            <a:fillRect/>
          </a:stretch>
        </p:blipFill>
        <p:spPr>
          <a:xfrm>
            <a:off x="899592" y="2114855"/>
            <a:ext cx="3888432" cy="1511138"/>
          </a:xfrm>
          <a:prstGeom prst="rect">
            <a:avLst/>
          </a:prstGeom>
        </p:spPr>
      </p:pic>
      <p:pic>
        <p:nvPicPr>
          <p:cNvPr id="12" name="图片 11"/>
          <p:cNvPicPr>
            <a:picLocks noChangeAspect="1"/>
          </p:cNvPicPr>
          <p:nvPr/>
        </p:nvPicPr>
        <p:blipFill>
          <a:blip r:embed="rId5"/>
          <a:stretch>
            <a:fillRect/>
          </a:stretch>
        </p:blipFill>
        <p:spPr>
          <a:xfrm>
            <a:off x="899592" y="3625993"/>
            <a:ext cx="3893845" cy="1513242"/>
          </a:xfrm>
          <a:prstGeom prst="rect">
            <a:avLst/>
          </a:prstGeom>
        </p:spPr>
      </p:pic>
      <p:pic>
        <p:nvPicPr>
          <p:cNvPr id="13" name="图片 12"/>
          <p:cNvPicPr>
            <a:picLocks noChangeAspect="1"/>
          </p:cNvPicPr>
          <p:nvPr/>
        </p:nvPicPr>
        <p:blipFill>
          <a:blip r:embed="rId6"/>
          <a:stretch>
            <a:fillRect/>
          </a:stretch>
        </p:blipFill>
        <p:spPr>
          <a:xfrm>
            <a:off x="5032031" y="2171850"/>
            <a:ext cx="3481839" cy="2905591"/>
          </a:xfrm>
          <a:prstGeom prst="rect">
            <a:avLst/>
          </a:prstGeom>
        </p:spPr>
      </p:pic>
      <p:sp>
        <p:nvSpPr>
          <p:cNvPr id="14" name="椭圆 13"/>
          <p:cNvSpPr/>
          <p:nvPr/>
        </p:nvSpPr>
        <p:spPr>
          <a:xfrm>
            <a:off x="7452320" y="3363838"/>
            <a:ext cx="360040" cy="262155"/>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236220" y="219075"/>
            <a:ext cx="5153660" cy="598805"/>
            <a:chOff x="-372" y="345"/>
            <a:chExt cx="8116" cy="943"/>
          </a:xfrm>
        </p:grpSpPr>
        <p:sp>
          <p:nvSpPr>
            <p:cNvPr id="16" name="矩形 15"/>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Dynamic Window Approach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7" name="文本框 16"/>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动态窗口法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8" name="椭圆 1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200329"/>
          </a:xfrm>
          <a:prstGeom prst="rect">
            <a:avLst/>
          </a:prstGeom>
        </p:spPr>
        <p:txBody>
          <a:bodyPr wrap="square">
            <a:spAutoFit/>
          </a:bodyPr>
          <a:lstStyle/>
          <a:p>
            <a:pPr>
              <a:lnSpc>
                <a:spcPct val="150000"/>
              </a:lnSpc>
            </a:pPr>
            <a:r>
              <a:rPr lang="en-US" altLang="zh-CN" sz="1200" dirty="0" smtClean="0">
                <a:latin typeface="Arial" panose="020B0604020202020204" pitchFamily="34" charset="0"/>
                <a:ea typeface="微软雅黑" panose="020B0503020204020204" charset="-122"/>
                <a:sym typeface="+mn-ea"/>
              </a:rPr>
              <a:t>C-Space</a:t>
            </a:r>
            <a:r>
              <a:rPr lang="zh-CN" altLang="en-US" sz="1200" dirty="0" smtClean="0">
                <a:latin typeface="Arial" panose="020B0604020202020204" pitchFamily="34" charset="0"/>
                <a:ea typeface="微软雅黑" panose="020B0503020204020204" charset="-122"/>
                <a:sym typeface="+mn-ea"/>
              </a:rPr>
              <a:t>的离散化地图下进行组合规划方法以及基于采样的规划方法，可能导致机器人的运动变得急起急停，有时候必须对生成的运动轨迹进行处理以使其更平滑。</a:t>
            </a:r>
            <a:endParaRPr lang="en-US" altLang="zh-CN" sz="1200" dirty="0" smtClean="0">
              <a:latin typeface="Arial" panose="020B0604020202020204" pitchFamily="34" charset="0"/>
              <a:ea typeface="微软雅黑" panose="020B0503020204020204" charset="-122"/>
              <a:sym typeface="+mn-ea"/>
            </a:endParaRPr>
          </a:p>
          <a:p>
            <a:pPr>
              <a:lnSpc>
                <a:spcPct val="150000"/>
              </a:lnSpc>
            </a:pP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709114"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运动轨迹平滑</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07</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Nonlinear </a:t>
              </a:r>
              <a:r>
                <a:rPr lang="en-US" altLang="zh-CN" sz="1000" dirty="0" err="1">
                  <a:latin typeface="Arial" panose="020B0604020202020204" pitchFamily="34" charset="0"/>
                  <a:ea typeface="微软雅黑" panose="020B0503020204020204" charset="-122"/>
                  <a:sym typeface="+mn-ea"/>
                </a:rPr>
                <a:t>Optimization&amp;Smoothing</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运动轨迹平滑</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4" name="矩形 3"/>
          <p:cNvSpPr/>
          <p:nvPr/>
        </p:nvSpPr>
        <p:spPr>
          <a:xfrm>
            <a:off x="899592" y="906001"/>
            <a:ext cx="7776864" cy="923330"/>
          </a:xfrm>
          <a:prstGeom prst="rect">
            <a:avLst/>
          </a:prstGeom>
        </p:spPr>
        <p:txBody>
          <a:bodyPr wrap="square">
            <a:spAutoFit/>
          </a:bodyPr>
          <a:lstStyle/>
          <a:p>
            <a:r>
              <a:rPr lang="zh-CN" altLang="en-US" dirty="0"/>
              <a:t>例如，在栅格图中，采用卷积地图，让障碍物周围区域碰撞的概率大于零，类似于障碍物看起来比实际更</a:t>
            </a:r>
            <a:r>
              <a:rPr lang="zh-CN" altLang="en-US" dirty="0" smtClean="0"/>
              <a:t>大，那么</a:t>
            </a:r>
            <a:r>
              <a:rPr lang="zh-CN" altLang="en-US" dirty="0"/>
              <a:t>在卷积地图中执行A*搜索算法的代价函数为：</a:t>
            </a:r>
          </a:p>
        </p:txBody>
      </p:sp>
      <mc:AlternateContent xmlns:mc="http://schemas.openxmlformats.org/markup-compatibility/2006" xmlns:a14="http://schemas.microsoft.com/office/drawing/2010/main">
        <mc:Choice Requires="a14">
          <p:sp>
            <p:nvSpPr>
              <p:cNvPr id="5" name="矩形 4"/>
              <p:cNvSpPr/>
              <p:nvPr/>
            </p:nvSpPr>
            <p:spPr>
              <a:xfrm>
                <a:off x="2280870" y="1689837"/>
                <a:ext cx="262937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𝑛</m:t>
                              </m:r>
                            </m:e>
                          </m:d>
                          <m:r>
                            <a:rPr lang="zh-CN" altLang="en-US" sz="1600" i="0">
                              <a:latin typeface="Cambria Math" panose="02040503050406030204" pitchFamily="18" charset="0"/>
                            </a:rPr>
                            <m:t>=</m:t>
                          </m:r>
                          <m:r>
                            <a:rPr lang="zh-CN" altLang="en-US" sz="1600" i="1">
                              <a:latin typeface="Cambria Math" panose="02040503050406030204" pitchFamily="18" charset="0"/>
                            </a:rPr>
                            <m:t>𝑔</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𝑛</m:t>
                              </m:r>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𝑜𝑐𝑐</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𝑛</m:t>
                              </m:r>
                            </m:e>
                          </m:d>
                          <m:r>
                            <a:rPr lang="zh-CN" altLang="en-US" sz="1600" i="0">
                              <a:latin typeface="Cambria Math" panose="02040503050406030204" pitchFamily="18" charset="0"/>
                            </a:rPr>
                            <m:t>+</m:t>
                          </m:r>
                          <m:r>
                            <a:rPr lang="zh-CN" altLang="en-US" sz="1600" i="1">
                              <a:latin typeface="Cambria Math" panose="02040503050406030204" pitchFamily="18" charset="0"/>
                            </a:rPr>
                            <m:t>h</m:t>
                          </m:r>
                          <m:r>
                            <a:rPr lang="zh-CN" altLang="en-US" sz="1600" i="0">
                              <a:latin typeface="Cambria Math" panose="02040503050406030204" pitchFamily="18" charset="0"/>
                            </a:rPr>
                            <m:t>(</m:t>
                          </m:r>
                          <m:r>
                            <a:rPr lang="zh-CN" altLang="en-US" sz="1600" i="1">
                              <a:latin typeface="Cambria Math" panose="02040503050406030204" pitchFamily="18" charset="0"/>
                            </a:rPr>
                            <m:t>𝑛</m:t>
                          </m:r>
                        </m:e>
                      </m:d>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2280870" y="1689837"/>
                <a:ext cx="2629374" cy="338554"/>
              </a:xfrm>
              <a:prstGeom prst="rect">
                <a:avLst/>
              </a:prstGeom>
              <a:blipFill rotWithShape="1">
                <a:blip r:embed="rId4"/>
                <a:stretch>
                  <a:fillRect l="-22" t="-30" r="16" b="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5094768" y="1684195"/>
                <a:ext cx="2171941" cy="338554"/>
              </a:xfrm>
              <a:prstGeom prst="rect">
                <a:avLst/>
              </a:prstGeom>
            </p:spPr>
            <p:txBody>
              <a:bodyPr wrap="none">
                <a:spAutoFit/>
              </a:bodyPr>
              <a:lstStyle/>
              <a:p>
                <a14:m>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𝑜𝑐𝑐</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𝑛</m:t>
                        </m:r>
                      </m:e>
                    </m:d>
                  </m:oMath>
                </a14:m>
                <a:r>
                  <a:rPr lang="zh-CN" altLang="en-US" sz="1600" dirty="0" smtClean="0"/>
                  <a:t>为节点</a:t>
                </a:r>
                <a:r>
                  <a:rPr lang="en-US" altLang="zh-CN" sz="1600" dirty="0" smtClean="0"/>
                  <a:t>n</a:t>
                </a:r>
                <a:r>
                  <a:rPr lang="zh-CN" altLang="en-US" sz="1600" dirty="0" smtClean="0"/>
                  <a:t>的概率</a:t>
                </a:r>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5094768" y="1684195"/>
                <a:ext cx="2171941" cy="338554"/>
              </a:xfrm>
              <a:prstGeom prst="rect">
                <a:avLst/>
              </a:prstGeom>
              <a:blipFill rotWithShape="1">
                <a:blip r:embed="rId5"/>
                <a:stretch>
                  <a:fillRect l="-8" t="-52" r="19" b="81"/>
                </a:stretch>
              </a:blipFill>
            </p:spPr>
            <p:txBody>
              <a:bodyPr/>
              <a:lstStyle/>
              <a:p>
                <a:r>
                  <a:rPr lang="zh-CN" altLang="en-US">
                    <a:noFill/>
                  </a:rPr>
                  <a:t> </a:t>
                </a:r>
              </a:p>
            </p:txBody>
          </p:sp>
        </mc:Fallback>
      </mc:AlternateContent>
      <p:pic>
        <p:nvPicPr>
          <p:cNvPr id="9" name="图片 8"/>
          <p:cNvPicPr>
            <a:picLocks noChangeAspect="1"/>
          </p:cNvPicPr>
          <p:nvPr/>
        </p:nvPicPr>
        <p:blipFill>
          <a:blip r:embed="rId6"/>
          <a:stretch>
            <a:fillRect/>
          </a:stretch>
        </p:blipFill>
        <p:spPr>
          <a:xfrm>
            <a:off x="432048" y="2554722"/>
            <a:ext cx="4139952" cy="1423694"/>
          </a:xfrm>
          <a:prstGeom prst="rect">
            <a:avLst/>
          </a:prstGeom>
        </p:spPr>
      </p:pic>
      <p:sp>
        <p:nvSpPr>
          <p:cNvPr id="11" name="矩形 10"/>
          <p:cNvSpPr/>
          <p:nvPr/>
        </p:nvSpPr>
        <p:spPr>
          <a:xfrm>
            <a:off x="360040" y="3978416"/>
            <a:ext cx="4572000" cy="276999"/>
          </a:xfrm>
          <a:prstGeom prst="rect">
            <a:avLst/>
          </a:prstGeom>
        </p:spPr>
        <p:txBody>
          <a:bodyPr>
            <a:spAutoFit/>
          </a:bodyPr>
          <a:lstStyle/>
          <a:p>
            <a:r>
              <a:rPr lang="en-US" altLang="zh-CN" sz="1200" dirty="0">
                <a:latin typeface="Verdana" panose="020B0604030504040204" pitchFamily="34" charset="0"/>
              </a:rPr>
              <a:t>1D example: cells before and after two convolution runs</a:t>
            </a:r>
            <a:endParaRPr lang="zh-CN" altLang="en-US" sz="1200" dirty="0"/>
          </a:p>
        </p:txBody>
      </p:sp>
      <p:pic>
        <p:nvPicPr>
          <p:cNvPr id="12" name="图片 11"/>
          <p:cNvPicPr>
            <a:picLocks noChangeAspect="1"/>
          </p:cNvPicPr>
          <p:nvPr/>
        </p:nvPicPr>
        <p:blipFill>
          <a:blip r:embed="rId7"/>
          <a:stretch>
            <a:fillRect/>
          </a:stretch>
        </p:blipFill>
        <p:spPr>
          <a:xfrm>
            <a:off x="2098743" y="4392832"/>
            <a:ext cx="2045101" cy="480646"/>
          </a:xfrm>
          <a:prstGeom prst="rect">
            <a:avLst/>
          </a:prstGeom>
        </p:spPr>
      </p:pic>
      <p:sp>
        <p:nvSpPr>
          <p:cNvPr id="13" name="文本框 12"/>
          <p:cNvSpPr txBox="1"/>
          <p:nvPr/>
        </p:nvSpPr>
        <p:spPr>
          <a:xfrm>
            <a:off x="372343" y="4182322"/>
            <a:ext cx="2520280" cy="584775"/>
          </a:xfrm>
          <a:prstGeom prst="rect">
            <a:avLst/>
          </a:prstGeom>
          <a:noFill/>
        </p:spPr>
        <p:txBody>
          <a:bodyPr wrap="square" rtlCol="0">
            <a:spAutoFit/>
          </a:bodyPr>
          <a:lstStyle/>
          <a:p>
            <a:r>
              <a:rPr lang="zh-CN" altLang="en-US" sz="1600" dirty="0" smtClean="0">
                <a:solidFill>
                  <a:srgbClr val="002060"/>
                </a:solidFill>
              </a:rPr>
              <a:t>使用卷积将地图</a:t>
            </a:r>
            <a:r>
              <a:rPr lang="en-US" altLang="zh-CN" sz="1600" dirty="0" smtClean="0">
                <a:solidFill>
                  <a:srgbClr val="002060"/>
                </a:solidFill>
              </a:rPr>
              <a:t>M</a:t>
            </a:r>
            <a:r>
              <a:rPr lang="zh-CN" altLang="en-US" sz="1600" dirty="0" smtClean="0">
                <a:solidFill>
                  <a:srgbClr val="002060"/>
                </a:solidFill>
              </a:rPr>
              <a:t>模糊化（例如</a:t>
            </a:r>
            <a:r>
              <a:rPr lang="zh-CN" altLang="en-US" sz="1600" dirty="0">
                <a:solidFill>
                  <a:srgbClr val="002060"/>
                </a:solidFill>
              </a:rPr>
              <a:t>用</a:t>
            </a:r>
            <a:r>
              <a:rPr lang="zh-CN" altLang="en-US" sz="1600" dirty="0" smtClean="0">
                <a:solidFill>
                  <a:srgbClr val="002060"/>
                </a:solidFill>
              </a:rPr>
              <a:t>高斯核</a:t>
            </a:r>
            <a:r>
              <a:rPr lang="en-US" altLang="zh-CN" sz="1600" dirty="0" smtClean="0">
                <a:solidFill>
                  <a:srgbClr val="002060"/>
                </a:solidFill>
              </a:rPr>
              <a:t>k)</a:t>
            </a:r>
            <a:endParaRPr lang="zh-CN" altLang="en-US" sz="1600" dirty="0">
              <a:solidFill>
                <a:srgbClr val="002060"/>
              </a:solidFill>
            </a:endParaRPr>
          </a:p>
        </p:txBody>
      </p:sp>
      <p:pic>
        <p:nvPicPr>
          <p:cNvPr id="14" name="图片 13"/>
          <p:cNvPicPr>
            <a:picLocks noChangeAspect="1"/>
          </p:cNvPicPr>
          <p:nvPr/>
        </p:nvPicPr>
        <p:blipFill>
          <a:blip r:embed="rId8"/>
          <a:stretch>
            <a:fillRect/>
          </a:stretch>
        </p:blipFill>
        <p:spPr>
          <a:xfrm>
            <a:off x="4888205" y="2084127"/>
            <a:ext cx="3713940" cy="27893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Nonlinear </a:t>
              </a:r>
              <a:r>
                <a:rPr lang="en-US" altLang="zh-CN" sz="1000" dirty="0" err="1">
                  <a:latin typeface="Arial" panose="020B0604020202020204" pitchFamily="34" charset="0"/>
                  <a:ea typeface="微软雅黑" panose="020B0503020204020204" charset="-122"/>
                  <a:sym typeface="+mn-ea"/>
                </a:rPr>
                <a:t>Optimization&amp;Smoothing</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运动轨迹平滑</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4"/>
          <a:stretch>
            <a:fillRect/>
          </a:stretch>
        </p:blipFill>
        <p:spPr>
          <a:xfrm>
            <a:off x="2267744" y="1035050"/>
            <a:ext cx="4566416" cy="1959772"/>
          </a:xfrm>
          <a:prstGeom prst="rect">
            <a:avLst/>
          </a:prstGeom>
        </p:spPr>
      </p:pic>
      <p:pic>
        <p:nvPicPr>
          <p:cNvPr id="3" name="图片 2"/>
          <p:cNvPicPr>
            <a:picLocks noChangeAspect="1"/>
          </p:cNvPicPr>
          <p:nvPr/>
        </p:nvPicPr>
        <p:blipFill>
          <a:blip r:embed="rId5"/>
          <a:stretch>
            <a:fillRect/>
          </a:stretch>
        </p:blipFill>
        <p:spPr>
          <a:xfrm>
            <a:off x="2259608" y="3060250"/>
            <a:ext cx="4566416" cy="1959772"/>
          </a:xfrm>
          <a:prstGeom prst="rect">
            <a:avLst/>
          </a:prstGeom>
        </p:spPr>
      </p:pic>
      <p:sp>
        <p:nvSpPr>
          <p:cNvPr id="4" name="矩形 3"/>
          <p:cNvSpPr/>
          <p:nvPr/>
        </p:nvSpPr>
        <p:spPr>
          <a:xfrm>
            <a:off x="2958208" y="429895"/>
            <a:ext cx="3185487" cy="369332"/>
          </a:xfrm>
          <a:prstGeom prst="rect">
            <a:avLst/>
          </a:prstGeom>
        </p:spPr>
        <p:txBody>
          <a:bodyPr wrap="none">
            <a:spAutoFit/>
          </a:bodyPr>
          <a:lstStyle/>
          <a:p>
            <a:r>
              <a:rPr lang="zh-CN" altLang="zh-CN" kern="100" dirty="0">
                <a:cs typeface="MV Boli" panose="02000500030200090000" pitchFamily="2" charset="0"/>
              </a:rPr>
              <a:t>采用卷积地图对路径进行平滑</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Nonlinear </a:t>
              </a:r>
              <a:r>
                <a:rPr lang="en-US" altLang="zh-CN" sz="1000" dirty="0" err="1">
                  <a:latin typeface="Arial" panose="020B0604020202020204" pitchFamily="34" charset="0"/>
                  <a:ea typeface="微软雅黑" panose="020B0503020204020204" charset="-122"/>
                  <a:sym typeface="+mn-ea"/>
                </a:rPr>
                <a:t>Optimization&amp;Smoothing</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运动轨迹</a:t>
              </a:r>
              <a:r>
                <a:rPr lang="zh-CN" altLang="en-US" sz="2000" b="1" dirty="0" smtClean="0">
                  <a:latin typeface="Arial" panose="020B0604020202020204" pitchFamily="34" charset="0"/>
                  <a:ea typeface="微软雅黑" panose="020B0503020204020204" charset="-122"/>
                  <a:sym typeface="+mn-ea"/>
                </a:rPr>
                <a:t>平滑</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5" name="图片 4"/>
          <p:cNvPicPr>
            <a:picLocks noChangeAspect="1"/>
          </p:cNvPicPr>
          <p:nvPr/>
        </p:nvPicPr>
        <p:blipFill>
          <a:blip r:embed="rId4"/>
          <a:stretch>
            <a:fillRect/>
          </a:stretch>
        </p:blipFill>
        <p:spPr>
          <a:xfrm>
            <a:off x="1685431" y="3003997"/>
            <a:ext cx="2366643" cy="1944017"/>
          </a:xfrm>
          <a:prstGeom prst="rect">
            <a:avLst/>
          </a:prstGeom>
        </p:spPr>
      </p:pic>
      <p:pic>
        <p:nvPicPr>
          <p:cNvPr id="6" name="图片 5"/>
          <p:cNvPicPr>
            <a:picLocks noChangeAspect="1"/>
          </p:cNvPicPr>
          <p:nvPr/>
        </p:nvPicPr>
        <p:blipFill rotWithShape="1">
          <a:blip r:embed="rId5"/>
          <a:srcRect l="10344" t="6194" r="1723" b="8730"/>
          <a:stretch>
            <a:fillRect/>
          </a:stretch>
        </p:blipFill>
        <p:spPr>
          <a:xfrm>
            <a:off x="1619672" y="869948"/>
            <a:ext cx="3297768" cy="2133850"/>
          </a:xfrm>
          <a:prstGeom prst="rect">
            <a:avLst/>
          </a:prstGeom>
        </p:spPr>
      </p:pic>
      <p:pic>
        <p:nvPicPr>
          <p:cNvPr id="7" name="图片 6"/>
          <p:cNvPicPr>
            <a:picLocks noChangeAspect="1"/>
          </p:cNvPicPr>
          <p:nvPr/>
        </p:nvPicPr>
        <p:blipFill rotWithShape="1">
          <a:blip r:embed="rId6"/>
          <a:srcRect l="8362" t="13453" b="8693"/>
          <a:stretch>
            <a:fillRect/>
          </a:stretch>
        </p:blipFill>
        <p:spPr>
          <a:xfrm>
            <a:off x="5148064" y="915567"/>
            <a:ext cx="3366801" cy="2061307"/>
          </a:xfrm>
          <a:prstGeom prst="rect">
            <a:avLst/>
          </a:prstGeom>
        </p:spPr>
      </p:pic>
      <p:pic>
        <p:nvPicPr>
          <p:cNvPr id="8" name="图片 7"/>
          <p:cNvPicPr>
            <a:picLocks noChangeAspect="1"/>
          </p:cNvPicPr>
          <p:nvPr/>
        </p:nvPicPr>
        <p:blipFill>
          <a:blip r:embed="rId7"/>
          <a:stretch>
            <a:fillRect/>
          </a:stretch>
        </p:blipFill>
        <p:spPr>
          <a:xfrm>
            <a:off x="5152933" y="3005086"/>
            <a:ext cx="2448272" cy="20110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43152"/>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我们是否需要为地图上的每个障碍物都重新规划整个路径</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smtClean="0">
                <a:latin typeface="Arial" panose="020B0604020202020204" pitchFamily="34" charset="0"/>
                <a:ea typeface="微软雅黑" panose="020B0503020204020204" charset="-122"/>
                <a:sym typeface="+mn-ea"/>
              </a:rPr>
              <a:t>如果</a:t>
            </a:r>
            <a:r>
              <a:rPr lang="zh-CN" altLang="en-US" sz="1200" dirty="0">
                <a:latin typeface="Arial" panose="020B0604020202020204" pitchFamily="34" charset="0"/>
                <a:ea typeface="微软雅黑" panose="020B0503020204020204" charset="-122"/>
                <a:sym typeface="+mn-ea"/>
              </a:rPr>
              <a:t>机器人必须对不可预见的、快速移动的障碍物做出快速反应又该怎么办</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709114"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全局规划与局部规划</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08</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Global planner &amp; Local planner</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全局规划与局部规划</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539552" y="1635646"/>
            <a:ext cx="8280920" cy="1938992"/>
          </a:xfrm>
          <a:prstGeom prst="rect">
            <a:avLst/>
          </a:prstGeom>
        </p:spPr>
        <p:txBody>
          <a:bodyPr wrap="square">
            <a:spAutoFit/>
          </a:bodyPr>
          <a:lstStyle/>
          <a:p>
            <a:pPr marL="342900" indent="-342900">
              <a:buFont typeface="Wingdings" panose="05000000000000000000" pitchFamily="2" charset="2"/>
              <a:buChar char="Ø"/>
            </a:pPr>
            <a:r>
              <a:rPr lang="zh-CN" altLang="en-US" sz="2000" dirty="0" smtClean="0">
                <a:solidFill>
                  <a:srgbClr val="002060"/>
                </a:solidFill>
              </a:rPr>
              <a:t>It </a:t>
            </a:r>
            <a:r>
              <a:rPr lang="zh-CN" altLang="en-US" sz="2000" dirty="0">
                <a:solidFill>
                  <a:srgbClr val="002060"/>
                </a:solidFill>
              </a:rPr>
              <a:t>is common to subdivide the problem </a:t>
            </a:r>
            <a:r>
              <a:rPr lang="zh-CN" altLang="en-US" sz="2000" dirty="0" smtClean="0">
                <a:solidFill>
                  <a:srgbClr val="002060"/>
                </a:solidFill>
              </a:rPr>
              <a:t>into a </a:t>
            </a:r>
            <a:r>
              <a:rPr lang="zh-CN" altLang="en-US" sz="2000" dirty="0">
                <a:solidFill>
                  <a:srgbClr val="002060"/>
                </a:solidFill>
              </a:rPr>
              <a:t>global and local planning task:</a:t>
            </a:r>
          </a:p>
          <a:p>
            <a:pPr marL="800100" lvl="1" indent="-342900">
              <a:buFont typeface="Wingdings" panose="05000000000000000000" pitchFamily="2" charset="2"/>
              <a:buChar char="Ø"/>
            </a:pPr>
            <a:r>
              <a:rPr lang="zh-CN" altLang="en-US" sz="2000" dirty="0" smtClean="0">
                <a:solidFill>
                  <a:srgbClr val="002060"/>
                </a:solidFill>
              </a:rPr>
              <a:t>An </a:t>
            </a:r>
            <a:r>
              <a:rPr lang="zh-CN" altLang="en-US" sz="2000" dirty="0">
                <a:solidFill>
                  <a:srgbClr val="002060"/>
                </a:solidFill>
              </a:rPr>
              <a:t>approximate </a:t>
            </a:r>
            <a:r>
              <a:rPr lang="zh-CN" altLang="en-US" sz="2000" b="1" dirty="0">
                <a:solidFill>
                  <a:srgbClr val="002060"/>
                </a:solidFill>
              </a:rPr>
              <a:t>global planner </a:t>
            </a:r>
            <a:r>
              <a:rPr lang="zh-CN" altLang="en-US" sz="2000" dirty="0" smtClean="0">
                <a:solidFill>
                  <a:srgbClr val="002060"/>
                </a:solidFill>
              </a:rPr>
              <a:t>computes paths </a:t>
            </a:r>
            <a:r>
              <a:rPr lang="zh-CN" altLang="en-US" sz="2000" dirty="0">
                <a:solidFill>
                  <a:srgbClr val="002060"/>
                </a:solidFill>
              </a:rPr>
              <a:t>ignoring the kinematic and </a:t>
            </a:r>
            <a:r>
              <a:rPr lang="zh-CN" altLang="en-US" sz="2000" dirty="0" smtClean="0">
                <a:solidFill>
                  <a:srgbClr val="002060"/>
                </a:solidFill>
              </a:rPr>
              <a:t>dynamic vehicle </a:t>
            </a:r>
            <a:r>
              <a:rPr lang="zh-CN" altLang="en-US" sz="2000" dirty="0">
                <a:solidFill>
                  <a:srgbClr val="002060"/>
                </a:solidFill>
              </a:rPr>
              <a:t>constraints</a:t>
            </a:r>
          </a:p>
          <a:p>
            <a:pPr marL="800100" lvl="1" indent="-342900">
              <a:buFont typeface="Wingdings" panose="05000000000000000000" pitchFamily="2" charset="2"/>
              <a:buChar char="Ø"/>
            </a:pPr>
            <a:r>
              <a:rPr lang="zh-CN" altLang="en-US" sz="2000" dirty="0" smtClean="0">
                <a:solidFill>
                  <a:srgbClr val="002060"/>
                </a:solidFill>
              </a:rPr>
              <a:t>An </a:t>
            </a:r>
            <a:r>
              <a:rPr lang="zh-CN" altLang="en-US" sz="2000" dirty="0">
                <a:solidFill>
                  <a:srgbClr val="002060"/>
                </a:solidFill>
              </a:rPr>
              <a:t>accurate </a:t>
            </a:r>
            <a:r>
              <a:rPr lang="zh-CN" altLang="en-US" sz="2000" b="1" dirty="0">
                <a:solidFill>
                  <a:srgbClr val="002060"/>
                </a:solidFill>
              </a:rPr>
              <a:t>local planner </a:t>
            </a:r>
            <a:r>
              <a:rPr lang="zh-CN" altLang="en-US" sz="2000" dirty="0">
                <a:solidFill>
                  <a:srgbClr val="002060"/>
                </a:solidFill>
              </a:rPr>
              <a:t>accounts for </a:t>
            </a:r>
            <a:r>
              <a:rPr lang="zh-CN" altLang="en-US" sz="2000" dirty="0" smtClean="0">
                <a:solidFill>
                  <a:srgbClr val="002060"/>
                </a:solidFill>
              </a:rPr>
              <a:t>the constraints </a:t>
            </a:r>
            <a:r>
              <a:rPr lang="zh-CN" altLang="en-US" sz="2000" dirty="0">
                <a:solidFill>
                  <a:srgbClr val="002060"/>
                </a:solidFill>
              </a:rPr>
              <a:t>and generates (sets of) </a:t>
            </a:r>
            <a:r>
              <a:rPr lang="zh-CN" altLang="en-US" sz="2000" dirty="0" smtClean="0">
                <a:solidFill>
                  <a:srgbClr val="002060"/>
                </a:solidFill>
              </a:rPr>
              <a:t>feasible local </a:t>
            </a:r>
            <a:r>
              <a:rPr lang="zh-CN" altLang="en-US" sz="2000" dirty="0">
                <a:solidFill>
                  <a:srgbClr val="002060"/>
                </a:solidFill>
              </a:rPr>
              <a:t>trajectories ("collision avoidance")</a:t>
            </a:r>
          </a:p>
          <a:p>
            <a:pPr marL="342900" indent="-342900">
              <a:buFont typeface="Wingdings" panose="05000000000000000000" pitchFamily="2" charset="2"/>
              <a:buChar char="Ø"/>
            </a:pPr>
            <a:r>
              <a:rPr lang="zh-CN" altLang="en-US" sz="2000" dirty="0">
                <a:solidFill>
                  <a:srgbClr val="002060"/>
                </a:solidFill>
              </a:rPr>
              <a:t>What do we loose? What do we win?</a:t>
            </a:r>
          </a:p>
        </p:txBody>
      </p:sp>
      <p:sp>
        <p:nvSpPr>
          <p:cNvPr id="4" name="矩形 3"/>
          <p:cNvSpPr/>
          <p:nvPr/>
        </p:nvSpPr>
        <p:spPr>
          <a:xfrm>
            <a:off x="2487230" y="1138049"/>
            <a:ext cx="4168129" cy="369332"/>
          </a:xfrm>
          <a:prstGeom prst="rect">
            <a:avLst/>
          </a:prstGeom>
        </p:spPr>
        <p:txBody>
          <a:bodyPr wrap="none">
            <a:spAutoFit/>
          </a:bodyPr>
          <a:lstStyle/>
          <a:p>
            <a:r>
              <a:rPr lang="zh-CN" altLang="en-US" b="1" dirty="0">
                <a:solidFill>
                  <a:srgbClr val="002060"/>
                </a:solidFill>
              </a:rPr>
              <a:t>Integration into general motion planning?</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Global planner &amp; Local planner</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全局规划与局部规划</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1" name="矩形 10"/>
          <p:cNvSpPr/>
          <p:nvPr/>
        </p:nvSpPr>
        <p:spPr>
          <a:xfrm>
            <a:off x="3548449" y="402325"/>
            <a:ext cx="2594621" cy="369332"/>
          </a:xfrm>
          <a:prstGeom prst="rect">
            <a:avLst/>
          </a:prstGeom>
        </p:spPr>
        <p:txBody>
          <a:bodyPr wrap="none">
            <a:spAutoFit/>
          </a:bodyPr>
          <a:lstStyle/>
          <a:p>
            <a:r>
              <a:rPr lang="en-US" altLang="zh-CN" sz="1800" b="1" dirty="0">
                <a:solidFill>
                  <a:srgbClr val="FF0000"/>
                </a:solidFill>
              </a:rPr>
              <a:t>Two-layered Architecture</a:t>
            </a:r>
            <a:endParaRPr lang="zh-CN" altLang="en-US" sz="1800" b="1" dirty="0">
              <a:solidFill>
                <a:srgbClr val="FF0000"/>
              </a:solidFill>
            </a:endParaRP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110615"/>
            <a:ext cx="6133178" cy="3618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Global planner &amp; Local planner</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全局规划与局部规划</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1259632" y="876569"/>
            <a:ext cx="6852944" cy="2308324"/>
          </a:xfrm>
          <a:prstGeom prst="rect">
            <a:avLst/>
          </a:prstGeom>
        </p:spPr>
        <p:txBody>
          <a:bodyPr wrap="square">
            <a:spAutoFit/>
          </a:bodyPr>
          <a:lstStyle/>
          <a:p>
            <a:r>
              <a:rPr lang="zh-CN" altLang="en-US" dirty="0"/>
              <a:t>你有没有试着沿着一条路走的时候迷路过（比如沿百度地图之类）？</a:t>
            </a:r>
          </a:p>
          <a:p>
            <a:endParaRPr lang="zh-CN" altLang="en-US" dirty="0"/>
          </a:p>
          <a:p>
            <a:r>
              <a:rPr lang="zh-CN" altLang="en-US" b="1" dirty="0">
                <a:solidFill>
                  <a:srgbClr val="002060"/>
                </a:solidFill>
              </a:rPr>
              <a:t>问题</a:t>
            </a:r>
            <a:r>
              <a:rPr lang="zh-CN" altLang="en-US" dirty="0"/>
              <a:t>：路径执行固有的不确定性！如果机器人无法跟随，即使是最好的路径也毫无价值</a:t>
            </a:r>
          </a:p>
          <a:p>
            <a:endParaRPr lang="zh-CN" altLang="en-US" dirty="0"/>
          </a:p>
          <a:p>
            <a:r>
              <a:rPr lang="zh-CN" altLang="en-US" b="1" dirty="0">
                <a:solidFill>
                  <a:srgbClr val="002060"/>
                </a:solidFill>
              </a:rPr>
              <a:t>原因</a:t>
            </a:r>
            <a:r>
              <a:rPr lang="zh-CN" altLang="en-US" dirty="0"/>
              <a:t>：轨迹控制的不确定性、不完善的地图/动力学模型</a:t>
            </a:r>
          </a:p>
          <a:p>
            <a:endParaRPr lang="zh-CN" altLang="en-US" dirty="0"/>
          </a:p>
          <a:p>
            <a:r>
              <a:rPr lang="zh-CN" altLang="en-US" dirty="0" smtClean="0"/>
              <a:t>你</a:t>
            </a:r>
            <a:r>
              <a:rPr lang="zh-CN" altLang="en-US" dirty="0"/>
              <a:t>需要的</a:t>
            </a:r>
            <a:r>
              <a:rPr lang="zh-CN" altLang="en-US" dirty="0" smtClean="0"/>
              <a:t>不</a:t>
            </a:r>
            <a:r>
              <a:rPr lang="zh-CN" altLang="en-US" dirty="0"/>
              <a:t>仅</a:t>
            </a:r>
            <a:r>
              <a:rPr lang="zh-CN" altLang="en-US" dirty="0" smtClean="0"/>
              <a:t>是</a:t>
            </a:r>
            <a:r>
              <a:rPr lang="zh-CN" altLang="en-US" b="1" dirty="0" smtClean="0">
                <a:solidFill>
                  <a:srgbClr val="002060"/>
                </a:solidFill>
              </a:rPr>
              <a:t>规划</a:t>
            </a:r>
            <a:r>
              <a:rPr lang="en-US" altLang="zh-CN" b="1" dirty="0" smtClean="0">
                <a:solidFill>
                  <a:srgbClr val="002060"/>
                </a:solidFill>
              </a:rPr>
              <a:t>(planning)</a:t>
            </a:r>
            <a:r>
              <a:rPr lang="zh-CN" altLang="en-US" dirty="0" smtClean="0"/>
              <a:t>，而可能还需要</a:t>
            </a:r>
            <a:r>
              <a:rPr lang="zh-CN" altLang="en-US" b="1" dirty="0" smtClean="0">
                <a:solidFill>
                  <a:srgbClr val="002060"/>
                </a:solidFill>
              </a:rPr>
              <a:t>决策</a:t>
            </a:r>
            <a:r>
              <a:rPr lang="en-US" altLang="zh-CN" b="1" dirty="0" smtClean="0">
                <a:solidFill>
                  <a:srgbClr val="002060"/>
                </a:solidFill>
              </a:rPr>
              <a:t>(policy)</a:t>
            </a:r>
            <a:r>
              <a:rPr lang="zh-CN" altLang="en-US" b="1" dirty="0" smtClean="0">
                <a:solidFill>
                  <a:srgbClr val="002060"/>
                </a:solidFill>
              </a:rPr>
              <a:t>！</a:t>
            </a:r>
            <a:endParaRPr lang="zh-CN" altLang="en-US" b="1" dirty="0">
              <a:solidFill>
                <a:srgbClr val="002060"/>
              </a:solidFill>
            </a:endParaRPr>
          </a:p>
        </p:txBody>
      </p:sp>
      <p:pic>
        <p:nvPicPr>
          <p:cNvPr id="3" name="图片 2"/>
          <p:cNvPicPr>
            <a:picLocks noChangeAspect="1"/>
          </p:cNvPicPr>
          <p:nvPr/>
        </p:nvPicPr>
        <p:blipFill>
          <a:blip r:embed="rId4"/>
          <a:stretch>
            <a:fillRect/>
          </a:stretch>
        </p:blipFill>
        <p:spPr>
          <a:xfrm>
            <a:off x="2013982" y="3939902"/>
            <a:ext cx="543400" cy="537000"/>
          </a:xfrm>
          <a:prstGeom prst="rect">
            <a:avLst/>
          </a:prstGeom>
        </p:spPr>
      </p:pic>
      <p:pic>
        <p:nvPicPr>
          <p:cNvPr id="7" name="图片 6"/>
          <p:cNvPicPr>
            <a:picLocks noChangeAspect="1"/>
          </p:cNvPicPr>
          <p:nvPr/>
        </p:nvPicPr>
        <p:blipFill>
          <a:blip r:embed="rId5"/>
          <a:stretch>
            <a:fillRect/>
          </a:stretch>
        </p:blipFill>
        <p:spPr>
          <a:xfrm>
            <a:off x="3040080" y="3230732"/>
            <a:ext cx="2499960" cy="1877593"/>
          </a:xfrm>
          <a:prstGeom prst="rect">
            <a:avLst/>
          </a:prstGeom>
        </p:spPr>
      </p:pic>
      <p:sp>
        <p:nvSpPr>
          <p:cNvPr id="8" name="矩形 7"/>
          <p:cNvSpPr/>
          <p:nvPr/>
        </p:nvSpPr>
        <p:spPr>
          <a:xfrm>
            <a:off x="5633196" y="3570570"/>
            <a:ext cx="2503314" cy="584775"/>
          </a:xfrm>
          <a:prstGeom prst="rect">
            <a:avLst/>
          </a:prstGeom>
        </p:spPr>
        <p:txBody>
          <a:bodyPr wrap="none">
            <a:spAutoFit/>
          </a:bodyPr>
          <a:lstStyle/>
          <a:p>
            <a:r>
              <a:rPr lang="zh-CN" altLang="en-US" sz="1600" b="1" dirty="0">
                <a:solidFill>
                  <a:srgbClr val="FF0000"/>
                </a:solidFill>
              </a:rPr>
              <a:t>Markov Decision </a:t>
            </a:r>
            <a:r>
              <a:rPr lang="zh-CN" altLang="en-US" sz="1600" b="1" dirty="0" smtClean="0">
                <a:solidFill>
                  <a:srgbClr val="FF0000"/>
                </a:solidFill>
              </a:rPr>
              <a:t>Process？</a:t>
            </a:r>
            <a:endParaRPr lang="en-US" altLang="zh-CN" sz="1600" b="1" dirty="0" smtClean="0">
              <a:solidFill>
                <a:srgbClr val="FF0000"/>
              </a:solidFill>
            </a:endParaRPr>
          </a:p>
          <a:p>
            <a:r>
              <a:rPr lang="en-US" altLang="zh-CN" sz="1600" b="1" dirty="0">
                <a:solidFill>
                  <a:srgbClr val="FF0000"/>
                </a:solidFill>
              </a:rPr>
              <a:t>Dynamic </a:t>
            </a:r>
            <a:r>
              <a:rPr lang="en-US" altLang="zh-CN" sz="1600" b="1" dirty="0" smtClean="0">
                <a:solidFill>
                  <a:srgbClr val="FF0000"/>
                </a:solidFill>
              </a:rPr>
              <a:t>Programming</a:t>
            </a:r>
            <a:r>
              <a:rPr lang="zh-CN" altLang="en-US" sz="1600" b="1" dirty="0" smtClean="0">
                <a:solidFill>
                  <a:srgbClr val="FF0000"/>
                </a:solidFill>
              </a:rPr>
              <a:t>？</a:t>
            </a:r>
            <a:endParaRPr lang="zh-CN" altLang="en-US" sz="16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Nonlinear </a:t>
              </a:r>
              <a:r>
                <a:rPr lang="en-US" altLang="zh-CN" sz="1000" dirty="0" err="1">
                  <a:latin typeface="Arial" panose="020B0604020202020204" pitchFamily="34" charset="0"/>
                  <a:ea typeface="微软雅黑" panose="020B0503020204020204" charset="-122"/>
                  <a:sym typeface="+mn-ea"/>
                </a:rPr>
                <a:t>Optimization&amp;Smoothing</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扩展</a:t>
              </a:r>
              <a:r>
                <a:rPr lang="en-US" altLang="zh-CN" sz="2000" b="1" dirty="0" smtClean="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非线性优化</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641472" y="1491630"/>
            <a:ext cx="7789048" cy="2308324"/>
          </a:xfrm>
          <a:prstGeom prst="rect">
            <a:avLst/>
          </a:prstGeom>
        </p:spPr>
        <p:txBody>
          <a:bodyPr wrap="square">
            <a:spAutoFit/>
          </a:bodyPr>
          <a:lstStyle/>
          <a:p>
            <a:r>
              <a:rPr lang="zh-CN" altLang="en-US" dirty="0">
                <a:solidFill>
                  <a:srgbClr val="002060"/>
                </a:solidFill>
              </a:rPr>
              <a:t>运动规划问题可表示为一般的非线性优化，带有等式约束或不等式约束，这样便可以用许多软件包来解决这些问题</a:t>
            </a:r>
            <a:r>
              <a:rPr lang="zh-CN" altLang="en-US" dirty="0" smtClean="0">
                <a:solidFill>
                  <a:srgbClr val="002060"/>
                </a:solidFill>
              </a:rPr>
              <a:t>。可分为：</a:t>
            </a:r>
            <a:endParaRPr lang="zh-CN" altLang="en-US" dirty="0">
              <a:solidFill>
                <a:srgbClr val="002060"/>
              </a:solidFill>
            </a:endParaRPr>
          </a:p>
          <a:p>
            <a:pPr marL="285750" indent="-285750">
              <a:buFont typeface="Wingdings" panose="05000000000000000000" pitchFamily="2" charset="2"/>
              <a:buChar char="p"/>
            </a:pPr>
            <a:r>
              <a:rPr lang="zh-CN" altLang="en-US" dirty="0"/>
              <a:t>基于梯度的方法</a:t>
            </a:r>
          </a:p>
          <a:p>
            <a:pPr marL="742950" lvl="1" indent="-285750">
              <a:buFont typeface="Wingdings" panose="05000000000000000000" pitchFamily="2" charset="2"/>
              <a:buChar char="Ø"/>
            </a:pPr>
            <a:r>
              <a:rPr lang="zh-CN" altLang="en-US" dirty="0"/>
              <a:t>顺序二次规划（SQP，Sequential Quadratic Programming)</a:t>
            </a:r>
          </a:p>
          <a:p>
            <a:pPr marL="285750" indent="-285750">
              <a:buFont typeface="Wingdings" panose="05000000000000000000" pitchFamily="2" charset="2"/>
              <a:buChar char="p"/>
            </a:pPr>
            <a:r>
              <a:rPr lang="zh-CN" altLang="en-US" dirty="0"/>
              <a:t>非梯度方法</a:t>
            </a:r>
          </a:p>
          <a:p>
            <a:pPr marL="742950" lvl="1" indent="-285750">
              <a:buFont typeface="Wingdings" panose="05000000000000000000" pitchFamily="2" charset="2"/>
              <a:buChar char="Ø"/>
            </a:pPr>
            <a:r>
              <a:rPr lang="zh-CN" altLang="en-US" dirty="0"/>
              <a:t>模拟退火</a:t>
            </a:r>
          </a:p>
          <a:p>
            <a:pPr marL="742950" lvl="1" indent="-285750">
              <a:buFont typeface="Wingdings" panose="05000000000000000000" pitchFamily="2" charset="2"/>
              <a:buChar char="Ø"/>
            </a:pPr>
            <a:r>
              <a:rPr lang="zh-CN" altLang="en-US" dirty="0"/>
              <a:t>Nelder-Mead优化</a:t>
            </a:r>
          </a:p>
          <a:p>
            <a:pPr marL="742950" lvl="1" indent="-285750">
              <a:buFont typeface="Wingdings" panose="05000000000000000000" pitchFamily="2" charset="2"/>
              <a:buChar char="Ø"/>
            </a:pPr>
            <a:r>
              <a:rPr lang="zh-CN" altLang="en-US" dirty="0"/>
              <a:t>遗传算法（genetic programming）</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5153660" cy="598805"/>
            <a:chOff x="-372" y="345"/>
            <a:chExt cx="8116" cy="943"/>
          </a:xfrm>
        </p:grpSpPr>
        <p:sp>
          <p:nvSpPr>
            <p:cNvPr id="25" name="矩形 2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Nonlinear </a:t>
              </a:r>
              <a:r>
                <a:rPr lang="en-US" altLang="zh-CN" sz="1000" dirty="0" err="1">
                  <a:latin typeface="Arial" panose="020B0604020202020204" pitchFamily="34" charset="0"/>
                  <a:ea typeface="微软雅黑" panose="020B0503020204020204" charset="-122"/>
                  <a:sym typeface="+mn-ea"/>
                </a:rPr>
                <a:t>Optimization&amp;Smoothing</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扩展：非线性优化</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3" name="图片 2"/>
          <p:cNvPicPr>
            <a:picLocks noChangeAspect="1"/>
          </p:cNvPicPr>
          <p:nvPr/>
        </p:nvPicPr>
        <p:blipFill>
          <a:blip r:embed="rId4"/>
          <a:stretch>
            <a:fillRect/>
          </a:stretch>
        </p:blipFill>
        <p:spPr>
          <a:xfrm>
            <a:off x="2846090" y="1563638"/>
            <a:ext cx="2887940" cy="2457822"/>
          </a:xfrm>
          <a:prstGeom prst="rect">
            <a:avLst/>
          </a:prstGeom>
        </p:spPr>
      </p:pic>
      <p:sp>
        <p:nvSpPr>
          <p:cNvPr id="4" name="文本框 3"/>
          <p:cNvSpPr txBox="1"/>
          <p:nvPr/>
        </p:nvSpPr>
        <p:spPr>
          <a:xfrm>
            <a:off x="2987824" y="1008886"/>
            <a:ext cx="2184252" cy="369332"/>
          </a:xfrm>
          <a:prstGeom prst="rect">
            <a:avLst/>
          </a:prstGeom>
          <a:noFill/>
        </p:spPr>
        <p:txBody>
          <a:bodyPr wrap="none" rtlCol="0">
            <a:spAutoFit/>
          </a:bodyPr>
          <a:lstStyle/>
          <a:p>
            <a:r>
              <a:rPr lang="en-US" altLang="zh-CN" dirty="0" smtClean="0"/>
              <a:t>For example: Track-IK</a:t>
            </a:r>
            <a:endParaRPr lang="zh-CN" altLang="en-US" dirty="0"/>
          </a:p>
        </p:txBody>
      </p:sp>
      <p:sp>
        <p:nvSpPr>
          <p:cNvPr id="5" name="矩形 4"/>
          <p:cNvSpPr/>
          <p:nvPr/>
        </p:nvSpPr>
        <p:spPr>
          <a:xfrm>
            <a:off x="932900" y="4080520"/>
            <a:ext cx="7416824" cy="923330"/>
          </a:xfrm>
          <a:prstGeom prst="rect">
            <a:avLst/>
          </a:prstGeom>
        </p:spPr>
        <p:txBody>
          <a:bodyPr wrap="square">
            <a:spAutoFit/>
          </a:bodyPr>
          <a:lstStyle/>
          <a:p>
            <a:r>
              <a:rPr lang="zh-CN" altLang="en-US" dirty="0"/>
              <a:t>For a single IK solver request, TRAC-IK spawns two solvers, one running SQP-SS and one </a:t>
            </a:r>
            <a:r>
              <a:rPr lang="zh-CN" altLang="en-US" dirty="0" smtClean="0"/>
              <a:t>running KDL</a:t>
            </a:r>
            <a:r>
              <a:rPr lang="zh-CN" altLang="en-US" dirty="0"/>
              <a:t>-RR. Once either finishes with a solution, both threads are immediately stopped, and the resulting solution is returned.</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395536" y="846455"/>
            <a:ext cx="828092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6220" y="219075"/>
            <a:ext cx="9138920" cy="598805"/>
            <a:chOff x="-372" y="345"/>
            <a:chExt cx="14392" cy="943"/>
          </a:xfrm>
        </p:grpSpPr>
        <p:sp>
          <p:nvSpPr>
            <p:cNvPr id="25" name="矩形 24"/>
            <p:cNvSpPr/>
            <p:nvPr/>
          </p:nvSpPr>
          <p:spPr>
            <a:xfrm>
              <a:off x="443" y="824"/>
              <a:ext cx="6313" cy="464"/>
            </a:xfrm>
            <a:prstGeom prst="rect">
              <a:avLst/>
            </a:prstGeom>
          </p:spPr>
          <p:txBody>
            <a:bodyPr wrap="square">
              <a:spAutoFit/>
            </a:bodyPr>
            <a:lstStyle/>
            <a:p>
              <a:pPr>
                <a:lnSpc>
                  <a:spcPct val="150000"/>
                </a:lnSpc>
              </a:pP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6" name="文本框 25"/>
            <p:cNvSpPr txBox="1"/>
            <p:nvPr/>
          </p:nvSpPr>
          <p:spPr>
            <a:xfrm>
              <a:off x="6719" y="607"/>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扩展阅读</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7" name="椭圆 2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形状"/>
          <p:cNvSpPr/>
          <p:nvPr>
            <p:custDataLst>
              <p:tags r:id="rId1"/>
            </p:custDataLst>
          </p:nvPr>
        </p:nvSpPr>
        <p:spPr>
          <a:xfrm>
            <a:off x="8184584" y="45409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文本框 1"/>
          <p:cNvSpPr txBox="1"/>
          <p:nvPr/>
        </p:nvSpPr>
        <p:spPr>
          <a:xfrm>
            <a:off x="1115616" y="1371352"/>
            <a:ext cx="716734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smtClean="0"/>
              <a:t>振动和运动规划的关系？</a:t>
            </a:r>
            <a:r>
              <a:rPr lang="zh-CN" altLang="zh-CN" dirty="0"/>
              <a:t>轨迹生成</a:t>
            </a:r>
            <a:r>
              <a:rPr lang="zh-CN" altLang="zh-CN" dirty="0" smtClean="0"/>
              <a:t>算法</a:t>
            </a:r>
            <a:r>
              <a:rPr lang="zh-CN" altLang="en-US" dirty="0" smtClean="0"/>
              <a:t>能否解决哪些类型的振动？</a:t>
            </a:r>
            <a:endParaRPr lang="zh-CN" altLang="en-US" dirty="0"/>
          </a:p>
        </p:txBody>
      </p:sp>
      <p:sp>
        <p:nvSpPr>
          <p:cNvPr id="6" name="文本框 5"/>
          <p:cNvSpPr txBox="1"/>
          <p:nvPr/>
        </p:nvSpPr>
        <p:spPr>
          <a:xfrm>
            <a:off x="1115616" y="2177454"/>
            <a:ext cx="6480720" cy="646331"/>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smtClean="0"/>
              <a:t>碰撞检测算法（例如</a:t>
            </a:r>
            <a:r>
              <a:rPr lang="zh-CN" altLang="zh-CN" dirty="0" smtClean="0"/>
              <a:t>开</a:t>
            </a:r>
            <a:r>
              <a:rPr lang="zh-CN" altLang="zh-CN" dirty="0"/>
              <a:t>源碰撞检测包</a:t>
            </a:r>
            <a:r>
              <a:rPr lang="en-US" altLang="zh-CN" dirty="0"/>
              <a:t>FCL(Flexible Collision </a:t>
            </a:r>
            <a:r>
              <a:rPr lang="en-US" altLang="zh-CN" dirty="0" smtClean="0"/>
              <a:t>Library))</a:t>
            </a:r>
            <a:r>
              <a:rPr lang="zh-CN" altLang="en-US" dirty="0" smtClean="0"/>
              <a:t>和运动规划的关系？</a:t>
            </a:r>
            <a:endParaRPr lang="zh-CN" altLang="en-US" dirty="0"/>
          </a:p>
        </p:txBody>
      </p:sp>
      <p:sp>
        <p:nvSpPr>
          <p:cNvPr id="7" name="矩形 6"/>
          <p:cNvSpPr/>
          <p:nvPr/>
        </p:nvSpPr>
        <p:spPr>
          <a:xfrm>
            <a:off x="1029118" y="3003798"/>
            <a:ext cx="6984776" cy="2031325"/>
          </a:xfrm>
          <a:prstGeom prst="rect">
            <a:avLst/>
          </a:prstGeom>
        </p:spPr>
        <p:txBody>
          <a:bodyPr wrap="square">
            <a:spAutoFit/>
          </a:bodyPr>
          <a:lstStyle/>
          <a:p>
            <a:pPr marL="285750" indent="-285750">
              <a:buFont typeface="Wingdings" panose="05000000000000000000" pitchFamily="2" charset="2"/>
              <a:buChar char="Ø"/>
            </a:pPr>
            <a:r>
              <a:rPr lang="zh-CN" altLang="zh-CN" kern="100" dirty="0">
                <a:cs typeface="MV Boli" panose="02000500030200090000" pitchFamily="2" charset="0"/>
              </a:rPr>
              <a:t>基于采样的规划方法使用样本来近似表示位形空间，均为非完整概率方法。这类方法在相对较短的时间内具有高效计算高维机器人路径的能力，这类</a:t>
            </a:r>
            <a:r>
              <a:rPr lang="en-US" altLang="zh-CN" kern="100" dirty="0">
                <a:cs typeface="MV Boli" panose="02000500030200090000" pitchFamily="2" charset="0"/>
              </a:rPr>
              <a:t>PRM</a:t>
            </a:r>
            <a:r>
              <a:rPr lang="zh-CN" altLang="zh-CN" kern="100" dirty="0">
                <a:cs typeface="MV Boli" panose="02000500030200090000" pitchFamily="2" charset="0"/>
              </a:rPr>
              <a:t>及</a:t>
            </a:r>
            <a:r>
              <a:rPr lang="en-US" altLang="zh-CN" kern="100" dirty="0">
                <a:cs typeface="MV Boli" panose="02000500030200090000" pitchFamily="2" charset="0"/>
              </a:rPr>
              <a:t>RRT</a:t>
            </a:r>
            <a:r>
              <a:rPr lang="zh-CN" altLang="zh-CN" kern="100" dirty="0">
                <a:cs typeface="MV Boli" panose="02000500030200090000" pitchFamily="2" charset="0"/>
              </a:rPr>
              <a:t>的改进算法在机器人领域得到了广泛的应用。然而随着位形空间维数的增加，会导致规划的路径质量变差，且规划时间过</a:t>
            </a:r>
            <a:r>
              <a:rPr lang="zh-CN" altLang="zh-CN" kern="100" dirty="0" smtClean="0">
                <a:cs typeface="MV Boli" panose="02000500030200090000" pitchFamily="2" charset="0"/>
              </a:rPr>
              <a:t>长</a:t>
            </a:r>
            <a:r>
              <a:rPr lang="zh-CN" altLang="en-US" kern="100" dirty="0" smtClean="0">
                <a:cs typeface="MV Boli" panose="02000500030200090000" pitchFamily="2" charset="0"/>
              </a:rPr>
              <a:t>，这类问题如何解决？</a:t>
            </a:r>
            <a:endParaRPr lang="en-US" altLang="zh-CN" kern="100" dirty="0" smtClean="0">
              <a:cs typeface="MV Boli" panose="02000500030200090000" pitchFamily="2" charset="0"/>
            </a:endParaRPr>
          </a:p>
          <a:p>
            <a:endParaRPr lang="en-US" altLang="zh-CN" kern="100" dirty="0">
              <a:cs typeface="MV Boli" panose="02000500030200090000" pitchFamily="2" charset="0"/>
            </a:endParaRPr>
          </a:p>
          <a:p>
            <a:pPr marL="285750" indent="-285750">
              <a:buFont typeface="Wingdings" panose="05000000000000000000" pitchFamily="2" charset="2"/>
              <a:buChar char="Ø"/>
            </a:pPr>
            <a:r>
              <a:rPr lang="en-US" altLang="zh-CN" kern="100" dirty="0" smtClean="0">
                <a:cs typeface="MV Boli" panose="02000500030200090000" pitchFamily="2" charset="0"/>
              </a:rPr>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75656" y="1707654"/>
            <a:ext cx="6840760" cy="1631216"/>
          </a:xfrm>
          <a:prstGeom prst="rect">
            <a:avLst/>
          </a:prstGeom>
        </p:spPr>
        <p:txBody>
          <a:bodyPr wrap="square">
            <a:spAutoFit/>
          </a:bodyPr>
          <a:lstStyle/>
          <a:p>
            <a:r>
              <a:rPr lang="zh-CN" altLang="en-US" sz="2000" b="1" dirty="0" smtClean="0">
                <a:solidFill>
                  <a:srgbClr val="002060"/>
                </a:solidFill>
                <a:latin typeface="Calibri" panose="020F0502020204030204" charset="0"/>
                <a:cs typeface="Times New Roman" panose="02020603050405020304" pitchFamily="18" charset="0"/>
              </a:rPr>
              <a:t>作业：</a:t>
            </a:r>
            <a:endParaRPr lang="en-US" altLang="zh-CN" sz="2000" b="1" dirty="0" smtClean="0">
              <a:solidFill>
                <a:srgbClr val="002060"/>
              </a:solidFill>
              <a:latin typeface="Calibri" panose="020F0502020204030204" charset="0"/>
              <a:cs typeface="Times New Roman" panose="02020603050405020304" pitchFamily="18" charset="0"/>
            </a:endParaRPr>
          </a:p>
          <a:p>
            <a:r>
              <a:rPr lang="zh-CN" altLang="zh-CN" sz="2000" dirty="0" smtClean="0">
                <a:solidFill>
                  <a:srgbClr val="002060"/>
                </a:solidFill>
                <a:latin typeface="Calibri" panose="020F0502020204030204" charset="0"/>
                <a:cs typeface="Times New Roman" panose="02020603050405020304" pitchFamily="18" charset="0"/>
              </a:rPr>
              <a:t>选择</a:t>
            </a:r>
            <a:r>
              <a:rPr lang="zh-CN" altLang="zh-CN" sz="2000" dirty="0">
                <a:solidFill>
                  <a:srgbClr val="002060"/>
                </a:solidFill>
                <a:latin typeface="Calibri" panose="020F0502020204030204" charset="0"/>
                <a:cs typeface="Times New Roman" panose="02020603050405020304" pitchFamily="18" charset="0"/>
              </a:rPr>
              <a:t>一种机器人，构建</a:t>
            </a:r>
            <a:r>
              <a:rPr lang="en-US" altLang="zh-CN" sz="2000" dirty="0">
                <a:solidFill>
                  <a:srgbClr val="002060"/>
                </a:solidFill>
                <a:latin typeface="Calibri" panose="020F0502020204030204" charset="0"/>
                <a:cs typeface="Times New Roman" panose="02020603050405020304" pitchFamily="18" charset="0"/>
              </a:rPr>
              <a:t>C-Space</a:t>
            </a:r>
            <a:r>
              <a:rPr lang="zh-CN" altLang="zh-CN" sz="2000" dirty="0">
                <a:solidFill>
                  <a:srgbClr val="002060"/>
                </a:solidFill>
                <a:latin typeface="Calibri" panose="020F0502020204030204" charset="0"/>
                <a:cs typeface="Times New Roman" panose="02020603050405020304" pitchFamily="18" charset="0"/>
              </a:rPr>
              <a:t>，</a:t>
            </a:r>
            <a:r>
              <a:rPr lang="en-US" altLang="zh-CN" sz="2000" dirty="0">
                <a:solidFill>
                  <a:srgbClr val="002060"/>
                </a:solidFill>
                <a:latin typeface="Calibri" panose="020F0502020204030204" charset="0"/>
                <a:cs typeface="Times New Roman" panose="02020603050405020304" pitchFamily="18" charset="0"/>
              </a:rPr>
              <a:t>C-</a:t>
            </a:r>
            <a:r>
              <a:rPr lang="en-US" altLang="zh-CN" sz="2000" dirty="0" err="1">
                <a:solidFill>
                  <a:srgbClr val="002060"/>
                </a:solidFill>
                <a:latin typeface="Calibri" panose="020F0502020204030204" charset="0"/>
                <a:cs typeface="Times New Roman" panose="02020603050405020304" pitchFamily="18" charset="0"/>
              </a:rPr>
              <a:t>free,C</a:t>
            </a:r>
            <a:r>
              <a:rPr lang="en-US" altLang="zh-CN" sz="2000" dirty="0">
                <a:solidFill>
                  <a:srgbClr val="002060"/>
                </a:solidFill>
                <a:latin typeface="Calibri" panose="020F0502020204030204" charset="0"/>
                <a:cs typeface="Times New Roman" panose="02020603050405020304" pitchFamily="18" charset="0"/>
              </a:rPr>
              <a:t>-</a:t>
            </a:r>
            <a:r>
              <a:rPr lang="en-US" altLang="zh-CN" sz="2000" dirty="0" err="1">
                <a:solidFill>
                  <a:srgbClr val="002060"/>
                </a:solidFill>
                <a:latin typeface="Calibri" panose="020F0502020204030204" charset="0"/>
                <a:cs typeface="Times New Roman" panose="02020603050405020304" pitchFamily="18" charset="0"/>
              </a:rPr>
              <a:t>obs</a:t>
            </a:r>
            <a:r>
              <a:rPr lang="zh-CN" altLang="zh-CN" sz="2000" dirty="0">
                <a:solidFill>
                  <a:srgbClr val="002060"/>
                </a:solidFill>
                <a:latin typeface="Calibri" panose="020F0502020204030204" charset="0"/>
                <a:cs typeface="Times New Roman" panose="02020603050405020304" pitchFamily="18" charset="0"/>
              </a:rPr>
              <a:t>，</a:t>
            </a:r>
            <a:r>
              <a:rPr lang="zh-CN" altLang="zh-CN" sz="2000" dirty="0" smtClean="0">
                <a:solidFill>
                  <a:srgbClr val="002060"/>
                </a:solidFill>
                <a:latin typeface="Calibri" panose="020F0502020204030204" charset="0"/>
                <a:cs typeface="Times New Roman" panose="02020603050405020304" pitchFamily="18" charset="0"/>
              </a:rPr>
              <a:t>选择</a:t>
            </a:r>
            <a:r>
              <a:rPr lang="zh-CN" altLang="en-US" sz="2000" dirty="0" smtClean="0">
                <a:solidFill>
                  <a:srgbClr val="002060"/>
                </a:solidFill>
                <a:latin typeface="Calibri" panose="020F0502020204030204" charset="0"/>
                <a:cs typeface="Times New Roman" panose="02020603050405020304" pitchFamily="18" charset="0"/>
              </a:rPr>
              <a:t>多</a:t>
            </a:r>
            <a:r>
              <a:rPr lang="zh-CN" altLang="zh-CN" sz="2000" dirty="0" smtClean="0">
                <a:solidFill>
                  <a:srgbClr val="002060"/>
                </a:solidFill>
                <a:latin typeface="Calibri" panose="020F0502020204030204" charset="0"/>
                <a:cs typeface="Times New Roman" panose="02020603050405020304" pitchFamily="18" charset="0"/>
              </a:rPr>
              <a:t>种</a:t>
            </a:r>
            <a:r>
              <a:rPr lang="zh-CN" altLang="zh-CN" sz="2000" dirty="0">
                <a:solidFill>
                  <a:srgbClr val="002060"/>
                </a:solidFill>
                <a:latin typeface="Calibri" panose="020F0502020204030204" charset="0"/>
                <a:cs typeface="Times New Roman" panose="02020603050405020304" pitchFamily="18" charset="0"/>
              </a:rPr>
              <a:t>路径规划算法，</a:t>
            </a:r>
            <a:r>
              <a:rPr lang="zh-CN" altLang="zh-CN" sz="2000" dirty="0" smtClean="0">
                <a:solidFill>
                  <a:srgbClr val="002060"/>
                </a:solidFill>
                <a:latin typeface="Calibri" panose="020F0502020204030204" charset="0"/>
                <a:cs typeface="Times New Roman" panose="02020603050405020304" pitchFamily="18" charset="0"/>
              </a:rPr>
              <a:t>进行</a:t>
            </a:r>
            <a:r>
              <a:rPr lang="zh-CN" altLang="en-US" sz="2000" dirty="0">
                <a:solidFill>
                  <a:srgbClr val="002060"/>
                </a:solidFill>
                <a:latin typeface="Calibri" panose="020F0502020204030204" charset="0"/>
                <a:cs typeface="Times New Roman" panose="02020603050405020304" pitchFamily="18" charset="0"/>
              </a:rPr>
              <a:t>编程</a:t>
            </a:r>
            <a:r>
              <a:rPr lang="zh-CN" altLang="zh-CN" sz="2000" dirty="0" smtClean="0">
                <a:solidFill>
                  <a:srgbClr val="002060"/>
                </a:solidFill>
                <a:latin typeface="Calibri" panose="020F0502020204030204" charset="0"/>
                <a:cs typeface="Times New Roman" panose="02020603050405020304" pitchFamily="18" charset="0"/>
              </a:rPr>
              <a:t>仿真，分析</a:t>
            </a:r>
            <a:r>
              <a:rPr lang="zh-CN" altLang="en-US" sz="2000" dirty="0" smtClean="0">
                <a:solidFill>
                  <a:srgbClr val="002060"/>
                </a:solidFill>
                <a:latin typeface="Calibri" panose="020F0502020204030204" charset="0"/>
                <a:cs typeface="Times New Roman" panose="02020603050405020304" pitchFamily="18" charset="0"/>
              </a:rPr>
              <a:t>算法</a:t>
            </a:r>
            <a:r>
              <a:rPr lang="zh-CN" altLang="zh-CN" sz="2000" dirty="0" smtClean="0">
                <a:solidFill>
                  <a:srgbClr val="002060"/>
                </a:solidFill>
                <a:latin typeface="Calibri" panose="020F0502020204030204" charset="0"/>
                <a:cs typeface="Times New Roman" panose="02020603050405020304" pitchFamily="18" charset="0"/>
              </a:rPr>
              <a:t>优缺点</a:t>
            </a:r>
            <a:r>
              <a:rPr lang="zh-CN" altLang="zh-CN" sz="2000" dirty="0">
                <a:solidFill>
                  <a:srgbClr val="002060"/>
                </a:solidFill>
                <a:latin typeface="Calibri" panose="020F0502020204030204" charset="0"/>
                <a:cs typeface="Times New Roman" panose="02020603050405020304" pitchFamily="18" charset="0"/>
              </a:rPr>
              <a:t>，提出改进算法，并进行仿真对比实验，要求给出不同情况下的位形、速度、加速度以及</a:t>
            </a:r>
            <a:r>
              <a:rPr lang="en-US" altLang="zh-CN" sz="2000" dirty="0">
                <a:solidFill>
                  <a:srgbClr val="002060"/>
                </a:solidFill>
                <a:latin typeface="Calibri" panose="020F0502020204030204" charset="0"/>
                <a:cs typeface="Times New Roman" panose="02020603050405020304" pitchFamily="18" charset="0"/>
              </a:rPr>
              <a:t>Jerk</a:t>
            </a:r>
            <a:r>
              <a:rPr lang="zh-CN" altLang="zh-CN" sz="2000" dirty="0" smtClean="0">
                <a:solidFill>
                  <a:srgbClr val="002060"/>
                </a:solidFill>
                <a:latin typeface="Calibri" panose="020F0502020204030204" charset="0"/>
                <a:cs typeface="Times New Roman" panose="02020603050405020304" pitchFamily="18" charset="0"/>
              </a:rPr>
              <a:t>图</a:t>
            </a:r>
            <a:r>
              <a:rPr lang="zh-CN" altLang="en-US" sz="2000" dirty="0" smtClean="0">
                <a:solidFill>
                  <a:srgbClr val="002060"/>
                </a:solidFill>
                <a:latin typeface="Calibri" panose="020F0502020204030204" charset="0"/>
                <a:cs typeface="Times New Roman" panose="02020603050405020304" pitchFamily="18" charset="0"/>
              </a:rPr>
              <a:t>与</a:t>
            </a:r>
            <a:r>
              <a:rPr lang="zh-CN" altLang="zh-CN" sz="2000" dirty="0" smtClean="0">
                <a:solidFill>
                  <a:srgbClr val="002060"/>
                </a:solidFill>
                <a:latin typeface="Calibri" panose="020F0502020204030204" charset="0"/>
                <a:cs typeface="Times New Roman" panose="02020603050405020304" pitchFamily="18" charset="0"/>
              </a:rPr>
              <a:t>分析</a:t>
            </a:r>
            <a:r>
              <a:rPr lang="zh-CN" altLang="zh-CN" sz="2000" dirty="0">
                <a:solidFill>
                  <a:srgbClr val="002060"/>
                </a:solidFill>
                <a:latin typeface="Calibri" panose="020F0502020204030204" charset="0"/>
                <a:cs typeface="Times New Roman" panose="02020603050405020304" pitchFamily="18" charset="0"/>
              </a:rPr>
              <a:t>。</a:t>
            </a:r>
            <a:endParaRPr lang="zh-CN" altLang="en-US" sz="20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5" name="矩形 4"/>
          <p:cNvSpPr/>
          <p:nvPr/>
        </p:nvSpPr>
        <p:spPr>
          <a:xfrm>
            <a:off x="1155383" y="2946400"/>
            <a:ext cx="7215505" cy="246221"/>
          </a:xfrm>
          <a:prstGeom prst="rect">
            <a:avLst/>
          </a:prstGeom>
        </p:spPr>
        <p:txBody>
          <a:bodyPr wrap="square">
            <a:spAutoFit/>
          </a:bodyPr>
          <a:lstStyle/>
          <a:p>
            <a:pPr algn="ctr">
              <a:lnSpc>
                <a:spcPct val="100000"/>
              </a:lnSpc>
            </a:pPr>
            <a:r>
              <a:rPr lang="zh-CN" altLang="en-US" sz="1000" dirty="0" smtClean="0">
                <a:solidFill>
                  <a:schemeClr val="tx1"/>
                </a:solidFill>
                <a:latin typeface="Arial" panose="020B0604020202020204" pitchFamily="34" charset="0"/>
                <a:ea typeface="微软雅黑" panose="020B0503020204020204" charset="-122"/>
              </a:rPr>
              <a:t>机器人学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289425" y="3444240"/>
            <a:ext cx="948055" cy="215900"/>
          </a:xfrm>
          <a:prstGeom prst="roundRect">
            <a:avLst/>
          </a:prstGeom>
          <a:no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17695" y="3429635"/>
            <a:ext cx="718466" cy="246221"/>
          </a:xfrm>
          <a:prstGeom prst="rect">
            <a:avLst/>
          </a:prstGeom>
          <a:noFill/>
        </p:spPr>
        <p:txBody>
          <a:bodyPr wrap="none" rtlCol="0">
            <a:spAutoFit/>
          </a:bodyPr>
          <a:lstStyle/>
          <a:p>
            <a:r>
              <a:rPr lang="en-US" altLang="zh-CN" sz="1000" dirty="0">
                <a:latin typeface="微软雅黑" panose="020B0503020204020204" charset="-122"/>
                <a:ea typeface="微软雅黑" panose="020B0503020204020204" charset="-122"/>
              </a:rPr>
              <a:t>Robotics</a:t>
            </a:r>
            <a:endParaRPr lang="zh-CN" altLang="en-US" sz="10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 name="KSO_WM_DIAGRAM_VIRTUALLY_FRAME" val="{&quot;height&quot;:340.1952755905512,&quot;left&quot;:320.31055118110237,&quot;top&quot;:43.74220472440945,&quot;width&quot;:410.48748031496064}"/>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 name="KSO_WM_DIAGRAM_VIRTUALLY_FRAME" val="{&quot;height&quot;:340.1952755905512,&quot;left&quot;:320.31055118110237,&quot;top&quot;:43.74220472440945,&quot;width&quot;:410.48748031496064}"/>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1420_3*m_h_i*1_1_2"/>
  <p:tag name="KSO_WM_TEMPLATE_CATEGORY" val="diagram"/>
  <p:tag name="KSO_WM_TEMPLATE_INDEX" val="20201420"/>
  <p:tag name="KSO_WM_UNIT_LAYERLEVEL" val="1_1_1"/>
  <p:tag name="KSO_WM_TAG_VERSION" val="1.0"/>
  <p:tag name="KSO_WM_BEAUTIFY_FLAG" val="#wm#"/>
  <p:tag name="KSO_WM_UNIT_FILL_FORE_SCHEMECOLOR_INDEX" val="5"/>
  <p:tag name="KSO_WM_UNI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1420_3*m_h_i*1_1_3"/>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1420_3*m_h_i*1_2_2"/>
  <p:tag name="KSO_WM_TEMPLATE_CATEGORY" val="diagram"/>
  <p:tag name="KSO_WM_TEMPLATE_INDEX" val="20201420"/>
  <p:tag name="KSO_WM_UNIT_LAYERLEVEL" val="1_1_1"/>
  <p:tag name="KSO_WM_TAG_VERSION" val="1.0"/>
  <p:tag name="KSO_WM_BEAUTIFY_FLAG" val="#wm#"/>
  <p:tag name="KSO_WM_UNIT_FILL_FORE_SCHEMECOLOR_INDEX" val="6"/>
  <p:tag name="KSO_WM_UNI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1420_3*m_h_i*1_2_3"/>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1420_3*m_h_i*1_3_2"/>
  <p:tag name="KSO_WM_TEMPLATE_CATEGORY" val="diagram"/>
  <p:tag name="KSO_WM_TEMPLATE_INDEX" val="20201420"/>
  <p:tag name="KSO_WM_UNIT_LAYERLEVEL" val="1_1_1"/>
  <p:tag name="KSO_WM_TAG_VERSION" val="1.0"/>
  <p:tag name="KSO_WM_BEAUTIFY_FLAG" val="#wm#"/>
  <p:tag name="KSO_WM_UNIT_FILL_FORE_SCHEMECOLOR_INDEX" val="5"/>
  <p:tag name="KSO_WM_UNI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1420_3*m_h_i*1_3_3"/>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3_1"/>
  <p:tag name="KSO_WM_UNIT_ID" val="diagram20201420_3*m_h_z*1_3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16136</Words>
  <Application>Microsoft Office PowerPoint</Application>
  <PresentationFormat>全屏显示(16:9)</PresentationFormat>
  <Paragraphs>1310</Paragraphs>
  <Slides>149</Slides>
  <Notes>147</Notes>
  <HiddenSlides>0</HiddenSlides>
  <MMClips>2</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149</vt:i4>
      </vt:variant>
    </vt:vector>
  </HeadingPairs>
  <TitlesOfParts>
    <vt:vector size="168" baseType="lpstr">
      <vt:lpstr>TimesNewRomanPS-ItalicMT</vt:lpstr>
      <vt:lpstr>Verdana-Bold</vt:lpstr>
      <vt:lpstr>楷体</vt:lpstr>
      <vt:lpstr>楷体_GB2312</vt:lpstr>
      <vt:lpstr>宋体</vt:lpstr>
      <vt:lpstr>宋体-简</vt:lpstr>
      <vt:lpstr>微软雅黑</vt:lpstr>
      <vt:lpstr>Arial</vt:lpstr>
      <vt:lpstr>Calibri</vt:lpstr>
      <vt:lpstr>Cambria Math</vt:lpstr>
      <vt:lpstr>MV Boli</vt:lpstr>
      <vt:lpstr>Symbol</vt:lpstr>
      <vt:lpstr>Times New Roman</vt:lpstr>
      <vt:lpstr>Verdana</vt:lpstr>
      <vt:lpstr>Wingdings</vt:lpstr>
      <vt:lpstr>Office 主题​​</vt:lpstr>
      <vt:lpstr>自定义设计方案</vt:lpstr>
      <vt:lpstr>Visio</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cp:revision>
  <dcterms:created xsi:type="dcterms:W3CDTF">2017-03-24T14:39:00Z</dcterms:created>
  <dcterms:modified xsi:type="dcterms:W3CDTF">2026-06-02T07:28:41Z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C1268FC40F724279B724B0D5F8A51A12_12</vt:lpwstr>
  </property>
</Properties>
</file>