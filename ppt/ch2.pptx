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5" r:id="rId2"/>
  </p:sldMasterIdLst>
  <p:notesMasterIdLst>
    <p:notesMasterId r:id="rId72"/>
  </p:notesMasterIdLst>
  <p:handoutMasterIdLst>
    <p:handoutMasterId r:id="rId73"/>
  </p:handoutMasterIdLst>
  <p:sldIdLst>
    <p:sldId id="283" r:id="rId3"/>
    <p:sldId id="452" r:id="rId4"/>
    <p:sldId id="401" r:id="rId5"/>
    <p:sldId id="284" r:id="rId6"/>
    <p:sldId id="402" r:id="rId7"/>
    <p:sldId id="403" r:id="rId8"/>
    <p:sldId id="404" r:id="rId9"/>
    <p:sldId id="405" r:id="rId10"/>
    <p:sldId id="406" r:id="rId11"/>
    <p:sldId id="407" r:id="rId12"/>
    <p:sldId id="408" r:id="rId13"/>
    <p:sldId id="410" r:id="rId14"/>
    <p:sldId id="409" r:id="rId15"/>
    <p:sldId id="395" r:id="rId16"/>
    <p:sldId id="411" r:id="rId17"/>
    <p:sldId id="412" r:id="rId18"/>
    <p:sldId id="413" r:id="rId19"/>
    <p:sldId id="414" r:id="rId20"/>
    <p:sldId id="417" r:id="rId21"/>
    <p:sldId id="418" r:id="rId22"/>
    <p:sldId id="453" r:id="rId23"/>
    <p:sldId id="419" r:id="rId24"/>
    <p:sldId id="420" r:id="rId25"/>
    <p:sldId id="396" r:id="rId26"/>
    <p:sldId id="421" r:id="rId27"/>
    <p:sldId id="423" r:id="rId28"/>
    <p:sldId id="429" r:id="rId29"/>
    <p:sldId id="430" r:id="rId30"/>
    <p:sldId id="431" r:id="rId31"/>
    <p:sldId id="432" r:id="rId32"/>
    <p:sldId id="433" r:id="rId33"/>
    <p:sldId id="460" r:id="rId34"/>
    <p:sldId id="434" r:id="rId35"/>
    <p:sldId id="435" r:id="rId36"/>
    <p:sldId id="436" r:id="rId37"/>
    <p:sldId id="437" r:id="rId38"/>
    <p:sldId id="438" r:id="rId39"/>
    <p:sldId id="439" r:id="rId40"/>
    <p:sldId id="440" r:id="rId41"/>
    <p:sldId id="441" r:id="rId42"/>
    <p:sldId id="450" r:id="rId43"/>
    <p:sldId id="451" r:id="rId44"/>
    <p:sldId id="454" r:id="rId45"/>
    <p:sldId id="455" r:id="rId46"/>
    <p:sldId id="463" r:id="rId47"/>
    <p:sldId id="464" r:id="rId48"/>
    <p:sldId id="456" r:id="rId49"/>
    <p:sldId id="457" r:id="rId50"/>
    <p:sldId id="458" r:id="rId51"/>
    <p:sldId id="461" r:id="rId52"/>
    <p:sldId id="462" r:id="rId53"/>
    <p:sldId id="442" r:id="rId54"/>
    <p:sldId id="443" r:id="rId55"/>
    <p:sldId id="444" r:id="rId56"/>
    <p:sldId id="445" r:id="rId57"/>
    <p:sldId id="446" r:id="rId58"/>
    <p:sldId id="447" r:id="rId59"/>
    <p:sldId id="449" r:id="rId60"/>
    <p:sldId id="448" r:id="rId61"/>
    <p:sldId id="465" r:id="rId62"/>
    <p:sldId id="466" r:id="rId63"/>
    <p:sldId id="467" r:id="rId64"/>
    <p:sldId id="468" r:id="rId65"/>
    <p:sldId id="470" r:id="rId66"/>
    <p:sldId id="471" r:id="rId67"/>
    <p:sldId id="469" r:id="rId68"/>
    <p:sldId id="472" r:id="rId69"/>
    <p:sldId id="324" r:id="rId70"/>
    <p:sldId id="399" r:id="rId71"/>
  </p:sldIdLst>
  <p:sldSz cx="9144000" cy="5143500" type="screen16x9"/>
  <p:notesSz cx="6858000" cy="9144000"/>
  <p:custDataLst>
    <p:tags r:id="rId7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1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65B0"/>
    <a:srgbClr val="00C0A9"/>
    <a:srgbClr val="00A1DA"/>
    <a:srgbClr val="558ED5"/>
    <a:srgbClr val="FFFFFF"/>
    <a:srgbClr val="268099"/>
    <a:srgbClr val="005CA8"/>
    <a:srgbClr val="4EE5FA"/>
    <a:srgbClr val="0060A8"/>
    <a:srgbClr val="19C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73746" autoAdjust="0"/>
  </p:normalViewPr>
  <p:slideViewPr>
    <p:cSldViewPr showGuides="1">
      <p:cViewPr varScale="1">
        <p:scale>
          <a:sx n="107" d="100"/>
          <a:sy n="107" d="100"/>
        </p:scale>
        <p:origin x="942" y="90"/>
      </p:cViewPr>
      <p:guideLst>
        <p:guide orient="horz" pos="1620"/>
        <p:guide pos="2815"/>
      </p:guideLst>
    </p:cSldViewPr>
  </p:slideViewPr>
  <p:notesTextViewPr>
    <p:cViewPr>
      <p:scale>
        <a:sx n="100" d="100"/>
        <a:sy n="100" d="100"/>
      </p:scale>
      <p:origin x="0" y="0"/>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 Id="rId4" Type="http://schemas.openxmlformats.org/officeDocument/2006/relationships/image" Target="../media/image4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image" Target="../media/image48.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 Id="rId5" Type="http://schemas.openxmlformats.org/officeDocument/2006/relationships/image" Target="../media/image63.wmf"/><Relationship Id="rId4" Type="http://schemas.openxmlformats.org/officeDocument/2006/relationships/image" Target="../media/image6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image" Target="../media/image6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6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125.emf"/><Relationship Id="rId1" Type="http://schemas.openxmlformats.org/officeDocument/2006/relationships/image" Target="../media/image124.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37.emf"/><Relationship Id="rId1" Type="http://schemas.openxmlformats.org/officeDocument/2006/relationships/image" Target="../media/image136.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57.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64.emf"/><Relationship Id="rId1" Type="http://schemas.openxmlformats.org/officeDocument/2006/relationships/image" Target="../media/image16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FAED0-7D10-4239-9B56-C55805060B86}" type="datetimeFigureOut">
              <a:rPr lang="zh-CN" altLang="en-US" smtClean="0"/>
              <a:t>2026/5/11</a:t>
            </a:fld>
            <a:endParaRPr lang="zh-CN" altLang="en-US"/>
          </a:p>
        </p:txBody>
      </p:sp>
      <p:sp>
        <p:nvSpPr>
          <p:cNvPr id="4" name="幻灯片图像占位符 3"/>
          <p:cNvSpPr>
            <a:spLocks noGrp="1" noRot="1" noChangeAspect="1"/>
          </p:cNvSpPr>
          <p:nvPr>
            <p:ph type="sldImg" idx="2"/>
          </p:nvPr>
        </p:nvSpPr>
        <p:spPr>
          <a:xfrm>
            <a:off x="381534" y="685800"/>
            <a:ext cx="6094934"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147A23-5BA8-44CE-9215-79B767159C4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Artificial_intelligence#Search_and_optimiz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en.wikipedia.org/wiki/Artificial_intelligence#Probabilistic_methods_for_uncertain_reasoning" TargetMode="External"/><Relationship Id="rId4" Type="http://schemas.openxmlformats.org/officeDocument/2006/relationships/hyperlink" Target="https://en.wikipedia.org/wiki/Artificial_intelligence#Logic" TargetMode="Externa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3" Type="http://schemas.openxmlformats.org/officeDocument/2006/relationships/hyperlink" Target="https://baike.baidu.com/item/3D/25017" TargetMode="External"/><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This is an introductory of robotics course, containing both fundamental as well as some more advanced concepts. It presents a broad overview of robotics with focus on manipulators and mobile robots, and includes robot kinematics, dynamics, planning and control, programming language.</a:t>
            </a:r>
            <a:endParaRPr lang="zh-CN" altLang="zh-CN" dirty="0" smtClean="0"/>
          </a:p>
          <a:p>
            <a:r>
              <a:rPr lang="en-US" altLang="zh-CN" dirty="0" smtClean="0"/>
              <a:t>The course is divided between the following areas:</a:t>
            </a:r>
            <a:endParaRPr lang="zh-CN" altLang="zh-CN" dirty="0" smtClean="0"/>
          </a:p>
          <a:p>
            <a:r>
              <a:rPr lang="en-US" altLang="zh-CN" dirty="0" smtClean="0"/>
              <a:t>Robotics Introduction</a:t>
            </a:r>
          </a:p>
          <a:p>
            <a:r>
              <a:rPr lang="en-US" altLang="zh-CN" dirty="0" smtClean="0"/>
              <a:t>System Model of Robot</a:t>
            </a:r>
            <a:endParaRPr lang="zh-CN" altLang="zh-CN" dirty="0" smtClean="0"/>
          </a:p>
          <a:p>
            <a:r>
              <a:rPr lang="en-US" altLang="zh-CN" dirty="0" smtClean="0"/>
              <a:t>Robot kinematics</a:t>
            </a:r>
            <a:endParaRPr lang="zh-CN" altLang="zh-CN" dirty="0" smtClean="0"/>
          </a:p>
          <a:p>
            <a:r>
              <a:rPr lang="en-US" altLang="zh-CN" dirty="0" smtClean="0"/>
              <a:t>Robot dynamics</a:t>
            </a:r>
            <a:endParaRPr lang="zh-CN" altLang="zh-CN" dirty="0" smtClean="0"/>
          </a:p>
          <a:p>
            <a:r>
              <a:rPr lang="en-US" altLang="zh-CN" dirty="0" smtClean="0"/>
              <a:t>Robot control</a:t>
            </a:r>
            <a:endParaRPr lang="zh-CN" altLang="zh-CN" dirty="0" smtClean="0"/>
          </a:p>
          <a:p>
            <a:r>
              <a:rPr lang="en-US" altLang="zh-CN" dirty="0" smtClean="0"/>
              <a:t>Robot motion planning</a:t>
            </a:r>
          </a:p>
          <a:p>
            <a:r>
              <a:rPr lang="en-US" altLang="zh-CN"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there are at least three kinds of AI, such as Symbolism, Connectionism and Behaviorism. This aspect of classification may be obsolete because modern algorithms usually have those two or all property.</a:t>
            </a:r>
          </a:p>
          <a:p>
            <a:r>
              <a:rPr lang="zh-CN" altLang="en-US" b="1" dirty="0" smtClean="0">
                <a:latin typeface="Arial" panose="020B0604020202020204" pitchFamily="34" charset="0"/>
              </a:rPr>
              <a:t>符号主义、连接主义、行为主义</a:t>
            </a:r>
            <a:r>
              <a:rPr lang="en-US" altLang="zh-CN" b="1" dirty="0" smtClean="0">
                <a:latin typeface="Arial" panose="020B0604020202020204" pitchFamily="34" charset="0"/>
              </a:rPr>
              <a:t>?</a:t>
            </a:r>
          </a:p>
          <a:p>
            <a:endParaRPr lang="en-US" altLang="zh-CN" dirty="0" smtClean="0"/>
          </a:p>
          <a:p>
            <a:r>
              <a:rPr lang="en-US" altLang="zh-CN" dirty="0" smtClean="0">
                <a:hlinkClick r:id="rId3"/>
              </a:rPr>
              <a:t>search and mathematical optimization</a:t>
            </a:r>
            <a:r>
              <a:rPr lang="en-US" altLang="zh-CN" dirty="0" smtClean="0"/>
              <a:t>, </a:t>
            </a:r>
            <a:r>
              <a:rPr lang="en-US" altLang="zh-CN" dirty="0" smtClean="0">
                <a:hlinkClick r:id="rId4"/>
              </a:rPr>
              <a:t>logic</a:t>
            </a:r>
            <a:r>
              <a:rPr lang="en-US" altLang="zh-CN" dirty="0" smtClean="0"/>
              <a:t>, </a:t>
            </a:r>
            <a:r>
              <a:rPr lang="en-US" altLang="zh-CN" u="sng" dirty="0" smtClean="0">
                <a:hlinkClick r:id="rId5"/>
              </a:rPr>
              <a:t>methods based on probability and economics</a:t>
            </a:r>
            <a:endParaRPr lang="en-US" altLang="zh-CN" dirty="0" smtClean="0"/>
          </a:p>
          <a:p>
            <a:endParaRPr lang="en-US" altLang="zh-CN" b="1" dirty="0" smtClean="0">
              <a:latin typeface="Arial" panose="020B0604020202020204" pitchFamily="34" charset="0"/>
            </a:endParaRPr>
          </a:p>
          <a:p>
            <a:r>
              <a:rPr lang="en-US" altLang="zh-CN" dirty="0" smtClean="0"/>
              <a:t>LR logic Reasoning</a:t>
            </a:r>
          </a:p>
          <a:p>
            <a:r>
              <a:rPr lang="en-US" altLang="zh-CN" dirty="0" smtClean="0"/>
              <a:t>logical deduction</a:t>
            </a:r>
          </a:p>
          <a:p>
            <a:r>
              <a:rPr lang="en-US" altLang="zh-CN" dirty="0" smtClean="0"/>
              <a:t>mathematical optimization</a:t>
            </a:r>
          </a:p>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buFontTx/>
              <a:buNone/>
              <a:defRPr/>
            </a:pPr>
            <a:r>
              <a:rPr lang="en-US" altLang="zh-CN" dirty="0" smtClean="0"/>
              <a:t>(1)</a:t>
            </a:r>
            <a:r>
              <a:rPr lang="zh-CN" altLang="en-US" dirty="0" smtClean="0"/>
              <a:t>符号主义</a:t>
            </a:r>
            <a:r>
              <a:rPr lang="en-US" altLang="zh-CN" dirty="0" smtClean="0"/>
              <a:t>(</a:t>
            </a:r>
            <a:r>
              <a:rPr lang="en-US" altLang="zh-CN" dirty="0" err="1" smtClean="0"/>
              <a:t>symbolicism</a:t>
            </a:r>
            <a:r>
              <a:rPr lang="en-US" altLang="zh-CN" dirty="0" smtClean="0"/>
              <a:t>)</a:t>
            </a:r>
            <a:r>
              <a:rPr lang="zh-CN" altLang="en-US" dirty="0" smtClean="0"/>
              <a:t>，又称为逻辑主义</a:t>
            </a:r>
            <a:r>
              <a:rPr lang="en-US" altLang="zh-CN" dirty="0" smtClean="0"/>
              <a:t>(</a:t>
            </a:r>
            <a:r>
              <a:rPr lang="en-US" altLang="zh-CN" dirty="0" err="1" smtClean="0"/>
              <a:t>logicism</a:t>
            </a:r>
            <a:r>
              <a:rPr lang="en-US" altLang="zh-CN" dirty="0" smtClean="0"/>
              <a:t>)</a:t>
            </a:r>
            <a:r>
              <a:rPr lang="zh-CN" altLang="en-US" dirty="0" smtClean="0"/>
              <a:t>、心理学派</a:t>
            </a:r>
            <a:r>
              <a:rPr lang="en-US" altLang="zh-CN" dirty="0" smtClean="0"/>
              <a:t>(</a:t>
            </a:r>
            <a:r>
              <a:rPr lang="en-US" altLang="zh-CN" dirty="0" err="1" smtClean="0"/>
              <a:t>psychologism</a:t>
            </a:r>
            <a:r>
              <a:rPr lang="en-US" altLang="zh-CN" dirty="0" smtClean="0"/>
              <a:t>)</a:t>
            </a:r>
            <a:r>
              <a:rPr lang="zh-CN" altLang="en-US" dirty="0" smtClean="0"/>
              <a:t>或计算机学派</a:t>
            </a:r>
            <a:r>
              <a:rPr lang="en-US" altLang="zh-CN" dirty="0" smtClean="0"/>
              <a:t>(</a:t>
            </a:r>
            <a:r>
              <a:rPr lang="en-US" altLang="zh-CN" dirty="0" err="1" smtClean="0"/>
              <a:t>computerism</a:t>
            </a:r>
            <a:r>
              <a:rPr lang="en-US" altLang="zh-CN" dirty="0" smtClean="0"/>
              <a:t>)</a:t>
            </a:r>
            <a:r>
              <a:rPr lang="zh-CN" altLang="en-US" dirty="0" smtClean="0"/>
              <a:t>，其原理主要为物理符号系统</a:t>
            </a:r>
            <a:r>
              <a:rPr lang="en-US" altLang="zh-CN" dirty="0" smtClean="0"/>
              <a:t>(</a:t>
            </a:r>
            <a:r>
              <a:rPr lang="zh-CN" altLang="en-US" dirty="0" smtClean="0"/>
              <a:t>即符号操作系统</a:t>
            </a:r>
            <a:r>
              <a:rPr lang="en-US" altLang="zh-CN" dirty="0" smtClean="0"/>
              <a:t>)</a:t>
            </a:r>
            <a:r>
              <a:rPr lang="zh-CN" altLang="en-US" dirty="0" smtClean="0"/>
              <a:t>假设和有限合理性原理。</a:t>
            </a:r>
            <a:br>
              <a:rPr lang="zh-CN" altLang="en-US" dirty="0" smtClean="0"/>
            </a:br>
            <a:r>
              <a:rPr lang="en-US" altLang="zh-CN" b="1" dirty="0" smtClean="0"/>
              <a:t>Symbolic</a:t>
            </a:r>
            <a:r>
              <a:rPr lang="en-US" altLang="zh-CN" dirty="0" smtClean="0"/>
              <a:t> artificial intelligence is the term for the collection of all methods in artificial intelligence research that are based on high-level "</a:t>
            </a:r>
            <a:r>
              <a:rPr lang="en-US" altLang="zh-CN" b="1" dirty="0" smtClean="0"/>
              <a:t>symbolic</a:t>
            </a:r>
            <a:r>
              <a:rPr lang="en-US" altLang="zh-CN" dirty="0" smtClean="0"/>
              <a:t>" (human-readable) representations of problems, logic and search. </a:t>
            </a:r>
            <a:r>
              <a:rPr lang="en-US" altLang="zh-CN" b="1" dirty="0" smtClean="0"/>
              <a:t>Symbolic AI</a:t>
            </a:r>
            <a:r>
              <a:rPr lang="en-US" altLang="zh-CN" dirty="0" smtClean="0"/>
              <a:t> was the dominant paradigm of </a:t>
            </a:r>
            <a:r>
              <a:rPr lang="en-US" altLang="zh-CN" b="1" dirty="0" smtClean="0"/>
              <a:t>AI</a:t>
            </a:r>
            <a:r>
              <a:rPr lang="en-US" altLang="zh-CN" dirty="0" smtClean="0"/>
              <a:t> research from the mid-1950s until the late 1980s.</a:t>
            </a:r>
            <a:endParaRPr lang="en-US" altLang="zh-CN" dirty="0" smtClean="0">
              <a:solidFill>
                <a:srgbClr val="0000FF"/>
              </a:solidFill>
              <a:latin typeface="+mn-ea"/>
            </a:endParaRPr>
          </a:p>
          <a:p>
            <a:pPr>
              <a:buFontTx/>
              <a:buBlip>
                <a:blip r:embed="rId3"/>
              </a:buBlip>
              <a:defRPr/>
            </a:pPr>
            <a:r>
              <a:rPr lang="zh-CN" altLang="en-US" dirty="0" smtClean="0">
                <a:solidFill>
                  <a:srgbClr val="0000FF"/>
                </a:solidFill>
                <a:latin typeface="+mn-ea"/>
              </a:rPr>
              <a:t>即传统的人工智能，认为人工智能源于数理逻辑，主张以知识为基础，通过推理来进行问题求解，在研究方法上采用计算机模拟人类认知系统功能的功能模拟方法</a:t>
            </a:r>
            <a:endParaRPr lang="en-US" altLang="zh-CN" dirty="0" smtClean="0">
              <a:solidFill>
                <a:srgbClr val="0000FF"/>
              </a:solidFill>
              <a:latin typeface="+mn-ea"/>
            </a:endParaRPr>
          </a:p>
          <a:p>
            <a:pPr>
              <a:defRPr/>
            </a:pPr>
            <a:endParaRPr lang="zh-CN" altLang="en-US" dirty="0" smtClean="0">
              <a:solidFill>
                <a:srgbClr val="0000FF"/>
              </a:solidFill>
              <a:latin typeface="+mn-ea"/>
            </a:endParaRPr>
          </a:p>
          <a:p>
            <a:pPr>
              <a:buFontTx/>
              <a:buBlip>
                <a:blip r:embed="rId3"/>
              </a:buBlip>
              <a:defRPr/>
            </a:pPr>
            <a:r>
              <a:rPr lang="zh-CN" altLang="en-US" dirty="0" smtClean="0">
                <a:solidFill>
                  <a:srgbClr val="0000FF"/>
                </a:solidFill>
                <a:latin typeface="+mn-ea"/>
              </a:rPr>
              <a:t>  </a:t>
            </a:r>
            <a:r>
              <a:rPr lang="en-US" altLang="zh-CN" dirty="0" smtClean="0">
                <a:solidFill>
                  <a:srgbClr val="0000FF"/>
                </a:solidFill>
                <a:latin typeface="+mn-ea"/>
              </a:rPr>
              <a:t>Simon</a:t>
            </a:r>
            <a:r>
              <a:rPr lang="zh-CN" altLang="en-US" dirty="0" smtClean="0">
                <a:solidFill>
                  <a:srgbClr val="0000FF"/>
                </a:solidFill>
                <a:latin typeface="+mn-ea"/>
              </a:rPr>
              <a:t>、</a:t>
            </a:r>
            <a:r>
              <a:rPr lang="en-US" altLang="zh-CN" dirty="0" smtClean="0">
                <a:solidFill>
                  <a:srgbClr val="0000FF"/>
                </a:solidFill>
                <a:latin typeface="+mn-ea"/>
              </a:rPr>
              <a:t>Minsky</a:t>
            </a:r>
            <a:r>
              <a:rPr lang="zh-CN" altLang="en-US" dirty="0" smtClean="0">
                <a:solidFill>
                  <a:srgbClr val="0000FF"/>
                </a:solidFill>
                <a:latin typeface="+mn-ea"/>
              </a:rPr>
              <a:t>和</a:t>
            </a:r>
            <a:r>
              <a:rPr lang="en-US" altLang="zh-CN" dirty="0" smtClean="0">
                <a:solidFill>
                  <a:srgbClr val="0000FF"/>
                </a:solidFill>
                <a:latin typeface="+mn-ea"/>
              </a:rPr>
              <a:t>Newell</a:t>
            </a:r>
            <a:r>
              <a:rPr lang="zh-CN" altLang="en-US" dirty="0" smtClean="0">
                <a:solidFill>
                  <a:srgbClr val="0000FF"/>
                </a:solidFill>
                <a:latin typeface="+mn-ea"/>
              </a:rPr>
              <a:t>等认为，人和计算机都是一个物理符号系统，因此可用计算机的符号演算来模拟人的认知过程；作为智能基础的知识是可用符号表示的一种信息形式，因此人工智能的核心问题是知识表示、知识推理和知识运用的信息处理过程。</a:t>
            </a:r>
            <a:endParaRPr lang="en-US" altLang="zh-CN" dirty="0" smtClean="0">
              <a:solidFill>
                <a:srgbClr val="0000FF"/>
              </a:solidFill>
              <a:latin typeface="+mn-ea"/>
            </a:endParaRPr>
          </a:p>
          <a:p>
            <a:pPr>
              <a:buFontTx/>
              <a:buBlip>
                <a:blip r:embed="rId3"/>
              </a:buBlip>
              <a:defRPr/>
            </a:pPr>
            <a:endParaRPr lang="en-US" altLang="zh-CN" dirty="0" smtClean="0">
              <a:solidFill>
                <a:srgbClr val="0000FF"/>
              </a:solidFill>
              <a:latin typeface="+mn-ea"/>
            </a:endParaRPr>
          </a:p>
          <a:p>
            <a:pPr>
              <a:defRPr/>
            </a:pPr>
            <a:r>
              <a:rPr lang="zh-CN" altLang="en-US" dirty="0" smtClean="0"/>
              <a:t/>
            </a:r>
            <a:br>
              <a:rPr lang="zh-CN" altLang="en-US" dirty="0" smtClean="0"/>
            </a:br>
            <a:endParaRPr lang="zh-CN" altLang="en-US" dirty="0" smtClean="0">
              <a:solidFill>
                <a:srgbClr val="0000FF"/>
              </a:solidFill>
              <a:latin typeface="+mn-ea"/>
            </a:endParaRPr>
          </a:p>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TM = Turing Machines</a:t>
            </a:r>
          </a:p>
          <a:p>
            <a:r>
              <a:rPr lang="zh-CN" altLang="en-US" dirty="0" smtClean="0"/>
              <a:t>脑计算，图灵计算</a:t>
            </a:r>
          </a:p>
        </p:txBody>
      </p:sp>
      <p:sp>
        <p:nvSpPr>
          <p:cNvPr id="4" name="灯片编号占位符 3"/>
          <p:cNvSpPr>
            <a:spLocks noGrp="1"/>
          </p:cNvSpPr>
          <p:nvPr>
            <p:ph type="sldNum" sz="quarter" idx="10"/>
          </p:nvPr>
        </p:nvSpPr>
        <p:spPr/>
        <p:txBody>
          <a:bodyPr/>
          <a:lstStyle/>
          <a:p>
            <a:fld id="{1C147A23-5BA8-44CE-9215-79B767159C4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eaLnBrk="1" hangingPunct="1">
              <a:spcBef>
                <a:spcPct val="20000"/>
              </a:spcBef>
              <a:buFontTx/>
              <a:buChar char="•"/>
              <a:defRPr/>
            </a:pPr>
            <a:r>
              <a:rPr lang="zh-CN" altLang="en-US" dirty="0" smtClean="0">
                <a:latin typeface="+mn-ea"/>
              </a:rPr>
              <a:t>大脑含约</a:t>
            </a:r>
            <a:r>
              <a:rPr lang="en-US" altLang="zh-CN" dirty="0" smtClean="0">
                <a:latin typeface="+mn-ea"/>
              </a:rPr>
              <a:t>10</a:t>
            </a:r>
            <a:r>
              <a:rPr lang="en-US" altLang="zh-CN" baseline="30000" dirty="0" smtClean="0">
                <a:latin typeface="+mn-ea"/>
              </a:rPr>
              <a:t>11</a:t>
            </a:r>
            <a:r>
              <a:rPr lang="zh-CN" altLang="en-US" dirty="0" smtClean="0">
                <a:latin typeface="+mn-ea"/>
              </a:rPr>
              <a:t>个神经元，它们通过</a:t>
            </a:r>
            <a:r>
              <a:rPr lang="en-US" altLang="zh-CN" dirty="0" smtClean="0">
                <a:latin typeface="+mn-ea"/>
              </a:rPr>
              <a:t>10</a:t>
            </a:r>
            <a:r>
              <a:rPr lang="en-US" altLang="zh-CN" baseline="30000" dirty="0" smtClean="0">
                <a:latin typeface="+mn-ea"/>
              </a:rPr>
              <a:t>15</a:t>
            </a:r>
            <a:r>
              <a:rPr lang="zh-CN" altLang="en-US" dirty="0" smtClean="0">
                <a:latin typeface="+mn-ea"/>
              </a:rPr>
              <a:t>个联结构成一个网络。每个神经元具有独立的接受、处理和传递电化学信号的能力，这种传递由神经通道来完成</a:t>
            </a:r>
            <a:endParaRPr lang="en-US" altLang="zh-CN" dirty="0" smtClean="0">
              <a:latin typeface="+mn-ea"/>
            </a:endParaRPr>
          </a:p>
          <a:p>
            <a:pPr eaLnBrk="1" hangingPunct="1">
              <a:spcBef>
                <a:spcPct val="20000"/>
              </a:spcBef>
              <a:buFontTx/>
              <a:buChar char="•"/>
              <a:defRPr/>
            </a:pPr>
            <a:r>
              <a:rPr lang="zh-CN" altLang="en-US" b="1" dirty="0" smtClean="0">
                <a:solidFill>
                  <a:srgbClr val="0033CC"/>
                </a:solidFill>
                <a:latin typeface="楷体_GB2312"/>
                <a:ea typeface="楷体_GB2312"/>
                <a:cs typeface="楷体_GB2312"/>
              </a:rPr>
              <a:t>树突是树状的神经纤维接收网络，它将电信号传送到细胞体</a:t>
            </a:r>
          </a:p>
          <a:p>
            <a:pPr eaLnBrk="1" hangingPunct="1">
              <a:spcBef>
                <a:spcPct val="20000"/>
              </a:spcBef>
              <a:buFontTx/>
              <a:buChar char="•"/>
              <a:defRPr/>
            </a:pPr>
            <a:r>
              <a:rPr lang="zh-CN" altLang="en-US" b="1" dirty="0" smtClean="0">
                <a:solidFill>
                  <a:srgbClr val="0033CC"/>
                </a:solidFill>
                <a:latin typeface="楷体_GB2312"/>
                <a:ea typeface="楷体_GB2312"/>
                <a:cs typeface="楷体_GB2312"/>
              </a:rPr>
              <a:t>细胞体对这些输入信号进行整合并进行阈值处理</a:t>
            </a:r>
          </a:p>
          <a:p>
            <a:pPr eaLnBrk="1" hangingPunct="1">
              <a:spcBef>
                <a:spcPct val="20000"/>
              </a:spcBef>
              <a:buFontTx/>
              <a:buChar char="•"/>
              <a:defRPr/>
            </a:pPr>
            <a:r>
              <a:rPr lang="zh-CN" altLang="en-US" b="1" dirty="0" smtClean="0">
                <a:solidFill>
                  <a:srgbClr val="0033CC"/>
                </a:solidFill>
                <a:latin typeface="楷体_GB2312"/>
                <a:ea typeface="楷体_GB2312"/>
                <a:cs typeface="楷体_GB2312"/>
              </a:rPr>
              <a:t>轴突是单根长纤维，它把细胞体的输出信号导向其他神经元</a:t>
            </a:r>
          </a:p>
          <a:p>
            <a:pPr eaLnBrk="1" hangingPunct="1">
              <a:spcBef>
                <a:spcPct val="20000"/>
              </a:spcBef>
              <a:buFontTx/>
              <a:buChar char="•"/>
              <a:defRPr/>
            </a:pPr>
            <a:r>
              <a:rPr lang="zh-CN" altLang="en-US" b="1" dirty="0" smtClean="0">
                <a:solidFill>
                  <a:srgbClr val="0033CC"/>
                </a:solidFill>
                <a:latin typeface="楷体_GB2312"/>
                <a:ea typeface="楷体_GB2312"/>
                <a:cs typeface="楷体_GB2312"/>
              </a:rPr>
              <a:t>一个神经细胞的轴突和另一个神经细胞树突的结合点称为突触 </a:t>
            </a:r>
            <a:endParaRPr lang="en-US" altLang="zh-CN" b="1" dirty="0" smtClean="0">
              <a:solidFill>
                <a:srgbClr val="0033CC"/>
              </a:solidFill>
              <a:latin typeface="楷体_GB2312"/>
              <a:ea typeface="楷体_GB2312"/>
              <a:cs typeface="楷体_GB2312"/>
            </a:endParaRPr>
          </a:p>
          <a:p>
            <a:pPr eaLnBrk="1" hangingPunct="1">
              <a:spcBef>
                <a:spcPct val="20000"/>
              </a:spcBef>
              <a:buFontTx/>
              <a:buChar char="•"/>
              <a:defRPr/>
            </a:pPr>
            <a:r>
              <a:rPr lang="zh-CN" altLang="en-US" b="1" dirty="0" smtClean="0">
                <a:solidFill>
                  <a:srgbClr val="CC0066"/>
                </a:solidFill>
                <a:latin typeface="楷体_GB2312"/>
                <a:ea typeface="楷体_GB2312"/>
                <a:cs typeface="楷体_GB2312"/>
              </a:rPr>
              <a:t>神经元的排列和突触的强度</a:t>
            </a:r>
            <a:r>
              <a:rPr lang="en-US" altLang="zh-CN" b="1" dirty="0" smtClean="0">
                <a:solidFill>
                  <a:srgbClr val="CC0066"/>
                </a:solidFill>
                <a:latin typeface="楷体_GB2312"/>
                <a:ea typeface="楷体_GB2312"/>
                <a:cs typeface="楷体_GB2312"/>
              </a:rPr>
              <a:t>(</a:t>
            </a:r>
            <a:r>
              <a:rPr lang="zh-CN" altLang="en-US" b="1" dirty="0" smtClean="0">
                <a:solidFill>
                  <a:srgbClr val="CC0066"/>
                </a:solidFill>
                <a:latin typeface="楷体_GB2312"/>
                <a:ea typeface="楷体_GB2312"/>
                <a:cs typeface="楷体_GB2312"/>
              </a:rPr>
              <a:t>由复杂的化学过程决定</a:t>
            </a:r>
            <a:r>
              <a:rPr lang="en-US" altLang="zh-CN" b="1" dirty="0" smtClean="0">
                <a:solidFill>
                  <a:srgbClr val="CC0066"/>
                </a:solidFill>
                <a:latin typeface="楷体_GB2312"/>
                <a:ea typeface="楷体_GB2312"/>
                <a:cs typeface="楷体_GB2312"/>
              </a:rPr>
              <a:t>)</a:t>
            </a:r>
            <a:r>
              <a:rPr lang="zh-CN" altLang="en-US" b="1" dirty="0" smtClean="0">
                <a:solidFill>
                  <a:srgbClr val="CC0066"/>
                </a:solidFill>
                <a:latin typeface="楷体_GB2312"/>
                <a:ea typeface="楷体_GB2312"/>
                <a:cs typeface="楷体_GB2312"/>
              </a:rPr>
              <a:t>确立了神经网络的功能。 </a:t>
            </a:r>
          </a:p>
          <a:p>
            <a:pPr>
              <a:defRPr/>
            </a:pPr>
            <a:r>
              <a:rPr lang="en-US" altLang="zh-CN" dirty="0" smtClean="0"/>
              <a:t>(2)</a:t>
            </a:r>
            <a:r>
              <a:rPr lang="zh-CN" altLang="en-US" dirty="0" smtClean="0"/>
              <a:t>连接主义</a:t>
            </a:r>
            <a:r>
              <a:rPr lang="en-US" altLang="zh-CN" dirty="0" smtClean="0"/>
              <a:t>(connectionism)</a:t>
            </a:r>
            <a:r>
              <a:rPr lang="zh-CN" altLang="en-US" dirty="0" smtClean="0"/>
              <a:t>，又称为仿生学派</a:t>
            </a:r>
            <a:r>
              <a:rPr lang="en-US" altLang="zh-CN" dirty="0" smtClean="0"/>
              <a:t>(</a:t>
            </a:r>
            <a:r>
              <a:rPr lang="en-US" altLang="zh-CN" dirty="0" err="1" smtClean="0"/>
              <a:t>bionicsism</a:t>
            </a:r>
            <a:r>
              <a:rPr lang="en-US" altLang="zh-CN" dirty="0" smtClean="0"/>
              <a:t>)</a:t>
            </a:r>
            <a:r>
              <a:rPr lang="zh-CN" altLang="en-US" dirty="0" smtClean="0"/>
              <a:t>或生理学派</a:t>
            </a:r>
            <a:r>
              <a:rPr lang="en-US" altLang="zh-CN" dirty="0" smtClean="0"/>
              <a:t>(</a:t>
            </a:r>
            <a:r>
              <a:rPr lang="en-US" altLang="zh-CN" dirty="0" err="1" smtClean="0"/>
              <a:t>physiologism</a:t>
            </a:r>
            <a:r>
              <a:rPr lang="en-US" altLang="zh-CN" dirty="0" smtClean="0"/>
              <a:t>)</a:t>
            </a:r>
            <a:r>
              <a:rPr lang="zh-CN" altLang="en-US" dirty="0" smtClean="0"/>
              <a:t>，其主要原理为神经网络及神经网络间的连接机制与学习算法。</a:t>
            </a:r>
            <a:br>
              <a:rPr lang="zh-CN" altLang="en-US" dirty="0" smtClean="0"/>
            </a:br>
            <a:r>
              <a:rPr lang="en-US" altLang="zh-CN" dirty="0" smtClean="0"/>
              <a:t>Connectionism is a set of approaches in the fields of artificial intelligence, cognitive science and philosophy of mind, that attempts to represents mental or behavioral phenomena as emergent processes of interconnected networks of simple units. There are many forms of connectionism, but the most common forms use neural network models.</a:t>
            </a:r>
          </a:p>
          <a:p>
            <a:r>
              <a:rPr lang="zh-CN" altLang="en-US" dirty="0" smtClean="0"/>
              <a:t>人脑神经网络</a:t>
            </a:r>
            <a:r>
              <a:rPr lang="en-US" altLang="zh-CN" baseline="0" dirty="0" smtClean="0"/>
              <a:t> -&gt;</a:t>
            </a:r>
            <a:r>
              <a:rPr lang="zh-CN" altLang="en-US" baseline="0" dirty="0" smtClean="0"/>
              <a:t>计算机神经网络</a:t>
            </a:r>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lvl="1"/>
            <a:r>
              <a:rPr lang="zh-CN" altLang="en-US" dirty="0" smtClean="0"/>
              <a:t>神经网络从四个方面刻画人脑的基本特征：</a:t>
            </a:r>
            <a:endParaRPr lang="en-US" altLang="zh-CN" dirty="0" smtClean="0"/>
          </a:p>
          <a:p>
            <a:pPr lvl="2"/>
            <a:r>
              <a:rPr lang="zh-CN" altLang="en-US" dirty="0" smtClean="0">
                <a:solidFill>
                  <a:schemeClr val="tx2"/>
                </a:solidFill>
                <a:latin typeface="楷体_GB2312" pitchFamily="49" charset="-122"/>
                <a:ea typeface="楷体_GB2312" pitchFamily="49" charset="-122"/>
              </a:rPr>
              <a:t>物理结构：</a:t>
            </a:r>
            <a:r>
              <a:rPr lang="zh-CN" altLang="en-US" dirty="0" smtClean="0">
                <a:latin typeface="楷体_GB2312" pitchFamily="49" charset="-122"/>
                <a:ea typeface="楷体_GB2312" pitchFamily="49" charset="-122"/>
              </a:rPr>
              <a:t>模仿生物神经元的功能，构造人工神经元的联结网络</a:t>
            </a:r>
            <a:endParaRPr lang="en-US" altLang="zh-CN" dirty="0" smtClean="0">
              <a:latin typeface="楷体_GB2312" pitchFamily="49" charset="-122"/>
              <a:ea typeface="楷体_GB2312" pitchFamily="49" charset="-122"/>
            </a:endParaRPr>
          </a:p>
          <a:p>
            <a:pPr lvl="2"/>
            <a:r>
              <a:rPr lang="zh-CN" altLang="en-US" dirty="0" smtClean="0">
                <a:solidFill>
                  <a:schemeClr val="tx2"/>
                </a:solidFill>
                <a:latin typeface="楷体_GB2312" pitchFamily="49" charset="-122"/>
                <a:ea typeface="楷体_GB2312" pitchFamily="49" charset="-122"/>
              </a:rPr>
              <a:t>计算模拟：</a:t>
            </a:r>
            <a:r>
              <a:rPr lang="en-US" altLang="zh-CN" dirty="0" smtClean="0">
                <a:latin typeface="楷体_GB2312" pitchFamily="49" charset="-122"/>
                <a:ea typeface="楷体_GB2312" pitchFamily="49" charset="-122"/>
              </a:rPr>
              <a:t>ANN</a:t>
            </a:r>
            <a:r>
              <a:rPr lang="zh-CN" altLang="en-US" dirty="0" smtClean="0">
                <a:latin typeface="楷体_GB2312" pitchFamily="49" charset="-122"/>
                <a:ea typeface="楷体_GB2312" pitchFamily="49" charset="-122"/>
              </a:rPr>
              <a:t>以具有局部计算能力的神经元为基础，同样实现信息的大规模并行处理。</a:t>
            </a:r>
          </a:p>
          <a:p>
            <a:pPr lvl="2"/>
            <a:r>
              <a:rPr lang="zh-CN" altLang="en-US" dirty="0" smtClean="0">
                <a:solidFill>
                  <a:schemeClr val="tx2"/>
                </a:solidFill>
                <a:latin typeface="楷体_GB2312" pitchFamily="49" charset="-122"/>
                <a:ea typeface="楷体_GB2312" pitchFamily="49" charset="-122"/>
              </a:rPr>
              <a:t>存储与操作：</a:t>
            </a:r>
            <a:r>
              <a:rPr lang="zh-CN" altLang="en-US" dirty="0" smtClean="0">
                <a:latin typeface="楷体_GB2312" pitchFamily="49" charset="-122"/>
                <a:ea typeface="楷体_GB2312" pitchFamily="49" charset="-122"/>
              </a:rPr>
              <a:t>大脑对信息的记忆是通过改变突触的强度来实现并分布存储。</a:t>
            </a:r>
            <a:r>
              <a:rPr lang="en-US" altLang="zh-CN" dirty="0" smtClean="0">
                <a:latin typeface="楷体_GB2312" pitchFamily="49" charset="-122"/>
                <a:ea typeface="楷体_GB2312" pitchFamily="49" charset="-122"/>
              </a:rPr>
              <a:t>ANN</a:t>
            </a:r>
            <a:r>
              <a:rPr lang="zh-CN" altLang="en-US" dirty="0" smtClean="0">
                <a:latin typeface="楷体_GB2312" pitchFamily="49" charset="-122"/>
                <a:ea typeface="楷体_GB2312" pitchFamily="49" charset="-122"/>
              </a:rPr>
              <a:t>模拟信息的大规模分布存储</a:t>
            </a:r>
            <a:r>
              <a:rPr lang="zh-CN" altLang="en-US" dirty="0" smtClean="0">
                <a:solidFill>
                  <a:schemeClr val="tx2"/>
                </a:solidFill>
                <a:latin typeface="楷体_GB2312" pitchFamily="49" charset="-122"/>
                <a:ea typeface="楷体_GB2312" pitchFamily="49" charset="-122"/>
              </a:rPr>
              <a:t>。</a:t>
            </a:r>
            <a:endParaRPr lang="en-US" altLang="zh-CN" dirty="0" smtClean="0">
              <a:solidFill>
                <a:schemeClr val="tx2"/>
              </a:solidFill>
              <a:latin typeface="楷体_GB2312" pitchFamily="49" charset="-122"/>
              <a:ea typeface="楷体_GB2312" pitchFamily="49" charset="-122"/>
            </a:endParaRPr>
          </a:p>
          <a:p>
            <a:pPr lvl="2"/>
            <a:r>
              <a:rPr lang="zh-CN" altLang="en-US" dirty="0" smtClean="0">
                <a:solidFill>
                  <a:schemeClr val="tx2"/>
                </a:solidFill>
                <a:latin typeface="楷体_GB2312" pitchFamily="49" charset="-122"/>
                <a:ea typeface="楷体_GB2312" pitchFamily="49" charset="-122"/>
              </a:rPr>
              <a:t>训练：</a:t>
            </a:r>
            <a:r>
              <a:rPr lang="zh-CN" altLang="en-US" dirty="0" smtClean="0">
                <a:latin typeface="楷体_GB2312" pitchFamily="49" charset="-122"/>
                <a:ea typeface="楷体_GB2312" pitchFamily="49" charset="-122"/>
              </a:rPr>
              <a:t>后天的训练使得人脑具有很强的自组织和自适应性。</a:t>
            </a:r>
            <a:r>
              <a:rPr lang="en-US" altLang="zh-CN" dirty="0" smtClean="0">
                <a:latin typeface="楷体_GB2312" pitchFamily="49" charset="-122"/>
                <a:ea typeface="楷体_GB2312" pitchFamily="49" charset="-122"/>
              </a:rPr>
              <a:t>ANN</a:t>
            </a:r>
            <a:r>
              <a:rPr lang="zh-CN" altLang="en-US" dirty="0" smtClean="0">
                <a:latin typeface="楷体_GB2312" pitchFamily="49" charset="-122"/>
                <a:ea typeface="楷体_GB2312" pitchFamily="49" charset="-122"/>
              </a:rPr>
              <a:t>根据人工神经元网络的结构特性，使用不同的训练过程，自动从“实践”（即训练样本）中获取相关知识，并存储在系统中。</a:t>
            </a:r>
          </a:p>
          <a:p>
            <a:r>
              <a:rPr lang="en-US" altLang="zh-CN" dirty="0" smtClean="0"/>
              <a:t>The central connectionist principle is that mental phenomena can be described by interconnected networks of simple and often uniform units. The form of the connections and the units can vary from model to model. For example, units in the network could represent neurons and the connections could represent synapses like in the brain of a human being.</a:t>
            </a:r>
            <a:r>
              <a:rPr lang="zh-CN" altLang="en-US" dirty="0" smtClean="0"/>
              <a:t/>
            </a:r>
            <a:br>
              <a:rPr lang="zh-CN" altLang="en-US" dirty="0" smtClean="0"/>
            </a:br>
            <a:endParaRPr lang="zh-CN" altLang="en-US" dirty="0" smtClean="0"/>
          </a:p>
          <a:p>
            <a:endParaRPr lang="zh-CN" altLang="en-US" dirty="0" smtClean="0"/>
          </a:p>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(3)</a:t>
            </a:r>
            <a:r>
              <a:rPr lang="zh-CN" altLang="en-US" dirty="0" smtClean="0"/>
              <a:t>行为主义</a:t>
            </a:r>
            <a:r>
              <a:rPr lang="en-US" altLang="zh-CN" dirty="0" smtClean="0"/>
              <a:t>(</a:t>
            </a:r>
            <a:r>
              <a:rPr lang="en-US" altLang="zh-CN" dirty="0" err="1" smtClean="0"/>
              <a:t>actionism</a:t>
            </a:r>
            <a:r>
              <a:rPr lang="en-US" altLang="zh-CN" dirty="0" smtClean="0"/>
              <a:t>)</a:t>
            </a:r>
            <a:r>
              <a:rPr lang="zh-CN" altLang="en-US" dirty="0" smtClean="0"/>
              <a:t>，又称为进化主义</a:t>
            </a:r>
            <a:r>
              <a:rPr lang="en-US" altLang="zh-CN" dirty="0" smtClean="0"/>
              <a:t>(evolutionism)</a:t>
            </a:r>
            <a:r>
              <a:rPr lang="zh-CN" altLang="en-US" dirty="0" smtClean="0"/>
              <a:t>或控制论学派</a:t>
            </a:r>
            <a:r>
              <a:rPr lang="en-US" altLang="zh-CN" dirty="0" smtClean="0"/>
              <a:t>(</a:t>
            </a:r>
            <a:r>
              <a:rPr lang="en-US" altLang="zh-CN" dirty="0" err="1" smtClean="0"/>
              <a:t>cyberneticsism</a:t>
            </a:r>
            <a:r>
              <a:rPr lang="en-US" altLang="zh-CN" dirty="0" smtClean="0"/>
              <a:t>)</a:t>
            </a:r>
            <a:r>
              <a:rPr lang="zh-CN" altLang="en-US" dirty="0" smtClean="0"/>
              <a:t>，其原理为控制论及感知</a:t>
            </a:r>
            <a:r>
              <a:rPr lang="en-US" altLang="zh-CN" dirty="0" smtClean="0"/>
              <a:t>-</a:t>
            </a:r>
            <a:r>
              <a:rPr lang="zh-CN" altLang="en-US" dirty="0" smtClean="0"/>
              <a:t>动作型控制系统。</a:t>
            </a:r>
            <a:endParaRPr lang="en-US" altLang="zh-CN" dirty="0" smtClean="0"/>
          </a:p>
          <a:p>
            <a:r>
              <a:rPr lang="en-US" altLang="zh-CN" dirty="0" smtClean="0"/>
              <a:t>Behaviorism (or </a:t>
            </a:r>
            <a:r>
              <a:rPr lang="en-US" altLang="zh-CN" dirty="0" err="1" smtClean="0"/>
              <a:t>behaviourism</a:t>
            </a:r>
            <a:r>
              <a:rPr lang="en-US" altLang="zh-CN" dirty="0" smtClean="0"/>
              <a:t>) is a systematic approach to understanding the behavior of humans and other animals. It assumes that all behaviors are either reflexes produced by a response to certain stimuli in the environment, or a consequence of that individual's history, including especially reinforcement and punishment, together with the individual's current motivational state and controlling stimuli. Although behaviorists generally accept the important role of inheritance in determining behavior, they focus primarily on environmental factors.</a:t>
            </a:r>
          </a:p>
          <a:p>
            <a:endParaRPr lang="en-US" altLang="zh-CN" dirty="0" smtClean="0"/>
          </a:p>
          <a:p>
            <a:r>
              <a:rPr lang="en-US" altLang="zh-CN" dirty="0" smtClean="0"/>
              <a:t>Behavior-based robotics or behavioral robotics is an approach in robotics that focuses on robots that are able to exhibit complex-appearing behaviors despite little internal variable state to model its immediate environment, mostly gradually correcting its actions via sensory-motor links.</a:t>
            </a:r>
          </a:p>
          <a:p>
            <a:r>
              <a:rPr lang="en-US" altLang="zh-CN" dirty="0" smtClean="0"/>
              <a:t>Behavior-based robotics sets itself apart from traditional artificial intelligence by using biological systems as a model. Classic artificial intelligence typically uses a set of steps to solve problems, it follows a path based on internal representations of events compared to the behavior-based approach. Rather than use preset calculations to tackle a situation, behavior-based robotics relies on adaptability. This advancement has allowed behavior-based robotics to become commonplace in researching and data gathering.</a:t>
            </a:r>
          </a:p>
          <a:p>
            <a:endParaRPr lang="en-US" altLang="zh-CN" dirty="0" smtClean="0"/>
          </a:p>
          <a:p>
            <a:r>
              <a:rPr lang="en-US" altLang="zh-CN" dirty="0" smtClean="0"/>
              <a:t>Most behavior-based systems are also reactive, which means they need no programming of internal representations of what a chair looks like, or what kind of surface the robot is moving on. Instead all the information is gleaned from the input of the robot's sensors. The robot uses that information to gradually correct its actions according to the changes in immediate environment.</a:t>
            </a:r>
          </a:p>
          <a:p>
            <a:endParaRPr lang="en-US" altLang="zh-CN" dirty="0" smtClean="0"/>
          </a:p>
          <a:p>
            <a:r>
              <a:rPr lang="en-US" altLang="zh-CN" dirty="0" smtClean="0"/>
              <a:t>Behavior-based robots (BBR) usually show more biological-appearing actions than their computing-intensive counterparts, which are very deliberate in their actions. A BBR often makes mistakes, repeats actions, and appears confused, but can also show the anthropomorphic quality of tenacity. Comparisons between BBRs and insects are frequent because of these actions. BBRs are sometimes considered examples of weak artificial intelligence, although some have claimed they are models of all intelligence.</a:t>
            </a:r>
          </a:p>
          <a:p>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在人工智能研究领域，有关“符号主义”、“行为主义”、“联结主义”的争论一直都还没有停息。“符号主义”可以得到有限已知条件下的确定解，但对于复杂的系统难以用物理符号表述；“行为主义”可以得到未知环境下的快速反应，但不能明确表示它要完成的目标和为达到目标需要实施的行动，难以设计直接目标的行为；这两种形式的混合结构可以兼顾长期目标和快速反应的需求，达到一种折中的策略。</a:t>
            </a:r>
          </a:p>
          <a:p>
            <a:endParaRPr lang="zh-CN" altLang="en-US" dirty="0" smtClean="0"/>
          </a:p>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计算智能</a:t>
            </a:r>
            <a:r>
              <a:rPr lang="en-US" altLang="zh-CN" dirty="0" smtClean="0"/>
              <a:t>-</a:t>
            </a:r>
            <a:r>
              <a:rPr lang="zh-CN" altLang="en-US" dirty="0" smtClean="0"/>
              <a:t>能存会算</a:t>
            </a:r>
            <a:endParaRPr lang="en-US" altLang="zh-CN" dirty="0" smtClean="0"/>
          </a:p>
          <a:p>
            <a:r>
              <a:rPr lang="zh-CN" altLang="en-US" dirty="0" smtClean="0"/>
              <a:t>感知智能</a:t>
            </a:r>
            <a:r>
              <a:rPr lang="en-US" altLang="zh-CN" dirty="0" smtClean="0"/>
              <a:t>-</a:t>
            </a:r>
            <a:r>
              <a:rPr lang="zh-CN" altLang="en-US" dirty="0" smtClean="0"/>
              <a:t>能听会说、能看会认</a:t>
            </a:r>
            <a:endParaRPr lang="en-US" altLang="zh-CN" dirty="0" smtClean="0"/>
          </a:p>
          <a:p>
            <a:r>
              <a:rPr lang="zh-CN" altLang="en-US" b="1" dirty="0" smtClean="0"/>
              <a:t>认知智能</a:t>
            </a:r>
            <a:r>
              <a:rPr lang="en-US" altLang="zh-CN" b="1" dirty="0" smtClean="0"/>
              <a:t>-</a:t>
            </a:r>
            <a:r>
              <a:rPr lang="zh-CN" altLang="en-US" dirty="0" smtClean="0"/>
              <a:t>能理解会思考</a:t>
            </a:r>
          </a:p>
          <a:p>
            <a:endParaRPr lang="en-US" altLang="zh-CN" dirty="0" smtClean="0"/>
          </a:p>
          <a:p>
            <a:r>
              <a:rPr lang="zh-CN" altLang="zh-CN" sz="1200" kern="1200" dirty="0" smtClean="0">
                <a:solidFill>
                  <a:schemeClr val="tx1"/>
                </a:solidFill>
                <a:effectLst/>
                <a:latin typeface="+mn-lt"/>
                <a:ea typeface="+mn-ea"/>
                <a:cs typeface="+mn-cs"/>
              </a:rPr>
              <a:t>人工智能的研究经历了计算智能、感知智能的发展过程，目前正朝认知智能的阶段发展，机器人智能水平伴随人工智能的研究也在不断提高，特别是在</a:t>
            </a:r>
            <a:r>
              <a:rPr lang="en-US" altLang="zh-CN" sz="1200" kern="1200" dirty="0" smtClean="0">
                <a:solidFill>
                  <a:schemeClr val="tx1"/>
                </a:solidFill>
                <a:effectLst/>
                <a:latin typeface="+mn-lt"/>
                <a:ea typeface="+mn-ea"/>
                <a:cs typeface="+mn-cs"/>
              </a:rPr>
              <a:t>2016</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月，</a:t>
            </a:r>
            <a:r>
              <a:rPr lang="en-US" altLang="zh-CN" sz="1200" kern="1200" dirty="0" err="1" smtClean="0">
                <a:solidFill>
                  <a:schemeClr val="tx1"/>
                </a:solidFill>
                <a:effectLst/>
                <a:latin typeface="+mn-lt"/>
                <a:ea typeface="+mn-ea"/>
                <a:cs typeface="+mn-cs"/>
              </a:rPr>
              <a:t>AlphaGo</a:t>
            </a:r>
            <a:r>
              <a:rPr lang="zh-CN" altLang="zh-CN" sz="1200" kern="1200" dirty="0" smtClean="0">
                <a:solidFill>
                  <a:schemeClr val="tx1"/>
                </a:solidFill>
                <a:effectLst/>
                <a:latin typeface="+mn-lt"/>
                <a:ea typeface="+mn-ea"/>
                <a:cs typeface="+mn-cs"/>
              </a:rPr>
              <a:t>打败了世界围棋冠军李世石，说明了机器人与人工智能的研究将迎来又一个春天，走上又一个高度。有关神经网络，包括深度学习、强化学习等先进算法在内的人工智能算法及架构，将广泛应用于智能机器人的总体设计中。</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一般来说，如果从机器人软件控制、人工智能的角度出发，我们可以将智能机器人体系结构分为慎思式、反应式和混合式三种基本范式</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所谓的慎思式结构（</a:t>
            </a:r>
            <a:r>
              <a:rPr lang="en-US" altLang="zh-CN" sz="1200" kern="1200" dirty="0" smtClean="0">
                <a:solidFill>
                  <a:schemeClr val="tx1"/>
                </a:solidFill>
                <a:effectLst/>
                <a:latin typeface="+mn-lt"/>
                <a:ea typeface="+mn-ea"/>
                <a:cs typeface="+mn-cs"/>
              </a:rPr>
              <a:t>Deliberative Architecture</a:t>
            </a:r>
            <a:r>
              <a:rPr lang="zh-CN" altLang="zh-CN" sz="1200" kern="1200" dirty="0" smtClean="0">
                <a:solidFill>
                  <a:schemeClr val="tx1"/>
                </a:solidFill>
                <a:effectLst/>
                <a:latin typeface="+mn-lt"/>
                <a:ea typeface="+mn-ea"/>
                <a:cs typeface="+mn-cs"/>
              </a:rPr>
              <a:t>），基于物理符号系统假说，系统的决策通过逻辑推理、模式匹配以及符号操作来完成，它比较适合已知环境下任务明确、目标给定的系统，将系统认知功能模块化（如感知、学习、规划和动作），可以大大降低系统的复杂性，但其存在的最大问题是由于现实世界的复杂性和不确定性，符号推理的应用范围非常局限，一旦改变环境，符号推理必须重新修改，灵活性不足，而且由于其动作并不是传感器数据直接作用下的结果，而是经历感知、建模到规划等处理阶段之后的结果，需要大量的计算，实时性不好。</a:t>
            </a:r>
          </a:p>
          <a:p>
            <a:r>
              <a:rPr lang="zh-CN" altLang="zh-CN" sz="1200" kern="1200" dirty="0" smtClean="0">
                <a:solidFill>
                  <a:schemeClr val="tx1"/>
                </a:solidFill>
                <a:effectLst/>
                <a:latin typeface="+mn-lt"/>
                <a:ea typeface="+mn-ea"/>
                <a:cs typeface="+mn-cs"/>
              </a:rPr>
              <a:t>反应式结构（</a:t>
            </a:r>
            <a:r>
              <a:rPr lang="en-US" altLang="zh-CN" sz="1200" kern="1200" dirty="0" smtClean="0">
                <a:solidFill>
                  <a:schemeClr val="tx1"/>
                </a:solidFill>
                <a:effectLst/>
                <a:latin typeface="+mn-lt"/>
                <a:ea typeface="+mn-ea"/>
                <a:cs typeface="+mn-cs"/>
              </a:rPr>
              <a:t>Reactive Architecture</a:t>
            </a:r>
            <a:r>
              <a:rPr lang="zh-CN" altLang="zh-CN" sz="1200" kern="1200" dirty="0" smtClean="0">
                <a:solidFill>
                  <a:schemeClr val="tx1"/>
                </a:solidFill>
                <a:effectLst/>
                <a:latin typeface="+mn-lt"/>
                <a:ea typeface="+mn-ea"/>
                <a:cs typeface="+mn-cs"/>
              </a:rPr>
              <a:t>）是基于行为范例的智能体体系结构，它直接根据传感器的输入进行决策，在其内部不维护环境模型，没有世界模型和规划器，根据行为模式，以刺激—回答的方式来对环境的改变做出反应，低层次的行为反应和高层次的行为反应具有不同的优先级。基于行为的反应模式具有较好的实时性，响应快、灵活，可以在不同环境下，针对输入的传感信号，做出相应的反应。在这种模式下，智能的实现是基于“感知</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动作”模式，但如果要实现更高的智能，比如按照人类的智能一样逐步进化（又被称为进化模式），这种模式不能明确表示它要完成的目标和为达到目标需要实施的行动，难以设计直接目标的行为。</a:t>
            </a:r>
          </a:p>
          <a:p>
            <a:r>
              <a:rPr lang="zh-CN" altLang="zh-CN" sz="1200" kern="1200" dirty="0" smtClean="0">
                <a:solidFill>
                  <a:schemeClr val="tx1"/>
                </a:solidFill>
                <a:effectLst/>
                <a:latin typeface="+mn-lt"/>
                <a:ea typeface="+mn-ea"/>
                <a:cs typeface="+mn-cs"/>
              </a:rPr>
              <a:t>混合式结构，则是以上两种方式的结合，具有两个或两个以上的模块，慎思式模块采用符号表示和符号推理，反应式模块，直接对环境做出反应，系统既体现规划推理，又实时反馈交互，它根据输入，先经过反应式模块，如果是快速反应，则直接根据行为模式输出控制，如果需要推理，则把输入传入慎思式模块进行推理产生决策。这种结构兼顾了长期目标和快速反应的需求，是一种折中的实现方式。</a:t>
            </a:r>
          </a:p>
          <a:p>
            <a:r>
              <a:rPr lang="zh-CN" altLang="zh-CN" sz="1200" kern="1200" dirty="0" smtClean="0">
                <a:solidFill>
                  <a:schemeClr val="tx1"/>
                </a:solidFill>
                <a:effectLst/>
                <a:latin typeface="+mn-lt"/>
                <a:ea typeface="+mn-ea"/>
                <a:cs typeface="+mn-cs"/>
              </a:rPr>
              <a:t>上面这三种体系结构基本是基于人工智能的智能体</a:t>
            </a:r>
            <a:r>
              <a:rPr lang="en-US" altLang="zh-CN" sz="1200" kern="1200" dirty="0" smtClean="0">
                <a:solidFill>
                  <a:schemeClr val="tx1"/>
                </a:solidFill>
                <a:effectLst/>
                <a:latin typeface="+mn-lt"/>
                <a:ea typeface="+mn-ea"/>
                <a:cs typeface="+mn-cs"/>
              </a:rPr>
              <a:t>(Agent)</a:t>
            </a:r>
            <a:r>
              <a:rPr lang="zh-CN" altLang="zh-CN" sz="1200" kern="1200" dirty="0" smtClean="0">
                <a:solidFill>
                  <a:schemeClr val="tx1"/>
                </a:solidFill>
                <a:effectLst/>
                <a:latin typeface="+mn-lt"/>
                <a:ea typeface="+mn-ea"/>
                <a:cs typeface="+mn-cs"/>
              </a:rPr>
              <a:t>模式进行的分类。在机器人学中，机器人的分类方法有很多种，比如按机器人的几何结构、控制方式、信息输入方式、智能程度、用途、移动性等来进行分类。机器人除了人工智能的软件实现技术外，还涉及机构、控制、通信等方面的技术。从机器人硬件组成的角度出发，由于机器人的形态各异，很难形成一个统一、标准的硬件体系结构。从人工智能的角度出发，对机器人软件体系结构进行设计，可以在更高的层面对系统设计进行统一的指导。</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有关机器人软件体系结构的研究一直处于发展的过程中，综合人工智能的智能体</a:t>
            </a:r>
            <a:r>
              <a:rPr lang="en-US" altLang="zh-CN" sz="1200" kern="1200" dirty="0" smtClean="0">
                <a:solidFill>
                  <a:schemeClr val="tx1"/>
                </a:solidFill>
                <a:effectLst/>
                <a:latin typeface="+mn-lt"/>
                <a:ea typeface="+mn-ea"/>
                <a:cs typeface="+mn-cs"/>
              </a:rPr>
              <a:t>(Agent)</a:t>
            </a:r>
            <a:r>
              <a:rPr lang="zh-CN" altLang="zh-CN" sz="1200" kern="1200" dirty="0" smtClean="0">
                <a:solidFill>
                  <a:schemeClr val="tx1"/>
                </a:solidFill>
                <a:effectLst/>
                <a:latin typeface="+mn-lt"/>
                <a:ea typeface="+mn-ea"/>
                <a:cs typeface="+mn-cs"/>
              </a:rPr>
              <a:t>模式、控制系统的方式、仿生学、脑科学的模型，可以归纳出如下几种机器人软件体系结构：层次结构、包容结构、分布式结构、仿生结构等类型，根据机器人系统的需求，可采用不同形式设计满足要求的机器人系统。</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层次结构是将各功能模块分成若干层次，使不同层次上的模块具有相互独立性，同时高级别的层次可以通过输出信息来控制低级别的层次，低级别层次的功能可以支持高层功能实现。</a:t>
            </a:r>
          </a:p>
          <a:p>
            <a:r>
              <a:rPr lang="zh-CN" altLang="zh-CN" sz="1200" kern="1200" dirty="0" smtClean="0">
                <a:solidFill>
                  <a:schemeClr val="tx1"/>
                </a:solidFill>
                <a:effectLst/>
                <a:latin typeface="+mn-lt"/>
                <a:ea typeface="+mn-ea"/>
                <a:cs typeface="+mn-cs"/>
              </a:rPr>
              <a:t>层次结构的早期代表为</a:t>
            </a:r>
            <a:r>
              <a:rPr lang="en-US" altLang="zh-CN" sz="1200" kern="1200" dirty="0" err="1" smtClean="0">
                <a:solidFill>
                  <a:schemeClr val="tx1"/>
                </a:solidFill>
                <a:effectLst/>
                <a:latin typeface="+mn-lt"/>
                <a:ea typeface="+mn-ea"/>
                <a:cs typeface="+mn-cs"/>
              </a:rPr>
              <a:t>Saridis</a:t>
            </a:r>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1979</a:t>
            </a:r>
            <a:r>
              <a:rPr lang="zh-CN" altLang="zh-CN" sz="1200" kern="1200" dirty="0" smtClean="0">
                <a:solidFill>
                  <a:schemeClr val="tx1"/>
                </a:solidFill>
                <a:effectLst/>
                <a:latin typeface="+mn-lt"/>
                <a:ea typeface="+mn-ea"/>
                <a:cs typeface="+mn-cs"/>
              </a:rPr>
              <a:t>年提出的智能控制系统分层递阶结构，如图</a:t>
            </a:r>
            <a:r>
              <a:rPr lang="en-US" altLang="zh-CN" sz="1200" kern="1200" dirty="0" smtClean="0">
                <a:solidFill>
                  <a:schemeClr val="tx1"/>
                </a:solidFill>
                <a:effectLst/>
                <a:latin typeface="+mn-lt"/>
                <a:ea typeface="+mn-ea"/>
                <a:cs typeface="+mn-cs"/>
              </a:rPr>
              <a:t>2.2</a:t>
            </a:r>
            <a:r>
              <a:rPr lang="zh-CN" altLang="zh-CN" sz="1200" kern="1200" dirty="0" smtClean="0">
                <a:solidFill>
                  <a:schemeClr val="tx1"/>
                </a:solidFill>
                <a:effectLst/>
                <a:latin typeface="+mn-lt"/>
                <a:ea typeface="+mn-ea"/>
                <a:cs typeface="+mn-cs"/>
              </a:rPr>
              <a:t>所示。其分层原则是：随着控制精度的增加，智能能力减弱，即层次向上智能增加，但是精度降低。他根据这一原则把智能控制系统分为三级，即组织级、协调级和执行级。分层递阶结构通过信息的自顶向下逐层传递，间接地控制行为，其智能部分分布在顶层。因为该结构是通过自顶向下任务逐层分解，问题求解精度逐层增加，从而实现了从抽象到具体、从人工智能推理方法到具体动作控制的过渡。该结构的优点是具有很好的推理能力，较好地解决了智能与控制精度的关系。其缺点是信息是自顶向下单向传输，系统的可靠性、鲁棒性、反应性不足。</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另一种典型的层次结构是三层结构。</a:t>
            </a:r>
            <a:r>
              <a:rPr lang="en-US" altLang="zh-CN" sz="1200" kern="1200" dirty="0" smtClean="0">
                <a:solidFill>
                  <a:schemeClr val="tx1"/>
                </a:solidFill>
                <a:effectLst/>
                <a:latin typeface="+mn-lt"/>
                <a:ea typeface="+mn-ea"/>
                <a:cs typeface="+mn-cs"/>
              </a:rPr>
              <a:t>IBM</a:t>
            </a:r>
            <a:r>
              <a:rPr lang="zh-CN" altLang="zh-CN" sz="1200" kern="1200" dirty="0" smtClean="0">
                <a:solidFill>
                  <a:schemeClr val="tx1"/>
                </a:solidFill>
                <a:effectLst/>
                <a:latin typeface="+mn-lt"/>
                <a:ea typeface="+mn-ea"/>
                <a:cs typeface="+mn-cs"/>
              </a:rPr>
              <a:t>的</a:t>
            </a:r>
            <a:r>
              <a:rPr lang="en-US" altLang="zh-CN" sz="1200" kern="1200" dirty="0" smtClean="0">
                <a:solidFill>
                  <a:schemeClr val="tx1"/>
                </a:solidFill>
                <a:effectLst/>
                <a:latin typeface="+mn-lt"/>
                <a:ea typeface="+mn-ea"/>
                <a:cs typeface="+mn-cs"/>
              </a:rPr>
              <a:t> T.J. Watson Research Center</a:t>
            </a:r>
            <a:r>
              <a:rPr lang="zh-CN" altLang="zh-CN" sz="1200" kern="1200" dirty="0" smtClean="0">
                <a:solidFill>
                  <a:schemeClr val="tx1"/>
                </a:solidFill>
                <a:effectLst/>
                <a:latin typeface="+mn-lt"/>
                <a:ea typeface="+mn-ea"/>
                <a:cs typeface="+mn-cs"/>
              </a:rPr>
              <a:t>于</a:t>
            </a:r>
            <a:r>
              <a:rPr lang="en-US" altLang="zh-CN" sz="1200" kern="1200" dirty="0" smtClean="0">
                <a:solidFill>
                  <a:schemeClr val="tx1"/>
                </a:solidFill>
                <a:effectLst/>
                <a:latin typeface="+mn-lt"/>
                <a:ea typeface="+mn-ea"/>
                <a:cs typeface="+mn-cs"/>
              </a:rPr>
              <a:t>1992</a:t>
            </a:r>
            <a:r>
              <a:rPr lang="zh-CN" altLang="zh-CN" sz="1200" kern="1200" dirty="0" smtClean="0">
                <a:solidFill>
                  <a:schemeClr val="tx1"/>
                </a:solidFill>
                <a:effectLst/>
                <a:latin typeface="+mn-lt"/>
                <a:ea typeface="+mn-ea"/>
                <a:cs typeface="+mn-cs"/>
              </a:rPr>
              <a:t>年提出了一种包含象征层（</a:t>
            </a:r>
            <a:r>
              <a:rPr lang="en-US" altLang="zh-CN" sz="1200" kern="1200" dirty="0" smtClean="0">
                <a:solidFill>
                  <a:schemeClr val="tx1"/>
                </a:solidFill>
                <a:effectLst/>
                <a:latin typeface="+mn-lt"/>
                <a:ea typeface="+mn-ea"/>
                <a:cs typeface="+mn-cs"/>
              </a:rPr>
              <a:t>Symbolic layer</a:t>
            </a:r>
            <a:r>
              <a:rPr lang="zh-CN" altLang="zh-CN" sz="1200" kern="1200" dirty="0" smtClean="0">
                <a:solidFill>
                  <a:schemeClr val="tx1"/>
                </a:solidFill>
                <a:effectLst/>
                <a:latin typeface="+mn-lt"/>
                <a:ea typeface="+mn-ea"/>
                <a:cs typeface="+mn-cs"/>
              </a:rPr>
              <a:t>）、包容层（</a:t>
            </a:r>
            <a:r>
              <a:rPr lang="en-US" altLang="zh-CN" sz="1200" kern="1200" dirty="0" err="1" smtClean="0">
                <a:solidFill>
                  <a:schemeClr val="tx1"/>
                </a:solidFill>
                <a:effectLst/>
                <a:latin typeface="+mn-lt"/>
                <a:ea typeface="+mn-ea"/>
                <a:cs typeface="+mn-cs"/>
              </a:rPr>
              <a:t>Subsumption</a:t>
            </a:r>
            <a:r>
              <a:rPr lang="en-US" altLang="zh-CN" sz="1200" kern="1200" dirty="0" smtClean="0">
                <a:solidFill>
                  <a:schemeClr val="tx1"/>
                </a:solidFill>
                <a:effectLst/>
                <a:latin typeface="+mn-lt"/>
                <a:ea typeface="+mn-ea"/>
                <a:cs typeface="+mn-cs"/>
              </a:rPr>
              <a:t> Layer</a:t>
            </a:r>
            <a:r>
              <a:rPr lang="zh-CN" altLang="zh-CN" sz="1200" kern="1200" dirty="0" smtClean="0">
                <a:solidFill>
                  <a:schemeClr val="tx1"/>
                </a:solidFill>
                <a:effectLst/>
                <a:latin typeface="+mn-lt"/>
                <a:ea typeface="+mn-ea"/>
                <a:cs typeface="+mn-cs"/>
              </a:rPr>
              <a:t>）以及伺服层（</a:t>
            </a:r>
            <a:r>
              <a:rPr lang="en-US" altLang="zh-CN" sz="1200" kern="1200" dirty="0" smtClean="0">
                <a:solidFill>
                  <a:schemeClr val="tx1"/>
                </a:solidFill>
                <a:effectLst/>
                <a:latin typeface="+mn-lt"/>
                <a:ea typeface="+mn-ea"/>
                <a:cs typeface="+mn-cs"/>
              </a:rPr>
              <a:t>Servo-control Layer</a:t>
            </a:r>
            <a:r>
              <a:rPr lang="zh-CN" altLang="zh-CN" sz="1200" kern="1200" dirty="0" smtClean="0">
                <a:solidFill>
                  <a:schemeClr val="tx1"/>
                </a:solidFill>
                <a:effectLst/>
                <a:latin typeface="+mn-lt"/>
                <a:ea typeface="+mn-ea"/>
                <a:cs typeface="+mn-cs"/>
              </a:rPr>
              <a:t>）的三层结构，如图</a:t>
            </a:r>
            <a:r>
              <a:rPr lang="en-US" altLang="zh-CN" sz="1200" kern="1200" dirty="0" smtClean="0">
                <a:solidFill>
                  <a:schemeClr val="tx1"/>
                </a:solidFill>
                <a:effectLst/>
                <a:latin typeface="+mn-lt"/>
                <a:ea typeface="+mn-ea"/>
                <a:cs typeface="+mn-cs"/>
              </a:rPr>
              <a:t>2.3</a:t>
            </a:r>
            <a:r>
              <a:rPr lang="zh-CN" altLang="zh-CN" sz="1200" kern="1200" dirty="0" smtClean="0">
                <a:solidFill>
                  <a:schemeClr val="tx1"/>
                </a:solidFill>
                <a:effectLst/>
                <a:latin typeface="+mn-lt"/>
                <a:ea typeface="+mn-ea"/>
                <a:cs typeface="+mn-cs"/>
              </a:rPr>
              <a:t>所示。加州理工学院喷气推进实验室于</a:t>
            </a:r>
            <a:r>
              <a:rPr lang="en-US" altLang="zh-CN" sz="1200" kern="1200" dirty="0" smtClean="0">
                <a:solidFill>
                  <a:schemeClr val="tx1"/>
                </a:solidFill>
                <a:effectLst/>
                <a:latin typeface="+mn-lt"/>
                <a:ea typeface="+mn-ea"/>
                <a:cs typeface="+mn-cs"/>
              </a:rPr>
              <a:t>1998</a:t>
            </a:r>
            <a:r>
              <a:rPr lang="zh-CN" altLang="zh-CN" sz="1200" kern="1200" dirty="0" smtClean="0">
                <a:solidFill>
                  <a:schemeClr val="tx1"/>
                </a:solidFill>
                <a:effectLst/>
                <a:latin typeface="+mn-lt"/>
                <a:ea typeface="+mn-ea"/>
                <a:cs typeface="+mn-cs"/>
              </a:rPr>
              <a:t>年提出了一种由反馈控制层、序列层和慎思层组成的三层结构。其信息流程也是从低层传感器开始，经过内外状态的形势评估、归纳，逐层向上，且在高层进行总体决策；高层接受总体任务，根据信息系统提供的信息进行规划，确定总体策略，形成宏观命令，再经协调级的规划设计，形成若干子命令和工作序列，分配给控制器加以执行。这些层次结构很好地保证了智能机器人在时间上对环境的准确把握，但是该类结构忽视了传感信息的融合、学习。</a:t>
            </a:r>
          </a:p>
          <a:p>
            <a:r>
              <a:rPr lang="zh-CN" altLang="zh-CN" sz="1200" kern="1200" dirty="0" smtClean="0">
                <a:solidFill>
                  <a:schemeClr val="tx1"/>
                </a:solidFill>
                <a:effectLst/>
                <a:latin typeface="+mn-lt"/>
                <a:ea typeface="+mn-ea"/>
                <a:cs typeface="+mn-cs"/>
              </a:rPr>
              <a:t>第三种有代表性的层次结构是</a:t>
            </a:r>
            <a:r>
              <a:rPr lang="en-US" altLang="zh-CN" sz="1200" kern="1200" dirty="0" smtClean="0">
                <a:solidFill>
                  <a:schemeClr val="tx1"/>
                </a:solidFill>
                <a:effectLst/>
                <a:latin typeface="+mn-lt"/>
                <a:ea typeface="+mn-ea"/>
                <a:cs typeface="+mn-cs"/>
              </a:rPr>
              <a:t>RAP(Reactive Action Packages)</a:t>
            </a:r>
            <a:r>
              <a:rPr lang="zh-CN" altLang="zh-CN" sz="1200" kern="1200" dirty="0" smtClean="0">
                <a:solidFill>
                  <a:schemeClr val="tx1"/>
                </a:solidFill>
                <a:effectLst/>
                <a:latin typeface="+mn-lt"/>
                <a:ea typeface="+mn-ea"/>
                <a:cs typeface="+mn-cs"/>
              </a:rPr>
              <a:t>结构。这种层次结构大致由规划、执行和控制三部分组成，其结构如图</a:t>
            </a:r>
            <a:r>
              <a:rPr lang="en-US" altLang="zh-CN" sz="1200" kern="1200" dirty="0" smtClean="0">
                <a:solidFill>
                  <a:schemeClr val="tx1"/>
                </a:solidFill>
                <a:effectLst/>
                <a:latin typeface="+mn-lt"/>
                <a:ea typeface="+mn-ea"/>
                <a:cs typeface="+mn-cs"/>
              </a:rPr>
              <a:t>2.4</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RAP</a:t>
            </a:r>
            <a:r>
              <a:rPr lang="zh-CN" altLang="zh-CN" sz="1200" kern="1200" dirty="0" smtClean="0">
                <a:solidFill>
                  <a:schemeClr val="tx1"/>
                </a:solidFill>
                <a:effectLst/>
                <a:latin typeface="+mn-lt"/>
                <a:ea typeface="+mn-ea"/>
                <a:cs typeface="+mn-cs"/>
              </a:rPr>
              <a:t>结构是耶鲁大学的</a:t>
            </a:r>
            <a:r>
              <a:rPr lang="en-US" altLang="zh-CN" sz="1200" kern="1200" dirty="0" smtClean="0">
                <a:solidFill>
                  <a:schemeClr val="tx1"/>
                </a:solidFill>
                <a:effectLst/>
                <a:latin typeface="+mn-lt"/>
                <a:ea typeface="+mn-ea"/>
                <a:cs typeface="+mn-cs"/>
              </a:rPr>
              <a:t>Robert James Firby</a:t>
            </a:r>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 1989</a:t>
            </a:r>
            <a:r>
              <a:rPr lang="zh-CN" altLang="zh-CN" sz="1200" kern="1200" dirty="0" smtClean="0">
                <a:solidFill>
                  <a:schemeClr val="tx1"/>
                </a:solidFill>
                <a:effectLst/>
                <a:latin typeface="+mn-lt"/>
                <a:ea typeface="+mn-ea"/>
                <a:cs typeface="+mn-cs"/>
              </a:rPr>
              <a:t>年提出来的智能机器人软件体系结构，该结构使用规划器将机器人的任务粗略的分解成任务序列，然后执行这些任务序列以完成目标。执行系统执行规划器提供的任务，并把这些任务进行细化，最后控制系统将这些任务翻译成低级的命令给执行器完成动作。当系统的任务执行失败的时候，系统将尝试候补的方法来完成任务，直到所有的方法都失败了，任务才会被系统放弃，这样使系统具有模块化、鲁棒性和柔性等特征。</a:t>
            </a:r>
          </a:p>
          <a:p>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1999</a:t>
            </a:r>
            <a:r>
              <a:rPr lang="zh-CN" altLang="zh-CN" sz="1200" kern="1200" dirty="0" smtClean="0">
                <a:solidFill>
                  <a:schemeClr val="tx1"/>
                </a:solidFill>
                <a:effectLst/>
                <a:latin typeface="+mn-lt"/>
                <a:ea typeface="+mn-ea"/>
                <a:cs typeface="+mn-cs"/>
              </a:rPr>
              <a:t>年，为了完成多机器人的控制协调，</a:t>
            </a:r>
            <a:r>
              <a:rPr lang="en-US" altLang="zh-CN" sz="1200" kern="1200" dirty="0" smtClean="0">
                <a:solidFill>
                  <a:schemeClr val="tx1"/>
                </a:solidFill>
                <a:effectLst/>
                <a:latin typeface="+mn-lt"/>
                <a:ea typeface="+mn-ea"/>
                <a:cs typeface="+mn-cs"/>
              </a:rPr>
              <a:t>Rooney</a:t>
            </a:r>
            <a:r>
              <a:rPr lang="zh-CN" altLang="zh-CN" sz="1200" kern="1200" dirty="0" smtClean="0">
                <a:solidFill>
                  <a:schemeClr val="tx1"/>
                </a:solidFill>
                <a:effectLst/>
                <a:latin typeface="+mn-lt"/>
                <a:ea typeface="+mn-ea"/>
                <a:cs typeface="+mn-cs"/>
              </a:rPr>
              <a:t>等人根据社会智能假说提出了由物理层、反应层、慎思层和社会层构成的社会机器人软件体系结构（</a:t>
            </a:r>
            <a:r>
              <a:rPr lang="en-US" altLang="zh-CN" sz="1200" kern="1200" dirty="0" smtClean="0">
                <a:solidFill>
                  <a:schemeClr val="tx1"/>
                </a:solidFill>
                <a:effectLst/>
                <a:latin typeface="+mn-lt"/>
                <a:ea typeface="+mn-ea"/>
                <a:cs typeface="+mn-cs"/>
              </a:rPr>
              <a:t>Social Robot Architecture</a:t>
            </a:r>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2.5</a:t>
            </a:r>
            <a:r>
              <a:rPr lang="zh-CN" altLang="zh-CN" sz="1200" kern="1200" dirty="0" smtClean="0">
                <a:solidFill>
                  <a:schemeClr val="tx1"/>
                </a:solidFill>
                <a:effectLst/>
                <a:latin typeface="+mn-lt"/>
                <a:ea typeface="+mn-ea"/>
                <a:cs typeface="+mn-cs"/>
              </a:rPr>
              <a:t>所示。社会机器人结构是基于三层结构发展而来的，它把原有的三层结构重新细化，并加入了多传感融合系统，同时为了智能体间的交互加入了社会层。物理层指机器人本体，主要包含电机和传感器等部件；反应层定义了一系列的基本动作，当慎思层传来动作命令时将会把动作解析为相应的动作序列，并转化为控制信号传给电机，同时也把传感信息转化为智能体事件传给慎思层。慎思层负责对智能体的意识属性进行维护，依据环境状态的变化和动作执行的结果及时调整自身的信念和愿望，以激发做出新的承诺生成新的意图。社会层负责与其他智能体进行协调、协作，并通过对自身和外界的共同意图进行融合，形成智能体消息传给慎思层。其特色在于</a:t>
            </a:r>
            <a:r>
              <a:rPr lang="en-US" altLang="zh-CN" sz="1200" kern="1200" dirty="0" smtClean="0">
                <a:solidFill>
                  <a:schemeClr val="tx1"/>
                </a:solidFill>
                <a:effectLst/>
                <a:latin typeface="+mn-lt"/>
                <a:ea typeface="+mn-ea"/>
                <a:cs typeface="+mn-cs"/>
              </a:rPr>
              <a:t>BDI</a:t>
            </a:r>
            <a:r>
              <a:rPr lang="zh-CN" altLang="zh-CN" sz="1200" kern="1200" dirty="0" smtClean="0">
                <a:solidFill>
                  <a:schemeClr val="tx1"/>
                </a:solidFill>
                <a:effectLst/>
                <a:latin typeface="+mn-lt"/>
                <a:ea typeface="+mn-ea"/>
                <a:cs typeface="+mn-cs"/>
              </a:rPr>
              <a:t>（信念</a:t>
            </a:r>
            <a:r>
              <a:rPr lang="en-US" altLang="zh-CN" sz="1200" kern="1200" dirty="0" smtClean="0">
                <a:solidFill>
                  <a:schemeClr val="tx1"/>
                </a:solidFill>
                <a:effectLst/>
                <a:latin typeface="+mn-lt"/>
                <a:ea typeface="+mn-ea"/>
                <a:cs typeface="+mn-cs"/>
              </a:rPr>
              <a:t>Belief</a:t>
            </a:r>
            <a:r>
              <a:rPr lang="zh-CN" altLang="zh-CN" sz="1200" kern="1200" dirty="0" smtClean="0">
                <a:solidFill>
                  <a:schemeClr val="tx1"/>
                </a:solidFill>
                <a:effectLst/>
                <a:latin typeface="+mn-lt"/>
                <a:ea typeface="+mn-ea"/>
                <a:cs typeface="+mn-cs"/>
              </a:rPr>
              <a:t>、愿望</a:t>
            </a:r>
            <a:r>
              <a:rPr lang="en-US" altLang="zh-CN" sz="1200" kern="1200" dirty="0" smtClean="0">
                <a:solidFill>
                  <a:schemeClr val="tx1"/>
                </a:solidFill>
                <a:effectLst/>
                <a:latin typeface="+mn-lt"/>
                <a:ea typeface="+mn-ea"/>
                <a:cs typeface="+mn-cs"/>
              </a:rPr>
              <a:t>Desire</a:t>
            </a:r>
            <a:r>
              <a:rPr lang="zh-CN" altLang="zh-CN" sz="1200" kern="1200" dirty="0" smtClean="0">
                <a:solidFill>
                  <a:schemeClr val="tx1"/>
                </a:solidFill>
                <a:effectLst/>
                <a:latin typeface="+mn-lt"/>
                <a:ea typeface="+mn-ea"/>
                <a:cs typeface="+mn-cs"/>
              </a:rPr>
              <a:t>、意图</a:t>
            </a:r>
            <a:r>
              <a:rPr lang="en-US" altLang="zh-CN" sz="1200" kern="1200" dirty="0" smtClean="0">
                <a:solidFill>
                  <a:schemeClr val="tx1"/>
                </a:solidFill>
                <a:effectLst/>
                <a:latin typeface="+mn-lt"/>
                <a:ea typeface="+mn-ea"/>
                <a:cs typeface="+mn-cs"/>
              </a:rPr>
              <a:t>Intention</a:t>
            </a:r>
            <a:r>
              <a:rPr lang="zh-CN" altLang="zh-CN" sz="1200" kern="1200" dirty="0" smtClean="0">
                <a:solidFill>
                  <a:schemeClr val="tx1"/>
                </a:solidFill>
                <a:effectLst/>
                <a:latin typeface="+mn-lt"/>
                <a:ea typeface="+mn-ea"/>
                <a:cs typeface="+mn-cs"/>
              </a:rPr>
              <a:t>）模型的慎思层和基于智能体通讯语言</a:t>
            </a:r>
            <a:r>
              <a:rPr lang="en-US" altLang="zh-CN" sz="1200" kern="1200" dirty="0" err="1" smtClean="0">
                <a:solidFill>
                  <a:schemeClr val="tx1"/>
                </a:solidFill>
                <a:effectLst/>
                <a:latin typeface="+mn-lt"/>
                <a:ea typeface="+mn-ea"/>
                <a:cs typeface="+mn-cs"/>
              </a:rPr>
              <a:t>Teanga</a:t>
            </a:r>
            <a:r>
              <a:rPr lang="zh-CN" altLang="zh-CN" sz="1200" kern="1200" dirty="0" smtClean="0">
                <a:solidFill>
                  <a:schemeClr val="tx1"/>
                </a:solidFill>
                <a:effectLst/>
                <a:latin typeface="+mn-lt"/>
                <a:ea typeface="+mn-ea"/>
                <a:cs typeface="+mn-cs"/>
              </a:rPr>
              <a:t>的社会层，</a:t>
            </a:r>
            <a:r>
              <a:rPr lang="en-US" altLang="zh-CN" sz="1200" kern="1200" dirty="0" smtClean="0">
                <a:solidFill>
                  <a:schemeClr val="tx1"/>
                </a:solidFill>
                <a:effectLst/>
                <a:latin typeface="+mn-lt"/>
                <a:ea typeface="+mn-ea"/>
                <a:cs typeface="+mn-cs"/>
              </a:rPr>
              <a:t>BDI</a:t>
            </a:r>
            <a:r>
              <a:rPr lang="zh-CN" altLang="zh-CN" sz="1200" kern="1200" dirty="0" smtClean="0">
                <a:solidFill>
                  <a:schemeClr val="tx1"/>
                </a:solidFill>
                <a:effectLst/>
                <a:latin typeface="+mn-lt"/>
                <a:ea typeface="+mn-ea"/>
                <a:cs typeface="+mn-cs"/>
              </a:rPr>
              <a:t>模型赋予了机器人心智状态，</a:t>
            </a:r>
            <a:r>
              <a:rPr lang="en-US" altLang="zh-CN" sz="1200" kern="1200" dirty="0" err="1" smtClean="0">
                <a:solidFill>
                  <a:schemeClr val="tx1"/>
                </a:solidFill>
                <a:effectLst/>
                <a:latin typeface="+mn-lt"/>
                <a:ea typeface="+mn-ea"/>
                <a:cs typeface="+mn-cs"/>
              </a:rPr>
              <a:t>Teanga</a:t>
            </a:r>
            <a:r>
              <a:rPr lang="zh-CN" altLang="zh-CN" sz="1200" kern="1200" dirty="0" smtClean="0">
                <a:solidFill>
                  <a:schemeClr val="tx1"/>
                </a:solidFill>
                <a:effectLst/>
                <a:latin typeface="+mn-lt"/>
                <a:ea typeface="+mn-ea"/>
                <a:cs typeface="+mn-cs"/>
              </a:rPr>
              <a:t>赋予了机器人社会交互能力。社会机器人结构采用社会智能对机器人建模，能很好的描述智能机器人的智能、行为、信息、控制的时空分布模式，引入智能体理论可以对机器人的智能本质进行更细致的刻画，对机器人的社会特性进行更好的封装。</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通过对移动机器人的计算需求进行分析，</a:t>
            </a:r>
            <a:r>
              <a:rPr lang="en-US" altLang="zh-CN" sz="1200" kern="1200" dirty="0" smtClean="0">
                <a:solidFill>
                  <a:schemeClr val="tx1"/>
                </a:solidFill>
                <a:effectLst/>
                <a:latin typeface="+mn-lt"/>
                <a:ea typeface="+mn-ea"/>
                <a:cs typeface="+mn-cs"/>
              </a:rPr>
              <a:t>Brooks</a:t>
            </a:r>
            <a:r>
              <a:rPr lang="zh-CN" altLang="zh-CN" sz="1200" kern="1200" dirty="0" smtClean="0">
                <a:solidFill>
                  <a:schemeClr val="tx1"/>
                </a:solidFill>
                <a:effectLst/>
                <a:latin typeface="+mn-lt"/>
                <a:ea typeface="+mn-ea"/>
                <a:cs typeface="+mn-cs"/>
              </a:rPr>
              <a:t>等人提出了一种基于行为分解的控制结构，从行为角度将控制问题分解为一系列并行排列的</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层</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2.6</a:t>
            </a:r>
            <a:r>
              <a:rPr lang="zh-CN" altLang="zh-CN" sz="1200" kern="1200" dirty="0" smtClean="0">
                <a:solidFill>
                  <a:schemeClr val="tx1"/>
                </a:solidFill>
                <a:effectLst/>
                <a:latin typeface="+mn-lt"/>
                <a:ea typeface="+mn-ea"/>
                <a:cs typeface="+mn-cs"/>
              </a:rPr>
              <a:t>所示。这种分解方式将控制系统分解成一组能单独对机器人进行控制的子系统，每一个子系统都能完成特定的功能。在最初的研究中，</a:t>
            </a:r>
            <a:r>
              <a:rPr lang="en-US" altLang="zh-CN" sz="1200" kern="1200" dirty="0" smtClean="0">
                <a:solidFill>
                  <a:schemeClr val="tx1"/>
                </a:solidFill>
                <a:effectLst/>
                <a:latin typeface="+mn-lt"/>
                <a:ea typeface="+mn-ea"/>
                <a:cs typeface="+mn-cs"/>
              </a:rPr>
              <a:t>Brooks</a:t>
            </a:r>
            <a:r>
              <a:rPr lang="zh-CN" altLang="zh-CN" sz="1200" kern="1200" dirty="0" smtClean="0">
                <a:solidFill>
                  <a:schemeClr val="tx1"/>
                </a:solidFill>
                <a:effectLst/>
                <a:latin typeface="+mn-lt"/>
                <a:ea typeface="+mn-ea"/>
                <a:cs typeface="+mn-cs"/>
              </a:rPr>
              <a:t>将一个机器人系统从下到上共分为</a:t>
            </a:r>
            <a:r>
              <a:rPr lang="en-US" altLang="zh-CN" sz="1200" kern="1200" dirty="0" smtClean="0">
                <a:solidFill>
                  <a:schemeClr val="tx1"/>
                </a:solidFill>
                <a:effectLst/>
                <a:latin typeface="+mn-lt"/>
                <a:ea typeface="+mn-ea"/>
                <a:cs typeface="+mn-cs"/>
              </a:rPr>
              <a:t>8</a:t>
            </a:r>
            <a:r>
              <a:rPr lang="zh-CN" altLang="zh-CN" sz="1200" kern="1200" dirty="0" smtClean="0">
                <a:solidFill>
                  <a:schemeClr val="tx1"/>
                </a:solidFill>
                <a:effectLst/>
                <a:latin typeface="+mn-lt"/>
                <a:ea typeface="+mn-ea"/>
                <a:cs typeface="+mn-cs"/>
              </a:rPr>
              <a:t>层，标号为</a:t>
            </a:r>
            <a:r>
              <a:rPr lang="en-US" altLang="zh-CN" sz="1200" kern="1200" dirty="0" smtClean="0">
                <a:solidFill>
                  <a:schemeClr val="tx1"/>
                </a:solidFill>
                <a:effectLst/>
                <a:latin typeface="+mn-lt"/>
                <a:ea typeface="+mn-ea"/>
                <a:cs typeface="+mn-cs"/>
              </a:rPr>
              <a:t>0-7</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避障</a:t>
            </a:r>
            <a:r>
              <a:rPr lang="en-US" altLang="zh-CN" sz="1200" kern="1200" dirty="0" smtClean="0">
                <a:solidFill>
                  <a:schemeClr val="tx1"/>
                </a:solidFill>
                <a:effectLst/>
                <a:latin typeface="+mn-lt"/>
                <a:ea typeface="+mn-ea"/>
                <a:cs typeface="+mn-cs"/>
              </a:rPr>
              <a:t>(Avoid Objects)</a:t>
            </a:r>
            <a:r>
              <a:rPr lang="zh-CN" altLang="zh-CN" sz="1200" kern="1200" dirty="0" smtClean="0">
                <a:solidFill>
                  <a:schemeClr val="tx1"/>
                </a:solidFill>
                <a:effectLst/>
                <a:latin typeface="+mn-lt"/>
                <a:ea typeface="+mn-ea"/>
                <a:cs typeface="+mn-cs"/>
              </a:rPr>
              <a:t>：障碍物可以是动态的或者静止的；</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无碰撞的随机漫游</a:t>
            </a:r>
            <a:r>
              <a:rPr lang="en-US" altLang="zh-CN" sz="1200" kern="1200" dirty="0" smtClean="0">
                <a:solidFill>
                  <a:schemeClr val="tx1"/>
                </a:solidFill>
                <a:effectLst/>
                <a:latin typeface="+mn-lt"/>
                <a:ea typeface="+mn-ea"/>
                <a:cs typeface="+mn-cs"/>
              </a:rPr>
              <a:t>(Wander)</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探测</a:t>
            </a:r>
            <a:r>
              <a:rPr lang="en-US" altLang="zh-CN" sz="1200" kern="1200" dirty="0" smtClean="0">
                <a:solidFill>
                  <a:schemeClr val="tx1"/>
                </a:solidFill>
                <a:effectLst/>
                <a:latin typeface="+mn-lt"/>
                <a:ea typeface="+mn-ea"/>
                <a:cs typeface="+mn-cs"/>
              </a:rPr>
              <a:t>(Explore)</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建立环境模型</a:t>
            </a:r>
            <a:r>
              <a:rPr lang="en-US" altLang="zh-CN" sz="1200" kern="1200" dirty="0" smtClean="0">
                <a:solidFill>
                  <a:schemeClr val="tx1"/>
                </a:solidFill>
                <a:effectLst/>
                <a:latin typeface="+mn-lt"/>
                <a:ea typeface="+mn-ea"/>
                <a:cs typeface="+mn-cs"/>
              </a:rPr>
              <a:t>(Build Maps)</a:t>
            </a:r>
            <a:r>
              <a:rPr lang="zh-CN" altLang="zh-CN" sz="1200" kern="1200" dirty="0" smtClean="0">
                <a:solidFill>
                  <a:schemeClr val="tx1"/>
                </a:solidFill>
                <a:effectLst/>
                <a:latin typeface="+mn-lt"/>
                <a:ea typeface="+mn-ea"/>
                <a:cs typeface="+mn-cs"/>
              </a:rPr>
              <a:t>，对目的地进行路径规划；</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监测</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静态</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环境中的动态变化</a:t>
            </a:r>
            <a:r>
              <a:rPr lang="en-US" altLang="zh-CN" sz="1200" kern="1200" dirty="0" smtClean="0">
                <a:solidFill>
                  <a:schemeClr val="tx1"/>
                </a:solidFill>
                <a:effectLst/>
                <a:latin typeface="+mn-lt"/>
                <a:ea typeface="+mn-ea"/>
                <a:cs typeface="+mn-cs"/>
              </a:rPr>
              <a:t>(Monitor Changes)</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 6)</a:t>
            </a:r>
            <a:r>
              <a:rPr lang="zh-CN" altLang="zh-CN" sz="1200" kern="1200" dirty="0" smtClean="0">
                <a:solidFill>
                  <a:schemeClr val="tx1"/>
                </a:solidFill>
                <a:effectLst/>
                <a:latin typeface="+mn-lt"/>
                <a:ea typeface="+mn-ea"/>
                <a:cs typeface="+mn-cs"/>
              </a:rPr>
              <a:t>对目标任务进行逻辑推理</a:t>
            </a:r>
            <a:r>
              <a:rPr lang="en-US" altLang="zh-CN" sz="1200" kern="1200" dirty="0" smtClean="0">
                <a:solidFill>
                  <a:schemeClr val="tx1"/>
                </a:solidFill>
                <a:effectLst/>
                <a:latin typeface="+mn-lt"/>
                <a:ea typeface="+mn-ea"/>
                <a:cs typeface="+mn-cs"/>
              </a:rPr>
              <a:t>(Identify Objects)</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7)</a:t>
            </a:r>
            <a:r>
              <a:rPr lang="zh-CN" altLang="zh-CN" sz="1200" kern="1200" dirty="0" smtClean="0">
                <a:solidFill>
                  <a:schemeClr val="tx1"/>
                </a:solidFill>
                <a:effectLst/>
                <a:latin typeface="+mn-lt"/>
                <a:ea typeface="+mn-ea"/>
                <a:cs typeface="+mn-cs"/>
              </a:rPr>
              <a:t>通过适当的方法执行任务</a:t>
            </a:r>
            <a:r>
              <a:rPr lang="en-US" altLang="zh-CN" sz="1200" kern="1200" dirty="0" smtClean="0">
                <a:solidFill>
                  <a:schemeClr val="tx1"/>
                </a:solidFill>
                <a:effectLst/>
                <a:latin typeface="+mn-lt"/>
                <a:ea typeface="+mn-ea"/>
                <a:cs typeface="+mn-cs"/>
              </a:rPr>
              <a:t>(Plan to Change the World)</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8)</a:t>
            </a:r>
            <a:r>
              <a:rPr lang="zh-CN" altLang="zh-CN" sz="1200" kern="1200" dirty="0" smtClean="0">
                <a:solidFill>
                  <a:schemeClr val="tx1"/>
                </a:solidFill>
                <a:effectLst/>
                <a:latin typeface="+mn-lt"/>
                <a:ea typeface="+mn-ea"/>
                <a:cs typeface="+mn-cs"/>
              </a:rPr>
              <a:t>行为推理和规划</a:t>
            </a:r>
            <a:r>
              <a:rPr lang="en-US" altLang="zh-CN" sz="1200" kern="1200" dirty="0" smtClean="0">
                <a:solidFill>
                  <a:schemeClr val="tx1"/>
                </a:solidFill>
                <a:effectLst/>
                <a:latin typeface="+mn-lt"/>
                <a:ea typeface="+mn-ea"/>
                <a:cs typeface="+mn-cs"/>
              </a:rPr>
              <a:t>(Reason about Behavior of Objects)</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包容结构将系统的控制分布在一系列异步或并行处理的行为层中，每一个行为层只关注问题的一个方面。包容结构的所有信息流都是单向的从传感器到执行器，层级代表了该层行为的控制优先级。层次间存在密切联系，通过</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硬</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控制的方法，上层行为可以包含下层行为，对下层行为的输出产生抑制作用。</a:t>
            </a:r>
          </a:p>
          <a:p>
            <a:r>
              <a:rPr lang="en-US" altLang="zh-CN" sz="1200" kern="1200" dirty="0" smtClean="0">
                <a:solidFill>
                  <a:schemeClr val="tx1"/>
                </a:solidFill>
                <a:effectLst/>
                <a:latin typeface="+mn-lt"/>
                <a:ea typeface="+mn-ea"/>
                <a:cs typeface="+mn-cs"/>
              </a:rPr>
              <a:t>Brooks</a:t>
            </a:r>
            <a:r>
              <a:rPr lang="zh-CN" altLang="zh-CN" sz="1200" kern="1200" dirty="0" smtClean="0">
                <a:solidFill>
                  <a:schemeClr val="tx1"/>
                </a:solidFill>
                <a:effectLst/>
                <a:latin typeface="+mn-lt"/>
                <a:ea typeface="+mn-ea"/>
                <a:cs typeface="+mn-cs"/>
              </a:rPr>
              <a:t>认为，对一个机器人控制系统来说，它必须能同时满足多个任务，甚至是多个相互冲突的任务要求。有关这一点，在包容结构中是通过级别高的命令完全覆盖级别低的控制命令来实现的。执行机构不需要知道是哪一层控制机器人，而且主导机器人运动的控制层也不需知道被包容层的信息，这在很大程度上降低了机器人完成复杂任务的难度。但其也有弊端，具体体现在：</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在选择控制命令时，为了做出一个最合适的决定，需要权衡许多因素。有时，一种级别高的行为抑制另一种级别低的行为是不恰当的，它可能完全丢失被抑制层的信息。例如，第</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层决定控制机器人，那么第</a:t>
            </a:r>
            <a:r>
              <a:rPr lang="en-US" altLang="zh-CN" sz="1200" kern="1200" dirty="0" smtClean="0">
                <a:solidFill>
                  <a:schemeClr val="tx1"/>
                </a:solidFill>
                <a:effectLst/>
                <a:latin typeface="+mn-lt"/>
                <a:ea typeface="+mn-ea"/>
                <a:cs typeface="+mn-cs"/>
              </a:rPr>
              <a:t>0</a:t>
            </a:r>
            <a:r>
              <a:rPr lang="zh-CN" altLang="zh-CN" sz="1200" kern="1200" dirty="0" smtClean="0">
                <a:solidFill>
                  <a:schemeClr val="tx1"/>
                </a:solidFill>
                <a:effectLst/>
                <a:latin typeface="+mn-lt"/>
                <a:ea typeface="+mn-ea"/>
                <a:cs typeface="+mn-cs"/>
              </a:rPr>
              <a:t>层就不能抵抗，而第</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层有避障的功能，第</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层却没有。为了解决这一问题，就要求每一层必须能执行所有比它低的层的功能。这就使得更高行为层的设计变得越来越复杂。</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包容结构将行为封装在一系列有限状态机中，使得当前的控制层无法获得其它层的状态信息。每一层行为的设计者都是相互独立的，可能对其他层的信息一无所知，也不可能预测到这些层与当前层的关系。因此，每一次增加新的行为层，都需要对原有的层级做出相应的调整。</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包容结构提高了系统的响应速度，但它的行为设计还是比较简单的，缺乏必要的推理和协商能力。一般对于一些简单的任务能够获得令人满意的结果，但对于复杂的动态任务，缺乏必要的规划能力。</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1997</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Rosenblatt</a:t>
            </a:r>
            <a:r>
              <a:rPr lang="zh-CN" altLang="zh-CN" sz="1200" kern="1200" dirty="0" smtClean="0">
                <a:solidFill>
                  <a:schemeClr val="tx1"/>
                </a:solidFill>
                <a:effectLst/>
                <a:latin typeface="+mn-lt"/>
                <a:ea typeface="+mn-ea"/>
                <a:cs typeface="+mn-cs"/>
              </a:rPr>
              <a:t>在移动机器人导航中提出了</a:t>
            </a:r>
            <a:r>
              <a:rPr lang="en-US" altLang="zh-CN" sz="1200" kern="1200" dirty="0" smtClean="0">
                <a:solidFill>
                  <a:schemeClr val="tx1"/>
                </a:solidFill>
                <a:effectLst/>
                <a:latin typeface="+mn-lt"/>
                <a:ea typeface="+mn-ea"/>
                <a:cs typeface="+mn-cs"/>
              </a:rPr>
              <a:t>DAMN(Distributed Architecture for Mobile Navigation)</a:t>
            </a:r>
            <a:r>
              <a:rPr lang="zh-CN" altLang="zh-CN" sz="1200" kern="1200" dirty="0" smtClean="0">
                <a:solidFill>
                  <a:schemeClr val="tx1"/>
                </a:solidFill>
                <a:effectLst/>
                <a:latin typeface="+mn-lt"/>
                <a:ea typeface="+mn-ea"/>
                <a:cs typeface="+mn-cs"/>
              </a:rPr>
              <a:t>结构。它由一组分布式行为模块和集中命令仲裁器、模式管理器、控制器等组成。</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2.7</a:t>
            </a:r>
            <a:r>
              <a:rPr lang="zh-CN" altLang="zh-CN" sz="1200" kern="1200" dirty="0" smtClean="0">
                <a:solidFill>
                  <a:schemeClr val="tx1"/>
                </a:solidFill>
                <a:effectLst/>
                <a:latin typeface="+mn-lt"/>
                <a:ea typeface="+mn-ea"/>
                <a:cs typeface="+mn-cs"/>
              </a:rPr>
              <a:t>显示了</a:t>
            </a:r>
            <a:r>
              <a:rPr lang="en-US" altLang="zh-CN" sz="1200" kern="1200" dirty="0" smtClean="0">
                <a:solidFill>
                  <a:schemeClr val="tx1"/>
                </a:solidFill>
                <a:effectLst/>
                <a:latin typeface="+mn-lt"/>
                <a:ea typeface="+mn-ea"/>
                <a:cs typeface="+mn-cs"/>
              </a:rPr>
              <a:t>DAMN</a:t>
            </a:r>
            <a:r>
              <a:rPr lang="zh-CN" altLang="zh-CN" sz="1200" kern="1200" dirty="0" smtClean="0">
                <a:solidFill>
                  <a:schemeClr val="tx1"/>
                </a:solidFill>
                <a:effectLst/>
                <a:latin typeface="+mn-lt"/>
                <a:ea typeface="+mn-ea"/>
                <a:cs typeface="+mn-cs"/>
              </a:rPr>
              <a:t>的组织结构，在该机器人结构中，底层有许多行为模块组成，每个行为模块都对应了机器人控制的某一方面，或是为了完成某一特定的任务，各行为可并行发生。当系统运行时，机器人的行为模块，例如轨迹跟踪、避障等，将自己的投票发送到命令仲裁模块进行投票仲裁。该模块把所有投票融合起来产生最终的结果命令，并将该命令发送至机器人的控制器。每个行为模块被分配了一个权值来反映它在相应环境中的执行优先级，命令仲裁器则根据这些权值来融合各行为模块发来的投票。同时，存在一个模式管理器与命令仲裁器相连，模式管理器可以根据不同的给定环境，不同的任务来改变权值，进而来改变命令仲裁器的决定。</a:t>
            </a:r>
          </a:p>
          <a:p>
            <a:r>
              <a:rPr lang="en-US" altLang="zh-CN" sz="1200" kern="1200" dirty="0" smtClean="0">
                <a:solidFill>
                  <a:schemeClr val="tx1"/>
                </a:solidFill>
                <a:effectLst/>
                <a:latin typeface="+mn-lt"/>
                <a:ea typeface="+mn-ea"/>
                <a:cs typeface="+mn-cs"/>
              </a:rPr>
              <a:t>DAMN</a:t>
            </a:r>
            <a:r>
              <a:rPr lang="zh-CN" altLang="zh-CN" sz="1200" kern="1200" dirty="0" smtClean="0">
                <a:solidFill>
                  <a:schemeClr val="tx1"/>
                </a:solidFill>
                <a:effectLst/>
                <a:latin typeface="+mn-lt"/>
                <a:ea typeface="+mn-ea"/>
                <a:cs typeface="+mn-cs"/>
              </a:rPr>
              <a:t>组织结构在不同的任务、环境状态下，各行为模块会表现出不同的输入输出关系，即通过分布式投票、集中仲裁且动态改变权值的方式实现变构，从而使</a:t>
            </a:r>
            <a:r>
              <a:rPr lang="en-US" altLang="zh-CN" sz="1200" kern="1200" dirty="0" smtClean="0">
                <a:solidFill>
                  <a:schemeClr val="tx1"/>
                </a:solidFill>
                <a:effectLst/>
                <a:latin typeface="+mn-lt"/>
                <a:ea typeface="+mn-ea"/>
                <a:cs typeface="+mn-cs"/>
              </a:rPr>
              <a:t>DAMN</a:t>
            </a:r>
            <a:r>
              <a:rPr lang="zh-CN" altLang="zh-CN" sz="1200" kern="1200" dirty="0" smtClean="0">
                <a:solidFill>
                  <a:schemeClr val="tx1"/>
                </a:solidFill>
                <a:effectLst/>
                <a:latin typeface="+mn-lt"/>
                <a:ea typeface="+mn-ea"/>
                <a:cs typeface="+mn-cs"/>
              </a:rPr>
              <a:t>结构表现出自组织能力。该结构突破了传统结构中行为控制模块的固定框架，具有良好的可扩充和自适应、自组织性能。但由于信息多集中于命令仲裁器部分，随着行为模块的不断增多，容易造成信息的堵塞，所以该结构中还需要设计较为细致的命令融合处理函数。</a:t>
            </a:r>
          </a:p>
          <a:p>
            <a:r>
              <a:rPr lang="en-US" altLang="zh-CN" sz="1200" kern="1200" dirty="0" smtClean="0">
                <a:solidFill>
                  <a:schemeClr val="tx1"/>
                </a:solidFill>
                <a:effectLst/>
                <a:latin typeface="+mn-lt"/>
                <a:ea typeface="+mn-ea"/>
                <a:cs typeface="+mn-cs"/>
              </a:rPr>
              <a:t>1998</a:t>
            </a:r>
            <a:r>
              <a:rPr lang="zh-CN" altLang="zh-CN" sz="1200" kern="1200" dirty="0" smtClean="0">
                <a:solidFill>
                  <a:schemeClr val="tx1"/>
                </a:solidFill>
                <a:effectLst/>
                <a:latin typeface="+mn-lt"/>
                <a:ea typeface="+mn-ea"/>
                <a:cs typeface="+mn-cs"/>
              </a:rPr>
              <a:t>年，</a:t>
            </a:r>
            <a:r>
              <a:rPr lang="en-US" altLang="zh-CN" sz="1200" kern="1200" dirty="0" err="1" smtClean="0">
                <a:solidFill>
                  <a:schemeClr val="tx1"/>
                </a:solidFill>
                <a:effectLst/>
                <a:latin typeface="+mn-lt"/>
                <a:ea typeface="+mn-ea"/>
                <a:cs typeface="+mn-cs"/>
              </a:rPr>
              <a:t>Piaggio</a:t>
            </a:r>
            <a:r>
              <a:rPr lang="zh-CN" altLang="zh-CN" sz="1200" kern="1200" dirty="0" smtClean="0">
                <a:solidFill>
                  <a:schemeClr val="tx1"/>
                </a:solidFill>
                <a:effectLst/>
                <a:latin typeface="+mn-lt"/>
                <a:ea typeface="+mn-ea"/>
                <a:cs typeface="+mn-cs"/>
              </a:rPr>
              <a:t>提出一种称为</a:t>
            </a:r>
            <a:r>
              <a:rPr lang="en-US" altLang="zh-CN" sz="1200" kern="1200" dirty="0" smtClean="0">
                <a:solidFill>
                  <a:schemeClr val="tx1"/>
                </a:solidFill>
                <a:effectLst/>
                <a:latin typeface="+mn-lt"/>
                <a:ea typeface="+mn-ea"/>
                <a:cs typeface="+mn-cs"/>
              </a:rPr>
              <a:t>HEIR</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Hybrid Experts in Intelligent Robots</a:t>
            </a:r>
            <a:r>
              <a:rPr lang="zh-CN" altLang="zh-CN" sz="1200" kern="1200" dirty="0" smtClean="0">
                <a:solidFill>
                  <a:schemeClr val="tx1"/>
                </a:solidFill>
                <a:effectLst/>
                <a:latin typeface="+mn-lt"/>
                <a:ea typeface="+mn-ea"/>
                <a:cs typeface="+mn-cs"/>
              </a:rPr>
              <a:t>）的非层次结构，如图</a:t>
            </a:r>
            <a:r>
              <a:rPr lang="en-US" altLang="zh-CN" sz="1200" kern="1200" dirty="0" smtClean="0">
                <a:solidFill>
                  <a:schemeClr val="tx1"/>
                </a:solidFill>
                <a:effectLst/>
                <a:latin typeface="+mn-lt"/>
                <a:ea typeface="+mn-ea"/>
                <a:cs typeface="+mn-cs"/>
              </a:rPr>
              <a:t>2.8</a:t>
            </a:r>
            <a:r>
              <a:rPr lang="zh-CN" altLang="zh-CN" sz="1200" kern="1200" dirty="0" smtClean="0">
                <a:solidFill>
                  <a:schemeClr val="tx1"/>
                </a:solidFill>
                <a:effectLst/>
                <a:latin typeface="+mn-lt"/>
                <a:ea typeface="+mn-ea"/>
                <a:cs typeface="+mn-cs"/>
              </a:rPr>
              <a:t>所示。这种非层次结构由处理不同类型知识的三个部分组成：符号组件（</a:t>
            </a:r>
            <a:r>
              <a:rPr lang="en-US" altLang="zh-CN" sz="1200" kern="1200" dirty="0" smtClean="0">
                <a:solidFill>
                  <a:schemeClr val="tx1"/>
                </a:solidFill>
                <a:effectLst/>
                <a:latin typeface="+mn-lt"/>
                <a:ea typeface="+mn-ea"/>
                <a:cs typeface="+mn-cs"/>
              </a:rPr>
              <a:t>S</a:t>
            </a:r>
            <a:r>
              <a:rPr lang="zh-CN" altLang="zh-CN" sz="1200" kern="1200" dirty="0" smtClean="0">
                <a:solidFill>
                  <a:schemeClr val="tx1"/>
                </a:solidFill>
                <a:effectLst/>
                <a:latin typeface="+mn-lt"/>
                <a:ea typeface="+mn-ea"/>
                <a:cs typeface="+mn-cs"/>
              </a:rPr>
              <a:t>）、图解组件（</a:t>
            </a:r>
            <a:r>
              <a:rPr lang="en-US" altLang="zh-CN" sz="1200" kern="1200" dirty="0" smtClean="0">
                <a:solidFill>
                  <a:schemeClr val="tx1"/>
                </a:solidFill>
                <a:effectLst/>
                <a:latin typeface="+mn-lt"/>
                <a:ea typeface="+mn-ea"/>
                <a:cs typeface="+mn-cs"/>
              </a:rPr>
              <a:t>D</a:t>
            </a:r>
            <a:r>
              <a:rPr lang="zh-CN" altLang="zh-CN" sz="1200" kern="1200" dirty="0" smtClean="0">
                <a:solidFill>
                  <a:schemeClr val="tx1"/>
                </a:solidFill>
                <a:effectLst/>
                <a:latin typeface="+mn-lt"/>
                <a:ea typeface="+mn-ea"/>
                <a:cs typeface="+mn-cs"/>
              </a:rPr>
              <a:t>）和反应组件（</a:t>
            </a:r>
            <a:r>
              <a:rPr lang="en-US" altLang="zh-CN" sz="1200" kern="1200" dirty="0" smtClean="0">
                <a:solidFill>
                  <a:schemeClr val="tx1"/>
                </a:solidFill>
                <a:effectLst/>
                <a:latin typeface="+mn-lt"/>
                <a:ea typeface="+mn-ea"/>
                <a:cs typeface="+mn-cs"/>
              </a:rPr>
              <a:t>R</a:t>
            </a:r>
            <a:r>
              <a:rPr lang="zh-CN" altLang="zh-CN" sz="1200" kern="1200" dirty="0" smtClean="0">
                <a:solidFill>
                  <a:schemeClr val="tx1"/>
                </a:solidFill>
                <a:effectLst/>
                <a:latin typeface="+mn-lt"/>
                <a:ea typeface="+mn-ea"/>
                <a:cs typeface="+mn-cs"/>
              </a:rPr>
              <a:t>），每个组件都是一个有多种具有特定认识功能的、可以并发执行的智能体构成的专家组，各组件没有层次高低之分，自主地、并发地工作，相互通过信息交互进行协调。这其中，多智能体技术</a:t>
            </a:r>
            <a:r>
              <a:rPr lang="en-US" altLang="zh-CN" sz="1200" kern="1200" dirty="0" smtClean="0">
                <a:solidFill>
                  <a:schemeClr val="tx1"/>
                </a:solidFill>
                <a:effectLst/>
                <a:latin typeface="+mn-lt"/>
                <a:ea typeface="+mn-ea"/>
                <a:cs typeface="+mn-cs"/>
              </a:rPr>
              <a:t>(Multi-agent)</a:t>
            </a:r>
            <a:r>
              <a:rPr lang="zh-CN" altLang="zh-CN" sz="1200" kern="1200" dirty="0" smtClean="0">
                <a:solidFill>
                  <a:schemeClr val="tx1"/>
                </a:solidFill>
                <a:effectLst/>
                <a:latin typeface="+mn-lt"/>
                <a:ea typeface="+mn-ea"/>
                <a:cs typeface="+mn-cs"/>
              </a:rPr>
              <a:t>就是典型的分布式结构。多智能体技术的出现为设计复杂智能控制系统提供了新的思路</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其中心思想是将大的复杂系统分解为小的、相对独立的子系统</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依赖这些子系统彼此之间的竞争和协作来完成高智能化作业任务。</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分布式结构突破了以往智能机器人软件体系结构中层次框架的分布模式，较好地解决了实时性问题。分布式结构的优势使它成为体系结构设计的一种良好选择。该结构中的智能体或模块具有极大的自主性和良好的交互性，可以独立求解局部问题并与系统中其它智能体或模块通过交互保持协调。但如何进行协调和统一的机制是一个重点，也是一个难点，处理不当可能出现冲突，使系统紊乱。分布式结构更适用于多机器人群体，例如目前流行的基于智能体（</a:t>
            </a:r>
            <a:r>
              <a:rPr lang="en-US" altLang="zh-CN" sz="1200" kern="1200" dirty="0" smtClean="0">
                <a:solidFill>
                  <a:schemeClr val="tx1"/>
                </a:solidFill>
                <a:effectLst/>
                <a:latin typeface="+mn-lt"/>
                <a:ea typeface="+mn-ea"/>
                <a:cs typeface="+mn-cs"/>
              </a:rPr>
              <a:t>Agent</a:t>
            </a:r>
            <a:r>
              <a:rPr lang="zh-CN" altLang="zh-CN" sz="1200" kern="1200" dirty="0" smtClean="0">
                <a:solidFill>
                  <a:schemeClr val="tx1"/>
                </a:solidFill>
                <a:effectLst/>
                <a:latin typeface="+mn-lt"/>
                <a:ea typeface="+mn-ea"/>
                <a:cs typeface="+mn-cs"/>
              </a:rPr>
              <a:t>）的多机器人技术。机器人单体采用分布式结构，则需要建立必要的集中协调机制，例如基于符号推理和行为相结合的协调机制，以及进化协调机制等。在实际设计过程中，可以采用一些结构的组合，例如分层分布式，将系统分层，在每一层中又采用分布式结构。</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在仿生机器人的软件体系结构中，最具代表性的体系结构有进化控制结构和拟人情感模型等类型。典型的进化控制结构如图</a:t>
            </a:r>
            <a:r>
              <a:rPr lang="en-US" altLang="zh-CN" sz="1200" kern="1200" dirty="0" smtClean="0">
                <a:solidFill>
                  <a:schemeClr val="tx1"/>
                </a:solidFill>
                <a:effectLst/>
                <a:latin typeface="+mn-lt"/>
                <a:ea typeface="+mn-ea"/>
                <a:cs typeface="+mn-cs"/>
              </a:rPr>
              <a:t>2.9</a:t>
            </a:r>
            <a:r>
              <a:rPr lang="zh-CN" altLang="zh-CN" sz="1200" kern="1200" dirty="0" smtClean="0">
                <a:solidFill>
                  <a:schemeClr val="tx1"/>
                </a:solidFill>
                <a:effectLst/>
                <a:latin typeface="+mn-lt"/>
                <a:ea typeface="+mn-ea"/>
                <a:cs typeface="+mn-cs"/>
              </a:rPr>
              <a:t>所示，它将进化计算理论与反馈控制理论相结合，形成了一种新的智能控制方法</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进化控制，它能很好地解决移动机器人的学习与适应能力等方面的问题。整个体系结构重点包括进化规划和基于行为的控制两大模块。进化规划可以根据知识库、经验库对周围环境以及自身的现状进行判断，及时地调整自身的目标和行为，以达到及时适应环境和在复杂的环境下完成任务的目的，具有良好的自主性、适应性。</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而拟人情感体系结构是</a:t>
            </a:r>
            <a:r>
              <a:rPr lang="en-US" altLang="zh-CN" sz="1200" kern="1200" dirty="0" smtClean="0">
                <a:solidFill>
                  <a:schemeClr val="tx1"/>
                </a:solidFill>
                <a:effectLst/>
                <a:latin typeface="+mn-lt"/>
                <a:ea typeface="+mn-ea"/>
                <a:cs typeface="+mn-cs"/>
              </a:rPr>
              <a:t>Arkin</a:t>
            </a:r>
            <a:r>
              <a:rPr lang="zh-CN" altLang="zh-CN" sz="1200" kern="1200" dirty="0" smtClean="0">
                <a:solidFill>
                  <a:schemeClr val="tx1"/>
                </a:solidFill>
                <a:effectLst/>
                <a:latin typeface="+mn-lt"/>
                <a:ea typeface="+mn-ea"/>
                <a:cs typeface="+mn-cs"/>
              </a:rPr>
              <a:t>等在</a:t>
            </a:r>
            <a:r>
              <a:rPr lang="en-US" altLang="zh-CN" sz="1200" kern="1200" dirty="0" smtClean="0">
                <a:solidFill>
                  <a:schemeClr val="tx1"/>
                </a:solidFill>
                <a:effectLst/>
                <a:latin typeface="+mn-lt"/>
                <a:ea typeface="+mn-ea"/>
                <a:cs typeface="+mn-cs"/>
              </a:rPr>
              <a:t>2001</a:t>
            </a:r>
            <a:r>
              <a:rPr lang="zh-CN" altLang="zh-CN" sz="1200" kern="1200" dirty="0" smtClean="0">
                <a:solidFill>
                  <a:schemeClr val="tx1"/>
                </a:solidFill>
                <a:effectLst/>
                <a:latin typeface="+mn-lt"/>
                <a:ea typeface="+mn-ea"/>
                <a:cs typeface="+mn-cs"/>
              </a:rPr>
              <a:t>年提出的一种基于动物行为和情感作用的模型，并成功应用在机器狗</a:t>
            </a:r>
            <a:r>
              <a:rPr lang="en-US" altLang="zh-CN" sz="1200" kern="1200" dirty="0" smtClean="0">
                <a:solidFill>
                  <a:schemeClr val="tx1"/>
                </a:solidFill>
                <a:effectLst/>
                <a:latin typeface="+mn-lt"/>
                <a:ea typeface="+mn-ea"/>
                <a:cs typeface="+mn-cs"/>
              </a:rPr>
              <a:t>AIBO</a:t>
            </a:r>
            <a:r>
              <a:rPr lang="zh-CN" altLang="zh-CN" sz="1200" kern="1200" dirty="0" smtClean="0">
                <a:solidFill>
                  <a:schemeClr val="tx1"/>
                </a:solidFill>
                <a:effectLst/>
                <a:latin typeface="+mn-lt"/>
                <a:ea typeface="+mn-ea"/>
                <a:cs typeface="+mn-cs"/>
              </a:rPr>
              <a:t>的控制系统中，其体系架构见图</a:t>
            </a:r>
            <a:r>
              <a:rPr lang="en-US" altLang="zh-CN" sz="1200" kern="1200" dirty="0" smtClean="0">
                <a:solidFill>
                  <a:schemeClr val="tx1"/>
                </a:solidFill>
                <a:effectLst/>
                <a:latin typeface="+mn-lt"/>
                <a:ea typeface="+mn-ea"/>
                <a:cs typeface="+mn-cs"/>
              </a:rPr>
              <a:t>2.10</a:t>
            </a:r>
            <a:r>
              <a:rPr lang="zh-CN" altLang="zh-CN" sz="1200" kern="1200" dirty="0" smtClean="0">
                <a:solidFill>
                  <a:schemeClr val="tx1"/>
                </a:solidFill>
                <a:effectLst/>
                <a:latin typeface="+mn-lt"/>
                <a:ea typeface="+mn-ea"/>
                <a:cs typeface="+mn-cs"/>
              </a:rPr>
              <a:t>所示。其特色之处在于通过对人类情感的表现和他们与动物互动行为的研究，将情感与本能的行为加入到智能机器人的软件体系结构中，使机器人具有更好的交互功能。该模型主要由三个模块组成，包括释放（</a:t>
            </a:r>
            <a:r>
              <a:rPr lang="en-US" altLang="zh-CN" sz="1200" kern="1200" dirty="0" smtClean="0">
                <a:solidFill>
                  <a:schemeClr val="tx1"/>
                </a:solidFill>
                <a:effectLst/>
                <a:latin typeface="+mn-lt"/>
                <a:ea typeface="+mn-ea"/>
                <a:cs typeface="+mn-cs"/>
              </a:rPr>
              <a:t>Releasing Mechanism</a:t>
            </a:r>
            <a:r>
              <a:rPr lang="zh-CN" altLang="zh-CN" sz="1200" kern="1200" dirty="0" smtClean="0">
                <a:solidFill>
                  <a:schemeClr val="tx1"/>
                </a:solidFill>
                <a:effectLst/>
                <a:latin typeface="+mn-lt"/>
                <a:ea typeface="+mn-ea"/>
                <a:cs typeface="+mn-cs"/>
              </a:rPr>
              <a:t>）、激励（</a:t>
            </a:r>
            <a:r>
              <a:rPr lang="en-US" altLang="zh-CN" sz="1200" kern="1200" dirty="0" smtClean="0">
                <a:solidFill>
                  <a:schemeClr val="tx1"/>
                </a:solidFill>
                <a:effectLst/>
                <a:latin typeface="+mn-lt"/>
                <a:ea typeface="+mn-ea"/>
                <a:cs typeface="+mn-cs"/>
              </a:rPr>
              <a:t>Motivation Creator</a:t>
            </a:r>
            <a:r>
              <a:rPr lang="zh-CN" altLang="zh-CN" sz="1200" kern="1200" dirty="0" smtClean="0">
                <a:solidFill>
                  <a:schemeClr val="tx1"/>
                </a:solidFill>
                <a:effectLst/>
                <a:latin typeface="+mn-lt"/>
                <a:ea typeface="+mn-ea"/>
                <a:cs typeface="+mn-cs"/>
              </a:rPr>
              <a:t>）和行动选择模块（</a:t>
            </a:r>
            <a:r>
              <a:rPr lang="en-US" altLang="zh-CN" sz="1200" kern="1200" dirty="0" smtClean="0">
                <a:solidFill>
                  <a:schemeClr val="tx1"/>
                </a:solidFill>
                <a:effectLst/>
                <a:latin typeface="+mn-lt"/>
                <a:ea typeface="+mn-ea"/>
                <a:cs typeface="+mn-cs"/>
              </a:rPr>
              <a:t>The Action Selection Module</a:t>
            </a:r>
            <a:r>
              <a:rPr lang="zh-CN" altLang="zh-CN" sz="1200" kern="1200" dirty="0" smtClean="0">
                <a:solidFill>
                  <a:schemeClr val="tx1"/>
                </a:solidFill>
                <a:effectLst/>
                <a:latin typeface="+mn-lt"/>
                <a:ea typeface="+mn-ea"/>
                <a:cs typeface="+mn-cs"/>
              </a:rPr>
              <a:t>）。释放模块通过对环境的感知结果来计算释放，例如与认识目标之间的距离。激励模块是利用本能</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情感模型来计算并维持机器狗的饥饿、口渴、疲倦、排泄、喜欢和好奇等本能和情感变量。最后根据前面两个模块综合选择机器狗的动作。</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从以上多种机器人软件体系结构中可以看出，机器人的智能主要体现在规划层的算法当中，无论是层次结构中的规划层或者慎思层，还是包容结构中的行为推理与规划层等，这些层主要体现机器人如何进行推理与决策，如何通过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环境交互得到需要执行的行动方案的过程。</a:t>
            </a:r>
          </a:p>
          <a:p>
            <a:r>
              <a:rPr lang="zh-CN" altLang="zh-CN" sz="1200" kern="1200" dirty="0" smtClean="0">
                <a:solidFill>
                  <a:schemeClr val="tx1"/>
                </a:solidFill>
                <a:effectLst/>
                <a:latin typeface="+mn-lt"/>
                <a:ea typeface="+mn-ea"/>
                <a:cs typeface="+mn-cs"/>
              </a:rPr>
              <a:t>在人工智能中，规划（</a:t>
            </a:r>
            <a:r>
              <a:rPr lang="en-US" altLang="zh-CN" sz="1200" kern="1200" dirty="0" smtClean="0">
                <a:solidFill>
                  <a:schemeClr val="tx1"/>
                </a:solidFill>
                <a:effectLst/>
                <a:latin typeface="+mn-lt"/>
                <a:ea typeface="+mn-ea"/>
                <a:cs typeface="+mn-cs"/>
              </a:rPr>
              <a:t>Planning</a:t>
            </a:r>
            <a:r>
              <a:rPr lang="zh-CN" altLang="zh-CN" sz="1200" kern="1200" dirty="0" smtClean="0">
                <a:solidFill>
                  <a:schemeClr val="tx1"/>
                </a:solidFill>
                <a:effectLst/>
                <a:latin typeface="+mn-lt"/>
                <a:ea typeface="+mn-ea"/>
                <a:cs typeface="+mn-cs"/>
              </a:rPr>
              <a:t>）被定义为关于要采取行动的决策。而在机器人学中，规划包含任务规划</a:t>
            </a:r>
            <a:r>
              <a:rPr lang="en-US" altLang="zh-CN" sz="1200" kern="1200" dirty="0" smtClean="0">
                <a:solidFill>
                  <a:schemeClr val="tx1"/>
                </a:solidFill>
                <a:effectLst/>
                <a:latin typeface="+mn-lt"/>
                <a:ea typeface="+mn-ea"/>
                <a:cs typeface="+mn-cs"/>
              </a:rPr>
              <a:t>(Task Planning)</a:t>
            </a:r>
            <a:r>
              <a:rPr lang="zh-CN" altLang="zh-CN" sz="1200" kern="1200" dirty="0" smtClean="0">
                <a:solidFill>
                  <a:schemeClr val="tx1"/>
                </a:solidFill>
                <a:effectLst/>
                <a:latin typeface="+mn-lt"/>
                <a:ea typeface="+mn-ea"/>
                <a:cs typeface="+mn-cs"/>
              </a:rPr>
              <a:t>以及运动规划</a:t>
            </a:r>
            <a:r>
              <a:rPr lang="en-US" altLang="zh-CN" sz="1200" kern="1200" dirty="0" smtClean="0">
                <a:solidFill>
                  <a:schemeClr val="tx1"/>
                </a:solidFill>
                <a:effectLst/>
                <a:latin typeface="+mn-lt"/>
                <a:ea typeface="+mn-ea"/>
                <a:cs typeface="+mn-cs"/>
              </a:rPr>
              <a:t>(Motion Planning)</a:t>
            </a:r>
            <a:r>
              <a:rPr lang="zh-CN" altLang="zh-CN" sz="1200" kern="1200" dirty="0" smtClean="0">
                <a:solidFill>
                  <a:schemeClr val="tx1"/>
                </a:solidFill>
                <a:effectLst/>
                <a:latin typeface="+mn-lt"/>
                <a:ea typeface="+mn-ea"/>
                <a:cs typeface="+mn-cs"/>
              </a:rPr>
              <a:t>等内容。本节介绍机器人的任务规划（高层规划，</a:t>
            </a:r>
            <a:r>
              <a:rPr lang="en-US" altLang="zh-CN" sz="1200" kern="1200" dirty="0" smtClean="0">
                <a:solidFill>
                  <a:schemeClr val="tx1"/>
                </a:solidFill>
                <a:effectLst/>
                <a:latin typeface="+mn-lt"/>
                <a:ea typeface="+mn-ea"/>
                <a:cs typeface="+mn-cs"/>
              </a:rPr>
              <a:t>High-Level Planning</a:t>
            </a:r>
            <a:r>
              <a:rPr lang="zh-CN" altLang="zh-CN" sz="1200" kern="1200" dirty="0" smtClean="0">
                <a:solidFill>
                  <a:schemeClr val="tx1"/>
                </a:solidFill>
                <a:effectLst/>
                <a:latin typeface="+mn-lt"/>
                <a:ea typeface="+mn-ea"/>
                <a:cs typeface="+mn-cs"/>
              </a:rPr>
              <a:t>），而运动规划（低层规划，</a:t>
            </a:r>
            <a:r>
              <a:rPr lang="en-US" altLang="zh-CN" sz="1200" kern="1200" dirty="0" smtClean="0">
                <a:solidFill>
                  <a:schemeClr val="tx1"/>
                </a:solidFill>
                <a:effectLst/>
                <a:latin typeface="+mn-lt"/>
                <a:ea typeface="+mn-ea"/>
                <a:cs typeface="+mn-cs"/>
              </a:rPr>
              <a:t>Low-Level Planning</a:t>
            </a:r>
            <a:r>
              <a:rPr lang="zh-CN" altLang="zh-CN" sz="1200" kern="1200" dirty="0" smtClean="0">
                <a:solidFill>
                  <a:schemeClr val="tx1"/>
                </a:solidFill>
                <a:effectLst/>
                <a:latin typeface="+mn-lt"/>
                <a:ea typeface="+mn-ea"/>
                <a:cs typeface="+mn-cs"/>
              </a:rPr>
              <a:t>）则安排在第</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章进行介绍。</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例</a:t>
            </a:r>
            <a:r>
              <a:rPr lang="en-US" altLang="zh-CN" sz="1200" kern="1200" dirty="0" smtClean="0">
                <a:solidFill>
                  <a:schemeClr val="tx1"/>
                </a:solidFill>
                <a:effectLst/>
                <a:latin typeface="+mn-lt"/>
                <a:ea typeface="+mn-ea"/>
                <a:cs typeface="+mn-cs"/>
              </a:rPr>
              <a:t>2.1 </a:t>
            </a:r>
            <a:r>
              <a:rPr lang="zh-CN" altLang="zh-CN" sz="1200" kern="1200" dirty="0" smtClean="0">
                <a:solidFill>
                  <a:schemeClr val="tx1"/>
                </a:solidFill>
                <a:effectLst/>
                <a:latin typeface="+mn-lt"/>
                <a:ea typeface="+mn-ea"/>
                <a:cs typeface="+mn-cs"/>
              </a:rPr>
              <a:t>设计一款宠物机器狗，实现如下的行为：</a:t>
            </a:r>
          </a:p>
          <a:p>
            <a:pPr lvl="0"/>
            <a:r>
              <a:rPr lang="zh-CN" altLang="zh-CN" sz="1200" kern="1200" dirty="0" smtClean="0">
                <a:solidFill>
                  <a:schemeClr val="tx1"/>
                </a:solidFill>
                <a:effectLst/>
                <a:latin typeface="+mn-lt"/>
                <a:ea typeface="+mn-ea"/>
                <a:cs typeface="+mn-cs"/>
              </a:rPr>
              <a:t>如果没有人，就站立观望；</a:t>
            </a:r>
          </a:p>
          <a:p>
            <a:pPr lvl="0"/>
            <a:r>
              <a:rPr lang="zh-CN" altLang="zh-CN" sz="1200" kern="1200" dirty="0" smtClean="0">
                <a:solidFill>
                  <a:schemeClr val="tx1"/>
                </a:solidFill>
                <a:effectLst/>
                <a:latin typeface="+mn-lt"/>
                <a:ea typeface="+mn-ea"/>
                <a:cs typeface="+mn-cs"/>
              </a:rPr>
              <a:t>在站立观望时，如果发现主人，就摇尾表示乞求抚摸，如果发现是生人，就趴下休息；</a:t>
            </a:r>
          </a:p>
          <a:p>
            <a:pPr lvl="0"/>
            <a:r>
              <a:rPr lang="zh-CN" altLang="zh-CN" sz="1200" kern="1200" dirty="0" smtClean="0">
                <a:solidFill>
                  <a:schemeClr val="tx1"/>
                </a:solidFill>
                <a:effectLst/>
                <a:latin typeface="+mn-lt"/>
                <a:ea typeface="+mn-ea"/>
                <a:cs typeface="+mn-cs"/>
              </a:rPr>
              <a:t>如果在摇尾乞求时，得到抚摸，就趴下休息；</a:t>
            </a:r>
          </a:p>
          <a:p>
            <a:pPr lvl="0"/>
            <a:r>
              <a:rPr lang="zh-CN" altLang="zh-CN" sz="1200" kern="1200" dirty="0" smtClean="0">
                <a:solidFill>
                  <a:schemeClr val="tx1"/>
                </a:solidFill>
                <a:effectLst/>
                <a:latin typeface="+mn-lt"/>
                <a:ea typeface="+mn-ea"/>
                <a:cs typeface="+mn-cs"/>
              </a:rPr>
              <a:t>在趴下休息时，如果听到呼唤，就站立回到观望状态。</a:t>
            </a:r>
          </a:p>
          <a:p>
            <a:r>
              <a:rPr lang="zh-CN" altLang="zh-CN" sz="1200" kern="1200" dirty="0" smtClean="0">
                <a:solidFill>
                  <a:schemeClr val="tx1"/>
                </a:solidFill>
                <a:effectLst/>
                <a:latin typeface="+mn-lt"/>
                <a:ea typeface="+mn-ea"/>
                <a:cs typeface="+mn-cs"/>
              </a:rPr>
              <a:t>根据以上状态以及状态之间的转移条件描述，采用方向图设计的有限状态机如图</a:t>
            </a:r>
            <a:r>
              <a:rPr lang="en-US" altLang="zh-CN" sz="1200" kern="1200" dirty="0" smtClean="0">
                <a:solidFill>
                  <a:schemeClr val="tx1"/>
                </a:solidFill>
                <a:effectLst/>
                <a:latin typeface="+mn-lt"/>
                <a:ea typeface="+mn-ea"/>
                <a:cs typeface="+mn-cs"/>
              </a:rPr>
              <a:t>2.11</a:t>
            </a:r>
            <a:r>
              <a:rPr lang="zh-CN" altLang="zh-CN" sz="1200" kern="1200" dirty="0" smtClean="0">
                <a:solidFill>
                  <a:schemeClr val="tx1"/>
                </a:solidFill>
                <a:effectLst/>
                <a:latin typeface="+mn-lt"/>
                <a:ea typeface="+mn-ea"/>
                <a:cs typeface="+mn-cs"/>
              </a:rPr>
              <a:t>所示。在方向图中，圆代表状态，状态之间带箭头的线代表状态之间的转移，箭头的方向代表转移方向，线上标注的为事件和动作。</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2.11</a:t>
            </a:r>
            <a:r>
              <a:rPr lang="zh-CN" altLang="zh-CN" sz="1200" kern="1200" dirty="0" smtClean="0">
                <a:solidFill>
                  <a:schemeClr val="tx1"/>
                </a:solidFill>
                <a:effectLst/>
                <a:latin typeface="+mn-lt"/>
                <a:ea typeface="+mn-ea"/>
                <a:cs typeface="+mn-cs"/>
              </a:rPr>
              <a:t>也可以用状态表进行表达，如表</a:t>
            </a:r>
            <a:r>
              <a:rPr lang="en-US" altLang="zh-CN" sz="1200" kern="1200" dirty="0" smtClean="0">
                <a:solidFill>
                  <a:schemeClr val="tx1"/>
                </a:solidFill>
                <a:effectLst/>
                <a:latin typeface="+mn-lt"/>
                <a:ea typeface="+mn-ea"/>
                <a:cs typeface="+mn-cs"/>
              </a:rPr>
              <a:t>2.1</a:t>
            </a:r>
            <a:r>
              <a:rPr lang="zh-CN" altLang="zh-CN" sz="1200" kern="1200" dirty="0" smtClean="0">
                <a:solidFill>
                  <a:schemeClr val="tx1"/>
                </a:solidFill>
                <a:effectLst/>
                <a:latin typeface="+mn-lt"/>
                <a:ea typeface="+mn-ea"/>
                <a:cs typeface="+mn-cs"/>
              </a:rPr>
              <a:t>所示。该表的第一行和第一列代表事件和状态，单元格内包含将要转移的次态和动作。</a:t>
            </a:r>
            <a:r>
              <a:rPr lang="zh-CN" altLang="en-US" sz="1200" kern="1200" dirty="0" smtClean="0">
                <a:solidFill>
                  <a:schemeClr val="tx1"/>
                </a:solidFill>
                <a:effectLst/>
                <a:latin typeface="+mn-lt"/>
                <a:ea typeface="+mn-ea"/>
                <a:cs typeface="+mn-cs"/>
              </a:rPr>
              <a:t>（可以板书）</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有限状态机的设计会随着状态的增加，导致状态之间的迁移变得复杂而混乱。为了解决有限状态机的这些缺点，研究人员提出了层次有限状态机</a:t>
            </a:r>
            <a:r>
              <a:rPr lang="en-US" altLang="zh-CN" sz="1200" kern="1200" dirty="0" smtClean="0">
                <a:solidFill>
                  <a:schemeClr val="tx1"/>
                </a:solidFill>
                <a:effectLst/>
                <a:latin typeface="+mn-lt"/>
                <a:ea typeface="+mn-ea"/>
                <a:cs typeface="+mn-cs"/>
              </a:rPr>
              <a:t>(HFSM, Hierarchical Finite State Machine)</a:t>
            </a:r>
            <a:r>
              <a:rPr lang="zh-CN" altLang="zh-CN" sz="1200" kern="1200" dirty="0" smtClean="0">
                <a:solidFill>
                  <a:schemeClr val="tx1"/>
                </a:solidFill>
                <a:effectLst/>
                <a:latin typeface="+mn-lt"/>
                <a:ea typeface="+mn-ea"/>
                <a:cs typeface="+mn-cs"/>
              </a:rPr>
              <a:t>。层次有限状态机中一个状态可以包含一个或者多个子状态。包含两个或多个状态的状态称为超态（</a:t>
            </a:r>
            <a:r>
              <a:rPr lang="en-US" altLang="zh-CN" sz="1200" kern="1200" dirty="0" smtClean="0">
                <a:solidFill>
                  <a:schemeClr val="tx1"/>
                </a:solidFill>
                <a:effectLst/>
                <a:latin typeface="+mn-lt"/>
                <a:ea typeface="+mn-ea"/>
                <a:cs typeface="+mn-cs"/>
              </a:rPr>
              <a:t>Super States</a:t>
            </a:r>
            <a:r>
              <a:rPr lang="zh-CN" altLang="zh-CN" sz="1200" kern="1200" dirty="0" smtClean="0">
                <a:solidFill>
                  <a:schemeClr val="tx1"/>
                </a:solidFill>
                <a:effectLst/>
                <a:latin typeface="+mn-lt"/>
                <a:ea typeface="+mn-ea"/>
                <a:cs typeface="+mn-cs"/>
              </a:rPr>
              <a:t>）。超态间的跳转隔离了一些不相关的状态，降低了整体结构的复杂性。每个超级状态都将一个子状态标识为启动状态，当跳转到该超态就从启动状态开始执行。相比于有限状态机，层次有限状态机做到了无关状态间的隔离，降低了状态机的复杂度。</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设想如果需要扩展一下上面宠物机器狗的行为，让宠物机器狗能在过一段时间感到饥饿的情况下舔一下骨头，从而进入到进食状态，如果采用</a:t>
            </a:r>
            <a:r>
              <a:rPr lang="en-US" altLang="zh-CN" sz="1200" kern="1200" dirty="0" smtClean="0">
                <a:solidFill>
                  <a:schemeClr val="tx1"/>
                </a:solidFill>
                <a:effectLst/>
                <a:latin typeface="+mn-lt"/>
                <a:ea typeface="+mn-ea"/>
                <a:cs typeface="+mn-cs"/>
              </a:rPr>
              <a:t>FSM</a:t>
            </a:r>
            <a:r>
              <a:rPr lang="zh-CN" altLang="zh-CN" sz="1200" kern="1200" dirty="0" smtClean="0">
                <a:solidFill>
                  <a:schemeClr val="tx1"/>
                </a:solidFill>
                <a:effectLst/>
                <a:latin typeface="+mn-lt"/>
                <a:ea typeface="+mn-ea"/>
                <a:cs typeface="+mn-cs"/>
              </a:rPr>
              <a:t>架构进行设计，就需要在每个状态都需要设计转移，如图</a:t>
            </a:r>
            <a:r>
              <a:rPr lang="en-US" altLang="zh-CN" sz="1200" kern="1200" dirty="0" smtClean="0">
                <a:solidFill>
                  <a:schemeClr val="tx1"/>
                </a:solidFill>
                <a:effectLst/>
                <a:latin typeface="+mn-lt"/>
                <a:ea typeface="+mn-ea"/>
                <a:cs typeface="+mn-cs"/>
              </a:rPr>
              <a:t>2.12(a)</a:t>
            </a:r>
            <a:r>
              <a:rPr lang="zh-CN" altLang="zh-CN" sz="1200" kern="1200" dirty="0" smtClean="0">
                <a:solidFill>
                  <a:schemeClr val="tx1"/>
                </a:solidFill>
                <a:effectLst/>
                <a:latin typeface="+mn-lt"/>
                <a:ea typeface="+mn-ea"/>
                <a:cs typeface="+mn-cs"/>
              </a:rPr>
              <a:t>所示，而采用图</a:t>
            </a:r>
            <a:r>
              <a:rPr lang="en-US" altLang="zh-CN" sz="1200" kern="1200" dirty="0" smtClean="0">
                <a:solidFill>
                  <a:schemeClr val="tx1"/>
                </a:solidFill>
                <a:effectLst/>
                <a:latin typeface="+mn-lt"/>
                <a:ea typeface="+mn-ea"/>
                <a:cs typeface="+mn-cs"/>
              </a:rPr>
              <a:t>2.12(b)</a:t>
            </a:r>
            <a:r>
              <a:rPr lang="zh-CN" altLang="zh-CN" sz="1200" kern="1200" dirty="0" smtClean="0">
                <a:solidFill>
                  <a:schemeClr val="tx1"/>
                </a:solidFill>
                <a:effectLst/>
                <a:latin typeface="+mn-lt"/>
                <a:ea typeface="+mn-ea"/>
                <a:cs typeface="+mn-cs"/>
              </a:rPr>
              <a:t>所示的层次有限状态机设计宠物机器狗的架构就会更简洁有效一些。</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行为树（</a:t>
            </a:r>
            <a:r>
              <a:rPr lang="en-US" altLang="zh-CN" sz="1200" kern="1200" dirty="0" smtClean="0">
                <a:solidFill>
                  <a:schemeClr val="tx1"/>
                </a:solidFill>
                <a:effectLst/>
                <a:latin typeface="+mn-lt"/>
                <a:ea typeface="+mn-ea"/>
                <a:cs typeface="+mn-cs"/>
              </a:rPr>
              <a:t>Behavior Trees</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BTs</a:t>
            </a:r>
            <a:r>
              <a:rPr lang="zh-CN" altLang="zh-CN" sz="1200" kern="1200" dirty="0" smtClean="0">
                <a:solidFill>
                  <a:schemeClr val="tx1"/>
                </a:solidFill>
                <a:effectLst/>
                <a:latin typeface="+mn-lt"/>
                <a:ea typeface="+mn-ea"/>
                <a:cs typeface="+mn-cs"/>
              </a:rPr>
              <a:t>）的概念最早由电子游戏领域提出，作为一个提高游戏角色控制结构模块化的工具被广泛使用。之后研究者发现</a:t>
            </a:r>
            <a:r>
              <a:rPr lang="en-US" altLang="zh-CN" sz="1200" kern="1200" dirty="0" smtClean="0">
                <a:solidFill>
                  <a:schemeClr val="tx1"/>
                </a:solidFill>
                <a:effectLst/>
                <a:latin typeface="+mn-lt"/>
                <a:ea typeface="+mn-ea"/>
                <a:cs typeface="+mn-cs"/>
              </a:rPr>
              <a:t>BTs</a:t>
            </a:r>
            <a:r>
              <a:rPr lang="zh-CN" altLang="zh-CN" sz="1200" kern="1200" dirty="0" smtClean="0">
                <a:solidFill>
                  <a:schemeClr val="tx1"/>
                </a:solidFill>
                <a:effectLst/>
                <a:latin typeface="+mn-lt"/>
                <a:ea typeface="+mn-ea"/>
                <a:cs typeface="+mn-cs"/>
              </a:rPr>
              <a:t>非常适用于构建机器人的控制架构：游戏中的角色与机器人非常相似，都是完成一些指定的任务并对外部变化及时响应。</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BT</a:t>
            </a:r>
            <a:r>
              <a:rPr lang="zh-CN" altLang="en-US" sz="1200" kern="1200" dirty="0" smtClean="0">
                <a:solidFill>
                  <a:schemeClr val="tx1"/>
                </a:solidFill>
                <a:effectLst/>
                <a:latin typeface="+mn-lt"/>
                <a:ea typeface="+mn-ea"/>
                <a:cs typeface="+mn-cs"/>
              </a:rPr>
              <a:t>的基本介绍可以板书）</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例</a:t>
            </a:r>
            <a:r>
              <a:rPr lang="en-US" altLang="zh-CN" sz="1200" kern="1200" dirty="0" smtClean="0">
                <a:solidFill>
                  <a:schemeClr val="tx1"/>
                </a:solidFill>
                <a:effectLst/>
                <a:latin typeface="+mn-lt"/>
                <a:ea typeface="+mn-ea"/>
                <a:cs typeface="+mn-cs"/>
              </a:rPr>
              <a:t>2.2 </a:t>
            </a:r>
            <a:r>
              <a:rPr lang="zh-CN" altLang="zh-CN" sz="1200" kern="1200" dirty="0" smtClean="0">
                <a:solidFill>
                  <a:schemeClr val="tx1"/>
                </a:solidFill>
                <a:effectLst/>
                <a:latin typeface="+mn-lt"/>
                <a:ea typeface="+mn-ea"/>
                <a:cs typeface="+mn-cs"/>
              </a:rPr>
              <a:t>采用行为树设计一款扔球机器人。当机器人附近没有小球时，就执行坐下动作；当机器人发现附近有小球时，则站起来准备去扔球；当锁定球后则跳入超级状态执行扔球的动作。依据行为树设计的机器人架构如图</a:t>
            </a:r>
            <a:r>
              <a:rPr lang="en-US" altLang="zh-CN" sz="1200" kern="1200" dirty="0" smtClean="0">
                <a:solidFill>
                  <a:schemeClr val="tx1"/>
                </a:solidFill>
                <a:effectLst/>
                <a:latin typeface="+mn-lt"/>
                <a:ea typeface="+mn-ea"/>
                <a:cs typeface="+mn-cs"/>
              </a:rPr>
              <a:t>2.14</a:t>
            </a:r>
            <a:r>
              <a:rPr lang="zh-CN" altLang="zh-CN" sz="1200" kern="1200" dirty="0" smtClean="0">
                <a:solidFill>
                  <a:schemeClr val="tx1"/>
                </a:solidFill>
                <a:effectLst/>
                <a:latin typeface="+mn-lt"/>
                <a:ea typeface="+mn-ea"/>
                <a:cs typeface="+mn-cs"/>
              </a:rPr>
              <a:t>所示，该机器人采用基于行为树的体系结构，行为树中不同节点的结合也可以实现各种状态的跳转。</a:t>
            </a:r>
            <a:endParaRPr lang="en-US" altLang="zh-CN" sz="1200" kern="1200" dirty="0" smtClean="0">
              <a:solidFill>
                <a:schemeClr val="tx1"/>
              </a:solidFill>
              <a:effectLst/>
              <a:latin typeface="+mn-lt"/>
              <a:ea typeface="+mn-ea"/>
              <a:cs typeface="+mn-cs"/>
            </a:endParaRPr>
          </a:p>
          <a:p>
            <a:endParaRPr lang="en-US" altLang="zh-CN" dirty="0" smtClean="0"/>
          </a:p>
          <a:p>
            <a:r>
              <a:rPr lang="zh-CN" altLang="zh-CN" sz="1200" kern="1200" dirty="0" smtClean="0">
                <a:solidFill>
                  <a:schemeClr val="tx1"/>
                </a:solidFill>
                <a:effectLst/>
                <a:latin typeface="+mn-lt"/>
                <a:ea typeface="+mn-ea"/>
                <a:cs typeface="+mn-cs"/>
              </a:rPr>
              <a:t>以上介绍了设计智能机器人可以选择的多种软件体系结构类型，在设计机器人总体结构的时候，应根据实际系统的要求、特点和开销进行合理的选择。</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根据智能机器人体系结构的三种基本范式（慎思式、反应式和混合式），以及后续的研究与发展，我们可以将一个机器人系统的体系结构抽象成机器人本体与环境、感知、交互、规划、执行等部分组成。</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机器人本体可能是工业机械臂、移动机器人、飞行机器人、人形机器人、仿生结构机器人等类型，或具有不同结构特征组合的复合机器人，例如移动机械臂等形式。</a:t>
            </a:r>
          </a:p>
          <a:p>
            <a:r>
              <a:rPr lang="zh-CN" altLang="zh-CN" sz="1200" kern="1200" dirty="0" smtClean="0">
                <a:solidFill>
                  <a:schemeClr val="tx1"/>
                </a:solidFill>
                <a:effectLst/>
                <a:latin typeface="+mn-lt"/>
                <a:ea typeface="+mn-ea"/>
                <a:cs typeface="+mn-cs"/>
              </a:rPr>
              <a:t>环境即指机器人所处的周围环境。环境不仅由几何条件（可达空间）所决定，而且由环境和它所包含的每个事物的全部自然特性所决定。机器人的固有特性，由这些自然特性及其环境间的互相作用所决定。在环境中，机器人会遇到一些障碍物和其他物体，它必须避免与这些障碍物发生碰撞，并对这些物体发生作用。环境信息一般是确定的和已知的，但在许多情况下，环境具有未知的和不确定的性质。</a:t>
            </a:r>
          </a:p>
          <a:p>
            <a:r>
              <a:rPr lang="zh-CN" altLang="zh-CN" sz="1200" kern="1200" dirty="0" smtClean="0">
                <a:solidFill>
                  <a:schemeClr val="tx1"/>
                </a:solidFill>
                <a:effectLst/>
                <a:latin typeface="+mn-lt"/>
                <a:ea typeface="+mn-ea"/>
                <a:cs typeface="+mn-cs"/>
              </a:rPr>
              <a:t>感知定义为机器人对自身与环境信息的获取，其感知系统包含内部传感器和外部传感器，内部传感器用于检测机器人自身的状态信息，如关节的位置、速度等变量。外部传感器用于检测机器人与环境之间的一些状态信息，包括距离、听觉、视觉、触觉等类型传感器。</a:t>
            </a:r>
          </a:p>
          <a:p>
            <a:r>
              <a:rPr lang="zh-CN" altLang="zh-CN" sz="1200" kern="1200" dirty="0" smtClean="0">
                <a:solidFill>
                  <a:schemeClr val="tx1"/>
                </a:solidFill>
                <a:effectLst/>
                <a:latin typeface="+mn-lt"/>
                <a:ea typeface="+mn-ea"/>
                <a:cs typeface="+mn-cs"/>
              </a:rPr>
              <a:t>交互指人、机、环境之间的互相作用，机器人可通过文字、语音、视觉、触觉等多种方式进行人、机、环境之间的交互。人、机、环境之间的交互随着传感技术以及人工智能技术的发展，正由单一类型的交互转向多传感器信息融合的多模态交互。</a:t>
            </a:r>
          </a:p>
          <a:p>
            <a:r>
              <a:rPr lang="zh-CN" altLang="zh-CN" sz="1200" kern="1200" dirty="0" smtClean="0">
                <a:solidFill>
                  <a:schemeClr val="tx1"/>
                </a:solidFill>
                <a:effectLst/>
                <a:latin typeface="+mn-lt"/>
                <a:ea typeface="+mn-ea"/>
                <a:cs typeface="+mn-cs"/>
              </a:rPr>
              <a:t>规划指机器人通过人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环境交互得到需要执行的行动方案的过程，它包含这一过程的问题求解技术。</a:t>
            </a:r>
          </a:p>
          <a:p>
            <a:r>
              <a:rPr lang="zh-CN" altLang="zh-CN" sz="1200" kern="1200" dirty="0" smtClean="0">
                <a:solidFill>
                  <a:schemeClr val="tx1"/>
                </a:solidFill>
                <a:effectLst/>
                <a:latin typeface="+mn-lt"/>
                <a:ea typeface="+mn-ea"/>
                <a:cs typeface="+mn-cs"/>
              </a:rPr>
              <a:t>执行定义为机器人在完成行动方案的过程中，和环境交互，实现任务目标的一系列动作，该动作可能是形体操作，例如移动、夹持、搬运、放置等，也可能是文字回复、语音回复等行为。</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如果将机器人抽象为空间中的刚体，将其质心看作是一个质点，那么，我们就可以将机器人的运动简化为质点在空间中的刚体运动。</a:t>
                </a:r>
              </a:p>
              <a:p>
                <a:r>
                  <a:rPr lang="zh-CN" altLang="zh-CN" sz="1200" kern="1200" dirty="0" smtClean="0">
                    <a:solidFill>
                      <a:schemeClr val="tx1"/>
                    </a:solidFill>
                    <a:effectLst/>
                    <a:latin typeface="+mn-lt"/>
                    <a:ea typeface="+mn-ea"/>
                    <a:cs typeface="+mn-cs"/>
                  </a:rPr>
                  <a:t>分析刚体运动，我们首先需要确定参考坐标系。机器人相对于固定参考系的运动与时间之间的关系，通常使用三维空间坐标系</a:t>
                </a:r>
                <a:r>
                  <a:rPr lang="en-US" altLang="zh-CN" sz="1200" kern="1200" dirty="0" smtClean="0">
                    <a:solidFill>
                      <a:schemeClr val="tx1"/>
                    </a:solidFill>
                    <a:effectLst/>
                    <a:latin typeface="+mn-lt"/>
                    <a:ea typeface="+mn-ea"/>
                    <a:cs typeface="+mn-cs"/>
                  </a:rPr>
                  <a:t>(</a:t>
                </a:r>
                <a:r>
                  <a:rPr lang="zh-CN" altLang="zh-CN" sz="1200" b="1" kern="1200" dirty="0" smtClean="0">
                    <a:solidFill>
                      <a:schemeClr val="tx1"/>
                    </a:solidFill>
                    <a:effectLst/>
                    <a:latin typeface="+mn-lt"/>
                    <a:ea typeface="+mn-ea"/>
                    <a:cs typeface="+mn-cs"/>
                  </a:rPr>
                  <a:t>笛卡尔坐标系</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Cartesian coordinate system</a:t>
                </a:r>
                <a:r>
                  <a:rPr lang="zh-CN" altLang="zh-CN" sz="1200" kern="1200" dirty="0" smtClean="0">
                    <a:solidFill>
                      <a:schemeClr val="tx1"/>
                    </a:solidFill>
                    <a:effectLst/>
                    <a:latin typeface="+mn-lt"/>
                    <a:ea typeface="+mn-ea"/>
                    <a:cs typeface="+mn-cs"/>
                  </a:rPr>
                  <a:t>，也称</a:t>
                </a:r>
                <a:r>
                  <a:rPr lang="zh-CN" altLang="zh-CN" sz="1200" b="1" kern="1200" dirty="0" smtClean="0">
                    <a:solidFill>
                      <a:schemeClr val="tx1"/>
                    </a:solidFill>
                    <a:effectLst/>
                    <a:latin typeface="+mn-lt"/>
                    <a:ea typeface="+mn-ea"/>
                    <a:cs typeface="+mn-cs"/>
                  </a:rPr>
                  <a:t>直角坐标系</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以及空间物体的位姿来描述机器人的运动。对于平面移动机器人来说，我们通常只考虑平面坐标系下的移动，平面移动机器人的运动仅描述机器人位置与时间之间的关系；而对于空间机器人（包括飞行机器人、水下航行机器人、工业机械臂等）来说，则要考虑三维坐标环境下的机器人位姿</a:t>
                </a:r>
                <a:r>
                  <a:rPr lang="en-US" altLang="zh-CN" sz="1200" kern="1200" dirty="0" smtClean="0">
                    <a:solidFill>
                      <a:schemeClr val="tx1"/>
                    </a:solidFill>
                    <a:effectLst/>
                    <a:latin typeface="+mn-lt"/>
                    <a:ea typeface="+mn-ea"/>
                    <a:cs typeface="+mn-cs"/>
                  </a:rPr>
                  <a:t>(Pose)</a:t>
                </a:r>
                <a:r>
                  <a:rPr lang="zh-CN" altLang="zh-CN" sz="1200" kern="1200" dirty="0" smtClean="0">
                    <a:solidFill>
                      <a:schemeClr val="tx1"/>
                    </a:solidFill>
                    <a:effectLst/>
                    <a:latin typeface="+mn-lt"/>
                    <a:ea typeface="+mn-ea"/>
                    <a:cs typeface="+mn-cs"/>
                  </a:rPr>
                  <a:t>，即位置</a:t>
                </a:r>
                <a:r>
                  <a:rPr lang="en-US" altLang="zh-CN" sz="1200" kern="1200" dirty="0" smtClean="0">
                    <a:solidFill>
                      <a:schemeClr val="tx1"/>
                    </a:solidFill>
                    <a:effectLst/>
                    <a:latin typeface="+mn-lt"/>
                    <a:ea typeface="+mn-ea"/>
                    <a:cs typeface="+mn-cs"/>
                  </a:rPr>
                  <a:t>(position)</a:t>
                </a:r>
                <a:r>
                  <a:rPr lang="zh-CN" altLang="zh-CN" sz="1200" kern="1200" dirty="0" smtClean="0">
                    <a:solidFill>
                      <a:schemeClr val="tx1"/>
                    </a:solidFill>
                    <a:effectLst/>
                    <a:latin typeface="+mn-lt"/>
                    <a:ea typeface="+mn-ea"/>
                    <a:cs typeface="+mn-cs"/>
                  </a:rPr>
                  <a:t>和姿态</a:t>
                </a:r>
                <a:r>
                  <a:rPr lang="en-US" altLang="zh-CN" sz="1200" kern="1200" dirty="0" smtClean="0">
                    <a:solidFill>
                      <a:schemeClr val="tx1"/>
                    </a:solidFill>
                    <a:effectLst/>
                    <a:latin typeface="+mn-lt"/>
                    <a:ea typeface="+mn-ea"/>
                    <a:cs typeface="+mn-cs"/>
                  </a:rPr>
                  <a:t>(Orientation)</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三个坐标轴满足右手定则，则可得到三维的直角坐标系，见图</a:t>
                </a:r>
                <a:r>
                  <a:rPr lang="en-US" altLang="zh-CN" sz="1200" kern="1200" dirty="0">
                    <a:solidFill>
                      <a:schemeClr val="tx1"/>
                    </a:solidFill>
                    <a:effectLst/>
                    <a:latin typeface="+mn-lt"/>
                    <a:ea typeface="+mn-ea"/>
                    <a:cs typeface="+mn-cs"/>
                  </a:rPr>
                  <a:t>2.17</a:t>
                </a:r>
                <a:r>
                  <a:rPr lang="zh-CN" altLang="zh-CN" sz="1200" kern="1200" dirty="0">
                    <a:solidFill>
                      <a:schemeClr val="tx1"/>
                    </a:solidFill>
                    <a:effectLst/>
                    <a:latin typeface="+mn-lt"/>
                    <a:ea typeface="+mn-ea"/>
                    <a:cs typeface="+mn-cs"/>
                  </a:rPr>
                  <a:t>。其</a:t>
                </a:r>
                <a:r>
                  <a:rPr lang="en-US" altLang="zh-CN" sz="1200" kern="1200" dirty="0">
                    <a:solidFill>
                      <a:schemeClr val="tx1"/>
                    </a:solidFill>
                    <a:effectLst/>
                    <a:latin typeface="+mn-lt"/>
                    <a:ea typeface="+mn-ea"/>
                    <a:cs typeface="+mn-cs"/>
                  </a:rPr>
                  <a:t>z-</a:t>
                </a:r>
                <a:r>
                  <a:rPr lang="zh-CN" altLang="zh-CN" sz="1200" kern="1200" dirty="0">
                    <a:solidFill>
                      <a:schemeClr val="tx1"/>
                    </a:solidFill>
                    <a:effectLst/>
                    <a:latin typeface="+mn-lt"/>
                    <a:ea typeface="+mn-ea"/>
                    <a:cs typeface="+mn-cs"/>
                  </a:rPr>
                  <a:t>轴与</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a:t>
                </a:r>
                <a:r>
                  <a:rPr lang="en-US" altLang="zh-CN" sz="1200" kern="1200" dirty="0">
                    <a:solidFill>
                      <a:schemeClr val="tx1"/>
                    </a:solidFill>
                    <a:effectLst/>
                    <a:latin typeface="+mn-lt"/>
                    <a:ea typeface="+mn-ea"/>
                    <a:cs typeface="+mn-cs"/>
                  </a:rPr>
                  <a:t>y-</a:t>
                </a:r>
                <a:r>
                  <a:rPr lang="zh-CN" altLang="zh-CN" sz="1200" kern="1200" dirty="0">
                    <a:solidFill>
                      <a:schemeClr val="tx1"/>
                    </a:solidFill>
                    <a:effectLst/>
                    <a:latin typeface="+mn-lt"/>
                    <a:ea typeface="+mn-ea"/>
                    <a:cs typeface="+mn-cs"/>
                  </a:rPr>
                  <a:t>轴相互正交于原点。在三维空间的任何一点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的位置，可以用直角坐标</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𝑧</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来表达其位置。</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T</a:t>
                </a:r>
                <a:r>
                  <a:rPr lang="zh-CN" altLang="zh-CN" sz="1200" kern="1200" dirty="0" smtClean="0">
                    <a:solidFill>
                      <a:schemeClr val="tx1"/>
                    </a:solidFill>
                    <a:effectLst/>
                    <a:latin typeface="+mn-lt"/>
                    <a:ea typeface="+mn-ea"/>
                    <a:cs typeface="+mn-cs"/>
                  </a:rPr>
                  <a:t>矩阵反映了∑</a:t>
                </a:r>
                <a:r>
                  <a:rPr lang="en-US" altLang="zh-CN" sz="1200" i="1" kern="1200" dirty="0" smtClean="0">
                    <a:solidFill>
                      <a:schemeClr val="tx1"/>
                    </a:solidFill>
                    <a:effectLst/>
                    <a:latin typeface="+mn-lt"/>
                    <a:ea typeface="+mn-ea"/>
                    <a:cs typeface="+mn-cs"/>
                  </a:rPr>
                  <a:t>O</a:t>
                </a:r>
                <a:r>
                  <a:rPr lang="zh-CN" altLang="zh-CN" sz="1200" kern="1200" dirty="0" smtClean="0">
                    <a:solidFill>
                      <a:schemeClr val="tx1"/>
                    </a:solidFill>
                    <a:effectLst/>
                    <a:latin typeface="+mn-lt"/>
                    <a:ea typeface="+mn-ea"/>
                    <a:cs typeface="+mn-cs"/>
                  </a:rPr>
                  <a:t>´在∑</a:t>
                </a:r>
                <a:r>
                  <a:rPr lang="en-US" altLang="zh-CN" sz="1200" i="1" kern="1200" dirty="0" smtClean="0">
                    <a:solidFill>
                      <a:schemeClr val="tx1"/>
                    </a:solidFill>
                    <a:effectLst/>
                    <a:latin typeface="+mn-lt"/>
                    <a:ea typeface="+mn-ea"/>
                    <a:cs typeface="+mn-cs"/>
                  </a:rPr>
                  <a:t>O</a:t>
                </a:r>
                <a:r>
                  <a:rPr lang="zh-CN" altLang="zh-CN" sz="1200" kern="1200" dirty="0" smtClean="0">
                    <a:solidFill>
                      <a:schemeClr val="tx1"/>
                    </a:solidFill>
                    <a:effectLst/>
                    <a:latin typeface="+mn-lt"/>
                    <a:ea typeface="+mn-ea"/>
                    <a:cs typeface="+mn-cs"/>
                  </a:rPr>
                  <a:t>中的位置和姿态，即表示了该坐标系原点和各坐标轴单位矢量在固定坐标系中的位置和姿态。</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如果需要求解∑</a:t>
                </a:r>
                <a:r>
                  <a:rPr lang="en-US" altLang="zh-CN" sz="1200" kern="1200" dirty="0" smtClean="0">
                    <a:solidFill>
                      <a:schemeClr val="tx1"/>
                    </a:solidFill>
                    <a:effectLst/>
                    <a:latin typeface="+mn-lt"/>
                    <a:ea typeface="+mn-ea"/>
                    <a:cs typeface="+mn-cs"/>
                  </a:rPr>
                  <a:t>O</a:t>
                </a:r>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O</a:t>
                </a:r>
                <a:r>
                  <a:rPr lang="zh-CN" altLang="zh-CN" sz="1200" kern="1200" dirty="0" smtClean="0">
                    <a:solidFill>
                      <a:schemeClr val="tx1"/>
                    </a:solidFill>
                    <a:effectLst/>
                    <a:latin typeface="+mn-lt"/>
                    <a:ea typeface="+mn-ea"/>
                    <a:cs typeface="+mn-cs"/>
                  </a:rPr>
                  <a:t>´中的位置和姿态，此时的齐次变换矩阵为</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，即求逆矩阵：</a:t>
                </a:r>
                <a14:m>
                  <m:oMath xmlns:m="http://schemas.openxmlformats.org/officeDocument/2006/math">
                    <m:sSup>
                      <m:sSupPr>
                        <m:ctrlPr>
                          <a:rPr lang="en-US" altLang="zh-CN" sz="1200" b="0" i="1" kern="1200" dirty="0" smtClean="0">
                            <a:solidFill>
                              <a:schemeClr val="tx1"/>
                            </a:solidFill>
                            <a:effectLst/>
                            <a:latin typeface="Cambria Math" panose="02040503050406030204" pitchFamily="18" charset="0"/>
                            <a:ea typeface="+mn-ea"/>
                            <a:cs typeface="+mn-cs"/>
                          </a:rPr>
                        </m:ctrlPr>
                      </m:sSupPr>
                      <m:e>
                        <m:r>
                          <a:rPr lang="en-US" altLang="zh-CN" sz="1200" b="0" i="1" kern="1200" dirty="0" smtClean="0">
                            <a:solidFill>
                              <a:schemeClr val="tx1"/>
                            </a:solidFill>
                            <a:effectLst/>
                            <a:latin typeface="Cambria Math" panose="02040503050406030204" pitchFamily="18" charset="0"/>
                            <a:ea typeface="+mn-ea"/>
                            <a:cs typeface="+mn-cs"/>
                          </a:rPr>
                          <m:t>𝑇</m:t>
                        </m:r>
                      </m:e>
                      <m:sup>
                        <m:r>
                          <a:rPr lang="en-US" altLang="zh-CN" sz="1200" b="0" i="1" kern="1200" dirty="0" smtClean="0">
                            <a:solidFill>
                              <a:schemeClr val="tx1"/>
                            </a:solidFill>
                            <a:effectLst/>
                            <a:latin typeface="Cambria Math" panose="02040503050406030204" pitchFamily="18" charset="0"/>
                            <a:ea typeface="+mn-ea"/>
                            <a:cs typeface="+mn-cs"/>
                          </a:rPr>
                          <m:t>−1</m:t>
                        </m:r>
                      </m:sup>
                    </m:sSup>
                  </m:oMath>
                </a14:m>
                <a:r>
                  <a:rPr lang="zh-CN" altLang="zh-CN" sz="1200" kern="1200" dirty="0" smtClean="0">
                    <a:solidFill>
                      <a:schemeClr val="tx1"/>
                    </a:solidFill>
                    <a:effectLst/>
                    <a:latin typeface="+mn-lt"/>
                    <a:ea typeface="+mn-ea"/>
                    <a:cs typeface="+mn-cs"/>
                  </a:rPr>
                  <a:t> </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位置矩阵比较直观，代表动坐标系∑</a:t>
                </a:r>
                <a:r>
                  <a:rPr lang="en-US" altLang="zh-CN" sz="1200" kern="1200" dirty="0" smtClean="0">
                    <a:solidFill>
                      <a:schemeClr val="tx1"/>
                    </a:solidFill>
                    <a:effectLst/>
                    <a:latin typeface="+mn-lt"/>
                    <a:ea typeface="+mn-ea"/>
                    <a:cs typeface="+mn-cs"/>
                  </a:rPr>
                  <a:t>O</a:t>
                </a:r>
                <a:r>
                  <a:rPr lang="zh-CN" altLang="zh-CN" sz="1200" kern="1200" dirty="0" smtClean="0">
                    <a:solidFill>
                      <a:schemeClr val="tx1"/>
                    </a:solidFill>
                    <a:effectLst/>
                    <a:latin typeface="+mn-lt"/>
                    <a:ea typeface="+mn-ea"/>
                    <a:cs typeface="+mn-cs"/>
                  </a:rPr>
                  <a:t>´坐标原点在固定参考坐标系∑</a:t>
                </a:r>
                <a:r>
                  <a:rPr lang="en-US" altLang="zh-CN" sz="1200" kern="1200" dirty="0" smtClean="0">
                    <a:solidFill>
                      <a:schemeClr val="tx1"/>
                    </a:solidFill>
                    <a:effectLst/>
                    <a:latin typeface="+mn-lt"/>
                    <a:ea typeface="+mn-ea"/>
                    <a:cs typeface="+mn-cs"/>
                  </a:rPr>
                  <a:t>O</a:t>
                </a:r>
                <a:r>
                  <a:rPr lang="zh-CN" altLang="zh-CN" sz="1200" kern="1200" dirty="0" smtClean="0">
                    <a:solidFill>
                      <a:schemeClr val="tx1"/>
                    </a:solidFill>
                    <a:effectLst/>
                    <a:latin typeface="+mn-lt"/>
                    <a:ea typeface="+mn-ea"/>
                    <a:cs typeface="+mn-cs"/>
                  </a:rPr>
                  <a:t>中的位置，而姿态矩阵</a:t>
                </a:r>
                <a:r>
                  <a:rPr lang="en-US" altLang="zh-CN" sz="1200" kern="1200" dirty="0" smtClean="0">
                    <a:solidFill>
                      <a:schemeClr val="tx1"/>
                    </a:solidFill>
                    <a:effectLst/>
                    <a:latin typeface="+mn-lt"/>
                    <a:ea typeface="+mn-ea"/>
                    <a:cs typeface="+mn-cs"/>
                  </a:rPr>
                  <a:t>(</a:t>
                </a:r>
                <a:r>
                  <a:rPr lang="en-US" altLang="zh-CN" sz="1200" i="0" kern="1200" dirty="0" smtClean="0">
                    <a:solidFill>
                      <a:schemeClr val="tx1"/>
                    </a:solidFill>
                    <a:effectLst/>
                    <a:latin typeface="+mn-lt"/>
                    <a:ea typeface="+mn-ea"/>
                    <a:cs typeface="+mn-cs"/>
                  </a:rPr>
                  <a:t>attitude matrix)</a:t>
                </a:r>
                <a:r>
                  <a:rPr lang="zh-CN" altLang="zh-CN" sz="1200" kern="1200" dirty="0" smtClean="0">
                    <a:solidFill>
                      <a:schemeClr val="tx1"/>
                    </a:solidFill>
                    <a:effectLst/>
                    <a:latin typeface="+mn-lt"/>
                    <a:ea typeface="+mn-ea"/>
                    <a:cs typeface="+mn-cs"/>
                  </a:rPr>
                  <a:t>则有多种表示方法。姿态矩阵较常用的表示方法有</a:t>
                </a:r>
                <a:r>
                  <a:rPr lang="en-US" altLang="zh-CN" sz="1200" b="1" kern="1200" dirty="0" smtClean="0">
                    <a:solidFill>
                      <a:schemeClr val="tx1"/>
                    </a:solidFill>
                    <a:effectLst/>
                    <a:latin typeface="+mn-lt"/>
                    <a:ea typeface="+mn-ea"/>
                    <a:cs typeface="+mn-cs"/>
                  </a:rPr>
                  <a:t>RPY</a:t>
                </a:r>
                <a:r>
                  <a:rPr lang="zh-CN" altLang="zh-CN" sz="1200" b="1" kern="1200" dirty="0" smtClean="0">
                    <a:solidFill>
                      <a:schemeClr val="tx1"/>
                    </a:solidFill>
                    <a:effectLst/>
                    <a:latin typeface="+mn-lt"/>
                    <a:ea typeface="+mn-ea"/>
                    <a:cs typeface="+mn-cs"/>
                  </a:rPr>
                  <a:t>角法</a:t>
                </a:r>
                <a:r>
                  <a:rPr lang="zh-CN" altLang="zh-CN" sz="1200" kern="1200" dirty="0" smtClean="0">
                    <a:solidFill>
                      <a:schemeClr val="tx1"/>
                    </a:solidFill>
                    <a:effectLst/>
                    <a:latin typeface="+mn-lt"/>
                    <a:ea typeface="+mn-ea"/>
                    <a:cs typeface="+mn-cs"/>
                  </a:rPr>
                  <a:t>（滚动角、俯仰角、偏航角）、</a:t>
                </a:r>
                <a:r>
                  <a:rPr lang="zh-CN" altLang="zh-CN" sz="1200" b="1" kern="1200" dirty="0" smtClean="0">
                    <a:solidFill>
                      <a:schemeClr val="tx1"/>
                    </a:solidFill>
                    <a:effectLst/>
                    <a:latin typeface="+mn-lt"/>
                    <a:ea typeface="+mn-ea"/>
                    <a:cs typeface="+mn-cs"/>
                  </a:rPr>
                  <a:t>欧拉角法</a:t>
                </a:r>
                <a:r>
                  <a:rPr lang="zh-CN" altLang="zh-CN" sz="1200" kern="1200" dirty="0" smtClean="0">
                    <a:solidFill>
                      <a:schemeClr val="tx1"/>
                    </a:solidFill>
                    <a:effectLst/>
                    <a:latin typeface="+mn-lt"/>
                    <a:ea typeface="+mn-ea"/>
                    <a:cs typeface="+mn-cs"/>
                  </a:rPr>
                  <a:t>、</a:t>
                </a:r>
                <a:r>
                  <a:rPr lang="zh-CN" altLang="zh-CN" sz="1200" b="1" kern="1200" dirty="0" smtClean="0">
                    <a:solidFill>
                      <a:schemeClr val="tx1"/>
                    </a:solidFill>
                    <a:effectLst/>
                    <a:latin typeface="+mn-lt"/>
                    <a:ea typeface="+mn-ea"/>
                    <a:cs typeface="+mn-cs"/>
                  </a:rPr>
                  <a:t>罗德里格斯公式、四元素法</a:t>
                </a:r>
                <a:r>
                  <a:rPr lang="zh-CN" altLang="zh-CN" sz="1200" kern="1200" dirty="0" smtClean="0">
                    <a:solidFill>
                      <a:schemeClr val="tx1"/>
                    </a:solidFill>
                    <a:effectLst/>
                    <a:latin typeface="+mn-lt"/>
                    <a:ea typeface="+mn-ea"/>
                    <a:cs typeface="+mn-cs"/>
                  </a:rPr>
                  <a:t>以及</a:t>
                </a:r>
                <a:r>
                  <a:rPr lang="zh-CN" altLang="zh-CN" sz="1200" b="1" kern="1200" dirty="0" smtClean="0">
                    <a:solidFill>
                      <a:schemeClr val="tx1"/>
                    </a:solidFill>
                    <a:effectLst/>
                    <a:latin typeface="+mn-lt"/>
                    <a:ea typeface="+mn-ea"/>
                    <a:cs typeface="+mn-cs"/>
                  </a:rPr>
                  <a:t>罗德里格斯参数法</a:t>
                </a:r>
                <a:r>
                  <a:rPr lang="zh-CN" altLang="zh-CN" sz="1200" kern="1200" dirty="0" smtClean="0">
                    <a:solidFill>
                      <a:schemeClr val="tx1"/>
                    </a:solidFill>
                    <a:effectLst/>
                    <a:latin typeface="+mn-lt"/>
                    <a:ea typeface="+mn-ea"/>
                    <a:cs typeface="+mn-cs"/>
                  </a:rPr>
                  <a:t>等方法。</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式（</a:t>
            </a:r>
            <a:r>
              <a:rPr lang="en-US" altLang="zh-CN" sz="1200" kern="1200" dirty="0" smtClean="0">
                <a:solidFill>
                  <a:schemeClr val="tx1"/>
                </a:solidFill>
                <a:effectLst/>
                <a:latin typeface="+mn-lt"/>
                <a:ea typeface="+mn-ea"/>
                <a:cs typeface="+mn-cs"/>
              </a:rPr>
              <a:t>2-2</a:t>
            </a:r>
            <a:r>
              <a:rPr lang="zh-CN" altLang="zh-CN" sz="1200" kern="1200" dirty="0" smtClean="0">
                <a:solidFill>
                  <a:schemeClr val="tx1"/>
                </a:solidFill>
                <a:effectLst/>
                <a:latin typeface="+mn-lt"/>
                <a:ea typeface="+mn-ea"/>
                <a:cs typeface="+mn-cs"/>
              </a:rPr>
              <a:t>）中，</a:t>
            </a:r>
            <a:r>
              <a:rPr lang="en-US" altLang="zh-CN" sz="1200" i="1" kern="1200" dirty="0" smtClean="0">
                <a:solidFill>
                  <a:schemeClr val="tx1"/>
                </a:solidFill>
                <a:effectLst/>
                <a:latin typeface="+mn-lt"/>
                <a:ea typeface="+mn-ea"/>
                <a:cs typeface="+mn-cs"/>
              </a:rPr>
              <a:t>RPY</a:t>
            </a:r>
            <a:r>
              <a:rPr lang="zh-CN" altLang="zh-CN" sz="1200" kern="1200" dirty="0" smtClean="0">
                <a:solidFill>
                  <a:schemeClr val="tx1"/>
                </a:solidFill>
                <a:effectLst/>
                <a:latin typeface="+mn-lt"/>
                <a:ea typeface="+mn-ea"/>
                <a:cs typeface="+mn-cs"/>
              </a:rPr>
              <a:t>表示横滚（</a:t>
            </a:r>
            <a:r>
              <a:rPr lang="en-US" altLang="zh-CN" sz="1200" kern="1200" dirty="0" smtClean="0">
                <a:solidFill>
                  <a:schemeClr val="tx1"/>
                </a:solidFill>
                <a:effectLst/>
                <a:latin typeface="+mn-lt"/>
                <a:ea typeface="+mn-ea"/>
                <a:cs typeface="+mn-cs"/>
              </a:rPr>
              <a:t>roll</a:t>
            </a:r>
            <a:r>
              <a:rPr lang="zh-CN" altLang="zh-CN" sz="1200" kern="1200" dirty="0" smtClean="0">
                <a:solidFill>
                  <a:schemeClr val="tx1"/>
                </a:solidFill>
                <a:effectLst/>
                <a:latin typeface="+mn-lt"/>
                <a:ea typeface="+mn-ea"/>
                <a:cs typeface="+mn-cs"/>
              </a:rPr>
              <a:t>）、俯仰</a:t>
            </a:r>
            <a:r>
              <a:rPr lang="en-US" altLang="zh-CN" sz="1200" kern="1200" dirty="0" smtClean="0">
                <a:solidFill>
                  <a:schemeClr val="tx1"/>
                </a:solidFill>
                <a:effectLst/>
                <a:latin typeface="+mn-lt"/>
                <a:ea typeface="+mn-ea"/>
                <a:cs typeface="+mn-cs"/>
              </a:rPr>
              <a:t>(pitch)</a:t>
            </a:r>
            <a:r>
              <a:rPr lang="zh-CN" altLang="zh-CN" sz="1200" kern="1200" dirty="0" smtClean="0">
                <a:solidFill>
                  <a:schemeClr val="tx1"/>
                </a:solidFill>
                <a:effectLst/>
                <a:latin typeface="+mn-lt"/>
                <a:ea typeface="+mn-ea"/>
                <a:cs typeface="+mn-cs"/>
              </a:rPr>
              <a:t>和偏转</a:t>
            </a:r>
            <a:r>
              <a:rPr lang="en-US" altLang="zh-CN" sz="1200" kern="1200" dirty="0" smtClean="0">
                <a:solidFill>
                  <a:schemeClr val="tx1"/>
                </a:solidFill>
                <a:effectLst/>
                <a:latin typeface="+mn-lt"/>
                <a:ea typeface="+mn-ea"/>
                <a:cs typeface="+mn-cs"/>
              </a:rPr>
              <a:t>(yaw)</a:t>
            </a:r>
            <a:r>
              <a:rPr lang="zh-CN" altLang="zh-CN" sz="1200" kern="1200" dirty="0" smtClean="0">
                <a:solidFill>
                  <a:schemeClr val="tx1"/>
                </a:solidFill>
                <a:effectLst/>
                <a:latin typeface="+mn-lt"/>
                <a:ea typeface="+mn-ea"/>
                <a:cs typeface="+mn-cs"/>
              </a:rPr>
              <a:t>三个旋转的组合变换。也就是说，先绕 </a:t>
            </a:r>
            <a:r>
              <a:rPr lang="en-US" altLang="zh-CN" sz="1200" i="1" kern="1200" dirty="0" smtClean="0">
                <a:solidFill>
                  <a:schemeClr val="tx1"/>
                </a:solidFill>
                <a:effectLst/>
                <a:latin typeface="+mn-lt"/>
                <a:ea typeface="+mn-ea"/>
                <a:cs typeface="+mn-cs"/>
              </a:rPr>
              <a:t>x </a:t>
            </a:r>
            <a:r>
              <a:rPr lang="zh-CN" altLang="zh-CN" sz="1200" kern="1200" dirty="0" smtClean="0">
                <a:solidFill>
                  <a:schemeClr val="tx1"/>
                </a:solidFill>
                <a:effectLst/>
                <a:latin typeface="+mn-lt"/>
                <a:ea typeface="+mn-ea"/>
                <a:cs typeface="+mn-cs"/>
              </a:rPr>
              <a:t>轴旋转角 </a:t>
            </a:r>
            <a:r>
              <a:rPr lang="el-GR" altLang="zh-CN" sz="1200" i="1" kern="1200" dirty="0" smtClean="0">
                <a:solidFill>
                  <a:schemeClr val="tx1"/>
                </a:solidFill>
                <a:effectLst/>
                <a:latin typeface="+mn-lt"/>
                <a:ea typeface="+mn-ea"/>
                <a:cs typeface="+mn-cs"/>
              </a:rPr>
              <a:t>ψ</a:t>
            </a:r>
            <a:r>
              <a:rPr lang="zh-CN" altLang="zh-CN" sz="1200" kern="1200" dirty="0" smtClean="0">
                <a:solidFill>
                  <a:schemeClr val="tx1"/>
                </a:solidFill>
                <a:effectLst/>
                <a:latin typeface="+mn-lt"/>
                <a:ea typeface="+mn-ea"/>
                <a:cs typeface="+mn-cs"/>
              </a:rPr>
              <a:t>，再绕 </a:t>
            </a:r>
            <a:r>
              <a:rPr lang="en-US" altLang="zh-CN" sz="1200" i="1" kern="1200" dirty="0" smtClean="0">
                <a:solidFill>
                  <a:schemeClr val="tx1"/>
                </a:solidFill>
                <a:effectLst/>
                <a:latin typeface="+mn-lt"/>
                <a:ea typeface="+mn-ea"/>
                <a:cs typeface="+mn-cs"/>
              </a:rPr>
              <a:t>y </a:t>
            </a:r>
            <a:r>
              <a:rPr lang="zh-CN" altLang="zh-CN" sz="1200" kern="1200" dirty="0" smtClean="0">
                <a:solidFill>
                  <a:schemeClr val="tx1"/>
                </a:solidFill>
                <a:effectLst/>
                <a:latin typeface="+mn-lt"/>
                <a:ea typeface="+mn-ea"/>
                <a:cs typeface="+mn-cs"/>
              </a:rPr>
              <a:t>轴旋转角</a:t>
            </a:r>
            <a:r>
              <a:rPr lang="el-GR" altLang="zh-CN" sz="1200" i="1" kern="1200" dirty="0" smtClean="0">
                <a:solidFill>
                  <a:schemeClr val="tx1"/>
                </a:solidFill>
                <a:effectLst/>
                <a:latin typeface="+mn-lt"/>
                <a:ea typeface="+mn-ea"/>
                <a:cs typeface="+mn-cs"/>
              </a:rPr>
              <a:t>θ</a:t>
            </a:r>
            <a:r>
              <a:rPr lang="zh-CN" altLang="zh-CN" sz="1200" kern="1200" dirty="0" smtClean="0">
                <a:solidFill>
                  <a:schemeClr val="tx1"/>
                </a:solidFill>
                <a:effectLst/>
                <a:latin typeface="+mn-lt"/>
                <a:ea typeface="+mn-ea"/>
                <a:cs typeface="+mn-cs"/>
              </a:rPr>
              <a:t>，最后绕 </a:t>
            </a:r>
            <a:r>
              <a:rPr lang="en-US" altLang="zh-CN" sz="1200" i="1" kern="1200" dirty="0" smtClean="0">
                <a:solidFill>
                  <a:schemeClr val="tx1"/>
                </a:solidFill>
                <a:effectLst/>
                <a:latin typeface="+mn-lt"/>
                <a:ea typeface="+mn-ea"/>
                <a:cs typeface="+mn-cs"/>
              </a:rPr>
              <a:t>z </a:t>
            </a:r>
            <a:r>
              <a:rPr lang="zh-CN" altLang="zh-CN" sz="1200" kern="1200" dirty="0" smtClean="0">
                <a:solidFill>
                  <a:schemeClr val="tx1"/>
                </a:solidFill>
                <a:effectLst/>
                <a:latin typeface="+mn-lt"/>
                <a:ea typeface="+mn-ea"/>
                <a:cs typeface="+mn-cs"/>
              </a:rPr>
              <a:t>轴旋角</a:t>
            </a:r>
            <a:r>
              <a:rPr lang="zh-CN" altLang="zh-CN" sz="1200" i="1" kern="1200" dirty="0" smtClean="0">
                <a:solidFill>
                  <a:schemeClr val="tx1"/>
                </a:solidFill>
                <a:effectLst/>
                <a:latin typeface="+mn-lt"/>
                <a:ea typeface="+mn-ea"/>
                <a:cs typeface="+mn-cs"/>
              </a:rPr>
              <a:t>ф</a:t>
            </a:r>
            <a:r>
              <a:rPr lang="zh-CN" altLang="zh-CN" sz="1200" kern="1200" dirty="0" smtClean="0">
                <a:solidFill>
                  <a:schemeClr val="tx1"/>
                </a:solidFill>
                <a:effectLst/>
                <a:latin typeface="+mn-lt"/>
                <a:ea typeface="+mn-ea"/>
                <a:cs typeface="+mn-cs"/>
              </a:rPr>
              <a:t> ，其旋转矩阵的变换形式为依次左乘。</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采用</a:t>
            </a:r>
            <a:r>
              <a:rPr lang="en-US" altLang="zh-CN" sz="1200" kern="1200" dirty="0">
                <a:solidFill>
                  <a:schemeClr val="tx1"/>
                </a:solidFill>
                <a:effectLst/>
                <a:latin typeface="+mn-lt"/>
                <a:ea typeface="+mn-ea"/>
                <a:cs typeface="+mn-cs"/>
              </a:rPr>
              <a:t>RPY</a:t>
            </a:r>
            <a:r>
              <a:rPr lang="zh-CN" altLang="zh-CN" sz="1200" kern="1200" dirty="0">
                <a:solidFill>
                  <a:schemeClr val="tx1"/>
                </a:solidFill>
                <a:effectLst/>
                <a:latin typeface="+mn-lt"/>
                <a:ea typeface="+mn-ea"/>
                <a:cs typeface="+mn-cs"/>
              </a:rPr>
              <a:t>角法表示的姿态，其参考坐标系一般为全局坐标系。</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回顾一下在线性代数课程中所学的知识。在齐次坐标系下，可以将三维空间的刚体运动归纳为两种运动的组合，即绕某个主轴的平移运动或旋转运动。</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2.3 </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2.18</a:t>
                </a:r>
                <a:r>
                  <a:rPr lang="zh-CN" altLang="zh-CN" sz="1200" kern="1200" dirty="0">
                    <a:solidFill>
                      <a:schemeClr val="tx1"/>
                    </a:solidFill>
                    <a:effectLst/>
                    <a:latin typeface="+mn-lt"/>
                    <a:ea typeface="+mn-ea"/>
                    <a:cs typeface="+mn-cs"/>
                  </a:rPr>
                  <a:t>所示，三维空间中的一个圆锥体，图</a:t>
                </a:r>
                <a:r>
                  <a:rPr lang="en-US" altLang="zh-CN" sz="1200" kern="1200" dirty="0">
                    <a:solidFill>
                      <a:schemeClr val="tx1"/>
                    </a:solidFill>
                    <a:effectLst/>
                    <a:latin typeface="+mn-lt"/>
                    <a:ea typeface="+mn-ea"/>
                    <a:cs typeface="+mn-cs"/>
                  </a:rPr>
                  <a:t>(a)</a:t>
                </a:r>
                <a:r>
                  <a:rPr lang="zh-CN" altLang="zh-CN" sz="1200" kern="1200" dirty="0">
                    <a:solidFill>
                      <a:schemeClr val="tx1"/>
                    </a:solidFill>
                    <a:effectLst/>
                    <a:latin typeface="+mn-lt"/>
                    <a:ea typeface="+mn-ea"/>
                    <a:cs typeface="+mn-cs"/>
                  </a:rPr>
                  <a:t>中表示需要将它从水平状态运动到垂直状态，这样的一个运动过程可以通</a:t>
                </a:r>
                <a:r>
                  <a:rPr lang="en-US" altLang="zh-CN" sz="1200" kern="1200" dirty="0">
                    <a:solidFill>
                      <a:schemeClr val="tx1"/>
                    </a:solidFill>
                    <a:effectLst/>
                    <a:latin typeface="+mn-lt"/>
                    <a:ea typeface="+mn-ea"/>
                    <a:cs typeface="+mn-cs"/>
                  </a:rPr>
                  <a:t>(a)-&gt;(b)-&gt;(c)-&gt;(d)</a:t>
                </a:r>
                <a:r>
                  <a:rPr lang="zh-CN" altLang="zh-CN" sz="1200" kern="1200" dirty="0">
                    <a:solidFill>
                      <a:schemeClr val="tx1"/>
                    </a:solidFill>
                    <a:effectLst/>
                    <a:latin typeface="+mn-lt"/>
                    <a:ea typeface="+mn-ea"/>
                    <a:cs typeface="+mn-cs"/>
                  </a:rPr>
                  <a:t>的一系列旋转、平移运动合成。更新后的圆锥体位姿可以通过初始位姿矩阵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依次左乘相应的旋转和平移矩阵即可得到。假设初始状态下，圆锥体的尖角指向为接近矢量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𝑎</m:t>
                    </m:r>
                  </m:oMath>
                </a14:m>
                <a:r>
                  <a:rPr lang="zh-CN" altLang="zh-CN" sz="1200" kern="1200" dirty="0">
                    <a:solidFill>
                      <a:schemeClr val="tx1"/>
                    </a:solidFill>
                    <a:effectLst/>
                    <a:latin typeface="+mn-lt"/>
                    <a:ea typeface="+mn-ea"/>
                    <a:cs typeface="+mn-cs"/>
                  </a:rPr>
                  <a:t>的方向，方向矢量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𝑜</m:t>
                    </m:r>
                  </m:oMath>
                </a14:m>
                <a:r>
                  <a:rPr lang="zh-CN" altLang="zh-CN" sz="1200" kern="1200" dirty="0">
                    <a:solidFill>
                      <a:schemeClr val="tx1"/>
                    </a:solidFill>
                    <a:effectLst/>
                    <a:latin typeface="+mn-lt"/>
                    <a:ea typeface="+mn-ea"/>
                    <a:cs typeface="+mn-cs"/>
                  </a:rPr>
                  <a:t>的方向与全局坐标系</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轴方向相反，法向矢量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𝑛</m:t>
                    </m:r>
                  </m:oMath>
                </a14:m>
                <a:r>
                  <a:rPr lang="zh-CN" altLang="zh-CN" sz="1200" kern="1200" dirty="0">
                    <a:solidFill>
                      <a:schemeClr val="tx1"/>
                    </a:solidFill>
                    <a:effectLst/>
                    <a:latin typeface="+mn-lt"/>
                    <a:ea typeface="+mn-ea"/>
                    <a:cs typeface="+mn-cs"/>
                  </a:rPr>
                  <a:t>的方向与全局坐标系的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oMath>
                </a14:m>
                <a:r>
                  <a:rPr lang="zh-CN" altLang="zh-CN" sz="1200" kern="1200" dirty="0">
                    <a:solidFill>
                      <a:schemeClr val="tx1"/>
                    </a:solidFill>
                    <a:effectLst/>
                    <a:latin typeface="+mn-lt"/>
                    <a:ea typeface="+mn-ea"/>
                    <a:cs typeface="+mn-cs"/>
                  </a:rPr>
                  <a:t>轴一致，初始位姿矩阵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oMath>
                </a14:m>
                <a:r>
                  <a:rPr lang="zh-CN" altLang="zh-CN" sz="1200" kern="1200" dirty="0">
                    <a:solidFill>
                      <a:schemeClr val="tx1"/>
                    </a:solidFill>
                    <a:effectLst/>
                    <a:latin typeface="+mn-lt"/>
                    <a:ea typeface="+mn-ea"/>
                    <a:cs typeface="+mn-cs"/>
                  </a:rPr>
                  <a:t>以及经过齐次变换运算之后得到的更新后的位姿矩阵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oMath>
                </a14:m>
                <a:r>
                  <a:rPr lang="zh-CN" altLang="zh-CN" sz="1200" kern="1200" dirty="0">
                    <a:solidFill>
                      <a:schemeClr val="tx1"/>
                    </a:solidFill>
                    <a:effectLst/>
                    <a:latin typeface="+mn-lt"/>
                    <a:ea typeface="+mn-ea"/>
                    <a:cs typeface="+mn-cs"/>
                  </a:rPr>
                  <a:t>的求解过程如下</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在上面的运算过程中，位姿的计算采用了齐次坐标系下的绝对变换，初始位姿矩阵依次左乘旋转、平移矩阵，得到更新后的位姿矩阵。如果只是求姿态，也可以采用</a:t>
                </a:r>
                <a:r>
                  <a:rPr lang="en-US" altLang="zh-CN" sz="1200" kern="1200" dirty="0">
                    <a:solidFill>
                      <a:schemeClr val="tx1"/>
                    </a:solidFill>
                    <a:effectLst/>
                    <a:latin typeface="+mn-lt"/>
                    <a:ea typeface="+mn-ea"/>
                    <a:cs typeface="+mn-cs"/>
                  </a:rPr>
                  <a:t>RPY</a:t>
                </a:r>
                <a:r>
                  <a:rPr lang="zh-CN" altLang="zh-CN" sz="1200" kern="1200" dirty="0">
                    <a:solidFill>
                      <a:schemeClr val="tx1"/>
                    </a:solidFill>
                    <a:effectLst/>
                    <a:latin typeface="+mn-lt"/>
                    <a:ea typeface="+mn-ea"/>
                    <a:cs typeface="+mn-cs"/>
                  </a:rPr>
                  <a:t>角法进行表达，初始状态下，其姿态角相当于绕</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oMath>
                </a14:m>
                <a:r>
                  <a:rPr lang="zh-CN" altLang="zh-CN" sz="1200" kern="1200" dirty="0">
                    <a:solidFill>
                      <a:schemeClr val="tx1"/>
                    </a:solidFill>
                    <a:effectLst/>
                    <a:latin typeface="+mn-lt"/>
                    <a:ea typeface="+mn-ea"/>
                    <a:cs typeface="+mn-cs"/>
                  </a:rPr>
                  <a:t>轴进行了</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度的偏转，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𝜓</m:t>
                    </m:r>
                    <m:r>
                      <a:rPr lang="en-US" altLang="zh-CN" sz="1200" i="1" kern="1200">
                        <a:solidFill>
                          <a:schemeClr val="tx1"/>
                        </a:solidFill>
                        <a:effectLst/>
                        <a:latin typeface="Cambria Math" panose="02040503050406030204" pitchFamily="18" charset="0"/>
                        <a:ea typeface="+mn-ea"/>
                        <a:cs typeface="+mn-cs"/>
                      </a:rPr>
                      <m:t>=−90</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𝑅𝑃𝑌</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𝜓</m:t>
                        </m:r>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𝑅𝑜𝑡</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𝑧</m:t>
                        </m:r>
                        <m:r>
                          <a:rPr lang="en-US" altLang="zh-CN" sz="1200" i="1" kern="1200">
                            <a:solidFill>
                              <a:schemeClr val="tx1"/>
                            </a:solidFill>
                            <a:effectLst/>
                            <a:latin typeface="Cambria Math" panose="02040503050406030204" pitchFamily="18" charset="0"/>
                            <a:ea typeface="+mn-ea"/>
                            <a:cs typeface="+mn-cs"/>
                          </a:rPr>
                          <m:t>,∅</m:t>
                        </m:r>
                      </m:e>
                    </m:d>
                    <m:r>
                      <a:rPr lang="en-US" altLang="zh-CN" sz="1200" i="1" kern="1200">
                        <a:solidFill>
                          <a:schemeClr val="tx1"/>
                        </a:solidFill>
                        <a:effectLst/>
                        <a:latin typeface="Cambria Math" panose="02040503050406030204" pitchFamily="18" charset="0"/>
                        <a:ea typeface="+mn-ea"/>
                        <a:cs typeface="+mn-cs"/>
                      </a:rPr>
                      <m:t>𝑅𝑜𝑡</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𝑅𝑜𝑡</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𝜓</m:t>
                        </m:r>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oMath>
                </a14:m>
                <a:r>
                  <a:rPr lang="zh-CN" altLang="zh-CN" sz="1200" kern="1200" dirty="0">
                    <a:solidFill>
                      <a:schemeClr val="tx1"/>
                    </a:solidFill>
                    <a:effectLst/>
                    <a:latin typeface="+mn-lt"/>
                    <a:ea typeface="+mn-ea"/>
                    <a:cs typeface="+mn-cs"/>
                  </a:rPr>
                  <a:t>。终止状态下，圆锥体在全局坐标系下较初始状态仅进行了绕</a:t>
                </a:r>
                <a:r>
                  <a:rPr lang="en-US" altLang="zh-CN" sz="1200" kern="1200" dirty="0">
                    <a:solidFill>
                      <a:schemeClr val="tx1"/>
                    </a:solidFill>
                    <a:effectLst/>
                    <a:latin typeface="+mn-lt"/>
                    <a:ea typeface="+mn-ea"/>
                    <a:cs typeface="+mn-cs"/>
                  </a:rPr>
                  <a:t>x</a:t>
                </a:r>
                <a:r>
                  <a:rPr lang="zh-CN" altLang="zh-CN" sz="1200" kern="1200" dirty="0">
                    <a:solidFill>
                      <a:schemeClr val="tx1"/>
                    </a:solidFill>
                    <a:effectLst/>
                    <a:latin typeface="+mn-lt"/>
                    <a:ea typeface="+mn-ea"/>
                    <a:cs typeface="+mn-cs"/>
                  </a:rPr>
                  <a:t>轴</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度的偏转，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𝜓</m:t>
                    </m:r>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RPY</a:t>
                </a:r>
                <a:r>
                  <a:rPr lang="zh-CN" altLang="zh-CN" sz="1200" kern="1200" dirty="0">
                    <a:solidFill>
                      <a:schemeClr val="tx1"/>
                    </a:solidFill>
                    <a:effectLst/>
                    <a:latin typeface="+mn-lt"/>
                    <a:ea typeface="+mn-ea"/>
                    <a:cs typeface="+mn-cs"/>
                  </a:rPr>
                  <a:t>姿态矩阵为</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RPY</a:t>
                </a:r>
                <a:r>
                  <a:rPr lang="zh-CN" altLang="zh-CN" sz="1200" kern="1200" dirty="0">
                    <a:solidFill>
                      <a:schemeClr val="tx1"/>
                    </a:solidFill>
                    <a:effectLst/>
                    <a:latin typeface="+mn-lt"/>
                    <a:ea typeface="+mn-ea"/>
                    <a:cs typeface="+mn-cs"/>
                  </a:rPr>
                  <a:t>角法通常是在全局固定坐标系下来表示刚体运动的姿态，而针对相对坐标系下的姿态，通常用欧拉角来进行描述。常用的欧拉角法控制顺序为：先绕</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轴旋转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角，再绕新的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𝑦</m:t>
                    </m:r>
                  </m:oMath>
                </a14:m>
                <a:r>
                  <a:rPr lang="zh-CN" altLang="zh-CN" sz="1200" kern="1200" dirty="0">
                    <a:solidFill>
                      <a:schemeClr val="tx1"/>
                    </a:solidFill>
                    <a:effectLst/>
                    <a:latin typeface="+mn-lt"/>
                    <a:ea typeface="+mn-ea"/>
                    <a:cs typeface="+mn-cs"/>
                  </a:rPr>
                  <a:t>轴</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𝑦</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角，最后绕新的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轴</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𝑧</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𝜓</m:t>
                    </m:r>
                  </m:oMath>
                </a14:m>
                <a:r>
                  <a:rPr lang="zh-CN" altLang="zh-CN" sz="1200" kern="1200" dirty="0">
                    <a:solidFill>
                      <a:schemeClr val="tx1"/>
                    </a:solidFill>
                    <a:effectLst/>
                    <a:latin typeface="+mn-lt"/>
                    <a:ea typeface="+mn-ea"/>
                    <a:cs typeface="+mn-cs"/>
                  </a:rPr>
                  <a:t>角来描述任何可能的姿态。</a:t>
                </a:r>
              </a:p>
              <a:p>
                <a:r>
                  <a:rPr lang="zh-CN" altLang="zh-CN" sz="1200" kern="1200" dirty="0">
                    <a:solidFill>
                      <a:schemeClr val="tx1"/>
                    </a:solidFill>
                    <a:effectLst/>
                    <a:latin typeface="+mn-lt"/>
                    <a:ea typeface="+mn-ea"/>
                    <a:cs typeface="+mn-cs"/>
                  </a:rPr>
                  <a:t>欧拉变换（</a:t>
                </a:r>
                <a:r>
                  <a:rPr lang="en-US" altLang="zh-CN" sz="1200" kern="1200" dirty="0">
                    <a:solidFill>
                      <a:schemeClr val="tx1"/>
                    </a:solidFill>
                    <a:effectLst/>
                    <a:latin typeface="+mn-lt"/>
                    <a:ea typeface="+mn-ea"/>
                    <a:cs typeface="+mn-cs"/>
                  </a:rPr>
                  <a:t>Euler</a:t>
                </a:r>
                <a:r>
                  <a:rPr lang="zh-CN" altLang="zh-CN" sz="1200" kern="1200" dirty="0">
                    <a:solidFill>
                      <a:schemeClr val="tx1"/>
                    </a:solidFill>
                    <a:effectLst/>
                    <a:latin typeface="+mn-lt"/>
                    <a:ea typeface="+mn-ea"/>
                    <a:cs typeface="+mn-cs"/>
                  </a:rPr>
                  <a:t>）也可由连乘三个旋转矩阵来求得，但其顺序为依次右</a:t>
                </a:r>
                <a:r>
                  <a:rPr lang="zh-CN" altLang="zh-CN" sz="1200" kern="1200" dirty="0" smtClean="0">
                    <a:solidFill>
                      <a:schemeClr val="tx1"/>
                    </a:solidFill>
                    <a:effectLst/>
                    <a:latin typeface="+mn-lt"/>
                    <a:ea typeface="+mn-ea"/>
                    <a:cs typeface="+mn-cs"/>
                  </a:rPr>
                  <a:t>乘</a:t>
                </a:r>
                <a:r>
                  <a:rPr lang="zh-CN" altLang="en-US"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RPY</a:t>
                </a:r>
                <a:r>
                  <a:rPr lang="zh-CN" altLang="zh-CN" sz="1200" kern="1200" dirty="0">
                    <a:solidFill>
                      <a:schemeClr val="tx1"/>
                    </a:solidFill>
                    <a:effectLst/>
                    <a:latin typeface="+mn-lt"/>
                    <a:ea typeface="+mn-ea"/>
                    <a:cs typeface="+mn-cs"/>
                  </a:rPr>
                  <a:t>角法和欧拉角法这两种方法都是以一定顺序绕主坐标轴旋转三次来得到运动后的姿态描述，不同之处在于</a:t>
                </a:r>
                <a:r>
                  <a:rPr lang="en-US" altLang="zh-CN" sz="1200" kern="1200" dirty="0">
                    <a:solidFill>
                      <a:schemeClr val="tx1"/>
                    </a:solidFill>
                    <a:effectLst/>
                    <a:latin typeface="+mn-lt"/>
                    <a:ea typeface="+mn-ea"/>
                    <a:cs typeface="+mn-cs"/>
                  </a:rPr>
                  <a:t>RPY</a:t>
                </a:r>
                <a:r>
                  <a:rPr lang="zh-CN" altLang="zh-CN" sz="1200" kern="1200" dirty="0">
                    <a:solidFill>
                      <a:schemeClr val="tx1"/>
                    </a:solidFill>
                    <a:effectLst/>
                    <a:latin typeface="+mn-lt"/>
                    <a:ea typeface="+mn-ea"/>
                    <a:cs typeface="+mn-cs"/>
                  </a:rPr>
                  <a:t>角法是绕全局固定坐标系的主轴旋转，而欧拉角法则是绕动作标系的主轴旋转。实际上，采用绕主轴进行刚体的姿态变换表达方法中，按照三次旋转轴的顺序，三轴全用的有</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种（</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𝑥𝑦𝑧</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𝑦𝑧𝑥</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𝑧𝑥𝑦</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𝑥𝑧𝑦</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𝑧𝑦𝑥</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𝑦𝑥𝑧</m:t>
                    </m:r>
                  </m:oMath>
                </a14:m>
                <a:r>
                  <a:rPr lang="zh-CN" altLang="zh-CN" sz="1200" kern="1200" dirty="0">
                    <a:solidFill>
                      <a:schemeClr val="tx1"/>
                    </a:solidFill>
                    <a:effectLst/>
                    <a:latin typeface="+mn-lt"/>
                    <a:ea typeface="+mn-ea"/>
                    <a:cs typeface="+mn-cs"/>
                  </a:rPr>
                  <a:t>）表达，只用两轴的也有</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种（</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𝑧𝑥𝑧</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𝑥𝑦𝑥</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𝑦𝑧𝑦</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𝑧𝑦𝑧</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𝑥𝑧𝑥</m:t>
                    </m:r>
                  </m:oMath>
                </a14:m>
                <a:r>
                  <a:rPr lang="en-US" altLang="zh-CN" sz="1200" kern="1200" dirty="0">
                    <a:solidFill>
                      <a:schemeClr val="tx1"/>
                    </a:solidFill>
                    <a:effectLst/>
                    <a:latin typeface="+mn-lt"/>
                    <a:ea typeface="+mn-ea"/>
                    <a:cs typeface="+mn-cs"/>
                  </a:rPr>
                  <a:t>, </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𝑦𝑥𝑦</m:t>
                    </m:r>
                  </m:oMath>
                </a14:m>
                <a:r>
                  <a:rPr lang="zh-CN" altLang="zh-CN" sz="1200" kern="1200" dirty="0">
                    <a:solidFill>
                      <a:schemeClr val="tx1"/>
                    </a:solidFill>
                    <a:effectLst/>
                    <a:latin typeface="+mn-lt"/>
                    <a:ea typeface="+mn-ea"/>
                    <a:cs typeface="+mn-cs"/>
                  </a:rPr>
                  <a:t>）表达，这些旋转如果始终绕固定轴，称为外旋，如果绕动轴，则称为内旋，因此总共可以有</a:t>
                </a:r>
                <a:r>
                  <a:rPr lang="en-US" altLang="zh-CN" sz="1200" kern="1200" dirty="0">
                    <a:solidFill>
                      <a:schemeClr val="tx1"/>
                    </a:solidFill>
                    <a:effectLst/>
                    <a:latin typeface="+mn-lt"/>
                    <a:ea typeface="+mn-ea"/>
                    <a:cs typeface="+mn-cs"/>
                  </a:rPr>
                  <a:t>24</a:t>
                </a:r>
                <a:r>
                  <a:rPr lang="zh-CN" altLang="zh-CN" sz="1200" kern="1200" dirty="0">
                    <a:solidFill>
                      <a:schemeClr val="tx1"/>
                    </a:solidFill>
                    <a:effectLst/>
                    <a:latin typeface="+mn-lt"/>
                    <a:ea typeface="+mn-ea"/>
                    <a:cs typeface="+mn-cs"/>
                  </a:rPr>
                  <a:t>种旋转顺序排列，但在机器人的姿态表示方法中，欧拉角法常采用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𝑧𝑦𝑧</m:t>
                    </m:r>
                  </m:oMath>
                </a14:m>
                <a:r>
                  <a:rPr lang="zh-CN" altLang="zh-CN" sz="1200" kern="1200" dirty="0">
                    <a:solidFill>
                      <a:schemeClr val="tx1"/>
                    </a:solidFill>
                    <a:effectLst/>
                    <a:latin typeface="+mn-lt"/>
                    <a:ea typeface="+mn-ea"/>
                    <a:cs typeface="+mn-cs"/>
                  </a:rPr>
                  <a:t>或</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𝑧𝑦𝑥</m:t>
                    </m:r>
                  </m:oMath>
                </a14:m>
                <a:r>
                  <a:rPr lang="zh-CN" altLang="zh-CN" sz="1200" kern="1200" dirty="0">
                    <a:solidFill>
                      <a:schemeClr val="tx1"/>
                    </a:solidFill>
                    <a:effectLst/>
                    <a:latin typeface="+mn-lt"/>
                    <a:ea typeface="+mn-ea"/>
                    <a:cs typeface="+mn-cs"/>
                  </a:rPr>
                  <a:t>这两种表示方法。</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在例</a:t>
                </a:r>
                <a:r>
                  <a:rPr lang="en-US" altLang="zh-CN" sz="1200" kern="1200" dirty="0">
                    <a:solidFill>
                      <a:schemeClr val="tx1"/>
                    </a:solidFill>
                    <a:effectLst/>
                    <a:latin typeface="+mn-lt"/>
                    <a:ea typeface="+mn-ea"/>
                    <a:cs typeface="+mn-cs"/>
                  </a:rPr>
                  <a:t>2.3</a:t>
                </a:r>
                <a:r>
                  <a:rPr lang="zh-CN" altLang="zh-CN" sz="1200" kern="1200" dirty="0">
                    <a:solidFill>
                      <a:schemeClr val="tx1"/>
                    </a:solidFill>
                    <a:effectLst/>
                    <a:latin typeface="+mn-lt"/>
                    <a:ea typeface="+mn-ea"/>
                    <a:cs typeface="+mn-cs"/>
                  </a:rPr>
                  <a:t>中，同样可以在圆锥体上附着物体坐标系，假设终止状态下物体坐标系与全局坐标系方向一致，终止状态下的姿态矩阵为</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oMath>
                </a14:m>
                <a:r>
                  <a:rPr lang="zh-CN" altLang="zh-CN" sz="1200" kern="1200" dirty="0">
                    <a:solidFill>
                      <a:schemeClr val="tx1"/>
                    </a:solidFill>
                    <a:effectLst/>
                    <a:latin typeface="+mn-lt"/>
                    <a:ea typeface="+mn-ea"/>
                    <a:cs typeface="+mn-cs"/>
                  </a:rPr>
                  <a:t>，那么初始状态下的姿态，可以看成绕</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𝑧</m:t>
                    </m:r>
                  </m:oMath>
                </a14:m>
                <a:r>
                  <a:rPr lang="zh-CN" altLang="zh-CN" sz="1200" kern="1200" dirty="0">
                    <a:solidFill>
                      <a:schemeClr val="tx1"/>
                    </a:solidFill>
                    <a:effectLst/>
                    <a:latin typeface="+mn-lt"/>
                    <a:ea typeface="+mn-ea"/>
                    <a:cs typeface="+mn-cs"/>
                  </a:rPr>
                  <a:t>轴旋转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𝛼</m:t>
                    </m:r>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度，再绕新的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𝑦</m:t>
                    </m:r>
                  </m:oMath>
                </a14:m>
                <a:r>
                  <a:rPr lang="zh-CN" altLang="zh-CN" sz="1200" kern="1200" dirty="0">
                    <a:solidFill>
                      <a:schemeClr val="tx1"/>
                    </a:solidFill>
                    <a:effectLst/>
                    <a:latin typeface="+mn-lt"/>
                    <a:ea typeface="+mn-ea"/>
                    <a:cs typeface="+mn-cs"/>
                  </a:rPr>
                  <a:t>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=0</m:t>
                    </m:r>
                  </m:oMath>
                </a14:m>
                <a:r>
                  <a:rPr lang="zh-CN" altLang="zh-CN" sz="1200" kern="1200" dirty="0">
                    <a:solidFill>
                      <a:schemeClr val="tx1"/>
                    </a:solidFill>
                    <a:effectLst/>
                    <a:latin typeface="+mn-lt"/>
                    <a:ea typeface="+mn-ea"/>
                    <a:cs typeface="+mn-cs"/>
                  </a:rPr>
                  <a:t>度，最后绕新的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oMath>
                </a14:m>
                <a:r>
                  <a:rPr lang="zh-CN" altLang="zh-CN" sz="1200" kern="1200" dirty="0">
                    <a:solidFill>
                      <a:schemeClr val="tx1"/>
                    </a:solidFill>
                    <a:effectLst/>
                    <a:latin typeface="+mn-lt"/>
                    <a:ea typeface="+mn-ea"/>
                    <a:cs typeface="+mn-cs"/>
                  </a:rPr>
                  <a:t>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旋转了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𝛾</m:t>
                    </m:r>
                    <m:r>
                      <a:rPr lang="en-US" altLang="zh-CN" sz="1200" i="1" kern="1200">
                        <a:solidFill>
                          <a:schemeClr val="tx1"/>
                        </a:solidFill>
                        <a:effectLst/>
                        <a:latin typeface="Cambria Math" panose="02040503050406030204" pitchFamily="18" charset="0"/>
                        <a:ea typeface="+mn-ea"/>
                        <a:cs typeface="+mn-cs"/>
                      </a:rPr>
                      <m:t>=−90</m:t>
                    </m:r>
                  </m:oMath>
                </a14:m>
                <a:r>
                  <a:rPr lang="zh-CN" altLang="zh-CN" sz="1200" kern="1200" dirty="0">
                    <a:solidFill>
                      <a:schemeClr val="tx1"/>
                    </a:solidFill>
                    <a:effectLst/>
                    <a:latin typeface="+mn-lt"/>
                    <a:ea typeface="+mn-ea"/>
                    <a:cs typeface="+mn-cs"/>
                  </a:rPr>
                  <a:t>度。那么用欧拉角法表示的初始状态下的姿态矩阵为：</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𝑅</m:t>
                          </m:r>
                        </m:e>
                        <m:sub>
                          <m:r>
                            <a:rPr lang="en-US" altLang="zh-CN" sz="1200" i="1" kern="1200">
                              <a:solidFill>
                                <a:schemeClr val="tx1"/>
                              </a:solidFill>
                              <a:effectLst/>
                              <a:latin typeface="Cambria Math" panose="02040503050406030204" pitchFamily="18" charset="0"/>
                              <a:ea typeface="+mn-ea"/>
                              <a:cs typeface="+mn-cs"/>
                            </a:rPr>
                            <m:t>𝑧𝑦𝑥</m:t>
                          </m:r>
                        </m:sub>
                      </m:sSub>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𝛼</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𝛼</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𝛼</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𝛼</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𝛽</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𝛽</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𝛽</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𝛽</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𝛾</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𝛾</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𝛾</m:t>
                                </m:r>
                              </m:e>
                              <m:e>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𝛾</m:t>
                                </m:r>
                              </m:e>
                            </m:mr>
                          </m:m>
                        </m:e>
                      </m:d>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oMath>
                  </m:oMathPara>
                </a14:m>
                <a:endParaRPr lang="zh-CN" altLang="zh-CN" sz="1200" kern="1200" dirty="0">
                  <a:solidFill>
                    <a:schemeClr val="tx1"/>
                  </a:solidFill>
                  <a:effectLst/>
                  <a:latin typeface="+mn-lt"/>
                  <a:ea typeface="+mn-ea"/>
                  <a:cs typeface="+mn-cs"/>
                </a:endParaRPr>
              </a:p>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实际上，在李群</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李代数中，这样的刚体运动还可以通过螺旋运动</a:t>
                </a:r>
                <a:r>
                  <a:rPr lang="en-US" altLang="zh-CN" sz="1200" kern="1200" dirty="0">
                    <a:solidFill>
                      <a:schemeClr val="tx1"/>
                    </a:solidFill>
                    <a:effectLst/>
                    <a:latin typeface="+mn-lt"/>
                    <a:ea typeface="+mn-ea"/>
                    <a:cs typeface="+mn-cs"/>
                  </a:rPr>
                  <a:t>(screw motion)</a:t>
                </a:r>
                <a:r>
                  <a:rPr lang="zh-CN" altLang="zh-CN" sz="1200" kern="1200" dirty="0">
                    <a:solidFill>
                      <a:schemeClr val="tx1"/>
                    </a:solidFill>
                    <a:effectLst/>
                    <a:latin typeface="+mn-lt"/>
                    <a:ea typeface="+mn-ea"/>
                    <a:cs typeface="+mn-cs"/>
                  </a:rPr>
                  <a:t>来进行描述，即</a:t>
                </a:r>
                <a:r>
                  <a:rPr lang="en-US" altLang="zh-CN" sz="1200" kern="1200" dirty="0" err="1">
                    <a:solidFill>
                      <a:schemeClr val="tx1"/>
                    </a:solidFill>
                    <a:effectLst/>
                    <a:latin typeface="+mn-lt"/>
                    <a:ea typeface="+mn-ea"/>
                    <a:cs typeface="+mn-cs"/>
                  </a:rPr>
                  <a:t>Chasles-Mozzi</a:t>
                </a:r>
                <a:r>
                  <a:rPr lang="zh-CN" altLang="zh-CN" sz="1200" kern="1200" dirty="0">
                    <a:solidFill>
                      <a:schemeClr val="tx1"/>
                    </a:solidFill>
                    <a:effectLst/>
                    <a:latin typeface="+mn-lt"/>
                    <a:ea typeface="+mn-ea"/>
                    <a:cs typeface="+mn-cs"/>
                  </a:rPr>
                  <a:t>定理：任何刚体运动都可通过绕空间某一固定螺旋轴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𝒮</m:t>
                    </m:r>
                  </m:oMath>
                </a14:m>
                <a:r>
                  <a:rPr lang="zh-CN" altLang="zh-CN" sz="1200" kern="1200" dirty="0">
                    <a:solidFill>
                      <a:schemeClr val="tx1"/>
                    </a:solidFill>
                    <a:effectLst/>
                    <a:latin typeface="+mn-lt"/>
                    <a:ea typeface="+mn-ea"/>
                    <a:cs typeface="+mn-cs"/>
                  </a:rPr>
                  <a:t>的运动来实现。螺旋理论的基础要素可以追溯到</a:t>
                </a:r>
                <a:r>
                  <a:rPr lang="en-US" altLang="zh-CN" sz="1200" kern="1200" dirty="0" err="1">
                    <a:solidFill>
                      <a:schemeClr val="tx1"/>
                    </a:solidFill>
                    <a:effectLst/>
                    <a:latin typeface="+mn-lt"/>
                    <a:ea typeface="+mn-ea"/>
                    <a:cs typeface="+mn-cs"/>
                  </a:rPr>
                  <a:t>Chasles</a:t>
                </a:r>
                <a:r>
                  <a:rPr lang="zh-CN" altLang="zh-CN" sz="1200" kern="1200" dirty="0">
                    <a:solidFill>
                      <a:schemeClr val="tx1"/>
                    </a:solidFill>
                    <a:effectLst/>
                    <a:latin typeface="+mn-lt"/>
                    <a:ea typeface="+mn-ea"/>
                    <a:cs typeface="+mn-cs"/>
                  </a:rPr>
                  <a:t>和</a:t>
                </a:r>
                <a:r>
                  <a:rPr lang="en-US" altLang="zh-CN" sz="1200" kern="1200" dirty="0" err="1">
                    <a:solidFill>
                      <a:schemeClr val="tx1"/>
                    </a:solidFill>
                    <a:effectLst/>
                    <a:latin typeface="+mn-lt"/>
                    <a:ea typeface="+mn-ea"/>
                    <a:cs typeface="+mn-cs"/>
                  </a:rPr>
                  <a:t>Poinsot</a:t>
                </a:r>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1800</a:t>
                </a:r>
                <a:r>
                  <a:rPr lang="zh-CN" altLang="zh-CN" sz="1200" kern="1200" dirty="0">
                    <a:solidFill>
                      <a:schemeClr val="tx1"/>
                    </a:solidFill>
                    <a:effectLst/>
                    <a:latin typeface="+mn-lt"/>
                    <a:ea typeface="+mn-ea"/>
                    <a:cs typeface="+mn-cs"/>
                  </a:rPr>
                  <a:t>年代初期的工作，使用</a:t>
                </a:r>
                <a:r>
                  <a:rPr lang="en-US" altLang="zh-CN" sz="1200" kern="1200" dirty="0" err="1">
                    <a:solidFill>
                      <a:schemeClr val="tx1"/>
                    </a:solidFill>
                    <a:effectLst/>
                    <a:latin typeface="+mn-lt"/>
                    <a:ea typeface="+mn-ea"/>
                    <a:cs typeface="+mn-cs"/>
                  </a:rPr>
                  <a:t>Chasles</a:t>
                </a:r>
                <a:r>
                  <a:rPr lang="zh-CN" altLang="zh-CN" sz="1200" kern="1200" dirty="0">
                    <a:solidFill>
                      <a:schemeClr val="tx1"/>
                    </a:solidFill>
                    <a:effectLst/>
                    <a:latin typeface="+mn-lt"/>
                    <a:ea typeface="+mn-ea"/>
                    <a:cs typeface="+mn-cs"/>
                  </a:rPr>
                  <a:t>和</a:t>
                </a:r>
                <a:r>
                  <a:rPr lang="en-US" altLang="zh-CN" sz="1200" kern="1200" dirty="0" err="1">
                    <a:solidFill>
                      <a:schemeClr val="tx1"/>
                    </a:solidFill>
                    <a:effectLst/>
                    <a:latin typeface="+mn-lt"/>
                    <a:ea typeface="+mn-ea"/>
                    <a:cs typeface="+mn-cs"/>
                  </a:rPr>
                  <a:t>Poinsot</a:t>
                </a:r>
                <a:r>
                  <a:rPr lang="zh-CN" altLang="zh-CN" sz="1200" kern="1200" dirty="0">
                    <a:solidFill>
                      <a:schemeClr val="tx1"/>
                    </a:solidFill>
                    <a:effectLst/>
                    <a:latin typeface="+mn-lt"/>
                    <a:ea typeface="+mn-ea"/>
                    <a:cs typeface="+mn-cs"/>
                  </a:rPr>
                  <a:t>定理作为起点，</a:t>
                </a:r>
                <a:r>
                  <a:rPr lang="en-US" altLang="zh-CN" sz="1200" kern="1200" dirty="0">
                    <a:solidFill>
                      <a:schemeClr val="tx1"/>
                    </a:solidFill>
                    <a:effectLst/>
                    <a:latin typeface="+mn-lt"/>
                    <a:ea typeface="+mn-ea"/>
                    <a:cs typeface="+mn-cs"/>
                  </a:rPr>
                  <a:t>Robert S. Ball</a:t>
                </a:r>
                <a:r>
                  <a:rPr lang="zh-CN" altLang="zh-CN" sz="1200" kern="1200" dirty="0">
                    <a:solidFill>
                      <a:schemeClr val="tx1"/>
                    </a:solidFill>
                    <a:effectLst/>
                    <a:latin typeface="+mn-lt"/>
                    <a:ea typeface="+mn-ea"/>
                    <a:cs typeface="+mn-cs"/>
                  </a:rPr>
                  <a:t>于</a:t>
                </a:r>
                <a:r>
                  <a:rPr lang="en-US" altLang="zh-CN" sz="1200" kern="1200" dirty="0">
                    <a:solidFill>
                      <a:schemeClr val="tx1"/>
                    </a:solidFill>
                    <a:effectLst/>
                    <a:latin typeface="+mn-lt"/>
                    <a:ea typeface="+mn-ea"/>
                    <a:cs typeface="+mn-cs"/>
                  </a:rPr>
                  <a:t>1900</a:t>
                </a:r>
                <a:r>
                  <a:rPr lang="zh-CN" altLang="zh-CN" sz="1200" kern="1200" dirty="0">
                    <a:solidFill>
                      <a:schemeClr val="tx1"/>
                    </a:solidFill>
                    <a:effectLst/>
                    <a:latin typeface="+mn-lt"/>
                    <a:ea typeface="+mn-ea"/>
                    <a:cs typeface="+mn-cs"/>
                  </a:rPr>
                  <a:t>年发表了完整的螺旋理论</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（板书计推导过程</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2.18</a:t>
                </a:r>
                <a:r>
                  <a:rPr lang="zh-CN" altLang="zh-CN" sz="1200" kern="1200" dirty="0">
                    <a:solidFill>
                      <a:schemeClr val="tx1"/>
                    </a:solidFill>
                    <a:effectLst/>
                    <a:latin typeface="+mn-lt"/>
                    <a:ea typeface="+mn-ea"/>
                    <a:cs typeface="+mn-cs"/>
                  </a:rPr>
                  <a:t>中的刚体运动，它可以简单地通过绕某个坐标系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的螺旋轴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𝒮</m:t>
                    </m:r>
                  </m:oMath>
                </a14:m>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screw axis</a:t>
                </a:r>
                <a:r>
                  <a:rPr lang="zh-CN" altLang="zh-CN" sz="1200" kern="1200" dirty="0">
                    <a:solidFill>
                      <a:schemeClr val="tx1"/>
                    </a:solidFill>
                    <a:effectLst/>
                    <a:latin typeface="+mn-lt"/>
                    <a:ea typeface="+mn-ea"/>
                    <a:cs typeface="+mn-cs"/>
                  </a:rPr>
                  <a:t>）旋转一定角度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𝛽</m:t>
                    </m:r>
                  </m:oMath>
                </a14:m>
                <a:r>
                  <a:rPr lang="zh-CN" altLang="zh-CN" sz="1200" kern="1200" dirty="0">
                    <a:solidFill>
                      <a:schemeClr val="tx1"/>
                    </a:solidFill>
                    <a:effectLst/>
                    <a:latin typeface="+mn-lt"/>
                    <a:ea typeface="+mn-ea"/>
                    <a:cs typeface="+mn-cs"/>
                  </a:rPr>
                  <a:t>而得到，如图</a:t>
                </a:r>
                <a:r>
                  <a:rPr lang="en-US" altLang="zh-CN" sz="1200" kern="1200" dirty="0">
                    <a:solidFill>
                      <a:schemeClr val="tx1"/>
                    </a:solidFill>
                    <a:effectLst/>
                    <a:latin typeface="+mn-lt"/>
                    <a:ea typeface="+mn-ea"/>
                    <a:cs typeface="+mn-cs"/>
                  </a:rPr>
                  <a:t>2.18 (e)</a:t>
                </a:r>
                <a:r>
                  <a:rPr lang="zh-CN" altLang="zh-CN" sz="1200" kern="1200" dirty="0">
                    <a:solidFill>
                      <a:schemeClr val="tx1"/>
                    </a:solidFill>
                    <a:effectLst/>
                    <a:latin typeface="+mn-lt"/>
                    <a:ea typeface="+mn-ea"/>
                    <a:cs typeface="+mn-cs"/>
                  </a:rPr>
                  <a:t>的直接旋转变换所示。该运动可以用四个螺旋参数坐标来表示，即</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𝛽</m:t>
                    </m:r>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𝑥</m:t>
                        </m:r>
                      </m:sub>
                      <m:sup>
                        <m:r>
                          <a:rPr lang="en-US" altLang="zh-CN" sz="1200" i="1" kern="1200">
                            <a:solidFill>
                              <a:schemeClr val="tx1"/>
                            </a:solidFill>
                            <a:effectLst/>
                            <a:latin typeface="Cambria Math" panose="02040503050406030204" pitchFamily="18" charset="0"/>
                            <a:ea typeface="+mn-ea"/>
                            <a:cs typeface="+mn-cs"/>
                          </a:rPr>
                          <m:t>′</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𝑦</m:t>
                        </m:r>
                      </m:sub>
                      <m:sup>
                        <m:r>
                          <a:rPr lang="en-US" altLang="zh-CN" sz="1200" i="1" kern="1200">
                            <a:solidFill>
                              <a:schemeClr val="tx1"/>
                            </a:solidFill>
                            <a:effectLst/>
                            <a:latin typeface="Cambria Math" panose="02040503050406030204" pitchFamily="18" charset="0"/>
                            <a:ea typeface="+mn-ea"/>
                            <a:cs typeface="+mn-cs"/>
                          </a:rPr>
                          <m:t>′</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𝑧</m:t>
                        </m:r>
                      </m:sub>
                      <m:sup>
                        <m:r>
                          <a:rPr lang="en-US" altLang="zh-CN" sz="1200" i="1" kern="1200">
                            <a:solidFill>
                              <a:schemeClr val="tx1"/>
                            </a:solidFill>
                            <a:effectLst/>
                            <a:latin typeface="Cambria Math" panose="02040503050406030204" pitchFamily="18" charset="0"/>
                            <a:ea typeface="+mn-ea"/>
                            <a:cs typeface="+mn-cs"/>
                          </a:rPr>
                          <m:t>′</m:t>
                        </m:r>
                      </m:sup>
                    </m:sSubSup>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a:t>
                </a:r>
                <a14:m>
                  <m:oMath xmlns:m="http://schemas.openxmlformats.org/officeDocument/2006/math">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𝑥</m:t>
                        </m:r>
                      </m:sub>
                      <m:sup>
                        <m:r>
                          <a:rPr lang="en-US" altLang="zh-CN" sz="1200" i="1" kern="1200">
                            <a:solidFill>
                              <a:schemeClr val="tx1"/>
                            </a:solidFill>
                            <a:effectLst/>
                            <a:latin typeface="Cambria Math" panose="02040503050406030204" pitchFamily="18" charset="0"/>
                            <a:ea typeface="+mn-ea"/>
                            <a:cs typeface="+mn-cs"/>
                          </a:rPr>
                          <m:t>′</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𝑦</m:t>
                        </m:r>
                      </m:sub>
                      <m:sup>
                        <m:r>
                          <a:rPr lang="en-US" altLang="zh-CN" sz="1200" i="1" kern="1200">
                            <a:solidFill>
                              <a:schemeClr val="tx1"/>
                            </a:solidFill>
                            <a:effectLst/>
                            <a:latin typeface="Cambria Math" panose="02040503050406030204" pitchFamily="18" charset="0"/>
                            <a:ea typeface="+mn-ea"/>
                            <a:cs typeface="+mn-cs"/>
                          </a:rPr>
                          <m:t>′</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𝑂</m:t>
                        </m:r>
                      </m:e>
                      <m:sub>
                        <m:r>
                          <a:rPr lang="en-US" altLang="zh-CN" sz="1200" i="1" kern="1200">
                            <a:solidFill>
                              <a:schemeClr val="tx1"/>
                            </a:solidFill>
                            <a:effectLst/>
                            <a:latin typeface="Cambria Math" panose="02040503050406030204" pitchFamily="18" charset="0"/>
                            <a:ea typeface="+mn-ea"/>
                            <a:cs typeface="+mn-cs"/>
                          </a:rPr>
                          <m:t>𝑧</m:t>
                        </m:r>
                      </m:sub>
                      <m:sup>
                        <m:r>
                          <a:rPr lang="en-US" altLang="zh-CN" sz="1200" i="1" kern="1200">
                            <a:solidFill>
                              <a:schemeClr val="tx1"/>
                            </a:solidFill>
                            <a:effectLst/>
                            <a:latin typeface="Cambria Math" panose="02040503050406030204" pitchFamily="18" charset="0"/>
                            <a:ea typeface="+mn-ea"/>
                            <a:cs typeface="+mn-cs"/>
                          </a:rPr>
                          <m:t>′</m:t>
                        </m:r>
                      </m:sup>
                    </m:sSubSup>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表示点</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𝑂</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在</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𝑂</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坐标系中的坐标值。对于这个螺旋运动，还可以用刚体绕</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𝑂</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点的瞬时角速度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oMath>
                </a14:m>
                <a:r>
                  <a:rPr lang="zh-CN" altLang="zh-CN" sz="1200" kern="1200" dirty="0">
                    <a:solidFill>
                      <a:schemeClr val="tx1"/>
                    </a:solidFill>
                    <a:effectLst/>
                    <a:latin typeface="+mn-lt"/>
                    <a:ea typeface="+mn-ea"/>
                    <a:cs typeface="+mn-cs"/>
                  </a:rPr>
                  <a:t>和线速度</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来描述。</a:t>
                </a:r>
              </a:p>
              <a:p>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2.18(e)</a:t>
                </a:r>
                <a:r>
                  <a:rPr lang="zh-CN" altLang="zh-CN" sz="1200" kern="1200" dirty="0">
                    <a:solidFill>
                      <a:schemeClr val="tx1"/>
                    </a:solidFill>
                    <a:effectLst/>
                    <a:latin typeface="+mn-lt"/>
                    <a:ea typeface="+mn-ea"/>
                    <a:cs typeface="+mn-cs"/>
                  </a:rPr>
                  <a:t>中，将坐标系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oMath>
                </a14:m>
                <a:r>
                  <a:rPr lang="zh-CN" altLang="zh-CN" sz="1200" kern="1200" dirty="0">
                    <a:solidFill>
                      <a:schemeClr val="tx1"/>
                    </a:solidFill>
                    <a:effectLst/>
                    <a:latin typeface="+mn-lt"/>
                    <a:ea typeface="+mn-ea"/>
                    <a:cs typeface="+mn-cs"/>
                  </a:rPr>
                  <a:t>轴定义和这个螺旋轴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𝒮</m:t>
                    </m:r>
                  </m:oMath>
                </a14:m>
                <a:r>
                  <a:rPr lang="zh-CN" altLang="zh-CN" sz="1200" kern="1200" dirty="0">
                    <a:solidFill>
                      <a:schemeClr val="tx1"/>
                    </a:solidFill>
                    <a:effectLst/>
                    <a:latin typeface="+mn-lt"/>
                    <a:ea typeface="+mn-ea"/>
                    <a:cs typeface="+mn-cs"/>
                  </a:rPr>
                  <a:t>重合，则刚体在坐标系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中的初始位姿矩阵为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𝑀</m:t>
                      </m:r>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该螺旋运动的正方向由右手法则确定，该螺旋运动绕单一</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轴的同方向，所以</a:t>
                </a:r>
                <a14:m>
                  <m:oMath xmlns:m="http://schemas.openxmlformats.org/officeDocument/2006/math">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𝑤</m:t>
                        </m:r>
                        <m:r>
                          <a:rPr lang="en-US" altLang="zh-CN" sz="1200" i="1" kern="1200">
                            <a:solidFill>
                              <a:schemeClr val="tx1"/>
                            </a:solidFill>
                            <a:effectLst/>
                            <a:latin typeface="Cambria Math" panose="02040503050406030204" pitchFamily="18" charset="0"/>
                            <a:ea typeface="+mn-ea"/>
                            <a:cs typeface="+mn-cs"/>
                          </a:rPr>
                          <m:t>3</m:t>
                        </m:r>
                      </m:e>
                    </m:d>
                    <m:r>
                      <a:rPr lang="en-US" altLang="zh-CN" sz="1200" i="1" kern="1200">
                        <a:solidFill>
                          <a:schemeClr val="tx1"/>
                        </a:solidFill>
                        <a:effectLst/>
                        <a:latin typeface="Cambria Math" panose="02040503050406030204" pitchFamily="18" charset="0"/>
                        <a:ea typeface="+mn-ea"/>
                        <a:cs typeface="+mn-cs"/>
                      </a:rPr>
                      <m:t>=(1,0,0)</m:t>
                    </m:r>
                  </m:oMath>
                </a14:m>
                <a:r>
                  <a:rPr lang="zh-CN" altLang="zh-CN" sz="1200" kern="1200" dirty="0">
                    <a:solidFill>
                      <a:schemeClr val="tx1"/>
                    </a:solidFill>
                    <a:effectLst/>
                    <a:latin typeface="+mn-lt"/>
                    <a:ea typeface="+mn-ea"/>
                    <a:cs typeface="+mn-cs"/>
                  </a:rPr>
                  <a:t>，螺旋轴起始点建立在坐标系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的原点上，所以</a:t>
                </a:r>
                <a14:m>
                  <m:oMath xmlns:m="http://schemas.openxmlformats.org/officeDocument/2006/math">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3</m:t>
                        </m:r>
                      </m:e>
                    </m:d>
                    <m:r>
                      <a:rPr lang="en-US" altLang="zh-CN" sz="1200" i="1" kern="1200">
                        <a:solidFill>
                          <a:schemeClr val="tx1"/>
                        </a:solidFill>
                        <a:effectLst/>
                        <a:latin typeface="Cambria Math" panose="02040503050406030204" pitchFamily="18" charset="0"/>
                        <a:ea typeface="+mn-ea"/>
                        <a:cs typeface="+mn-cs"/>
                      </a:rPr>
                      <m:t>=(0,0,0)</m:t>
                    </m:r>
                  </m:oMath>
                </a14:m>
                <a:r>
                  <a:rPr lang="zh-CN" altLang="zh-CN" sz="1200" kern="1200" dirty="0">
                    <a:solidFill>
                      <a:schemeClr val="tx1"/>
                    </a:solidFill>
                    <a:effectLst/>
                    <a:latin typeface="+mn-lt"/>
                    <a:ea typeface="+mn-ea"/>
                    <a:cs typeface="+mn-cs"/>
                  </a:rPr>
                  <a:t>。那么，螺旋轴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𝒮</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可写成</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𝑤</m:t>
                          </m:r>
                          <m:r>
                            <a:rPr lang="en-US" altLang="zh-CN" sz="1200" i="1" kern="1200">
                              <a:solidFill>
                                <a:schemeClr val="tx1"/>
                              </a:solidFill>
                              <a:effectLst/>
                              <a:latin typeface="Cambria Math" panose="02040503050406030204" pitchFamily="18" charset="0"/>
                              <a:ea typeface="+mn-ea"/>
                              <a:cs typeface="+mn-cs"/>
                            </a:rPr>
                            <m:t>3</m:t>
                          </m:r>
                        </m:e>
                      </m:d>
                      <m:r>
                        <a:rPr lang="en-US" altLang="zh-CN" sz="1200" i="1" kern="1200">
                          <a:solidFill>
                            <a:schemeClr val="tx1"/>
                          </a:solidFill>
                          <a:effectLst/>
                          <a:latin typeface="Cambria Math" panose="02040503050406030204" pitchFamily="18" charset="0"/>
                          <a:ea typeface="+mn-ea"/>
                          <a:cs typeface="+mn-cs"/>
                        </a:rPr>
                        <m:t>=(1,0,0)</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3</m:t>
                          </m:r>
                        </m:e>
                      </m:d>
                      <m:r>
                        <a:rPr lang="en-US" altLang="zh-CN" sz="1200" i="1" kern="1200">
                          <a:solidFill>
                            <a:schemeClr val="tx1"/>
                          </a:solidFill>
                          <a:effectLst/>
                          <a:latin typeface="Cambria Math" panose="02040503050406030204" pitchFamily="18" charset="0"/>
                          <a:ea typeface="+mn-ea"/>
                          <a:cs typeface="+mn-cs"/>
                        </a:rPr>
                        <m:t>=(0,0,0)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螺旋运动后的位姿矩阵</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oMath>
                </a14:m>
                <a:r>
                  <a:rPr lang="zh-CN" altLang="zh-CN" sz="1200" kern="1200" dirty="0">
                    <a:solidFill>
                      <a:schemeClr val="tx1"/>
                    </a:solidFill>
                    <a:effectLst/>
                    <a:latin typeface="+mn-lt"/>
                    <a:ea typeface="+mn-ea"/>
                    <a:cs typeface="+mn-cs"/>
                  </a:rPr>
                  <a:t>，可以由指数积公式表达：</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𝑠</m:t>
                            </m:r>
                          </m:e>
                        </m:d>
                        <m:r>
                          <a:rPr lang="en-US" altLang="zh-CN" sz="1200" i="1" kern="1200">
                            <a:solidFill>
                              <a:schemeClr val="tx1"/>
                            </a:solidFill>
                            <a:effectLst/>
                            <a:latin typeface="Cambria Math" panose="02040503050406030204" pitchFamily="18" charset="0"/>
                            <a:ea typeface="+mn-ea"/>
                            <a:cs typeface="+mn-cs"/>
                          </a:rPr>
                          <m:t>𝜃</m:t>
                        </m:r>
                      </m:sup>
                    </m:sSup>
                    <m:r>
                      <a:rPr lang="en-US" altLang="zh-CN" sz="1200" i="1" kern="1200">
                        <a:solidFill>
                          <a:schemeClr val="tx1"/>
                        </a:solidFill>
                        <a:effectLst/>
                        <a:latin typeface="Cambria Math" panose="02040503050406030204" pitchFamily="18" charset="0"/>
                        <a:ea typeface="+mn-ea"/>
                        <a:cs typeface="+mn-cs"/>
                      </a:rPr>
                      <m:t>𝑀</m:t>
                    </m:r>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(2-8)</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经过</a:t>
                </a:r>
                <a:r>
                  <a:rPr lang="en-US" altLang="zh-CN" sz="1200" kern="1200" dirty="0" err="1">
                    <a:solidFill>
                      <a:schemeClr val="tx1"/>
                    </a:solidFill>
                    <a:effectLst/>
                    <a:latin typeface="+mn-lt"/>
                    <a:ea typeface="+mn-ea"/>
                    <a:cs typeface="+mn-cs"/>
                  </a:rPr>
                  <a:t>Chasles-Mozzi</a:t>
                </a:r>
                <a:r>
                  <a:rPr lang="zh-CN" altLang="zh-CN" sz="1200" kern="1200" dirty="0">
                    <a:solidFill>
                      <a:schemeClr val="tx1"/>
                    </a:solidFill>
                    <a:effectLst/>
                    <a:latin typeface="+mn-lt"/>
                    <a:ea typeface="+mn-ea"/>
                    <a:cs typeface="+mn-cs"/>
                  </a:rPr>
                  <a:t>定理证明，给定任意的刚体</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𝑅</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𝑆𝐸</m:t>
                    </m:r>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，总能找到与之相对应的螺旋轴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𝒮</m:t>
                    </m:r>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𝑣</m:t>
                        </m:r>
                      </m:e>
                    </m:d>
                  </m:oMath>
                </a14:m>
                <a:r>
                  <a:rPr lang="zh-CN" altLang="zh-CN" sz="1200" kern="1200" dirty="0">
                    <a:solidFill>
                      <a:schemeClr val="tx1"/>
                    </a:solidFill>
                    <a:effectLst/>
                    <a:latin typeface="+mn-lt"/>
                    <a:ea typeface="+mn-ea"/>
                    <a:cs typeface="+mn-cs"/>
                  </a:rPr>
                  <a:t>和标量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，该矩阵对数满足：</a:t>
                </a:r>
              </a:p>
              <a:p>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sup>
                    </m:sSup>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𝑅</m:t>
                              </m:r>
                            </m:e>
                            <m:e>
                              <m:r>
                                <a:rPr lang="en-US" altLang="zh-CN" sz="1200" i="1" kern="1200">
                                  <a:solidFill>
                                    <a:schemeClr val="tx1"/>
                                  </a:solidFill>
                                  <a:effectLst/>
                                  <a:latin typeface="Cambria Math" panose="02040503050406030204" pitchFamily="18" charset="0"/>
                                  <a:ea typeface="+mn-ea"/>
                                  <a:cs typeface="+mn-cs"/>
                                </a:rPr>
                                <m:t>𝑝</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oMath>
                </a14:m>
                <a:r>
                  <a:rPr lang="en-US" altLang="zh-CN" sz="1200" kern="1200" dirty="0">
                    <a:solidFill>
                      <a:schemeClr val="tx1"/>
                    </a:solidFill>
                    <a:effectLst/>
                    <a:latin typeface="+mn-lt"/>
                    <a:ea typeface="+mn-ea"/>
                    <a:cs typeface="+mn-cs"/>
                  </a:rPr>
                  <a:t>                        (2-9)</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(2-9)</a:t>
                </a:r>
                <a:r>
                  <a:rPr lang="zh-CN" altLang="zh-CN" sz="1200" kern="1200" dirty="0">
                    <a:solidFill>
                      <a:schemeClr val="tx1"/>
                    </a:solidFill>
                    <a:effectLst/>
                    <a:latin typeface="+mn-lt"/>
                    <a:ea typeface="+mn-ea"/>
                    <a:cs typeface="+mn-cs"/>
                  </a:rPr>
                  <a:t>用螺旋轴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𝒮</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表示，即为六参数向量的表达方式。</a:t>
                </a:r>
              </a:p>
              <a:p>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𝑠</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sup>
                    </m:sSup>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𝑅𝑜𝑡</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𝑣</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oMath>
                </a14:m>
                <a:r>
                  <a:rPr lang="en-US" altLang="zh-CN" sz="1200" kern="1200" dirty="0">
                    <a:solidFill>
                      <a:schemeClr val="tx1"/>
                    </a:solidFill>
                    <a:effectLst/>
                    <a:latin typeface="+mn-lt"/>
                    <a:ea typeface="+mn-ea"/>
                    <a:cs typeface="+mn-cs"/>
                  </a:rPr>
                  <a:t>                   (2-10)</a:t>
                </a:r>
                <a:endParaRPr lang="zh-CN" altLang="zh-CN" sz="1200" kern="1200" dirty="0">
                  <a:solidFill>
                    <a:schemeClr val="tx1"/>
                  </a:solidFill>
                  <a:effectLst/>
                  <a:latin typeface="+mn-lt"/>
                  <a:ea typeface="+mn-ea"/>
                  <a:cs typeface="+mn-cs"/>
                </a:endParaRP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𝑅𝑜𝑡</m:t>
                    </m:r>
                    <m:d>
                      <m:dPr>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𝑒</m:t>
                        </m:r>
                      </m:e>
                      <m:sup>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sup>
                    </m:s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𝐼</m:t>
                    </m:r>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r>
                          <a:rPr lang="en-US" altLang="zh-CN" sz="1200" i="1" kern="1200">
                            <a:solidFill>
                              <a:schemeClr val="tx1"/>
                            </a:solidFill>
                            <a:effectLst/>
                            <a:latin typeface="Cambria Math" panose="02040503050406030204" pitchFamily="18" charset="0"/>
                            <a:ea typeface="+mn-ea"/>
                            <a:cs typeface="+mn-cs"/>
                          </a:rPr>
                          <m:t>𝜃</m:t>
                        </m:r>
                      </m:e>
                    </m:func>
                    <m:d>
                      <m:dPr>
                        <m:begChr m:val="["/>
                        <m:endChr m:val="]"/>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d>
                    <m:r>
                      <a:rPr lang="en-US" altLang="zh-CN" sz="1200" i="1" kern="1200">
                        <a:solidFill>
                          <a:schemeClr val="tx1"/>
                        </a:solidFill>
                        <a:effectLst/>
                        <a:latin typeface="Cambria Math" panose="02040503050406030204" pitchFamily="18" charset="0"/>
                        <a:ea typeface="+mn-ea"/>
                        <a:cs typeface="+mn-cs"/>
                      </a:rPr>
                      <m:t>+(1−</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2</m:t>
                            </m:r>
                          </m:sup>
                        </m:sSup>
                      </m:e>
                    </m:func>
                  </m:oMath>
                </a14:m>
                <a:r>
                  <a:rPr lang="en-US" altLang="zh-CN" sz="1200" kern="1200" dirty="0">
                    <a:solidFill>
                      <a:schemeClr val="tx1"/>
                    </a:solidFill>
                    <a:effectLst/>
                    <a:latin typeface="+mn-lt"/>
                    <a:ea typeface="+mn-ea"/>
                    <a:cs typeface="+mn-cs"/>
                  </a:rPr>
                  <a:t>    (2-11)</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(2-11)</a:t>
                </a:r>
                <a:r>
                  <a:rPr lang="zh-CN" altLang="zh-CN" sz="1200" kern="1200" dirty="0">
                    <a:solidFill>
                      <a:schemeClr val="tx1"/>
                    </a:solidFill>
                    <a:effectLst/>
                    <a:latin typeface="+mn-lt"/>
                    <a:ea typeface="+mn-ea"/>
                    <a:cs typeface="+mn-cs"/>
                  </a:rPr>
                  <a:t>又称为</a:t>
                </a:r>
                <a:r>
                  <a:rPr lang="zh-CN" altLang="zh-CN" sz="1200" b="1" kern="1200" dirty="0">
                    <a:solidFill>
                      <a:schemeClr val="tx1"/>
                    </a:solidFill>
                    <a:effectLst/>
                    <a:latin typeface="+mn-lt"/>
                    <a:ea typeface="+mn-ea"/>
                    <a:cs typeface="+mn-cs"/>
                  </a:rPr>
                  <a:t>罗德里格斯</a:t>
                </a:r>
                <a:r>
                  <a:rPr lang="en-US" altLang="zh-CN" sz="1200" kern="1200" dirty="0">
                    <a:solidFill>
                      <a:schemeClr val="tx1"/>
                    </a:solidFill>
                    <a:effectLst/>
                    <a:latin typeface="+mn-lt"/>
                    <a:ea typeface="+mn-ea"/>
                    <a:cs typeface="+mn-cs"/>
                  </a:rPr>
                  <a:t>(Rodrigues)</a:t>
                </a:r>
                <a:r>
                  <a:rPr lang="zh-CN" altLang="zh-CN" sz="1200" kern="1200" dirty="0">
                    <a:solidFill>
                      <a:schemeClr val="tx1"/>
                    </a:solidFill>
                    <a:effectLst/>
                    <a:latin typeface="+mn-lt"/>
                    <a:ea typeface="+mn-ea"/>
                    <a:cs typeface="+mn-cs"/>
                  </a:rPr>
                  <a:t>公式。而这个</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𝑅𝑜𝑡</m:t>
                    </m:r>
                    <m:r>
                      <a:rPr lang="en-US" altLang="zh-CN" sz="1200" i="1" kern="1200">
                        <a:solidFill>
                          <a:schemeClr val="tx1"/>
                        </a:solidFill>
                        <a:effectLst/>
                        <a:latin typeface="Cambria Math" panose="02040503050406030204" pitchFamily="18" charset="0"/>
                        <a:ea typeface="+mn-ea"/>
                        <a:cs typeface="+mn-cs"/>
                      </a:rPr>
                      <m:t>(</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本身如果只是绕某个固定轴的旋转，它可以写成一个通用的表达式。</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𝑅𝑜𝑡</m:t>
                      </m:r>
                      <m:d>
                        <m:dPr>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r>
                                      <a:rPr lang="en-US" altLang="zh-CN" sz="1200" i="1" kern="1200">
                                        <a:solidFill>
                                          <a:schemeClr val="tx1"/>
                                        </a:solidFill>
                                        <a:effectLst/>
                                        <a:latin typeface="Cambria Math" panose="02040503050406030204" pitchFamily="18" charset="0"/>
                                        <a:ea typeface="+mn-ea"/>
                                        <a:cs typeface="+mn-cs"/>
                                      </a:rPr>
                                      <m:t>)</m:t>
                                    </m:r>
                                  </m:e>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2</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3</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𝑠</m:t>
                                        </m:r>
                                      </m:e>
                                      <m:sub>
                                        <m:r>
                                          <a:rPr lang="en-US" altLang="zh-CN" sz="1200" i="1" kern="1200">
                                            <a:solidFill>
                                              <a:schemeClr val="tx1"/>
                                            </a:solidFill>
                                            <a:effectLst/>
                                            <a:latin typeface="Cambria Math" panose="02040503050406030204" pitchFamily="18" charset="0"/>
                                            <a:ea typeface="+mn-ea"/>
                                            <a:cs typeface="+mn-cs"/>
                                          </a:rPr>
                                          <m:t>𝜃</m:t>
                                        </m:r>
                                      </m:sub>
                                    </m:sSub>
                                  </m:e>
                                </m:mr>
                              </m:m>
                            </m:e>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𝑠</m:t>
                                  </m:r>
                                </m:e>
                                <m:sub>
                                  <m:r>
                                    <a:rPr lang="en-US" altLang="zh-CN" sz="1200" i="1" kern="1200">
                                      <a:solidFill>
                                        <a:schemeClr val="tx1"/>
                                      </a:solidFill>
                                      <a:effectLst/>
                                      <a:latin typeface="Cambria Math" panose="02040503050406030204" pitchFamily="18" charset="0"/>
                                      <a:ea typeface="+mn-ea"/>
                                      <a:cs typeface="+mn-cs"/>
                                    </a:rPr>
                                    <m:t>𝜃</m:t>
                                  </m:r>
                                </m:sub>
                              </m:sSub>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2</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3</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𝑠</m:t>
                                              </m:r>
                                            </m:e>
                                            <m:sub>
                                              <m:r>
                                                <a:rPr lang="en-US" altLang="zh-CN" sz="1200" i="1" kern="1200">
                                                  <a:solidFill>
                                                    <a:schemeClr val="tx1"/>
                                                  </a:solidFill>
                                                  <a:effectLst/>
                                                  <a:latin typeface="Cambria Math" panose="02040503050406030204" pitchFamily="18" charset="0"/>
                                                  <a:ea typeface="+mn-ea"/>
                                                  <a:cs typeface="+mn-cs"/>
                                                </a:rPr>
                                                <m:t>𝜃</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𝑠</m:t>
                                              </m:r>
                                            </m:e>
                                            <m:sub>
                                              <m:r>
                                                <a:rPr lang="en-US" altLang="zh-CN" sz="1200" i="1" kern="1200">
                                                  <a:solidFill>
                                                    <a:schemeClr val="tx1"/>
                                                  </a:solidFill>
                                                  <a:effectLst/>
                                                  <a:latin typeface="Cambria Math" panose="02040503050406030204" pitchFamily="18" charset="0"/>
                                                  <a:ea typeface="+mn-ea"/>
                                                  <a:cs typeface="+mn-cs"/>
                                                </a:rPr>
                                                <m:t>𝜃</m:t>
                                              </m:r>
                                            </m:sub>
                                          </m:sSub>
                                        </m:e>
                                      </m:mr>
                                    </m:m>
                                  </m:e>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2</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r>
                                            <a:rPr lang="en-US" altLang="zh-CN" sz="1200" i="1" kern="1200">
                                              <a:solidFill>
                                                <a:schemeClr val="tx1"/>
                                              </a:solidFill>
                                              <a:effectLst/>
                                              <a:latin typeface="Cambria Math" panose="02040503050406030204" pitchFamily="18" charset="0"/>
                                              <a:ea typeface="+mn-ea"/>
                                              <a:cs typeface="+mn-cs"/>
                                            </a:rPr>
                                            <m:t>)</m:t>
                                          </m:r>
                                        </m:e>
                                      </m:mr>
                                      <m:m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3</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𝑠</m:t>
                                              </m:r>
                                            </m:e>
                                            <m:sub>
                                              <m:r>
                                                <a:rPr lang="en-US" altLang="zh-CN" sz="1200" i="1" kern="1200">
                                                  <a:solidFill>
                                                    <a:schemeClr val="tx1"/>
                                                  </a:solidFill>
                                                  <a:effectLst/>
                                                  <a:latin typeface="Cambria Math" panose="02040503050406030204" pitchFamily="18" charset="0"/>
                                                  <a:ea typeface="+mn-ea"/>
                                                  <a:cs typeface="+mn-cs"/>
                                                </a:rPr>
                                                <m:t>𝜃</m:t>
                                              </m:r>
                                            </m:sub>
                                          </m:sSub>
                                        </m:e>
                                      </m:mr>
                                    </m:m>
                                  </m:e>
                                </m:mr>
                              </m:m>
                            </m:e>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2</m:t>
                                        </m:r>
                                      </m:sub>
                                    </m:sSub>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3</m:t>
                                        </m:r>
                                      </m:sub>
                                    </m:sSub>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e>
                                    </m:d>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1</m:t>
                                        </m:r>
                                      </m:sub>
                                    </m:sSub>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𝑠</m:t>
                                        </m:r>
                                      </m:e>
                                      <m:sub>
                                        <m:r>
                                          <a:rPr lang="en-US" altLang="zh-CN" sz="1200" i="1" kern="1200">
                                            <a:solidFill>
                                              <a:schemeClr val="tx1"/>
                                            </a:solidFill>
                                            <a:effectLst/>
                                            <a:latin typeface="Cambria Math" panose="02040503050406030204" pitchFamily="18" charset="0"/>
                                            <a:ea typeface="+mn-ea"/>
                                            <a:cs typeface="+mn-cs"/>
                                          </a:rPr>
                                          <m:t>𝜃</m:t>
                                        </m:r>
                                      </m:sub>
                                    </m:sSub>
                                  </m:e>
                                </m:mr>
                                <m:m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e>
                                          <m:sub>
                                            <m:r>
                                              <a:rPr lang="en-US" altLang="zh-CN" sz="1200" i="1" kern="1200">
                                                <a:solidFill>
                                                  <a:schemeClr val="tx1"/>
                                                </a:solidFill>
                                                <a:effectLst/>
                                                <a:latin typeface="Cambria Math" panose="02040503050406030204" pitchFamily="18" charset="0"/>
                                                <a:ea typeface="+mn-ea"/>
                                                <a:cs typeface="+mn-cs"/>
                                              </a:rPr>
                                              <m:t>3</m:t>
                                            </m:r>
                                          </m:sub>
                                        </m:sSub>
                                      </m:e>
                                      <m:sup>
                                        <m:r>
                                          <a:rPr lang="en-US" altLang="zh-CN" sz="1200" i="1" kern="1200">
                                            <a:solidFill>
                                              <a:schemeClr val="tx1"/>
                                            </a:solidFill>
                                            <a:effectLst/>
                                            <a:latin typeface="Cambria Math" panose="02040503050406030204" pitchFamily="18" charset="0"/>
                                            <a:ea typeface="+mn-ea"/>
                                            <a:cs typeface="+mn-cs"/>
                                          </a:rPr>
                                          <m:t>2</m:t>
                                        </m:r>
                                      </m:sup>
                                    </m:sSup>
                                    <m:r>
                                      <a:rPr lang="en-US" altLang="zh-CN" sz="1200" i="1" kern="1200">
                                        <a:solidFill>
                                          <a:schemeClr val="tx1"/>
                                        </a:solidFill>
                                        <a:effectLst/>
                                        <a:latin typeface="Cambria Math" panose="02040503050406030204" pitchFamily="18" charset="0"/>
                                        <a:ea typeface="+mn-ea"/>
                                        <a:cs typeface="+mn-cs"/>
                                      </a:rPr>
                                      <m:t>(1−</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𝑐</m:t>
                                        </m:r>
                                      </m:e>
                                      <m:sub>
                                        <m:r>
                                          <a:rPr lang="en-US" altLang="zh-CN" sz="1200" i="1" kern="1200">
                                            <a:solidFill>
                                              <a:schemeClr val="tx1"/>
                                            </a:solidFill>
                                            <a:effectLst/>
                                            <a:latin typeface="Cambria Math" panose="02040503050406030204" pitchFamily="18" charset="0"/>
                                            <a:ea typeface="+mn-ea"/>
                                            <a:cs typeface="+mn-cs"/>
                                          </a:rPr>
                                          <m:t>𝜃</m:t>
                                        </m:r>
                                      </m:sub>
                                    </m:sSub>
                                    <m:r>
                                      <a:rPr lang="en-US" altLang="zh-CN" sz="1200" i="1" kern="1200">
                                        <a:solidFill>
                                          <a:schemeClr val="tx1"/>
                                        </a:solidFill>
                                        <a:effectLst/>
                                        <a:latin typeface="Cambria Math" panose="02040503050406030204" pitchFamily="18" charset="0"/>
                                        <a:ea typeface="+mn-ea"/>
                                        <a:cs typeface="+mn-cs"/>
                                      </a:rPr>
                                      <m:t>)</m:t>
                                    </m:r>
                                  </m:e>
                                </m:mr>
                              </m:m>
                            </m:e>
                          </m:mr>
                        </m:m>
                      </m:e>
                    </m:d>
                  </m:oMath>
                </a14:m>
                <a:r>
                  <a:rPr lang="en-US" altLang="zh-CN" sz="1200" kern="1200" dirty="0">
                    <a:solidFill>
                      <a:schemeClr val="tx1"/>
                    </a:solidFill>
                    <a:effectLst/>
                    <a:latin typeface="+mn-lt"/>
                    <a:ea typeface="+mn-ea"/>
                    <a:cs typeface="+mn-cs"/>
                  </a:rPr>
                  <a:t>(2-12)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对于图</a:t>
                </a:r>
                <a:r>
                  <a:rPr lang="en-US" altLang="zh-CN" sz="1200" kern="1200" dirty="0">
                    <a:solidFill>
                      <a:schemeClr val="tx1"/>
                    </a:solidFill>
                    <a:effectLst/>
                    <a:latin typeface="+mn-lt"/>
                    <a:ea typeface="+mn-ea"/>
                    <a:cs typeface="+mn-cs"/>
                  </a:rPr>
                  <a:t>2.18 (e)</a:t>
                </a:r>
                <a:r>
                  <a:rPr lang="zh-CN" altLang="zh-CN" sz="1200" kern="1200" dirty="0">
                    <a:solidFill>
                      <a:schemeClr val="tx1"/>
                    </a:solidFill>
                    <a:effectLst/>
                    <a:latin typeface="+mn-lt"/>
                    <a:ea typeface="+mn-ea"/>
                    <a:cs typeface="+mn-cs"/>
                  </a:rPr>
                  <a:t>所示变换，将式</a:t>
                </a:r>
                <a:r>
                  <a:rPr lang="en-US" altLang="zh-CN" sz="1200" kern="1200" dirty="0">
                    <a:solidFill>
                      <a:schemeClr val="tx1"/>
                    </a:solidFill>
                    <a:effectLst/>
                    <a:latin typeface="+mn-lt"/>
                    <a:ea typeface="+mn-ea"/>
                    <a:cs typeface="+mn-cs"/>
                  </a:rPr>
                  <a:t>(2-10)</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(2-12)</a:t>
                </a:r>
                <a:r>
                  <a:rPr lang="zh-CN" altLang="zh-CN" sz="1200" kern="1200" dirty="0">
                    <a:solidFill>
                      <a:schemeClr val="tx1"/>
                    </a:solidFill>
                    <a:effectLst/>
                    <a:latin typeface="+mn-lt"/>
                    <a:ea typeface="+mn-ea"/>
                    <a:cs typeface="+mn-cs"/>
                  </a:rPr>
                  <a:t>代入式</a:t>
                </a:r>
                <a:r>
                  <a:rPr lang="en-US" altLang="zh-CN" sz="1200" kern="1200" dirty="0">
                    <a:solidFill>
                      <a:schemeClr val="tx1"/>
                    </a:solidFill>
                    <a:effectLst/>
                    <a:latin typeface="+mn-lt"/>
                    <a:ea typeface="+mn-ea"/>
                    <a:cs typeface="+mn-cs"/>
                  </a:rPr>
                  <a:t>(2-8)</a:t>
                </a:r>
                <a:r>
                  <a:rPr lang="zh-CN" altLang="zh-CN" sz="1200" kern="1200" dirty="0">
                    <a:solidFill>
                      <a:schemeClr val="tx1"/>
                    </a:solidFill>
                    <a:effectLst/>
                    <a:latin typeface="+mn-lt"/>
                    <a:ea typeface="+mn-ea"/>
                    <a:cs typeface="+mn-cs"/>
                  </a:rPr>
                  <a:t>即可得到转换后的位姿：</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mr>
                          </m:m>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10</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mr>
                          </m:m>
                        </m:e>
                      </m:d>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该位姿为使用旋量指数积公式求解出来的坐标系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下的位姿，将其转换到坐标系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O</m:t>
                    </m:r>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下</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即将坐标系进行一个平移变换即可：</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10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mr>
                          </m:m>
                        </m:e>
                      </m:d>
                      <m:r>
                        <a:rPr lang="en-US" altLang="zh-CN" sz="1200" i="1" kern="1200">
                          <a:solidFill>
                            <a:schemeClr val="tx1"/>
                          </a:solidFill>
                          <a:effectLst/>
                          <a:latin typeface="Cambria Math" panose="02040503050406030204" pitchFamily="18" charset="0"/>
                          <a:ea typeface="+mn-ea"/>
                          <a:cs typeface="+mn-cs"/>
                        </a:rPr>
                        <m:t>𝑇</m:t>
                      </m:r>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10</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10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mr>
                          </m:m>
                        </m:e>
                      </m:d>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可以看出，这个指数积形式的旋量法求解，和前面齐次坐标系的组合变换是等效的。但这个指数积形式的旋量法更直观简明一些，对于坐标系的建立，只需建立一个初始坐标系，然后找出各种运动对应的旋量轴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𝒮</m:t>
                    </m:r>
                  </m:oMath>
                </a14:m>
                <a:r>
                  <a:rPr lang="zh-CN" altLang="zh-CN" sz="1200" kern="1200" dirty="0">
                    <a:solidFill>
                      <a:schemeClr val="tx1"/>
                    </a:solidFill>
                    <a:effectLst/>
                    <a:latin typeface="+mn-lt"/>
                    <a:ea typeface="+mn-ea"/>
                    <a:cs typeface="+mn-cs"/>
                  </a:rPr>
                  <a:t>即可。将这种固定坐标系及旋量轴的表示，称之为</a:t>
                </a:r>
                <a:r>
                  <a:rPr lang="zh-CN" altLang="zh-CN" sz="1200" b="1" kern="1200" dirty="0">
                    <a:solidFill>
                      <a:schemeClr val="tx1"/>
                    </a:solidFill>
                    <a:effectLst/>
                    <a:latin typeface="+mn-lt"/>
                    <a:ea typeface="+mn-ea"/>
                    <a:cs typeface="+mn-cs"/>
                  </a:rPr>
                  <a:t>指数坐标。</a:t>
                </a:r>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(2-8)</a:t>
                </a:r>
                <a:r>
                  <a:rPr lang="zh-CN" altLang="zh-CN" sz="1200" kern="1200" dirty="0">
                    <a:solidFill>
                      <a:schemeClr val="tx1"/>
                    </a:solidFill>
                    <a:effectLst/>
                    <a:latin typeface="+mn-lt"/>
                    <a:ea typeface="+mn-ea"/>
                    <a:cs typeface="+mn-cs"/>
                  </a:rPr>
                  <a:t>为指数积公式，可由此公式计算位姿矩阵。式</a:t>
                </a:r>
                <a:r>
                  <a:rPr lang="en-US" altLang="zh-CN" sz="1200" kern="1200" dirty="0">
                    <a:solidFill>
                      <a:schemeClr val="tx1"/>
                    </a:solidFill>
                    <a:effectLst/>
                    <a:latin typeface="+mn-lt"/>
                    <a:ea typeface="+mn-ea"/>
                    <a:cs typeface="+mn-cs"/>
                  </a:rPr>
                  <a:t>(2-11)</a:t>
                </a:r>
                <a:r>
                  <a:rPr lang="zh-CN" altLang="zh-CN" sz="1200" kern="1200" dirty="0">
                    <a:solidFill>
                      <a:schemeClr val="tx1"/>
                    </a:solidFill>
                    <a:effectLst/>
                    <a:latin typeface="+mn-lt"/>
                    <a:ea typeface="+mn-ea"/>
                    <a:cs typeface="+mn-cs"/>
                  </a:rPr>
                  <a:t>为罗德里格斯公式，对应螺旋运动的旋转姿态矩阵。</a:t>
                </a:r>
                <a:endParaRPr lang="en-US" altLang="zh-CN" sz="1200" kern="1200" dirty="0" smtClean="0">
                  <a:solidFill>
                    <a:schemeClr val="tx1"/>
                  </a:solidFill>
                  <a:effectLst/>
                  <a:latin typeface="+mn-lt"/>
                  <a:ea typeface="+mn-ea"/>
                  <a:cs typeface="+mn-cs"/>
                </a:endParaRPr>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b="-143040"/>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在前面我们描述的</a:t>
                </a:r>
                <a:r>
                  <a:rPr lang="en-US" altLang="zh-CN" sz="1200" kern="1200" dirty="0" smtClean="0">
                    <a:solidFill>
                      <a:schemeClr val="tx1"/>
                    </a:solidFill>
                    <a:effectLst/>
                    <a:latin typeface="+mn-lt"/>
                    <a:ea typeface="+mn-ea"/>
                    <a:cs typeface="+mn-cs"/>
                  </a:rPr>
                  <a:t>RPY</a:t>
                </a:r>
                <a:r>
                  <a:rPr lang="zh-CN" altLang="zh-CN" sz="1200" kern="1200" dirty="0" smtClean="0">
                    <a:solidFill>
                      <a:schemeClr val="tx1"/>
                    </a:solidFill>
                    <a:effectLst/>
                    <a:latin typeface="+mn-lt"/>
                    <a:ea typeface="+mn-ea"/>
                    <a:cs typeface="+mn-cs"/>
                  </a:rPr>
                  <a:t>或者欧拉角的姿态表示方法中，三个旋转顺序是固定的，我们可以通过这个旋转顺序得到所需的姿态。然而在某些特殊情况下，如果这其中的某两个旋转变换，由于旋转顺序及特定角度问题，导致可能变换的是同一外部轴，这样就会导致我们实际无法操纵某一个轴的自由度，从而导致所谓“万向节死锁（</a:t>
                </a:r>
                <a:r>
                  <a:rPr lang="en-US" altLang="zh-CN" sz="1200" kern="1200" dirty="0" smtClean="0">
                    <a:solidFill>
                      <a:schemeClr val="tx1"/>
                    </a:solidFill>
                    <a:effectLst/>
                    <a:latin typeface="+mn-lt"/>
                    <a:ea typeface="+mn-ea"/>
                    <a:cs typeface="+mn-cs"/>
                  </a:rPr>
                  <a:t>Gimbal Lock</a:t>
                </a:r>
                <a:r>
                  <a:rPr lang="zh-CN" altLang="zh-CN" sz="1200" kern="1200" dirty="0" smtClean="0">
                    <a:solidFill>
                      <a:schemeClr val="tx1"/>
                    </a:solidFill>
                    <a:effectLst/>
                    <a:latin typeface="+mn-lt"/>
                    <a:ea typeface="+mn-ea"/>
                    <a:cs typeface="+mn-cs"/>
                  </a:rPr>
                  <a:t>）” 的产生。</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1843</a:t>
                </a:r>
                <a:r>
                  <a:rPr lang="zh-CN" altLang="zh-CN" sz="1200" kern="1200" dirty="0">
                    <a:solidFill>
                      <a:schemeClr val="tx1"/>
                    </a:solidFill>
                    <a:effectLst/>
                    <a:latin typeface="+mn-lt"/>
                    <a:ea typeface="+mn-ea"/>
                    <a:cs typeface="+mn-cs"/>
                  </a:rPr>
                  <a:t>年，爱尔兰数学家</a:t>
                </a:r>
                <a:r>
                  <a:rPr lang="en-US" altLang="zh-CN" sz="1200" kern="1200" dirty="0">
                    <a:solidFill>
                      <a:schemeClr val="tx1"/>
                    </a:solidFill>
                    <a:effectLst/>
                    <a:latin typeface="+mn-lt"/>
                    <a:ea typeface="+mn-ea"/>
                    <a:cs typeface="+mn-cs"/>
                  </a:rPr>
                  <a:t>William Rowan Hamilton</a:t>
                </a:r>
                <a:r>
                  <a:rPr lang="zh-CN" altLang="zh-CN" sz="1200" kern="1200" dirty="0">
                    <a:solidFill>
                      <a:schemeClr val="tx1"/>
                    </a:solidFill>
                    <a:effectLst/>
                    <a:latin typeface="+mn-lt"/>
                    <a:ea typeface="+mn-ea"/>
                    <a:cs typeface="+mn-cs"/>
                  </a:rPr>
                  <a:t>创造了一个称为四元数</a:t>
                </a:r>
                <a:r>
                  <a:rPr lang="en-US" altLang="zh-CN" sz="1200" kern="1200" dirty="0">
                    <a:solidFill>
                      <a:schemeClr val="tx1"/>
                    </a:solidFill>
                    <a:effectLst/>
                    <a:latin typeface="+mn-lt"/>
                    <a:ea typeface="+mn-ea"/>
                    <a:cs typeface="+mn-cs"/>
                  </a:rPr>
                  <a:t>(Quaternion)</a:t>
                </a:r>
                <a:r>
                  <a:rPr lang="zh-CN" altLang="zh-CN" sz="1200" kern="1200" dirty="0">
                    <a:solidFill>
                      <a:schemeClr val="tx1"/>
                    </a:solidFill>
                    <a:effectLst/>
                    <a:latin typeface="+mn-lt"/>
                    <a:ea typeface="+mn-ea"/>
                    <a:cs typeface="+mn-cs"/>
                  </a:rPr>
                  <a:t>的超复数概念。将三维空间坐标系中的一个向量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，在复平面内旋转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zh-CN" altLang="zh-CN" sz="1200" i="1" kern="1200">
                        <a:solidFill>
                          <a:schemeClr val="tx1"/>
                        </a:solidFill>
                        <a:effectLst/>
                        <a:latin typeface="Cambria Math" panose="02040503050406030204" pitchFamily="18" charset="0"/>
                        <a:ea typeface="+mn-ea"/>
                        <a:cs typeface="+mn-cs"/>
                      </a:rPr>
                      <m:t>角</m:t>
                    </m:r>
                  </m:oMath>
                </a14:m>
                <a:r>
                  <a:rPr lang="zh-CN" altLang="zh-CN" sz="1200" kern="1200" dirty="0">
                    <a:solidFill>
                      <a:schemeClr val="tx1"/>
                    </a:solidFill>
                    <a:effectLst/>
                    <a:latin typeface="+mn-lt"/>
                    <a:ea typeface="+mn-ea"/>
                    <a:cs typeface="+mn-cs"/>
                  </a:rPr>
                  <a:t>，这个旋转向量我们使用四元数来进行表示：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将三维空间坐标系中的一个向量</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𝜔</m:t>
                    </m:r>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，在复平面内旋转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zh-CN" altLang="zh-CN" sz="1200" i="1" kern="1200">
                        <a:solidFill>
                          <a:schemeClr val="tx1"/>
                        </a:solidFill>
                        <a:effectLst/>
                        <a:latin typeface="Cambria Math" panose="02040503050406030204" pitchFamily="18" charset="0"/>
                        <a:ea typeface="+mn-ea"/>
                        <a:cs typeface="+mn-cs"/>
                      </a:rPr>
                      <m:t>角</m:t>
                    </m:r>
                  </m:oMath>
                </a14:m>
                <a:r>
                  <a:rPr lang="zh-CN" altLang="zh-CN" sz="1200" kern="1200" dirty="0">
                    <a:solidFill>
                      <a:schemeClr val="tx1"/>
                    </a:solidFill>
                    <a:effectLst/>
                    <a:latin typeface="+mn-lt"/>
                    <a:ea typeface="+mn-ea"/>
                    <a:cs typeface="+mn-cs"/>
                  </a:rPr>
                  <a:t>，这个旋转向量我们使用四元数来进行表示：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cos</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𝑥</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𝑦</m:t>
                        </m:r>
                      </m:sub>
                    </m:sSub>
                    <m:r>
                      <a:rPr lang="en-US" altLang="zh-CN" sz="1200" i="1" kern="1200">
                        <a:solidFill>
                          <a:schemeClr val="tx1"/>
                        </a:solidFill>
                        <a:effectLst/>
                        <a:latin typeface="Cambria Math" panose="02040503050406030204" pitchFamily="18" charset="0"/>
                        <a:ea typeface="+mn-ea"/>
                        <a:cs typeface="+mn-cs"/>
                      </a:rPr>
                      <m:t>,</m:t>
                    </m:r>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sin</m:t>
                        </m:r>
                      </m:fName>
                      <m:e>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2</m:t>
                                </m:r>
                              </m:den>
                            </m:f>
                          </m:e>
                        </m:d>
                      </m:e>
                    </m:func>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𝑧</m:t>
                        </m:r>
                      </m:sub>
                    </m:sSub>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(2-10) </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四元数表示的是复平面的旋转，其旋转向量并无对应确切的物理含义。但我们可以将三维空间中的点</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用虚四元数来表示：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𝑧</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𝑆</m:t>
                      </m:r>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为旋转轴。</a:t>
                </a:r>
              </a:p>
              <a:p>
                <a:r>
                  <a:rPr lang="zh-CN" altLang="zh-CN" sz="1200" kern="1200" dirty="0">
                    <a:solidFill>
                      <a:schemeClr val="tx1"/>
                    </a:solidFill>
                    <a:effectLst/>
                    <a:latin typeface="+mn-lt"/>
                    <a:ea typeface="+mn-ea"/>
                    <a:cs typeface="+mn-cs"/>
                  </a:rPr>
                  <a:t>如果该点绕</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轴旋转</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r>
                      <a:rPr lang="zh-CN" altLang="zh-CN" sz="1200" i="1" kern="1200">
                        <a:solidFill>
                          <a:schemeClr val="tx1"/>
                        </a:solidFill>
                        <a:effectLst/>
                        <a:latin typeface="Cambria Math" panose="02040503050406030204" pitchFamily="18" charset="0"/>
                        <a:ea typeface="+mn-ea"/>
                        <a:cs typeface="+mn-cs"/>
                      </a:rPr>
                      <m:t>角</m:t>
                    </m:r>
                  </m:oMath>
                </a14:m>
                <a:r>
                  <a:rPr lang="zh-CN" altLang="zh-CN" sz="1200" kern="1200" dirty="0">
                    <a:solidFill>
                      <a:schemeClr val="tx1"/>
                    </a:solidFill>
                    <a:effectLst/>
                    <a:latin typeface="+mn-lt"/>
                    <a:ea typeface="+mn-ea"/>
                    <a:cs typeface="+mn-cs"/>
                  </a:rPr>
                  <a:t>，则该点新的旋转向量计算公式：</a:t>
                </a:r>
              </a:p>
              <a:p>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𝑃</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𝑞𝑃</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−1</m:t>
                        </m:r>
                      </m:sup>
                    </m:sSup>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2-11</a:t>
                </a:r>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板书</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在例</a:t>
                </a:r>
                <a:r>
                  <a:rPr lang="en-US" altLang="zh-CN" sz="1200" kern="1200" dirty="0">
                    <a:solidFill>
                      <a:schemeClr val="tx1"/>
                    </a:solidFill>
                    <a:effectLst/>
                    <a:latin typeface="+mn-lt"/>
                    <a:ea typeface="+mn-ea"/>
                    <a:cs typeface="+mn-cs"/>
                  </a:rPr>
                  <a:t>2.3</a:t>
                </a:r>
                <a:r>
                  <a:rPr lang="zh-CN" altLang="zh-CN" sz="1200" kern="1200" dirty="0">
                    <a:solidFill>
                      <a:schemeClr val="tx1"/>
                    </a:solidFill>
                    <a:effectLst/>
                    <a:latin typeface="+mn-lt"/>
                    <a:ea typeface="+mn-ea"/>
                    <a:cs typeface="+mn-cs"/>
                  </a:rPr>
                  <a:t>的图</a:t>
                </a:r>
                <a:r>
                  <a:rPr lang="en-US" altLang="zh-CN" sz="1200" kern="1200" dirty="0">
                    <a:solidFill>
                      <a:schemeClr val="tx1"/>
                    </a:solidFill>
                    <a:effectLst/>
                    <a:latin typeface="+mn-lt"/>
                    <a:ea typeface="+mn-ea"/>
                    <a:cs typeface="+mn-cs"/>
                  </a:rPr>
                  <a:t>2.18(e)</a:t>
                </a:r>
                <a:r>
                  <a:rPr lang="zh-CN" altLang="zh-CN" sz="1200" kern="1200" dirty="0">
                    <a:solidFill>
                      <a:schemeClr val="tx1"/>
                    </a:solidFill>
                    <a:effectLst/>
                    <a:latin typeface="+mn-lt"/>
                    <a:ea typeface="+mn-ea"/>
                    <a:cs typeface="+mn-cs"/>
                  </a:rPr>
                  <a:t>中，圆锥体底部中心点绕旋转轴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𝒮</m:t>
                    </m:r>
                    <m:r>
                      <a:rPr lang="en-US" altLang="zh-CN" sz="1200" i="1" kern="1200">
                        <a:solidFill>
                          <a:schemeClr val="tx1"/>
                        </a:solidFill>
                        <a:effectLst/>
                        <a:latin typeface="Cambria Math" panose="02040503050406030204" pitchFamily="18" charset="0"/>
                        <a:ea typeface="+mn-ea"/>
                        <a:cs typeface="+mn-cs"/>
                      </a:rPr>
                      <m:t>=(1,0,0)</m:t>
                    </m:r>
                  </m:oMath>
                </a14:m>
                <a:r>
                  <a:rPr lang="zh-CN" altLang="zh-CN" sz="1200" kern="1200" dirty="0">
                    <a:solidFill>
                      <a:schemeClr val="tx1"/>
                    </a:solidFill>
                    <a:effectLst/>
                    <a:latin typeface="+mn-lt"/>
                    <a:ea typeface="+mn-ea"/>
                    <a:cs typeface="+mn-cs"/>
                  </a:rPr>
                  <a:t>旋转</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度，旋转之后其坐标按式</a:t>
                </a:r>
                <a:r>
                  <a:rPr lang="en-US" altLang="zh-CN" sz="1200" kern="1200" dirty="0">
                    <a:solidFill>
                      <a:schemeClr val="tx1"/>
                    </a:solidFill>
                    <a:effectLst/>
                    <a:latin typeface="+mn-lt"/>
                    <a:ea typeface="+mn-ea"/>
                    <a:cs typeface="+mn-cs"/>
                  </a:rPr>
                  <a:t>(2-13), (2-14)</a:t>
                </a:r>
                <a:r>
                  <a:rPr lang="zh-CN" altLang="zh-CN" sz="1200" kern="1200" dirty="0">
                    <a:solidFill>
                      <a:schemeClr val="tx1"/>
                    </a:solidFill>
                    <a:effectLst/>
                    <a:latin typeface="+mn-lt"/>
                    <a:ea typeface="+mn-ea"/>
                    <a:cs typeface="+mn-cs"/>
                  </a:rPr>
                  <a:t>计算：</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m:t>
                      </m:r>
                      <m:r>
                        <a:rPr lang="en-US" altLang="zh-CN" sz="1200" i="1" kern="1200">
                          <a:solidFill>
                            <a:schemeClr val="tx1"/>
                          </a:solidFill>
                          <a:effectLst/>
                          <a:latin typeface="Cambria Math" panose="02040503050406030204" pitchFamily="18" charset="0"/>
                          <a:ea typeface="+mn-ea"/>
                          <a:cs typeface="+mn-cs"/>
                        </a:rPr>
                        <m:t>=(0,0,0,−10)</m:t>
                      </m:r>
                    </m:oMath>
                  </m:oMathPara>
                </a14:m>
                <a:endParaRPr lang="zh-CN" altLang="zh-CN"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𝑐𝑜𝑠</m:t>
                      </m:r>
                      <m:r>
                        <a:rPr lang="en-US" altLang="zh-CN" sz="1200" i="1" kern="1200">
                          <a:solidFill>
                            <a:schemeClr val="tx1"/>
                          </a:solidFill>
                          <a:effectLst/>
                          <a:latin typeface="Cambria Math" panose="02040503050406030204" pitchFamily="18" charset="0"/>
                          <a:ea typeface="+mn-ea"/>
                          <a:cs typeface="+mn-cs"/>
                        </a:rPr>
                        <m:t>45°,</m:t>
                      </m:r>
                      <m:r>
                        <a:rPr lang="en-US" altLang="zh-CN" sz="1200" i="1" kern="1200">
                          <a:solidFill>
                            <a:schemeClr val="tx1"/>
                          </a:solidFill>
                          <a:effectLst/>
                          <a:latin typeface="Cambria Math" panose="02040503050406030204" pitchFamily="18" charset="0"/>
                          <a:ea typeface="+mn-ea"/>
                          <a:cs typeface="+mn-cs"/>
                        </a:rPr>
                        <m:t>𝑠𝑖𝑛</m:t>
                      </m:r>
                      <m:r>
                        <a:rPr lang="en-US" altLang="zh-CN" sz="1200" i="1" kern="1200">
                          <a:solidFill>
                            <a:schemeClr val="tx1"/>
                          </a:solidFill>
                          <a:effectLst/>
                          <a:latin typeface="Cambria Math" panose="02040503050406030204" pitchFamily="18" charset="0"/>
                          <a:ea typeface="+mn-ea"/>
                          <a:cs typeface="+mn-cs"/>
                        </a:rPr>
                        <m:t>45°,0,0)=(</m:t>
                      </m:r>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r>
                        <a:rPr lang="en-US" altLang="zh-CN" sz="1200" i="1" kern="1200">
                          <a:solidFill>
                            <a:schemeClr val="tx1"/>
                          </a:solidFill>
                          <a:effectLst/>
                          <a:latin typeface="Cambria Math" panose="02040503050406030204" pitchFamily="18" charset="0"/>
                          <a:ea typeface="+mn-ea"/>
                          <a:cs typeface="+mn-cs"/>
                        </a:rPr>
                        <m:t>/2,</m:t>
                      </m:r>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r>
                        <a:rPr lang="en-US" altLang="zh-CN" sz="1200" i="1" kern="1200">
                          <a:solidFill>
                            <a:schemeClr val="tx1"/>
                          </a:solidFill>
                          <a:effectLst/>
                          <a:latin typeface="Cambria Math" panose="02040503050406030204" pitchFamily="18" charset="0"/>
                          <a:ea typeface="+mn-ea"/>
                          <a:cs typeface="+mn-cs"/>
                        </a:rPr>
                        <m:t>/2,0,0)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模为</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的四元数称为单位四元数，对于单位四元数，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，所以该四元数的逆</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−1</m:t>
                        </m:r>
                      </m:sup>
                    </m:sSup>
                  </m:oMath>
                </a14:m>
                <a:r>
                  <a:rPr lang="zh-CN" altLang="zh-CN" sz="1200" kern="1200" dirty="0">
                    <a:solidFill>
                      <a:schemeClr val="tx1"/>
                    </a:solidFill>
                    <a:effectLst/>
                    <a:latin typeface="+mn-lt"/>
                    <a:ea typeface="+mn-ea"/>
                    <a:cs typeface="+mn-cs"/>
                  </a:rPr>
                  <a:t>等于其共轭四元数</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Sub>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p>
              <a:p>
                <a:pPr/>
                <a14:m>
                  <m:oMathPara xmlns:m="http://schemas.openxmlformats.org/officeDocument/2006/math">
                    <m:oMathParaPr>
                      <m:jc m:val="centerGroup"/>
                    </m:oMathParaPr>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m:t>
                              </m:r>
                            </m:sup>
                          </m:sSup>
                        </m:num>
                        <m:den>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m:t>
                              </m:r>
                            </m:sup>
                          </m:sSup>
                        </m:num>
                        <m:den>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𝑞</m:t>
                                  </m:r>
                                </m:e>
                              </m:d>
                              <m:r>
                                <a:rPr lang="en-US" altLang="zh-CN" sz="1200" i="1" kern="1200">
                                  <a:solidFill>
                                    <a:schemeClr val="tx1"/>
                                  </a:solidFill>
                                  <a:effectLst/>
                                  <a:latin typeface="Cambria Math" panose="02040503050406030204" pitchFamily="18" charset="0"/>
                                  <a:ea typeface="+mn-ea"/>
                                  <a:cs typeface="+mn-cs"/>
                                </a:rPr>
                                <m:t>|</m:t>
                              </m:r>
                            </m:e>
                            <m:sup>
                              <m:r>
                                <a:rPr lang="en-US" altLang="zh-CN" sz="1200" i="1" kern="1200">
                                  <a:solidFill>
                                    <a:schemeClr val="tx1"/>
                                  </a:solidFill>
                                  <a:effectLst/>
                                  <a:latin typeface="Cambria Math" panose="02040503050406030204" pitchFamily="18" charset="0"/>
                                  <a:ea typeface="+mn-ea"/>
                                  <a:cs typeface="+mn-cs"/>
                                </a:rPr>
                                <m:t>2</m:t>
                              </m:r>
                            </m:sup>
                          </m:sSup>
                        </m:den>
                      </m:f>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r>
                        <a:rPr lang="en-US" altLang="zh-CN" sz="1200" i="1" kern="1200">
                          <a:solidFill>
                            <a:schemeClr val="tx1"/>
                          </a:solidFill>
                          <a:effectLst/>
                          <a:latin typeface="Cambria Math" panose="02040503050406030204" pitchFamily="18" charset="0"/>
                          <a:ea typeface="+mn-ea"/>
                          <a:cs typeface="+mn-cs"/>
                        </a:rPr>
                        <m:t>/2,−</m:t>
                      </m:r>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r>
                        <a:rPr lang="en-US" altLang="zh-CN" sz="1200" i="1" kern="1200">
                          <a:solidFill>
                            <a:schemeClr val="tx1"/>
                          </a:solidFill>
                          <a:effectLst/>
                          <a:latin typeface="Cambria Math" panose="02040503050406030204" pitchFamily="18" charset="0"/>
                          <a:ea typeface="+mn-ea"/>
                          <a:cs typeface="+mn-cs"/>
                        </a:rPr>
                        <m:t>/2,0,0)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由式</a:t>
                </a:r>
                <a:r>
                  <a:rPr lang="en-US" altLang="zh-CN" sz="1200" kern="1200" dirty="0">
                    <a:solidFill>
                      <a:schemeClr val="tx1"/>
                    </a:solidFill>
                    <a:effectLst/>
                    <a:latin typeface="+mn-lt"/>
                    <a:ea typeface="+mn-ea"/>
                    <a:cs typeface="+mn-cs"/>
                  </a:rPr>
                  <a:t>(2-15)</a:t>
                </a:r>
                <a:r>
                  <a:rPr lang="zh-CN" altLang="zh-CN" sz="1200" kern="1200" dirty="0">
                    <a:solidFill>
                      <a:schemeClr val="tx1"/>
                    </a:solidFill>
                    <a:effectLst/>
                    <a:latin typeface="+mn-lt"/>
                    <a:ea typeface="+mn-ea"/>
                    <a:cs typeface="+mn-cs"/>
                  </a:rPr>
                  <a:t>得：</a:t>
                </a:r>
              </a:p>
              <a:p>
                <a:pPr/>
                <a14:m>
                  <m:oMathPara xmlns:m="http://schemas.openxmlformats.org/officeDocument/2006/math">
                    <m:oMathParaPr>
                      <m:jc m:val="centerGroup"/>
                    </m:oMathParaPr>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𝑃</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𝑞𝑃</m:t>
                      </m:r>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𝑞</m:t>
                          </m:r>
                        </m:e>
                        <m:sup>
                          <m:r>
                            <a:rPr lang="en-US" altLang="zh-CN" sz="1200" i="1" kern="1200">
                              <a:solidFill>
                                <a:schemeClr val="tx1"/>
                              </a:solidFill>
                              <a:effectLst/>
                              <a:latin typeface="Cambria Math" panose="02040503050406030204" pitchFamily="18" charset="0"/>
                              <a:ea typeface="+mn-ea"/>
                              <a:cs typeface="+mn-cs"/>
                            </a:rPr>
                            <m:t>−1</m:t>
                          </m:r>
                        </m:sup>
                      </m:sSup>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,0,0</m:t>
                          </m:r>
                        </m:e>
                      </m:d>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0,0,0,−10</m:t>
                          </m:r>
                        </m:e>
                      </m:d>
                      <m:d>
                        <m:dPr>
                          <m:ctrlPr>
                            <a:rPr lang="zh-CN" altLang="zh-CN" sz="1200" i="1" kern="1200">
                              <a:solidFill>
                                <a:schemeClr val="tx1"/>
                              </a:solidFill>
                              <a:effectLst/>
                              <a:latin typeface="Cambria Math" panose="02040503050406030204" pitchFamily="18" charset="0"/>
                              <a:ea typeface="+mn-ea"/>
                              <a:cs typeface="+mn-cs"/>
                            </a:rPr>
                          </m:ctrlPr>
                        </m:dPr>
                        <m:e>
                          <m:f>
                            <m:fPr>
                              <m:ctrlPr>
                                <a:rPr lang="zh-CN" altLang="zh-CN" sz="1200" i="1" kern="1200">
                                  <a:solidFill>
                                    <a:schemeClr val="tx1"/>
                                  </a:solidFill>
                                  <a:effectLst/>
                                  <a:latin typeface="Cambria Math" panose="02040503050406030204" pitchFamily="18" charset="0"/>
                                  <a:ea typeface="+mn-ea"/>
                                  <a:cs typeface="+mn-cs"/>
                                </a:rPr>
                              </m:ctrlPr>
                            </m:fPr>
                            <m:num>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m:t>
                          </m:r>
                          <m:f>
                            <m:fPr>
                              <m:ctrlPr>
                                <a:rPr lang="zh-CN" altLang="zh-CN" sz="1200" i="1" kern="1200">
                                  <a:solidFill>
                                    <a:schemeClr val="tx1"/>
                                  </a:solidFill>
                                  <a:effectLst/>
                                  <a:latin typeface="Cambria Math" panose="02040503050406030204" pitchFamily="18" charset="0"/>
                                  <a:ea typeface="+mn-ea"/>
                                  <a:cs typeface="+mn-cs"/>
                                </a:rPr>
                              </m:ctrlPr>
                            </m:fPr>
                            <m:num>
                              <m:rad>
                                <m:radPr>
                                  <m:degHide m:val="on"/>
                                  <m:ctrlPr>
                                    <a:rPr lang="zh-CN" altLang="zh-CN" sz="1200" i="1" kern="1200">
                                      <a:solidFill>
                                        <a:schemeClr val="tx1"/>
                                      </a:solidFill>
                                      <a:effectLst/>
                                      <a:latin typeface="Cambria Math" panose="02040503050406030204" pitchFamily="18" charset="0"/>
                                      <a:ea typeface="+mn-ea"/>
                                      <a:cs typeface="+mn-cs"/>
                                    </a:rPr>
                                  </m:ctrlPr>
                                </m:radPr>
                                <m:deg/>
                                <m:e>
                                  <m:r>
                                    <a:rPr lang="en-US" altLang="zh-CN" sz="1200" i="1" kern="1200">
                                      <a:solidFill>
                                        <a:schemeClr val="tx1"/>
                                      </a:solidFill>
                                      <a:effectLst/>
                                      <a:latin typeface="Cambria Math" panose="02040503050406030204" pitchFamily="18" charset="0"/>
                                      <a:ea typeface="+mn-ea"/>
                                      <a:cs typeface="+mn-cs"/>
                                    </a:rPr>
                                    <m:t>2</m:t>
                                  </m:r>
                                </m:e>
                              </m:rad>
                            </m:num>
                            <m:den>
                              <m:r>
                                <a:rPr lang="en-US" altLang="zh-CN" sz="1200" i="1" kern="1200">
                                  <a:solidFill>
                                    <a:schemeClr val="tx1"/>
                                  </a:solidFill>
                                  <a:effectLst/>
                                  <a:latin typeface="Cambria Math" panose="02040503050406030204" pitchFamily="18" charset="0"/>
                                  <a:ea typeface="+mn-ea"/>
                                  <a:cs typeface="+mn-cs"/>
                                </a:rPr>
                                <m:t>2</m:t>
                              </m:r>
                            </m:den>
                          </m:f>
                          <m:r>
                            <a:rPr lang="en-US" altLang="zh-CN" sz="1200" i="1" kern="1200">
                              <a:solidFill>
                                <a:schemeClr val="tx1"/>
                              </a:solidFill>
                              <a:effectLst/>
                              <a:latin typeface="Cambria Math" panose="02040503050406030204" pitchFamily="18" charset="0"/>
                              <a:ea typeface="+mn-ea"/>
                              <a:cs typeface="+mn-cs"/>
                            </a:rPr>
                            <m:t>,0,0</m:t>
                          </m:r>
                        </m:e>
                      </m:d>
                      <m:r>
                        <a:rPr lang="en-US" altLang="zh-CN" sz="1200" i="1" kern="1200">
                          <a:solidFill>
                            <a:schemeClr val="tx1"/>
                          </a:solidFill>
                          <a:effectLst/>
                          <a:latin typeface="Cambria Math" panose="02040503050406030204" pitchFamily="18" charset="0"/>
                          <a:ea typeface="+mn-ea"/>
                          <a:cs typeface="+mn-cs"/>
                        </a:rPr>
                        <m:t>=(0,0,10,0)</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可以得到更新后</a:t>
                </a:r>
                <a14:m>
                  <m:oMath xmlns:m="http://schemas.openxmlformats.org/officeDocument/2006/math">
                    <m:sSup>
                      <m:sSupPr>
                        <m:ctrlPr>
                          <a:rPr lang="zh-CN" altLang="zh-CN" sz="1200" i="1" kern="120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𝑃</m:t>
                        </m:r>
                      </m:e>
                      <m:sup>
                        <m:r>
                          <a:rPr lang="en-US" altLang="zh-CN" sz="1200" i="1" kern="1200">
                            <a:solidFill>
                              <a:schemeClr val="tx1"/>
                            </a:solidFill>
                            <a:effectLst/>
                            <a:latin typeface="Cambria Math" panose="02040503050406030204" pitchFamily="18" charset="0"/>
                            <a:ea typeface="+mn-ea"/>
                            <a:cs typeface="+mn-cs"/>
                          </a:rPr>
                          <m:t>′</m:t>
                        </m:r>
                      </m:sup>
                    </m:sSup>
                  </m:oMath>
                </a14:m>
                <a:r>
                  <a:rPr lang="zh-CN" altLang="zh-CN" sz="1200" kern="1200" dirty="0">
                    <a:solidFill>
                      <a:schemeClr val="tx1"/>
                    </a:solidFill>
                    <a:effectLst/>
                    <a:latin typeface="+mn-lt"/>
                    <a:ea typeface="+mn-ea"/>
                    <a:cs typeface="+mn-cs"/>
                  </a:rPr>
                  <a:t>点在坐标系</a:t>
                </a:r>
                <a14:m>
                  <m:oMath xmlns:m="http://schemas.openxmlformats.org/officeDocument/2006/math">
                    <m:r>
                      <a:rPr lang="en-US" altLang="zh-CN" sz="1200"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r>
                          <m:rPr>
                            <m:sty m:val="p"/>
                          </m:rPr>
                          <a:rPr lang="en-US" altLang="zh-CN" sz="1200" kern="1200">
                            <a:solidFill>
                              <a:schemeClr val="tx1"/>
                            </a:solidFill>
                            <a:effectLst/>
                            <a:latin typeface="Cambria Math" panose="02040503050406030204" pitchFamily="18" charset="0"/>
                            <a:ea typeface="+mn-ea"/>
                            <a:cs typeface="+mn-cs"/>
                          </a:rPr>
                          <m:t>O</m:t>
                        </m:r>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的坐标为</a:t>
                </a:r>
                <a:r>
                  <a:rPr lang="en-US" altLang="zh-CN" sz="1200" kern="1200" dirty="0">
                    <a:solidFill>
                      <a:schemeClr val="tx1"/>
                    </a:solidFill>
                    <a:effectLst/>
                    <a:latin typeface="+mn-lt"/>
                    <a:ea typeface="+mn-ea"/>
                    <a:cs typeface="+mn-cs"/>
                  </a:rPr>
                  <a:t>(0,10,0)</a:t>
                </a:r>
                <a:r>
                  <a:rPr lang="zh-CN" altLang="zh-CN" sz="1200" kern="1200" dirty="0">
                    <a:solidFill>
                      <a:schemeClr val="tx1"/>
                    </a:solidFill>
                    <a:effectLst/>
                    <a:latin typeface="+mn-lt"/>
                    <a:ea typeface="+mn-ea"/>
                    <a:cs typeface="+mn-cs"/>
                  </a:rPr>
                  <a:t>。这个计算结果也是和前面的齐次坐标变换以及指数积形式的计算是等价的。</a:t>
                </a: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(2-15)</a:t>
                </a:r>
                <a:r>
                  <a:rPr lang="zh-CN" altLang="zh-CN" sz="1200" kern="1200" dirty="0">
                    <a:solidFill>
                      <a:schemeClr val="tx1"/>
                    </a:solidFill>
                    <a:effectLst/>
                    <a:latin typeface="+mn-lt"/>
                    <a:ea typeface="+mn-ea"/>
                    <a:cs typeface="+mn-cs"/>
                  </a:rPr>
                  <a:t>中的四元数乘法运算可以写成矩阵形式进行计算：</a:t>
                </a:r>
              </a:p>
              <a:p>
                <a:r>
                  <a:rPr lang="zh-CN" altLang="zh-CN" sz="1200" kern="1200" dirty="0">
                    <a:solidFill>
                      <a:schemeClr val="tx1"/>
                    </a:solidFill>
                    <a:effectLst/>
                    <a:latin typeface="+mn-lt"/>
                    <a:ea typeface="+mn-ea"/>
                    <a:cs typeface="+mn-cs"/>
                  </a:rPr>
                  <a:t>假设有两个四元数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3)</m:t>
                    </m:r>
                  </m:oMath>
                </a14:m>
                <a:r>
                  <a:rPr lang="zh-CN" altLang="zh-CN" sz="1200" kern="1200" dirty="0">
                    <a:solidFill>
                      <a:schemeClr val="tx1"/>
                    </a:solidFill>
                    <a:effectLst/>
                    <a:latin typeface="+mn-lt"/>
                    <a:ea typeface="+mn-ea"/>
                    <a:cs typeface="+mn-cs"/>
                  </a:rPr>
                  <a:t>，则：</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m:t>
                      </m:r>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Q</m:t>
                      </m:r>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3</m:t>
                                      </m:r>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2</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3</m:t>
                                      </m:r>
                                    </m:e>
                                  </m:m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2</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0</m:t>
                                      </m:r>
                                    </m:e>
                                  </m:mr>
                                </m:m>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mr>
                                </m:m>
                              </m:e>
                            </m:m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m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mr>
                                </m:m>
                              </m:e>
                            </m:mr>
                          </m:m>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𝑀</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𝑃</m:t>
                          </m:r>
                        </m:e>
                      </m:d>
                      <m:r>
                        <a:rPr lang="en-US" altLang="zh-CN" sz="1200" i="1" kern="1200">
                          <a:solidFill>
                            <a:schemeClr val="tx1"/>
                          </a:solidFill>
                          <a:effectLst/>
                          <a:latin typeface="Cambria Math" panose="02040503050406030204" pitchFamily="18" charset="0"/>
                          <a:ea typeface="+mn-ea"/>
                          <a:cs typeface="+mn-cs"/>
                        </a:rPr>
                        <m:t>𝑄</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或者：</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𝑃</m:t>
                      </m:r>
                      <m:r>
                        <a:rPr lang="en-US" altLang="zh-CN" sz="1200" kern="1200">
                          <a:solidFill>
                            <a:schemeClr val="tx1"/>
                          </a:solidFill>
                          <a:effectLst/>
                          <a:latin typeface="Cambria Math" panose="02040503050406030204" pitchFamily="18" charset="0"/>
                          <a:ea typeface="+mn-ea"/>
                          <a:cs typeface="+mn-cs"/>
                        </a:rPr>
                        <m:t>⨂</m:t>
                      </m:r>
                      <m:r>
                        <m:rPr>
                          <m:sty m:val="p"/>
                        </m:rPr>
                        <a:rPr lang="en-US" altLang="zh-CN" sz="1200" kern="1200">
                          <a:solidFill>
                            <a:schemeClr val="tx1"/>
                          </a:solidFill>
                          <a:effectLst/>
                          <a:latin typeface="Cambria Math" panose="02040503050406030204" pitchFamily="18" charset="0"/>
                          <a:ea typeface="+mn-ea"/>
                          <a:cs typeface="+mn-cs"/>
                        </a:rPr>
                        <m:t>Q</m:t>
                      </m:r>
                      <m:r>
                        <a:rPr lang="en-US" altLang="zh-CN" sz="1200"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m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mr>
                                </m:m>
                              </m:e>
                            </m:mr>
                            <m:mr>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m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mr>
                                </m:m>
                              </m:e>
                              <m:e>
                                <m:m>
                                  <m:mPr>
                                    <m:mcs>
                                      <m:mc>
                                        <m:mcPr>
                                          <m:count m:val="2"/>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e>
                                  </m:mr>
                                </m:m>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1</m:t>
                                      </m:r>
                                    </m:e>
                                  </m:mr>
                                </m:m>
                              </m:e>
                            </m:mr>
                            <m:m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2</m:t>
                                      </m:r>
                                    </m:e>
                                  </m:mr>
                                  <m:mr>
                                    <m:e>
                                      <m:r>
                                        <a:rPr lang="en-US" altLang="zh-CN" sz="1200" i="1" kern="1200">
                                          <a:solidFill>
                                            <a:schemeClr val="tx1"/>
                                          </a:solidFill>
                                          <a:effectLst/>
                                          <a:latin typeface="Cambria Math" panose="02040503050406030204" pitchFamily="18" charset="0"/>
                                          <a:ea typeface="+mn-ea"/>
                                          <a:cs typeface="+mn-cs"/>
                                        </a:rPr>
                                        <m:t>𝑝</m:t>
                                      </m:r>
                                      <m:r>
                                        <a:rPr lang="en-US" altLang="zh-CN" sz="1200" i="1" kern="1200">
                                          <a:solidFill>
                                            <a:schemeClr val="tx1"/>
                                          </a:solidFill>
                                          <a:effectLst/>
                                          <a:latin typeface="Cambria Math" panose="02040503050406030204" pitchFamily="18" charset="0"/>
                                          <a:ea typeface="+mn-ea"/>
                                          <a:cs typeface="+mn-cs"/>
                                        </a:rPr>
                                        <m:t>3</m:t>
                                      </m:r>
                                    </m:e>
                                  </m:mr>
                                </m:m>
                              </m:e>
                            </m:mr>
                          </m:m>
                        </m:e>
                      </m:d>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𝑀</m:t>
                      </m:r>
                      <m:r>
                        <a:rPr lang="en-US" altLang="zh-CN" sz="1200" i="1" kern="1200">
                          <a:solidFill>
                            <a:schemeClr val="tx1"/>
                          </a:solidFill>
                          <a:effectLst/>
                          <a:latin typeface="Cambria Math" panose="02040503050406030204" pitchFamily="18" charset="0"/>
                          <a:ea typeface="+mn-ea"/>
                          <a:cs typeface="+mn-cs"/>
                        </a:rPr>
                        <m:t>′</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𝑄</m:t>
                          </m:r>
                        </m:e>
                      </m:d>
                      <m:r>
                        <a:rPr lang="en-US" altLang="zh-CN" sz="1200" i="1" kern="1200">
                          <a:solidFill>
                            <a:schemeClr val="tx1"/>
                          </a:solidFill>
                          <a:effectLst/>
                          <a:latin typeface="Cambria Math" panose="02040503050406030204" pitchFamily="18" charset="0"/>
                          <a:ea typeface="+mn-ea"/>
                          <a:cs typeface="+mn-cs"/>
                        </a:rPr>
                        <m:t>𝑃</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需要注意的是四元数乘法不满足交换律。</a:t>
                </a:r>
              </a:p>
              <a:p>
                <a:r>
                  <a:rPr lang="zh-CN" altLang="zh-CN" sz="1200" kern="1200" dirty="0">
                    <a:solidFill>
                      <a:schemeClr val="tx1"/>
                    </a:solidFill>
                    <a:effectLst/>
                    <a:latin typeface="+mn-lt"/>
                    <a:ea typeface="+mn-ea"/>
                    <a:cs typeface="+mn-cs"/>
                  </a:rPr>
                  <a:t>采用四元数计算比直接使用旋转和平移的复合矩阵或者指数积公式的计算速度要更快，且这种方法对于计算内存的占用更低一些。</a:t>
                </a:r>
              </a:p>
              <a:p>
                <a:r>
                  <a:rPr lang="zh-CN" altLang="zh-CN" sz="1200" kern="1200" dirty="0">
                    <a:solidFill>
                      <a:schemeClr val="tx1"/>
                    </a:solidFill>
                    <a:effectLst/>
                    <a:latin typeface="+mn-lt"/>
                    <a:ea typeface="+mn-ea"/>
                    <a:cs typeface="+mn-cs"/>
                  </a:rPr>
                  <a:t>针对旋转轴</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的刚体旋转运动，如果需要使用四元数来进行姿态矩阵的描述，可以用公式</a:t>
                </a:r>
                <a:r>
                  <a:rPr lang="en-US" altLang="zh-CN" sz="1200" kern="1200" dirty="0">
                    <a:solidFill>
                      <a:schemeClr val="tx1"/>
                    </a:solidFill>
                    <a:effectLst/>
                    <a:latin typeface="+mn-lt"/>
                    <a:ea typeface="+mn-ea"/>
                    <a:cs typeface="+mn-cs"/>
                  </a:rPr>
                  <a:t>(2-16)</a:t>
                </a:r>
                <a:r>
                  <a:rPr lang="zh-CN" altLang="zh-CN" sz="1200" kern="1200" dirty="0">
                    <a:solidFill>
                      <a:schemeClr val="tx1"/>
                    </a:solidFill>
                    <a:effectLst/>
                    <a:latin typeface="+mn-lt"/>
                    <a:ea typeface="+mn-ea"/>
                    <a:cs typeface="+mn-cs"/>
                  </a:rPr>
                  <a:t>进行表示。</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𝑄𝑢𝑎𝑡</m:t>
                      </m:r>
                      <m:d>
                        <m:dPr>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1−2(</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mr>
                                <m:mr>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1−2(</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1−2(</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e>
                                </m:mr>
                              </m:m>
                            </m:e>
                          </m:mr>
                        </m:m>
                      </m:e>
                    </m:d>
                  </m:oMath>
                </a14:m>
                <a:r>
                  <a:rPr lang="en-US" altLang="zh-CN" sz="1200" kern="1200" dirty="0">
                    <a:solidFill>
                      <a:schemeClr val="tx1"/>
                    </a:solidFill>
                    <a:effectLst/>
                    <a:latin typeface="+mn-lt"/>
                    <a:ea typeface="+mn-ea"/>
                    <a:cs typeface="+mn-cs"/>
                  </a:rPr>
                  <a:t>     (2-16)</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由于</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𝑄</m:t>
                            </m:r>
                          </m:e>
                        </m:d>
                      </m:e>
                    </m:d>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，所以式</a:t>
                </a:r>
                <a:r>
                  <a:rPr lang="en-US" altLang="zh-CN" sz="1200" kern="1200" dirty="0">
                    <a:solidFill>
                      <a:schemeClr val="tx1"/>
                    </a:solidFill>
                    <a:effectLst/>
                    <a:latin typeface="+mn-lt"/>
                    <a:ea typeface="+mn-ea"/>
                    <a:cs typeface="+mn-cs"/>
                  </a:rPr>
                  <a:t>(2-16)</a:t>
                </a:r>
                <a:r>
                  <a:rPr lang="zh-CN" altLang="zh-CN" sz="1200" kern="1200" dirty="0">
                    <a:solidFill>
                      <a:schemeClr val="tx1"/>
                    </a:solidFill>
                    <a:effectLst/>
                    <a:latin typeface="+mn-lt"/>
                    <a:ea typeface="+mn-ea"/>
                    <a:cs typeface="+mn-cs"/>
                  </a:rPr>
                  <a:t>也可以写成：</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𝑄𝑢𝑎𝑡</m:t>
                      </m:r>
                      <m:d>
                        <m:dPr>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oMath>
                  </m:oMathPara>
                </a14:m>
                <a:endParaRPr lang="zh-CN" altLang="zh-CN" sz="1200" kern="1200" dirty="0">
                  <a:solidFill>
                    <a:schemeClr val="tx1"/>
                  </a:solidFill>
                  <a:effectLst/>
                  <a:latin typeface="+mn-lt"/>
                  <a:ea typeface="+mn-ea"/>
                  <a:cs typeface="+mn-cs"/>
                </a:endParaRPr>
              </a:p>
              <a:p>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mr>
                                <m:mr>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mr>
                              </m:m>
                            </m:e>
                          </m:mr>
                        </m:m>
                      </m:e>
                    </m:d>
                  </m:oMath>
                </a14:m>
                <a:r>
                  <a:rPr lang="en-US" altLang="zh-CN" sz="1200" kern="1200" dirty="0">
                    <a:solidFill>
                      <a:schemeClr val="tx1"/>
                    </a:solidFill>
                    <a:effectLst/>
                    <a:latin typeface="+mn-lt"/>
                    <a:ea typeface="+mn-ea"/>
                    <a:cs typeface="+mn-cs"/>
                  </a:rPr>
                  <a:t>    (2-17)</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针对例</a:t>
                </a:r>
                <a:r>
                  <a:rPr lang="en-US" altLang="zh-CN" sz="1200" kern="1200" dirty="0">
                    <a:solidFill>
                      <a:schemeClr val="tx1"/>
                    </a:solidFill>
                    <a:effectLst/>
                    <a:latin typeface="+mn-lt"/>
                    <a:ea typeface="+mn-ea"/>
                    <a:cs typeface="+mn-cs"/>
                  </a:rPr>
                  <a:t>2.3</a:t>
                </a:r>
                <a:r>
                  <a:rPr lang="zh-CN" altLang="zh-CN" sz="1200" kern="1200" dirty="0">
                    <a:solidFill>
                      <a:schemeClr val="tx1"/>
                    </a:solidFill>
                    <a:effectLst/>
                    <a:latin typeface="+mn-lt"/>
                    <a:ea typeface="+mn-ea"/>
                    <a:cs typeface="+mn-cs"/>
                  </a:rPr>
                  <a:t>，初始状态下的姿态矩阵为</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oMath>
                </a14:m>
                <a:r>
                  <a:rPr lang="zh-CN" altLang="zh-CN" sz="1200" kern="1200" dirty="0">
                    <a:solidFill>
                      <a:schemeClr val="tx1"/>
                    </a:solidFill>
                    <a:effectLst/>
                    <a:latin typeface="+mn-lt"/>
                    <a:ea typeface="+mn-ea"/>
                    <a:cs typeface="+mn-cs"/>
                  </a:rPr>
                  <a:t>，则最终状态下的姿态采用四元数进行验证：</a:t>
                </a:r>
              </a:p>
              <a:p>
                <a:pPr/>
                <a14:m>
                  <m:oMathPara xmlns:m="http://schemas.openxmlformats.org/officeDocument/2006/math">
                    <m:oMathParaPr>
                      <m:jc m:val="centerGroup"/>
                    </m:oMathParaPr>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𝑅</m:t>
                          </m:r>
                        </m:e>
                        <m:sub>
                          <m:r>
                            <a:rPr lang="en-US" altLang="zh-CN" sz="1200" i="1" kern="1200">
                              <a:solidFill>
                                <a:schemeClr val="tx1"/>
                              </a:solidFill>
                              <a:effectLst/>
                              <a:latin typeface="Cambria Math" panose="02040503050406030204" pitchFamily="18" charset="0"/>
                              <a:ea typeface="+mn-ea"/>
                              <a:cs typeface="+mn-cs"/>
                            </a:rPr>
                            <m:t>𝑞</m:t>
                          </m:r>
                        </m:sub>
                      </m:sSub>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𝑄𝑢𝑎𝑡</m:t>
                      </m:r>
                      <m:d>
                        <m:dPr>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0</m:t>
                                </m:r>
                              </m:e>
                            </m:mr>
                            <m:mr>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0</m:t>
                                </m:r>
                              </m:e>
                              <m:e>
                                <m:r>
                                  <a:rPr lang="en-US" altLang="zh-CN" sz="1200" i="1" kern="1200">
                                    <a:solidFill>
                                      <a:schemeClr val="tx1"/>
                                    </a:solidFill>
                                    <a:effectLst/>
                                    <a:latin typeface="Cambria Math" panose="02040503050406030204" pitchFamily="18" charset="0"/>
                                    <a:ea typeface="+mn-ea"/>
                                    <a:cs typeface="+mn-cs"/>
                                  </a:rPr>
                                  <m:t>1</m:t>
                                </m:r>
                              </m:e>
                            </m:mr>
                          </m:m>
                        </m:e>
                      </m:d>
                    </m:oMath>
                  </m:oMathPara>
                </a14:m>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由此可见采用四元数进行的姿态表达与前面描述方法结果是一致的。</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b="-115185"/>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采用四元数计算比直接使用旋转和平移的复合矩阵或者指数积公式的计算速度要更快，且这种方法对于计算内存的占用更低一些。</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针对旋转轴</a:t>
                </a:r>
                <a:r>
                  <a:rPr lang="en-US" altLang="zh-CN" sz="1200" kern="1200" dirty="0">
                    <a:solidFill>
                      <a:schemeClr val="tx1"/>
                    </a:solidFill>
                    <a:effectLst/>
                    <a:latin typeface="+mn-lt"/>
                    <a:ea typeface="+mn-ea"/>
                    <a:cs typeface="+mn-cs"/>
                  </a:rPr>
                  <a:t>S</a:t>
                </a:r>
                <a:r>
                  <a:rPr lang="zh-CN" altLang="zh-CN" sz="1200" kern="1200" dirty="0">
                    <a:solidFill>
                      <a:schemeClr val="tx1"/>
                    </a:solidFill>
                    <a:effectLst/>
                    <a:latin typeface="+mn-lt"/>
                    <a:ea typeface="+mn-ea"/>
                    <a:cs typeface="+mn-cs"/>
                  </a:rPr>
                  <a:t>的刚体旋转运动，如果需要使用四元数来进行姿态矩阵的描述，可以用公式（</a:t>
                </a:r>
                <a:r>
                  <a:rPr lang="en-US" altLang="zh-CN" sz="1200" kern="1200" dirty="0">
                    <a:solidFill>
                      <a:schemeClr val="tx1"/>
                    </a:solidFill>
                    <a:effectLst/>
                    <a:latin typeface="+mn-lt"/>
                    <a:ea typeface="+mn-ea"/>
                    <a:cs typeface="+mn-cs"/>
                  </a:rPr>
                  <a:t>2-12</a:t>
                </a:r>
                <a:r>
                  <a:rPr lang="zh-CN" altLang="zh-CN" sz="1200" kern="1200" dirty="0">
                    <a:solidFill>
                      <a:schemeClr val="tx1"/>
                    </a:solidFill>
                    <a:effectLst/>
                    <a:latin typeface="+mn-lt"/>
                    <a:ea typeface="+mn-ea"/>
                    <a:cs typeface="+mn-cs"/>
                  </a:rPr>
                  <a:t>）进行表示。</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𝑄𝑢𝑎𝑡</m:t>
                    </m:r>
                    <m:d>
                      <m:dPr>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r>
                                      <a:rPr lang="en-US" altLang="zh-CN" sz="1200" i="1" kern="1200">
                                        <a:solidFill>
                                          <a:schemeClr val="tx1"/>
                                        </a:solidFill>
                                        <a:effectLst/>
                                        <a:latin typeface="Cambria Math" panose="02040503050406030204" pitchFamily="18" charset="0"/>
                                        <a:ea typeface="+mn-ea"/>
                                        <a:cs typeface="+mn-cs"/>
                                      </a:rPr>
                                      <m:t>1−2(</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mr>
                                <m:mr>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1−2(</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e>
                                    <m:r>
                                      <a:rPr lang="en-US" altLang="zh-CN" sz="1200" i="1" kern="1200">
                                        <a:solidFill>
                                          <a:schemeClr val="tx1"/>
                                        </a:solidFill>
                                        <a:effectLst/>
                                        <a:latin typeface="Cambria Math" panose="02040503050406030204" pitchFamily="18" charset="0"/>
                                        <a:ea typeface="+mn-ea"/>
                                        <a:cs typeface="+mn-cs"/>
                                      </a:rPr>
                                      <m:t>1−2(</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e>
                                </m:mr>
                              </m:m>
                            </m:e>
                          </m:mr>
                        </m:m>
                      </m:e>
                    </m:d>
                  </m:oMath>
                </a14:m>
                <a:r>
                  <a:rPr lang="en-US" altLang="zh-CN" sz="1200" kern="1200" dirty="0">
                    <a:solidFill>
                      <a:schemeClr val="tx1"/>
                    </a:solidFill>
                    <a:effectLst/>
                    <a:latin typeface="+mn-lt"/>
                    <a:ea typeface="+mn-ea"/>
                    <a:cs typeface="+mn-cs"/>
                  </a:rPr>
                  <a:t> (2-12)</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由于</a:t>
                </a:r>
                <a14:m>
                  <m:oMath xmlns:m="http://schemas.openxmlformats.org/officeDocument/2006/math">
                    <m:d>
                      <m:dPr>
                        <m:begChr m:val="|"/>
                        <m:endChr m:val="|"/>
                        <m:ctrlPr>
                          <a:rPr lang="zh-CN" altLang="zh-CN" sz="1200" i="1" kern="1200">
                            <a:solidFill>
                              <a:schemeClr val="tx1"/>
                            </a:solidFill>
                            <a:effectLst/>
                            <a:latin typeface="Cambria Math" panose="02040503050406030204" pitchFamily="18" charset="0"/>
                            <a:ea typeface="+mn-ea"/>
                            <a:cs typeface="+mn-cs"/>
                          </a:rPr>
                        </m:ctrlPr>
                      </m:dPr>
                      <m:e>
                        <m:d>
                          <m:dPr>
                            <m:begChr m:val="|"/>
                            <m:endChr m:val="|"/>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𝑄</m:t>
                            </m:r>
                          </m:e>
                        </m:d>
                      </m:e>
                    </m:d>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=1</m:t>
                    </m:r>
                  </m:oMath>
                </a14:m>
                <a:r>
                  <a:rPr lang="zh-CN" altLang="zh-CN" sz="1200" kern="1200" dirty="0">
                    <a:solidFill>
                      <a:schemeClr val="tx1"/>
                    </a:solidFill>
                    <a:effectLst/>
                    <a:latin typeface="+mn-lt"/>
                    <a:ea typeface="+mn-ea"/>
                    <a:cs typeface="+mn-cs"/>
                  </a:rPr>
                  <a:t>，所以式（</a:t>
                </a:r>
                <a:r>
                  <a:rPr lang="en-US" altLang="zh-CN" sz="1200" kern="1200" dirty="0">
                    <a:solidFill>
                      <a:schemeClr val="tx1"/>
                    </a:solidFill>
                    <a:effectLst/>
                    <a:latin typeface="+mn-lt"/>
                    <a:ea typeface="+mn-ea"/>
                    <a:cs typeface="+mn-cs"/>
                  </a:rPr>
                  <a:t>2-12</a:t>
                </a:r>
                <a:r>
                  <a:rPr lang="zh-CN" altLang="zh-CN" sz="1200" kern="1200" dirty="0">
                    <a:solidFill>
                      <a:schemeClr val="tx1"/>
                    </a:solidFill>
                    <a:effectLst/>
                    <a:latin typeface="+mn-lt"/>
                    <a:ea typeface="+mn-ea"/>
                    <a:cs typeface="+mn-cs"/>
                  </a:rPr>
                  <a:t>）也可以写成：</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𝑄𝑢𝑎𝑡</m:t>
                    </m:r>
                    <m:d>
                      <m:dPr>
                        <m:ctrlPr>
                          <a:rPr lang="zh-CN" altLang="zh-CN" sz="1200" i="1" kern="1200">
                            <a:solidFill>
                              <a:schemeClr val="tx1"/>
                            </a:solidFill>
                            <a:effectLst/>
                            <a:latin typeface="Cambria Math" panose="02040503050406030204" pitchFamily="18" charset="0"/>
                            <a:ea typeface="+mn-ea"/>
                            <a:cs typeface="+mn-cs"/>
                          </a:rPr>
                        </m:ctrlPr>
                      </m:dPr>
                      <m:e>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d>
                      <m:dPr>
                        <m:begChr m:val="["/>
                        <m:endChr m:val="]"/>
                        <m:ctrlPr>
                          <a:rPr lang="zh-CN" altLang="zh-CN" sz="1200" i="1" kern="1200">
                            <a:solidFill>
                              <a:schemeClr val="tx1"/>
                            </a:solidFill>
                            <a:effectLst/>
                            <a:latin typeface="Cambria Math" panose="02040503050406030204" pitchFamily="18" charset="0"/>
                            <a:ea typeface="+mn-ea"/>
                            <a:cs typeface="+mn-cs"/>
                          </a:rPr>
                        </m:ctrlPr>
                      </m:dPr>
                      <m:e>
                        <m:m>
                          <m:mPr>
                            <m:mcs>
                              <m:mc>
                                <m:mcPr>
                                  <m:count m:val="1"/>
                                  <m:mcJc m:val="center"/>
                                </m:mcPr>
                              </m:mc>
                            </m:mcs>
                            <m:ctrlPr>
                              <a:rPr lang="zh-CN" altLang="zh-CN" sz="1200" i="1" kern="1200">
                                <a:solidFill>
                                  <a:schemeClr val="tx1"/>
                                </a:solidFill>
                                <a:effectLst/>
                                <a:latin typeface="Cambria Math" panose="02040503050406030204" pitchFamily="18" charset="0"/>
                                <a:ea typeface="+mn-ea"/>
                                <a:cs typeface="+mn-cs"/>
                              </a:rPr>
                            </m:ctrlPr>
                          </m:mPr>
                          <m:mr>
                            <m:e>
                              <m:m>
                                <m:mPr>
                                  <m:mcs>
                                    <m:mc>
                                      <m:mcPr>
                                        <m:count m:val="3"/>
                                        <m:mcJc m:val="center"/>
                                      </m:mcPr>
                                    </m:mc>
                                  </m:mcs>
                                  <m:ctrlPr>
                                    <a:rPr lang="zh-CN" altLang="zh-CN" sz="1200" i="1" kern="1200">
                                      <a:solidFill>
                                        <a:schemeClr val="tx1"/>
                                      </a:solidFill>
                                      <a:effectLst/>
                                      <a:latin typeface="Cambria Math" panose="02040503050406030204" pitchFamily="18" charset="0"/>
                                      <a:ea typeface="+mn-ea"/>
                                      <a:cs typeface="+mn-cs"/>
                                    </a:rPr>
                                  </m:ctrlPr>
                                </m:mPr>
                                <m:mr>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mr>
                                <m:mr>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e>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mr>
                                <m:mr>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e>
                                  <m:e>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𝑞</m:t>
                                    </m:r>
                                    <m:r>
                                      <a:rPr lang="en-US" altLang="zh-CN" sz="1200" i="1" kern="1200">
                                        <a:solidFill>
                                          <a:schemeClr val="tx1"/>
                                        </a:solidFill>
                                        <a:effectLst/>
                                        <a:latin typeface="Cambria Math" panose="02040503050406030204" pitchFamily="18" charset="0"/>
                                        <a:ea typeface="+mn-ea"/>
                                        <a:cs typeface="+mn-cs"/>
                                      </a:rPr>
                                      <m:t>1)</m:t>
                                    </m:r>
                                  </m:e>
                                  <m:e>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0</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2</m:t>
                                        </m:r>
                                      </m:sup>
                                    </m:sSubSup>
                                    <m:r>
                                      <a:rPr lang="zh-CN" altLang="en-US"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2</m:t>
                                        </m:r>
                                      </m:sub>
                                      <m:sup>
                                        <m:r>
                                          <a:rPr lang="en-US" altLang="zh-CN" sz="1200" i="1" kern="1200">
                                            <a:solidFill>
                                              <a:schemeClr val="tx1"/>
                                            </a:solidFill>
                                            <a:effectLst/>
                                            <a:latin typeface="Cambria Math" panose="02040503050406030204" pitchFamily="18" charset="0"/>
                                            <a:ea typeface="+mn-ea"/>
                                            <a:cs typeface="+mn-cs"/>
                                          </a:rPr>
                                          <m:t>2</m:t>
                                        </m:r>
                                      </m:sup>
                                    </m:sSubSup>
                                    <m:r>
                                      <a:rPr lang="en-US" altLang="zh-CN" sz="1200" i="1" kern="1200">
                                        <a:solidFill>
                                          <a:schemeClr val="tx1"/>
                                        </a:solidFill>
                                        <a:effectLst/>
                                        <a:latin typeface="Cambria Math" panose="02040503050406030204" pitchFamily="18" charset="0"/>
                                        <a:ea typeface="+mn-ea"/>
                                        <a:cs typeface="+mn-cs"/>
                                      </a:rPr>
                                      <m:t>+</m:t>
                                    </m:r>
                                    <m:sSubSup>
                                      <m:sSubSupPr>
                                        <m:ctrlPr>
                                          <a:rPr lang="zh-CN" altLang="zh-CN" sz="1200" i="1" kern="1200">
                                            <a:solidFill>
                                              <a:schemeClr val="tx1"/>
                                            </a:solidFill>
                                            <a:effectLst/>
                                            <a:latin typeface="Cambria Math" panose="02040503050406030204" pitchFamily="18" charset="0"/>
                                            <a:ea typeface="+mn-ea"/>
                                            <a:cs typeface="+mn-cs"/>
                                          </a:rPr>
                                        </m:ctrlPr>
                                      </m:sSubSupPr>
                                      <m:e>
                                        <m:r>
                                          <a:rPr lang="en-US" altLang="zh-CN" sz="1200" i="1" kern="1200">
                                            <a:solidFill>
                                              <a:schemeClr val="tx1"/>
                                            </a:solidFill>
                                            <a:effectLst/>
                                            <a:latin typeface="Cambria Math" panose="02040503050406030204" pitchFamily="18" charset="0"/>
                                            <a:ea typeface="+mn-ea"/>
                                            <a:cs typeface="+mn-cs"/>
                                          </a:rPr>
                                          <m:t>𝑞</m:t>
                                        </m:r>
                                      </m:e>
                                      <m:sub>
                                        <m:r>
                                          <a:rPr lang="en-US" altLang="zh-CN" sz="1200" i="1" kern="1200">
                                            <a:solidFill>
                                              <a:schemeClr val="tx1"/>
                                            </a:solidFill>
                                            <a:effectLst/>
                                            <a:latin typeface="Cambria Math" panose="02040503050406030204" pitchFamily="18" charset="0"/>
                                            <a:ea typeface="+mn-ea"/>
                                            <a:cs typeface="+mn-cs"/>
                                          </a:rPr>
                                          <m:t>3</m:t>
                                        </m:r>
                                      </m:sub>
                                      <m:sup>
                                        <m:r>
                                          <a:rPr lang="en-US" altLang="zh-CN" sz="1200" i="1" kern="1200">
                                            <a:solidFill>
                                              <a:schemeClr val="tx1"/>
                                            </a:solidFill>
                                            <a:effectLst/>
                                            <a:latin typeface="Cambria Math" panose="02040503050406030204" pitchFamily="18" charset="0"/>
                                            <a:ea typeface="+mn-ea"/>
                                            <a:cs typeface="+mn-cs"/>
                                          </a:rPr>
                                          <m:t>2</m:t>
                                        </m:r>
                                      </m:sup>
                                    </m:sSubSup>
                                  </m:e>
                                </m:mr>
                              </m:m>
                            </m:e>
                          </m:mr>
                        </m:m>
                      </m:e>
                    </m:d>
                  </m:oMath>
                </a14:m>
                <a:r>
                  <a:rPr lang="en-US" altLang="zh-CN" sz="1200" kern="1200" dirty="0">
                    <a:solidFill>
                      <a:schemeClr val="tx1"/>
                    </a:solidFill>
                    <a:effectLst/>
                    <a:latin typeface="+mn-lt"/>
                    <a:ea typeface="+mn-ea"/>
                    <a:cs typeface="+mn-cs"/>
                  </a:rPr>
                  <a:t> (2-13)</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根据式（</a:t>
                </a:r>
                <a:r>
                  <a:rPr lang="en-US" altLang="zh-CN" sz="1200" kern="1200" dirty="0">
                    <a:solidFill>
                      <a:schemeClr val="tx1"/>
                    </a:solidFill>
                    <a:effectLst/>
                    <a:latin typeface="+mn-lt"/>
                    <a:ea typeface="+mn-ea"/>
                    <a:cs typeface="+mn-cs"/>
                  </a:rPr>
                  <a:t>2-17</a:t>
                </a:r>
                <a:r>
                  <a:rPr lang="zh-CN" altLang="zh-CN" sz="1200" kern="1200" dirty="0">
                    <a:solidFill>
                      <a:schemeClr val="tx1"/>
                    </a:solidFill>
                    <a:effectLst/>
                    <a:latin typeface="+mn-lt"/>
                    <a:ea typeface="+mn-ea"/>
                    <a:cs typeface="+mn-cs"/>
                  </a:rPr>
                  <a:t>）可得：</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𝜌</m:t>
                    </m:r>
                    <m:r>
                      <a:rPr lang="en-US" altLang="zh-CN" sz="1200" i="1" kern="1200">
                        <a:solidFill>
                          <a:schemeClr val="tx1"/>
                        </a:solidFill>
                        <a:effectLst/>
                        <a:latin typeface="Cambria Math" panose="02040503050406030204" pitchFamily="18" charset="0"/>
                        <a:ea typeface="+mn-ea"/>
                        <a:cs typeface="+mn-cs"/>
                      </a:rPr>
                      <m:t>= </m:t>
                    </m:r>
                    <m:acc>
                      <m:accPr>
                        <m:chr m:val="̂"/>
                        <m:ctrlPr>
                          <a:rPr lang="zh-CN" altLang="zh-CN" sz="1200" i="1" kern="1200">
                            <a:solidFill>
                              <a:schemeClr val="tx1"/>
                            </a:solidFill>
                            <a:effectLst/>
                            <a:latin typeface="Cambria Math" panose="02040503050406030204" pitchFamily="18" charset="0"/>
                            <a:ea typeface="+mn-ea"/>
                            <a:cs typeface="+mn-cs"/>
                          </a:rPr>
                        </m:ctrlPr>
                      </m:accPr>
                      <m:e>
                        <m:r>
                          <a:rPr lang="en-US" altLang="zh-CN" sz="1200" i="1" kern="1200">
                            <a:solidFill>
                              <a:schemeClr val="tx1"/>
                            </a:solidFill>
                            <a:effectLst/>
                            <a:latin typeface="Cambria Math" panose="02040503050406030204" pitchFamily="18" charset="0"/>
                            <a:ea typeface="+mn-ea"/>
                            <a:cs typeface="+mn-cs"/>
                          </a:rPr>
                          <m:t>𝜔</m:t>
                        </m:r>
                      </m:e>
                    </m:acc>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tan</m:t>
                        </m:r>
                      </m:fName>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4</m:t>
                            </m:r>
                          </m:den>
                        </m:f>
                      </m:e>
                    </m:func>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𝑥</m:t>
                        </m:r>
                      </m:sub>
                    </m:sSub>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tan</m:t>
                        </m:r>
                      </m:fName>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4</m:t>
                            </m:r>
                          </m:den>
                        </m:f>
                      </m:e>
                    </m:func>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𝑦</m:t>
                        </m:r>
                      </m:sub>
                    </m:sSub>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tan</m:t>
                        </m:r>
                      </m:fName>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4</m:t>
                            </m:r>
                          </m:den>
                        </m:f>
                      </m:e>
                    </m:func>
                    <m:r>
                      <a:rPr lang="en-US" altLang="zh-CN" sz="1200" i="1" kern="1200">
                        <a:solidFill>
                          <a:schemeClr val="tx1"/>
                        </a:solidFill>
                        <a:effectLst/>
                        <a:latin typeface="Cambria Math" panose="02040503050406030204" pitchFamily="18" charset="0"/>
                        <a:ea typeface="+mn-ea"/>
                        <a:cs typeface="+mn-cs"/>
                      </a:rPr>
                      <m:t>, </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𝑛</m:t>
                        </m:r>
                      </m:e>
                      <m:sub>
                        <m:r>
                          <a:rPr lang="en-US" altLang="zh-CN" sz="1200" i="1" kern="1200">
                            <a:solidFill>
                              <a:schemeClr val="tx1"/>
                            </a:solidFill>
                            <a:effectLst/>
                            <a:latin typeface="Cambria Math" panose="02040503050406030204" pitchFamily="18" charset="0"/>
                            <a:ea typeface="+mn-ea"/>
                            <a:cs typeface="+mn-cs"/>
                          </a:rPr>
                          <m:t>𝑧</m:t>
                        </m:r>
                      </m:sub>
                    </m:sSub>
                    <m:func>
                      <m:funcPr>
                        <m:ctrlPr>
                          <a:rPr lang="zh-CN" altLang="zh-CN" sz="1200" i="1" kern="1200">
                            <a:solidFill>
                              <a:schemeClr val="tx1"/>
                            </a:solidFill>
                            <a:effectLst/>
                            <a:latin typeface="Cambria Math" panose="02040503050406030204" pitchFamily="18" charset="0"/>
                            <a:ea typeface="+mn-ea"/>
                            <a:cs typeface="+mn-cs"/>
                          </a:rPr>
                        </m:ctrlPr>
                      </m:funcPr>
                      <m:fName>
                        <m:r>
                          <m:rPr>
                            <m:sty m:val="p"/>
                          </m:rPr>
                          <a:rPr lang="en-US" altLang="zh-CN" sz="1200" kern="1200">
                            <a:solidFill>
                              <a:schemeClr val="tx1"/>
                            </a:solidFill>
                            <a:effectLst/>
                            <a:latin typeface="Cambria Math" panose="02040503050406030204" pitchFamily="18" charset="0"/>
                            <a:ea typeface="+mn-ea"/>
                            <a:cs typeface="+mn-cs"/>
                          </a:rPr>
                          <m:t>tan</m:t>
                        </m:r>
                      </m:fName>
                      <m:e>
                        <m:f>
                          <m:fPr>
                            <m:ctrlPr>
                              <a:rPr lang="zh-CN" altLang="zh-CN" sz="1200" i="1" kern="1200">
                                <a:solidFill>
                                  <a:schemeClr val="tx1"/>
                                </a:solidFill>
                                <a:effectLst/>
                                <a:latin typeface="Cambria Math" panose="02040503050406030204" pitchFamily="18" charset="0"/>
                                <a:ea typeface="+mn-ea"/>
                                <a:cs typeface="+mn-cs"/>
                              </a:rPr>
                            </m:ctrlPr>
                          </m:fPr>
                          <m:num>
                            <m:r>
                              <a:rPr lang="en-US" altLang="zh-CN" sz="1200" i="1" kern="1200">
                                <a:solidFill>
                                  <a:schemeClr val="tx1"/>
                                </a:solidFill>
                                <a:effectLst/>
                                <a:latin typeface="Cambria Math" panose="02040503050406030204" pitchFamily="18" charset="0"/>
                                <a:ea typeface="+mn-ea"/>
                                <a:cs typeface="+mn-cs"/>
                              </a:rPr>
                              <m:t>𝜃</m:t>
                            </m:r>
                          </m:num>
                          <m:den>
                            <m:r>
                              <a:rPr lang="en-US" altLang="zh-CN" sz="1200" i="1" kern="1200">
                                <a:solidFill>
                                  <a:schemeClr val="tx1"/>
                                </a:solidFill>
                                <a:effectLst/>
                                <a:latin typeface="Cambria Math" panose="02040503050406030204" pitchFamily="18" charset="0"/>
                                <a:ea typeface="+mn-ea"/>
                                <a:cs typeface="+mn-cs"/>
                              </a:rPr>
                              <m:t>4</m:t>
                            </m:r>
                          </m:den>
                        </m:f>
                      </m:e>
                    </m:func>
                    <m:r>
                      <a:rPr lang="en-US" altLang="zh-CN" sz="1200" i="1" kern="1200">
                        <a:solidFill>
                          <a:schemeClr val="tx1"/>
                        </a:solidFill>
                        <a:effectLst/>
                        <a:latin typeface="Cambria Math" panose="02040503050406030204" pitchFamily="18" charset="0"/>
                        <a:ea typeface="+mn-ea"/>
                        <a:cs typeface="+mn-cs"/>
                      </a:rPr>
                      <m:t>)</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2-18</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得到的参数被称为</a:t>
                </a:r>
                <a:r>
                  <a:rPr lang="zh-CN" altLang="zh-CN" sz="1200" b="1" kern="1200" dirty="0">
                    <a:solidFill>
                      <a:schemeClr val="tx1"/>
                    </a:solidFill>
                    <a:effectLst/>
                    <a:latin typeface="+mn-lt"/>
                    <a:ea typeface="+mn-ea"/>
                    <a:cs typeface="+mn-cs"/>
                  </a:rPr>
                  <a:t>改进的罗德里格斯参数</a:t>
                </a:r>
                <a:r>
                  <a:rPr lang="en-US" altLang="zh-CN" sz="1200" kern="1200" dirty="0">
                    <a:solidFill>
                      <a:schemeClr val="tx1"/>
                    </a:solidFill>
                    <a:effectLst/>
                    <a:latin typeface="+mn-lt"/>
                    <a:ea typeface="+mn-ea"/>
                    <a:cs typeface="+mn-cs"/>
                  </a:rPr>
                  <a:t>(Modified Rodrigues parameters)</a:t>
                </a:r>
                <a:r>
                  <a:rPr lang="zh-CN" altLang="zh-CN" sz="1200" kern="1200" dirty="0">
                    <a:solidFill>
                      <a:schemeClr val="tx1"/>
                    </a:solidFill>
                    <a:effectLst/>
                    <a:latin typeface="+mn-lt"/>
                    <a:ea typeface="+mn-ea"/>
                    <a:cs typeface="+mn-cs"/>
                  </a:rPr>
                  <a:t>，这个时候，旋转角</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𝜃</m:t>
                    </m:r>
                  </m:oMath>
                </a14:m>
                <a:r>
                  <a:rPr lang="zh-CN" altLang="zh-CN" sz="1200" kern="1200" dirty="0">
                    <a:solidFill>
                      <a:schemeClr val="tx1"/>
                    </a:solidFill>
                    <a:effectLst/>
                    <a:latin typeface="+mn-lt"/>
                    <a:ea typeface="+mn-ea"/>
                    <a:cs typeface="+mn-cs"/>
                  </a:rPr>
                  <a:t>扩大到了</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0≤</m:t>
                    </m:r>
                    <m:r>
                      <a:rPr lang="en-US" altLang="zh-CN" sz="1200" i="1" kern="1200">
                        <a:solidFill>
                          <a:schemeClr val="tx1"/>
                        </a:solidFill>
                        <a:effectLst/>
                        <a:latin typeface="Cambria Math" panose="02040503050406030204" pitchFamily="18" charset="0"/>
                        <a:ea typeface="+mn-ea"/>
                        <a:cs typeface="+mn-cs"/>
                      </a:rPr>
                      <m:t>𝜃</m:t>
                    </m:r>
                    <m:r>
                      <a:rPr lang="en-US" altLang="zh-CN" sz="1200" i="1" kern="1200">
                        <a:solidFill>
                          <a:schemeClr val="tx1"/>
                        </a:solidFill>
                        <a:effectLst/>
                        <a:latin typeface="Cambria Math" panose="02040503050406030204" pitchFamily="18" charset="0"/>
                        <a:ea typeface="+mn-ea"/>
                        <a:cs typeface="+mn-cs"/>
                      </a:rPr>
                      <m:t>&lt;2</m:t>
                    </m:r>
                    <m:r>
                      <a:rPr lang="en-US" altLang="zh-CN" sz="1200" i="1" kern="1200">
                        <a:solidFill>
                          <a:schemeClr val="tx1"/>
                        </a:solidFill>
                        <a:effectLst/>
                        <a:latin typeface="Cambria Math" panose="02040503050406030204" pitchFamily="18" charset="0"/>
                        <a:ea typeface="+mn-ea"/>
                        <a:cs typeface="+mn-cs"/>
                      </a:rPr>
                      <m:t>𝜋</m:t>
                    </m:r>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罗德里格斯参数只使用三个参数表示三维空间的旋转姿态，在计算量上比四元数更有优势。</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机器人本体在所处环境中的位置，在</a:t>
                </a:r>
                <a:r>
                  <a:rPr lang="zh-CN" altLang="en-US" sz="1200" kern="1200" dirty="0" smtClean="0">
                    <a:solidFill>
                      <a:schemeClr val="tx1"/>
                    </a:solidFill>
                    <a:effectLst/>
                    <a:latin typeface="+mn-lt"/>
                    <a:ea typeface="+mn-ea"/>
                    <a:cs typeface="+mn-cs"/>
                  </a:rPr>
                  <a:t>现代</a:t>
                </a:r>
                <a:r>
                  <a:rPr lang="zh-CN" altLang="zh-CN" sz="1200" kern="1200" dirty="0" smtClean="0">
                    <a:solidFill>
                      <a:schemeClr val="tx1"/>
                    </a:solidFill>
                    <a:effectLst/>
                    <a:latin typeface="+mn-lt"/>
                    <a:ea typeface="+mn-ea"/>
                    <a:cs typeface="+mn-cs"/>
                  </a:rPr>
                  <a:t>机器人学中我们把它称之为位形（</a:t>
                </a:r>
                <a:r>
                  <a:rPr lang="en-US" altLang="zh-CN" sz="1200" kern="1200" dirty="0" smtClean="0">
                    <a:solidFill>
                      <a:schemeClr val="tx1"/>
                    </a:solidFill>
                    <a:effectLst/>
                    <a:latin typeface="+mn-lt"/>
                    <a:ea typeface="+mn-ea"/>
                    <a:cs typeface="+mn-cs"/>
                  </a:rPr>
                  <a:t>Configuration</a:t>
                </a:r>
                <a:r>
                  <a:rPr lang="zh-CN" altLang="zh-CN" sz="1200" kern="1200" dirty="0" smtClean="0">
                    <a:solidFill>
                      <a:schemeClr val="tx1"/>
                    </a:solidFill>
                    <a:effectLst/>
                    <a:latin typeface="+mn-lt"/>
                    <a:ea typeface="+mn-ea"/>
                    <a:cs typeface="+mn-cs"/>
                  </a:rPr>
                  <a:t>），包含所有可能的机器人位形的</a:t>
                </a:r>
                <a:r>
                  <a:rPr lang="en-US" altLang="zh-CN" sz="1200" kern="1200" dirty="0" smtClean="0">
                    <a:solidFill>
                      <a:schemeClr val="tx1"/>
                    </a:solidFill>
                    <a:effectLst/>
                    <a:latin typeface="+mn-lt"/>
                    <a:ea typeface="+mn-ea"/>
                    <a:cs typeface="+mn-cs"/>
                  </a:rPr>
                  <a:t>n</a:t>
                </a:r>
                <a:r>
                  <a:rPr lang="zh-CN" altLang="zh-CN" sz="1200" kern="1200" dirty="0" smtClean="0">
                    <a:solidFill>
                      <a:schemeClr val="tx1"/>
                    </a:solidFill>
                    <a:effectLst/>
                    <a:latin typeface="+mn-lt"/>
                    <a:ea typeface="+mn-ea"/>
                    <a:cs typeface="+mn-cs"/>
                  </a:rPr>
                  <a:t>维空间称为位形空间</a:t>
                </a:r>
                <a:r>
                  <a:rPr lang="en-US" altLang="zh-CN" sz="1200" kern="1200" dirty="0" smtClean="0">
                    <a:solidFill>
                      <a:schemeClr val="tx1"/>
                    </a:solidFill>
                    <a:effectLst/>
                    <a:latin typeface="+mn-lt"/>
                    <a:ea typeface="+mn-ea"/>
                    <a:cs typeface="+mn-cs"/>
                  </a:rPr>
                  <a:t>(C-Space)</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2.15</a:t>
                </a:r>
                <a:r>
                  <a:rPr lang="zh-CN" altLang="zh-CN" sz="1200" kern="1200" dirty="0">
                    <a:solidFill>
                      <a:schemeClr val="tx1"/>
                    </a:solidFill>
                    <a:effectLst/>
                    <a:latin typeface="+mn-lt"/>
                    <a:ea typeface="+mn-ea"/>
                    <a:cs typeface="+mn-cs"/>
                  </a:rPr>
                  <a:t>中，图</a:t>
                </a:r>
                <a:r>
                  <a:rPr lang="en-US" altLang="zh-CN" sz="1200" kern="1200" dirty="0">
                    <a:solidFill>
                      <a:schemeClr val="tx1"/>
                    </a:solidFill>
                    <a:effectLst/>
                    <a:latin typeface="+mn-lt"/>
                    <a:ea typeface="+mn-ea"/>
                    <a:cs typeface="+mn-cs"/>
                  </a:rPr>
                  <a:t>2.15(a)</a:t>
                </a:r>
                <a:r>
                  <a:rPr lang="zh-CN" altLang="zh-CN" sz="1200" kern="1200" dirty="0">
                    <a:solidFill>
                      <a:schemeClr val="tx1"/>
                    </a:solidFill>
                    <a:effectLst/>
                    <a:latin typeface="+mn-lt"/>
                    <a:ea typeface="+mn-ea"/>
                    <a:cs typeface="+mn-cs"/>
                  </a:rPr>
                  <a:t>门的位形可以通过单一参数：门的开合角度来表示，其位形空间为一维空间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𝐷</m:t>
                    </m:r>
                    <m:r>
                      <a:rPr lang="en-US" altLang="zh-CN" sz="1200" i="1" kern="1200">
                        <a:solidFill>
                          <a:schemeClr val="tx1"/>
                        </a:solidFill>
                        <a:effectLst/>
                        <a:latin typeface="Cambria Math" panose="02040503050406030204" pitchFamily="18" charset="0"/>
                        <a:ea typeface="+mn-ea"/>
                        <a:cs typeface="+mn-cs"/>
                      </a:rPr>
                      <m:t> </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2.15(c)</a:t>
                </a:r>
                <a:r>
                  <a:rPr lang="zh-CN" altLang="zh-CN" sz="1200" kern="1200" dirty="0">
                    <a:solidFill>
                      <a:schemeClr val="tx1"/>
                    </a:solidFill>
                    <a:effectLst/>
                    <a:latin typeface="+mn-lt"/>
                    <a:ea typeface="+mn-ea"/>
                    <a:cs typeface="+mn-cs"/>
                  </a:rPr>
                  <a:t>中，中国象棋棋盘上的每个棋子，其位置可以用纵横格数来表示，其位形空间为二维空间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{2</m:t>
                    </m:r>
                    <m:r>
                      <a:rPr lang="en-US" altLang="zh-CN" sz="1200" i="1" kern="1200">
                        <a:solidFill>
                          <a:schemeClr val="tx1"/>
                        </a:solidFill>
                        <a:effectLst/>
                        <a:latin typeface="Cambria Math" panose="02040503050406030204" pitchFamily="18" charset="0"/>
                        <a:ea typeface="+mn-ea"/>
                        <a:cs typeface="+mn-cs"/>
                      </a:rPr>
                      <m:t>𝐷</m:t>
                    </m:r>
                    <m:r>
                      <a:rPr lang="en-US" altLang="zh-CN" sz="1200" i="1" kern="1200">
                        <a:solidFill>
                          <a:schemeClr val="tx1"/>
                        </a:solidFill>
                        <a:effectLst/>
                        <a:latin typeface="Cambria Math" panose="02040503050406030204" pitchFamily="18" charset="0"/>
                        <a:ea typeface="+mn-ea"/>
                        <a:cs typeface="+mn-cs"/>
                      </a:rPr>
                      <m:t> </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e>
                    </m:d>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2.15(e)</a:t>
                </a:r>
                <a:r>
                  <a:rPr lang="zh-CN" altLang="zh-CN" sz="1200" kern="1200" dirty="0">
                    <a:solidFill>
                      <a:schemeClr val="tx1"/>
                    </a:solidFill>
                    <a:effectLst/>
                    <a:latin typeface="+mn-lt"/>
                    <a:ea typeface="+mn-ea"/>
                    <a:cs typeface="+mn-cs"/>
                  </a:rPr>
                  <a:t>中，平面可移动小车，其位形除了纵横坐标外，还有小车的头部方向角，其位形空间为三维空间</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{3</m:t>
                    </m:r>
                    <m:r>
                      <a:rPr lang="en-US" altLang="zh-CN" sz="1200" i="1" kern="1200">
                        <a:solidFill>
                          <a:schemeClr val="tx1"/>
                        </a:solidFill>
                        <a:effectLst/>
                        <a:latin typeface="Cambria Math" panose="02040503050406030204" pitchFamily="18" charset="0"/>
                        <a:ea typeface="+mn-ea"/>
                        <a:cs typeface="+mn-cs"/>
                      </a:rPr>
                      <m:t>𝐷</m:t>
                    </m:r>
                    <m:r>
                      <a:rPr lang="en-US" altLang="zh-CN" sz="1200" i="1" kern="1200">
                        <a:solidFill>
                          <a:schemeClr val="tx1"/>
                        </a:solidFill>
                        <a:effectLst/>
                        <a:latin typeface="Cambria Math" panose="02040503050406030204" pitchFamily="18" charset="0"/>
                        <a:ea typeface="+mn-ea"/>
                        <a:cs typeface="+mn-cs"/>
                      </a:rPr>
                      <m:t> </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𝑥</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𝑦</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𝜃</m:t>
                        </m:r>
                      </m:e>
                    </m:d>
                    <m:r>
                      <a:rPr lang="en-US" altLang="zh-CN" sz="1200" i="1" kern="1200">
                        <a:solidFill>
                          <a:schemeClr val="tx1"/>
                        </a:solidFill>
                        <a:effectLst/>
                        <a:latin typeface="Cambria Math" panose="02040503050406030204" pitchFamily="18" charset="0"/>
                        <a:ea typeface="+mn-ea"/>
                        <a:cs typeface="+mn-cs"/>
                      </a:rPr>
                      <m:t>}</m:t>
                    </m:r>
                  </m:oMath>
                </a14:m>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在以上的表示方法中，我们将机器人抽象成形状已知的刚体，刚体的自由度表示了其位形所需的最小坐标数（或维度数）。</a:t>
                </a:r>
              </a:p>
              <a:p>
                <a:r>
                  <a:rPr lang="zh-CN" altLang="zh-CN" sz="1200" kern="1200" dirty="0">
                    <a:solidFill>
                      <a:schemeClr val="tx1"/>
                    </a:solidFill>
                    <a:effectLst/>
                    <a:latin typeface="+mn-lt"/>
                    <a:ea typeface="+mn-ea"/>
                    <a:cs typeface="+mn-cs"/>
                  </a:rPr>
                  <a:t>我们将机器人在执行任务时能够自然表达的空间称为任务空间（</a:t>
                </a:r>
                <a:r>
                  <a:rPr lang="en-US" altLang="zh-CN" sz="1200" kern="1200" dirty="0">
                    <a:solidFill>
                      <a:schemeClr val="tx1"/>
                    </a:solidFill>
                    <a:effectLst/>
                    <a:latin typeface="+mn-lt"/>
                    <a:ea typeface="+mn-ea"/>
                    <a:cs typeface="+mn-cs"/>
                  </a:rPr>
                  <a:t>task space</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而工作空间</a:t>
                </a:r>
                <a:r>
                  <a:rPr lang="en-US" altLang="zh-CN" sz="1200" kern="1200" dirty="0">
                    <a:solidFill>
                      <a:schemeClr val="tx1"/>
                    </a:solidFill>
                    <a:effectLst/>
                    <a:latin typeface="+mn-lt"/>
                    <a:ea typeface="+mn-ea"/>
                    <a:cs typeface="+mn-cs"/>
                  </a:rPr>
                  <a:t>(work space)</a:t>
                </a:r>
                <a:r>
                  <a:rPr lang="zh-CN" altLang="zh-CN" sz="1200" kern="1200" dirty="0">
                    <a:solidFill>
                      <a:schemeClr val="tx1"/>
                    </a:solidFill>
                    <a:effectLst/>
                    <a:latin typeface="+mn-lt"/>
                    <a:ea typeface="+mn-ea"/>
                    <a:cs typeface="+mn-cs"/>
                  </a:rPr>
                  <a:t>则是指机器人末端执行器所能到达的空间</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任务空间的所有点对于机器人来说，并不一定都可到达。而工作空间虽然表示机器人都可达的点，但对于工作空间中的点来说，其对应的机器人位形可能有多个。例如图</a:t>
                </a:r>
                <a:r>
                  <a:rPr lang="en-US" altLang="zh-CN" sz="1200" kern="1200" dirty="0">
                    <a:solidFill>
                      <a:schemeClr val="tx1"/>
                    </a:solidFill>
                    <a:effectLst/>
                    <a:latin typeface="+mn-lt"/>
                    <a:ea typeface="+mn-ea"/>
                    <a:cs typeface="+mn-cs"/>
                  </a:rPr>
                  <a:t>2.16</a:t>
                </a:r>
                <a:r>
                  <a:rPr lang="zh-CN" altLang="zh-CN" sz="1200" kern="1200" dirty="0">
                    <a:solidFill>
                      <a:schemeClr val="tx1"/>
                    </a:solidFill>
                    <a:effectLst/>
                    <a:latin typeface="+mn-lt"/>
                    <a:ea typeface="+mn-ea"/>
                    <a:cs typeface="+mn-cs"/>
                  </a:rPr>
                  <a:t>中所示，对于一个平面两连杆机构来说，对应</a:t>
                </a:r>
                <a:r>
                  <a:rPr lang="en-US" altLang="zh-CN" sz="1200" kern="1200" dirty="0">
                    <a:solidFill>
                      <a:schemeClr val="tx1"/>
                    </a:solidFill>
                    <a:effectLst/>
                    <a:latin typeface="+mn-lt"/>
                    <a:ea typeface="+mn-ea"/>
                    <a:cs typeface="+mn-cs"/>
                  </a:rPr>
                  <a:t>P</a:t>
                </a:r>
                <a:r>
                  <a:rPr lang="zh-CN" altLang="zh-CN" sz="1200" kern="1200" dirty="0">
                    <a:solidFill>
                      <a:schemeClr val="tx1"/>
                    </a:solidFill>
                    <a:effectLst/>
                    <a:latin typeface="+mn-lt"/>
                    <a:ea typeface="+mn-ea"/>
                    <a:cs typeface="+mn-cs"/>
                  </a:rPr>
                  <a:t>点的末端可达位形可以有两个位形表示</a:t>
                </a:r>
                <a:r>
                  <a:rPr lang="en-US" altLang="zh-CN" sz="1200" kern="1200" dirty="0">
                    <a:solidFill>
                      <a:schemeClr val="tx1"/>
                    </a:solidFill>
                    <a:effectLst/>
                    <a:latin typeface="+mn-lt"/>
                    <a:ea typeface="+mn-ea"/>
                    <a:cs typeface="+mn-cs"/>
                  </a:rPr>
                  <a:t>{(</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r>
                      <a:rPr lang="en-US" altLang="zh-CN"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r>
                      <a:rPr lang="en-US" altLang="zh-CN" sz="1200" i="1" kern="1200">
                        <a:solidFill>
                          <a:schemeClr val="tx1"/>
                        </a:solidFill>
                        <a:effectLst/>
                        <a:latin typeface="Cambria Math" panose="02040503050406030204" pitchFamily="18" charset="0"/>
                        <a:ea typeface="+mn-ea"/>
                        <a:cs typeface="+mn-cs"/>
                      </a:rPr>
                      <m:t>), (  </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1</m:t>
                            </m:r>
                          </m:sub>
                        </m:sSub>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m:t>
                    </m:r>
                    <m:sSup>
                      <m:sSupPr>
                        <m:ctrlPr>
                          <a:rPr lang="zh-CN" altLang="zh-CN" sz="1200" i="1" kern="1200">
                            <a:solidFill>
                              <a:schemeClr val="tx1"/>
                            </a:solidFill>
                            <a:effectLst/>
                            <a:latin typeface="Cambria Math" panose="02040503050406030204" pitchFamily="18" charset="0"/>
                            <a:ea typeface="+mn-ea"/>
                            <a:cs typeface="+mn-cs"/>
                          </a:rPr>
                        </m:ctrlPr>
                      </m:sSupPr>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𝜃</m:t>
                            </m:r>
                          </m:e>
                          <m:sub>
                            <m:r>
                              <a:rPr lang="en-US" altLang="zh-CN" sz="1200" i="1" kern="1200">
                                <a:solidFill>
                                  <a:schemeClr val="tx1"/>
                                </a:solidFill>
                                <a:effectLst/>
                                <a:latin typeface="Cambria Math" panose="02040503050406030204" pitchFamily="18" charset="0"/>
                                <a:ea typeface="+mn-ea"/>
                                <a:cs typeface="+mn-cs"/>
                              </a:rPr>
                              <m:t>2</m:t>
                            </m:r>
                          </m:sub>
                        </m:sSub>
                      </m:e>
                      <m:sup>
                        <m:r>
                          <a:rPr lang="en-US" altLang="zh-CN" sz="1200" i="1" kern="1200">
                            <a:solidFill>
                              <a:schemeClr val="tx1"/>
                            </a:solidFill>
                            <a:effectLst/>
                            <a:latin typeface="Cambria Math" panose="02040503050406030204" pitchFamily="18" charset="0"/>
                            <a:ea typeface="+mn-ea"/>
                            <a:cs typeface="+mn-cs"/>
                          </a:rPr>
                          <m:t>′</m:t>
                        </m:r>
                      </m:sup>
                    </m:sSup>
                    <m:r>
                      <a:rPr lang="en-US" altLang="zh-CN" sz="1200" i="1" kern="1200">
                        <a:solidFill>
                          <a:schemeClr val="tx1"/>
                        </a:solidFill>
                        <a:effectLst/>
                        <a:latin typeface="Cambria Math" panose="02040503050406030204" pitchFamily="18" charset="0"/>
                        <a:ea typeface="+mn-ea"/>
                        <a:cs typeface="+mn-cs"/>
                      </a:rPr>
                      <m:t>) } </m:t>
                    </m:r>
                  </m:oMath>
                </a14:m>
                <a:r>
                  <a:rPr lang="zh-CN" altLang="zh-CN" sz="1200" kern="1200" dirty="0">
                    <a:solidFill>
                      <a:schemeClr val="tx1"/>
                    </a:solidFill>
                    <a:effectLst/>
                    <a:latin typeface="+mn-lt"/>
                    <a:ea typeface="+mn-ea"/>
                    <a:cs typeface="+mn-cs"/>
                  </a:rPr>
                  <a:t>。</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机器人学的理论基础就是为了研究机器人在空间域、时间域的表征以及求解问题，在</a:t>
                </a:r>
                <a:r>
                  <a:rPr lang="en-US" altLang="zh-CN" sz="1200" kern="1200" dirty="0">
                    <a:solidFill>
                      <a:schemeClr val="tx1"/>
                    </a:solidFill>
                    <a:effectLst/>
                    <a:latin typeface="+mn-lt"/>
                    <a:ea typeface="+mn-ea"/>
                    <a:cs typeface="+mn-cs"/>
                  </a:rPr>
                  <a:t>n</a:t>
                </a:r>
                <a:r>
                  <a:rPr lang="zh-CN" altLang="zh-CN" sz="1200" kern="1200" dirty="0">
                    <a:solidFill>
                      <a:schemeClr val="tx1"/>
                    </a:solidFill>
                    <a:effectLst/>
                    <a:latin typeface="+mn-lt"/>
                    <a:ea typeface="+mn-ea"/>
                    <a:cs typeface="+mn-cs"/>
                  </a:rPr>
                  <a:t>维空间中描述机器人的位形及其与时间之间的关系，表达为机器人的运动学，而如果还需在时间域描述产生机器人位形变化所需的力和力矩，则表达为机器人的动力学。当已知机器人位形空间的初始位形，已知所有位形变量的变化步骤，求机器人最终所处的位形，这被称为机器人正运动学，反之，已知机器人所要达到的位形，求机器人可以从初始位形到最终位形的变化步骤，这被称为机器人的逆运动学。同样，在时间域的求解问题，也存在机器人动力学正逆解问题。</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除了机器人的运动学与动力学之外，我们还需要研究机器人的运动规划问题。例如，移动机器人在二维平面运动，机器人所处的作业空间我们把它称为任务空间，除去障碍物以外机器人不可达的空间（</a:t>
                </a:r>
                <a:r>
                  <a:rPr lang="en-US" altLang="zh-CN" sz="1200" kern="1200" dirty="0">
                    <a:solidFill>
                      <a:schemeClr val="tx1"/>
                    </a:solidFill>
                    <a:effectLst/>
                    <a:latin typeface="+mn-lt"/>
                    <a:ea typeface="+mn-ea"/>
                    <a:cs typeface="+mn-cs"/>
                  </a:rPr>
                  <a:t>C-Obstacle</a:t>
                </a:r>
                <a:r>
                  <a:rPr lang="zh-CN" altLang="zh-CN" sz="1200" kern="1200" dirty="0">
                    <a:solidFill>
                      <a:schemeClr val="tx1"/>
                    </a:solidFill>
                    <a:effectLst/>
                    <a:latin typeface="+mn-lt"/>
                    <a:ea typeface="+mn-ea"/>
                    <a:cs typeface="+mn-cs"/>
                  </a:rPr>
                  <a:t>），其余的空间我们称其为自由空间（</a:t>
                </a:r>
                <a:r>
                  <a:rPr lang="en-US" altLang="zh-CN" sz="1200" kern="1200" dirty="0">
                    <a:solidFill>
                      <a:schemeClr val="tx1"/>
                    </a:solidFill>
                    <a:effectLst/>
                    <a:latin typeface="+mn-lt"/>
                    <a:ea typeface="+mn-ea"/>
                    <a:cs typeface="+mn-cs"/>
                  </a:rPr>
                  <a:t>C-Free</a:t>
                </a:r>
                <a:r>
                  <a:rPr lang="zh-CN" altLang="zh-CN" sz="1200" kern="1200" dirty="0">
                    <a:solidFill>
                      <a:schemeClr val="tx1"/>
                    </a:solidFill>
                    <a:effectLst/>
                    <a:latin typeface="+mn-lt"/>
                    <a:ea typeface="+mn-ea"/>
                    <a:cs typeface="+mn-cs"/>
                  </a:rPr>
                  <a:t>）。如果不考虑该机器人的几何半径，把机器人抽象为空间中的一点，</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𝑡𝑎𝑠𝑘</m:t>
                        </m:r>
                      </m:sub>
                    </m:sSub>
                  </m:oMath>
                </a14:m>
                <a:r>
                  <a:rPr lang="zh-CN" altLang="zh-CN" sz="1200" kern="1200" dirty="0">
                    <a:solidFill>
                      <a:schemeClr val="tx1"/>
                    </a:solidFill>
                    <a:effectLst/>
                    <a:latin typeface="+mn-lt"/>
                    <a:ea typeface="+mn-ea"/>
                    <a:cs typeface="+mn-cs"/>
                  </a:rPr>
                  <a:t>就等于</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𝑠𝑝𝑎𝑐𝑒</m:t>
                        </m:r>
                      </m:sub>
                    </m:sSub>
                  </m:oMath>
                </a14:m>
                <a:r>
                  <a:rPr lang="zh-CN" altLang="zh-CN" sz="1200" kern="1200" dirty="0">
                    <a:solidFill>
                      <a:schemeClr val="tx1"/>
                    </a:solidFill>
                    <a:effectLst/>
                    <a:latin typeface="+mn-lt"/>
                    <a:ea typeface="+mn-ea"/>
                    <a:cs typeface="+mn-cs"/>
                  </a:rPr>
                  <a:t>，则：</a:t>
                </a:r>
              </a:p>
              <a:p>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r>
                      <a:rPr lang="en-US" altLang="zh-CN" sz="1200"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𝑠𝑝𝑎𝑐𝑒</m:t>
                        </m:r>
                      </m:sub>
                    </m:sSub>
                    <m:r>
                      <a:rPr lang="zh-CN" altLang="en-US" sz="1200" i="1" kern="1200">
                        <a:solidFill>
                          <a:schemeClr val="tx1"/>
                        </a:solidFill>
                        <a:effectLst/>
                        <a:latin typeface="Cambria Math" panose="02040503050406030204" pitchFamily="18" charset="0"/>
                        <a:ea typeface="+mn-ea"/>
                        <a:cs typeface="+mn-cs"/>
                      </a:rPr>
                      <m:t>−</m:t>
                    </m:r>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𝑜𝑏𝑠𝑡𝑎𝑐𝑙𝑒</m:t>
                        </m:r>
                      </m:sub>
                    </m:sSub>
                    <m:r>
                      <a:rPr lang="en-US" altLang="zh-CN" sz="1200" kern="1200">
                        <a:solidFill>
                          <a:schemeClr val="tx1"/>
                        </a:solidFill>
                        <a:effectLst/>
                        <a:latin typeface="Cambria Math" panose="02040503050406030204" pitchFamily="18" charset="0"/>
                        <a:ea typeface="+mn-ea"/>
                        <a:cs typeface="+mn-cs"/>
                      </a:rPr>
                      <m:t> </m:t>
                    </m:r>
                  </m:oMath>
                </a14:m>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2-1</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2-1</a:t>
                </a:r>
                <a:r>
                  <a:rPr lang="zh-CN" altLang="zh-CN" sz="1200" kern="1200" dirty="0">
                    <a:solidFill>
                      <a:schemeClr val="tx1"/>
                    </a:solidFill>
                    <a:effectLst/>
                    <a:latin typeface="+mn-lt"/>
                    <a:ea typeface="+mn-ea"/>
                    <a:cs typeface="+mn-cs"/>
                  </a:rPr>
                  <a:t>）中，</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oMath>
                </a14:m>
                <a:r>
                  <a:rPr lang="zh-CN" altLang="zh-CN" sz="1200" kern="1200" dirty="0">
                    <a:solidFill>
                      <a:schemeClr val="tx1"/>
                    </a:solidFill>
                    <a:effectLst/>
                    <a:latin typeface="+mn-lt"/>
                    <a:ea typeface="+mn-ea"/>
                    <a:cs typeface="+mn-cs"/>
                  </a:rPr>
                  <a:t>等同于机器人工作空间</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𝑤𝑜𝑟𝑘</m:t>
                        </m:r>
                      </m:sub>
                    </m:sSub>
                  </m:oMath>
                </a14:m>
                <a:r>
                  <a:rPr lang="zh-CN" altLang="zh-CN" sz="1200" kern="1200" dirty="0">
                    <a:solidFill>
                      <a:schemeClr val="tx1"/>
                    </a:solidFill>
                    <a:effectLst/>
                    <a:latin typeface="+mn-lt"/>
                    <a:ea typeface="+mn-ea"/>
                    <a:cs typeface="+mn-cs"/>
                  </a:rPr>
                  <a:t>，机器人的轨迹规划问题即可表达为我们需要在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oMath>
                </a14:m>
                <a:r>
                  <a:rPr lang="zh-CN" altLang="zh-CN" sz="1200" kern="1200" dirty="0">
                    <a:solidFill>
                      <a:schemeClr val="tx1"/>
                    </a:solidFill>
                    <a:effectLst/>
                    <a:latin typeface="+mn-lt"/>
                    <a:ea typeface="+mn-ea"/>
                    <a:cs typeface="+mn-cs"/>
                  </a:rPr>
                  <a:t>中找到一个合适的解，例如最短路径、时间最优路径、能量最优路径等问题。</a:t>
                </a:r>
              </a:p>
              <a:p>
                <a:r>
                  <a:rPr lang="zh-CN" altLang="zh-CN" sz="1200" kern="1200" dirty="0">
                    <a:solidFill>
                      <a:schemeClr val="tx1"/>
                    </a:solidFill>
                    <a:effectLst/>
                    <a:latin typeface="+mn-lt"/>
                    <a:ea typeface="+mn-ea"/>
                    <a:cs typeface="+mn-cs"/>
                  </a:rPr>
                  <a:t>一般来说移动机器人的运动规划是在</a:t>
                </a:r>
                <a14:m>
                  <m:oMath xmlns:m="http://schemas.openxmlformats.org/officeDocument/2006/math">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𝐶</m:t>
                        </m:r>
                      </m:e>
                      <m:sub>
                        <m:r>
                          <a:rPr lang="en-US" altLang="zh-CN" sz="1200" i="1" kern="1200">
                            <a:solidFill>
                              <a:schemeClr val="tx1"/>
                            </a:solidFill>
                            <a:effectLst/>
                            <a:latin typeface="Cambria Math" panose="02040503050406030204" pitchFamily="18" charset="0"/>
                            <a:ea typeface="+mn-ea"/>
                            <a:cs typeface="+mn-cs"/>
                          </a:rPr>
                          <m:t>𝑓𝑟𝑒𝑒</m:t>
                        </m:r>
                      </m:sub>
                    </m:sSub>
                  </m:oMath>
                </a14:m>
                <a:r>
                  <a:rPr lang="zh-CN" altLang="zh-CN" sz="1200" kern="1200" dirty="0">
                    <a:solidFill>
                      <a:schemeClr val="tx1"/>
                    </a:solidFill>
                    <a:effectLst/>
                    <a:latin typeface="+mn-lt"/>
                    <a:ea typeface="+mn-ea"/>
                    <a:cs typeface="+mn-cs"/>
                  </a:rPr>
                  <a:t>中求解，本身就考虑了避障问题，而工业操作臂</a:t>
                </a:r>
                <a:r>
                  <a:rPr lang="en-US" altLang="zh-CN" sz="1200" kern="1200" dirty="0">
                    <a:solidFill>
                      <a:schemeClr val="tx1"/>
                    </a:solidFill>
                    <a:effectLst/>
                    <a:latin typeface="+mn-lt"/>
                    <a:ea typeface="+mn-ea"/>
                    <a:cs typeface="+mn-cs"/>
                  </a:rPr>
                  <a:t>(manipulator)</a:t>
                </a:r>
                <a:r>
                  <a:rPr lang="zh-CN" altLang="zh-CN" sz="1200" kern="1200" dirty="0">
                    <a:solidFill>
                      <a:schemeClr val="tx1"/>
                    </a:solidFill>
                    <a:effectLst/>
                    <a:latin typeface="+mn-lt"/>
                    <a:ea typeface="+mn-ea"/>
                    <a:cs typeface="+mn-cs"/>
                  </a:rPr>
                  <a:t>安装于宽敞的作业环境，工作空间使用护栏隔离，其传统运动规划算法没有考虑避障问题，如果需要在狭窄的空间进行操作，则也应考虑避障问题。</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C-Space</a:t>
                </a:r>
                <a:r>
                  <a:rPr lang="zh-CN" altLang="en-US" dirty="0" smtClean="0"/>
                  <a:t>：拓扑（</a:t>
                </a:r>
                <a:r>
                  <a:rPr lang="en-US" altLang="zh-CN" dirty="0" smtClean="0"/>
                  <a:t>Topology</a:t>
                </a:r>
                <a:r>
                  <a:rPr lang="zh-CN" altLang="en-US" dirty="0" smtClean="0"/>
                  <a:t>）与拓扑等效</a:t>
                </a:r>
                <a:r>
                  <a:rPr lang="en-US" altLang="zh-CN" dirty="0" smtClean="0"/>
                  <a:t>(Topology equivalent)</a:t>
                </a:r>
              </a:p>
              <a:p>
                <a:r>
                  <a:rPr lang="en-US" altLang="zh-CN" dirty="0" smtClean="0"/>
                  <a:t>C-Space</a:t>
                </a:r>
                <a:r>
                  <a:rPr lang="zh-CN" altLang="en-US" dirty="0" smtClean="0"/>
                  <a:t>的维度问题以及形状问题同样重要。</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一维空间：圆、直线、线段，圆表示为</a:t>
                </a:r>
                <a:r>
                  <a:rPr lang="en-US" altLang="zh-CN" dirty="0" smtClean="0">
                    <a:latin typeface="Cambria Math" panose="02040503050406030204" pitchFamily="18" charset="0"/>
                  </a:rPr>
                  <a:t>S</a:t>
                </a:r>
                <a:r>
                  <a:rPr lang="zh-CN" altLang="en-US" dirty="0" smtClean="0"/>
                  <a:t>或者</a:t>
                </a:r>
                <a:r>
                  <a:rPr lang="en-US" altLang="zh-CN" dirty="0" smtClean="0"/>
                  <a:t>S</a:t>
                </a:r>
                <a:r>
                  <a:rPr lang="en-US" altLang="zh-CN" baseline="30000" dirty="0" smtClean="0"/>
                  <a:t>1</a:t>
                </a:r>
                <a:r>
                  <a:rPr lang="en-US" altLang="zh-CN" baseline="0" dirty="0" smtClean="0"/>
                  <a:t>,</a:t>
                </a:r>
                <a:r>
                  <a:rPr lang="zh-CN" altLang="en-US" baseline="0" dirty="0" smtClean="0"/>
                  <a:t>直线表示</a:t>
                </a:r>
                <a14:m>
                  <m:oMath xmlns:m="http://schemas.openxmlformats.org/officeDocument/2006/math">
                    <m:r>
                      <a:rPr lang="zh-CN" altLang="en-US" i="1" smtClean="0">
                        <a:latin typeface="Cambria Math" panose="02040503050406030204" pitchFamily="18" charset="0"/>
                      </a:rPr>
                      <m:t>𝔼</m:t>
                    </m:r>
                  </m:oMath>
                </a14:m>
                <a:r>
                  <a:rPr lang="zh-CN" altLang="en-US" baseline="0" dirty="0" smtClean="0">
                    <a:effectLst>
                      <a:outerShdw blurRad="38100" dist="38100" dir="2700000" algn="tl">
                        <a:srgbClr val="000000">
                          <a:alpha val="43137"/>
                        </a:srgbClr>
                      </a:outerShdw>
                    </a:effectLst>
                  </a:rPr>
                  <a:t>，</a:t>
                </a:r>
                <a14:m>
                  <m:oMath xmlns:m="http://schemas.openxmlformats.org/officeDocument/2006/math">
                    <m:r>
                      <a:rPr lang="zh-CN" altLang="en-US" sz="1200" i="1" kern="1200" baseline="0" dirty="0" smtClean="0">
                        <a:solidFill>
                          <a:schemeClr val="tx1"/>
                        </a:solidFill>
                        <a:effectLst>
                          <a:outerShdw blurRad="38100" dist="38100" dir="2700000" algn="tl">
                            <a:srgbClr val="000000">
                              <a:alpha val="43137"/>
                            </a:srgbClr>
                          </a:outerShdw>
                        </a:effectLst>
                        <a:latin typeface="Cambria Math" panose="02040503050406030204" pitchFamily="18" charset="0"/>
                        <a:ea typeface="+mn-ea"/>
                        <a:cs typeface="+mn-cs"/>
                      </a:rPr>
                      <m:t>由于</m:t>
                    </m:r>
                    <m:r>
                      <a:rPr lang="zh-CN" altLang="en-US" i="1" smtClean="0">
                        <a:latin typeface="Cambria Math" panose="02040503050406030204" pitchFamily="18" charset="0"/>
                      </a:rPr>
                      <m:t>𝔼</m:t>
                    </m:r>
                    <m:r>
                      <a:rPr lang="zh-CN" altLang="en-US" sz="1200" i="1" kern="1200" baseline="0" dirty="0" smtClean="0">
                        <a:solidFill>
                          <a:schemeClr val="tx1"/>
                        </a:solidFill>
                        <a:effectLst>
                          <a:outerShdw blurRad="38100" dist="38100" dir="2700000" algn="tl">
                            <a:srgbClr val="000000">
                              <a:alpha val="43137"/>
                            </a:srgbClr>
                          </a:outerShdw>
                        </a:effectLst>
                        <a:latin typeface="Cambria Math" panose="02040503050406030204" pitchFamily="18" charset="0"/>
                        <a:ea typeface="+mn-ea"/>
                        <a:cs typeface="+mn-cs"/>
                      </a:rPr>
                      <m:t>上的一点通常用</m:t>
                    </m:r>
                    <m:r>
                      <m:rPr>
                        <m:nor/>
                      </m:rPr>
                      <a:rPr lang="zh-CN" altLang="en-US" dirty="0" smtClean="0">
                        <a:latin typeface="Cambria Math" panose="02040503050406030204" pitchFamily="18" charset="0"/>
                      </a:rPr>
                      <m:t>实数</m:t>
                    </m:r>
                  </m:oMath>
                </a14:m>
                <a:r>
                  <a:rPr lang="zh-CN" altLang="en-US" dirty="0" smtClean="0"/>
                  <a:t>来表示，因此通常表示成</a:t>
                </a:r>
                <a14:m>
                  <m:oMath xmlns:m="http://schemas.openxmlformats.org/officeDocument/2006/math">
                    <m:sSup>
                      <m:sSupPr>
                        <m:ctrlPr>
                          <a:rPr lang="zh-CN" altLang="zh-CN" sz="1200" i="1" kern="1200" smtClean="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b="0" i="1" kern="1200" smtClean="0">
                            <a:solidFill>
                              <a:schemeClr val="tx1"/>
                            </a:solidFill>
                            <a:effectLst/>
                            <a:latin typeface="Cambria Math" panose="02040503050406030204" pitchFamily="18" charset="0"/>
                            <a:ea typeface="+mn-ea"/>
                            <a:cs typeface="+mn-cs"/>
                          </a:rPr>
                          <m:t>1</m:t>
                        </m:r>
                      </m:sup>
                    </m:sSup>
                  </m:oMath>
                </a14:m>
                <a:r>
                  <a:rPr lang="zh-CN" altLang="en-US" dirty="0" smtClean="0"/>
                  <a:t>，线段由于存在两个端点，</a:t>
                </a:r>
                <a:r>
                  <a:rPr lang="en-US" altLang="zh-CN" dirty="0" smtClean="0"/>
                  <a:t>[</a:t>
                </a:r>
                <a:r>
                  <a:rPr lang="en-US" altLang="zh-CN" dirty="0" err="1" smtClean="0"/>
                  <a:t>a,b</a:t>
                </a:r>
                <a:r>
                  <a:rPr lang="en-US" altLang="zh-CN" dirty="0" smtClean="0"/>
                  <a:t>]</a:t>
                </a:r>
                <a14:m>
                  <m:oMath xmlns:m="http://schemas.openxmlformats.org/officeDocument/2006/math">
                    <m:r>
                      <a:rPr lang="en-US" altLang="zh-CN" i="1" smtClean="0">
                        <a:latin typeface="Cambria Math" panose="02040503050406030204" pitchFamily="18" charset="0"/>
                      </a:rPr>
                      <m:t>⊂</m:t>
                    </m:r>
                    <m:sSup>
                      <m:sSupPr>
                        <m:ctrlPr>
                          <a:rPr lang="zh-CN" altLang="zh-CN" sz="1200" i="1" kern="1200" smtClean="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b="0" i="1" kern="1200" smtClean="0">
                            <a:solidFill>
                              <a:schemeClr val="tx1"/>
                            </a:solidFill>
                            <a:effectLst/>
                            <a:latin typeface="Cambria Math" panose="02040503050406030204" pitchFamily="18" charset="0"/>
                            <a:ea typeface="+mn-ea"/>
                            <a:cs typeface="+mn-cs"/>
                          </a:rPr>
                          <m:t>1</m:t>
                        </m:r>
                      </m:sup>
                    </m:sSup>
                  </m:oMath>
                </a14:m>
                <a:endParaRPr lang="en-US" altLang="zh-CN" sz="1200" b="0" i="1" kern="1200" dirty="0" smtClean="0">
                  <a:solidFill>
                    <a:schemeClr val="tx1"/>
                  </a:solidFill>
                  <a:effectLst/>
                  <a:latin typeface="Cambria Math" panose="02040503050406030204" pitchFamily="18" charset="0"/>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14:m>
                  <m:oMath xmlns:m="http://schemas.openxmlformats.org/officeDocument/2006/math">
                    <m:sSup>
                      <m:sSupPr>
                        <m:ctrlPr>
                          <a:rPr lang="zh-CN" altLang="zh-CN" sz="1200" i="1" kern="1200" smtClean="0">
                            <a:solidFill>
                              <a:schemeClr val="tx1"/>
                            </a:solidFill>
                            <a:effectLst/>
                            <a:latin typeface="Cambria Math" panose="02040503050406030204" pitchFamily="18" charset="0"/>
                            <a:ea typeface="+mn-ea"/>
                            <a:cs typeface="+mn-cs"/>
                          </a:rPr>
                        </m:ctrlPr>
                      </m:sSupPr>
                      <m:e>
                        <m:r>
                          <a:rPr lang="en-US" altLang="zh-CN" sz="1200" i="1" kern="1200">
                            <a:solidFill>
                              <a:schemeClr val="tx1"/>
                            </a:solidFill>
                            <a:effectLst/>
                            <a:latin typeface="Cambria Math" panose="02040503050406030204" pitchFamily="18" charset="0"/>
                            <a:ea typeface="+mn-ea"/>
                            <a:cs typeface="+mn-cs"/>
                          </a:rPr>
                          <m:t>ℝ</m:t>
                        </m:r>
                      </m:e>
                      <m:sup>
                        <m:r>
                          <a:rPr lang="en-US" altLang="zh-CN" sz="1200" b="0" i="1" kern="1200" smtClean="0">
                            <a:solidFill>
                              <a:schemeClr val="tx1"/>
                            </a:solidFill>
                            <a:effectLst/>
                            <a:latin typeface="Cambria Math" panose="02040503050406030204" pitchFamily="18" charset="0"/>
                            <a:ea typeface="+mn-ea"/>
                            <a:cs typeface="+mn-cs"/>
                          </a:rPr>
                          <m:t>𝑛</m:t>
                        </m:r>
                      </m:sup>
                    </m:sSup>
                  </m:oMath>
                </a14:m>
                <a:r>
                  <a:rPr lang="zh-CN" altLang="en-US" dirty="0" smtClean="0"/>
                  <a:t>表示</a:t>
                </a:r>
                <a:r>
                  <a:rPr lang="en-US" altLang="zh-CN" dirty="0" smtClean="0"/>
                  <a:t>n</a:t>
                </a:r>
                <a:r>
                  <a:rPr lang="zh-CN" altLang="en-US" dirty="0" smtClean="0"/>
                  <a:t>维欧氏空间，</a:t>
                </a:r>
                <a:r>
                  <a:rPr lang="en-US" altLang="zh-CN" dirty="0" smtClean="0"/>
                  <a:t>S</a:t>
                </a:r>
                <a:r>
                  <a:rPr lang="en-US" altLang="zh-CN" baseline="30000" dirty="0" smtClean="0"/>
                  <a:t>n</a:t>
                </a:r>
                <a:r>
                  <a:rPr lang="zh-CN" altLang="en-US" baseline="0" dirty="0" smtClean="0"/>
                  <a:t>表示为</a:t>
                </a:r>
                <a:r>
                  <a:rPr lang="en-US" altLang="zh-CN" baseline="0" dirty="0" smtClean="0"/>
                  <a:t>n+1</a:t>
                </a:r>
                <a:r>
                  <a:rPr lang="zh-CN" altLang="en-US" baseline="0" dirty="0" smtClean="0"/>
                  <a:t>维空间内的</a:t>
                </a:r>
                <a:r>
                  <a:rPr lang="en-US" altLang="zh-CN" baseline="0" dirty="0" smtClean="0"/>
                  <a:t>n</a:t>
                </a:r>
                <a:r>
                  <a:rPr lang="zh-CN" altLang="en-US" baseline="0" dirty="0" smtClean="0"/>
                  <a:t>维球表面。</a:t>
                </a:r>
                <a:endParaRPr lang="en-US" altLang="zh-CN" baseline="0" dirty="0" smtClean="0"/>
              </a:p>
              <a:p>
                <a:pPr marL="0" marR="0" indent="0" algn="l" defTabSz="914400" rtl="0" eaLnBrk="1" fontAlgn="auto" latinLnBrk="0" hangingPunct="1">
                  <a:lnSpc>
                    <a:spcPct val="100000"/>
                  </a:lnSpc>
                  <a:spcBef>
                    <a:spcPts val="0"/>
                  </a:spcBef>
                  <a:spcAft>
                    <a:spcPts val="0"/>
                  </a:spcAft>
                  <a:buClrTx/>
                  <a:buSzTx/>
                  <a:buFontTx/>
                  <a:buNone/>
                  <a:defRPr/>
                </a:pPr>
                <a:r>
                  <a:rPr lang="zh-CN" altLang="en-US" baseline="0" dirty="0" smtClean="0"/>
                  <a:t>一些</a:t>
                </a:r>
                <a:r>
                  <a:rPr lang="en-US" altLang="zh-CN" baseline="0" dirty="0" smtClean="0"/>
                  <a:t>C-Space</a:t>
                </a:r>
                <a:r>
                  <a:rPr lang="zh-CN" altLang="en-US" baseline="0" dirty="0" smtClean="0"/>
                  <a:t>可以表示为两个或更多个低维空间的笛卡尔积 （</a:t>
                </a:r>
                <a:r>
                  <a:rPr lang="en-US" altLang="zh-CN" baseline="0" dirty="0" smtClean="0"/>
                  <a:t>Cartesian product)</a:t>
                </a:r>
              </a:p>
              <a:p>
                <a:pPr marL="0" marR="0" indent="0" algn="l" defTabSz="914400" rtl="0" eaLnBrk="1" fontAlgn="auto" latinLnBrk="0" hangingPunct="1">
                  <a:lnSpc>
                    <a:spcPct val="100000"/>
                  </a:lnSpc>
                  <a:spcBef>
                    <a:spcPts val="0"/>
                  </a:spcBef>
                  <a:spcAft>
                    <a:spcPts val="0"/>
                  </a:spcAft>
                  <a:buClrTx/>
                  <a:buSzTx/>
                  <a:buFontTx/>
                  <a:buNone/>
                  <a:defRPr/>
                </a:pPr>
                <a:r>
                  <a:rPr lang="zh-CN" altLang="en-US" baseline="0" dirty="0" smtClean="0"/>
                  <a:t>参见</a:t>
                </a:r>
                <a:r>
                  <a:rPr lang="en-US" altLang="zh-CN" baseline="0" dirty="0" smtClean="0"/>
                  <a:t>MR</a:t>
                </a:r>
                <a:r>
                  <a:rPr lang="zh-CN" altLang="en-US" baseline="0" dirty="0" smtClean="0"/>
                  <a:t>教材</a:t>
                </a:r>
                <a:r>
                  <a:rPr lang="en-US" altLang="zh-CN" baseline="0" dirty="0" smtClean="0"/>
                  <a:t>P16-20</a:t>
                </a:r>
                <a:r>
                  <a:rPr lang="zh-CN" altLang="en-US" baseline="0" dirty="0" smtClean="0"/>
                  <a:t>页</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342900" indent="-342900" eaLnBrk="1" hangingPunct="1">
              <a:spcBef>
                <a:spcPct val="20000"/>
              </a:spcBef>
              <a:buClr>
                <a:schemeClr val="tx2"/>
              </a:buClr>
              <a:buSzPct val="75000"/>
              <a:buFont typeface="Wingdings" panose="05000000000000000000" pitchFamily="2" charset="2"/>
              <a:buChar char="Ø"/>
              <a:defRPr/>
            </a:pPr>
            <a:r>
              <a:rPr kumimoji="0" lang="en-US" altLang="zh-CN" sz="3200" dirty="0" smtClean="0">
                <a:effectLst>
                  <a:outerShdw blurRad="38100" dist="38100" dir="2700000" algn="tl">
                    <a:srgbClr val="C0C0C0"/>
                  </a:outerShdw>
                </a:effectLst>
                <a:cs typeface="Arial" panose="020B0604020202020204" pitchFamily="34" charset="0"/>
              </a:rPr>
              <a:t>Robots are serial “chain” mechanisms made up of </a:t>
            </a:r>
            <a:endParaRPr lang="en-US" altLang="zh-CN" sz="1300" dirty="0" smtClean="0"/>
          </a:p>
          <a:p>
            <a:pPr marL="742950" lvl="1" indent="-285750" eaLnBrk="1" hangingPunct="1">
              <a:spcBef>
                <a:spcPct val="20000"/>
              </a:spcBef>
              <a:buClr>
                <a:schemeClr val="tx2"/>
              </a:buClr>
              <a:buSzPct val="75000"/>
              <a:buFontTx/>
              <a:buChar char="•"/>
              <a:defRPr/>
            </a:pPr>
            <a:r>
              <a:rPr kumimoji="0" lang="en-US" altLang="zh-CN" dirty="0" smtClean="0">
                <a:effectLst>
                  <a:outerShdw blurRad="38100" dist="38100" dir="2700000" algn="tl">
                    <a:srgbClr val="C0C0C0"/>
                  </a:outerShdw>
                </a:effectLst>
                <a:cs typeface="Arial" panose="020B0604020202020204" pitchFamily="34" charset="0"/>
              </a:rPr>
              <a:t>“links” (generally considered to be rigid), and </a:t>
            </a:r>
            <a:endParaRPr lang="en-US" altLang="zh-CN" sz="1300" dirty="0" smtClean="0"/>
          </a:p>
          <a:p>
            <a:pPr marL="742950" lvl="1" indent="-285750" eaLnBrk="1" hangingPunct="1">
              <a:spcBef>
                <a:spcPct val="20000"/>
              </a:spcBef>
              <a:buClr>
                <a:schemeClr val="tx2"/>
              </a:buClr>
              <a:buSzPct val="75000"/>
              <a:buFontTx/>
              <a:buChar char="•"/>
              <a:defRPr/>
            </a:pPr>
            <a:r>
              <a:rPr kumimoji="0" lang="en-US" altLang="zh-CN" dirty="0" smtClean="0">
                <a:effectLst>
                  <a:outerShdw blurRad="38100" dist="38100" dir="2700000" algn="tl">
                    <a:srgbClr val="C0C0C0"/>
                  </a:outerShdw>
                </a:effectLst>
                <a:cs typeface="Arial" panose="020B0604020202020204" pitchFamily="34" charset="0"/>
              </a:rPr>
              <a:t>“joints” (where relative motion takes place) </a:t>
            </a:r>
            <a:endParaRPr lang="en-US" altLang="zh-CN" sz="1300" dirty="0" smtClean="0"/>
          </a:p>
          <a:p>
            <a:pPr marL="342900" indent="-342900" eaLnBrk="1" hangingPunct="1">
              <a:spcBef>
                <a:spcPct val="20000"/>
              </a:spcBef>
              <a:buClr>
                <a:schemeClr val="tx2"/>
              </a:buClr>
              <a:buSzPct val="75000"/>
              <a:buFont typeface="Wingdings" panose="05000000000000000000" pitchFamily="2" charset="2"/>
              <a:buChar char="Ø"/>
              <a:defRPr/>
            </a:pPr>
            <a:r>
              <a:rPr kumimoji="0" lang="en-US" altLang="zh-CN" sz="3200" dirty="0" smtClean="0">
                <a:effectLst>
                  <a:outerShdw blurRad="38100" dist="38100" dir="2700000" algn="tl">
                    <a:srgbClr val="C0C0C0"/>
                  </a:outerShdw>
                </a:effectLst>
                <a:cs typeface="Arial" panose="020B0604020202020204" pitchFamily="34" charset="0"/>
              </a:rPr>
              <a:t>Joints connect two links </a:t>
            </a:r>
            <a:endParaRPr lang="en-US" altLang="zh-CN" sz="1300" dirty="0" smtClean="0"/>
          </a:p>
          <a:p>
            <a:pPr marL="742950" lvl="1" indent="-285750" eaLnBrk="1" hangingPunct="1">
              <a:spcBef>
                <a:spcPct val="20000"/>
              </a:spcBef>
              <a:buClr>
                <a:schemeClr val="tx2"/>
              </a:buClr>
              <a:buSzPct val="75000"/>
              <a:buFontTx/>
              <a:buChar char="•"/>
              <a:defRPr/>
            </a:pPr>
            <a:r>
              <a:rPr kumimoji="0" lang="en-US" altLang="zh-CN" dirty="0" smtClean="0">
                <a:effectLst>
                  <a:outerShdw blurRad="38100" dist="38100" dir="2700000" algn="tl">
                    <a:srgbClr val="C0C0C0"/>
                  </a:outerShdw>
                </a:effectLst>
                <a:cs typeface="Arial" panose="020B0604020202020204" pitchFamily="34" charset="0"/>
              </a:rPr>
              <a:t>Link 0 - </a:t>
            </a:r>
            <a:r>
              <a:rPr kumimoji="0" lang="en-US" altLang="zh-CN" dirty="0" smtClean="0">
                <a:solidFill>
                  <a:srgbClr val="FF0000"/>
                </a:solidFill>
                <a:effectLst>
                  <a:outerShdw blurRad="38100" dist="38100" dir="2700000" algn="tl">
                    <a:srgbClr val="C0C0C0"/>
                  </a:outerShdw>
                </a:effectLst>
                <a:ea typeface="Arial Unicode MS" pitchFamily="34" charset="-122"/>
                <a:cs typeface="Arial Unicode MS" pitchFamily="34" charset="-122"/>
              </a:rPr>
              <a:t>Joint 1</a:t>
            </a:r>
            <a:r>
              <a:rPr kumimoji="0" lang="en-US" altLang="zh-CN" dirty="0" smtClean="0">
                <a:effectLst>
                  <a:outerShdw blurRad="38100" dist="38100" dir="2700000" algn="tl">
                    <a:srgbClr val="C0C0C0"/>
                  </a:outerShdw>
                </a:effectLst>
                <a:cs typeface="Arial" panose="020B0604020202020204" pitchFamily="34" charset="0"/>
              </a:rPr>
              <a:t> - Link 1 - </a:t>
            </a:r>
            <a:r>
              <a:rPr kumimoji="0" lang="en-US" altLang="zh-CN" dirty="0" smtClean="0">
                <a:solidFill>
                  <a:srgbClr val="FF0000"/>
                </a:solidFill>
                <a:effectLst>
                  <a:outerShdw blurRad="38100" dist="38100" dir="2700000" algn="tl">
                    <a:srgbClr val="C0C0C0"/>
                  </a:outerShdw>
                </a:effectLst>
                <a:ea typeface="Arial Unicode MS" pitchFamily="34" charset="-122"/>
                <a:cs typeface="Arial Unicode MS" pitchFamily="34" charset="-122"/>
              </a:rPr>
              <a:t>Joint 2</a:t>
            </a:r>
            <a:r>
              <a:rPr kumimoji="0" lang="en-US" altLang="zh-CN" dirty="0" smtClean="0">
                <a:effectLst>
                  <a:outerShdw blurRad="38100" dist="38100" dir="2700000" algn="tl">
                    <a:srgbClr val="C0C0C0"/>
                  </a:outerShdw>
                </a:effectLst>
                <a:cs typeface="Arial" panose="020B0604020202020204" pitchFamily="34" charset="0"/>
              </a:rPr>
              <a:t> - Link 2- </a:t>
            </a: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742950" lvl="1" indent="-285750" eaLnBrk="1" hangingPunct="1">
              <a:spcBef>
                <a:spcPct val="20000"/>
              </a:spcBef>
              <a:buClr>
                <a:schemeClr val="tx2"/>
              </a:buClr>
              <a:buSzPct val="75000"/>
              <a:buFontTx/>
              <a:buChar char="•"/>
              <a:defRPr/>
            </a:pP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对于一个具有</a:t>
                </a:r>
                <a:r>
                  <a:rPr lang="en-US" altLang="zh-CN" dirty="0" smtClean="0"/>
                  <a:t>N</a:t>
                </a:r>
                <a:r>
                  <a:rPr lang="zh-CN" altLang="en-US" dirty="0" smtClean="0"/>
                  <a:t>个构件（含基座）的机构，令</a:t>
                </a:r>
                <a:r>
                  <a:rPr lang="en-US" altLang="zh-CN" dirty="0" smtClean="0"/>
                  <a:t>J</a:t>
                </a:r>
                <a:r>
                  <a:rPr lang="zh-CN" altLang="en-US" dirty="0" smtClean="0"/>
                  <a:t>为关节数，</a:t>
                </a:r>
                <a:r>
                  <a:rPr lang="en-US" altLang="zh-CN" dirty="0" smtClean="0"/>
                  <a:t>m</a:t>
                </a:r>
                <a:r>
                  <a:rPr lang="zh-CN" altLang="en-US" dirty="0" smtClean="0"/>
                  <a:t>为刚体的自由度数（对于平面机构，</a:t>
                </a:r>
                <a:r>
                  <a:rPr lang="en-US" altLang="zh-CN" dirty="0" smtClean="0"/>
                  <a:t>m=3;</a:t>
                </a:r>
                <a:r>
                  <a:rPr lang="zh-CN" altLang="en-US" dirty="0" smtClean="0"/>
                  <a:t>对于空间机构，</a:t>
                </a:r>
                <a:r>
                  <a:rPr lang="en-US" altLang="zh-CN" dirty="0" smtClean="0"/>
                  <a:t>m=6</a:t>
                </a:r>
                <a:r>
                  <a:rPr lang="zh-CN" altLang="en-US" dirty="0" smtClean="0"/>
                  <a:t>），</a:t>
                </a:r>
                <a:r>
                  <a:rPr lang="en-US" altLang="zh-CN" dirty="0" smtClean="0"/>
                  <a:t>fi</a:t>
                </a:r>
                <a:r>
                  <a:rPr lang="zh-CN" altLang="en-US" dirty="0" smtClean="0"/>
                  <a:t>为关节</a:t>
                </a:r>
                <a:r>
                  <a:rPr lang="en-US" altLang="zh-CN" dirty="0" err="1" smtClean="0"/>
                  <a:t>i</a:t>
                </a:r>
                <a:r>
                  <a:rPr lang="zh-CN" altLang="en-US" dirty="0" smtClean="0"/>
                  <a:t>对应的自由度数，</a:t>
                </a:r>
                <a:r>
                  <a:rPr lang="en-US" altLang="zh-CN" dirty="0" smtClean="0"/>
                  <a:t>Ci</a:t>
                </a:r>
                <a:r>
                  <a:rPr lang="zh-CN" altLang="en-US" dirty="0" smtClean="0"/>
                  <a:t>为其对应的约束数，对于所有的</a:t>
                </a:r>
                <a:r>
                  <a:rPr lang="en-US" altLang="zh-CN" dirty="0" err="1" smtClean="0"/>
                  <a:t>i</a:t>
                </a:r>
                <a:r>
                  <a:rPr lang="zh-CN" altLang="en-US" dirty="0" smtClean="0"/>
                  <a:t>，始终满足</a:t>
                </a:r>
                <a:r>
                  <a:rPr lang="en-US" altLang="zh-CN" dirty="0" err="1" smtClean="0"/>
                  <a:t>fi+ci</a:t>
                </a:r>
                <a:r>
                  <a:rPr lang="en-US" altLang="zh-CN" dirty="0" smtClean="0"/>
                  <a:t>=m</a:t>
                </a:r>
                <a:r>
                  <a:rPr lang="zh-CN" altLang="en-US" dirty="0" smtClean="0"/>
                  <a:t>。则用于计算机器人自由度的</a:t>
                </a:r>
                <a14:m>
                  <m:oMath xmlns:m="http://schemas.openxmlformats.org/officeDocument/2006/math">
                    <m:r>
                      <a:rPr lang="en-US" altLang="zh-CN" sz="1200" b="1" i="1" kern="1200" smtClean="0">
                        <a:solidFill>
                          <a:schemeClr val="tx1"/>
                        </a:solidFill>
                        <a:effectLst/>
                        <a:latin typeface="Cambria Math" panose="02040503050406030204" pitchFamily="18" charset="0"/>
                        <a:ea typeface="+mn-ea"/>
                        <a:cs typeface="+mn-cs"/>
                      </a:rPr>
                      <m:t>𝑮𝒓</m:t>
                    </m:r>
                    <m:r>
                      <a:rPr lang="en-US" altLang="zh-CN" sz="1200" b="1" kern="1200">
                        <a:solidFill>
                          <a:schemeClr val="tx1"/>
                        </a:solidFill>
                        <a:effectLst/>
                        <a:latin typeface="Cambria Math" panose="02040503050406030204" pitchFamily="18" charset="0"/>
                        <a:ea typeface="+mn-ea"/>
                        <a:cs typeface="+mn-cs"/>
                      </a:rPr>
                      <m:t>ü</m:t>
                    </m:r>
                    <m:r>
                      <a:rPr lang="en-US" altLang="zh-CN" sz="1200" b="1" i="1" kern="1200">
                        <a:solidFill>
                          <a:schemeClr val="tx1"/>
                        </a:solidFill>
                        <a:effectLst/>
                        <a:latin typeface="Cambria Math" panose="02040503050406030204" pitchFamily="18" charset="0"/>
                        <a:ea typeface="+mn-ea"/>
                        <a:cs typeface="+mn-cs"/>
                      </a:rPr>
                      <m:t>𝒃𝒍𝒆𝒓</m:t>
                    </m:r>
                  </m:oMath>
                </a14:m>
                <a:r>
                  <a:rPr lang="zh-CN" altLang="en-US" dirty="0" smtClean="0"/>
                  <a:t>公式可以写成：</a:t>
                </a:r>
                <a:endParaRPr lang="en-US" altLang="zh-CN" dirty="0" smtClean="0"/>
              </a:p>
              <a:p>
                <a:endParaRPr lang="en-US" altLang="zh-CN" dirty="0" smtClean="0"/>
              </a:p>
              <a:p>
                <a:r>
                  <a:rPr lang="zh-CN" altLang="en-US" dirty="0" smtClean="0"/>
                  <a:t>上述公式只有在所有关节约束都是独立的情况下才能成立。否则，该公式只能用于判断自由度的下限值。有关位形空间的奇异相关内容将在运动学相关章节进行分析。</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例</a:t>
                </a:r>
                <a:r>
                  <a:rPr lang="en-US" altLang="zh-CN" sz="1200" kern="1200" dirty="0">
                    <a:solidFill>
                      <a:schemeClr val="tx1"/>
                    </a:solidFill>
                    <a:effectLst/>
                    <a:latin typeface="+mn-lt"/>
                    <a:ea typeface="+mn-ea"/>
                    <a:cs typeface="+mn-cs"/>
                  </a:rPr>
                  <a:t>2.6 </a:t>
                </a:r>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2.26</a:t>
                </a:r>
                <a:r>
                  <a:rPr lang="zh-CN" altLang="zh-CN" sz="1200" kern="1200" dirty="0">
                    <a:solidFill>
                      <a:schemeClr val="tx1"/>
                    </a:solidFill>
                    <a:effectLst/>
                    <a:latin typeface="+mn-lt"/>
                    <a:ea typeface="+mn-ea"/>
                    <a:cs typeface="+mn-cs"/>
                  </a:rPr>
                  <a:t>所示的</a:t>
                </a:r>
                <a:r>
                  <a:rPr lang="en-US" altLang="zh-CN" sz="1200" kern="1200" dirty="0">
                    <a:solidFill>
                      <a:schemeClr val="tx1"/>
                    </a:solidFill>
                    <a:effectLst/>
                    <a:latin typeface="+mn-lt"/>
                    <a:ea typeface="+mn-ea"/>
                    <a:cs typeface="+mn-cs"/>
                  </a:rPr>
                  <a:t>Delta</a:t>
                </a:r>
                <a:r>
                  <a:rPr lang="zh-CN" altLang="zh-CN" sz="1200" kern="1200" dirty="0">
                    <a:solidFill>
                      <a:schemeClr val="tx1"/>
                    </a:solidFill>
                    <a:effectLst/>
                    <a:latin typeface="+mn-lt"/>
                    <a:ea typeface="+mn-ea"/>
                    <a:cs typeface="+mn-cs"/>
                  </a:rPr>
                  <a:t>机器人，上面的静平台固定在基座上，通过连接在静平台上的三个转动副驱动</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条支腿，带动下面的动平台运动。每条支腿都含有一个空间平行四边形闭链，其共有</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个转动副、</a:t>
                </a:r>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个球铰、</a:t>
                </a:r>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根杆件，外加</a:t>
                </a: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个平台，因此，该机构一共有</a:t>
                </a:r>
                <a:r>
                  <a:rPr lang="en-US" altLang="zh-CN" sz="1200" kern="1200" dirty="0">
                    <a:solidFill>
                      <a:schemeClr val="tx1"/>
                    </a:solidFill>
                    <a:effectLst/>
                    <a:latin typeface="+mn-lt"/>
                    <a:ea typeface="+mn-ea"/>
                    <a:cs typeface="+mn-cs"/>
                  </a:rPr>
                  <a:t>N=17</a:t>
                </a:r>
                <a:r>
                  <a:rPr lang="zh-CN" altLang="zh-CN" sz="1200" kern="1200" dirty="0">
                    <a:solidFill>
                      <a:schemeClr val="tx1"/>
                    </a:solidFill>
                    <a:effectLst/>
                    <a:latin typeface="+mn-lt"/>
                    <a:ea typeface="+mn-ea"/>
                    <a:cs typeface="+mn-cs"/>
                  </a:rPr>
                  <a:t>个构件（</a:t>
                </a:r>
                <a:r>
                  <a:rPr lang="en-US" altLang="zh-CN" sz="1200" kern="1200" dirty="0">
                    <a:solidFill>
                      <a:schemeClr val="tx1"/>
                    </a:solidFill>
                    <a:effectLst/>
                    <a:latin typeface="+mn-lt"/>
                    <a:ea typeface="+mn-ea"/>
                    <a:cs typeface="+mn-cs"/>
                  </a:rPr>
                  <a:t>3x5+2=17</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21</a:t>
                </a:r>
                <a:r>
                  <a:rPr lang="zh-CN" altLang="zh-CN" sz="1200" kern="1200" dirty="0">
                    <a:solidFill>
                      <a:schemeClr val="tx1"/>
                    </a:solidFill>
                    <a:effectLst/>
                    <a:latin typeface="+mn-lt"/>
                    <a:ea typeface="+mn-ea"/>
                    <a:cs typeface="+mn-cs"/>
                  </a:rPr>
                  <a:t>个运动副（</a:t>
                </a:r>
                <a:r>
                  <a:rPr lang="en-US" altLang="zh-CN" sz="1200" kern="1200" dirty="0">
                    <a:solidFill>
                      <a:schemeClr val="tx1"/>
                    </a:solidFill>
                    <a:effectLst/>
                    <a:latin typeface="+mn-lt"/>
                    <a:ea typeface="+mn-ea"/>
                    <a:cs typeface="+mn-cs"/>
                  </a:rPr>
                  <a:t>9</a:t>
                </a:r>
                <a:r>
                  <a:rPr lang="zh-CN" altLang="zh-CN" sz="1200" kern="1200" dirty="0">
                    <a:solidFill>
                      <a:schemeClr val="tx1"/>
                    </a:solidFill>
                    <a:effectLst/>
                    <a:latin typeface="+mn-lt"/>
                    <a:ea typeface="+mn-ea"/>
                    <a:cs typeface="+mn-cs"/>
                  </a:rPr>
                  <a:t>个转动副、</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个球铰），根据</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𝐺𝑟</m:t>
                    </m:r>
                    <m:r>
                      <a:rPr lang="en-US" altLang="zh-CN" sz="1200" kern="1200">
                        <a:solidFill>
                          <a:schemeClr val="tx1"/>
                        </a:solidFill>
                        <a:effectLst/>
                        <a:latin typeface="Cambria Math" panose="02040503050406030204" pitchFamily="18" charset="0"/>
                        <a:ea typeface="+mn-ea"/>
                        <a:cs typeface="+mn-cs"/>
                      </a:rPr>
                      <m:t>ü</m:t>
                    </m:r>
                    <m:r>
                      <a:rPr lang="en-US" altLang="zh-CN" sz="1200" i="1" kern="1200">
                        <a:solidFill>
                          <a:schemeClr val="tx1"/>
                        </a:solidFill>
                        <a:effectLst/>
                        <a:latin typeface="Cambria Math" panose="02040503050406030204" pitchFamily="18" charset="0"/>
                        <a:ea typeface="+mn-ea"/>
                        <a:cs typeface="+mn-cs"/>
                      </a:rPr>
                      <m:t>𝑏𝑙𝑒𝑟</m:t>
                    </m:r>
                  </m:oMath>
                </a14:m>
                <a:r>
                  <a:rPr lang="zh-CN" altLang="zh-CN" sz="1200" kern="1200" dirty="0">
                    <a:solidFill>
                      <a:schemeClr val="tx1"/>
                    </a:solidFill>
                    <a:effectLst/>
                    <a:latin typeface="+mn-lt"/>
                    <a:ea typeface="+mn-ea"/>
                    <a:cs typeface="+mn-cs"/>
                  </a:rPr>
                  <a:t>公式，计算其自由度：</a:t>
                </a:r>
              </a:p>
              <a:p>
                <a:pPr/>
                <a14:m>
                  <m:oMathPara xmlns:m="http://schemas.openxmlformats.org/officeDocument/2006/math">
                    <m:oMathParaPr>
                      <m:jc m:val="centerGroup"/>
                    </m:oMathParaPr>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𝑑𝑜𝑓</m:t>
                      </m:r>
                      <m:r>
                        <a:rPr lang="en-US" altLang="zh-CN" sz="1200" i="1" kern="1200">
                          <a:solidFill>
                            <a:schemeClr val="tx1"/>
                          </a:solidFill>
                          <a:effectLst/>
                          <a:latin typeface="Cambria Math" panose="02040503050406030204" pitchFamily="18" charset="0"/>
                          <a:ea typeface="+mn-ea"/>
                          <a:cs typeface="+mn-cs"/>
                        </a:rPr>
                        <m:t>=6</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17</m:t>
                          </m:r>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m:t>
                          </m:r>
                          <m:r>
                            <a:rPr lang="en-US" altLang="zh-CN" sz="1200" kern="1200">
                              <a:solidFill>
                                <a:schemeClr val="tx1"/>
                              </a:solidFill>
                              <a:effectLst/>
                              <a:latin typeface="Cambria Math" panose="02040503050406030204" pitchFamily="18" charset="0"/>
                              <a:ea typeface="+mn-ea"/>
                              <a:cs typeface="+mn-cs"/>
                            </a:rPr>
                            <m:t>21</m:t>
                          </m:r>
                        </m:e>
                      </m:d>
                      <m:r>
                        <a:rPr lang="en-US" altLang="zh-CN" sz="1200" kern="1200">
                          <a:solidFill>
                            <a:schemeClr val="tx1"/>
                          </a:solidFill>
                          <a:effectLst/>
                          <a:latin typeface="Cambria Math" panose="02040503050406030204" pitchFamily="18" charset="0"/>
                          <a:ea typeface="+mn-ea"/>
                          <a:cs typeface="+mn-cs"/>
                        </a:rPr>
                        <m:t>+9</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kern="1200">
                              <a:solidFill>
                                <a:schemeClr val="tx1"/>
                              </a:solidFill>
                              <a:effectLst/>
                              <a:latin typeface="Cambria Math" panose="02040503050406030204" pitchFamily="18" charset="0"/>
                              <a:ea typeface="+mn-ea"/>
                              <a:cs typeface="+mn-cs"/>
                            </a:rPr>
                            <m:t>1</m:t>
                          </m:r>
                        </m:e>
                      </m:d>
                      <m:r>
                        <a:rPr lang="en-US" altLang="zh-CN" sz="1200" kern="1200">
                          <a:solidFill>
                            <a:schemeClr val="tx1"/>
                          </a:solidFill>
                          <a:effectLst/>
                          <a:latin typeface="Cambria Math" panose="02040503050406030204" pitchFamily="18" charset="0"/>
                          <a:ea typeface="+mn-ea"/>
                          <a:cs typeface="+mn-cs"/>
                        </a:rPr>
                        <m:t>+12(3)=15</m:t>
                      </m:r>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实际上，这</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个空间平行四边形闭链机构是为了确保动静平台始终保持平行设置的，计算出的</a:t>
                </a:r>
                <a:r>
                  <a:rPr lang="en-US" altLang="zh-CN" sz="1200" kern="1200" dirty="0">
                    <a:solidFill>
                      <a:schemeClr val="tx1"/>
                    </a:solidFill>
                    <a:effectLst/>
                    <a:latin typeface="+mn-lt"/>
                    <a:ea typeface="+mn-ea"/>
                    <a:cs typeface="+mn-cs"/>
                  </a:rPr>
                  <a:t>15</a:t>
                </a:r>
                <a:r>
                  <a:rPr lang="zh-CN" altLang="zh-CN" sz="1200" kern="1200" dirty="0">
                    <a:solidFill>
                      <a:schemeClr val="tx1"/>
                    </a:solidFill>
                    <a:effectLst/>
                    <a:latin typeface="+mn-lt"/>
                    <a:ea typeface="+mn-ea"/>
                    <a:cs typeface="+mn-cs"/>
                  </a:rPr>
                  <a:t>个自由度中，实际上末端执行器的运动只有</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个直角坐标系下的平移自由度，其他的</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个实际为局部自由度，这</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个自由度反映了空间平行四边形结构中的</a:t>
                </a:r>
                <a:r>
                  <a:rPr lang="en-US" altLang="zh-CN" sz="1200" kern="1200" dirty="0">
                    <a:solidFill>
                      <a:schemeClr val="tx1"/>
                    </a:solidFill>
                    <a:effectLst/>
                    <a:latin typeface="+mn-lt"/>
                    <a:ea typeface="+mn-ea"/>
                    <a:cs typeface="+mn-cs"/>
                  </a:rPr>
                  <a:t>12</a:t>
                </a:r>
                <a:r>
                  <a:rPr lang="zh-CN" altLang="zh-CN" sz="1200" kern="1200" dirty="0">
                    <a:solidFill>
                      <a:schemeClr val="tx1"/>
                    </a:solidFill>
                    <a:effectLst/>
                    <a:latin typeface="+mn-lt"/>
                    <a:ea typeface="+mn-ea"/>
                    <a:cs typeface="+mn-cs"/>
                  </a:rPr>
                  <a:t>根杆（</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个平行四边形）绕其长轴的扭转。</a:t>
                </a:r>
              </a:p>
              <a:p>
                <a:r>
                  <a:rPr lang="zh-CN" altLang="zh-CN" sz="1200" kern="1200" dirty="0">
                    <a:solidFill>
                      <a:schemeClr val="tx1"/>
                    </a:solidFill>
                    <a:effectLst/>
                    <a:latin typeface="+mn-lt"/>
                    <a:ea typeface="+mn-ea"/>
                    <a:cs typeface="+mn-cs"/>
                  </a:rPr>
                  <a:t>在空间机构学的研究中，对于复杂的机构，比如多环并联机构（具有两个或更多个闭链的并联机构），在其自由度的计算公式中需要考虑冗余约束以及局部自由度，在这种情况下，机构的自由度计算</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𝐺𝑟</m:t>
                    </m:r>
                    <m:r>
                      <a:rPr lang="en-US" altLang="zh-CN" sz="1200" kern="1200">
                        <a:solidFill>
                          <a:schemeClr val="tx1"/>
                        </a:solidFill>
                        <a:effectLst/>
                        <a:latin typeface="Cambria Math" panose="02040503050406030204" pitchFamily="18" charset="0"/>
                        <a:ea typeface="+mn-ea"/>
                        <a:cs typeface="+mn-cs"/>
                      </a:rPr>
                      <m:t>ü</m:t>
                    </m:r>
                    <m:r>
                      <a:rPr lang="en-US" altLang="zh-CN" sz="1200" i="1" kern="1200">
                        <a:solidFill>
                          <a:schemeClr val="tx1"/>
                        </a:solidFill>
                        <a:effectLst/>
                        <a:latin typeface="Cambria Math" panose="02040503050406030204" pitchFamily="18" charset="0"/>
                        <a:ea typeface="+mn-ea"/>
                        <a:cs typeface="+mn-cs"/>
                      </a:rPr>
                      <m:t>𝑏𝑙𝑒𝑟</m:t>
                    </m:r>
                  </m:oMath>
                </a14:m>
                <a:r>
                  <a:rPr lang="zh-CN" altLang="zh-CN" sz="1200" kern="1200" dirty="0">
                    <a:solidFill>
                      <a:schemeClr val="tx1"/>
                    </a:solidFill>
                    <a:effectLst/>
                    <a:latin typeface="+mn-lt"/>
                    <a:ea typeface="+mn-ea"/>
                    <a:cs typeface="+mn-cs"/>
                  </a:rPr>
                  <a:t>公式需要进行修正。</a:t>
                </a:r>
              </a:p>
              <a:p>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𝑑𝑜𝑓</m:t>
                    </m:r>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𝑚</m:t>
                    </m:r>
                    <m:d>
                      <m:dPr>
                        <m:ctrlPr>
                          <a:rPr lang="zh-CN" altLang="zh-CN" sz="1200" i="1" kern="1200">
                            <a:solidFill>
                              <a:schemeClr val="tx1"/>
                            </a:solidFill>
                            <a:effectLst/>
                            <a:latin typeface="Cambria Math" panose="02040503050406030204" pitchFamily="18" charset="0"/>
                            <a:ea typeface="+mn-ea"/>
                            <a:cs typeface="+mn-cs"/>
                          </a:rPr>
                        </m:ctrlPr>
                      </m:dPr>
                      <m:e>
                        <m:r>
                          <a:rPr lang="en-US" altLang="zh-CN" sz="1200" i="1" kern="1200">
                            <a:solidFill>
                              <a:schemeClr val="tx1"/>
                            </a:solidFill>
                            <a:effectLst/>
                            <a:latin typeface="Cambria Math" panose="02040503050406030204" pitchFamily="18" charset="0"/>
                            <a:ea typeface="+mn-ea"/>
                            <a:cs typeface="+mn-cs"/>
                          </a:rPr>
                          <m:t>𝑁</m:t>
                        </m:r>
                        <m:r>
                          <a:rPr lang="en-US" altLang="zh-CN" sz="1200" i="1" kern="1200">
                            <a:solidFill>
                              <a:schemeClr val="tx1"/>
                            </a:solidFill>
                            <a:effectLst/>
                            <a:latin typeface="Cambria Math" panose="02040503050406030204" pitchFamily="18" charset="0"/>
                            <a:ea typeface="+mn-ea"/>
                            <a:cs typeface="+mn-cs"/>
                          </a:rPr>
                          <m:t>−1−</m:t>
                        </m:r>
                        <m:r>
                          <a:rPr lang="en-US" altLang="zh-CN" sz="1200" i="1" kern="1200">
                            <a:solidFill>
                              <a:schemeClr val="tx1"/>
                            </a:solidFill>
                            <a:effectLst/>
                            <a:latin typeface="Cambria Math" panose="02040503050406030204" pitchFamily="18" charset="0"/>
                            <a:ea typeface="+mn-ea"/>
                            <a:cs typeface="+mn-cs"/>
                          </a:rPr>
                          <m:t>𝐽</m:t>
                        </m:r>
                      </m:e>
                    </m:d>
                    <m:r>
                      <a:rPr lang="en-US" altLang="zh-CN" sz="1200" i="1" kern="1200">
                        <a:solidFill>
                          <a:schemeClr val="tx1"/>
                        </a:solidFill>
                        <a:effectLst/>
                        <a:latin typeface="Cambria Math" panose="02040503050406030204" pitchFamily="18" charset="0"/>
                        <a:ea typeface="+mn-ea"/>
                        <a:cs typeface="+mn-cs"/>
                      </a:rPr>
                      <m:t>+</m:t>
                    </m:r>
                    <m:nary>
                      <m:naryPr>
                        <m:chr m:val="∑"/>
                        <m:limLoc m:val="undOvr"/>
                        <m:ctrlPr>
                          <a:rPr lang="zh-CN" altLang="zh-CN" sz="1200" i="1" kern="1200">
                            <a:solidFill>
                              <a:schemeClr val="tx1"/>
                            </a:solidFill>
                            <a:effectLst/>
                            <a:latin typeface="Cambria Math" panose="02040503050406030204" pitchFamily="18" charset="0"/>
                            <a:ea typeface="+mn-ea"/>
                            <a:cs typeface="+mn-cs"/>
                          </a:rPr>
                        </m:ctrlPr>
                      </m:naryPr>
                      <m:sub>
                        <m:r>
                          <a:rPr lang="en-US" altLang="zh-CN" sz="1200" i="1" kern="1200">
                            <a:solidFill>
                              <a:schemeClr val="tx1"/>
                            </a:solidFill>
                            <a:effectLst/>
                            <a:latin typeface="Cambria Math" panose="02040503050406030204" pitchFamily="18" charset="0"/>
                            <a:ea typeface="+mn-ea"/>
                            <a:cs typeface="+mn-cs"/>
                          </a:rPr>
                          <m:t>𝑖</m:t>
                        </m:r>
                        <m:r>
                          <a:rPr lang="en-US" altLang="zh-CN" sz="1200" i="1" kern="1200">
                            <a:solidFill>
                              <a:schemeClr val="tx1"/>
                            </a:solidFill>
                            <a:effectLst/>
                            <a:latin typeface="Cambria Math" panose="02040503050406030204" pitchFamily="18" charset="0"/>
                            <a:ea typeface="+mn-ea"/>
                            <a:cs typeface="+mn-cs"/>
                          </a:rPr>
                          <m:t>=1</m:t>
                        </m:r>
                      </m:sub>
                      <m:sup>
                        <m:r>
                          <a:rPr lang="en-US" altLang="zh-CN" sz="1200" i="1" kern="1200">
                            <a:solidFill>
                              <a:schemeClr val="tx1"/>
                            </a:solidFill>
                            <a:effectLst/>
                            <a:latin typeface="Cambria Math" panose="02040503050406030204" pitchFamily="18" charset="0"/>
                            <a:ea typeface="+mn-ea"/>
                            <a:cs typeface="+mn-cs"/>
                          </a:rPr>
                          <m:t>𝐽</m:t>
                        </m:r>
                      </m:sup>
                      <m:e>
                        <m:sSub>
                          <m:sSubPr>
                            <m:ctrlPr>
                              <a:rPr lang="zh-CN" altLang="zh-CN" sz="1200" i="1" kern="1200">
                                <a:solidFill>
                                  <a:schemeClr val="tx1"/>
                                </a:solidFill>
                                <a:effectLst/>
                                <a:latin typeface="Cambria Math" panose="02040503050406030204" pitchFamily="18" charset="0"/>
                                <a:ea typeface="+mn-ea"/>
                                <a:cs typeface="+mn-cs"/>
                              </a:rPr>
                            </m:ctrlPr>
                          </m:sSubPr>
                          <m:e>
                            <m:r>
                              <a:rPr lang="en-US" altLang="zh-CN" sz="1200" i="1" kern="1200">
                                <a:solidFill>
                                  <a:schemeClr val="tx1"/>
                                </a:solidFill>
                                <a:effectLst/>
                                <a:latin typeface="Cambria Math" panose="02040503050406030204" pitchFamily="18" charset="0"/>
                                <a:ea typeface="+mn-ea"/>
                                <a:cs typeface="+mn-cs"/>
                              </a:rPr>
                              <m:t>𝑓</m:t>
                            </m:r>
                          </m:e>
                          <m:sub>
                            <m:r>
                              <a:rPr lang="en-US" altLang="zh-CN" sz="1200" i="1" kern="1200">
                                <a:solidFill>
                                  <a:schemeClr val="tx1"/>
                                </a:solidFill>
                                <a:effectLst/>
                                <a:latin typeface="Cambria Math" panose="02040503050406030204" pitchFamily="18" charset="0"/>
                                <a:ea typeface="+mn-ea"/>
                                <a:cs typeface="+mn-cs"/>
                              </a:rPr>
                              <m:t>𝑖</m:t>
                            </m:r>
                          </m:sub>
                        </m:sSub>
                      </m:e>
                    </m:nary>
                    <m:r>
                      <a:rPr lang="en-US" altLang="zh-CN" sz="1200"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𝑣</m:t>
                    </m:r>
                    <m:r>
                      <a:rPr lang="en-US" altLang="zh-CN" sz="1200" i="1" kern="1200">
                        <a:solidFill>
                          <a:schemeClr val="tx1"/>
                        </a:solidFill>
                        <a:effectLst/>
                        <a:latin typeface="Cambria Math" panose="02040503050406030204" pitchFamily="18" charset="0"/>
                        <a:ea typeface="+mn-ea"/>
                        <a:cs typeface="+mn-cs"/>
                      </a:rPr>
                      <m:t>−</m:t>
                    </m:r>
                    <m:r>
                      <a:rPr lang="en-US" altLang="zh-CN" sz="1200" i="1" kern="1200">
                        <a:solidFill>
                          <a:schemeClr val="tx1"/>
                        </a:solidFill>
                        <a:effectLst/>
                        <a:latin typeface="Cambria Math" panose="02040503050406030204" pitchFamily="18" charset="0"/>
                        <a:ea typeface="+mn-ea"/>
                        <a:cs typeface="+mn-cs"/>
                      </a:rPr>
                      <m:t>𝜉</m:t>
                    </m:r>
                  </m:oMath>
                </a14:m>
                <a:r>
                  <a:rPr lang="en-US" altLang="zh-CN" sz="1200" kern="1200" dirty="0">
                    <a:solidFill>
                      <a:schemeClr val="tx1"/>
                    </a:solidFill>
                    <a:effectLst/>
                    <a:latin typeface="+mn-lt"/>
                    <a:ea typeface="+mn-ea"/>
                    <a:cs typeface="+mn-cs"/>
                  </a:rPr>
                  <a:t>           (2-24)</a:t>
                </a:r>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式</a:t>
                </a:r>
                <a:r>
                  <a:rPr lang="en-US" altLang="zh-CN" sz="1200" kern="1200" dirty="0">
                    <a:solidFill>
                      <a:schemeClr val="tx1"/>
                    </a:solidFill>
                    <a:effectLst/>
                    <a:latin typeface="+mn-lt"/>
                    <a:ea typeface="+mn-ea"/>
                    <a:cs typeface="+mn-cs"/>
                  </a:rPr>
                  <a:t>(2-24)</a:t>
                </a:r>
                <a:r>
                  <a:rPr lang="zh-CN" altLang="zh-CN" sz="1200" kern="1200" dirty="0">
                    <a:solidFill>
                      <a:schemeClr val="tx1"/>
                    </a:solidFill>
                    <a:effectLst/>
                    <a:latin typeface="+mn-lt"/>
                    <a:ea typeface="+mn-ea"/>
                    <a:cs typeface="+mn-cs"/>
                  </a:rPr>
                  <a:t>中，</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𝑣</m:t>
                    </m:r>
                  </m:oMath>
                </a14:m>
                <a:r>
                  <a:rPr lang="zh-CN" altLang="zh-CN" sz="1200" kern="1200" dirty="0">
                    <a:solidFill>
                      <a:schemeClr val="tx1"/>
                    </a:solidFill>
                    <a:effectLst/>
                    <a:latin typeface="+mn-lt"/>
                    <a:ea typeface="+mn-ea"/>
                    <a:cs typeface="+mn-cs"/>
                  </a:rPr>
                  <a:t>表示多环并联机构在去除公共约束因素后的冗余约束数，</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𝜉</m:t>
                    </m:r>
                  </m:oMath>
                </a14:m>
                <a:r>
                  <a:rPr lang="zh-CN" altLang="zh-CN" sz="1200" kern="1200" dirty="0">
                    <a:solidFill>
                      <a:schemeClr val="tx1"/>
                    </a:solidFill>
                    <a:effectLst/>
                    <a:latin typeface="+mn-lt"/>
                    <a:ea typeface="+mn-ea"/>
                    <a:cs typeface="+mn-cs"/>
                  </a:rPr>
                  <a:t>为机构中存在的局部自由度。本章描述的</a:t>
                </a:r>
                <a14:m>
                  <m:oMath xmlns:m="http://schemas.openxmlformats.org/officeDocument/2006/math">
                    <m:r>
                      <a:rPr lang="en-US" altLang="zh-CN" sz="1200" i="1" kern="1200">
                        <a:solidFill>
                          <a:schemeClr val="tx1"/>
                        </a:solidFill>
                        <a:effectLst/>
                        <a:latin typeface="Cambria Math" panose="02040503050406030204" pitchFamily="18" charset="0"/>
                        <a:ea typeface="+mn-ea"/>
                        <a:cs typeface="+mn-cs"/>
                      </a:rPr>
                      <m:t>𝐺𝑟</m:t>
                    </m:r>
                    <m:r>
                      <a:rPr lang="en-US" altLang="zh-CN" sz="1200" kern="1200">
                        <a:solidFill>
                          <a:schemeClr val="tx1"/>
                        </a:solidFill>
                        <a:effectLst/>
                        <a:latin typeface="Cambria Math" panose="02040503050406030204" pitchFamily="18" charset="0"/>
                        <a:ea typeface="+mn-ea"/>
                        <a:cs typeface="+mn-cs"/>
                      </a:rPr>
                      <m:t>ü</m:t>
                    </m:r>
                    <m:r>
                      <a:rPr lang="en-US" altLang="zh-CN" sz="1200" i="1" kern="1200">
                        <a:solidFill>
                          <a:schemeClr val="tx1"/>
                        </a:solidFill>
                        <a:effectLst/>
                        <a:latin typeface="Cambria Math" panose="02040503050406030204" pitchFamily="18" charset="0"/>
                        <a:ea typeface="+mn-ea"/>
                        <a:cs typeface="+mn-cs"/>
                      </a:rPr>
                      <m:t>𝑏𝑙𝑒𝑟</m:t>
                    </m:r>
                  </m:oMath>
                </a14:m>
                <a:r>
                  <a:rPr lang="zh-CN" altLang="zh-CN" sz="1200" kern="1200" dirty="0">
                    <a:solidFill>
                      <a:schemeClr val="tx1"/>
                    </a:solidFill>
                    <a:effectLst/>
                    <a:latin typeface="+mn-lt"/>
                    <a:ea typeface="+mn-ea"/>
                    <a:cs typeface="+mn-cs"/>
                  </a:rPr>
                  <a:t>公式</a:t>
                </a:r>
                <a:r>
                  <a:rPr lang="en-US" altLang="zh-CN" sz="1200" kern="1200" dirty="0">
                    <a:solidFill>
                      <a:schemeClr val="tx1"/>
                    </a:solidFill>
                    <a:effectLst/>
                    <a:latin typeface="+mn-lt"/>
                    <a:ea typeface="+mn-ea"/>
                    <a:cs typeface="+mn-cs"/>
                  </a:rPr>
                  <a:t>(2-23)</a:t>
                </a:r>
                <a:r>
                  <a:rPr lang="zh-CN" altLang="zh-CN" sz="1200" kern="1200" dirty="0">
                    <a:solidFill>
                      <a:schemeClr val="tx1"/>
                    </a:solidFill>
                    <a:effectLst/>
                    <a:latin typeface="+mn-lt"/>
                    <a:ea typeface="+mn-ea"/>
                    <a:cs typeface="+mn-cs"/>
                  </a:rPr>
                  <a:t>，只有在所有关节约束都是独立的情况下才能成立，对于复杂机构，只能提供机构的自由度下限值。</a:t>
                </a:r>
              </a:p>
              <a:p>
                <a:r>
                  <a:rPr lang="zh-CN" altLang="zh-CN" sz="1200" kern="1200" dirty="0">
                    <a:solidFill>
                      <a:schemeClr val="tx1"/>
                    </a:solidFill>
                    <a:effectLst/>
                    <a:latin typeface="+mn-lt"/>
                    <a:ea typeface="+mn-ea"/>
                    <a:cs typeface="+mn-cs"/>
                  </a:rPr>
                  <a:t>本节只介绍了适用于简单机构的机器人自由度计算与分析方法，实际上有关空间机构的自由度分析还有多种方法，例如：将机构的运动学方程构成一个矩阵，通过分析其秩来计算其自由度的方法；将机构的每一个闭链进行拆分，然后通过虚位移矩阵法来分析机构自由度的方法；通过</a:t>
                </a:r>
                <a:r>
                  <a:rPr lang="en-US" altLang="zh-CN" sz="1200" kern="1200" dirty="0">
                    <a:solidFill>
                      <a:schemeClr val="tx1"/>
                    </a:solidFill>
                    <a:effectLst/>
                    <a:latin typeface="+mn-lt"/>
                    <a:ea typeface="+mn-ea"/>
                    <a:cs typeface="+mn-cs"/>
                  </a:rPr>
                  <a:t>Jacobian</a:t>
                </a:r>
                <a:r>
                  <a:rPr lang="zh-CN" altLang="zh-CN" sz="1200" kern="1200" dirty="0">
                    <a:solidFill>
                      <a:schemeClr val="tx1"/>
                    </a:solidFill>
                    <a:effectLst/>
                    <a:latin typeface="+mn-lt"/>
                    <a:ea typeface="+mn-ea"/>
                    <a:cs typeface="+mn-cs"/>
                  </a:rPr>
                  <a:t>矩阵计算其零空间，分析机构自由度的方法；基于群论、李代数、微分几何的知识来解决自由度计算的方法；以及基于螺旋理论进行自由度计算等方法。这部分相关的知识超出了本章的描述范围，有兴趣的读者请查阅空间机构学的相关文献。</a:t>
                </a:r>
              </a:p>
              <a:p>
                <a:r>
                  <a:rPr lang="zh-CN" altLang="zh-CN" sz="1200" kern="1200" dirty="0">
                    <a:solidFill>
                      <a:schemeClr val="tx1"/>
                    </a:solidFill>
                    <a:effectLst/>
                    <a:latin typeface="+mn-lt"/>
                    <a:ea typeface="+mn-ea"/>
                    <a:cs typeface="+mn-cs"/>
                  </a:rPr>
                  <a:t>针对理论计算对机器人自由度进行分析，其位形空间可能还存在奇异，有关奇异性以及工作空间的位形分析将在第</a:t>
                </a: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章运动学中进行描述。</a:t>
                </a:r>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b="-18071"/>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在早期的机器人学中，机器人大都指工业机器人：操作臂</a:t>
            </a:r>
            <a:r>
              <a:rPr lang="en-US" altLang="zh-CN" sz="1200" kern="1200" dirty="0" smtClean="0">
                <a:solidFill>
                  <a:schemeClr val="tx1"/>
                </a:solidFill>
                <a:effectLst/>
                <a:latin typeface="+mn-lt"/>
                <a:ea typeface="+mn-ea"/>
                <a:cs typeface="+mn-cs"/>
              </a:rPr>
              <a:t>(manipulator)</a:t>
            </a:r>
            <a:r>
              <a:rPr lang="zh-CN" altLang="zh-CN" sz="1200" kern="1200" dirty="0" smtClean="0">
                <a:solidFill>
                  <a:schemeClr val="tx1"/>
                </a:solidFill>
                <a:effectLst/>
                <a:latin typeface="+mn-lt"/>
                <a:ea typeface="+mn-ea"/>
                <a:cs typeface="+mn-cs"/>
              </a:rPr>
              <a:t>，那个时候的机器人被简化为连杆</a:t>
            </a:r>
            <a:r>
              <a:rPr lang="en-US" altLang="zh-CN" sz="1200" kern="1200" dirty="0" smtClean="0">
                <a:solidFill>
                  <a:schemeClr val="tx1"/>
                </a:solidFill>
                <a:effectLst/>
                <a:latin typeface="+mn-lt"/>
                <a:ea typeface="+mn-ea"/>
                <a:cs typeface="+mn-cs"/>
              </a:rPr>
              <a:t>(link)</a:t>
            </a:r>
            <a:r>
              <a:rPr lang="zh-CN" altLang="zh-CN" sz="1200" kern="1200" dirty="0" smtClean="0">
                <a:solidFill>
                  <a:schemeClr val="tx1"/>
                </a:solidFill>
                <a:effectLst/>
                <a:latin typeface="+mn-lt"/>
                <a:ea typeface="+mn-ea"/>
                <a:cs typeface="+mn-cs"/>
              </a:rPr>
              <a:t>和关节</a:t>
            </a:r>
            <a:r>
              <a:rPr lang="en-US" altLang="zh-CN" sz="1200" kern="1200" dirty="0" smtClean="0">
                <a:solidFill>
                  <a:schemeClr val="tx1"/>
                </a:solidFill>
                <a:effectLst/>
                <a:latin typeface="+mn-lt"/>
                <a:ea typeface="+mn-ea"/>
                <a:cs typeface="+mn-cs"/>
              </a:rPr>
              <a:t>(joint)</a:t>
            </a:r>
            <a:r>
              <a:rPr lang="zh-CN" altLang="zh-CN" sz="1200" kern="1200" dirty="0" smtClean="0">
                <a:solidFill>
                  <a:schemeClr val="tx1"/>
                </a:solidFill>
                <a:effectLst/>
                <a:latin typeface="+mn-lt"/>
                <a:ea typeface="+mn-ea"/>
                <a:cs typeface="+mn-cs"/>
              </a:rPr>
              <a:t>。操作臂几乎都是由刚性连杆组成，相邻连杆间可做相对运动的连接称为关节。关节按其运动形式分为：旋转关节和平移关节。</a:t>
            </a:r>
          </a:p>
          <a:p>
            <a:r>
              <a:rPr lang="zh-CN" altLang="zh-CN" sz="1200" kern="1200" dirty="0" smtClean="0">
                <a:solidFill>
                  <a:schemeClr val="tx1"/>
                </a:solidFill>
                <a:effectLst/>
                <a:latin typeface="+mn-lt"/>
                <a:ea typeface="+mn-ea"/>
                <a:cs typeface="+mn-cs"/>
              </a:rPr>
              <a:t>而现在机器人的形式多种多样，但如果按照刚体的运动进行抽象，我们可以把机器人简化成刚体树</a:t>
            </a:r>
            <a:r>
              <a:rPr lang="en-US" altLang="zh-CN" sz="1200" kern="1200" dirty="0" smtClean="0">
                <a:solidFill>
                  <a:schemeClr val="tx1"/>
                </a:solidFill>
                <a:effectLst/>
                <a:latin typeface="+mn-lt"/>
                <a:ea typeface="+mn-ea"/>
                <a:cs typeface="+mn-cs"/>
              </a:rPr>
              <a:t>(Rigid Body Tree)</a:t>
            </a:r>
            <a:r>
              <a:rPr lang="zh-CN" altLang="zh-CN" sz="1200" kern="1200" dirty="0" smtClean="0">
                <a:solidFill>
                  <a:schemeClr val="tx1"/>
                </a:solidFill>
                <a:effectLst/>
                <a:latin typeface="+mn-lt"/>
                <a:ea typeface="+mn-ea"/>
                <a:cs typeface="+mn-cs"/>
              </a:rPr>
              <a:t>，刚体树由通过关节（</a:t>
            </a:r>
            <a:r>
              <a:rPr lang="en-US" altLang="zh-CN" sz="1200" kern="1200" dirty="0" smtClean="0">
                <a:solidFill>
                  <a:schemeClr val="tx1"/>
                </a:solidFill>
                <a:effectLst/>
                <a:latin typeface="+mn-lt"/>
                <a:ea typeface="+mn-ea"/>
                <a:cs typeface="+mn-cs"/>
              </a:rPr>
              <a:t>Joint</a:t>
            </a:r>
            <a:r>
              <a:rPr lang="zh-CN" altLang="zh-CN" sz="1200" kern="1200" dirty="0" smtClean="0">
                <a:solidFill>
                  <a:schemeClr val="tx1"/>
                </a:solidFill>
                <a:effectLst/>
                <a:latin typeface="+mn-lt"/>
                <a:ea typeface="+mn-ea"/>
                <a:cs typeface="+mn-cs"/>
              </a:rPr>
              <a:t>）连接的刚体（</a:t>
            </a:r>
            <a:r>
              <a:rPr lang="en-US" altLang="zh-CN" sz="1200" kern="1200" dirty="0" smtClean="0">
                <a:solidFill>
                  <a:schemeClr val="tx1"/>
                </a:solidFill>
                <a:effectLst/>
                <a:latin typeface="+mn-lt"/>
                <a:ea typeface="+mn-ea"/>
                <a:cs typeface="+mn-cs"/>
              </a:rPr>
              <a:t>Body</a:t>
            </a:r>
            <a:r>
              <a:rPr lang="zh-CN" altLang="zh-CN" sz="1200" kern="1200" dirty="0" smtClean="0">
                <a:solidFill>
                  <a:schemeClr val="tx1"/>
                </a:solidFill>
                <a:effectLst/>
                <a:latin typeface="+mn-lt"/>
                <a:ea typeface="+mn-ea"/>
                <a:cs typeface="+mn-cs"/>
              </a:rPr>
              <a:t>）组成。采用刚体树结构进行简化描述的机器人模型，我们称为</a:t>
            </a:r>
            <a:r>
              <a:rPr lang="zh-CN" altLang="zh-CN" sz="1200" b="1" kern="1200" dirty="0" smtClean="0">
                <a:solidFill>
                  <a:schemeClr val="tx1"/>
                </a:solidFill>
                <a:effectLst/>
                <a:latin typeface="+mn-lt"/>
                <a:ea typeface="+mn-ea"/>
                <a:cs typeface="+mn-cs"/>
              </a:rPr>
              <a:t>刚体树机器人模型</a:t>
            </a:r>
            <a:r>
              <a:rPr lang="en-US" altLang="zh-CN" sz="1200" kern="1200" dirty="0" smtClean="0">
                <a:solidFill>
                  <a:schemeClr val="tx1"/>
                </a:solidFill>
                <a:effectLst/>
                <a:latin typeface="+mn-lt"/>
                <a:ea typeface="+mn-ea"/>
                <a:cs typeface="+mn-cs"/>
              </a:rPr>
              <a:t>(Rigid Body Tree Robot Model)</a:t>
            </a:r>
            <a:r>
              <a:rPr lang="zh-CN" altLang="zh-CN" sz="1200" kern="1200" dirty="0" smtClean="0">
                <a:solidFill>
                  <a:schemeClr val="tx1"/>
                </a:solidFill>
                <a:effectLst/>
                <a:latin typeface="+mn-lt"/>
                <a:ea typeface="+mn-ea"/>
                <a:cs typeface="+mn-cs"/>
              </a:rPr>
              <a:t>。每个刚体都有一个关节，该关节定义了该刚体如何相对于其父节点在树中的运动（旋转或平移）。这样进行简化之后，我们就可以通过在每个关节上设置一个固定的变换（旋转或平移），描述从一个关节到下一个关节的转换关系，进行运动学和动力学的分析。</a:t>
            </a:r>
          </a:p>
          <a:p>
            <a:r>
              <a:rPr lang="zh-CN" altLang="zh-CN" sz="1200" kern="1200" dirty="0" smtClean="0">
                <a:solidFill>
                  <a:schemeClr val="tx1"/>
                </a:solidFill>
                <a:effectLst/>
                <a:latin typeface="+mn-lt"/>
                <a:ea typeface="+mn-ea"/>
                <a:cs typeface="+mn-cs"/>
              </a:rPr>
              <a:t>刚体树由基座</a:t>
            </a:r>
            <a:r>
              <a:rPr lang="en-US" altLang="zh-CN" sz="1200" kern="1200" dirty="0" smtClean="0">
                <a:solidFill>
                  <a:schemeClr val="tx1"/>
                </a:solidFill>
                <a:effectLst/>
                <a:latin typeface="+mn-lt"/>
                <a:ea typeface="+mn-ea"/>
                <a:cs typeface="+mn-cs"/>
              </a:rPr>
              <a:t>(base)</a:t>
            </a:r>
            <a:r>
              <a:rPr lang="zh-CN" altLang="zh-CN" sz="1200" kern="1200" dirty="0" smtClean="0">
                <a:solidFill>
                  <a:schemeClr val="tx1"/>
                </a:solidFill>
                <a:effectLst/>
                <a:latin typeface="+mn-lt"/>
                <a:ea typeface="+mn-ea"/>
                <a:cs typeface="+mn-cs"/>
              </a:rPr>
              <a:t>、刚体</a:t>
            </a:r>
            <a:r>
              <a:rPr lang="en-US" altLang="zh-CN" sz="1200" kern="1200" dirty="0" smtClean="0">
                <a:solidFill>
                  <a:schemeClr val="tx1"/>
                </a:solidFill>
                <a:effectLst/>
                <a:latin typeface="+mn-lt"/>
                <a:ea typeface="+mn-ea"/>
                <a:cs typeface="+mn-cs"/>
              </a:rPr>
              <a:t>(rigid)</a:t>
            </a:r>
            <a:r>
              <a:rPr lang="zh-CN" altLang="zh-CN" sz="1200" kern="1200" dirty="0" smtClean="0">
                <a:solidFill>
                  <a:schemeClr val="tx1"/>
                </a:solidFill>
                <a:effectLst/>
                <a:latin typeface="+mn-lt"/>
                <a:ea typeface="+mn-ea"/>
                <a:cs typeface="+mn-cs"/>
              </a:rPr>
              <a:t>、关节</a:t>
            </a:r>
            <a:r>
              <a:rPr lang="en-US" altLang="zh-CN" sz="1200" kern="1200" dirty="0" smtClean="0">
                <a:solidFill>
                  <a:schemeClr val="tx1"/>
                </a:solidFill>
                <a:effectLst/>
                <a:latin typeface="+mn-lt"/>
                <a:ea typeface="+mn-ea"/>
                <a:cs typeface="+mn-cs"/>
              </a:rPr>
              <a:t>(joint)</a:t>
            </a:r>
            <a:r>
              <a:rPr lang="zh-CN" altLang="zh-CN" sz="1200" kern="1200" dirty="0" smtClean="0">
                <a:solidFill>
                  <a:schemeClr val="tx1"/>
                </a:solidFill>
                <a:effectLst/>
                <a:latin typeface="+mn-lt"/>
                <a:ea typeface="+mn-ea"/>
                <a:cs typeface="+mn-cs"/>
              </a:rPr>
              <a:t>等组件组成。</a:t>
            </a:r>
          </a:p>
          <a:p>
            <a:r>
              <a:rPr lang="zh-CN" altLang="zh-CN" sz="1200" kern="1200" dirty="0" smtClean="0">
                <a:solidFill>
                  <a:schemeClr val="tx1"/>
                </a:solidFill>
                <a:effectLst/>
                <a:latin typeface="+mn-lt"/>
                <a:ea typeface="+mn-ea"/>
                <a:cs typeface="+mn-cs"/>
              </a:rPr>
              <a:t>一般来说，每个刚体树都有一个基座</a:t>
            </a:r>
            <a:r>
              <a:rPr lang="en-US" altLang="zh-CN" sz="1200" kern="1200" dirty="0" smtClean="0">
                <a:solidFill>
                  <a:schemeClr val="tx1"/>
                </a:solidFill>
                <a:effectLst/>
                <a:latin typeface="+mn-lt"/>
                <a:ea typeface="+mn-ea"/>
                <a:cs typeface="+mn-cs"/>
              </a:rPr>
              <a:t>(base)</a:t>
            </a:r>
            <a:r>
              <a:rPr lang="zh-CN" altLang="zh-CN" sz="1200" kern="1200" dirty="0" smtClean="0">
                <a:solidFill>
                  <a:schemeClr val="tx1"/>
                </a:solidFill>
                <a:effectLst/>
                <a:latin typeface="+mn-lt"/>
                <a:ea typeface="+mn-ea"/>
                <a:cs typeface="+mn-cs"/>
              </a:rPr>
              <a:t>，我们一般将世界坐标系定义在基座上，它是刚体的第一个连接点。</a:t>
            </a:r>
          </a:p>
          <a:p>
            <a:r>
              <a:rPr lang="zh-CN" altLang="zh-CN" sz="1200" kern="1200" dirty="0" smtClean="0">
                <a:solidFill>
                  <a:schemeClr val="tx1"/>
                </a:solidFill>
                <a:effectLst/>
                <a:latin typeface="+mn-lt"/>
                <a:ea typeface="+mn-ea"/>
                <a:cs typeface="+mn-cs"/>
              </a:rPr>
              <a:t>刚体</a:t>
            </a:r>
            <a:r>
              <a:rPr lang="en-US" altLang="zh-CN" sz="1200" kern="1200" dirty="0" smtClean="0">
                <a:solidFill>
                  <a:schemeClr val="tx1"/>
                </a:solidFill>
                <a:effectLst/>
                <a:latin typeface="+mn-lt"/>
                <a:ea typeface="+mn-ea"/>
                <a:cs typeface="+mn-cs"/>
              </a:rPr>
              <a:t>(rigid)</a:t>
            </a:r>
            <a:r>
              <a:rPr lang="zh-CN" altLang="zh-CN" sz="1200" kern="1200" dirty="0" smtClean="0">
                <a:solidFill>
                  <a:schemeClr val="tx1"/>
                </a:solidFill>
                <a:effectLst/>
                <a:latin typeface="+mn-lt"/>
                <a:ea typeface="+mn-ea"/>
                <a:cs typeface="+mn-cs"/>
              </a:rPr>
              <a:t>由刚性主体创建，一般表示为无法变形的实体，单个刚体上任意两点之间的距离保持不变，刚体树由刚体链接而成。我们可以在刚体上定义该刚体的坐标系，并将它和所连接的关节进行关联。</a:t>
            </a:r>
          </a:p>
          <a:p>
            <a:r>
              <a:rPr lang="zh-CN" altLang="zh-CN" sz="1200" kern="1200" dirty="0" smtClean="0">
                <a:solidFill>
                  <a:schemeClr val="tx1"/>
                </a:solidFill>
                <a:effectLst/>
                <a:latin typeface="+mn-lt"/>
                <a:ea typeface="+mn-ea"/>
                <a:cs typeface="+mn-cs"/>
              </a:rPr>
              <a:t>每个刚体都有一个关节</a:t>
            </a:r>
            <a:r>
              <a:rPr lang="en-US" altLang="zh-CN" sz="1200" kern="1200" dirty="0" smtClean="0">
                <a:solidFill>
                  <a:schemeClr val="tx1"/>
                </a:solidFill>
                <a:effectLst/>
                <a:latin typeface="+mn-lt"/>
                <a:ea typeface="+mn-ea"/>
                <a:cs typeface="+mn-cs"/>
              </a:rPr>
              <a:t>(joint)</a:t>
            </a:r>
            <a:r>
              <a:rPr lang="zh-CN" altLang="zh-CN" sz="1200" kern="1200" dirty="0" smtClean="0">
                <a:solidFill>
                  <a:schemeClr val="tx1"/>
                </a:solidFill>
                <a:effectLst/>
                <a:latin typeface="+mn-lt"/>
                <a:ea typeface="+mn-ea"/>
                <a:cs typeface="+mn-cs"/>
              </a:rPr>
              <a:t>，该关节定义了该刚体相对于其父节点的运动。关节是连接机器人模型中两个刚体的连接点。如果机器人的单个物理部件上有多个关节或不同运动轴时，需要将这个物理部件采用多个刚体进行表达。</a:t>
            </a:r>
          </a:p>
          <a:p>
            <a:r>
              <a:rPr lang="zh-CN" altLang="zh-CN" sz="1200" kern="1200" dirty="0" smtClean="0">
                <a:solidFill>
                  <a:schemeClr val="tx1"/>
                </a:solidFill>
                <a:effectLst/>
                <a:latin typeface="+mn-lt"/>
                <a:ea typeface="+mn-ea"/>
                <a:cs typeface="+mn-cs"/>
              </a:rPr>
              <a:t>关节的类型包括固定关节</a:t>
            </a:r>
            <a:r>
              <a:rPr lang="en-US" altLang="zh-CN" sz="1200" kern="1200" dirty="0" smtClean="0">
                <a:solidFill>
                  <a:schemeClr val="tx1"/>
                </a:solidFill>
                <a:effectLst/>
                <a:latin typeface="+mn-lt"/>
                <a:ea typeface="+mn-ea"/>
                <a:cs typeface="+mn-cs"/>
              </a:rPr>
              <a:t>(fixed joint,</a:t>
            </a:r>
            <a:r>
              <a:rPr lang="zh-CN" altLang="zh-CN" sz="1200" kern="1200" dirty="0" smtClean="0">
                <a:solidFill>
                  <a:schemeClr val="tx1"/>
                </a:solidFill>
                <a:effectLst/>
                <a:latin typeface="+mn-lt"/>
                <a:ea typeface="+mn-ea"/>
                <a:cs typeface="+mn-cs"/>
              </a:rPr>
              <a:t>表示对应的刚体固定连接到父节点上，无法运动</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、旋转关节</a:t>
            </a:r>
            <a:r>
              <a:rPr lang="en-US" altLang="zh-CN" sz="1200" kern="1200" dirty="0" smtClean="0">
                <a:solidFill>
                  <a:schemeClr val="tx1"/>
                </a:solidFill>
                <a:effectLst/>
                <a:latin typeface="+mn-lt"/>
                <a:ea typeface="+mn-ea"/>
                <a:cs typeface="+mn-cs"/>
              </a:rPr>
              <a:t>(revolute joint, </a:t>
            </a:r>
            <a:r>
              <a:rPr lang="zh-CN" altLang="zh-CN" sz="1200" kern="1200" dirty="0" smtClean="0">
                <a:solidFill>
                  <a:schemeClr val="tx1"/>
                </a:solidFill>
                <a:effectLst/>
                <a:latin typeface="+mn-lt"/>
                <a:ea typeface="+mn-ea"/>
                <a:cs typeface="+mn-cs"/>
              </a:rPr>
              <a:t>表示对应的刚体相对于父节点进行旋转运动</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、平移关节（</a:t>
            </a:r>
            <a:r>
              <a:rPr lang="en-US" altLang="zh-CN" sz="1200" kern="1200" dirty="0" smtClean="0">
                <a:solidFill>
                  <a:schemeClr val="tx1"/>
                </a:solidFill>
                <a:effectLst/>
                <a:latin typeface="+mn-lt"/>
                <a:ea typeface="+mn-ea"/>
                <a:cs typeface="+mn-cs"/>
              </a:rPr>
              <a:t>prismatic joint, </a:t>
            </a:r>
            <a:r>
              <a:rPr lang="zh-CN" altLang="zh-CN" sz="1200" kern="1200" dirty="0" smtClean="0">
                <a:solidFill>
                  <a:schemeClr val="tx1"/>
                </a:solidFill>
                <a:effectLst/>
                <a:latin typeface="+mn-lt"/>
                <a:ea typeface="+mn-ea"/>
                <a:cs typeface="+mn-cs"/>
              </a:rPr>
              <a:t>表示对应的刚体相对于父节点只能进行线性平移运动）。</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在图</a:t>
            </a:r>
            <a:r>
              <a:rPr lang="en-US" altLang="zh-CN" sz="1200" kern="1200" dirty="0" smtClean="0">
                <a:solidFill>
                  <a:schemeClr val="tx1"/>
                </a:solidFill>
                <a:effectLst/>
                <a:latin typeface="+mn-lt"/>
                <a:ea typeface="+mn-ea"/>
                <a:cs typeface="+mn-cs"/>
              </a:rPr>
              <a:t>2.21</a:t>
            </a:r>
            <a:r>
              <a:rPr lang="zh-CN" altLang="zh-CN" sz="1200" kern="1200" dirty="0" smtClean="0">
                <a:solidFill>
                  <a:schemeClr val="tx1"/>
                </a:solidFill>
                <a:effectLst/>
                <a:latin typeface="+mn-lt"/>
                <a:ea typeface="+mn-ea"/>
                <a:cs typeface="+mn-cs"/>
              </a:rPr>
              <a:t>中，刚体</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固定在基座上，刚体</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的坐标系和基坐标系之间是固定的变换关系。刚体</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和刚体</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之间是一种串联关系，刚体</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和刚体</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的父节点都是刚体</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，它们之间是一种并联关系。</a:t>
            </a:r>
          </a:p>
          <a:p>
            <a:r>
              <a:rPr lang="zh-CN" altLang="zh-CN" sz="1200" kern="1200" dirty="0" smtClean="0">
                <a:solidFill>
                  <a:schemeClr val="tx1"/>
                </a:solidFill>
                <a:effectLst/>
                <a:latin typeface="+mn-lt"/>
                <a:ea typeface="+mn-ea"/>
                <a:cs typeface="+mn-cs"/>
              </a:rPr>
              <a:t>机器人所有的部件，包括末端执行器</a:t>
            </a:r>
            <a:r>
              <a:rPr lang="en-US" altLang="zh-CN" sz="1200" kern="1200" dirty="0" smtClean="0">
                <a:solidFill>
                  <a:schemeClr val="tx1"/>
                </a:solidFill>
                <a:effectLst/>
                <a:latin typeface="+mn-lt"/>
                <a:ea typeface="+mn-ea"/>
                <a:cs typeface="+mn-cs"/>
              </a:rPr>
              <a:t>(End effector)</a:t>
            </a:r>
            <a:r>
              <a:rPr lang="zh-CN" altLang="zh-CN" sz="1200" kern="1200" dirty="0" smtClean="0">
                <a:solidFill>
                  <a:schemeClr val="tx1"/>
                </a:solidFill>
                <a:effectLst/>
                <a:latin typeface="+mn-lt"/>
                <a:ea typeface="+mn-ea"/>
                <a:cs typeface="+mn-cs"/>
              </a:rPr>
              <a:t>，都可以抽象成刚体及刚体对应上一个父节点的运动部件（关节），其运动可等价为其上的坐标系对应其它参考坐标系的变换。这个时候我们可以根据需求，采用上一节中介绍的多种姿态变换矩阵进行求解。</a:t>
            </a: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Unified Robot Description Format</a:t>
            </a:r>
            <a:r>
              <a:rPr lang="zh-CN" altLang="zh-CN" sz="1200" kern="1200" dirty="0" smtClean="0">
                <a:solidFill>
                  <a:schemeClr val="tx1"/>
                </a:solidFill>
                <a:effectLst/>
                <a:latin typeface="+mn-lt"/>
                <a:ea typeface="+mn-ea"/>
                <a:cs typeface="+mn-cs"/>
              </a:rPr>
              <a:t>，统一机器人描述格式）是</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中使用的机器人模型描述格式，它使用</a:t>
            </a:r>
            <a:r>
              <a:rPr lang="en-US" altLang="zh-CN" sz="1200" kern="1200" dirty="0" smtClean="0">
                <a:solidFill>
                  <a:schemeClr val="tx1"/>
                </a:solidFill>
                <a:effectLst/>
                <a:latin typeface="+mn-lt"/>
                <a:ea typeface="+mn-ea"/>
                <a:cs typeface="+mn-cs"/>
              </a:rPr>
              <a:t>XML (</a:t>
            </a:r>
            <a:r>
              <a:rPr lang="en-US" altLang="zh-CN" sz="1200" kern="1200" dirty="0" err="1" smtClean="0">
                <a:solidFill>
                  <a:schemeClr val="tx1"/>
                </a:solidFill>
                <a:effectLst/>
                <a:latin typeface="+mn-lt"/>
                <a:ea typeface="+mn-ea"/>
                <a:cs typeface="+mn-cs"/>
              </a:rPr>
              <a:t>eXtensible</a:t>
            </a:r>
            <a:r>
              <a:rPr lang="en-US" altLang="zh-CN" sz="1200" kern="1200" dirty="0" smtClean="0">
                <a:solidFill>
                  <a:schemeClr val="tx1"/>
                </a:solidFill>
                <a:effectLst/>
                <a:latin typeface="+mn-lt"/>
                <a:ea typeface="+mn-ea"/>
                <a:cs typeface="+mn-cs"/>
              </a:rPr>
              <a:t> Markup Language</a:t>
            </a:r>
            <a:r>
              <a:rPr lang="zh-CN" altLang="zh-CN" sz="1200" kern="1200" dirty="0" smtClean="0">
                <a:solidFill>
                  <a:schemeClr val="tx1"/>
                </a:solidFill>
                <a:effectLst/>
                <a:latin typeface="+mn-lt"/>
                <a:ea typeface="+mn-ea"/>
                <a:cs typeface="+mn-cs"/>
              </a:rPr>
              <a:t>，扩展标记语言</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格式来描述机器人模型，目前有很多机器人仿真控制软件都直接支持</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文件解析。</a:t>
            </a:r>
          </a:p>
          <a:p>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文件中常用的</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标签包含</a:t>
            </a:r>
            <a:r>
              <a:rPr lang="en-US" altLang="zh-CN" sz="1200" kern="1200" dirty="0" smtClean="0">
                <a:solidFill>
                  <a:schemeClr val="tx1"/>
                </a:solidFill>
                <a:effectLst/>
                <a:latin typeface="+mn-lt"/>
                <a:ea typeface="+mn-ea"/>
                <a:cs typeface="+mn-cs"/>
              </a:rPr>
              <a:t>&lt;robot&gt;</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&lt;link&gt;</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&lt;joint&gt;</a:t>
            </a:r>
            <a:r>
              <a:rPr lang="zh-CN" altLang="zh-CN" sz="1200" kern="1200" dirty="0" smtClean="0">
                <a:solidFill>
                  <a:schemeClr val="tx1"/>
                </a:solidFill>
                <a:effectLst/>
                <a:latin typeface="+mn-lt"/>
                <a:ea typeface="+mn-ea"/>
                <a:cs typeface="+mn-cs"/>
              </a:rPr>
              <a:t>等标签。</a:t>
            </a:r>
            <a:r>
              <a:rPr lang="en-US" altLang="zh-CN" sz="1200" kern="1200" dirty="0" smtClean="0">
                <a:solidFill>
                  <a:schemeClr val="tx1"/>
                </a:solidFill>
                <a:effectLst/>
                <a:latin typeface="+mn-lt"/>
                <a:ea typeface="+mn-ea"/>
                <a:cs typeface="+mn-cs"/>
              </a:rPr>
              <a:t>&lt;robot&gt;</a:t>
            </a:r>
            <a:r>
              <a:rPr lang="zh-CN" altLang="zh-CN" sz="1200" kern="1200" dirty="0" smtClean="0">
                <a:solidFill>
                  <a:schemeClr val="tx1"/>
                </a:solidFill>
                <a:effectLst/>
                <a:latin typeface="+mn-lt"/>
                <a:ea typeface="+mn-ea"/>
                <a:cs typeface="+mn-cs"/>
              </a:rPr>
              <a:t>是完整机器人模型的最顶层标签，一个完整的机器人模型由一系列连杆标签</a:t>
            </a:r>
            <a:r>
              <a:rPr lang="en-US" altLang="zh-CN" sz="1200" kern="1200" dirty="0" smtClean="0">
                <a:solidFill>
                  <a:schemeClr val="tx1"/>
                </a:solidFill>
                <a:effectLst/>
                <a:latin typeface="+mn-lt"/>
                <a:ea typeface="+mn-ea"/>
                <a:cs typeface="+mn-cs"/>
              </a:rPr>
              <a:t>&lt;link&gt;</a:t>
            </a:r>
            <a:r>
              <a:rPr lang="zh-CN" altLang="zh-CN" sz="1200" kern="1200" dirty="0" smtClean="0">
                <a:solidFill>
                  <a:schemeClr val="tx1"/>
                </a:solidFill>
                <a:effectLst/>
                <a:latin typeface="+mn-lt"/>
                <a:ea typeface="+mn-ea"/>
                <a:cs typeface="+mn-cs"/>
              </a:rPr>
              <a:t>和关节标签</a:t>
            </a:r>
            <a:r>
              <a:rPr lang="en-US" altLang="zh-CN" sz="1200" kern="1200" dirty="0" smtClean="0">
                <a:solidFill>
                  <a:schemeClr val="tx1"/>
                </a:solidFill>
                <a:effectLst/>
                <a:latin typeface="+mn-lt"/>
                <a:ea typeface="+mn-ea"/>
                <a:cs typeface="+mn-cs"/>
              </a:rPr>
              <a:t>&lt;joint&gt;</a:t>
            </a:r>
            <a:r>
              <a:rPr lang="zh-CN" altLang="zh-CN" sz="1200" kern="1200" dirty="0" smtClean="0">
                <a:solidFill>
                  <a:schemeClr val="tx1"/>
                </a:solidFill>
                <a:effectLst/>
                <a:latin typeface="+mn-lt"/>
                <a:ea typeface="+mn-ea"/>
                <a:cs typeface="+mn-cs"/>
              </a:rPr>
              <a:t>组成，</a:t>
            </a:r>
            <a:r>
              <a:rPr lang="en-US" altLang="zh-CN" sz="1200" kern="1200" dirty="0" smtClean="0">
                <a:solidFill>
                  <a:schemeClr val="tx1"/>
                </a:solidFill>
                <a:effectLst/>
                <a:latin typeface="+mn-lt"/>
                <a:ea typeface="+mn-ea"/>
                <a:cs typeface="+mn-cs"/>
              </a:rPr>
              <a:t>&lt;link&gt;</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&lt;joint&gt;</a:t>
            </a:r>
            <a:r>
              <a:rPr lang="zh-CN" altLang="zh-CN" sz="1200" kern="1200" dirty="0" smtClean="0">
                <a:solidFill>
                  <a:schemeClr val="tx1"/>
                </a:solidFill>
                <a:effectLst/>
                <a:latin typeface="+mn-lt"/>
                <a:ea typeface="+mn-ea"/>
                <a:cs typeface="+mn-cs"/>
              </a:rPr>
              <a:t>标签都必须包含在</a:t>
            </a:r>
            <a:r>
              <a:rPr lang="en-US" altLang="zh-CN" sz="1200" kern="1200" dirty="0" smtClean="0">
                <a:solidFill>
                  <a:schemeClr val="tx1"/>
                </a:solidFill>
                <a:effectLst/>
                <a:latin typeface="+mn-lt"/>
                <a:ea typeface="+mn-ea"/>
                <a:cs typeface="+mn-cs"/>
              </a:rPr>
              <a:t>&lt;robot&gt;</a:t>
            </a:r>
            <a:r>
              <a:rPr lang="zh-CN" altLang="zh-CN" sz="1200" kern="1200" dirty="0" smtClean="0">
                <a:solidFill>
                  <a:schemeClr val="tx1"/>
                </a:solidFill>
                <a:effectLst/>
                <a:latin typeface="+mn-lt"/>
                <a:ea typeface="+mn-ea"/>
                <a:cs typeface="+mn-cs"/>
              </a:rPr>
              <a:t>标签内。</a:t>
            </a:r>
          </a:p>
          <a:p>
            <a:r>
              <a:rPr lang="zh-CN" altLang="zh-CN" sz="1200" kern="1200" dirty="0" smtClean="0">
                <a:solidFill>
                  <a:schemeClr val="tx1"/>
                </a:solidFill>
                <a:effectLst/>
                <a:latin typeface="+mn-lt"/>
                <a:ea typeface="+mn-ea"/>
                <a:cs typeface="+mn-cs"/>
              </a:rPr>
              <a:t>连杆</a:t>
            </a:r>
            <a:r>
              <a:rPr lang="en-US" altLang="zh-CN" sz="1200" kern="1200" dirty="0" smtClean="0">
                <a:solidFill>
                  <a:schemeClr val="tx1"/>
                </a:solidFill>
                <a:effectLst/>
                <a:latin typeface="+mn-lt"/>
                <a:ea typeface="+mn-ea"/>
                <a:cs typeface="+mn-cs"/>
              </a:rPr>
              <a:t>&lt;link&gt;</a:t>
            </a:r>
            <a:r>
              <a:rPr lang="zh-CN" altLang="zh-CN" sz="1200" kern="1200" dirty="0" smtClean="0">
                <a:solidFill>
                  <a:schemeClr val="tx1"/>
                </a:solidFill>
                <a:effectLst/>
                <a:latin typeface="+mn-lt"/>
                <a:ea typeface="+mn-ea"/>
                <a:cs typeface="+mn-cs"/>
              </a:rPr>
              <a:t>标签用于描述机器人某个刚体部分的物理及外观属性，包括惯性矩阵（</a:t>
            </a:r>
            <a:r>
              <a:rPr lang="en-US" altLang="zh-CN" sz="1200" kern="1200" dirty="0" smtClean="0">
                <a:solidFill>
                  <a:schemeClr val="tx1"/>
                </a:solidFill>
                <a:effectLst/>
                <a:latin typeface="+mn-lt"/>
                <a:ea typeface="+mn-ea"/>
                <a:cs typeface="+mn-cs"/>
              </a:rPr>
              <a:t>inertial matrix</a:t>
            </a:r>
            <a:r>
              <a:rPr lang="zh-CN" altLang="zh-CN" sz="1200" kern="1200" dirty="0" smtClean="0">
                <a:solidFill>
                  <a:schemeClr val="tx1"/>
                </a:solidFill>
                <a:effectLst/>
                <a:latin typeface="+mn-lt"/>
                <a:ea typeface="+mn-ea"/>
                <a:cs typeface="+mn-cs"/>
              </a:rPr>
              <a:t>）、外观参数</a:t>
            </a:r>
            <a:r>
              <a:rPr lang="en-US" altLang="zh-CN" sz="1200" kern="1200" dirty="0" smtClean="0">
                <a:solidFill>
                  <a:schemeClr val="tx1"/>
                </a:solidFill>
                <a:effectLst/>
                <a:latin typeface="+mn-lt"/>
                <a:ea typeface="+mn-ea"/>
                <a:cs typeface="+mn-cs"/>
              </a:rPr>
              <a:t>(Visual properties)</a:t>
            </a:r>
            <a:r>
              <a:rPr lang="zh-CN" altLang="zh-CN" sz="1200" kern="1200" dirty="0" smtClean="0">
                <a:solidFill>
                  <a:schemeClr val="tx1"/>
                </a:solidFill>
                <a:effectLst/>
                <a:latin typeface="+mn-lt"/>
                <a:ea typeface="+mn-ea"/>
                <a:cs typeface="+mn-cs"/>
              </a:rPr>
              <a:t>、碰撞参数（</a:t>
            </a:r>
            <a:r>
              <a:rPr lang="en-US" altLang="zh-CN" sz="1200" kern="1200" dirty="0" smtClean="0">
                <a:solidFill>
                  <a:schemeClr val="tx1"/>
                </a:solidFill>
                <a:effectLst/>
                <a:latin typeface="+mn-lt"/>
                <a:ea typeface="+mn-ea"/>
                <a:cs typeface="+mn-cs"/>
              </a:rPr>
              <a:t>Collision properties</a:t>
            </a:r>
            <a:r>
              <a:rPr lang="zh-CN" altLang="zh-CN" sz="1200" kern="1200" dirty="0" smtClean="0">
                <a:solidFill>
                  <a:schemeClr val="tx1"/>
                </a:solidFill>
                <a:effectLst/>
                <a:latin typeface="+mn-lt"/>
                <a:ea typeface="+mn-ea"/>
                <a:cs typeface="+mn-cs"/>
              </a:rPr>
              <a:t>）等。</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&lt;inertial&gt;</a:t>
            </a:r>
            <a:r>
              <a:rPr lang="zh-CN" altLang="zh-CN" sz="1200" kern="1200" dirty="0" smtClean="0">
                <a:solidFill>
                  <a:schemeClr val="tx1"/>
                </a:solidFill>
                <a:effectLst/>
                <a:latin typeface="+mn-lt"/>
                <a:ea typeface="+mn-ea"/>
                <a:cs typeface="+mn-cs"/>
              </a:rPr>
              <a:t>标签用于描述连杆</a:t>
            </a:r>
            <a:r>
              <a:rPr lang="en-US" altLang="zh-CN" sz="1200" kern="1200" dirty="0" smtClean="0">
                <a:solidFill>
                  <a:schemeClr val="tx1"/>
                </a:solidFill>
                <a:effectLst/>
                <a:latin typeface="+mn-lt"/>
                <a:ea typeface="+mn-ea"/>
                <a:cs typeface="+mn-cs"/>
              </a:rPr>
              <a:t>(link)</a:t>
            </a:r>
            <a:r>
              <a:rPr lang="zh-CN" altLang="zh-CN" sz="1200" kern="1200" dirty="0" smtClean="0">
                <a:solidFill>
                  <a:schemeClr val="tx1"/>
                </a:solidFill>
                <a:effectLst/>
                <a:latin typeface="+mn-lt"/>
                <a:ea typeface="+mn-ea"/>
                <a:cs typeface="+mn-cs"/>
              </a:rPr>
              <a:t>的惯性参数，</a:t>
            </a:r>
            <a:r>
              <a:rPr lang="en-US" altLang="zh-CN" sz="1200" kern="1200" dirty="0" smtClean="0">
                <a:solidFill>
                  <a:schemeClr val="tx1"/>
                </a:solidFill>
                <a:effectLst/>
                <a:latin typeface="+mn-lt"/>
                <a:ea typeface="+mn-ea"/>
                <a:cs typeface="+mn-cs"/>
              </a:rPr>
              <a:t>&lt;visual&gt;</a:t>
            </a:r>
            <a:r>
              <a:rPr lang="zh-CN" altLang="zh-CN" sz="1200" kern="1200" dirty="0" smtClean="0">
                <a:solidFill>
                  <a:schemeClr val="tx1"/>
                </a:solidFill>
                <a:effectLst/>
                <a:latin typeface="+mn-lt"/>
                <a:ea typeface="+mn-ea"/>
                <a:cs typeface="+mn-cs"/>
              </a:rPr>
              <a:t>标签用于描述机器人连杆</a:t>
            </a:r>
            <a:r>
              <a:rPr lang="en-US" altLang="zh-CN" sz="1200" kern="1200" dirty="0" smtClean="0">
                <a:solidFill>
                  <a:schemeClr val="tx1"/>
                </a:solidFill>
                <a:effectLst/>
                <a:latin typeface="+mn-lt"/>
                <a:ea typeface="+mn-ea"/>
                <a:cs typeface="+mn-cs"/>
              </a:rPr>
              <a:t>(link)</a:t>
            </a:r>
            <a:r>
              <a:rPr lang="zh-CN" altLang="zh-CN" sz="1200" kern="1200" dirty="0" smtClean="0">
                <a:solidFill>
                  <a:schemeClr val="tx1"/>
                </a:solidFill>
                <a:effectLst/>
                <a:latin typeface="+mn-lt"/>
                <a:ea typeface="+mn-ea"/>
                <a:cs typeface="+mn-cs"/>
              </a:rPr>
              <a:t>的外观参数，，而</a:t>
            </a:r>
            <a:r>
              <a:rPr lang="en-US" altLang="zh-CN" sz="1200" kern="1200" dirty="0" smtClean="0">
                <a:solidFill>
                  <a:schemeClr val="tx1"/>
                </a:solidFill>
                <a:effectLst/>
                <a:latin typeface="+mn-lt"/>
                <a:ea typeface="+mn-ea"/>
                <a:cs typeface="+mn-cs"/>
              </a:rPr>
              <a:t>&lt;collision&gt;</a:t>
            </a:r>
            <a:r>
              <a:rPr lang="zh-CN" altLang="zh-CN" sz="1200" kern="1200" dirty="0" smtClean="0">
                <a:solidFill>
                  <a:schemeClr val="tx1"/>
                </a:solidFill>
                <a:effectLst/>
                <a:latin typeface="+mn-lt"/>
                <a:ea typeface="+mn-ea"/>
                <a:cs typeface="+mn-cs"/>
              </a:rPr>
              <a:t>标签用于描述连杆</a:t>
            </a:r>
            <a:r>
              <a:rPr lang="en-US" altLang="zh-CN" sz="1200" kern="1200" dirty="0" smtClean="0">
                <a:solidFill>
                  <a:schemeClr val="tx1"/>
                </a:solidFill>
                <a:effectLst/>
                <a:latin typeface="+mn-lt"/>
                <a:ea typeface="+mn-ea"/>
                <a:cs typeface="+mn-cs"/>
              </a:rPr>
              <a:t>(link)</a:t>
            </a:r>
            <a:r>
              <a:rPr lang="zh-CN" altLang="zh-CN" sz="1200" kern="1200" dirty="0" smtClean="0">
                <a:solidFill>
                  <a:schemeClr val="tx1"/>
                </a:solidFill>
                <a:effectLst/>
                <a:latin typeface="+mn-lt"/>
                <a:ea typeface="+mn-ea"/>
                <a:cs typeface="+mn-cs"/>
              </a:rPr>
              <a:t>的碰撞属性。</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其中，</a:t>
                </a:r>
                <a:r>
                  <a:rPr lang="en-US" altLang="zh-CN" sz="1200" kern="1200" dirty="0">
                    <a:solidFill>
                      <a:schemeClr val="tx1"/>
                    </a:solidFill>
                    <a:effectLst/>
                    <a:latin typeface="+mn-lt"/>
                    <a:ea typeface="+mn-ea"/>
                    <a:cs typeface="+mn-cs"/>
                  </a:rPr>
                  <a:t>name</a:t>
                </a:r>
                <a:r>
                  <a:rPr lang="zh-CN" altLang="zh-CN" sz="1200" kern="1200" dirty="0">
                    <a:solidFill>
                      <a:schemeClr val="tx1"/>
                    </a:solidFill>
                    <a:effectLst/>
                    <a:latin typeface="+mn-lt"/>
                    <a:ea typeface="+mn-ea"/>
                    <a:cs typeface="+mn-cs"/>
                  </a:rPr>
                  <a:t>属性是必须的，表示连杆的名称。</a:t>
                </a:r>
              </a:p>
              <a:p>
                <a:r>
                  <a:rPr lang="en-US" altLang="zh-CN" sz="1200" b="1" kern="1200" dirty="0">
                    <a:solidFill>
                      <a:schemeClr val="tx1"/>
                    </a:solidFill>
                    <a:effectLst/>
                    <a:latin typeface="+mn-lt"/>
                    <a:ea typeface="+mn-ea"/>
                    <a:cs typeface="+mn-cs"/>
                  </a:rPr>
                  <a:t>&lt;inertial&gt;</a:t>
                </a:r>
                <a:r>
                  <a:rPr lang="zh-CN" altLang="zh-CN" sz="1200" kern="1200" dirty="0">
                    <a:solidFill>
                      <a:schemeClr val="tx1"/>
                    </a:solidFill>
                    <a:effectLst/>
                    <a:latin typeface="+mn-lt"/>
                    <a:ea typeface="+mn-ea"/>
                    <a:cs typeface="+mn-cs"/>
                  </a:rPr>
                  <a:t>标签包括下面的所有属性都是可选的。</a:t>
                </a:r>
                <a:r>
                  <a:rPr lang="en-US" altLang="zh-CN" sz="1200" kern="1200" dirty="0">
                    <a:solidFill>
                      <a:schemeClr val="tx1"/>
                    </a:solidFill>
                    <a:effectLst/>
                    <a:latin typeface="+mn-lt"/>
                    <a:ea typeface="+mn-ea"/>
                    <a:cs typeface="+mn-cs"/>
                  </a:rPr>
                  <a:t>&lt;origin</a:t>
                </a:r>
                <a:r>
                  <a:rPr lang="zh-CN" altLang="zh-CN" sz="1200" kern="1200" dirty="0">
                    <a:solidFill>
                      <a:schemeClr val="tx1"/>
                    </a:solidFill>
                    <a:effectLst/>
                    <a:latin typeface="+mn-lt"/>
                    <a:ea typeface="+mn-ea"/>
                    <a:cs typeface="+mn-cs"/>
                  </a:rPr>
                  <a:t>〉表示惯性参考坐标系相对于连杆参考坐标系的位姿。 惯性参考坐标系的原点必须位于重心， 惯性参考坐标系的轴无需与惯性主轴对齐。</a:t>
                </a:r>
                <a:r>
                  <a:rPr lang="en-US" altLang="zh-CN" sz="1200" kern="1200" dirty="0">
                    <a:solidFill>
                      <a:schemeClr val="tx1"/>
                    </a:solidFill>
                    <a:effectLst/>
                    <a:latin typeface="+mn-lt"/>
                    <a:ea typeface="+mn-ea"/>
                    <a:cs typeface="+mn-cs"/>
                  </a:rPr>
                  <a:t>Xyz</a:t>
                </a:r>
                <a:r>
                  <a:rPr lang="zh-CN" altLang="zh-CN" sz="1200" kern="1200" dirty="0">
                    <a:solidFill>
                      <a:schemeClr val="tx1"/>
                    </a:solidFill>
                    <a:effectLst/>
                    <a:latin typeface="+mn-lt"/>
                    <a:ea typeface="+mn-ea"/>
                    <a:cs typeface="+mn-cs"/>
                  </a:rPr>
                  <a:t>代表惯性坐标系相对于连杆坐标系的原点位置偏移值，缺省为向量</a:t>
                </a:r>
                <a:r>
                  <a:rPr lang="en-US" altLang="zh-CN" sz="1200" kern="1200" dirty="0">
                    <a:solidFill>
                      <a:schemeClr val="tx1"/>
                    </a:solidFill>
                    <a:effectLst/>
                    <a:latin typeface="+mn-lt"/>
                    <a:ea typeface="+mn-ea"/>
                    <a:cs typeface="+mn-cs"/>
                  </a:rPr>
                  <a:t>0</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rpy</a:t>
                </a:r>
                <a:r>
                  <a:rPr lang="zh-CN" altLang="zh-CN" sz="1200" kern="1200" dirty="0">
                    <a:solidFill>
                      <a:schemeClr val="tx1"/>
                    </a:solidFill>
                    <a:effectLst/>
                    <a:latin typeface="+mn-lt"/>
                    <a:ea typeface="+mn-ea"/>
                    <a:cs typeface="+mn-cs"/>
                  </a:rPr>
                  <a:t>代表惯性坐标系相对于连杆坐标系</a:t>
                </a:r>
                <a:r>
                  <a:rPr lang="en-US" altLang="zh-CN" sz="1200" kern="1200" dirty="0">
                    <a:solidFill>
                      <a:schemeClr val="tx1"/>
                    </a:solidFill>
                    <a:effectLst/>
                    <a:latin typeface="+mn-lt"/>
                    <a:ea typeface="+mn-ea"/>
                    <a:cs typeface="+mn-cs"/>
                  </a:rPr>
                  <a:t>RPY</a:t>
                </a:r>
                <a:r>
                  <a:rPr lang="zh-CN" altLang="zh-CN" sz="1200" kern="1200" dirty="0">
                    <a:solidFill>
                      <a:schemeClr val="tx1"/>
                    </a:solidFill>
                    <a:effectLst/>
                    <a:latin typeface="+mn-lt"/>
                    <a:ea typeface="+mn-ea"/>
                    <a:cs typeface="+mn-cs"/>
                  </a:rPr>
                  <a:t>姿态角的弧度值，缺省为重合；</a:t>
                </a:r>
                <a:r>
                  <a:rPr lang="en-US" altLang="zh-CN" sz="1200" kern="1200" dirty="0">
                    <a:solidFill>
                      <a:schemeClr val="tx1"/>
                    </a:solidFill>
                    <a:effectLst/>
                    <a:latin typeface="+mn-lt"/>
                    <a:ea typeface="+mn-ea"/>
                    <a:cs typeface="+mn-cs"/>
                  </a:rPr>
                  <a:t>mass</a:t>
                </a:r>
                <a:r>
                  <a:rPr lang="zh-CN" altLang="zh-CN" sz="1200" kern="1200" dirty="0">
                    <a:solidFill>
                      <a:schemeClr val="tx1"/>
                    </a:solidFill>
                    <a:effectLst/>
                    <a:latin typeface="+mn-lt"/>
                    <a:ea typeface="+mn-ea"/>
                    <a:cs typeface="+mn-cs"/>
                  </a:rPr>
                  <a:t>表示连杆的质量。</a:t>
                </a:r>
              </a:p>
              <a:p>
                <a:r>
                  <a:rPr lang="zh-CN" altLang="zh-CN" sz="1200" kern="1200" dirty="0">
                    <a:solidFill>
                      <a:schemeClr val="tx1"/>
                    </a:solidFill>
                    <a:effectLst/>
                    <a:latin typeface="+mn-lt"/>
                    <a:ea typeface="+mn-ea"/>
                    <a:cs typeface="+mn-cs"/>
                  </a:rPr>
                  <a:t>接下来的</a:t>
                </a:r>
                <a:r>
                  <a:rPr lang="en-US" altLang="zh-CN" sz="1200" kern="1200" dirty="0">
                    <a:solidFill>
                      <a:schemeClr val="tx1"/>
                    </a:solidFill>
                    <a:effectLst/>
                    <a:latin typeface="+mn-lt"/>
                    <a:ea typeface="+mn-ea"/>
                    <a:cs typeface="+mn-cs"/>
                  </a:rPr>
                  <a:t>inertia</a:t>
                </a:r>
                <a:r>
                  <a:rPr lang="zh-CN" altLang="zh-CN" sz="1200" kern="1200" dirty="0">
                    <a:solidFill>
                      <a:schemeClr val="tx1"/>
                    </a:solidFill>
                    <a:effectLst/>
                    <a:latin typeface="+mn-lt"/>
                    <a:ea typeface="+mn-ea"/>
                    <a:cs typeface="+mn-cs"/>
                  </a:rPr>
                  <a:t>是一个</a:t>
                </a:r>
                <a:r>
                  <a:rPr lang="en-US" altLang="zh-CN" sz="1200" kern="1200" dirty="0">
                    <a:solidFill>
                      <a:schemeClr val="tx1"/>
                    </a:solidFill>
                    <a:effectLst/>
                    <a:latin typeface="+mn-lt"/>
                    <a:ea typeface="+mn-ea"/>
                    <a:cs typeface="+mn-cs"/>
                  </a:rPr>
                  <a:t>3x3</a:t>
                </a:r>
                <a:r>
                  <a:rPr lang="zh-CN" altLang="zh-CN" sz="1200" kern="1200" dirty="0">
                    <a:solidFill>
                      <a:schemeClr val="tx1"/>
                    </a:solidFill>
                    <a:effectLst/>
                    <a:latin typeface="+mn-lt"/>
                    <a:ea typeface="+mn-ea"/>
                    <a:cs typeface="+mn-cs"/>
                  </a:rPr>
                  <a:t>旋转惯性矩阵。</a:t>
                </a:r>
              </a:p>
              <a:p>
                <a:r>
                  <a:rPr lang="zh-CN" altLang="zh-CN" sz="1200" kern="1200" dirty="0">
                    <a:solidFill>
                      <a:schemeClr val="tx1"/>
                    </a:solidFill>
                    <a:effectLst/>
                    <a:latin typeface="+mn-lt"/>
                    <a:ea typeface="+mn-ea"/>
                    <a:cs typeface="+mn-cs"/>
                  </a:rPr>
                  <a:t>对于三维空间中任意一参考点</a:t>
                </a:r>
                <a:r>
                  <a:rPr lang="en-US" altLang="zh-CN" sz="1200" kern="1200" dirty="0">
                    <a:solidFill>
                      <a:schemeClr val="tx1"/>
                    </a:solidFill>
                    <a:effectLst/>
                    <a:latin typeface="+mn-lt"/>
                    <a:ea typeface="+mn-ea"/>
                    <a:cs typeface="+mn-cs"/>
                  </a:rPr>
                  <a:t> K</a:t>
                </a:r>
                <a:r>
                  <a:rPr lang="zh-CN" altLang="zh-CN" sz="1200" kern="1200" dirty="0">
                    <a:solidFill>
                      <a:schemeClr val="tx1"/>
                    </a:solidFill>
                    <a:effectLst/>
                    <a:latin typeface="+mn-lt"/>
                    <a:ea typeface="+mn-ea"/>
                    <a:cs typeface="+mn-cs"/>
                  </a:rPr>
                  <a:t>与以此参考点为原点的直角坐标系</a:t>
                </a:r>
                <a:r>
                  <a:rPr lang="en-US" altLang="zh-CN" sz="1200" kern="1200" dirty="0" err="1">
                    <a:solidFill>
                      <a:schemeClr val="tx1"/>
                    </a:solidFill>
                    <a:effectLst/>
                    <a:latin typeface="+mn-lt"/>
                    <a:ea typeface="+mn-ea"/>
                    <a:cs typeface="+mn-cs"/>
                  </a:rPr>
                  <a:t>Kxyz</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，一个刚体的惯性张量</a:t>
                </a:r>
                <a:r>
                  <a:rPr lang="en-US" altLang="zh-CN" sz="1200" kern="1200" dirty="0">
                    <a:solidFill>
                      <a:schemeClr val="tx1"/>
                    </a:solidFill>
                    <a:effectLst/>
                    <a:latin typeface="+mn-lt"/>
                    <a:ea typeface="+mn-ea"/>
                    <a:cs typeface="+mn-cs"/>
                  </a:rPr>
                  <a:t>I</a:t>
                </a:r>
                <a:r>
                  <a:rPr lang="zh-CN" altLang="zh-CN" sz="1200" kern="1200" dirty="0">
                    <a:solidFill>
                      <a:schemeClr val="tx1"/>
                    </a:solidFill>
                    <a:effectLst/>
                    <a:latin typeface="+mn-lt"/>
                    <a:ea typeface="+mn-ea"/>
                    <a:cs typeface="+mn-cs"/>
                  </a:rPr>
                  <a:t>可以表示为下面的</a:t>
                </a:r>
                <a:r>
                  <a:rPr lang="en-US" altLang="zh-CN" sz="1200" kern="1200" dirty="0">
                    <a:solidFill>
                      <a:schemeClr val="tx1"/>
                    </a:solidFill>
                    <a:effectLst/>
                    <a:latin typeface="+mn-lt"/>
                    <a:ea typeface="+mn-ea"/>
                    <a:cs typeface="+mn-cs"/>
                  </a:rPr>
                  <a:t>3X3</a:t>
                </a:r>
                <a:r>
                  <a:rPr lang="zh-CN" altLang="zh-CN" sz="1200" kern="1200" dirty="0">
                    <a:solidFill>
                      <a:schemeClr val="tx1"/>
                    </a:solidFill>
                    <a:effectLst/>
                    <a:latin typeface="+mn-lt"/>
                    <a:ea typeface="+mn-ea"/>
                    <a:cs typeface="+mn-cs"/>
                  </a:rPr>
                  <a:t>的矩阵。</a:t>
                </a:r>
              </a:p>
              <a:p>
                <a:pPr/>
                <a14:m>
                  <m:oMathPara xmlns:m="http://schemas.openxmlformats.org/officeDocument/2006/math">
                    <m:oMathParaPr>
                      <m:jc m:val="centerGroup"/>
                    </m:oMathParaPr>
                    <m:oMath xmlns:m="http://schemas.openxmlformats.org/officeDocument/2006/math">
                      <m:r>
                        <a:rPr lang="en-US" altLang="zh-CN" sz="1200" b="1" i="1" kern="1200">
                          <a:solidFill>
                            <a:schemeClr val="tx1"/>
                          </a:solidFill>
                          <a:effectLst/>
                          <a:latin typeface="Cambria Math" panose="02040503050406030204" pitchFamily="18" charset="0"/>
                          <a:ea typeface="+mn-ea"/>
                          <a:cs typeface="+mn-cs"/>
                        </a:rPr>
                        <m:t>𝑰</m:t>
                      </m:r>
                      <m:r>
                        <a:rPr lang="en-US" altLang="zh-CN" sz="1200" b="1" i="1" kern="1200">
                          <a:solidFill>
                            <a:schemeClr val="tx1"/>
                          </a:solidFill>
                          <a:effectLst/>
                          <a:latin typeface="Cambria Math" panose="02040503050406030204" pitchFamily="18" charset="0"/>
                          <a:ea typeface="+mn-ea"/>
                          <a:cs typeface="+mn-cs"/>
                        </a:rPr>
                        <m:t>=</m:t>
                      </m:r>
                      <m:d>
                        <m:dPr>
                          <m:begChr m:val="["/>
                          <m:endChr m:val="]"/>
                          <m:ctrlPr>
                            <a:rPr lang="zh-CN" altLang="zh-CN" sz="1200" b="1"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zh-CN" altLang="zh-CN" sz="1200" b="1" i="1" kern="1200">
                                  <a:solidFill>
                                    <a:schemeClr val="tx1"/>
                                  </a:solidFill>
                                  <a:effectLst/>
                                  <a:latin typeface="Cambria Math" panose="02040503050406030204" pitchFamily="18" charset="0"/>
                                  <a:ea typeface="+mn-ea"/>
                                  <a:cs typeface="+mn-cs"/>
                                </a:rPr>
                              </m:ctrlPr>
                            </m:mPr>
                            <m:mr>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𝒙𝒙</m:t>
                                    </m:r>
                                  </m:sub>
                                </m:sSub>
                              </m:e>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𝒙𝒚</m:t>
                                    </m:r>
                                  </m:sub>
                                </m:sSub>
                              </m:e>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𝒙𝒛</m:t>
                                    </m:r>
                                  </m:sub>
                                </m:sSub>
                              </m:e>
                            </m:mr>
                            <m:mr>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𝒚𝒙</m:t>
                                    </m:r>
                                  </m:sub>
                                </m:sSub>
                              </m:e>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𝒚𝒚</m:t>
                                    </m:r>
                                  </m:sub>
                                </m:sSub>
                              </m:e>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𝒚𝒛</m:t>
                                    </m:r>
                                  </m:sub>
                                </m:sSub>
                              </m:e>
                            </m:mr>
                            <m:mr>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𝒛𝒙</m:t>
                                    </m:r>
                                  </m:sub>
                                </m:sSub>
                              </m:e>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𝒛𝒚</m:t>
                                    </m:r>
                                  </m:sub>
                                </m:sSub>
                              </m:e>
                              <m:e>
                                <m:sSub>
                                  <m:sSubPr>
                                    <m:ctrlPr>
                                      <a:rPr lang="zh-CN" altLang="zh-CN" sz="1200" b="1" i="1" kern="1200">
                                        <a:solidFill>
                                          <a:schemeClr val="tx1"/>
                                        </a:solidFill>
                                        <a:effectLst/>
                                        <a:latin typeface="Cambria Math" panose="02040503050406030204" pitchFamily="18" charset="0"/>
                                        <a:ea typeface="+mn-ea"/>
                                        <a:cs typeface="+mn-cs"/>
                                      </a:rPr>
                                    </m:ctrlPr>
                                  </m:sSubPr>
                                  <m:e>
                                    <m:r>
                                      <a:rPr lang="en-US" altLang="zh-CN" sz="1200" b="1" i="1" kern="1200">
                                        <a:solidFill>
                                          <a:schemeClr val="tx1"/>
                                        </a:solidFill>
                                        <a:effectLst/>
                                        <a:latin typeface="Cambria Math" panose="02040503050406030204" pitchFamily="18" charset="0"/>
                                        <a:ea typeface="+mn-ea"/>
                                        <a:cs typeface="+mn-cs"/>
                                      </a:rPr>
                                      <m:t>𝑰</m:t>
                                    </m:r>
                                  </m:e>
                                  <m:sub>
                                    <m:r>
                                      <a:rPr lang="en-US" altLang="zh-CN" sz="1200" b="1" i="1" kern="1200">
                                        <a:solidFill>
                                          <a:schemeClr val="tx1"/>
                                        </a:solidFill>
                                        <a:effectLst/>
                                        <a:latin typeface="Cambria Math" panose="02040503050406030204" pitchFamily="18" charset="0"/>
                                        <a:ea typeface="+mn-ea"/>
                                        <a:cs typeface="+mn-cs"/>
                                      </a:rPr>
                                      <m:t>𝒛𝒛</m:t>
                                    </m:r>
                                  </m:sub>
                                </m:sSub>
                              </m:e>
                            </m:mr>
                          </m:m>
                        </m:e>
                      </m:d>
                    </m:oMath>
                  </m:oMathPara>
                </a14:m>
                <a:endParaRPr lang="zh-CN"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由于旋转惯量矩阵是对称的，因此在此处仅使用属性</a:t>
                </a:r>
                <a:r>
                  <a:rPr lang="en-US" altLang="zh-CN" sz="1200" kern="1200" dirty="0" err="1">
                    <a:solidFill>
                      <a:schemeClr val="tx1"/>
                    </a:solidFill>
                    <a:effectLst/>
                    <a:latin typeface="+mn-lt"/>
                    <a:ea typeface="+mn-ea"/>
                    <a:cs typeface="+mn-cs"/>
                  </a:rPr>
                  <a:t>ixx</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ixy</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ixz</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iyy</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iyz</a:t>
                </a:r>
                <a:r>
                  <a:rPr lang="zh-CN"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izz</a:t>
                </a:r>
                <a:r>
                  <a:rPr lang="zh-CN" altLang="zh-CN" sz="1200" kern="1200" dirty="0">
                    <a:solidFill>
                      <a:schemeClr val="tx1"/>
                    </a:solidFill>
                    <a:effectLst/>
                    <a:latin typeface="+mn-lt"/>
                    <a:ea typeface="+mn-ea"/>
                    <a:cs typeface="+mn-cs"/>
                  </a:rPr>
                  <a:t>指定该矩阵的</a:t>
                </a:r>
                <a:r>
                  <a:rPr lang="en-US" altLang="zh-CN" sz="1200" kern="1200" dirty="0">
                    <a:solidFill>
                      <a:schemeClr val="tx1"/>
                    </a:solidFill>
                    <a:effectLst/>
                    <a:latin typeface="+mn-lt"/>
                    <a:ea typeface="+mn-ea"/>
                    <a:cs typeface="+mn-cs"/>
                  </a:rPr>
                  <a:t>6</a:t>
                </a:r>
                <a:r>
                  <a:rPr lang="zh-CN" altLang="zh-CN" sz="1200" kern="1200" dirty="0">
                    <a:solidFill>
                      <a:schemeClr val="tx1"/>
                    </a:solidFill>
                    <a:effectLst/>
                    <a:latin typeface="+mn-lt"/>
                    <a:ea typeface="+mn-ea"/>
                    <a:cs typeface="+mn-cs"/>
                  </a:rPr>
                  <a:t>个对角线上的元素。其中，</a:t>
                </a:r>
                <a:r>
                  <a:rPr lang="en-US" altLang="zh-CN" sz="1200" kern="1200" dirty="0" err="1">
                    <a:solidFill>
                      <a:schemeClr val="tx1"/>
                    </a:solidFill>
                    <a:effectLst/>
                    <a:latin typeface="+mn-lt"/>
                    <a:ea typeface="+mn-ea"/>
                    <a:cs typeface="+mn-cs"/>
                  </a:rPr>
                  <a:t>Ixx,Iyy,Izz</a:t>
                </a:r>
                <a:r>
                  <a:rPr lang="zh-CN" altLang="zh-CN" sz="1200" kern="1200" dirty="0">
                    <a:solidFill>
                      <a:schemeClr val="tx1"/>
                    </a:solidFill>
                    <a:effectLst/>
                    <a:latin typeface="+mn-lt"/>
                    <a:ea typeface="+mn-ea"/>
                    <a:cs typeface="+mn-cs"/>
                  </a:rPr>
                  <a:t>分别是绕</a:t>
                </a:r>
                <a:r>
                  <a:rPr lang="en-US" altLang="zh-CN" sz="1200" kern="1200" dirty="0" err="1">
                    <a:solidFill>
                      <a:schemeClr val="tx1"/>
                    </a:solidFill>
                    <a:effectLst/>
                    <a:latin typeface="+mn-lt"/>
                    <a:ea typeface="+mn-ea"/>
                    <a:cs typeface="+mn-cs"/>
                  </a:rPr>
                  <a:t>x,y,z</a:t>
                </a:r>
                <a:r>
                  <a:rPr lang="zh-CN" altLang="zh-CN" sz="1200" kern="1200" dirty="0">
                    <a:solidFill>
                      <a:schemeClr val="tx1"/>
                    </a:solidFill>
                    <a:effectLst/>
                    <a:latin typeface="+mn-lt"/>
                    <a:ea typeface="+mn-ea"/>
                    <a:cs typeface="+mn-cs"/>
                  </a:rPr>
                  <a:t>轴的转动惯量，</a:t>
                </a:r>
                <a:r>
                  <a:rPr lang="en-US" altLang="zh-CN" sz="1200" kern="1200" dirty="0" err="1">
                    <a:solidFill>
                      <a:schemeClr val="tx1"/>
                    </a:solidFill>
                    <a:effectLst/>
                    <a:latin typeface="+mn-lt"/>
                    <a:ea typeface="+mn-ea"/>
                    <a:cs typeface="+mn-cs"/>
                  </a:rPr>
                  <a:t>Ixy,Iyz,Ixz</a:t>
                </a:r>
                <a:r>
                  <a:rPr lang="zh-CN" altLang="zh-CN" sz="1200" kern="1200" dirty="0">
                    <a:solidFill>
                      <a:schemeClr val="tx1"/>
                    </a:solidFill>
                    <a:effectLst/>
                    <a:latin typeface="+mn-lt"/>
                    <a:ea typeface="+mn-ea"/>
                    <a:cs typeface="+mn-cs"/>
                  </a:rPr>
                  <a:t>为惯性积，即惯性坐标系中面积微元</a:t>
                </a:r>
                <a:r>
                  <a:rPr lang="en-US" altLang="zh-CN" sz="1200" kern="1200" dirty="0" err="1">
                    <a:solidFill>
                      <a:schemeClr val="tx1"/>
                    </a:solidFill>
                    <a:effectLst/>
                    <a:latin typeface="+mn-lt"/>
                    <a:ea typeface="+mn-ea"/>
                    <a:cs typeface="+mn-cs"/>
                  </a:rPr>
                  <a:t>dA</a:t>
                </a:r>
                <a:r>
                  <a:rPr lang="zh-CN" altLang="zh-CN" sz="1200" kern="1200" dirty="0">
                    <a:solidFill>
                      <a:schemeClr val="tx1"/>
                    </a:solidFill>
                    <a:effectLst/>
                    <a:latin typeface="+mn-lt"/>
                    <a:ea typeface="+mn-ea"/>
                    <a:cs typeface="+mn-cs"/>
                  </a:rPr>
                  <a:t>与其到相应指定的轴距离乘积的积分。</a:t>
                </a:r>
              </a:p>
              <a:p>
                <a:r>
                  <a:rPr lang="en-US" altLang="zh-CN" sz="1200" kern="1200" dirty="0">
                    <a:solidFill>
                      <a:schemeClr val="tx1"/>
                    </a:solidFill>
                    <a:effectLst/>
                    <a:latin typeface="+mn-lt"/>
                    <a:ea typeface="+mn-ea"/>
                    <a:cs typeface="+mn-cs"/>
                  </a:rPr>
                  <a:t>&lt;visual&gt;</a:t>
                </a:r>
                <a:r>
                  <a:rPr lang="zh-CN" altLang="zh-CN" sz="1200" kern="1200" dirty="0">
                    <a:solidFill>
                      <a:schemeClr val="tx1"/>
                    </a:solidFill>
                    <a:effectLst/>
                    <a:latin typeface="+mn-lt"/>
                    <a:ea typeface="+mn-ea"/>
                    <a:cs typeface="+mn-cs"/>
                  </a:rPr>
                  <a:t>标签整体可选，其下可以标注几何和材料方面的属性，其中如果存在</a:t>
                </a:r>
                <a:r>
                  <a:rPr lang="en-US" altLang="zh-CN" sz="1200" kern="1200" dirty="0">
                    <a:solidFill>
                      <a:schemeClr val="tx1"/>
                    </a:solidFill>
                    <a:effectLst/>
                    <a:latin typeface="+mn-lt"/>
                    <a:ea typeface="+mn-ea"/>
                    <a:cs typeface="+mn-cs"/>
                  </a:rPr>
                  <a:t>&lt;visual&gt;</a:t>
                </a:r>
                <a:r>
                  <a:rPr lang="zh-CN" altLang="zh-CN" sz="1200" kern="1200" dirty="0">
                    <a:solidFill>
                      <a:schemeClr val="tx1"/>
                    </a:solidFill>
                    <a:effectLst/>
                    <a:latin typeface="+mn-lt"/>
                    <a:ea typeface="+mn-ea"/>
                    <a:cs typeface="+mn-cs"/>
                  </a:rPr>
                  <a:t>标签，其几何属性</a:t>
                </a:r>
                <a:r>
                  <a:rPr lang="en-US" altLang="zh-CN" sz="1200" kern="1200" dirty="0">
                    <a:solidFill>
                      <a:schemeClr val="tx1"/>
                    </a:solidFill>
                    <a:effectLst/>
                    <a:latin typeface="+mn-lt"/>
                    <a:ea typeface="+mn-ea"/>
                    <a:cs typeface="+mn-cs"/>
                  </a:rPr>
                  <a:t>&lt;geometry&gt;</a:t>
                </a:r>
                <a:r>
                  <a:rPr lang="zh-CN" altLang="zh-CN" sz="1200" kern="1200" dirty="0">
                    <a:solidFill>
                      <a:schemeClr val="tx1"/>
                    </a:solidFill>
                    <a:effectLst/>
                    <a:latin typeface="+mn-lt"/>
                    <a:ea typeface="+mn-ea"/>
                    <a:cs typeface="+mn-cs"/>
                  </a:rPr>
                  <a:t>必须标注，如果是长方体</a:t>
                </a:r>
                <a:r>
                  <a:rPr lang="en-US" altLang="zh-CN" sz="1200" kern="1200" dirty="0">
                    <a:solidFill>
                      <a:schemeClr val="tx1"/>
                    </a:solidFill>
                    <a:effectLst/>
                    <a:latin typeface="+mn-lt"/>
                    <a:ea typeface="+mn-ea"/>
                    <a:cs typeface="+mn-cs"/>
                  </a:rPr>
                  <a:t>&lt;box&gt;</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size</a:t>
                </a:r>
                <a:r>
                  <a:rPr lang="zh-CN" altLang="zh-CN" sz="1200" kern="1200" dirty="0">
                    <a:solidFill>
                      <a:schemeClr val="tx1"/>
                    </a:solidFill>
                    <a:effectLst/>
                    <a:latin typeface="+mn-lt"/>
                    <a:ea typeface="+mn-ea"/>
                    <a:cs typeface="+mn-cs"/>
                  </a:rPr>
                  <a:t>属性为三个边长，坐标系原点位于长方体</a:t>
                </a:r>
                <a:r>
                  <a:rPr lang="en-US" altLang="zh-CN" sz="1200" kern="1200" dirty="0">
                    <a:solidFill>
                      <a:schemeClr val="tx1"/>
                    </a:solidFill>
                    <a:effectLst/>
                    <a:latin typeface="+mn-lt"/>
                    <a:ea typeface="+mn-ea"/>
                    <a:cs typeface="+mn-cs"/>
                  </a:rPr>
                  <a:t>box</a:t>
                </a:r>
                <a:r>
                  <a:rPr lang="zh-CN" altLang="zh-CN" sz="1200" kern="1200" dirty="0">
                    <a:solidFill>
                      <a:schemeClr val="tx1"/>
                    </a:solidFill>
                    <a:effectLst/>
                    <a:latin typeface="+mn-lt"/>
                    <a:ea typeface="+mn-ea"/>
                    <a:cs typeface="+mn-cs"/>
                  </a:rPr>
                  <a:t>的几何中心。如果是圆柱体</a:t>
                </a:r>
                <a:r>
                  <a:rPr lang="en-US" altLang="zh-CN" sz="1200" b="1" kern="1200" dirty="0">
                    <a:solidFill>
                      <a:schemeClr val="tx1"/>
                    </a:solidFill>
                    <a:effectLst/>
                    <a:latin typeface="+mn-lt"/>
                    <a:ea typeface="+mn-ea"/>
                    <a:cs typeface="+mn-cs"/>
                  </a:rPr>
                  <a:t>&lt;cylinder&gt;</a:t>
                </a:r>
                <a:r>
                  <a:rPr lang="zh-CN" altLang="zh-CN" sz="1200" kern="1200" dirty="0">
                    <a:solidFill>
                      <a:schemeClr val="tx1"/>
                    </a:solidFill>
                    <a:effectLst/>
                    <a:latin typeface="+mn-lt"/>
                    <a:ea typeface="+mn-ea"/>
                    <a:cs typeface="+mn-cs"/>
                  </a:rPr>
                  <a:t>，则需指明半径</a:t>
                </a:r>
                <a:r>
                  <a:rPr lang="en-US" altLang="zh-CN" sz="1200" b="1" kern="1200" dirty="0">
                    <a:solidFill>
                      <a:schemeClr val="tx1"/>
                    </a:solidFill>
                    <a:effectLst/>
                    <a:latin typeface="+mn-lt"/>
                    <a:ea typeface="+mn-ea"/>
                    <a:cs typeface="+mn-cs"/>
                  </a:rPr>
                  <a:t>radius</a:t>
                </a:r>
                <a:r>
                  <a:rPr lang="zh-CN" altLang="zh-CN" sz="1200" kern="1200" dirty="0">
                    <a:solidFill>
                      <a:schemeClr val="tx1"/>
                    </a:solidFill>
                    <a:effectLst/>
                    <a:latin typeface="+mn-lt"/>
                    <a:ea typeface="+mn-ea"/>
                    <a:cs typeface="+mn-cs"/>
                  </a:rPr>
                  <a:t>和长度</a:t>
                </a:r>
                <a:r>
                  <a:rPr lang="en-US" altLang="zh-CN" sz="1200" b="1" kern="1200" dirty="0">
                    <a:solidFill>
                      <a:schemeClr val="tx1"/>
                    </a:solidFill>
                    <a:effectLst/>
                    <a:latin typeface="+mn-lt"/>
                    <a:ea typeface="+mn-ea"/>
                    <a:cs typeface="+mn-cs"/>
                  </a:rPr>
                  <a:t>length</a:t>
                </a:r>
                <a:r>
                  <a:rPr lang="zh-CN" altLang="zh-CN" sz="1200" kern="1200" dirty="0">
                    <a:solidFill>
                      <a:schemeClr val="tx1"/>
                    </a:solidFill>
                    <a:effectLst/>
                    <a:latin typeface="+mn-lt"/>
                    <a:ea typeface="+mn-ea"/>
                    <a:cs typeface="+mn-cs"/>
                  </a:rPr>
                  <a:t>的值，坐标系原点位于圆柱体的几何中心。如果是球体</a:t>
                </a:r>
                <a:r>
                  <a:rPr lang="en-US" altLang="zh-CN" sz="1200" b="1" kern="1200" dirty="0">
                    <a:solidFill>
                      <a:schemeClr val="tx1"/>
                    </a:solidFill>
                    <a:effectLst/>
                    <a:latin typeface="+mn-lt"/>
                    <a:ea typeface="+mn-ea"/>
                    <a:cs typeface="+mn-cs"/>
                  </a:rPr>
                  <a:t>&lt;sphere&gt;</a:t>
                </a:r>
                <a:r>
                  <a:rPr lang="zh-CN" altLang="zh-CN" sz="1200" b="1"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则需指明半径</a:t>
                </a:r>
                <a:r>
                  <a:rPr lang="en-US" altLang="zh-CN" sz="1200" b="1" kern="1200" dirty="0">
                    <a:solidFill>
                      <a:schemeClr val="tx1"/>
                    </a:solidFill>
                    <a:effectLst/>
                    <a:latin typeface="+mn-lt"/>
                    <a:ea typeface="+mn-ea"/>
                    <a:cs typeface="+mn-cs"/>
                  </a:rPr>
                  <a:t>radius</a:t>
                </a:r>
                <a:r>
                  <a:rPr lang="zh-CN" altLang="zh-CN" sz="1200" kern="1200" dirty="0">
                    <a:solidFill>
                      <a:schemeClr val="tx1"/>
                    </a:solidFill>
                    <a:effectLst/>
                    <a:latin typeface="+mn-lt"/>
                    <a:ea typeface="+mn-ea"/>
                    <a:cs typeface="+mn-cs"/>
                  </a:rPr>
                  <a:t>，坐标系原点位于球体的几何中心。</a:t>
                </a:r>
                <a:r>
                  <a:rPr lang="en-US" altLang="zh-CN" sz="1200" b="1" kern="1200" dirty="0">
                    <a:solidFill>
                      <a:schemeClr val="tx1"/>
                    </a:solidFill>
                    <a:effectLst/>
                    <a:latin typeface="+mn-lt"/>
                    <a:ea typeface="+mn-ea"/>
                    <a:cs typeface="+mn-cs"/>
                  </a:rPr>
                  <a:t>&lt;material&gt;</a:t>
                </a:r>
                <a:r>
                  <a:rPr lang="zh-CN" altLang="zh-CN" sz="1200" kern="1200" dirty="0">
                    <a:solidFill>
                      <a:schemeClr val="tx1"/>
                    </a:solidFill>
                    <a:effectLst/>
                    <a:latin typeface="+mn-lt"/>
                    <a:ea typeface="+mn-ea"/>
                    <a:cs typeface="+mn-cs"/>
                  </a:rPr>
                  <a:t>属性整体可选，主要有颜色</a:t>
                </a:r>
                <a:r>
                  <a:rPr lang="en-US" altLang="zh-CN" sz="1200" b="1" kern="1200" dirty="0">
                    <a:solidFill>
                      <a:schemeClr val="tx1"/>
                    </a:solidFill>
                    <a:effectLst/>
                    <a:latin typeface="+mn-lt"/>
                    <a:ea typeface="+mn-ea"/>
                    <a:cs typeface="+mn-cs"/>
                  </a:rPr>
                  <a:t>&lt;color&gt;</a:t>
                </a:r>
                <a:r>
                  <a:rPr lang="zh-CN" altLang="zh-CN" sz="1200" kern="1200" dirty="0">
                    <a:solidFill>
                      <a:schemeClr val="tx1"/>
                    </a:solidFill>
                    <a:effectLst/>
                    <a:latin typeface="+mn-lt"/>
                    <a:ea typeface="+mn-ea"/>
                    <a:cs typeface="+mn-cs"/>
                  </a:rPr>
                  <a:t>等属性可以指定。</a:t>
                </a:r>
              </a:p>
              <a:p>
                <a:r>
                  <a:rPr lang="en-US" altLang="zh-CN" sz="1200" b="1" kern="1200" dirty="0">
                    <a:solidFill>
                      <a:schemeClr val="tx1"/>
                    </a:solidFill>
                    <a:effectLst/>
                    <a:latin typeface="+mn-lt"/>
                    <a:ea typeface="+mn-ea"/>
                    <a:cs typeface="+mn-cs"/>
                  </a:rPr>
                  <a:t>&lt;collision&gt;</a:t>
                </a:r>
                <a:r>
                  <a:rPr lang="zh-CN" altLang="zh-CN" sz="1200" kern="1200" dirty="0">
                    <a:solidFill>
                      <a:schemeClr val="tx1"/>
                    </a:solidFill>
                    <a:effectLst/>
                    <a:latin typeface="+mn-lt"/>
                    <a:ea typeface="+mn-ea"/>
                    <a:cs typeface="+mn-cs"/>
                  </a:rPr>
                  <a:t>标签整体可选，用于描述连杆的碰撞属性，在图</a:t>
                </a:r>
                <a:r>
                  <a:rPr lang="en-US" altLang="zh-CN" sz="1200" kern="1200" dirty="0">
                    <a:solidFill>
                      <a:schemeClr val="tx1"/>
                    </a:solidFill>
                    <a:effectLst/>
                    <a:latin typeface="+mn-lt"/>
                    <a:ea typeface="+mn-ea"/>
                    <a:cs typeface="+mn-cs"/>
                  </a:rPr>
                  <a:t>2.22</a:t>
                </a:r>
                <a:r>
                  <a:rPr lang="zh-CN" altLang="zh-CN" sz="1200" kern="1200" dirty="0">
                    <a:solidFill>
                      <a:schemeClr val="tx1"/>
                    </a:solidFill>
                    <a:effectLst/>
                    <a:latin typeface="+mn-lt"/>
                    <a:ea typeface="+mn-ea"/>
                    <a:cs typeface="+mn-cs"/>
                  </a:rPr>
                  <a:t>中，连杆</a:t>
                </a:r>
                <a:r>
                  <a:rPr lang="en-US" altLang="zh-CN" sz="1200" kern="1200" dirty="0">
                    <a:solidFill>
                      <a:schemeClr val="tx1"/>
                    </a:solidFill>
                    <a:effectLst/>
                    <a:latin typeface="+mn-lt"/>
                    <a:ea typeface="+mn-ea"/>
                    <a:cs typeface="+mn-cs"/>
                  </a:rPr>
                  <a:t>link</a:t>
                </a:r>
                <a:r>
                  <a:rPr lang="zh-CN" altLang="zh-CN" sz="1200" kern="1200" dirty="0">
                    <a:solidFill>
                      <a:schemeClr val="tx1"/>
                    </a:solidFill>
                    <a:effectLst/>
                    <a:latin typeface="+mn-lt"/>
                    <a:ea typeface="+mn-ea"/>
                    <a:cs typeface="+mn-cs"/>
                  </a:rPr>
                  <a:t>的</a:t>
                </a:r>
                <a:r>
                  <a:rPr lang="en-US" altLang="zh-CN" sz="1200" b="1" kern="1200" dirty="0">
                    <a:solidFill>
                      <a:schemeClr val="tx1"/>
                    </a:solidFill>
                    <a:effectLst/>
                    <a:latin typeface="+mn-lt"/>
                    <a:ea typeface="+mn-ea"/>
                    <a:cs typeface="+mn-cs"/>
                  </a:rPr>
                  <a:t>&lt;collision&gt;</a:t>
                </a:r>
                <a:r>
                  <a:rPr lang="zh-CN" altLang="zh-CN" sz="1200" kern="1200" dirty="0">
                    <a:solidFill>
                      <a:schemeClr val="tx1"/>
                    </a:solidFill>
                    <a:effectLst/>
                    <a:latin typeface="+mn-lt"/>
                    <a:ea typeface="+mn-ea"/>
                    <a:cs typeface="+mn-cs"/>
                  </a:rPr>
                  <a:t>区域应大于外观</a:t>
                </a:r>
                <a:r>
                  <a:rPr lang="en-US" altLang="zh-CN" sz="1200" b="1" kern="1200" dirty="0">
                    <a:solidFill>
                      <a:schemeClr val="tx1"/>
                    </a:solidFill>
                    <a:effectLst/>
                    <a:latin typeface="+mn-lt"/>
                    <a:ea typeface="+mn-ea"/>
                    <a:cs typeface="+mn-cs"/>
                  </a:rPr>
                  <a:t>&lt;visual&gt;</a:t>
                </a:r>
                <a:r>
                  <a:rPr lang="zh-CN" altLang="zh-CN" sz="1200" kern="1200" dirty="0">
                    <a:solidFill>
                      <a:schemeClr val="tx1"/>
                    </a:solidFill>
                    <a:effectLst/>
                    <a:latin typeface="+mn-lt"/>
                    <a:ea typeface="+mn-ea"/>
                    <a:cs typeface="+mn-cs"/>
                  </a:rPr>
                  <a:t>的区域，如果有物体与</a:t>
                </a:r>
                <a:r>
                  <a:rPr lang="en-US" altLang="zh-CN" sz="1200" b="1" kern="1200" dirty="0">
                    <a:solidFill>
                      <a:schemeClr val="tx1"/>
                    </a:solidFill>
                    <a:effectLst/>
                    <a:latin typeface="+mn-lt"/>
                    <a:ea typeface="+mn-ea"/>
                    <a:cs typeface="+mn-cs"/>
                  </a:rPr>
                  <a:t>&lt;collision&gt;</a:t>
                </a:r>
                <a:r>
                  <a:rPr lang="zh-CN" altLang="zh-CN" sz="1200" kern="1200" dirty="0">
                    <a:solidFill>
                      <a:schemeClr val="tx1"/>
                    </a:solidFill>
                    <a:effectLst/>
                    <a:latin typeface="+mn-lt"/>
                    <a:ea typeface="+mn-ea"/>
                    <a:cs typeface="+mn-cs"/>
                  </a:rPr>
                  <a:t>区域相交，就认为与该连杆发生了碰撞。</a:t>
                </a:r>
              </a:p>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b="-17407"/>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fld id="{1C147A23-5BA8-44CE-9215-79B767159C41}"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a:t>
            </a:r>
            <a:r>
              <a:rPr lang="en-US" altLang="zh-CN" sz="1200" kern="1200" dirty="0" smtClean="0">
                <a:solidFill>
                  <a:schemeClr val="tx1"/>
                </a:solidFill>
                <a:effectLst/>
                <a:latin typeface="+mn-lt"/>
                <a:ea typeface="+mn-ea"/>
                <a:cs typeface="+mn-cs"/>
              </a:rPr>
              <a:t>&lt;visual&gt;</a:t>
            </a:r>
            <a:r>
              <a:rPr lang="zh-CN" altLang="zh-CN" sz="1200" kern="1200" dirty="0" smtClean="0">
                <a:solidFill>
                  <a:schemeClr val="tx1"/>
                </a:solidFill>
                <a:effectLst/>
                <a:latin typeface="+mn-lt"/>
                <a:ea typeface="+mn-ea"/>
                <a:cs typeface="+mn-cs"/>
              </a:rPr>
              <a:t>以及</a:t>
            </a:r>
            <a:r>
              <a:rPr lang="en-US" altLang="zh-CN" sz="1200" b="1" kern="1200" dirty="0" smtClean="0">
                <a:solidFill>
                  <a:schemeClr val="tx1"/>
                </a:solidFill>
                <a:effectLst/>
                <a:latin typeface="+mn-lt"/>
                <a:ea typeface="+mn-ea"/>
                <a:cs typeface="+mn-cs"/>
              </a:rPr>
              <a:t>&lt;collision&gt;</a:t>
            </a:r>
            <a:r>
              <a:rPr lang="zh-CN" altLang="zh-CN" sz="1200" kern="1200" dirty="0" smtClean="0">
                <a:solidFill>
                  <a:schemeClr val="tx1"/>
                </a:solidFill>
                <a:effectLst/>
                <a:latin typeface="+mn-lt"/>
                <a:ea typeface="+mn-ea"/>
                <a:cs typeface="+mn-cs"/>
              </a:rPr>
              <a:t>标签中，如果我们需要加载更细致的外观与碰撞形体特征，则可以在几何属性</a:t>
            </a:r>
            <a:r>
              <a:rPr lang="en-US" altLang="zh-CN" sz="1200" kern="1200" dirty="0" smtClean="0">
                <a:solidFill>
                  <a:schemeClr val="tx1"/>
                </a:solidFill>
                <a:effectLst/>
                <a:latin typeface="+mn-lt"/>
                <a:ea typeface="+mn-ea"/>
                <a:cs typeface="+mn-cs"/>
              </a:rPr>
              <a:t>&lt;geometry&gt;</a:t>
            </a:r>
            <a:r>
              <a:rPr lang="zh-CN" altLang="zh-CN" sz="1200" kern="1200" dirty="0" smtClean="0">
                <a:solidFill>
                  <a:schemeClr val="tx1"/>
                </a:solidFill>
                <a:effectLst/>
                <a:latin typeface="+mn-lt"/>
                <a:ea typeface="+mn-ea"/>
                <a:cs typeface="+mn-cs"/>
              </a:rPr>
              <a:t>中标注成</a:t>
            </a:r>
            <a:r>
              <a:rPr lang="en-US" altLang="zh-CN" sz="1200" kern="1200" dirty="0" smtClean="0">
                <a:solidFill>
                  <a:schemeClr val="tx1"/>
                </a:solidFill>
                <a:effectLst/>
                <a:latin typeface="+mn-lt"/>
                <a:ea typeface="+mn-ea"/>
                <a:cs typeface="+mn-cs"/>
              </a:rPr>
              <a:t>&lt;mesh&gt;</a:t>
            </a:r>
            <a:r>
              <a:rPr lang="zh-CN" altLang="zh-CN" sz="1200" kern="1200" dirty="0" smtClean="0">
                <a:solidFill>
                  <a:schemeClr val="tx1"/>
                </a:solidFill>
                <a:effectLst/>
                <a:latin typeface="+mn-lt"/>
                <a:ea typeface="+mn-ea"/>
                <a:cs typeface="+mn-cs"/>
              </a:rPr>
              <a:t>，在该属性下直接指定用于标注几何属性的本地</a:t>
            </a:r>
            <a:r>
              <a:rPr lang="en-US" altLang="zh-CN" sz="1200" kern="1200" dirty="0" smtClean="0">
                <a:solidFill>
                  <a:schemeClr val="tx1"/>
                </a:solidFill>
                <a:effectLst/>
                <a:latin typeface="+mn-lt"/>
                <a:ea typeface="+mn-ea"/>
                <a:cs typeface="+mn-cs"/>
              </a:rPr>
              <a:t>CAD</a:t>
            </a:r>
            <a:r>
              <a:rPr lang="zh-CN" altLang="zh-CN" sz="1200" kern="1200" dirty="0" smtClean="0">
                <a:solidFill>
                  <a:schemeClr val="tx1"/>
                </a:solidFill>
                <a:effectLst/>
                <a:latin typeface="+mn-lt"/>
                <a:ea typeface="+mn-ea"/>
                <a:cs typeface="+mn-cs"/>
              </a:rPr>
              <a:t>文件。</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的</a:t>
            </a:r>
            <a:r>
              <a:rPr lang="en-US" altLang="zh-CN" sz="1200" kern="1200" dirty="0" smtClean="0">
                <a:solidFill>
                  <a:schemeClr val="tx1"/>
                </a:solidFill>
                <a:effectLst/>
                <a:latin typeface="+mn-lt"/>
                <a:ea typeface="+mn-ea"/>
                <a:cs typeface="+mn-cs"/>
              </a:rPr>
              <a:t>mesh</a:t>
            </a:r>
            <a:r>
              <a:rPr lang="zh-CN" altLang="zh-CN" sz="1200" kern="1200" dirty="0" smtClean="0">
                <a:solidFill>
                  <a:schemeClr val="tx1"/>
                </a:solidFill>
                <a:effectLst/>
                <a:latin typeface="+mn-lt"/>
                <a:ea typeface="+mn-ea"/>
                <a:cs typeface="+mn-cs"/>
              </a:rPr>
              <a:t>文件通常有两类：包含材质颜色等信息的</a:t>
            </a:r>
            <a:r>
              <a:rPr lang="en-US" altLang="zh-CN" sz="1200" kern="1200" dirty="0" err="1" smtClean="0">
                <a:solidFill>
                  <a:schemeClr val="tx1"/>
                </a:solidFill>
                <a:effectLst/>
                <a:latin typeface="+mn-lt"/>
                <a:ea typeface="+mn-ea"/>
                <a:cs typeface="+mn-cs"/>
              </a:rPr>
              <a:t>dae</a:t>
            </a:r>
            <a:r>
              <a:rPr lang="en-US" altLang="zh-CN" sz="1200" kern="1200" dirty="0" smtClean="0">
                <a:solidFill>
                  <a:schemeClr val="tx1"/>
                </a:solidFill>
                <a:effectLst/>
                <a:latin typeface="+mn-lt"/>
                <a:ea typeface="+mn-ea"/>
                <a:cs typeface="+mn-cs"/>
              </a:rPr>
              <a:t>(Digital Asset Exchange)</a:t>
            </a:r>
            <a:r>
              <a:rPr lang="zh-CN" altLang="zh-CN" sz="1200" kern="1200" dirty="0" smtClean="0">
                <a:solidFill>
                  <a:schemeClr val="tx1"/>
                </a:solidFill>
                <a:effectLst/>
                <a:latin typeface="+mn-lt"/>
                <a:ea typeface="+mn-ea"/>
                <a:cs typeface="+mn-cs"/>
              </a:rPr>
              <a:t>文件（非必须，</a:t>
            </a:r>
            <a:r>
              <a:rPr lang="en-US" altLang="zh-CN" sz="1200" kern="1200" dirty="0" smtClean="0">
                <a:solidFill>
                  <a:schemeClr val="tx1"/>
                </a:solidFill>
                <a:effectLst/>
                <a:latin typeface="+mn-lt"/>
                <a:ea typeface="+mn-ea"/>
                <a:cs typeface="+mn-cs"/>
              </a:rPr>
              <a:t>DAE</a:t>
            </a:r>
            <a:r>
              <a:rPr lang="zh-CN" altLang="zh-CN" sz="1200" kern="1200" dirty="0" smtClean="0">
                <a:solidFill>
                  <a:schemeClr val="tx1"/>
                </a:solidFill>
                <a:effectLst/>
                <a:latin typeface="+mn-lt"/>
                <a:ea typeface="+mn-ea"/>
                <a:cs typeface="+mn-cs"/>
              </a:rPr>
              <a:t>文件是面向交互式</a:t>
            </a:r>
            <a:r>
              <a:rPr lang="en-US" altLang="zh-CN" sz="1200" u="none" strike="noStrike" kern="1200" dirty="0" smtClean="0">
                <a:solidFill>
                  <a:schemeClr val="tx1"/>
                </a:solidFill>
                <a:effectLst/>
                <a:latin typeface="+mn-lt"/>
                <a:ea typeface="+mn-ea"/>
                <a:cs typeface="+mn-cs"/>
                <a:hlinkClick r:id="rId3"/>
              </a:rPr>
              <a:t>3D</a:t>
            </a:r>
            <a:r>
              <a:rPr lang="zh-CN" altLang="zh-CN" sz="1200" kern="1200" dirty="0" smtClean="0">
                <a:solidFill>
                  <a:schemeClr val="tx1"/>
                </a:solidFill>
                <a:effectLst/>
                <a:latin typeface="+mn-lt"/>
                <a:ea typeface="+mn-ea"/>
                <a:cs typeface="+mn-cs"/>
              </a:rPr>
              <a:t>应用程序</a:t>
            </a:r>
            <a:r>
              <a:rPr lang="en-US" altLang="zh-CN" sz="1200" kern="1200" dirty="0" err="1" smtClean="0">
                <a:solidFill>
                  <a:schemeClr val="tx1"/>
                </a:solidFill>
                <a:effectLst/>
                <a:latin typeface="+mn-lt"/>
                <a:ea typeface="+mn-ea"/>
                <a:cs typeface="+mn-cs"/>
              </a:rPr>
              <a:t>Collada</a:t>
            </a:r>
            <a:r>
              <a:rPr lang="zh-CN" altLang="zh-CN" sz="1200" kern="1200" dirty="0" smtClean="0">
                <a:solidFill>
                  <a:schemeClr val="tx1"/>
                </a:solidFill>
                <a:effectLst/>
                <a:latin typeface="+mn-lt"/>
                <a:ea typeface="+mn-ea"/>
                <a:cs typeface="+mn-cs"/>
              </a:rPr>
              <a:t>的</a:t>
            </a:r>
            <a:r>
              <a:rPr lang="en-US" altLang="zh-CN" sz="1200" kern="1200" dirty="0" smtClean="0">
                <a:solidFill>
                  <a:schemeClr val="tx1"/>
                </a:solidFill>
                <a:effectLst/>
                <a:latin typeface="+mn-lt"/>
                <a:ea typeface="+mn-ea"/>
                <a:cs typeface="+mn-cs"/>
              </a:rPr>
              <a:t>3D</a:t>
            </a:r>
            <a:r>
              <a:rPr lang="zh-CN" altLang="zh-CN" sz="1200" kern="1200" dirty="0" smtClean="0">
                <a:solidFill>
                  <a:schemeClr val="tx1"/>
                </a:solidFill>
                <a:effectLst/>
                <a:latin typeface="+mn-lt"/>
                <a:ea typeface="+mn-ea"/>
                <a:cs typeface="+mn-cs"/>
              </a:rPr>
              <a:t>模型文件，可用于多个图形程序之间交换数字数据）与用于碰撞的</a:t>
            </a:r>
            <a:r>
              <a:rPr lang="en-US" altLang="zh-CN" sz="1200" kern="1200" dirty="0" err="1" smtClean="0">
                <a:solidFill>
                  <a:schemeClr val="tx1"/>
                </a:solidFill>
                <a:effectLst/>
                <a:latin typeface="+mn-lt"/>
                <a:ea typeface="+mn-ea"/>
                <a:cs typeface="+mn-cs"/>
              </a:rPr>
              <a:t>stl</a:t>
            </a:r>
            <a:r>
              <a:rPr lang="zh-CN" altLang="zh-CN" sz="1200" kern="1200" dirty="0" smtClean="0">
                <a:solidFill>
                  <a:schemeClr val="tx1"/>
                </a:solidFill>
                <a:effectLst/>
                <a:latin typeface="+mn-lt"/>
                <a:ea typeface="+mn-ea"/>
                <a:cs typeface="+mn-cs"/>
              </a:rPr>
              <a:t>文件</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一种为快速原型制造技术服务的三维图形文件格式</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，具体支持的</a:t>
            </a:r>
            <a:r>
              <a:rPr lang="en-US" altLang="zh-CN" sz="1200" kern="1200" dirty="0" smtClean="0">
                <a:solidFill>
                  <a:schemeClr val="tx1"/>
                </a:solidFill>
                <a:effectLst/>
                <a:latin typeface="+mn-lt"/>
                <a:ea typeface="+mn-ea"/>
                <a:cs typeface="+mn-cs"/>
              </a:rPr>
              <a:t>CAD</a:t>
            </a:r>
            <a:r>
              <a:rPr lang="zh-CN" altLang="zh-CN" sz="1200" kern="1200" dirty="0" smtClean="0">
                <a:solidFill>
                  <a:schemeClr val="tx1"/>
                </a:solidFill>
                <a:effectLst/>
                <a:latin typeface="+mn-lt"/>
                <a:ea typeface="+mn-ea"/>
                <a:cs typeface="+mn-cs"/>
              </a:rPr>
              <a:t>文件格式要求请参见相关仿真平台软件的说明。例如如下的实例格式：</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2.23</a:t>
            </a:r>
            <a:r>
              <a:rPr lang="zh-CN" altLang="zh-CN" sz="1200" kern="1200" dirty="0" smtClean="0">
                <a:solidFill>
                  <a:schemeClr val="tx1"/>
                </a:solidFill>
                <a:effectLst/>
                <a:latin typeface="+mn-lt"/>
                <a:ea typeface="+mn-ea"/>
                <a:cs typeface="+mn-cs"/>
              </a:rPr>
              <a:t>是</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官方</a:t>
            </a:r>
            <a:r>
              <a:rPr lang="en-US" altLang="zh-CN" sz="1200" kern="1200" dirty="0" smtClean="0">
                <a:solidFill>
                  <a:schemeClr val="tx1"/>
                </a:solidFill>
                <a:effectLst/>
                <a:latin typeface="+mn-lt"/>
                <a:ea typeface="+mn-ea"/>
                <a:cs typeface="+mn-cs"/>
              </a:rPr>
              <a:t>Wiki</a:t>
            </a:r>
            <a:r>
              <a:rPr lang="zh-CN" altLang="zh-CN" sz="1200" kern="1200" dirty="0" smtClean="0">
                <a:solidFill>
                  <a:schemeClr val="tx1"/>
                </a:solidFill>
                <a:effectLst/>
                <a:latin typeface="+mn-lt"/>
                <a:ea typeface="+mn-ea"/>
                <a:cs typeface="+mn-cs"/>
              </a:rPr>
              <a:t>针对</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的描述图，阐明了</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中</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相关的各个功能包</a:t>
            </a:r>
            <a:r>
              <a:rPr lang="en-US" altLang="zh-CN" sz="1200" kern="1200" dirty="0" smtClean="0">
                <a:solidFill>
                  <a:schemeClr val="tx1"/>
                </a:solidFill>
                <a:effectLst/>
                <a:latin typeface="+mn-lt"/>
                <a:ea typeface="+mn-ea"/>
                <a:cs typeface="+mn-cs"/>
              </a:rPr>
              <a:t>(package)</a:t>
            </a:r>
            <a:r>
              <a:rPr lang="zh-CN" altLang="zh-CN" sz="1200" kern="1200" dirty="0" smtClean="0">
                <a:solidFill>
                  <a:schemeClr val="tx1"/>
                </a:solidFill>
                <a:effectLst/>
                <a:latin typeface="+mn-lt"/>
                <a:ea typeface="+mn-ea"/>
                <a:cs typeface="+mn-cs"/>
              </a:rPr>
              <a:t>的关系。其中</a:t>
            </a:r>
            <a:r>
              <a:rPr lang="en-US" altLang="zh-CN" sz="1200" kern="1200" dirty="0" err="1" smtClean="0">
                <a:solidFill>
                  <a:schemeClr val="tx1"/>
                </a:solidFill>
                <a:effectLst/>
                <a:latin typeface="+mn-lt"/>
                <a:ea typeface="+mn-ea"/>
                <a:cs typeface="+mn-cs"/>
              </a:rPr>
              <a:t>urdf</a:t>
            </a:r>
            <a:r>
              <a:rPr lang="en-US" altLang="zh-CN" sz="1200" kern="1200" dirty="0" smtClean="0">
                <a:solidFill>
                  <a:schemeClr val="tx1"/>
                </a:solidFill>
                <a:effectLst/>
                <a:latin typeface="+mn-lt"/>
                <a:ea typeface="+mn-ea"/>
                <a:cs typeface="+mn-cs"/>
              </a:rPr>
              <a:t>, </a:t>
            </a:r>
            <a:r>
              <a:rPr lang="en-US" altLang="zh-CN" sz="1200" kern="1200" dirty="0" err="1" smtClean="0">
                <a:solidFill>
                  <a:schemeClr val="tx1"/>
                </a:solidFill>
                <a:effectLst/>
                <a:latin typeface="+mn-lt"/>
                <a:ea typeface="+mn-ea"/>
                <a:cs typeface="+mn-cs"/>
              </a:rPr>
              <a:t>urdf_parser_plugin</a:t>
            </a:r>
            <a:r>
              <a:rPr lang="en-US" altLang="zh-CN" sz="1200" kern="1200" dirty="0" smtClean="0">
                <a:solidFill>
                  <a:schemeClr val="tx1"/>
                </a:solidFill>
                <a:effectLst/>
                <a:latin typeface="+mn-lt"/>
                <a:ea typeface="+mn-ea"/>
                <a:cs typeface="+mn-cs"/>
              </a:rPr>
              <a:t>, </a:t>
            </a:r>
            <a:r>
              <a:rPr lang="en-US" altLang="zh-CN" sz="1200" kern="1200" dirty="0" err="1" smtClean="0">
                <a:solidFill>
                  <a:schemeClr val="tx1"/>
                </a:solidFill>
                <a:effectLst/>
                <a:latin typeface="+mn-lt"/>
                <a:ea typeface="+mn-ea"/>
                <a:cs typeface="+mn-cs"/>
              </a:rPr>
              <a:t>collada_parser</a:t>
            </a:r>
            <a:r>
              <a:rPr lang="zh-CN" altLang="zh-CN" sz="1200" kern="1200" dirty="0" smtClean="0">
                <a:solidFill>
                  <a:schemeClr val="tx1"/>
                </a:solidFill>
                <a:effectLst/>
                <a:latin typeface="+mn-lt"/>
                <a:ea typeface="+mn-ea"/>
                <a:cs typeface="+mn-cs"/>
              </a:rPr>
              <a:t>都是</a:t>
            </a:r>
            <a:r>
              <a:rPr lang="en-US" altLang="zh-CN" sz="1200" kern="1200" dirty="0" err="1" smtClean="0">
                <a:solidFill>
                  <a:schemeClr val="tx1"/>
                </a:solidFill>
                <a:effectLst/>
                <a:latin typeface="+mn-lt"/>
                <a:ea typeface="+mn-ea"/>
                <a:cs typeface="+mn-cs"/>
              </a:rPr>
              <a:t>robot_model</a:t>
            </a:r>
            <a:r>
              <a:rPr lang="zh-CN" altLang="zh-CN" sz="1200" kern="1200" dirty="0" smtClean="0">
                <a:solidFill>
                  <a:schemeClr val="tx1"/>
                </a:solidFill>
                <a:effectLst/>
                <a:latin typeface="+mn-lt"/>
                <a:ea typeface="+mn-ea"/>
                <a:cs typeface="+mn-cs"/>
              </a:rPr>
              <a:t>的一部分， 目前已经从</a:t>
            </a:r>
            <a:r>
              <a:rPr lang="en-US" altLang="zh-CN" sz="1200" kern="1200" dirty="0" err="1" smtClean="0">
                <a:solidFill>
                  <a:schemeClr val="tx1"/>
                </a:solidFill>
                <a:effectLst/>
                <a:latin typeface="+mn-lt"/>
                <a:ea typeface="+mn-ea"/>
                <a:cs typeface="+mn-cs"/>
              </a:rPr>
              <a:t>robot_model</a:t>
            </a:r>
            <a:r>
              <a:rPr lang="zh-CN" altLang="zh-CN" sz="1200" kern="1200" dirty="0" smtClean="0">
                <a:solidFill>
                  <a:schemeClr val="tx1"/>
                </a:solidFill>
                <a:effectLst/>
                <a:latin typeface="+mn-lt"/>
                <a:ea typeface="+mn-ea"/>
                <a:cs typeface="+mn-cs"/>
              </a:rPr>
              <a:t>中独立出来了。如果我们需要采用</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对机器人进行建模仿真，可以参照</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中的源代码进行</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的模型解析。</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除了</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起源的</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之外，在</a:t>
            </a:r>
            <a:r>
              <a:rPr lang="en-US" altLang="zh-CN" sz="1200" kern="1200" dirty="0" smtClean="0">
                <a:solidFill>
                  <a:schemeClr val="tx1"/>
                </a:solidFill>
                <a:effectLst/>
                <a:latin typeface="+mn-lt"/>
                <a:ea typeface="+mn-ea"/>
                <a:cs typeface="+mn-cs"/>
              </a:rPr>
              <a:t>Gazebo</a:t>
            </a:r>
            <a:r>
              <a:rPr lang="zh-CN" altLang="zh-CN" sz="1200" kern="1200" dirty="0" smtClean="0">
                <a:solidFill>
                  <a:schemeClr val="tx1"/>
                </a:solidFill>
                <a:effectLst/>
                <a:latin typeface="+mn-lt"/>
                <a:ea typeface="+mn-ea"/>
                <a:cs typeface="+mn-cs"/>
              </a:rPr>
              <a:t>等仿真器中，基于</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的发展，还有着重于物理模拟的</a:t>
            </a:r>
            <a:r>
              <a:rPr lang="en-US" altLang="zh-CN" sz="1200" kern="1200" dirty="0" smtClean="0">
                <a:solidFill>
                  <a:schemeClr val="tx1"/>
                </a:solidFill>
                <a:effectLst/>
                <a:latin typeface="+mn-lt"/>
                <a:ea typeface="+mn-ea"/>
                <a:cs typeface="+mn-cs"/>
              </a:rPr>
              <a:t>SDF</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Simulation Description Format</a:t>
            </a:r>
            <a:r>
              <a:rPr lang="zh-CN" altLang="zh-CN" sz="1200" kern="1200" dirty="0" smtClean="0">
                <a:solidFill>
                  <a:schemeClr val="tx1"/>
                </a:solidFill>
                <a:effectLst/>
                <a:latin typeface="+mn-lt"/>
                <a:ea typeface="+mn-ea"/>
                <a:cs typeface="+mn-cs"/>
              </a:rPr>
              <a:t>）描述文件格式。</a:t>
            </a:r>
            <a:r>
              <a:rPr lang="en-US" altLang="zh-CN" sz="1200" kern="1200" dirty="0" smtClean="0">
                <a:solidFill>
                  <a:schemeClr val="tx1"/>
                </a:solidFill>
                <a:effectLst/>
                <a:latin typeface="+mn-lt"/>
                <a:ea typeface="+mn-ea"/>
                <a:cs typeface="+mn-cs"/>
              </a:rPr>
              <a:t>MJCF</a:t>
            </a:r>
            <a:r>
              <a:rPr lang="zh-CN" altLang="zh-CN" sz="1200" kern="1200" dirty="0" smtClean="0">
                <a:solidFill>
                  <a:schemeClr val="tx1"/>
                </a:solidFill>
                <a:effectLst/>
                <a:latin typeface="+mn-lt"/>
                <a:ea typeface="+mn-ea"/>
                <a:cs typeface="+mn-cs"/>
              </a:rPr>
              <a:t>文件是</a:t>
            </a:r>
            <a:r>
              <a:rPr lang="en-US" altLang="zh-CN" sz="1200" kern="1200" dirty="0" err="1" smtClean="0">
                <a:solidFill>
                  <a:schemeClr val="tx1"/>
                </a:solidFill>
                <a:effectLst/>
                <a:latin typeface="+mn-lt"/>
                <a:ea typeface="+mn-ea"/>
                <a:cs typeface="+mn-cs"/>
              </a:rPr>
              <a:t>MuJoCo</a:t>
            </a:r>
            <a:r>
              <a:rPr lang="zh-CN" altLang="zh-CN" sz="1200" kern="1200" dirty="0" smtClean="0">
                <a:solidFill>
                  <a:schemeClr val="tx1"/>
                </a:solidFill>
                <a:effectLst/>
                <a:latin typeface="+mn-lt"/>
                <a:ea typeface="+mn-ea"/>
                <a:cs typeface="+mn-cs"/>
              </a:rPr>
              <a:t>中</a:t>
            </a:r>
            <a:r>
              <a:rPr lang="en-US" altLang="zh-CN" sz="1200" kern="1200" dirty="0" smtClean="0">
                <a:solidFill>
                  <a:schemeClr val="tx1"/>
                </a:solidFill>
                <a:effectLst/>
                <a:latin typeface="+mn-lt"/>
                <a:ea typeface="+mn-ea"/>
                <a:cs typeface="+mn-cs"/>
              </a:rPr>
              <a:t>XML</a:t>
            </a:r>
            <a:r>
              <a:rPr lang="zh-CN" altLang="zh-CN" sz="1200" kern="1200" dirty="0" smtClean="0">
                <a:solidFill>
                  <a:schemeClr val="tx1"/>
                </a:solidFill>
                <a:effectLst/>
                <a:latin typeface="+mn-lt"/>
                <a:ea typeface="+mn-ea"/>
                <a:cs typeface="+mn-cs"/>
              </a:rPr>
              <a:t>模型，</a:t>
            </a:r>
            <a:r>
              <a:rPr lang="en-US" altLang="zh-CN" sz="1200" kern="1200" dirty="0" err="1" smtClean="0">
                <a:solidFill>
                  <a:schemeClr val="tx1"/>
                </a:solidFill>
                <a:effectLst/>
                <a:latin typeface="+mn-lt"/>
                <a:ea typeface="+mn-ea"/>
                <a:cs typeface="+mn-cs"/>
              </a:rPr>
              <a:t>MuJoCo</a:t>
            </a:r>
            <a:r>
              <a:rPr lang="zh-CN" altLang="zh-CN" sz="1200" kern="1200" dirty="0" smtClean="0">
                <a:solidFill>
                  <a:schemeClr val="tx1"/>
                </a:solidFill>
                <a:effectLst/>
                <a:latin typeface="+mn-lt"/>
                <a:ea typeface="+mn-ea"/>
                <a:cs typeface="+mn-cs"/>
              </a:rPr>
              <a:t>更适合做多关节动力学仿真，它是一个物理引擎，旨在促进机器人技术、生物力学、图形和动画、机器学习以及需要快速准确模拟复杂动力系统领域的研究与开发。</a:t>
            </a:r>
            <a:r>
              <a:rPr lang="en-US" altLang="zh-CN" sz="1200" kern="1200" dirty="0" smtClean="0">
                <a:solidFill>
                  <a:schemeClr val="tx1"/>
                </a:solidFill>
                <a:effectLst/>
                <a:latin typeface="+mn-lt"/>
                <a:ea typeface="+mn-ea"/>
                <a:cs typeface="+mn-cs"/>
              </a:rPr>
              <a:t>MJCF</a:t>
            </a:r>
            <a:r>
              <a:rPr lang="zh-CN" altLang="zh-CN" sz="1200" kern="1200" dirty="0" smtClean="0">
                <a:solidFill>
                  <a:schemeClr val="tx1"/>
                </a:solidFill>
                <a:effectLst/>
                <a:latin typeface="+mn-lt"/>
                <a:ea typeface="+mn-ea"/>
                <a:cs typeface="+mn-cs"/>
              </a:rPr>
              <a:t>除了可以作为</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扩展使用之外，还具有自己的格式以及一些更高级的模拟功能（例如肌腱等）。本章仅介绍了</a:t>
            </a:r>
            <a:r>
              <a:rPr lang="en-US" altLang="zh-CN" sz="1200" kern="1200" dirty="0" smtClean="0">
                <a:solidFill>
                  <a:schemeClr val="tx1"/>
                </a:solidFill>
                <a:effectLst/>
                <a:latin typeface="+mn-lt"/>
                <a:ea typeface="+mn-ea"/>
                <a:cs typeface="+mn-cs"/>
              </a:rPr>
              <a:t>URDF</a:t>
            </a:r>
            <a:r>
              <a:rPr lang="zh-CN" altLang="zh-CN" sz="1200" kern="1200" dirty="0" smtClean="0">
                <a:solidFill>
                  <a:schemeClr val="tx1"/>
                </a:solidFill>
                <a:effectLst/>
                <a:latin typeface="+mn-lt"/>
                <a:ea typeface="+mn-ea"/>
                <a:cs typeface="+mn-cs"/>
              </a:rPr>
              <a:t>的主要格式说明，详细的格式及用法请参见有关的软件说明。</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lvl="0"/>
            <a:r>
              <a:rPr lang="zh-CN" altLang="zh-CN" sz="1200" kern="1200" dirty="0" smtClean="0">
                <a:solidFill>
                  <a:schemeClr val="tx1"/>
                </a:solidFill>
                <a:effectLst/>
                <a:latin typeface="+mn-lt"/>
                <a:ea typeface="+mn-ea"/>
                <a:cs typeface="+mn-cs"/>
              </a:rPr>
              <a:t>整体性原则。机器人系统的设计包括机构、控制、传感等多方面的设计，在设计时需要首先考虑整体性原则。目前大多数的机器人还是为某种专业用途设计的，缺乏通用的机器人系统架构或模块化设计准则，解决此问题的一种解决方案是采用统一的系统架构，不同的机器人系统之间可以共享信息，提高系统软硬件的可重复使用性，并可对特定任务要求进行可扩展和可定制的调整。</a:t>
            </a:r>
          </a:p>
          <a:p>
            <a:pPr lvl="0"/>
            <a:r>
              <a:rPr lang="zh-CN" altLang="zh-CN" sz="1200" kern="1200" dirty="0" smtClean="0">
                <a:solidFill>
                  <a:schemeClr val="tx1"/>
                </a:solidFill>
                <a:effectLst/>
                <a:latin typeface="+mn-lt"/>
                <a:ea typeface="+mn-ea"/>
                <a:cs typeface="+mn-cs"/>
              </a:rPr>
              <a:t>通用性原则。选择通用的、可互换的组件进行设计。目前在机器人领域，最早出现标准化、可互换的零部件为驱动电机以及机器人专用减速器。采用标准化、可互换的零部件进行机器人系统的设计，不仅可以降低机器人系统设计的成本，也可以加速机器人系统的设计进度。除此之外，一些通用的组件库也可以大大降低机器人系统设计的难度，避免重复</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造轮子</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实物设计与仿真并行性原则。针对复杂的机器人系统，应尽量选择合适的仿真平台，在进行系统机构设计的同时，并行进行系统的建模仿真，在强大的物理仿真环境下对虚拟的机器人系统进行测试，确保虚拟系统和物理系统能够保持较好的一致性。</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机器人系统的设计一般可以分成五个主要的步骤。</a:t>
            </a:r>
          </a:p>
          <a:p>
            <a:pPr lvl="0"/>
            <a:r>
              <a:rPr lang="zh-CN" altLang="zh-CN" sz="1200" kern="1200" dirty="0" smtClean="0">
                <a:solidFill>
                  <a:schemeClr val="tx1"/>
                </a:solidFill>
                <a:effectLst/>
                <a:latin typeface="+mn-lt"/>
                <a:ea typeface="+mn-ea"/>
                <a:cs typeface="+mn-cs"/>
              </a:rPr>
              <a:t>需求分析</a:t>
            </a:r>
          </a:p>
          <a:p>
            <a:r>
              <a:rPr lang="zh-CN" altLang="zh-CN" sz="1200" kern="1200" dirty="0" smtClean="0">
                <a:solidFill>
                  <a:schemeClr val="tx1"/>
                </a:solidFill>
                <a:effectLst/>
                <a:latin typeface="+mn-lt"/>
                <a:ea typeface="+mn-ea"/>
                <a:cs typeface="+mn-cs"/>
              </a:rPr>
              <a:t>需求分析阶段主要由设计人员与需求方协商分析机器人系统的要求，然后从功能及子功能的角度出发，根据系统的需求和资源，确定机器人采用的系统架构以及需要实现的性能参数，列出可以实现所有功能的功能载体，根据系统的约束条件，制定系统的设计规范。</a:t>
            </a:r>
          </a:p>
          <a:p>
            <a:r>
              <a:rPr lang="zh-CN" altLang="zh-CN" sz="1200" kern="1200" dirty="0" smtClean="0">
                <a:solidFill>
                  <a:schemeClr val="tx1"/>
                </a:solidFill>
                <a:effectLst/>
                <a:latin typeface="+mn-lt"/>
                <a:ea typeface="+mn-ea"/>
                <a:cs typeface="+mn-cs"/>
              </a:rPr>
              <a:t>机器人系统的功能指需要通过设计一定的对象来满足的一般任务。例如：螺丝紧固、目标分拣等功能。功能载体定义为可以实现某个功能的组件或组装件，例如可以实现螺丝紧固或目标分拣的机器人末端夹具。设计规范指设计机器人系统需要满足的定量条件，例如：搬运机器人的工作范围、搬运工件的重量以及流水线的节拍速度等约束条件。</a:t>
            </a:r>
          </a:p>
          <a:p>
            <a:pPr lvl="0"/>
            <a:r>
              <a:rPr lang="zh-CN" altLang="zh-CN" sz="1200" kern="1200" dirty="0" smtClean="0">
                <a:solidFill>
                  <a:schemeClr val="tx1"/>
                </a:solidFill>
                <a:effectLst/>
                <a:latin typeface="+mn-lt"/>
                <a:ea typeface="+mn-ea"/>
                <a:cs typeface="+mn-cs"/>
              </a:rPr>
              <a:t>概念设计</a:t>
            </a:r>
          </a:p>
          <a:p>
            <a:r>
              <a:rPr lang="zh-CN" altLang="zh-CN" sz="1200" kern="1200" dirty="0" smtClean="0">
                <a:solidFill>
                  <a:schemeClr val="tx1"/>
                </a:solidFill>
                <a:effectLst/>
                <a:latin typeface="+mn-lt"/>
                <a:ea typeface="+mn-ea"/>
                <a:cs typeface="+mn-cs"/>
              </a:rPr>
              <a:t>对机器人系统架构、性能参数进行分析，并确定了设计规范之后，在概念设计阶段，需要将机器人系统的功能分解至合适的细粒度，然后对于每一个子功能，找出多种实现手段或可替代方案，最后对这些对比方案进行彻底的分析和审查，并对候选方案进行时间进度与预算成本等方面的审查，直到确定一组合适方案作为最有可能满足所有功能和设计规范的候选解决方案。</a:t>
            </a:r>
          </a:p>
          <a:p>
            <a:pPr lvl="0"/>
            <a:r>
              <a:rPr lang="zh-CN" altLang="zh-CN" sz="1200" kern="1200" dirty="0" smtClean="0">
                <a:solidFill>
                  <a:schemeClr val="tx1"/>
                </a:solidFill>
                <a:effectLst/>
                <a:latin typeface="+mn-lt"/>
                <a:ea typeface="+mn-ea"/>
                <a:cs typeface="+mn-cs"/>
              </a:rPr>
              <a:t>实施方案设计</a:t>
            </a:r>
          </a:p>
          <a:p>
            <a:r>
              <a:rPr lang="zh-CN" altLang="zh-CN" sz="1200" kern="1200" dirty="0" smtClean="0">
                <a:solidFill>
                  <a:schemeClr val="tx1"/>
                </a:solidFill>
                <a:effectLst/>
                <a:latin typeface="+mn-lt"/>
                <a:ea typeface="+mn-ea"/>
                <a:cs typeface="+mn-cs"/>
              </a:rPr>
              <a:t>在实施方案设计阶段，一般以草图和初步设计图的形式给出概念设计阶段确定的备选方案，然后制定设计标准，以确定哪些替代方案最有可能满足需求。例如，在串联型机械臂的设计中，可以根据需求分析与概念设计之后确定机械臂自由度、关节类型、连杆长度、负载等参数模型，对机械臂的运动学，包括工作空间、奇异位形甚至动力学等进行仿真分析，生成所选方案的参数模型，并对该模型进行分析与优化设计。</a:t>
            </a:r>
          </a:p>
          <a:p>
            <a:pPr lvl="0"/>
            <a:r>
              <a:rPr lang="zh-CN" altLang="zh-CN" sz="1200" kern="1200" dirty="0" smtClean="0">
                <a:solidFill>
                  <a:schemeClr val="tx1"/>
                </a:solidFill>
                <a:effectLst/>
                <a:latin typeface="+mn-lt"/>
                <a:ea typeface="+mn-ea"/>
                <a:cs typeface="+mn-cs"/>
              </a:rPr>
              <a:t>详细设计</a:t>
            </a:r>
          </a:p>
          <a:p>
            <a:r>
              <a:rPr lang="zh-CN" altLang="zh-CN" sz="1200" kern="1200" dirty="0" smtClean="0">
                <a:solidFill>
                  <a:schemeClr val="tx1"/>
                </a:solidFill>
                <a:effectLst/>
                <a:latin typeface="+mn-lt"/>
                <a:ea typeface="+mn-ea"/>
                <a:cs typeface="+mn-cs"/>
              </a:rPr>
              <a:t>确定实施方案后，即可进行详细设计。在详细设计阶段，机器人控制系统的设计一般优先于机构设计。机器人控制系统的设计详见第</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章的描述，控制系统设计主要包含控制方式的选择以及驱动方式选择。控制方式有集中式控制、分布式控制等方式。所谓集中式控制方式，即将所有资源集中在一个控制器上，在一个控制器上进行机器人整体的作业控制、运动控制以及所有关节的控制。而分布式控制方式，不同的控制器负责实现不同的功能，例如机器人的每个关节都有独立的控制器，运动控制器和作业控制器也可以不同，控制器之间通过总线（例如</a:t>
            </a:r>
            <a:r>
              <a:rPr lang="en-US" altLang="zh-CN" sz="1200" kern="1200" dirty="0" smtClean="0">
                <a:solidFill>
                  <a:schemeClr val="tx1"/>
                </a:solidFill>
                <a:effectLst/>
                <a:latin typeface="+mn-lt"/>
                <a:ea typeface="+mn-ea"/>
                <a:cs typeface="+mn-cs"/>
              </a:rPr>
              <a:t>RS485</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CAN</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EtherCAT</a:t>
            </a:r>
            <a:r>
              <a:rPr lang="zh-CN" altLang="zh-CN" sz="1200" kern="1200" dirty="0" smtClean="0">
                <a:solidFill>
                  <a:schemeClr val="tx1"/>
                </a:solidFill>
                <a:effectLst/>
                <a:latin typeface="+mn-lt"/>
                <a:ea typeface="+mn-ea"/>
                <a:cs typeface="+mn-cs"/>
              </a:rPr>
              <a:t>等总线）进行通信。目前较为成熟的机器人驱动方式主要有电动、液压、气动三种方式，机器人的驱动方式可根据机器人的作业环境、负载、体积等要求进行选择。一般来说液压驱动的负载最大、气动次之、电动最小。目前通用型的工业机器人，电驱动方式最为常用，又分为伺服电机、步进电机以及普通电机等，可根据电源类型，选择交流电机或直流电机。</a:t>
            </a:r>
          </a:p>
          <a:p>
            <a:r>
              <a:rPr lang="zh-CN" altLang="zh-CN" sz="1200" kern="1200" dirty="0" smtClean="0">
                <a:solidFill>
                  <a:schemeClr val="tx1"/>
                </a:solidFill>
                <a:effectLst/>
                <a:latin typeface="+mn-lt"/>
                <a:ea typeface="+mn-ea"/>
                <a:cs typeface="+mn-cs"/>
              </a:rPr>
              <a:t>机器人系统的功能，除了机构的限制之外，更多体现在控制系统的软件上面。机器人控制系统的软件开发可在虚拟仿真平台上并行进行。可在仿真平台软件上对机器人系统进行建模，并进行软件开发与仿真控制。</a:t>
            </a:r>
          </a:p>
          <a:p>
            <a:r>
              <a:rPr lang="zh-CN" altLang="zh-CN" sz="1200" kern="1200" dirty="0" smtClean="0">
                <a:solidFill>
                  <a:schemeClr val="tx1"/>
                </a:solidFill>
                <a:effectLst/>
                <a:latin typeface="+mn-lt"/>
                <a:ea typeface="+mn-ea"/>
                <a:cs typeface="+mn-cs"/>
              </a:rPr>
              <a:t>以工业机器人为例，机器人系统的机构设计包括底座、关节、连杆、末端执行器的设计，甚至还包括行走机构设计。机器人的机构设计较为复杂，需要设置专门的课程，本教材并不包含这部分。</a:t>
            </a:r>
          </a:p>
          <a:p>
            <a:r>
              <a:rPr lang="zh-CN" altLang="zh-CN" sz="1200" kern="1200" dirty="0" smtClean="0">
                <a:solidFill>
                  <a:schemeClr val="tx1"/>
                </a:solidFill>
                <a:effectLst/>
                <a:latin typeface="+mn-lt"/>
                <a:ea typeface="+mn-ea"/>
                <a:cs typeface="+mn-cs"/>
              </a:rPr>
              <a:t>在详细设计阶段，需要确定所有的零部件，这些零部件要么重新设计，要么从标准件目录中进行选型。在详细设计阶段，需要形成一份设计报告，其中应含：需求分析总结、备选的所有解决方案、选定解决方案的详尽描述、制造图、表以及预算估计等内容。</a:t>
            </a:r>
          </a:p>
          <a:p>
            <a:pPr lvl="0"/>
            <a:r>
              <a:rPr lang="zh-CN" altLang="zh-CN" sz="1200" kern="1200" dirty="0" smtClean="0">
                <a:solidFill>
                  <a:schemeClr val="tx1"/>
                </a:solidFill>
                <a:effectLst/>
                <a:latin typeface="+mn-lt"/>
                <a:ea typeface="+mn-ea"/>
                <a:cs typeface="+mn-cs"/>
              </a:rPr>
              <a:t>制造、安装、软硬件联调</a:t>
            </a:r>
          </a:p>
          <a:p>
            <a:r>
              <a:rPr lang="zh-CN" altLang="zh-CN" sz="1200" kern="1200" dirty="0" smtClean="0">
                <a:solidFill>
                  <a:schemeClr val="tx1"/>
                </a:solidFill>
                <a:effectLst/>
                <a:latin typeface="+mn-lt"/>
                <a:ea typeface="+mn-ea"/>
                <a:cs typeface="+mn-cs"/>
              </a:rPr>
              <a:t>在详细设计完成之后，可经过仿真测试，确认系统设计无误之后，即可进行非标件的制造、标准件的选购，然后进行各子系统的调试、总体安装以及测试。在机器人系统的实物组装完成之后，可以进行软硬件的联调。</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是一个机器人框架，包含了大量开发工具、功能库代码和接口协议，旨在降低机器人开发这一过程的难度与复杂度。</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设计者将</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表述为</a:t>
            </a:r>
            <a:r>
              <a:rPr lang="en-US" altLang="zh-CN" sz="1200" kern="1200" dirty="0" smtClean="0">
                <a:solidFill>
                  <a:schemeClr val="tx1"/>
                </a:solidFill>
                <a:effectLst/>
                <a:latin typeface="+mn-lt"/>
                <a:ea typeface="+mn-ea"/>
                <a:cs typeface="+mn-cs"/>
              </a:rPr>
              <a:t>“ROS = Plumbing + Tools + Capabilities + Community”</a:t>
            </a:r>
            <a:r>
              <a:rPr lang="zh-CN" altLang="zh-CN" sz="1200" kern="1200" dirty="0" smtClean="0">
                <a:solidFill>
                  <a:schemeClr val="tx1"/>
                </a:solidFill>
                <a:effectLst/>
                <a:latin typeface="+mn-lt"/>
                <a:ea typeface="+mn-ea"/>
                <a:cs typeface="+mn-cs"/>
              </a:rPr>
              <a:t>，即</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是通讯机制、工具软件包、机器人技能以及机器人社区的集合体，如图</a:t>
            </a:r>
            <a:r>
              <a:rPr lang="en-US" altLang="zh-CN" sz="1200" kern="1200" dirty="0" smtClean="0">
                <a:solidFill>
                  <a:schemeClr val="tx1"/>
                </a:solidFill>
                <a:effectLst/>
                <a:latin typeface="+mn-lt"/>
                <a:ea typeface="+mn-ea"/>
                <a:cs typeface="+mn-cs"/>
              </a:rPr>
              <a:t>2.30</a:t>
            </a:r>
            <a:r>
              <a:rPr lang="zh-CN" altLang="zh-CN" sz="1200" kern="1200" dirty="0" smtClean="0">
                <a:solidFill>
                  <a:schemeClr val="tx1"/>
                </a:solidFill>
                <a:effectLst/>
                <a:latin typeface="+mn-lt"/>
                <a:ea typeface="+mn-ea"/>
                <a:cs typeface="+mn-cs"/>
              </a:rPr>
              <a:t>所示。这四部分的特点如下。</a:t>
            </a:r>
          </a:p>
          <a:p>
            <a:pPr lvl="0"/>
            <a:r>
              <a:rPr lang="zh-CN" altLang="zh-CN" sz="1200" kern="1200" dirty="0" smtClean="0">
                <a:solidFill>
                  <a:schemeClr val="tx1"/>
                </a:solidFill>
                <a:effectLst/>
                <a:latin typeface="+mn-lt"/>
                <a:ea typeface="+mn-ea"/>
                <a:cs typeface="+mn-cs"/>
              </a:rPr>
              <a:t>通信机制：点对点的分布式通信机制是</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的核心，节点间可以执行若干种类型的通信，包括基于话题（</a:t>
            </a:r>
            <a:r>
              <a:rPr lang="en-US" altLang="zh-CN" sz="1200" kern="1200" dirty="0" smtClean="0">
                <a:solidFill>
                  <a:schemeClr val="tx1"/>
                </a:solidFill>
                <a:effectLst/>
                <a:latin typeface="+mn-lt"/>
                <a:ea typeface="+mn-ea"/>
                <a:cs typeface="+mn-cs"/>
              </a:rPr>
              <a:t>Topic</a:t>
            </a:r>
            <a:r>
              <a:rPr lang="zh-CN" altLang="zh-CN" sz="1200" kern="1200" dirty="0" smtClean="0">
                <a:solidFill>
                  <a:schemeClr val="tx1"/>
                </a:solidFill>
                <a:effectLst/>
                <a:latin typeface="+mn-lt"/>
                <a:ea typeface="+mn-ea"/>
                <a:cs typeface="+mn-cs"/>
              </a:rPr>
              <a:t>）的异步数据流通信，基于服务（</a:t>
            </a:r>
            <a:r>
              <a:rPr lang="en-US" altLang="zh-CN" sz="1200" kern="1200" dirty="0" smtClean="0">
                <a:solidFill>
                  <a:schemeClr val="tx1"/>
                </a:solidFill>
                <a:effectLst/>
                <a:latin typeface="+mn-lt"/>
                <a:ea typeface="+mn-ea"/>
                <a:cs typeface="+mn-cs"/>
              </a:rPr>
              <a:t>Service</a:t>
            </a:r>
            <a:r>
              <a:rPr lang="zh-CN" altLang="zh-CN" sz="1200" kern="1200" dirty="0" smtClean="0">
                <a:solidFill>
                  <a:schemeClr val="tx1"/>
                </a:solidFill>
                <a:effectLst/>
                <a:latin typeface="+mn-lt"/>
                <a:ea typeface="+mn-ea"/>
                <a:cs typeface="+mn-cs"/>
              </a:rPr>
              <a:t>）的同步数据流通信，还有参数服务器上的数据存储等。</a:t>
            </a:r>
          </a:p>
          <a:p>
            <a:pPr lvl="0"/>
            <a:r>
              <a:rPr lang="zh-CN" altLang="zh-CN" sz="1200" kern="1200" dirty="0" smtClean="0">
                <a:solidFill>
                  <a:schemeClr val="tx1"/>
                </a:solidFill>
                <a:effectLst/>
                <a:latin typeface="+mn-lt"/>
                <a:ea typeface="+mn-ea"/>
                <a:cs typeface="+mn-cs"/>
              </a:rPr>
              <a:t>工具软件包：</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提供了</a:t>
            </a:r>
            <a:r>
              <a:rPr lang="en-US" altLang="zh-CN" sz="1200" kern="1200" dirty="0" err="1" smtClean="0">
                <a:solidFill>
                  <a:schemeClr val="tx1"/>
                </a:solidFill>
                <a:effectLst/>
                <a:latin typeface="+mn-lt"/>
                <a:ea typeface="+mn-ea"/>
                <a:cs typeface="+mn-cs"/>
              </a:rPr>
              <a:t>Rviz</a:t>
            </a:r>
            <a:r>
              <a:rPr lang="zh-CN" altLang="zh-CN" sz="1200" kern="1200" dirty="0" smtClean="0">
                <a:solidFill>
                  <a:schemeClr val="tx1"/>
                </a:solidFill>
                <a:effectLst/>
                <a:latin typeface="+mn-lt"/>
                <a:ea typeface="+mn-ea"/>
                <a:cs typeface="+mn-cs"/>
              </a:rPr>
              <a:t>（三维可视化平台）、</a:t>
            </a:r>
            <a:r>
              <a:rPr lang="en-US" altLang="zh-CN" sz="1200" kern="1200" dirty="0" err="1" smtClean="0">
                <a:solidFill>
                  <a:schemeClr val="tx1"/>
                </a:solidFill>
                <a:effectLst/>
                <a:latin typeface="+mn-lt"/>
                <a:ea typeface="+mn-ea"/>
                <a:cs typeface="+mn-cs"/>
              </a:rPr>
              <a:t>Qt</a:t>
            </a:r>
            <a:r>
              <a:rPr lang="zh-CN" altLang="zh-CN" sz="1200" kern="1200" dirty="0" smtClean="0">
                <a:solidFill>
                  <a:schemeClr val="tx1"/>
                </a:solidFill>
                <a:effectLst/>
                <a:latin typeface="+mn-lt"/>
                <a:ea typeface="+mn-ea"/>
                <a:cs typeface="+mn-cs"/>
              </a:rPr>
              <a:t>工具箱、命令行工具、</a:t>
            </a:r>
            <a:r>
              <a:rPr lang="en-US" altLang="zh-CN" sz="1200" kern="1200" dirty="0" smtClean="0">
                <a:solidFill>
                  <a:schemeClr val="tx1"/>
                </a:solidFill>
                <a:effectLst/>
                <a:latin typeface="+mn-lt"/>
                <a:ea typeface="+mn-ea"/>
                <a:cs typeface="+mn-cs"/>
              </a:rPr>
              <a:t>Gazebo</a:t>
            </a:r>
            <a:r>
              <a:rPr lang="zh-CN" altLang="zh-CN" sz="1200" kern="1200" dirty="0" smtClean="0">
                <a:solidFill>
                  <a:schemeClr val="tx1"/>
                </a:solidFill>
                <a:effectLst/>
                <a:latin typeface="+mn-lt"/>
                <a:ea typeface="+mn-ea"/>
                <a:cs typeface="+mn-cs"/>
              </a:rPr>
              <a:t>（仿真软件）、</a:t>
            </a:r>
            <a:r>
              <a:rPr lang="en-US" altLang="zh-CN" sz="1200" kern="1200" dirty="0" smtClean="0">
                <a:solidFill>
                  <a:schemeClr val="tx1"/>
                </a:solidFill>
                <a:effectLst/>
                <a:latin typeface="+mn-lt"/>
                <a:ea typeface="+mn-ea"/>
                <a:cs typeface="+mn-cs"/>
              </a:rPr>
              <a:t>MATLAB</a:t>
            </a:r>
            <a:r>
              <a:rPr lang="zh-CN" altLang="zh-CN" sz="1200" kern="1200" dirty="0" smtClean="0">
                <a:solidFill>
                  <a:schemeClr val="tx1"/>
                </a:solidFill>
                <a:effectLst/>
                <a:latin typeface="+mn-lt"/>
                <a:ea typeface="+mn-ea"/>
                <a:cs typeface="+mn-cs"/>
              </a:rPr>
              <a:t>工具包以及大量的第三方工具。</a:t>
            </a:r>
          </a:p>
          <a:p>
            <a:pPr lvl="0"/>
            <a:r>
              <a:rPr lang="zh-CN" altLang="zh-CN" sz="1200" kern="1200" dirty="0" smtClean="0">
                <a:solidFill>
                  <a:schemeClr val="tx1"/>
                </a:solidFill>
                <a:effectLst/>
                <a:latin typeface="+mn-lt"/>
                <a:ea typeface="+mn-ea"/>
                <a:cs typeface="+mn-cs"/>
              </a:rPr>
              <a:t>机器人技能：</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提供了机器人系统中常用硬件的</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驱动包，如</a:t>
            </a:r>
            <a:r>
              <a:rPr lang="en-US" altLang="zh-CN" sz="1200" kern="1200" dirty="0" smtClean="0">
                <a:solidFill>
                  <a:schemeClr val="tx1"/>
                </a:solidFill>
                <a:effectLst/>
                <a:latin typeface="+mn-lt"/>
                <a:ea typeface="+mn-ea"/>
                <a:cs typeface="+mn-cs"/>
              </a:rPr>
              <a:t>RGBD</a:t>
            </a:r>
            <a:r>
              <a:rPr lang="zh-CN" altLang="zh-CN" sz="1200" kern="1200" dirty="0" smtClean="0">
                <a:solidFill>
                  <a:schemeClr val="tx1"/>
                </a:solidFill>
                <a:effectLst/>
                <a:latin typeface="+mn-lt"/>
                <a:ea typeface="+mn-ea"/>
                <a:cs typeface="+mn-cs"/>
              </a:rPr>
              <a:t>相机、激光雷达、机械臂、末端执行器等；提供了机器人上层功能包，如</a:t>
            </a:r>
            <a:r>
              <a:rPr lang="en-US" altLang="zh-CN" sz="1200" kern="1200" dirty="0" smtClean="0">
                <a:solidFill>
                  <a:schemeClr val="tx1"/>
                </a:solidFill>
                <a:effectLst/>
                <a:latin typeface="+mn-lt"/>
                <a:ea typeface="+mn-ea"/>
                <a:cs typeface="+mn-cs"/>
              </a:rPr>
              <a:t>SLAM</a:t>
            </a:r>
            <a:r>
              <a:rPr lang="zh-CN" altLang="zh-CN" sz="1200" kern="1200" dirty="0" smtClean="0">
                <a:solidFill>
                  <a:schemeClr val="tx1"/>
                </a:solidFill>
                <a:effectLst/>
                <a:latin typeface="+mn-lt"/>
                <a:ea typeface="+mn-ea"/>
                <a:cs typeface="+mn-cs"/>
              </a:rPr>
              <a:t>（即时定位与制图）、物体识别、路径规划、运动规划等；提供了一些便于开发的组件，如</a:t>
            </a:r>
            <a:r>
              <a:rPr lang="en-US" altLang="zh-CN" sz="1200" kern="1200" dirty="0" smtClean="0">
                <a:solidFill>
                  <a:schemeClr val="tx1"/>
                </a:solidFill>
                <a:effectLst/>
                <a:latin typeface="+mn-lt"/>
                <a:ea typeface="+mn-ea"/>
                <a:cs typeface="+mn-cs"/>
              </a:rPr>
              <a:t>TF</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Transformer</a:t>
            </a:r>
            <a:r>
              <a:rPr lang="zh-CN" altLang="zh-CN" sz="1200" kern="1200" dirty="0" smtClean="0">
                <a:solidFill>
                  <a:schemeClr val="tx1"/>
                </a:solidFill>
                <a:effectLst/>
                <a:latin typeface="+mn-lt"/>
                <a:ea typeface="+mn-ea"/>
                <a:cs typeface="+mn-cs"/>
              </a:rPr>
              <a:t>）坐标系转换、</a:t>
            </a:r>
            <a:r>
              <a:rPr lang="en-US" altLang="zh-CN" sz="1200" kern="1200" dirty="0" err="1" smtClean="0">
                <a:solidFill>
                  <a:schemeClr val="tx1"/>
                </a:solidFill>
                <a:effectLst/>
                <a:latin typeface="+mn-lt"/>
                <a:ea typeface="+mn-ea"/>
                <a:cs typeface="+mn-cs"/>
              </a:rPr>
              <a:t>Actionlib</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Message</a:t>
            </a:r>
            <a:r>
              <a:rPr lang="zh-CN" altLang="zh-CN" sz="1200" kern="1200" dirty="0" smtClean="0">
                <a:solidFill>
                  <a:schemeClr val="tx1"/>
                </a:solidFill>
                <a:effectLst/>
                <a:latin typeface="+mn-lt"/>
                <a:ea typeface="+mn-ea"/>
                <a:cs typeface="+mn-cs"/>
              </a:rPr>
              <a:t>等。</a:t>
            </a:r>
          </a:p>
          <a:p>
            <a:pPr lvl="0"/>
            <a:r>
              <a:rPr lang="zh-CN" altLang="zh-CN" sz="1200" kern="1200" dirty="0" smtClean="0">
                <a:solidFill>
                  <a:schemeClr val="tx1"/>
                </a:solidFill>
                <a:effectLst/>
                <a:latin typeface="+mn-lt"/>
                <a:ea typeface="+mn-ea"/>
                <a:cs typeface="+mn-cs"/>
              </a:rPr>
              <a:t>机器人社区：国内外常用的机器人平台大部分都已经支持</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系统，并将相应的软件包发布到了</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机器人社区，为机器人硬件设计参考、辅助机器人原型搭建、基于应用功能包的二次开发、各种算法验证以及机器人系统学习提供了便利。</a:t>
            </a:r>
          </a:p>
          <a:p>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项目的初衷是为了给科研机器人</a:t>
            </a:r>
            <a:r>
              <a:rPr lang="en-US" altLang="zh-CN" sz="1200" kern="1200" dirty="0" smtClean="0">
                <a:solidFill>
                  <a:schemeClr val="tx1"/>
                </a:solidFill>
                <a:effectLst/>
                <a:latin typeface="+mn-lt"/>
                <a:ea typeface="+mn-ea"/>
                <a:cs typeface="+mn-cs"/>
              </a:rPr>
              <a:t>Willow Garage PR2</a:t>
            </a:r>
            <a:r>
              <a:rPr lang="zh-CN" altLang="zh-CN" sz="1200" kern="1200" dirty="0" smtClean="0">
                <a:solidFill>
                  <a:schemeClr val="tx1"/>
                </a:solidFill>
                <a:effectLst/>
                <a:latin typeface="+mn-lt"/>
                <a:ea typeface="+mn-ea"/>
                <a:cs typeface="+mn-cs"/>
              </a:rPr>
              <a:t>提供一个开发环境。但随着</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开始广泛应用于各类智能系统，其原来的功能设计已经不能满足一些智能系统对于某些性能（如实时性、安全性、可移植性、多机器人协同等）的需求。为了满足各类机器人系统的需求，</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开发者团队推出了</a:t>
            </a:r>
            <a:r>
              <a:rPr lang="en-US" altLang="zh-CN" sz="1200" kern="1200" dirty="0" smtClean="0">
                <a:solidFill>
                  <a:schemeClr val="tx1"/>
                </a:solidFill>
                <a:effectLst/>
                <a:latin typeface="+mn-lt"/>
                <a:ea typeface="+mn-ea"/>
                <a:cs typeface="+mn-cs"/>
              </a:rPr>
              <a:t>ROS 2</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图</a:t>
            </a:r>
            <a:r>
              <a:rPr lang="en-US" altLang="zh-CN" sz="1200" kern="1200" dirty="0" smtClean="0">
                <a:solidFill>
                  <a:schemeClr val="tx1"/>
                </a:solidFill>
                <a:effectLst/>
                <a:latin typeface="+mn-lt"/>
                <a:ea typeface="+mn-ea"/>
                <a:cs typeface="+mn-cs"/>
              </a:rPr>
              <a:t>2.31</a:t>
            </a:r>
            <a:r>
              <a:rPr lang="zh-CN" altLang="zh-CN" sz="1200" kern="1200" dirty="0" smtClean="0">
                <a:solidFill>
                  <a:schemeClr val="tx1"/>
                </a:solidFill>
                <a:effectLst/>
                <a:latin typeface="+mn-lt"/>
                <a:ea typeface="+mn-ea"/>
                <a:cs typeface="+mn-cs"/>
              </a:rPr>
              <a:t>是</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ROS 2</a:t>
            </a:r>
            <a:r>
              <a:rPr lang="zh-CN" altLang="zh-CN" sz="1200" kern="1200" dirty="0" smtClean="0">
                <a:solidFill>
                  <a:schemeClr val="tx1"/>
                </a:solidFill>
                <a:effectLst/>
                <a:latin typeface="+mn-lt"/>
                <a:ea typeface="+mn-ea"/>
                <a:cs typeface="+mn-cs"/>
              </a:rPr>
              <a:t>的系统架构对比。</a:t>
            </a:r>
            <a:r>
              <a:rPr lang="en-US" altLang="zh-CN" sz="1200" kern="1200" dirty="0" smtClean="0">
                <a:solidFill>
                  <a:schemeClr val="tx1"/>
                </a:solidFill>
                <a:effectLst/>
                <a:latin typeface="+mn-lt"/>
                <a:ea typeface="+mn-ea"/>
                <a:cs typeface="+mn-cs"/>
              </a:rPr>
              <a:t>ROS2</a:t>
            </a:r>
            <a:r>
              <a:rPr lang="zh-CN" altLang="zh-CN" sz="1200" kern="1200" dirty="0" smtClean="0">
                <a:solidFill>
                  <a:schemeClr val="tx1"/>
                </a:solidFill>
                <a:effectLst/>
                <a:latin typeface="+mn-lt"/>
                <a:ea typeface="+mn-ea"/>
                <a:cs typeface="+mn-cs"/>
              </a:rPr>
              <a:t>相对于</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的改进主要体现在以下几点。</a:t>
            </a:r>
          </a:p>
          <a:p>
            <a:pPr lvl="0"/>
            <a:r>
              <a:rPr lang="zh-CN" altLang="zh-CN" sz="1200" kern="1200" dirty="0" smtClean="0">
                <a:solidFill>
                  <a:schemeClr val="tx1"/>
                </a:solidFill>
                <a:effectLst/>
                <a:latin typeface="+mn-lt"/>
                <a:ea typeface="+mn-ea"/>
                <a:cs typeface="+mn-cs"/>
              </a:rPr>
              <a:t>进程管理：在</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中，需要开启中央节点管理器</a:t>
            </a:r>
            <a:r>
              <a:rPr lang="en-US" altLang="zh-CN" sz="1200" kern="1200" dirty="0" smtClean="0">
                <a:solidFill>
                  <a:schemeClr val="tx1"/>
                </a:solidFill>
                <a:effectLst/>
                <a:latin typeface="+mn-lt"/>
                <a:ea typeface="+mn-ea"/>
                <a:cs typeface="+mn-cs"/>
              </a:rPr>
              <a:t>Master</a:t>
            </a:r>
            <a:r>
              <a:rPr lang="zh-CN" altLang="zh-CN" sz="1200" kern="1200" dirty="0" smtClean="0">
                <a:solidFill>
                  <a:schemeClr val="tx1"/>
                </a:solidFill>
                <a:effectLst/>
                <a:latin typeface="+mn-lt"/>
                <a:ea typeface="+mn-ea"/>
                <a:cs typeface="+mn-cs"/>
              </a:rPr>
              <a:t>统一管理所有节点。如果</a:t>
            </a:r>
            <a:r>
              <a:rPr lang="en-US" altLang="zh-CN" sz="1200" kern="1200" dirty="0" smtClean="0">
                <a:solidFill>
                  <a:schemeClr val="tx1"/>
                </a:solidFill>
                <a:effectLst/>
                <a:latin typeface="+mn-lt"/>
                <a:ea typeface="+mn-ea"/>
                <a:cs typeface="+mn-cs"/>
              </a:rPr>
              <a:t>Master</a:t>
            </a:r>
            <a:r>
              <a:rPr lang="zh-CN" altLang="zh-CN" sz="1200" kern="1200" dirty="0" smtClean="0">
                <a:solidFill>
                  <a:schemeClr val="tx1"/>
                </a:solidFill>
                <a:effectLst/>
                <a:latin typeface="+mn-lt"/>
                <a:ea typeface="+mn-ea"/>
                <a:cs typeface="+mn-cs"/>
              </a:rPr>
              <a:t>节点出现故障，将严重影响</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系统功能。而在</a:t>
            </a:r>
            <a:r>
              <a:rPr lang="en-US" altLang="zh-CN" sz="1200" kern="1200" dirty="0" smtClean="0">
                <a:solidFill>
                  <a:schemeClr val="tx1"/>
                </a:solidFill>
                <a:effectLst/>
                <a:latin typeface="+mn-lt"/>
                <a:ea typeface="+mn-ea"/>
                <a:cs typeface="+mn-cs"/>
              </a:rPr>
              <a:t>ROS  2</a:t>
            </a:r>
            <a:r>
              <a:rPr lang="zh-CN" altLang="zh-CN" sz="1200" kern="1200" dirty="0" smtClean="0">
                <a:solidFill>
                  <a:schemeClr val="tx1"/>
                </a:solidFill>
                <a:effectLst/>
                <a:latin typeface="+mn-lt"/>
                <a:ea typeface="+mn-ea"/>
                <a:cs typeface="+mn-cs"/>
              </a:rPr>
              <a:t>中，系统引入节点自发现机制，可有效提高系统鲁棒性。</a:t>
            </a:r>
          </a:p>
          <a:p>
            <a:pPr lvl="0"/>
            <a:r>
              <a:rPr lang="zh-CN" altLang="zh-CN" sz="1200" kern="1200" dirty="0" smtClean="0">
                <a:solidFill>
                  <a:schemeClr val="tx1"/>
                </a:solidFill>
                <a:effectLst/>
                <a:latin typeface="+mn-lt"/>
                <a:ea typeface="+mn-ea"/>
                <a:cs typeface="+mn-cs"/>
              </a:rPr>
              <a:t>进程间通信：</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基于</a:t>
            </a:r>
            <a:r>
              <a:rPr lang="en-US" altLang="zh-CN" sz="1200" kern="1200" dirty="0" smtClean="0">
                <a:solidFill>
                  <a:schemeClr val="tx1"/>
                </a:solidFill>
                <a:effectLst/>
                <a:latin typeface="+mn-lt"/>
                <a:ea typeface="+mn-ea"/>
                <a:cs typeface="+mn-cs"/>
              </a:rPr>
              <a:t>TCP</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UDP</a:t>
            </a:r>
            <a:r>
              <a:rPr lang="zh-CN" altLang="zh-CN" sz="1200" kern="1200" dirty="0" smtClean="0">
                <a:solidFill>
                  <a:schemeClr val="tx1"/>
                </a:solidFill>
                <a:effectLst/>
                <a:latin typeface="+mn-lt"/>
                <a:ea typeface="+mn-ea"/>
                <a:cs typeface="+mn-cs"/>
              </a:rPr>
              <a:t>协议开发了</a:t>
            </a:r>
            <a:r>
              <a:rPr lang="en-US" altLang="zh-CN" sz="1200" kern="1200" dirty="0" smtClean="0">
                <a:solidFill>
                  <a:schemeClr val="tx1"/>
                </a:solidFill>
                <a:effectLst/>
                <a:latin typeface="+mn-lt"/>
                <a:ea typeface="+mn-ea"/>
                <a:cs typeface="+mn-cs"/>
              </a:rPr>
              <a:t>TCPROS</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UDPROS</a:t>
            </a:r>
            <a:r>
              <a:rPr lang="zh-CN" altLang="zh-CN" sz="1200" kern="1200" dirty="0" smtClean="0">
                <a:solidFill>
                  <a:schemeClr val="tx1"/>
                </a:solidFill>
                <a:effectLst/>
                <a:latin typeface="+mn-lt"/>
                <a:ea typeface="+mn-ea"/>
                <a:cs typeface="+mn-cs"/>
              </a:rPr>
              <a:t>协议。而在</a:t>
            </a:r>
            <a:r>
              <a:rPr lang="en-US" altLang="zh-CN" sz="1200" kern="1200" dirty="0" smtClean="0">
                <a:solidFill>
                  <a:schemeClr val="tx1"/>
                </a:solidFill>
                <a:effectLst/>
                <a:latin typeface="+mn-lt"/>
                <a:ea typeface="+mn-ea"/>
                <a:cs typeface="+mn-cs"/>
              </a:rPr>
              <a:t>ROS 2</a:t>
            </a:r>
            <a:r>
              <a:rPr lang="zh-CN" altLang="zh-CN" sz="1200" kern="1200" dirty="0" smtClean="0">
                <a:solidFill>
                  <a:schemeClr val="tx1"/>
                </a:solidFill>
                <a:effectLst/>
                <a:latin typeface="+mn-lt"/>
                <a:ea typeface="+mn-ea"/>
                <a:cs typeface="+mn-cs"/>
              </a:rPr>
              <a:t>中，通信协议更换成了更加复杂但也更加完善的</a:t>
            </a:r>
            <a:r>
              <a:rPr lang="en-US" altLang="zh-CN" sz="1200" b="1" kern="1200" dirty="0" smtClean="0">
                <a:solidFill>
                  <a:schemeClr val="tx1"/>
                </a:solidFill>
                <a:effectLst/>
                <a:latin typeface="+mn-lt"/>
                <a:ea typeface="+mn-ea"/>
                <a:cs typeface="+mn-cs"/>
              </a:rPr>
              <a:t>DDS</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Data-Distribution Service</a:t>
            </a:r>
            <a:r>
              <a:rPr lang="zh-CN" altLang="zh-CN" sz="1200" kern="1200" dirty="0" smtClean="0">
                <a:solidFill>
                  <a:schemeClr val="tx1"/>
                </a:solidFill>
                <a:effectLst/>
                <a:latin typeface="+mn-lt"/>
                <a:ea typeface="+mn-ea"/>
                <a:cs typeface="+mn-cs"/>
              </a:rPr>
              <a:t>）系统。</a:t>
            </a:r>
          </a:p>
          <a:p>
            <a:pPr lvl="0"/>
            <a:r>
              <a:rPr lang="zh-CN" altLang="zh-CN" sz="1200" kern="1200" dirty="0" smtClean="0">
                <a:solidFill>
                  <a:schemeClr val="tx1"/>
                </a:solidFill>
                <a:effectLst/>
                <a:latin typeface="+mn-lt"/>
                <a:ea typeface="+mn-ea"/>
                <a:cs typeface="+mn-cs"/>
              </a:rPr>
              <a:t>进程内通信：对于在进程内进行大量数据的通信，</a:t>
            </a:r>
            <a:r>
              <a:rPr lang="en-US" altLang="zh-CN" sz="1200" kern="1200" dirty="0" smtClean="0">
                <a:solidFill>
                  <a:schemeClr val="tx1"/>
                </a:solidFill>
                <a:effectLst/>
                <a:latin typeface="+mn-lt"/>
                <a:ea typeface="+mn-ea"/>
                <a:cs typeface="+mn-cs"/>
              </a:rPr>
              <a:t>ROS </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ROS 2</a:t>
            </a:r>
            <a:r>
              <a:rPr lang="zh-CN" altLang="zh-CN" sz="1200" kern="1200" dirty="0" smtClean="0">
                <a:solidFill>
                  <a:schemeClr val="tx1"/>
                </a:solidFill>
                <a:effectLst/>
                <a:latin typeface="+mn-lt"/>
                <a:ea typeface="+mn-ea"/>
                <a:cs typeface="+mn-cs"/>
              </a:rPr>
              <a:t>都提供了基于共享内存的通信方法，分别是</a:t>
            </a:r>
            <a:r>
              <a:rPr lang="en-US" altLang="zh-CN" sz="1200" kern="1200" dirty="0" err="1" smtClean="0">
                <a:solidFill>
                  <a:schemeClr val="tx1"/>
                </a:solidFill>
                <a:effectLst/>
                <a:latin typeface="+mn-lt"/>
                <a:ea typeface="+mn-ea"/>
                <a:cs typeface="+mn-cs"/>
              </a:rPr>
              <a:t>Nodelet</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 Intra-process</a:t>
            </a:r>
            <a:r>
              <a:rPr lang="zh-CN" altLang="zh-CN" sz="1200" kern="1200" dirty="0" smtClean="0">
                <a:solidFill>
                  <a:schemeClr val="tx1"/>
                </a:solidFill>
                <a:effectLst/>
                <a:latin typeface="+mn-lt"/>
                <a:ea typeface="+mn-ea"/>
                <a:cs typeface="+mn-cs"/>
              </a:rPr>
              <a:t>模块。</a:t>
            </a:r>
          </a:p>
          <a:p>
            <a:r>
              <a:rPr lang="zh-CN" altLang="zh-CN" sz="1200" kern="1200" dirty="0" smtClean="0">
                <a:solidFill>
                  <a:schemeClr val="tx1"/>
                </a:solidFill>
                <a:effectLst/>
                <a:latin typeface="+mn-lt"/>
                <a:ea typeface="+mn-ea"/>
                <a:cs typeface="+mn-cs"/>
              </a:rPr>
              <a:t>跨平台：</a:t>
            </a:r>
            <a:r>
              <a:rPr lang="en-US" altLang="zh-CN" sz="1200" kern="1200" dirty="0" smtClean="0">
                <a:solidFill>
                  <a:schemeClr val="tx1"/>
                </a:solidFill>
                <a:effectLst/>
                <a:latin typeface="+mn-lt"/>
                <a:ea typeface="+mn-ea"/>
                <a:cs typeface="+mn-cs"/>
              </a:rPr>
              <a:t>ROS</a:t>
            </a:r>
            <a:r>
              <a:rPr lang="zh-CN" altLang="zh-CN" sz="1200" kern="1200" dirty="0" smtClean="0">
                <a:solidFill>
                  <a:schemeClr val="tx1"/>
                </a:solidFill>
                <a:effectLst/>
                <a:latin typeface="+mn-lt"/>
                <a:ea typeface="+mn-ea"/>
                <a:cs typeface="+mn-cs"/>
              </a:rPr>
              <a:t>主要安装在</a:t>
            </a:r>
            <a:r>
              <a:rPr lang="en-US" altLang="zh-CN" sz="1200" kern="1200" dirty="0" smtClean="0">
                <a:solidFill>
                  <a:schemeClr val="tx1"/>
                </a:solidFill>
                <a:effectLst/>
                <a:latin typeface="+mn-lt"/>
                <a:ea typeface="+mn-ea"/>
                <a:cs typeface="+mn-cs"/>
              </a:rPr>
              <a:t>Linux</a:t>
            </a:r>
            <a:r>
              <a:rPr lang="zh-CN" altLang="zh-CN" sz="1200" kern="1200" dirty="0" smtClean="0">
                <a:solidFill>
                  <a:schemeClr val="tx1"/>
                </a:solidFill>
                <a:effectLst/>
                <a:latin typeface="+mn-lt"/>
                <a:ea typeface="+mn-ea"/>
                <a:cs typeface="+mn-cs"/>
              </a:rPr>
              <a:t>上，</a:t>
            </a:r>
            <a:r>
              <a:rPr lang="en-US" altLang="zh-CN" sz="1200" kern="1200" dirty="0" smtClean="0">
                <a:solidFill>
                  <a:schemeClr val="tx1"/>
                </a:solidFill>
                <a:effectLst/>
                <a:latin typeface="+mn-lt"/>
                <a:ea typeface="+mn-ea"/>
                <a:cs typeface="+mn-cs"/>
              </a:rPr>
              <a:t>ROS 2</a:t>
            </a:r>
            <a:r>
              <a:rPr lang="zh-CN" altLang="zh-CN" sz="1200" kern="1200" dirty="0" smtClean="0">
                <a:solidFill>
                  <a:schemeClr val="tx1"/>
                </a:solidFill>
                <a:effectLst/>
                <a:latin typeface="+mn-lt"/>
                <a:ea typeface="+mn-ea"/>
                <a:cs typeface="+mn-cs"/>
              </a:rPr>
              <a:t>可跨平台，如</a:t>
            </a:r>
            <a:r>
              <a:rPr lang="en-US" altLang="zh-CN" sz="1200" kern="1200" dirty="0" smtClean="0">
                <a:solidFill>
                  <a:schemeClr val="tx1"/>
                </a:solidFill>
                <a:effectLst/>
                <a:latin typeface="+mn-lt"/>
                <a:ea typeface="+mn-ea"/>
                <a:cs typeface="+mn-cs"/>
              </a:rPr>
              <a:t>Linux</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windows</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MacOS</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RTOS</a:t>
            </a:r>
            <a:r>
              <a:rPr lang="zh-CN" altLang="zh-CN" sz="120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机器人规划系统的发展趋势是实时地规划与执行，即机器人在作业的过程中通过描述模型和操作模型不断地规划、监视、修改和更新规划方案。因此越来越多的研究者结合描述模型和操作模型的特点来设计统一的规划模型，实现从高层推理到底层控制的统一表述，以便于机器人系统能够根据外部环境变化不断地修正规划方案，从而让机器人能够更好的适应环境变化。</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5.jpe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5.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18" y="1598181"/>
            <a:ext cx="7772603"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36" y="2915310"/>
            <a:ext cx="6400967"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12" y="1200422"/>
            <a:ext cx="8229815" cy="3395241"/>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32" y="3305924"/>
            <a:ext cx="777260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32" y="2180528"/>
            <a:ext cx="777260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17" y="1200422"/>
            <a:ext cx="540875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0774" y="1200422"/>
            <a:ext cx="5410341"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12" y="1151595"/>
            <a:ext cx="404029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12" y="1631526"/>
            <a:ext cx="404029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147" y="1151595"/>
            <a:ext cx="4041881"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147" y="1631526"/>
            <a:ext cx="4041881"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8" name="页脚占位符 7"/>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4" name="页脚占位符 3"/>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3" name="页脚占位符 2"/>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4834"/>
            <a:ext cx="3008392"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143" y="204835"/>
            <a:ext cx="5111883"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12" y="1076569"/>
            <a:ext cx="3008392"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35" y="3601265"/>
            <a:ext cx="5486543"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335" y="459685"/>
            <a:ext cx="5486543"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335" y="4026415"/>
            <a:ext cx="5486543"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12" y="1200422"/>
            <a:ext cx="8229815"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431" y="206026"/>
            <a:ext cx="2741684"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16" y="206026"/>
            <a:ext cx="8077411"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2026/5/11</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设计准则">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71" name="矩形 70"/>
          <p:cNvSpPr/>
          <p:nvPr userDrawn="1"/>
        </p:nvSpPr>
        <p:spPr>
          <a:xfrm>
            <a:off x="1143000" y="1762828"/>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72" name="矩形 71"/>
          <p:cNvSpPr/>
          <p:nvPr userDrawn="1"/>
        </p:nvSpPr>
        <p:spPr>
          <a:xfrm>
            <a:off x="1143000" y="1350917"/>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03905" y="2092604"/>
            <a:ext cx="438031" cy="438221"/>
          </a:xfrm>
          <a:prstGeom prst="rect">
            <a:avLst/>
          </a:prstGeom>
        </p:spPr>
      </p:pic>
      <p:sp>
        <p:nvSpPr>
          <p:cNvPr id="13" name="文本框 12"/>
          <p:cNvSpPr txBox="1"/>
          <p:nvPr userDrawn="1"/>
        </p:nvSpPr>
        <p:spPr>
          <a:xfrm>
            <a:off x="1576216" y="2623188"/>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字体设置</a:t>
            </a:r>
          </a:p>
        </p:txBody>
      </p: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803905" y="3469411"/>
            <a:ext cx="521818" cy="522044"/>
          </a:xfrm>
          <a:prstGeom prst="rect">
            <a:avLst/>
          </a:prstGeom>
        </p:spPr>
      </p:pic>
      <p:sp>
        <p:nvSpPr>
          <p:cNvPr id="21" name="文本框 20"/>
          <p:cNvSpPr txBox="1"/>
          <p:nvPr userDrawn="1"/>
        </p:nvSpPr>
        <p:spPr>
          <a:xfrm>
            <a:off x="1598139" y="3991453"/>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大小设置</a:t>
            </a:r>
          </a:p>
        </p:txBody>
      </p:sp>
      <p:cxnSp>
        <p:nvCxnSpPr>
          <p:cNvPr id="5" name="直接连接符 4"/>
          <p:cNvCxnSpPr/>
          <p:nvPr userDrawn="1"/>
        </p:nvCxnSpPr>
        <p:spPr>
          <a:xfrm>
            <a:off x="1689755" y="3187828"/>
            <a:ext cx="5747994"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p:cNvSpPr txBox="1"/>
          <p:nvPr userDrawn="1"/>
        </p:nvSpPr>
        <p:spPr>
          <a:xfrm>
            <a:off x="3964141" y="1999881"/>
            <a:ext cx="16789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中文字体：微软雅黑</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英文字体：</a:t>
            </a:r>
            <a:r>
              <a:rPr lang="en-US" altLang="zh-CN" sz="1350" dirty="0">
                <a:latin typeface="宋体-简" panose="02010800040101010101" charset="-122"/>
                <a:ea typeface="宋体-简" panose="02010800040101010101" charset="-122"/>
              </a:rPr>
              <a:t>Arial</a:t>
            </a:r>
            <a:endParaRPr lang="zh-CN" altLang="en-US" sz="1350" dirty="0">
              <a:latin typeface="宋体-简" panose="02010800040101010101" charset="-122"/>
              <a:ea typeface="宋体-简" panose="02010800040101010101" charset="-122"/>
            </a:endParaRPr>
          </a:p>
        </p:txBody>
      </p:sp>
      <p:sp>
        <p:nvSpPr>
          <p:cNvPr id="24" name="文本框 23"/>
          <p:cNvSpPr txBox="1"/>
          <p:nvPr userDrawn="1"/>
        </p:nvSpPr>
        <p:spPr>
          <a:xfrm>
            <a:off x="3964141" y="3400823"/>
            <a:ext cx="13360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标题字号：</a:t>
            </a:r>
            <a:r>
              <a:rPr lang="en-US" altLang="zh-CN" sz="1350" dirty="0">
                <a:latin typeface="宋体-简" panose="02010800040101010101" charset="-122"/>
                <a:ea typeface="宋体-简" panose="02010800040101010101" charset="-122"/>
              </a:rPr>
              <a:t>18</a:t>
            </a:r>
            <a:r>
              <a:rPr lang="zh-CN" altLang="en-US" sz="1350" dirty="0">
                <a:latin typeface="宋体-简" panose="02010800040101010101" charset="-122"/>
                <a:ea typeface="宋体-简" panose="02010800040101010101" charset="-122"/>
              </a:rPr>
              <a:t>号</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正文字号：</a:t>
            </a:r>
            <a:r>
              <a:rPr lang="en-US" altLang="zh-CN" sz="1350" dirty="0">
                <a:latin typeface="宋体-简" panose="02010800040101010101" charset="-122"/>
                <a:ea typeface="宋体-简" panose="02010800040101010101" charset="-122"/>
              </a:rPr>
              <a:t>14</a:t>
            </a:r>
            <a:r>
              <a:rPr lang="zh-CN" altLang="en-US" sz="1350" dirty="0">
                <a:latin typeface="宋体-简" panose="02010800040101010101" charset="-122"/>
                <a:ea typeface="宋体-简" panose="02010800040101010101" charset="-122"/>
              </a:rPr>
              <a:t>号</a:t>
            </a:r>
          </a:p>
        </p:txBody>
      </p:sp>
      <p:cxnSp>
        <p:nvCxnSpPr>
          <p:cNvPr id="79" name="直接连接符 78"/>
          <p:cNvCxnSpPr/>
          <p:nvPr userDrawn="1"/>
        </p:nvCxnSpPr>
        <p:spPr>
          <a:xfrm>
            <a:off x="1143000" y="1765418"/>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设计准则</a:t>
            </a:r>
          </a:p>
        </p:txBody>
      </p:sp>
      <p:sp>
        <p:nvSpPr>
          <p:cNvPr id="236" name="矩形 235"/>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238" name="图片 23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239" name="文本框 238"/>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240" name="文本框 239"/>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41" name="文本框 240"/>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7"/>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宣传页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3" name="矩形 2"/>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10" name="矩形 9"/>
          <p:cNvSpPr/>
          <p:nvPr userDrawn="1"/>
        </p:nvSpPr>
        <p:spPr>
          <a:xfrm>
            <a:off x="1143000" y="1772490"/>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772490"/>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16" name="文本框 15"/>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17" name="文本框 16"/>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 name="文本框 1"/>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sp>
        <p:nvSpPr>
          <p:cNvPr id="14" name="矩形 13"/>
          <p:cNvSpPr/>
          <p:nvPr userDrawn="1"/>
        </p:nvSpPr>
        <p:spPr>
          <a:xfrm>
            <a:off x="1143000" y="1360579"/>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4" name="文本框 3"/>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版权声明</a:t>
            </a:r>
          </a:p>
        </p:txBody>
      </p:sp>
      <p:sp>
        <p:nvSpPr>
          <p:cNvPr id="6" name="文本框 5"/>
          <p:cNvSpPr txBox="1"/>
          <p:nvPr userDrawn="1"/>
        </p:nvSpPr>
        <p:spPr>
          <a:xfrm>
            <a:off x="1291281" y="2004371"/>
            <a:ext cx="6549081" cy="2337435"/>
          </a:xfrm>
          <a:prstGeom prst="rect">
            <a:avLst/>
          </a:prstGeom>
        </p:spPr>
        <p:txBody>
          <a:bodyPr vert="horz" wrap="square" lIns="68549" tIns="34272" rIns="68549" bIns="34272" rtlCol="0" anchor="ctr">
            <a:spAutoFit/>
          </a:bodyPr>
          <a:lstStyle/>
          <a:p>
            <a:pPr>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本素材中涉及到的所有的内容的所有权、知识产权等归原始权利人或者合法的受让人所有，您购买</a:t>
            </a:r>
            <a:r>
              <a:rPr lang="en-US" altLang="zh-CN" sz="900" dirty="0">
                <a:latin typeface="宋体-简" panose="02010800040101010101" charset="-122"/>
                <a:ea typeface="宋体-简" panose="02010800040101010101" charset="-122"/>
                <a:cs typeface="宋体-简" panose="02010800040101010101" charset="-122"/>
                <a:sym typeface="+mn-lt"/>
              </a:rPr>
              <a:t>/</a:t>
            </a:r>
            <a:r>
              <a:rPr lang="zh-CN" altLang="zh-CN" sz="900" dirty="0">
                <a:latin typeface="宋体-简" panose="02010800040101010101" charset="-122"/>
                <a:ea typeface="宋体-简" panose="02010800040101010101" charset="-122"/>
                <a:cs typeface="宋体-简" panose="02010800040101010101" charset="-122"/>
                <a:sym typeface="+mn-lt"/>
              </a:rPr>
              <a:t>免费或通过其他合法方式获得的本信息的使用权，并受到以下条款约束：</a:t>
            </a:r>
          </a:p>
          <a:p>
            <a:pPr lvl="0">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您仅可以个人非商业用途使用该等信息内容，不得将其全部或部分内容用于出售、或出租、出借、转让、分销、发布等其他方任何式供他人使用；</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禁止在任何网站、平台、应用程序上以任何方式为他人提供本素材所有内容的下载、转载等；</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对于不当下载、转载或引用本信息内容而引起的民事纷争、行政处理或其他损失，声明方不承担责任；</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对不遵守本声明或其他违法、恶意使用本信息内容者，声明方保留追究其法律责任的权利。</a:t>
            </a:r>
          </a:p>
          <a:p>
            <a:pPr algn="l"/>
            <a:endParaRPr lang="zh-CN" altLang="en-US" sz="900" dirty="0">
              <a:latin typeface="宋体-简" panose="02010800040101010101" charset="-122"/>
              <a:ea typeface="宋体-简" panose="02010800040101010101" charset="-122"/>
            </a:endParaRPr>
          </a:p>
        </p:txBody>
      </p:sp>
      <p:pic>
        <p:nvPicPr>
          <p:cNvPr id="5" name="图片 4"/>
          <p:cNvPicPr>
            <a:picLocks noChangeAspect="1"/>
          </p:cNvPicPr>
          <p:nvPr userDrawn="1"/>
        </p:nvPicPr>
        <p:blipFill>
          <a:blip r:embed="rId4"/>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宣传页1">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10" name="矩形 9"/>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 name="文本框 4"/>
          <p:cNvSpPr txBox="1"/>
          <p:nvPr userDrawn="1"/>
        </p:nvSpPr>
        <p:spPr>
          <a:xfrm>
            <a:off x="2858069" y="1261833"/>
            <a:ext cx="339344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智能的设计工具，让你告别繁琐的设计流程</a:t>
            </a:r>
          </a:p>
        </p:txBody>
      </p:sp>
      <p:sp>
        <p:nvSpPr>
          <p:cNvPr id="8" name="文本框 7"/>
          <p:cNvSpPr txBox="1"/>
          <p:nvPr userDrawn="1"/>
        </p:nvSpPr>
        <p:spPr>
          <a:xfrm>
            <a:off x="1715210" y="2467668"/>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latin typeface="宋体-简" panose="02010800040101010101" charset="-122"/>
                <a:ea typeface="宋体-简" panose="02010800040101010101" charset="-122"/>
              </a:rPr>
              <a:t>段落统一</a:t>
            </a:r>
          </a:p>
        </p:txBody>
      </p:sp>
      <p:sp>
        <p:nvSpPr>
          <p:cNvPr id="27" name="文本框 26"/>
          <p:cNvSpPr txBox="1"/>
          <p:nvPr userDrawn="1"/>
        </p:nvSpPr>
        <p:spPr>
          <a:xfrm>
            <a:off x="3344862" y="2467668"/>
            <a:ext cx="830997" cy="274955"/>
          </a:xfrm>
          <a:prstGeom prst="rect">
            <a:avLst/>
          </a:prstGeom>
        </p:spPr>
        <p:txBody>
          <a:bodyPr vert="horz" wrap="square" lIns="68549" tIns="34272" rIns="68549" bIns="34272" rtlCol="0" anchor="ctr">
            <a:spAutoFit/>
          </a:bodyPr>
          <a:lstStyle/>
          <a:p>
            <a:pPr algn="ctr"/>
            <a:r>
              <a:rPr lang="zh-CN" altLang="en-US" sz="1350" dirty="0">
                <a:latin typeface="宋体-简" panose="02010800040101010101" charset="-122"/>
                <a:ea typeface="宋体-简" panose="02010800040101010101" charset="-122"/>
                <a:cs typeface="宋体-简" panose="02010800040101010101" charset="-122"/>
                <a:sym typeface="+mn-lt"/>
              </a:rPr>
              <a:t>画中画</a:t>
            </a:r>
          </a:p>
        </p:txBody>
      </p:sp>
      <p:sp>
        <p:nvSpPr>
          <p:cNvPr id="46" name="文本框 45"/>
          <p:cNvSpPr txBox="1"/>
          <p:nvPr userDrawn="1"/>
        </p:nvSpPr>
        <p:spPr>
          <a:xfrm>
            <a:off x="5057022" y="2467666"/>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三维折图</a:t>
            </a:r>
          </a:p>
        </p:txBody>
      </p:sp>
      <p:sp>
        <p:nvSpPr>
          <p:cNvPr id="47" name="文本框 46"/>
          <p:cNvSpPr txBox="1"/>
          <p:nvPr userDrawn="1"/>
        </p:nvSpPr>
        <p:spPr>
          <a:xfrm>
            <a:off x="6727574" y="2469211"/>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色彩统一</a:t>
            </a:r>
          </a:p>
        </p:txBody>
      </p:sp>
      <p:sp>
        <p:nvSpPr>
          <p:cNvPr id="63" name="文本框 62"/>
          <p:cNvSpPr txBox="1"/>
          <p:nvPr userDrawn="1"/>
        </p:nvSpPr>
        <p:spPr>
          <a:xfrm>
            <a:off x="1730654"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图形裁图</a:t>
            </a:r>
          </a:p>
        </p:txBody>
      </p:sp>
      <p:sp>
        <p:nvSpPr>
          <p:cNvPr id="64" name="文本框 63"/>
          <p:cNvSpPr txBox="1"/>
          <p:nvPr userDrawn="1"/>
        </p:nvSpPr>
        <p:spPr>
          <a:xfrm>
            <a:off x="336030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背景虚化</a:t>
            </a:r>
          </a:p>
        </p:txBody>
      </p:sp>
      <p:sp>
        <p:nvSpPr>
          <p:cNvPr id="65" name="文本框 64"/>
          <p:cNvSpPr txBox="1"/>
          <p:nvPr userDrawn="1"/>
        </p:nvSpPr>
        <p:spPr>
          <a:xfrm>
            <a:off x="507246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字体统一</a:t>
            </a:r>
          </a:p>
        </p:txBody>
      </p:sp>
      <p:sp>
        <p:nvSpPr>
          <p:cNvPr id="66" name="文本框 65"/>
          <p:cNvSpPr txBox="1"/>
          <p:nvPr userDrawn="1"/>
        </p:nvSpPr>
        <p:spPr>
          <a:xfrm>
            <a:off x="6743018" y="3593705"/>
            <a:ext cx="735965" cy="274955"/>
          </a:xfrm>
          <a:prstGeom prst="rect">
            <a:avLst/>
          </a:prstGeom>
        </p:spPr>
        <p:txBody>
          <a:bodyPr vert="horz" wrap="none" lIns="68549" tIns="34272" rIns="68549" bIns="34272" rtlCol="0" anchor="ctr">
            <a:spAutoFit/>
          </a:bodyPr>
          <a:lstStyle/>
          <a:p>
            <a:r>
              <a:rPr lang="en-US" altLang="zh-CN" sz="1350" dirty="0">
                <a:latin typeface="宋体-简" panose="02010800040101010101" charset="-122"/>
                <a:ea typeface="宋体-简" panose="02010800040101010101" charset="-122"/>
                <a:cs typeface="宋体-简" panose="02010800040101010101" charset="-122"/>
                <a:sym typeface="+mn-lt"/>
              </a:rPr>
              <a:t>PPT</a:t>
            </a:r>
            <a:r>
              <a:rPr lang="zh-CN" altLang="en-US" sz="1350" dirty="0">
                <a:latin typeface="宋体-简" panose="02010800040101010101" charset="-122"/>
                <a:ea typeface="宋体-简" panose="02010800040101010101" charset="-122"/>
                <a:cs typeface="宋体-简" panose="02010800040101010101" charset="-122"/>
                <a:sym typeface="+mn-lt"/>
              </a:rPr>
              <a:t>瘦身</a:t>
            </a:r>
          </a:p>
        </p:txBody>
      </p:sp>
      <p:sp>
        <p:nvSpPr>
          <p:cNvPr id="11" name="文本框 10"/>
          <p:cNvSpPr txBox="1"/>
          <p:nvPr userDrawn="1"/>
        </p:nvSpPr>
        <p:spPr>
          <a:xfrm>
            <a:off x="1395827" y="2773994"/>
            <a:ext cx="1450340" cy="205740"/>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所有页面字体</a:t>
            </a:r>
          </a:p>
        </p:txBody>
      </p:sp>
      <p:sp>
        <p:nvSpPr>
          <p:cNvPr id="71" name="文本框 70"/>
          <p:cNvSpPr txBox="1"/>
          <p:nvPr userDrawn="1"/>
        </p:nvSpPr>
        <p:spPr>
          <a:xfrm>
            <a:off x="3287154" y="2773994"/>
            <a:ext cx="9359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让图片更加高级</a:t>
            </a:r>
          </a:p>
        </p:txBody>
      </p:sp>
      <p:sp>
        <p:nvSpPr>
          <p:cNvPr id="72" name="文本框 71"/>
          <p:cNvSpPr txBox="1"/>
          <p:nvPr userDrawn="1"/>
        </p:nvSpPr>
        <p:spPr>
          <a:xfrm>
            <a:off x="4869357" y="2773994"/>
            <a:ext cx="12788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快速让图片具有立体感</a:t>
            </a:r>
          </a:p>
        </p:txBody>
      </p:sp>
      <p:sp>
        <p:nvSpPr>
          <p:cNvPr id="74" name="文本框 73"/>
          <p:cNvSpPr txBox="1"/>
          <p:nvPr userDrawn="1"/>
        </p:nvSpPr>
        <p:spPr>
          <a:xfrm>
            <a:off x="6399774" y="2773994"/>
            <a:ext cx="14503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所有页面色彩</a:t>
            </a:r>
          </a:p>
        </p:txBody>
      </p:sp>
      <p:sp>
        <p:nvSpPr>
          <p:cNvPr id="91" name="文本框 90"/>
          <p:cNvSpPr txBox="1"/>
          <p:nvPr userDrawn="1"/>
        </p:nvSpPr>
        <p:spPr>
          <a:xfrm>
            <a:off x="1615238" y="3921438"/>
            <a:ext cx="1050290" cy="205740"/>
          </a:xfrm>
          <a:prstGeom prst="rect">
            <a:avLst/>
          </a:prstGeom>
        </p:spPr>
        <p:txBody>
          <a:bodyPr vert="horz" wrap="none" lIns="68549" tIns="34272" rIns="68549" bIns="34272" rtlCol="0" anchor="ctr">
            <a:spAutoFit/>
          </a:bodyPr>
          <a:lstStyle/>
          <a:p>
            <a:pPr algn="l"/>
            <a:r>
              <a:rPr lang="zh-CN" altLang="zh-CN" sz="900" dirty="0">
                <a:solidFill>
                  <a:srgbClr val="999999"/>
                </a:solidFill>
                <a:latin typeface="宋体-简" panose="02010800040101010101" charset="-122"/>
                <a:ea typeface="宋体-简" panose="02010800040101010101" charset="-122"/>
                <a:cs typeface="宋体-简" panose="02010800040101010101" charset="-122"/>
                <a:sym typeface="+mn-lt"/>
              </a:rPr>
              <a:t>极速裁剪图片大小</a:t>
            </a:r>
          </a:p>
        </p:txBody>
      </p:sp>
      <p:sp>
        <p:nvSpPr>
          <p:cNvPr id="92" name="文本框 91"/>
          <p:cNvSpPr txBox="1"/>
          <p:nvPr userDrawn="1"/>
        </p:nvSpPr>
        <p:spPr>
          <a:xfrm>
            <a:off x="3148709" y="3921438"/>
            <a:ext cx="13931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让图片具有</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大片</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特质</a:t>
            </a:r>
          </a:p>
        </p:txBody>
      </p:sp>
      <p:sp>
        <p:nvSpPr>
          <p:cNvPr id="93" name="文本框 92"/>
          <p:cNvSpPr txBox="1"/>
          <p:nvPr userDrawn="1"/>
        </p:nvSpPr>
        <p:spPr>
          <a:xfrm>
            <a:off x="4814654" y="3921438"/>
            <a:ext cx="13360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所有页字体</a:t>
            </a:r>
          </a:p>
        </p:txBody>
      </p:sp>
      <p:sp>
        <p:nvSpPr>
          <p:cNvPr id="94" name="文本框 93"/>
          <p:cNvSpPr txBox="1"/>
          <p:nvPr userDrawn="1"/>
        </p:nvSpPr>
        <p:spPr>
          <a:xfrm>
            <a:off x="6628475" y="3921438"/>
            <a:ext cx="9931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快速精简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空间</a:t>
            </a: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87087" y="3072651"/>
            <a:ext cx="457200" cy="457399"/>
          </a:xfrm>
          <a:prstGeom prst="rect">
            <a:avLst/>
          </a:prstGeom>
        </p:spPr>
      </p:pic>
      <p:pic>
        <p:nvPicPr>
          <p:cNvPr id="14" name="图片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27785" y="3072651"/>
            <a:ext cx="457200" cy="457399"/>
          </a:xfrm>
          <a:prstGeom prst="rect">
            <a:avLst/>
          </a:prstGeom>
        </p:spPr>
      </p:pic>
      <p:pic>
        <p:nvPicPr>
          <p:cNvPr id="18" name="图片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35" y="3072651"/>
            <a:ext cx="457200" cy="457399"/>
          </a:xfrm>
          <a:prstGeom prst="rect">
            <a:avLst/>
          </a:prstGeom>
        </p:spPr>
      </p:pic>
      <p:pic>
        <p:nvPicPr>
          <p:cNvPr id="22" name="图片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2868" y="3072651"/>
            <a:ext cx="457200" cy="457399"/>
          </a:xfrm>
          <a:prstGeom prst="rect">
            <a:avLst/>
          </a:prstGeom>
        </p:spPr>
      </p:pic>
      <p:pic>
        <p:nvPicPr>
          <p:cNvPr id="26" name="图片 2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885488" y="1915178"/>
            <a:ext cx="457200" cy="457399"/>
          </a:xfrm>
          <a:prstGeom prst="rect">
            <a:avLst/>
          </a:prstGeom>
        </p:spPr>
      </p:pic>
      <p:pic>
        <p:nvPicPr>
          <p:cNvPr id="29" name="图片 2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43921" y="1915178"/>
            <a:ext cx="457200" cy="457399"/>
          </a:xfrm>
          <a:prstGeom prst="rect">
            <a:avLst/>
          </a:prstGeom>
        </p:spPr>
      </p:pic>
      <p:pic>
        <p:nvPicPr>
          <p:cNvPr id="256" name="图片 25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543298" y="1915178"/>
            <a:ext cx="457200" cy="457399"/>
          </a:xfrm>
          <a:prstGeom prst="rect">
            <a:avLst/>
          </a:prstGeom>
        </p:spPr>
      </p:pic>
      <p:pic>
        <p:nvPicPr>
          <p:cNvPr id="258" name="图片 257"/>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17552" y="1948156"/>
            <a:ext cx="457200" cy="457399"/>
          </a:xfrm>
          <a:prstGeom prst="rect">
            <a:avLst/>
          </a:prstGeom>
        </p:spPr>
      </p:pic>
      <p:sp>
        <p:nvSpPr>
          <p:cNvPr id="50" name="矩形 49"/>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52" name="图片 5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53" name="文本框 52"/>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54" name="文本框 53"/>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55" name="文本框 54"/>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宣传页2">
    <p:spTree>
      <p:nvGrpSpPr>
        <p:cNvPr id="1" name=""/>
        <p:cNvGrpSpPr/>
        <p:nvPr/>
      </p:nvGrpSpPr>
      <p:grpSpPr>
        <a:xfrm>
          <a:off x="0" y="0"/>
          <a:ext cx="0" cy="0"/>
          <a:chOff x="0" y="0"/>
          <a:chExt cx="0" cy="0"/>
        </a:xfrm>
      </p:grpSpPr>
      <p:pic>
        <p:nvPicPr>
          <p:cNvPr id="23" name="图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49" name="矩形 48"/>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50" name="直接连接符 49"/>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52" name="矩形 51"/>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3" name="文本框 52"/>
          <p:cNvSpPr txBox="1"/>
          <p:nvPr userDrawn="1"/>
        </p:nvSpPr>
        <p:spPr>
          <a:xfrm>
            <a:off x="3117755" y="1261833"/>
            <a:ext cx="2879090" cy="274955"/>
          </a:xfrm>
          <a:prstGeom prst="rect">
            <a:avLst/>
          </a:prstGeom>
        </p:spPr>
        <p:txBody>
          <a:bodyPr vert="horz" wrap="none" lIns="68549" tIns="34272" rIns="68549" bIns="34272" rtlCol="0" anchor="ctr">
            <a:spAutoFit/>
          </a:bodyPr>
          <a:lstStyle/>
          <a:p>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丰富的内容库，让你随时迸发灵感！</a:t>
            </a:r>
          </a:p>
        </p:txBody>
      </p:sp>
      <p:sp>
        <p:nvSpPr>
          <p:cNvPr id="54" name="文本框 53"/>
          <p:cNvSpPr txBox="1"/>
          <p:nvPr userDrawn="1"/>
        </p:nvSpPr>
        <p:spPr>
          <a:xfrm>
            <a:off x="1740069" y="2467668"/>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案例库</a:t>
            </a:r>
          </a:p>
        </p:txBody>
      </p:sp>
      <p:sp>
        <p:nvSpPr>
          <p:cNvPr id="55" name="文本框 54"/>
          <p:cNvSpPr txBox="1"/>
          <p:nvPr userDrawn="1"/>
        </p:nvSpPr>
        <p:spPr>
          <a:xfrm>
            <a:off x="3434430" y="2467668"/>
            <a:ext cx="657872" cy="274955"/>
          </a:xfrm>
          <a:prstGeom prst="rect">
            <a:avLst/>
          </a:prstGeom>
        </p:spPr>
        <p:txBody>
          <a:bodyPr vert="horz" wrap="squar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插图库</a:t>
            </a:r>
          </a:p>
        </p:txBody>
      </p:sp>
      <p:sp>
        <p:nvSpPr>
          <p:cNvPr id="56" name="文本框 55"/>
          <p:cNvSpPr txBox="1"/>
          <p:nvPr userDrawn="1"/>
        </p:nvSpPr>
        <p:spPr>
          <a:xfrm>
            <a:off x="5159028" y="2467666"/>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色彩库</a:t>
            </a:r>
          </a:p>
        </p:txBody>
      </p:sp>
      <p:sp>
        <p:nvSpPr>
          <p:cNvPr id="57" name="文本框 56"/>
          <p:cNvSpPr txBox="1"/>
          <p:nvPr userDrawn="1"/>
        </p:nvSpPr>
        <p:spPr>
          <a:xfrm>
            <a:off x="6814136" y="2469211"/>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图标库</a:t>
            </a:r>
          </a:p>
        </p:txBody>
      </p:sp>
      <p:sp>
        <p:nvSpPr>
          <p:cNvPr id="58" name="文本框 57"/>
          <p:cNvSpPr txBox="1"/>
          <p:nvPr userDrawn="1"/>
        </p:nvSpPr>
        <p:spPr>
          <a:xfrm>
            <a:off x="1746667" y="3592162"/>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图片库</a:t>
            </a:r>
          </a:p>
        </p:txBody>
      </p:sp>
      <p:sp>
        <p:nvSpPr>
          <p:cNvPr id="59" name="文本框 58"/>
          <p:cNvSpPr txBox="1"/>
          <p:nvPr userDrawn="1"/>
        </p:nvSpPr>
        <p:spPr>
          <a:xfrm>
            <a:off x="3378287"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逻辑图表</a:t>
            </a:r>
          </a:p>
        </p:txBody>
      </p:sp>
      <p:sp>
        <p:nvSpPr>
          <p:cNvPr id="60" name="文本框 59"/>
          <p:cNvSpPr txBox="1"/>
          <p:nvPr userDrawn="1"/>
        </p:nvSpPr>
        <p:spPr>
          <a:xfrm>
            <a:off x="5100188"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数据图表</a:t>
            </a:r>
          </a:p>
        </p:txBody>
      </p:sp>
      <p:sp>
        <p:nvSpPr>
          <p:cNvPr id="61" name="文本框 60"/>
          <p:cNvSpPr txBox="1"/>
          <p:nvPr userDrawn="1"/>
        </p:nvSpPr>
        <p:spPr>
          <a:xfrm>
            <a:off x="6827448" y="3593705"/>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主题库</a:t>
            </a:r>
          </a:p>
        </p:txBody>
      </p:sp>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2731" y="1935879"/>
            <a:ext cx="457200" cy="457399"/>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516860" y="1927846"/>
            <a:ext cx="457200" cy="457399"/>
          </a:xfrm>
          <a:prstGeom prst="rect">
            <a:avLst/>
          </a:prstGeom>
        </p:spPr>
      </p:pic>
      <p:pic>
        <p:nvPicPr>
          <p:cNvPr id="41" name="111_3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27784" y="1935879"/>
            <a:ext cx="457200" cy="457399"/>
          </a:xfrm>
          <a:prstGeom prst="rect">
            <a:avLst/>
          </a:prstGeom>
        </p:spPr>
      </p:pic>
      <p:pic>
        <p:nvPicPr>
          <p:cNvPr id="42" name="111_3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7003" y="3073287"/>
            <a:ext cx="457200" cy="457399"/>
          </a:xfrm>
          <a:prstGeom prst="rect">
            <a:avLst/>
          </a:prstGeom>
        </p:spPr>
      </p:pic>
      <p:pic>
        <p:nvPicPr>
          <p:cNvPr id="43" name="111_3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547203" y="3073287"/>
            <a:ext cx="457200" cy="457399"/>
          </a:xfrm>
          <a:prstGeom prst="rect">
            <a:avLst/>
          </a:prstGeom>
        </p:spPr>
      </p:pic>
      <p:pic>
        <p:nvPicPr>
          <p:cNvPr id="45" name="111_32"/>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88596" y="1935879"/>
            <a:ext cx="457200" cy="457399"/>
          </a:xfrm>
          <a:prstGeom prst="rect">
            <a:avLst/>
          </a:prstGeom>
        </p:spPr>
      </p:pic>
      <p:pic>
        <p:nvPicPr>
          <p:cNvPr id="46" name="图片 4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927784" y="3073287"/>
            <a:ext cx="457200" cy="457399"/>
          </a:xfrm>
          <a:prstGeom prst="rect">
            <a:avLst/>
          </a:prstGeom>
        </p:spPr>
      </p:pic>
      <p:pic>
        <p:nvPicPr>
          <p:cNvPr id="24" name="图片 2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287087" y="3073287"/>
            <a:ext cx="457200" cy="457399"/>
          </a:xfrm>
          <a:prstGeom prst="rect">
            <a:avLst/>
          </a:prstGeom>
        </p:spPr>
      </p:pic>
      <p:sp>
        <p:nvSpPr>
          <p:cNvPr id="62" name="矩形 61"/>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64" name="图片 6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65" name="文本框 64"/>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66" name="文本框 65"/>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67" name="文本框 66"/>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2" name="Rectangle 1034"/>
          <p:cNvSpPr>
            <a:spLocks noGrp="1" noChangeArrowheads="1"/>
          </p:cNvSpPr>
          <p:nvPr>
            <p:ph type="sldNum" sz="quarter" idx="10"/>
          </p:nvPr>
        </p:nvSpPr>
        <p:spPr>
          <a:xfrm>
            <a:off x="5943600" y="4800600"/>
            <a:ext cx="1905000" cy="342900"/>
          </a:xfrm>
          <a:prstGeom prst="rect">
            <a:avLst/>
          </a:prstGeom>
        </p:spPr>
        <p:txBody>
          <a:bodyPr vert="horz" wrap="none" lIns="91440" tIns="45720" rIns="91440" bIns="45720" numCol="1" anchor="ctr" anchorCtr="0" compatLnSpc="1"/>
          <a:lstStyle>
            <a:lvl1pPr>
              <a:defRPr sz="1200" b="1">
                <a:latin typeface="Tahoma" panose="020B0604030504040204" pitchFamily="34" charset="0"/>
              </a:defRPr>
            </a:lvl1pPr>
          </a:lstStyle>
          <a:p>
            <a:fld id="{881E8D02-A12A-441D-82C1-3CD2924D3011}" type="slidenum">
              <a:rPr lang="zh-CN" altLang="en-US"/>
              <a:t>‹#›</a:t>
            </a:fld>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907" y="1598181"/>
            <a:ext cx="7772424"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814" y="2915310"/>
            <a:ext cx="6400610"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71" y="1200422"/>
            <a:ext cx="8229696" cy="339524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823" y="3305923"/>
            <a:ext cx="777242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823" y="2180528"/>
            <a:ext cx="777242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71" y="1200422"/>
            <a:ext cx="405709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8683" y="1200422"/>
            <a:ext cx="405828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71" y="1151595"/>
            <a:ext cx="4040422"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71" y="1631526"/>
            <a:ext cx="4040422"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354" y="1151595"/>
            <a:ext cx="404161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354" y="1631526"/>
            <a:ext cx="404161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8" name="页脚占位符 7"/>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4" name="页脚占位符 3"/>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3" name="页脚占位符 2"/>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4834"/>
            <a:ext cx="3007989"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4815" y="204834"/>
            <a:ext cx="5112152"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71" y="1076569"/>
            <a:ext cx="3007989"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71" y="3601265"/>
            <a:ext cx="5487257"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71" y="459685"/>
            <a:ext cx="5487257"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171" y="4026415"/>
            <a:ext cx="5487257"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1200422"/>
            <a:ext cx="8229696"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436" y="206025"/>
            <a:ext cx="2056531"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206025"/>
            <a:ext cx="6058847"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2026/5/11</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jpe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userDrawn="1"/>
        </p:nvSpPr>
        <p:spPr>
          <a:xfrm>
            <a:off x="8969989" y="4084843"/>
            <a:ext cx="185136" cy="54018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userDrawn="1"/>
        </p:nvSpPr>
        <p:spPr>
          <a:xfrm>
            <a:off x="8969989" y="4625025"/>
            <a:ext cx="185136" cy="5401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261851" y="573658"/>
            <a:ext cx="8588296" cy="0"/>
          </a:xfrm>
          <a:prstGeom prst="line">
            <a:avLst/>
          </a:prstGeom>
          <a:ln w="28575">
            <a:solidFill>
              <a:schemeClr val="bg1">
                <a:lumMod val="75000"/>
              </a:schemeClr>
            </a:solidFill>
          </a:ln>
          <a:effectLst>
            <a:outerShdw dist="25400" dir="5400000" algn="t" rotWithShape="0">
              <a:schemeClr val="bg1"/>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35214" y="126050"/>
            <a:ext cx="185136" cy="18514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nvSpPr>
        <p:spPr>
          <a:xfrm>
            <a:off x="420351" y="311200"/>
            <a:ext cx="185136" cy="185149"/>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2.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7.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Artificial_intelligence#Search_and_optimization"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hyperlink" Target="https://en.wikipedia.org/wiki/Artificial_intelligence#Probabilistic_methods_for_uncertain_reasoning" TargetMode="External"/><Relationship Id="rId4" Type="http://schemas.openxmlformats.org/officeDocument/2006/relationships/hyperlink" Target="https://en.wikipedia.org/wiki/Artificial_intelligence#Logic"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tags" Target="../tags/tag28.xml"/><Relationship Id="rId7" Type="http://schemas.openxmlformats.org/officeDocument/2006/relationships/image" Target="../media/image31.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30.emf"/><Relationship Id="rId5" Type="http://schemas.openxmlformats.org/officeDocument/2006/relationships/notesSlide" Target="../notesSlides/notesSlide11.xml"/><Relationship Id="rId4"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9.jpeg"/><Relationship Id="rId4" Type="http://schemas.openxmlformats.org/officeDocument/2006/relationships/image" Target="../media/image38.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40.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7.xml"/><Relationship Id="rId7" Type="http://schemas.openxmlformats.org/officeDocument/2006/relationships/image" Target="../media/image42.emf"/><Relationship Id="rId2" Type="http://schemas.openxmlformats.org/officeDocument/2006/relationships/slideLayout" Target="../slideLayouts/slideLayout16.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44.emf"/><Relationship Id="rId5" Type="http://schemas.openxmlformats.org/officeDocument/2006/relationships/image" Target="../media/image41.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3.e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6.xml"/><Relationship Id="rId1" Type="http://schemas.openxmlformats.org/officeDocument/2006/relationships/vmlDrawing" Target="../drawings/vmlDrawing3.vml"/><Relationship Id="rId5" Type="http://schemas.openxmlformats.org/officeDocument/2006/relationships/image" Target="../media/image45.emf"/><Relationship Id="rId4" Type="http://schemas.openxmlformats.org/officeDocument/2006/relationships/oleObject" Target="../embeddings/oleObject6.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47.emf"/><Relationship Id="rId2" Type="http://schemas.openxmlformats.org/officeDocument/2006/relationships/slideLayout" Target="../slideLayouts/slideLayout16.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46.emf"/><Relationship Id="rId4" Type="http://schemas.openxmlformats.org/officeDocument/2006/relationships/oleObject" Target="../embeddings/oleObject7.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49.emf"/><Relationship Id="rId2" Type="http://schemas.openxmlformats.org/officeDocument/2006/relationships/slideLayout" Target="../slideLayouts/slideLayout16.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48.emf"/><Relationship Id="rId4" Type="http://schemas.openxmlformats.org/officeDocument/2006/relationships/oleObject" Target="../embeddings/oleObject9.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22.xml"/><Relationship Id="rId7" Type="http://schemas.openxmlformats.org/officeDocument/2006/relationships/image" Target="../media/image51.emf"/><Relationship Id="rId2" Type="http://schemas.openxmlformats.org/officeDocument/2006/relationships/slideLayout" Target="../slideLayouts/slideLayout16.xml"/><Relationship Id="rId1" Type="http://schemas.openxmlformats.org/officeDocument/2006/relationships/vmlDrawing" Target="../drawings/vmlDrawing6.vml"/><Relationship Id="rId6" Type="http://schemas.openxmlformats.org/officeDocument/2006/relationships/oleObject" Target="../embeddings/oleObject12.bin"/><Relationship Id="rId5" Type="http://schemas.openxmlformats.org/officeDocument/2006/relationships/image" Target="../media/image50.emf"/><Relationship Id="rId4" Type="http://schemas.openxmlformats.org/officeDocument/2006/relationships/oleObject" Target="../embeddings/oleObject11.bin"/><Relationship Id="rId9" Type="http://schemas.openxmlformats.org/officeDocument/2006/relationships/image" Target="../media/image52.e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6.xml"/><Relationship Id="rId1" Type="http://schemas.openxmlformats.org/officeDocument/2006/relationships/vmlDrawing" Target="../drawings/vmlDrawing7.vml"/><Relationship Id="rId5" Type="http://schemas.openxmlformats.org/officeDocument/2006/relationships/image" Target="../media/image53.emf"/><Relationship Id="rId4" Type="http://schemas.openxmlformats.org/officeDocument/2006/relationships/oleObject" Target="../embeddings/oleObject14.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54.emf"/><Relationship Id="rId4" Type="http://schemas.openxmlformats.org/officeDocument/2006/relationships/oleObject" Target="../embeddings/oleObject15.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notesSlide" Target="../notesSlides/notesSlide29.xml"/><Relationship Id="rId7" Type="http://schemas.openxmlformats.org/officeDocument/2006/relationships/image" Target="../media/image58.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17.bin"/><Relationship Id="rId5" Type="http://schemas.openxmlformats.org/officeDocument/2006/relationships/image" Target="../media/image57.wmf"/><Relationship Id="rId4" Type="http://schemas.openxmlformats.org/officeDocument/2006/relationships/oleObject" Target="../embeddings/oleObject16.bin"/><Relationship Id="rId9" Type="http://schemas.openxmlformats.org/officeDocument/2006/relationships/image" Target="../media/image62.png"/></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62.wmf"/><Relationship Id="rId3" Type="http://schemas.openxmlformats.org/officeDocument/2006/relationships/notesSlide" Target="../notesSlides/notesSlide30.xml"/><Relationship Id="rId7" Type="http://schemas.openxmlformats.org/officeDocument/2006/relationships/image" Target="../media/image62.png"/><Relationship Id="rId12"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59.wmf"/><Relationship Id="rId11" Type="http://schemas.openxmlformats.org/officeDocument/2006/relationships/image" Target="../media/image61.wmf"/><Relationship Id="rId5" Type="http://schemas.openxmlformats.org/officeDocument/2006/relationships/oleObject" Target="../embeddings/oleObject18.bin"/><Relationship Id="rId15" Type="http://schemas.openxmlformats.org/officeDocument/2006/relationships/image" Target="../media/image63.wmf"/><Relationship Id="rId10" Type="http://schemas.openxmlformats.org/officeDocument/2006/relationships/oleObject" Target="../embeddings/oleObject20.bin"/><Relationship Id="rId4" Type="http://schemas.openxmlformats.org/officeDocument/2006/relationships/image" Target="../media/image63.png"/><Relationship Id="rId9" Type="http://schemas.openxmlformats.org/officeDocument/2006/relationships/image" Target="../media/image60.wmf"/><Relationship Id="rId14" Type="http://schemas.openxmlformats.org/officeDocument/2006/relationships/oleObject" Target="../embeddings/oleObject22.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31.xml"/><Relationship Id="rId7" Type="http://schemas.openxmlformats.org/officeDocument/2006/relationships/image" Target="../media/image64.e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23.bin"/><Relationship Id="rId5" Type="http://schemas.openxmlformats.org/officeDocument/2006/relationships/image" Target="../media/image67.png"/><Relationship Id="rId4" Type="http://schemas.openxmlformats.org/officeDocument/2006/relationships/image" Target="../media/image66.png"/><Relationship Id="rId9" Type="http://schemas.openxmlformats.org/officeDocument/2006/relationships/image" Target="../media/image65.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70.png"/><Relationship Id="rId5" Type="http://schemas.openxmlformats.org/officeDocument/2006/relationships/image" Target="../media/image68.emf"/><Relationship Id="rId4" Type="http://schemas.openxmlformats.org/officeDocument/2006/relationships/oleObject" Target="../embeddings/oleObject25.bin"/></Relationships>
</file>

<file path=ppt/slides/_rels/slide33.x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2.jpeg"/></Relationships>
</file>

<file path=ppt/slides/_rels/slide34.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notesSlide" Target="../notesSlides/notesSlide34.xml"/><Relationship Id="rId7" Type="http://schemas.openxmlformats.org/officeDocument/2006/relationships/image" Target="../media/image83.png"/><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82.png"/><Relationship Id="rId5" Type="http://schemas.openxmlformats.org/officeDocument/2006/relationships/image" Target="../media/image73.emf"/><Relationship Id="rId4" Type="http://schemas.openxmlformats.org/officeDocument/2006/relationships/oleObject" Target="../embeddings/oleObject26.bin"/></Relationships>
</file>

<file path=ppt/slides/_rels/slide35.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notesSlide" Target="../notesSlides/notesSlide35.xml"/><Relationship Id="rId7" Type="http://schemas.openxmlformats.org/officeDocument/2006/relationships/image" Target="../media/image87.png"/><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73.emf"/><Relationship Id="rId10" Type="http://schemas.openxmlformats.org/officeDocument/2006/relationships/image" Target="../media/image90.png"/><Relationship Id="rId4" Type="http://schemas.openxmlformats.org/officeDocument/2006/relationships/oleObject" Target="../embeddings/oleObject27.bin"/><Relationship Id="rId9" Type="http://schemas.openxmlformats.org/officeDocument/2006/relationships/image" Target="../media/image89.png"/></Relationships>
</file>

<file path=ppt/slides/_rels/slide36.xml.rels><?xml version="1.0" encoding="UTF-8" standalone="yes"?>
<Relationships xmlns="http://schemas.openxmlformats.org/package/2006/relationships"><Relationship Id="rId3" Type="http://schemas.openxmlformats.org/officeDocument/2006/relationships/image" Target="../media/image75.GIF"/><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95.png"/><Relationship Id="rId4" Type="http://schemas.openxmlformats.org/officeDocument/2006/relationships/image" Target="../media/image76.GIF"/></Relationships>
</file>

<file path=ppt/slides/_rels/slide37.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100.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38.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notesSlide" Target="../notesSlides/notesSlide38.xml"/><Relationship Id="rId7" Type="http://schemas.openxmlformats.org/officeDocument/2006/relationships/image" Target="../media/image103.pn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102.png"/><Relationship Id="rId5" Type="http://schemas.openxmlformats.org/officeDocument/2006/relationships/image" Target="../media/image73.emf"/><Relationship Id="rId10" Type="http://schemas.openxmlformats.org/officeDocument/2006/relationships/image" Target="../media/image106.png"/><Relationship Id="rId4" Type="http://schemas.openxmlformats.org/officeDocument/2006/relationships/oleObject" Target="../embeddings/oleObject28.bin"/><Relationship Id="rId9" Type="http://schemas.openxmlformats.org/officeDocument/2006/relationships/image" Target="../media/image105.png"/></Relationships>
</file>

<file path=ppt/slides/_rels/slide3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40.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s>
</file>

<file path=ppt/slides/_rels/slide41.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78.png"/><Relationship Id="rId3" Type="http://schemas.openxmlformats.org/officeDocument/2006/relationships/image" Target="../media/image66.png"/><Relationship Id="rId7" Type="http://schemas.openxmlformats.org/officeDocument/2006/relationships/image" Target="../media/image120.png"/><Relationship Id="rId12" Type="http://schemas.openxmlformats.org/officeDocument/2006/relationships/image" Target="../media/image124.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89.png"/><Relationship Id="rId11" Type="http://schemas.openxmlformats.org/officeDocument/2006/relationships/image" Target="../media/image77.png"/><Relationship Id="rId5" Type="http://schemas.openxmlformats.org/officeDocument/2006/relationships/image" Target="../media/image88.png"/><Relationship Id="rId10" Type="http://schemas.openxmlformats.org/officeDocument/2006/relationships/image" Target="../media/image98.png"/><Relationship Id="rId4" Type="http://schemas.openxmlformats.org/officeDocument/2006/relationships/image" Target="../media/image71.wmf"/><Relationship Id="rId9" Type="http://schemas.openxmlformats.org/officeDocument/2006/relationships/image" Target="../media/image122.png"/></Relationships>
</file>

<file path=ppt/slides/_rels/slide42.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123.png"/><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8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7" Type="http://schemas.openxmlformats.org/officeDocument/2006/relationships/image" Target="../media/image125.e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30.bin"/><Relationship Id="rId5" Type="http://schemas.openxmlformats.org/officeDocument/2006/relationships/image" Target="../media/image124.emf"/><Relationship Id="rId4" Type="http://schemas.openxmlformats.org/officeDocument/2006/relationships/oleObject" Target="../embeddings/oleObject29.bin"/></Relationships>
</file>

<file path=ppt/slides/_rels/slide44.xml.rels><?xml version="1.0" encoding="UTF-8" standalone="yes"?>
<Relationships xmlns="http://schemas.openxmlformats.org/package/2006/relationships"><Relationship Id="rId3" Type="http://schemas.openxmlformats.org/officeDocument/2006/relationships/image" Target="../media/image126.png"/><Relationship Id="rId7" Type="http://schemas.openxmlformats.org/officeDocument/2006/relationships/image" Target="../media/image129.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137.png"/><Relationship Id="rId5" Type="http://schemas.openxmlformats.org/officeDocument/2006/relationships/image" Target="../media/image128.GIF"/><Relationship Id="rId4" Type="http://schemas.openxmlformats.org/officeDocument/2006/relationships/image" Target="../media/image127.png"/></Relationships>
</file>

<file path=ppt/slides/_rels/slide4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49.xml"/><Relationship Id="rId1" Type="http://schemas.openxmlformats.org/officeDocument/2006/relationships/slideLayout" Target="../slideLayouts/slideLayout7.xml"/><Relationship Id="rId6" Type="http://schemas.openxmlformats.org/officeDocument/2006/relationships/image" Target="../media/image147.png"/><Relationship Id="rId5" Type="http://schemas.openxmlformats.org/officeDocument/2006/relationships/image" Target="../media/image146.png"/><Relationship Id="rId4" Type="http://schemas.openxmlformats.org/officeDocument/2006/relationships/image" Target="../media/image135.png"/></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notesSlide" Target="../notesSlides/notesSlide50.xml"/><Relationship Id="rId7" Type="http://schemas.openxmlformats.org/officeDocument/2006/relationships/image" Target="../media/image151.png"/><Relationship Id="rId12" Type="http://schemas.openxmlformats.org/officeDocument/2006/relationships/image" Target="../media/image155.png"/><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138.png"/><Relationship Id="rId11" Type="http://schemas.openxmlformats.org/officeDocument/2006/relationships/image" Target="../media/image154.png"/><Relationship Id="rId5" Type="http://schemas.openxmlformats.org/officeDocument/2006/relationships/image" Target="../media/image136.emf"/><Relationship Id="rId10" Type="http://schemas.openxmlformats.org/officeDocument/2006/relationships/image" Target="../media/image153.png"/><Relationship Id="rId4" Type="http://schemas.openxmlformats.org/officeDocument/2006/relationships/oleObject" Target="../embeddings/oleObject31.bin"/><Relationship Id="rId9" Type="http://schemas.openxmlformats.org/officeDocument/2006/relationships/image" Target="../media/image137.emf"/></Relationships>
</file>

<file path=ppt/slides/_rels/slide51.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60.png"/><Relationship Id="rId2" Type="http://schemas.openxmlformats.org/officeDocument/2006/relationships/notesSlide" Target="../notesSlides/notesSlide51.xml"/><Relationship Id="rId1" Type="http://schemas.openxmlformats.org/officeDocument/2006/relationships/slideLayout" Target="../slideLayouts/slideLayout7.xml"/><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157.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56.xml"/><Relationship Id="rId1" Type="http://schemas.openxmlformats.org/officeDocument/2006/relationships/slideLayout" Target="../slideLayouts/slideLayout7.xml"/><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15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157.emf"/><Relationship Id="rId5" Type="http://schemas.openxmlformats.org/officeDocument/2006/relationships/oleObject" Target="../embeddings/oleObject33.bin"/><Relationship Id="rId4" Type="http://schemas.openxmlformats.org/officeDocument/2006/relationships/image" Target="../media/image162.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7" Type="http://schemas.openxmlformats.org/officeDocument/2006/relationships/image" Target="../media/image164.e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35.bin"/><Relationship Id="rId5" Type="http://schemas.openxmlformats.org/officeDocument/2006/relationships/image" Target="../media/image163.emf"/><Relationship Id="rId4" Type="http://schemas.openxmlformats.org/officeDocument/2006/relationships/oleObject" Target="../embeddings/oleObject34.bin"/></Relationships>
</file>

<file path=ppt/slides/_rels/slide65.xml.rels><?xml version="1.0" encoding="UTF-8" standalone="yes"?>
<Relationships xmlns="http://schemas.openxmlformats.org/package/2006/relationships"><Relationship Id="rId3" Type="http://schemas.openxmlformats.org/officeDocument/2006/relationships/image" Target="../media/image165.GIF"/><Relationship Id="rId2" Type="http://schemas.openxmlformats.org/officeDocument/2006/relationships/notesSlide" Target="../notesSlides/notesSlide65.xml"/><Relationship Id="rId1" Type="http://schemas.openxmlformats.org/officeDocument/2006/relationships/slideLayout" Target="../slideLayouts/slideLayout7.xml"/><Relationship Id="rId5" Type="http://schemas.openxmlformats.org/officeDocument/2006/relationships/image" Target="../media/image156.png"/><Relationship Id="rId4" Type="http://schemas.openxmlformats.org/officeDocument/2006/relationships/image" Target="../media/image166.png"/></Relationships>
</file>

<file path=ppt/slides/_rels/slide66.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168.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68.xml"/><Relationship Id="rId1" Type="http://schemas.openxmlformats.org/officeDocument/2006/relationships/slideLayout" Target="../slideLayouts/slideLayout23.xml"/><Relationship Id="rId6" Type="http://schemas.microsoft.com/office/2007/relationships/hdphoto" Target="../media/hdphoto1.wdp"/><Relationship Id="rId5" Type="http://schemas.openxmlformats.org/officeDocument/2006/relationships/image" Target="../media/image171.png"/><Relationship Id="rId4" Type="http://schemas.openxmlformats.org/officeDocument/2006/relationships/image" Target="../media/image170.jpe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66203" y="2103887"/>
            <a:ext cx="6821170" cy="829945"/>
          </a:xfrm>
          <a:prstGeom prst="rect">
            <a:avLst/>
          </a:prstGeom>
          <a:noFill/>
          <a:effectLst/>
        </p:spPr>
        <p:txBody>
          <a:bodyPr wrap="square" rtlCol="0">
            <a:spAutoFit/>
          </a:bodyPr>
          <a:lstStyle/>
          <a:p>
            <a:pPr algn="ctr"/>
            <a:r>
              <a:rPr lang="zh-CN" altLang="en-US" sz="48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机器人原理与应用</a:t>
            </a:r>
            <a:endParaRPr lang="zh-CN" alt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1169670" y="2933700"/>
            <a:ext cx="7215505" cy="461665"/>
          </a:xfrm>
          <a:prstGeom prst="rect">
            <a:avLst/>
          </a:prstGeom>
        </p:spPr>
        <p:txBody>
          <a:bodyPr wrap="square">
            <a:spAutoFit/>
          </a:bodyPr>
          <a:lstStyle/>
          <a:p>
            <a:pPr algn="ctr">
              <a:lnSpc>
                <a:spcPct val="100000"/>
              </a:lnSpc>
            </a:pPr>
            <a:r>
              <a:rPr lang="en-US" altLang="zh-CN" sz="2400" dirty="0">
                <a:latin typeface="Arial" panose="020B0604020202020204" pitchFamily="34" charset="0"/>
                <a:ea typeface="微软雅黑" panose="020B0503020204020204" charset="-122"/>
              </a:rPr>
              <a:t>Principles and Applications of Robotics </a:t>
            </a:r>
            <a:endParaRPr lang="zh-CN" altLang="en-US" sz="24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4"/>
          <p:cNvSpPr txBox="1">
            <a:spLocks noChangeArrowheads="1"/>
          </p:cNvSpPr>
          <p:nvPr/>
        </p:nvSpPr>
        <p:spPr bwMode="auto">
          <a:xfrm>
            <a:off x="708819" y="3439620"/>
            <a:ext cx="8135938" cy="1630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t>Instructor:</a:t>
            </a:r>
            <a:r>
              <a:rPr lang="zh-CN" altLang="en-US" sz="2000" dirty="0">
                <a:ea typeface="楷体_GB2312" pitchFamily="49" charset="-122"/>
              </a:rPr>
              <a:t> </a:t>
            </a:r>
            <a:r>
              <a:rPr lang="en-US" altLang="zh-CN" sz="2000" dirty="0">
                <a:ea typeface="楷体_GB2312" pitchFamily="49" charset="-122"/>
              </a:rPr>
              <a:t>Dr. </a:t>
            </a:r>
            <a:r>
              <a:rPr lang="zh-CN" altLang="en-US" sz="2000" dirty="0" smtClean="0">
                <a:latin typeface="楷体" panose="02010609060101010101" pitchFamily="49" charset="-122"/>
                <a:ea typeface="楷体" panose="02010609060101010101" pitchFamily="49" charset="-122"/>
              </a:rPr>
              <a:t>闵华松</a:t>
            </a:r>
            <a:r>
              <a:rPr lang="en-US" altLang="zh-CN" sz="2000" dirty="0" smtClean="0">
                <a:ea typeface="楷体_GB2312" pitchFamily="49" charset="-122"/>
              </a:rPr>
              <a:t>(</a:t>
            </a:r>
            <a:r>
              <a:rPr lang="en-US" altLang="zh-CN" sz="2000" dirty="0" err="1" smtClean="0">
                <a:ea typeface="楷体_GB2312" pitchFamily="49" charset="-122"/>
              </a:rPr>
              <a:t>Huasong</a:t>
            </a:r>
            <a:r>
              <a:rPr lang="en-US" altLang="zh-CN" sz="2000" dirty="0" smtClean="0">
                <a:ea typeface="楷体_GB2312" pitchFamily="49" charset="-122"/>
              </a:rPr>
              <a:t> Min), </a:t>
            </a:r>
            <a:r>
              <a:rPr lang="en-US" altLang="zh-CN" sz="2000" dirty="0">
                <a:ea typeface="楷体_GB2312" pitchFamily="49" charset="-122"/>
              </a:rPr>
              <a:t>professor </a:t>
            </a:r>
            <a:endParaRPr lang="zh-CN" altLang="en-US" sz="2000" dirty="0">
              <a:ea typeface="楷体_GB2312" pitchFamily="49" charset="-122"/>
            </a:endParaRPr>
          </a:p>
          <a:p>
            <a:pPr eaLnBrk="1" hangingPunct="1">
              <a:spcBef>
                <a:spcPct val="0"/>
              </a:spcBef>
              <a:buFontTx/>
              <a:buNone/>
            </a:pPr>
            <a:r>
              <a:rPr lang="en-US" altLang="zh-CN" sz="2000" b="1" dirty="0"/>
              <a:t>Office Location</a:t>
            </a:r>
            <a:r>
              <a:rPr lang="zh-CN" altLang="en-US" sz="2000" dirty="0" smtClean="0">
                <a:ea typeface="楷体_GB2312" pitchFamily="49" charset="-122"/>
              </a:rPr>
              <a:t>：</a:t>
            </a:r>
            <a:r>
              <a:rPr lang="zh-CN" altLang="en-US" sz="2000" dirty="0" smtClean="0">
                <a:latin typeface="楷体" panose="02010609060101010101" pitchFamily="49" charset="-122"/>
                <a:ea typeface="楷体" panose="02010609060101010101" pitchFamily="49" charset="-122"/>
              </a:rPr>
              <a:t>钢铁楼</a:t>
            </a:r>
            <a:r>
              <a:rPr lang="en-US" altLang="zh-CN" sz="2000" dirty="0" smtClean="0">
                <a:ea typeface="楷体_GB2312" pitchFamily="49" charset="-122"/>
              </a:rPr>
              <a:t>1110</a:t>
            </a:r>
            <a:r>
              <a:rPr lang="en-US" altLang="zh-CN" sz="2000" dirty="0">
                <a:ea typeface="楷体_GB2312" pitchFamily="49" charset="-122"/>
              </a:rPr>
              <a:t>(</a:t>
            </a:r>
            <a:r>
              <a:rPr lang="en-US" altLang="zh-CN" sz="2000" dirty="0" smtClean="0">
                <a:ea typeface="楷体_GB2312" pitchFamily="49" charset="-122"/>
              </a:rPr>
              <a:t>Room </a:t>
            </a:r>
            <a:r>
              <a:rPr lang="en-US" altLang="zh-CN" sz="2000" dirty="0">
                <a:ea typeface="楷体_GB2312" pitchFamily="49" charset="-122"/>
              </a:rPr>
              <a:t>No. 1110, </a:t>
            </a:r>
            <a:r>
              <a:rPr lang="en-US" altLang="zh-CN" sz="2000" dirty="0" smtClean="0">
                <a:ea typeface="楷体_GB2312" pitchFamily="49" charset="-122"/>
              </a:rPr>
              <a:t>GANGTIE Building)</a:t>
            </a:r>
          </a:p>
          <a:p>
            <a:pPr eaLnBrk="1" hangingPunct="1">
              <a:spcBef>
                <a:spcPct val="0"/>
              </a:spcBef>
              <a:buFontTx/>
              <a:buNone/>
            </a:pPr>
            <a:r>
              <a:rPr lang="en-US" altLang="zh-CN" sz="2000" b="1" dirty="0" smtClean="0"/>
              <a:t>Class </a:t>
            </a:r>
            <a:r>
              <a:rPr lang="en-US" altLang="zh-CN" sz="2000" b="1" dirty="0"/>
              <a:t>venue:  </a:t>
            </a:r>
            <a:r>
              <a:rPr lang="en-US" altLang="zh-CN" sz="2000" dirty="0">
                <a:ea typeface="楷体_GB2312" pitchFamily="49" charset="-122"/>
              </a:rPr>
              <a:t>Room No. </a:t>
            </a:r>
          </a:p>
          <a:p>
            <a:pPr eaLnBrk="1" hangingPunct="1">
              <a:spcBef>
                <a:spcPct val="0"/>
              </a:spcBef>
              <a:buFontTx/>
              <a:buNone/>
            </a:pPr>
            <a:r>
              <a:rPr lang="en-US" altLang="zh-CN" sz="2000" b="1" dirty="0">
                <a:ea typeface="楷体_GB2312" pitchFamily="49" charset="-122"/>
              </a:rPr>
              <a:t>Email:  </a:t>
            </a:r>
            <a:r>
              <a:rPr lang="en-US" altLang="zh-CN" sz="2000" dirty="0">
                <a:ea typeface="楷体_GB2312" pitchFamily="49" charset="-122"/>
              </a:rPr>
              <a:t>mhuasong@wust.edu.cn</a:t>
            </a:r>
          </a:p>
          <a:p>
            <a:pPr eaLnBrk="1" hangingPunct="1">
              <a:spcBef>
                <a:spcPct val="0"/>
              </a:spcBef>
              <a:buFontTx/>
              <a:buNone/>
            </a:pPr>
            <a:r>
              <a:rPr lang="en-US" altLang="zh-CN" sz="2000" b="1" dirty="0">
                <a:ea typeface="楷体_GB2312" pitchFamily="49" charset="-122"/>
              </a:rPr>
              <a:t>Mobile: </a:t>
            </a:r>
            <a:endParaRPr lang="en-US" altLang="zh-CN" sz="2000" dirty="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043930" y="0"/>
            <a:ext cx="5136582" cy="514413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08635" y="972185"/>
            <a:ext cx="3199765" cy="319976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728345" y="1191895"/>
            <a:ext cx="2760345" cy="276034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76263" y="2280285"/>
            <a:ext cx="3063875" cy="583565"/>
          </a:xfrm>
          <a:prstGeom prst="rect">
            <a:avLst/>
          </a:prstGeom>
          <a:noFill/>
        </p:spPr>
        <p:txBody>
          <a:bodyPr wrap="square" rtlCol="0">
            <a:spAutoFit/>
          </a:bodyPr>
          <a:lstStyle/>
          <a:p>
            <a:pPr algn="ctr"/>
            <a:r>
              <a:rPr lang="en-US" altLang="zh-CN" sz="3200" b="1" spc="500">
                <a:solidFill>
                  <a:schemeClr val="bg1"/>
                </a:solidFill>
                <a:uFillTx/>
                <a:sym typeface="+mn-ea"/>
              </a:rPr>
              <a:t>CONTENTS</a:t>
            </a:r>
          </a:p>
        </p:txBody>
      </p:sp>
      <p:sp>
        <p:nvSpPr>
          <p:cNvPr id="24" name="KSO_Shape"/>
          <p:cNvSpPr/>
          <p:nvPr>
            <p:custDataLst>
              <p:tags r:id="rId1"/>
            </p:custDataLst>
          </p:nvPr>
        </p:nvSpPr>
        <p:spPr bwMode="auto">
          <a:xfrm>
            <a:off x="4067944" y="62753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 name="矩形 25"/>
          <p:cNvSpPr/>
          <p:nvPr>
            <p:custDataLst>
              <p:tags r:id="rId2"/>
            </p:custDataLst>
          </p:nvPr>
        </p:nvSpPr>
        <p:spPr>
          <a:xfrm>
            <a:off x="4534669" y="77155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Introduction and Conceptual Problems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7" name="矩形 26"/>
          <p:cNvSpPr/>
          <p:nvPr>
            <p:custDataLst>
              <p:tags r:id="rId3"/>
            </p:custDataLst>
          </p:nvPr>
        </p:nvSpPr>
        <p:spPr>
          <a:xfrm>
            <a:off x="4534637" y="55552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绪论</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62" name="KSO_Shape"/>
          <p:cNvSpPr/>
          <p:nvPr>
            <p:custDataLst>
              <p:tags r:id="rId4"/>
            </p:custDataLst>
          </p:nvPr>
        </p:nvSpPr>
        <p:spPr bwMode="auto">
          <a:xfrm>
            <a:off x="4067944" y="113159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3" name="矩形 62"/>
          <p:cNvSpPr/>
          <p:nvPr>
            <p:custDataLst>
              <p:tags r:id="rId5"/>
            </p:custDataLst>
          </p:nvPr>
        </p:nvSpPr>
        <p:spPr>
          <a:xfrm>
            <a:off x="4534669" y="127560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FF0000"/>
                </a:solidFill>
                <a:latin typeface="Arial" panose="020B0604020202020204" pitchFamily="34" charset="0"/>
                <a:ea typeface="微软雅黑" panose="020B0503020204020204" charset="-122"/>
                <a:sym typeface="Arial" panose="020B0604020202020204" pitchFamily="34" charset="0"/>
              </a:rPr>
              <a:t>System </a:t>
            </a:r>
            <a:r>
              <a:rPr lang="en-US" altLang="zh-CN" sz="1200" spc="150" dirty="0" smtClean="0">
                <a:solidFill>
                  <a:srgbClr val="FF0000"/>
                </a:solidFill>
                <a:latin typeface="Arial" panose="020B0604020202020204" pitchFamily="34" charset="0"/>
                <a:ea typeface="微软雅黑" panose="020B0503020204020204" charset="-122"/>
                <a:sym typeface="Arial" panose="020B0604020202020204" pitchFamily="34" charset="0"/>
              </a:rPr>
              <a:t>Model of </a:t>
            </a:r>
            <a:r>
              <a:rPr lang="en-US" altLang="zh-CN" sz="1200" spc="150" dirty="0">
                <a:solidFill>
                  <a:srgbClr val="FF0000"/>
                </a:solidFill>
                <a:latin typeface="Arial" panose="020B0604020202020204" pitchFamily="34" charset="0"/>
                <a:ea typeface="微软雅黑" panose="020B0503020204020204" charset="-122"/>
                <a:sym typeface="Arial" panose="020B0604020202020204" pitchFamily="34" charset="0"/>
              </a:rPr>
              <a:t>Robot</a:t>
            </a:r>
            <a:endParaRPr lang="zh-CN" altLang="en-US" sz="1200" spc="150" dirty="0">
              <a:solidFill>
                <a:srgbClr val="FF0000"/>
              </a:solidFill>
              <a:latin typeface="Arial" panose="020B0604020202020204" pitchFamily="34" charset="0"/>
              <a:ea typeface="微软雅黑" panose="020B0503020204020204" charset="-122"/>
              <a:sym typeface="Arial" panose="020B0604020202020204" pitchFamily="34" charset="0"/>
            </a:endParaRPr>
          </a:p>
        </p:txBody>
      </p:sp>
      <p:sp>
        <p:nvSpPr>
          <p:cNvPr id="64" name="矩形 63"/>
          <p:cNvSpPr/>
          <p:nvPr>
            <p:custDataLst>
              <p:tags r:id="rId6"/>
            </p:custDataLst>
          </p:nvPr>
        </p:nvSpPr>
        <p:spPr>
          <a:xfrm>
            <a:off x="4534637" y="10595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FF0000"/>
                </a:solidFill>
                <a:latin typeface="Arial" panose="020B0604020202020204" pitchFamily="34" charset="0"/>
                <a:ea typeface="微软雅黑" panose="020B0503020204020204" charset="-122"/>
                <a:cs typeface="+mn-ea"/>
                <a:sym typeface="Arial" panose="020B0604020202020204" pitchFamily="34" charset="0"/>
              </a:rPr>
              <a:t>机器人系统分析基础</a:t>
            </a:r>
          </a:p>
        </p:txBody>
      </p:sp>
      <p:sp>
        <p:nvSpPr>
          <p:cNvPr id="66" name="KSO_Shape"/>
          <p:cNvSpPr/>
          <p:nvPr>
            <p:custDataLst>
              <p:tags r:id="rId7"/>
            </p:custDataLst>
          </p:nvPr>
        </p:nvSpPr>
        <p:spPr bwMode="auto">
          <a:xfrm>
            <a:off x="4067944" y="163564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7" name="矩形 66"/>
          <p:cNvSpPr/>
          <p:nvPr>
            <p:custDataLst>
              <p:tags r:id="rId8"/>
            </p:custDataLst>
          </p:nvPr>
        </p:nvSpPr>
        <p:spPr>
          <a:xfrm>
            <a:off x="4534669" y="179591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Robot Kinematics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68" name="矩形 67"/>
          <p:cNvSpPr/>
          <p:nvPr>
            <p:custDataLst>
              <p:tags r:id="rId9"/>
            </p:custDataLst>
          </p:nvPr>
        </p:nvSpPr>
        <p:spPr>
          <a:xfrm>
            <a:off x="4534637" y="16012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运动学</a:t>
            </a:r>
          </a:p>
        </p:txBody>
      </p:sp>
      <p:sp>
        <p:nvSpPr>
          <p:cNvPr id="78" name="KSO_Shape"/>
          <p:cNvSpPr/>
          <p:nvPr>
            <p:custDataLst>
              <p:tags r:id="rId10"/>
            </p:custDataLst>
          </p:nvPr>
        </p:nvSpPr>
        <p:spPr bwMode="auto">
          <a:xfrm>
            <a:off x="4067944" y="210328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79" name="矩形 78"/>
          <p:cNvSpPr/>
          <p:nvPr>
            <p:custDataLst>
              <p:tags r:id="rId11"/>
            </p:custDataLst>
          </p:nvPr>
        </p:nvSpPr>
        <p:spPr>
          <a:xfrm>
            <a:off x="4534669" y="229997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Dynamics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80" name="矩形 79"/>
          <p:cNvSpPr/>
          <p:nvPr>
            <p:custDataLst>
              <p:tags r:id="rId12"/>
            </p:custDataLst>
          </p:nvPr>
        </p:nvSpPr>
        <p:spPr>
          <a:xfrm>
            <a:off x="4534637" y="20676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动力学</a:t>
            </a:r>
          </a:p>
        </p:txBody>
      </p:sp>
      <p:sp>
        <p:nvSpPr>
          <p:cNvPr id="2" name="矩形 1"/>
          <p:cNvSpPr/>
          <p:nvPr/>
        </p:nvSpPr>
        <p:spPr>
          <a:xfrm>
            <a:off x="4043930" y="-20538"/>
            <a:ext cx="5094446" cy="584775"/>
          </a:xfrm>
          <a:prstGeom prst="rect">
            <a:avLst/>
          </a:prstGeom>
        </p:spPr>
        <p:txBody>
          <a:bodyPr wrap="square">
            <a:spAutoFit/>
          </a:bodyPr>
          <a:lstStyle/>
          <a:p>
            <a:r>
              <a:rPr lang="en-US" altLang="zh-CN" sz="1600" b="1" dirty="0">
                <a:solidFill>
                  <a:schemeClr val="bg1"/>
                </a:solidFill>
              </a:rPr>
              <a:t>The course is divided into eight modules covering the following </a:t>
            </a:r>
            <a:r>
              <a:rPr lang="en-US" altLang="zh-CN" sz="1600" b="1" dirty="0" smtClean="0">
                <a:solidFill>
                  <a:schemeClr val="bg1"/>
                </a:solidFill>
              </a:rPr>
              <a:t>areas:</a:t>
            </a:r>
            <a:endParaRPr lang="en-US" altLang="zh-CN" sz="1600" b="1" dirty="0">
              <a:solidFill>
                <a:schemeClr val="bg1"/>
              </a:solidFill>
            </a:endParaRPr>
          </a:p>
        </p:txBody>
      </p:sp>
      <p:sp>
        <p:nvSpPr>
          <p:cNvPr id="19" name="KSO_Shape"/>
          <p:cNvSpPr/>
          <p:nvPr>
            <p:custDataLst>
              <p:tags r:id="rId13"/>
            </p:custDataLst>
          </p:nvPr>
        </p:nvSpPr>
        <p:spPr bwMode="auto">
          <a:xfrm>
            <a:off x="4067944" y="2679348"/>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矩形 19"/>
          <p:cNvSpPr/>
          <p:nvPr>
            <p:custDataLst>
              <p:tags r:id="rId14"/>
            </p:custDataLst>
          </p:nvPr>
        </p:nvSpPr>
        <p:spPr>
          <a:xfrm>
            <a:off x="4534637" y="3452098"/>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Control</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1" name="矩形 20"/>
          <p:cNvSpPr/>
          <p:nvPr>
            <p:custDataLst>
              <p:tags r:id="rId15"/>
            </p:custDataLst>
          </p:nvPr>
        </p:nvSpPr>
        <p:spPr>
          <a:xfrm>
            <a:off x="4534637" y="3185458"/>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机器人控制</a:t>
            </a:r>
          </a:p>
        </p:txBody>
      </p:sp>
      <p:sp>
        <p:nvSpPr>
          <p:cNvPr id="25" name="KSO_Shape"/>
          <p:cNvSpPr/>
          <p:nvPr>
            <p:custDataLst>
              <p:tags r:id="rId16"/>
            </p:custDataLst>
          </p:nvPr>
        </p:nvSpPr>
        <p:spPr bwMode="auto">
          <a:xfrm>
            <a:off x="4097652" y="3255412"/>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矩形 28"/>
          <p:cNvSpPr/>
          <p:nvPr>
            <p:custDataLst>
              <p:tags r:id="rId17"/>
            </p:custDataLst>
          </p:nvPr>
        </p:nvSpPr>
        <p:spPr>
          <a:xfrm>
            <a:off x="4534669" y="287603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Motion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P</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lanning</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0" name="矩形 29"/>
          <p:cNvSpPr/>
          <p:nvPr>
            <p:custDataLst>
              <p:tags r:id="rId18"/>
            </p:custDataLst>
          </p:nvPr>
        </p:nvSpPr>
        <p:spPr>
          <a:xfrm>
            <a:off x="4534637" y="26093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机器人运动规划</a:t>
            </a:r>
          </a:p>
        </p:txBody>
      </p:sp>
      <p:sp>
        <p:nvSpPr>
          <p:cNvPr id="35" name="KSO_Shape"/>
          <p:cNvSpPr/>
          <p:nvPr>
            <p:custDataLst>
              <p:tags r:id="rId19"/>
            </p:custDataLst>
          </p:nvPr>
        </p:nvSpPr>
        <p:spPr bwMode="auto">
          <a:xfrm>
            <a:off x="4114428" y="383147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6" name="矩形 35"/>
          <p:cNvSpPr/>
          <p:nvPr>
            <p:custDataLst>
              <p:tags r:id="rId20"/>
            </p:custDataLst>
          </p:nvPr>
        </p:nvSpPr>
        <p:spPr>
          <a:xfrm>
            <a:off x="4546476" y="376152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机器人编程语言</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7" name="矩形 36"/>
          <p:cNvSpPr/>
          <p:nvPr>
            <p:custDataLst>
              <p:tags r:id="rId21"/>
            </p:custDataLst>
          </p:nvPr>
        </p:nvSpPr>
        <p:spPr>
          <a:xfrm>
            <a:off x="4546476" y="4028162"/>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Programming Language of Robot</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8" name="KSO_Shape"/>
          <p:cNvSpPr/>
          <p:nvPr>
            <p:custDataLst>
              <p:tags r:id="rId22"/>
            </p:custDataLst>
          </p:nvPr>
        </p:nvSpPr>
        <p:spPr bwMode="auto">
          <a:xfrm>
            <a:off x="4114428" y="440754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9" name="矩形 38"/>
          <p:cNvSpPr/>
          <p:nvPr>
            <p:custDataLst>
              <p:tags r:id="rId23"/>
            </p:custDataLst>
          </p:nvPr>
        </p:nvSpPr>
        <p:spPr>
          <a:xfrm>
            <a:off x="4546476" y="433758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典型机器人系统的设计与实现</a:t>
            </a:r>
          </a:p>
        </p:txBody>
      </p:sp>
      <p:sp>
        <p:nvSpPr>
          <p:cNvPr id="40" name="矩形 39"/>
          <p:cNvSpPr/>
          <p:nvPr>
            <p:custDataLst>
              <p:tags r:id="rId24"/>
            </p:custDataLst>
          </p:nvPr>
        </p:nvSpPr>
        <p:spPr>
          <a:xfrm>
            <a:off x="4534232" y="460422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Design and Implementation of Robot System</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019471" y="1293520"/>
            <a:ext cx="4141162" cy="3416320"/>
          </a:xfrm>
          <a:prstGeom prst="rect">
            <a:avLst/>
          </a:prstGeom>
        </p:spPr>
        <p:txBody>
          <a:bodyPr wrap="square">
            <a:spAutoFit/>
          </a:bodyPr>
          <a:lstStyle/>
          <a:p>
            <a:pPr marL="171450" indent="-171450">
              <a:lnSpc>
                <a:spcPct val="150000"/>
              </a:lnSpc>
              <a:buFont typeface="Wingdings" panose="05000000000000000000" pitchFamily="2" charset="2"/>
              <a:buChar char="Ø"/>
            </a:pPr>
            <a:r>
              <a:rPr lang="zh-CN" altLang="en-US" sz="1200" dirty="0">
                <a:solidFill>
                  <a:srgbClr val="FF0000"/>
                </a:solidFill>
                <a:latin typeface="Arial" panose="020B0604020202020204" pitchFamily="34" charset="0"/>
                <a:ea typeface="微软雅黑" panose="020B0503020204020204" charset="-122"/>
                <a:sym typeface="+mn-ea"/>
              </a:rPr>
              <a:t>机器人与人工智能</a:t>
            </a:r>
            <a:r>
              <a:rPr lang="en-US" altLang="zh-CN" sz="1200" dirty="0" smtClean="0">
                <a:solidFill>
                  <a:srgbClr val="FF0000"/>
                </a:solidFill>
                <a:latin typeface="Arial" panose="020B0604020202020204" pitchFamily="34" charset="0"/>
                <a:ea typeface="微软雅黑" panose="020B0503020204020204" charset="-122"/>
                <a:sym typeface="+mn-ea"/>
              </a:rPr>
              <a:t>(Robotics and AI)</a:t>
            </a:r>
            <a:endParaRPr lang="en-US" altLang="zh-CN" sz="1200" dirty="0">
              <a:solidFill>
                <a:srgbClr val="FF0000"/>
              </a:solidFill>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200" dirty="0">
                <a:latin typeface="Arial" panose="020B0604020202020204" pitchFamily="34" charset="0"/>
                <a:ea typeface="微软雅黑" panose="020B0503020204020204" charset="-122"/>
                <a:sym typeface="+mn-ea"/>
              </a:rPr>
              <a:t>智能机器人体系结构</a:t>
            </a:r>
            <a:r>
              <a:rPr lang="en-US" altLang="zh-CN" sz="1200" dirty="0" smtClean="0">
                <a:latin typeface="Arial" panose="020B0604020202020204" pitchFamily="34" charset="0"/>
                <a:ea typeface="微软雅黑" panose="020B0503020204020204" charset="-122"/>
                <a:sym typeface="+mn-ea"/>
              </a:rPr>
              <a:t>(Architecture </a:t>
            </a:r>
            <a:r>
              <a:rPr lang="en-US" altLang="zh-CN" sz="1200" dirty="0">
                <a:latin typeface="Arial" panose="020B0604020202020204" pitchFamily="34" charset="0"/>
                <a:ea typeface="微软雅黑" panose="020B0503020204020204" charset="-122"/>
                <a:sym typeface="+mn-ea"/>
              </a:rPr>
              <a:t>of </a:t>
            </a:r>
            <a:r>
              <a:rPr lang="en-US" altLang="zh-CN" sz="1200" dirty="0" smtClean="0">
                <a:latin typeface="Arial" panose="020B0604020202020204" pitchFamily="34" charset="0"/>
                <a:ea typeface="微软雅黑" panose="020B0503020204020204" charset="-122"/>
                <a:sym typeface="+mn-ea"/>
              </a:rPr>
              <a:t>Intelligent Robots</a:t>
            </a:r>
            <a:r>
              <a:rPr lang="en-US" altLang="zh-CN" sz="1200" dirty="0">
                <a:latin typeface="Arial" panose="020B0604020202020204" pitchFamily="34" charset="0"/>
                <a:ea typeface="微软雅黑" panose="020B0503020204020204" charset="-122"/>
                <a:sym typeface="+mn-ea"/>
              </a:rPr>
              <a:t>)</a:t>
            </a:r>
          </a:p>
          <a:p>
            <a:pPr marL="171450" indent="-171450">
              <a:lnSpc>
                <a:spcPct val="150000"/>
              </a:lnSpc>
              <a:buFont typeface="Wingdings" panose="05000000000000000000" pitchFamily="2" charset="2"/>
              <a:buChar char="Ø"/>
            </a:pPr>
            <a:r>
              <a:rPr lang="zh-CN" altLang="en-US" sz="1200" dirty="0">
                <a:latin typeface="Arial" panose="020B0604020202020204" pitchFamily="34" charset="0"/>
                <a:ea typeface="微软雅黑" panose="020B0503020204020204" charset="-122"/>
                <a:sym typeface="+mn-ea"/>
              </a:rPr>
              <a:t>机器人系统的组成</a:t>
            </a:r>
            <a:r>
              <a:rPr lang="en-US" altLang="zh-CN" sz="1200" dirty="0" smtClean="0">
                <a:latin typeface="Arial" panose="020B0604020202020204" pitchFamily="34" charset="0"/>
                <a:ea typeface="微软雅黑" panose="020B0503020204020204" charset="-122"/>
                <a:sym typeface="+mn-ea"/>
              </a:rPr>
              <a:t>(System </a:t>
            </a:r>
            <a:r>
              <a:rPr lang="en-US" altLang="zh-CN" sz="1200" dirty="0">
                <a:latin typeface="Arial" panose="020B0604020202020204" pitchFamily="34" charset="0"/>
                <a:ea typeface="微软雅黑" panose="020B0503020204020204" charset="-122"/>
                <a:sym typeface="+mn-ea"/>
              </a:rPr>
              <a:t>of Robots)</a:t>
            </a:r>
          </a:p>
          <a:p>
            <a:pPr marL="171450" indent="-171450">
              <a:lnSpc>
                <a:spcPct val="150000"/>
              </a:lnSpc>
              <a:buFont typeface="Wingdings" panose="05000000000000000000" pitchFamily="2" charset="2"/>
              <a:buChar char="Ø"/>
            </a:pPr>
            <a:r>
              <a:rPr lang="zh-CN" altLang="en-US" sz="1200" dirty="0">
                <a:latin typeface="Arial" panose="020B0604020202020204" pitchFamily="34" charset="0"/>
                <a:ea typeface="微软雅黑" panose="020B0503020204020204" charset="-122"/>
                <a:sym typeface="+mn-ea"/>
              </a:rPr>
              <a:t>机器人</a:t>
            </a:r>
            <a:r>
              <a:rPr lang="zh-CN" altLang="en-US" sz="1200" dirty="0" smtClean="0">
                <a:latin typeface="Arial" panose="020B0604020202020204" pitchFamily="34" charset="0"/>
                <a:ea typeface="微软雅黑" panose="020B0503020204020204" charset="-122"/>
                <a:sym typeface="+mn-ea"/>
              </a:rPr>
              <a:t>位形</a:t>
            </a:r>
            <a:r>
              <a:rPr lang="en-US" altLang="zh-CN" sz="1200" dirty="0" smtClean="0">
                <a:latin typeface="Arial" panose="020B0604020202020204" pitchFamily="34" charset="0"/>
                <a:ea typeface="微软雅黑" panose="020B0503020204020204" charset="-122"/>
                <a:sym typeface="+mn-ea"/>
              </a:rPr>
              <a:t>(Configure of Robot and C-Space)</a:t>
            </a:r>
            <a:endParaRPr lang="en-US" altLang="zh-CN" sz="1200" dirty="0">
              <a:latin typeface="Arial" panose="020B0604020202020204" pitchFamily="34" charset="0"/>
              <a:ea typeface="微软雅黑" panose="020B0503020204020204" charset="-122"/>
              <a:sym typeface="+mn-ea"/>
            </a:endParaRPr>
          </a:p>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机器人关节类型与自由度</a:t>
            </a:r>
            <a:r>
              <a:rPr lang="en-US" altLang="zh-CN" sz="1200" dirty="0" smtClean="0">
                <a:latin typeface="Arial" panose="020B0604020202020204" pitchFamily="34" charset="0"/>
                <a:ea typeface="微软雅黑" panose="020B0503020204020204" charset="-122"/>
                <a:sym typeface="+mn-ea"/>
              </a:rPr>
              <a:t>(Type and Freedom of Robot Joint)</a:t>
            </a:r>
          </a:p>
          <a:p>
            <a:pPr marL="171450" indent="-171450">
              <a:lnSpc>
                <a:spcPct val="150000"/>
              </a:lnSpc>
              <a:buFont typeface="Wingdings" panose="05000000000000000000" pitchFamily="2" charset="2"/>
              <a:buChar char="Ø"/>
            </a:pPr>
            <a:r>
              <a:rPr lang="zh-CN" altLang="en-US" sz="1200" dirty="0">
                <a:latin typeface="Arial" panose="020B0604020202020204" pitchFamily="34" charset="0"/>
                <a:ea typeface="微软雅黑" panose="020B0503020204020204" charset="-122"/>
                <a:sym typeface="+mn-ea"/>
              </a:rPr>
              <a:t>常用的机器人建模描述文件与</a:t>
            </a:r>
            <a:r>
              <a:rPr lang="zh-CN" altLang="en-US" sz="1200" dirty="0" smtClean="0">
                <a:latin typeface="Arial" panose="020B0604020202020204" pitchFamily="34" charset="0"/>
                <a:ea typeface="微软雅黑" panose="020B0503020204020204" charset="-122"/>
                <a:sym typeface="+mn-ea"/>
              </a:rPr>
              <a:t>仿真平台</a:t>
            </a:r>
            <a:r>
              <a:rPr lang="en-US" altLang="zh-CN" sz="1200" dirty="0" smtClean="0">
                <a:latin typeface="Arial" panose="020B0604020202020204" pitchFamily="34" charset="0"/>
                <a:ea typeface="微软雅黑" panose="020B0503020204020204" charset="-122"/>
                <a:sym typeface="+mn-ea"/>
              </a:rPr>
              <a:t>(Robot </a:t>
            </a:r>
            <a:r>
              <a:rPr lang="en-US" altLang="zh-CN" sz="1200" dirty="0">
                <a:latin typeface="Arial" panose="020B0604020202020204" pitchFamily="34" charset="0"/>
                <a:ea typeface="微软雅黑" panose="020B0503020204020204" charset="-122"/>
                <a:sym typeface="+mn-ea"/>
              </a:rPr>
              <a:t>Description and </a:t>
            </a:r>
            <a:r>
              <a:rPr lang="en-US" altLang="zh-CN" sz="1200" dirty="0" smtClean="0">
                <a:latin typeface="Arial" panose="020B0604020202020204" pitchFamily="34" charset="0"/>
                <a:ea typeface="微软雅黑" panose="020B0503020204020204" charset="-122"/>
                <a:sym typeface="+mn-ea"/>
              </a:rPr>
              <a:t>Simulation)</a:t>
            </a:r>
          </a:p>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机器人系统的设计方法</a:t>
            </a:r>
            <a:r>
              <a:rPr lang="en-US" altLang="zh-CN" sz="1200" dirty="0" smtClean="0">
                <a:latin typeface="Arial" panose="020B0604020202020204" pitchFamily="34" charset="0"/>
                <a:ea typeface="微软雅黑" panose="020B0503020204020204" charset="-122"/>
                <a:sym typeface="+mn-ea"/>
              </a:rPr>
              <a:t>(Design Method of Robot System)</a:t>
            </a:r>
          </a:p>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基于</a:t>
            </a:r>
            <a:r>
              <a:rPr lang="en-US" altLang="zh-CN" sz="1200" dirty="0" smtClean="0">
                <a:latin typeface="Arial" panose="020B0604020202020204" pitchFamily="34" charset="0"/>
                <a:ea typeface="微软雅黑" panose="020B0503020204020204" charset="-122"/>
                <a:sym typeface="+mn-ea"/>
              </a:rPr>
              <a:t>ROS</a:t>
            </a:r>
            <a:r>
              <a:rPr lang="zh-CN" altLang="en-US" sz="1200" dirty="0" smtClean="0">
                <a:latin typeface="Arial" panose="020B0604020202020204" pitchFamily="34" charset="0"/>
                <a:ea typeface="微软雅黑" panose="020B0503020204020204" charset="-122"/>
                <a:sym typeface="+mn-ea"/>
              </a:rPr>
              <a:t>的机器人系统设计（</a:t>
            </a:r>
            <a:r>
              <a:rPr lang="en-US" altLang="zh-CN" sz="1200" dirty="0" smtClean="0">
                <a:latin typeface="Arial" panose="020B0604020202020204" pitchFamily="34" charset="0"/>
                <a:ea typeface="微软雅黑" panose="020B0503020204020204" charset="-122"/>
                <a:sym typeface="+mn-ea"/>
              </a:rPr>
              <a:t>Robot System Design on ROS)</a:t>
            </a:r>
          </a:p>
          <a:p>
            <a:pPr marL="171450" indent="-171450">
              <a:lnSpc>
                <a:spcPct val="150000"/>
              </a:lnSpc>
              <a:buFont typeface="Wingdings" panose="05000000000000000000" pitchFamily="2" charset="2"/>
              <a:buChar char="Ø"/>
            </a:pPr>
            <a:r>
              <a:rPr lang="zh-CN" altLang="en-US" sz="1200" dirty="0" smtClean="0">
                <a:latin typeface="Arial" panose="020B0604020202020204" pitchFamily="34" charset="0"/>
                <a:ea typeface="微软雅黑" panose="020B0503020204020204" charset="-122"/>
                <a:sym typeface="+mn-ea"/>
              </a:rPr>
              <a:t>扩展阅读</a:t>
            </a:r>
            <a:r>
              <a:rPr lang="en-US" altLang="zh-CN" sz="1200" dirty="0">
                <a:latin typeface="Arial" panose="020B0604020202020204" pitchFamily="34" charset="0"/>
                <a:ea typeface="微软雅黑" panose="020B0503020204020204" charset="-122"/>
                <a:sym typeface="+mn-ea"/>
              </a:rPr>
              <a:t>(Expand </a:t>
            </a:r>
            <a:r>
              <a:rPr lang="en-US" altLang="zh-CN" sz="1200" dirty="0" smtClean="0">
                <a:latin typeface="Arial" panose="020B0604020202020204" pitchFamily="34" charset="0"/>
                <a:ea typeface="微软雅黑" panose="020B0503020204020204" charset="-122"/>
                <a:sym typeface="+mn-ea"/>
              </a:rPr>
              <a:t>Knowledge)</a:t>
            </a:r>
            <a:endParaRPr lang="en-US" altLang="zh-CN"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019471" y="771550"/>
            <a:ext cx="3997146" cy="461665"/>
          </a:xfrm>
          <a:prstGeom prst="rect">
            <a:avLst/>
          </a:prstGeom>
          <a:noFill/>
        </p:spPr>
        <p:txBody>
          <a:bodyPr wrap="square" rtlCol="0" anchor="t">
            <a:spAutoFit/>
          </a:bodyPr>
          <a:lstStyle/>
          <a:p>
            <a:pPr algn="l"/>
            <a:r>
              <a:rPr lang="zh-CN" altLang="en-US" sz="2400" b="1" dirty="0" smtClean="0">
                <a:latin typeface="Arial" panose="020B0604020202020204" pitchFamily="34" charset="0"/>
                <a:ea typeface="微软雅黑" panose="020B0503020204020204" charset="-122"/>
                <a:sym typeface="+mn-ea"/>
              </a:rPr>
              <a:t>机器人系统分析与设计基础</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00</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369332"/>
          </a:xfrm>
          <a:prstGeom prst="rect">
            <a:avLst/>
          </a:prstGeom>
        </p:spPr>
        <p:txBody>
          <a:bodyPr wrap="square">
            <a:spAutoFit/>
          </a:bodyPr>
          <a:lstStyle/>
          <a:p>
            <a:pPr algn="l">
              <a:lnSpc>
                <a:spcPct val="150000"/>
              </a:lnSpc>
            </a:pPr>
            <a:r>
              <a:rPr lang="en-US" altLang="zh-CN" sz="1200" dirty="0" smtClean="0">
                <a:solidFill>
                  <a:schemeClr val="tx1"/>
                </a:solidFill>
                <a:latin typeface="Arial" panose="020B0604020202020204" pitchFamily="34" charset="0"/>
                <a:ea typeface="微软雅黑" panose="020B0503020204020204" charset="-122"/>
                <a:sym typeface="+mn-ea"/>
              </a:rPr>
              <a:t>Robotics and AI</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523220"/>
          </a:xfrm>
          <a:prstGeom prst="rect">
            <a:avLst/>
          </a:prstGeom>
          <a:noFill/>
        </p:spPr>
        <p:txBody>
          <a:bodyPr wrap="square" rtlCol="0" anchor="t">
            <a:spAutoFit/>
          </a:bodyPr>
          <a:lstStyle/>
          <a:p>
            <a:pPr algn="l"/>
            <a:r>
              <a:rPr lang="zh-CN" altLang="en-US" sz="2800" b="1" dirty="0" smtClean="0">
                <a:latin typeface="Arial" panose="020B0604020202020204" pitchFamily="34" charset="0"/>
                <a:ea typeface="微软雅黑" panose="020B0503020204020204" charset="-122"/>
                <a:sym typeface="+mn-ea"/>
              </a:rPr>
              <a:t>机器人与人工智能</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01</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a:spLocks noChangeArrowheads="1"/>
          </p:cNvSpPr>
          <p:nvPr/>
        </p:nvSpPr>
        <p:spPr bwMode="auto">
          <a:xfrm>
            <a:off x="977858" y="856146"/>
            <a:ext cx="4752528" cy="1163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en-US" altLang="zh-CN" sz="1200" b="1" dirty="0">
                <a:latin typeface="Arial" panose="020B0604020202020204" pitchFamily="34" charset="0"/>
              </a:rPr>
              <a:t> A perspective of AI</a:t>
            </a:r>
          </a:p>
          <a:p>
            <a:pPr eaLnBrk="1" hangingPunct="1">
              <a:buFontTx/>
              <a:buChar char="–"/>
            </a:pPr>
            <a:r>
              <a:rPr lang="en-US" altLang="zh-CN" sz="1200" b="1" dirty="0">
                <a:latin typeface="Arial" panose="020B0604020202020204" pitchFamily="34" charset="0"/>
              </a:rPr>
              <a:t> Artificial Intelligence - Knowledge based computing</a:t>
            </a:r>
          </a:p>
          <a:p>
            <a:pPr eaLnBrk="1" hangingPunct="1">
              <a:buFontTx/>
              <a:buChar char="–"/>
            </a:pPr>
            <a:r>
              <a:rPr lang="en-US" altLang="zh-CN" sz="1200" b="1" dirty="0">
                <a:latin typeface="Arial" panose="020B0604020202020204" pitchFamily="34" charset="0"/>
              </a:rPr>
              <a:t> Disciplines which form the core of AI - inner circle</a:t>
            </a:r>
          </a:p>
          <a:p>
            <a:pPr eaLnBrk="1" hangingPunct="1">
              <a:buFontTx/>
              <a:buChar char="–"/>
            </a:pPr>
            <a:r>
              <a:rPr lang="en-US" altLang="zh-CN" sz="1200" b="1" dirty="0">
                <a:latin typeface="Arial" panose="020B0604020202020204" pitchFamily="34" charset="0"/>
              </a:rPr>
              <a:t> Fields which draw from these disciplines - outer circle.</a:t>
            </a:r>
          </a:p>
          <a:p>
            <a:pPr eaLnBrk="1" hangingPunct="1">
              <a:buFontTx/>
              <a:buChar char="–"/>
            </a:pPr>
            <a:r>
              <a:rPr lang="en-US" altLang="zh-CN" sz="1200" b="1" dirty="0">
                <a:latin typeface="Arial" panose="020B0604020202020204" pitchFamily="34" charset="0"/>
              </a:rPr>
              <a:t>Symbolism, Connectionism and Behaviorism? </a:t>
            </a:r>
          </a:p>
        </p:txBody>
      </p:sp>
      <p:grpSp>
        <p:nvGrpSpPr>
          <p:cNvPr id="3" name="组合 17"/>
          <p:cNvGrpSpPr/>
          <p:nvPr/>
        </p:nvGrpSpPr>
        <p:grpSpPr bwMode="auto">
          <a:xfrm>
            <a:off x="1257596" y="2069321"/>
            <a:ext cx="4074918" cy="2230621"/>
            <a:chOff x="1236571" y="1676400"/>
            <a:chExt cx="6694162" cy="4953000"/>
          </a:xfrm>
        </p:grpSpPr>
        <p:sp>
          <p:nvSpPr>
            <p:cNvPr id="4" name="Oval 2"/>
            <p:cNvSpPr>
              <a:spLocks noChangeArrowheads="1"/>
            </p:cNvSpPr>
            <p:nvPr/>
          </p:nvSpPr>
          <p:spPr bwMode="auto">
            <a:xfrm>
              <a:off x="1524000" y="1676400"/>
              <a:ext cx="5943600" cy="4953000"/>
            </a:xfrm>
            <a:prstGeom prst="ellipse">
              <a:avLst/>
            </a:prstGeom>
            <a:solidFill>
              <a:schemeClr val="accent1"/>
            </a:solidFill>
            <a:ln w="952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endParaRPr lang="zh-CN" altLang="en-US" sz="1800"/>
            </a:p>
          </p:txBody>
        </p:sp>
        <p:sp>
          <p:nvSpPr>
            <p:cNvPr id="5" name="Oval 4"/>
            <p:cNvSpPr>
              <a:spLocks noChangeArrowheads="1"/>
            </p:cNvSpPr>
            <p:nvPr/>
          </p:nvSpPr>
          <p:spPr bwMode="auto">
            <a:xfrm>
              <a:off x="2819400" y="2406650"/>
              <a:ext cx="3429000" cy="3155950"/>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endParaRPr lang="zh-CN" altLang="en-US" sz="1800"/>
            </a:p>
          </p:txBody>
        </p:sp>
        <p:sp>
          <p:nvSpPr>
            <p:cNvPr id="6" name="Text Box 5"/>
            <p:cNvSpPr txBox="1">
              <a:spLocks noChangeArrowheads="1"/>
            </p:cNvSpPr>
            <p:nvPr/>
          </p:nvSpPr>
          <p:spPr bwMode="auto">
            <a:xfrm>
              <a:off x="6026281" y="4419600"/>
              <a:ext cx="1904452" cy="820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1800" b="1" dirty="0">
                  <a:latin typeface="Arial" panose="020B0604020202020204" pitchFamily="34" charset="0"/>
                </a:rPr>
                <a:t>Planning</a:t>
              </a:r>
            </a:p>
          </p:txBody>
        </p:sp>
        <p:sp>
          <p:nvSpPr>
            <p:cNvPr id="7" name="Text Box 6"/>
            <p:cNvSpPr txBox="1">
              <a:spLocks noChangeArrowheads="1"/>
            </p:cNvSpPr>
            <p:nvPr/>
          </p:nvSpPr>
          <p:spPr bwMode="auto">
            <a:xfrm>
              <a:off x="4197349" y="5688012"/>
              <a:ext cx="830039" cy="820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1800" b="1" dirty="0">
                  <a:latin typeface="Arial" panose="020B0604020202020204" pitchFamily="34" charset="0"/>
                </a:rPr>
                <a:t>CV</a:t>
              </a:r>
            </a:p>
          </p:txBody>
        </p:sp>
        <p:sp>
          <p:nvSpPr>
            <p:cNvPr id="8" name="Text Box 7"/>
            <p:cNvSpPr txBox="1">
              <a:spLocks noChangeArrowheads="1"/>
            </p:cNvSpPr>
            <p:nvPr/>
          </p:nvSpPr>
          <p:spPr bwMode="auto">
            <a:xfrm>
              <a:off x="6019801" y="2489201"/>
              <a:ext cx="1061774" cy="820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1800" b="1" dirty="0">
                  <a:latin typeface="Arial" panose="020B0604020202020204" pitchFamily="34" charset="0"/>
                </a:rPr>
                <a:t>NLP</a:t>
              </a:r>
            </a:p>
          </p:txBody>
        </p:sp>
        <p:sp>
          <p:nvSpPr>
            <p:cNvPr id="9" name="Text Box 8"/>
            <p:cNvSpPr txBox="1">
              <a:spLocks noChangeArrowheads="1"/>
            </p:cNvSpPr>
            <p:nvPr/>
          </p:nvSpPr>
          <p:spPr bwMode="auto">
            <a:xfrm>
              <a:off x="1236571" y="3581400"/>
              <a:ext cx="1862319" cy="1558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pPr>
              <a:r>
                <a:rPr lang="en-US" altLang="zh-CN" sz="1800" b="1" dirty="0">
                  <a:latin typeface="Arial" panose="020B0604020202020204" pitchFamily="34" charset="0"/>
                </a:rPr>
                <a:t>Expert</a:t>
              </a:r>
            </a:p>
            <a:p>
              <a:pPr algn="ctr" eaLnBrk="1" hangingPunct="1">
                <a:buNone/>
              </a:pPr>
              <a:r>
                <a:rPr lang="en-US" altLang="zh-CN" sz="1800" b="1" dirty="0">
                  <a:latin typeface="Arial" panose="020B0604020202020204" pitchFamily="34" charset="0"/>
                </a:rPr>
                <a:t>Systems</a:t>
              </a:r>
            </a:p>
          </p:txBody>
        </p:sp>
        <p:sp>
          <p:nvSpPr>
            <p:cNvPr id="10" name="Text Box 9"/>
            <p:cNvSpPr txBox="1">
              <a:spLocks noChangeArrowheads="1"/>
            </p:cNvSpPr>
            <p:nvPr/>
          </p:nvSpPr>
          <p:spPr bwMode="auto">
            <a:xfrm>
              <a:off x="3717926" y="1752599"/>
              <a:ext cx="1925519" cy="820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None/>
              </a:pPr>
              <a:r>
                <a:rPr lang="en-US" altLang="zh-CN" sz="1800" b="1" dirty="0">
                  <a:latin typeface="Arial" panose="020B0604020202020204" pitchFamily="34" charset="0"/>
                </a:rPr>
                <a:t>Robotics</a:t>
              </a:r>
            </a:p>
          </p:txBody>
        </p:sp>
        <p:sp>
          <p:nvSpPr>
            <p:cNvPr id="11" name="Text Box 10"/>
            <p:cNvSpPr txBox="1">
              <a:spLocks noChangeArrowheads="1"/>
            </p:cNvSpPr>
            <p:nvPr/>
          </p:nvSpPr>
          <p:spPr bwMode="auto">
            <a:xfrm>
              <a:off x="3682182" y="3173413"/>
              <a:ext cx="1778053" cy="229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pPr>
              <a:r>
                <a:rPr lang="en-US" altLang="zh-CN" sz="1800" b="1" dirty="0">
                  <a:latin typeface="Arial" panose="020B0604020202020204" pitchFamily="34" charset="0"/>
                </a:rPr>
                <a:t>Search, </a:t>
              </a:r>
            </a:p>
            <a:p>
              <a:pPr algn="ctr" eaLnBrk="1" hangingPunct="1">
                <a:buNone/>
              </a:pPr>
              <a:r>
                <a:rPr lang="en-US" altLang="zh-CN" sz="1800" b="1" dirty="0">
                  <a:latin typeface="Arial" panose="020B0604020202020204" pitchFamily="34" charset="0"/>
                </a:rPr>
                <a:t>RSN,</a:t>
              </a:r>
            </a:p>
            <a:p>
              <a:pPr algn="ctr" eaLnBrk="1" hangingPunct="1">
                <a:buNone/>
              </a:pPr>
              <a:r>
                <a:rPr lang="en-US" altLang="zh-CN" sz="1800" b="1" dirty="0">
                  <a:latin typeface="Arial" panose="020B0604020202020204" pitchFamily="34" charset="0"/>
                </a:rPr>
                <a:t>LRN</a:t>
              </a:r>
            </a:p>
          </p:txBody>
        </p:sp>
        <p:sp>
          <p:nvSpPr>
            <p:cNvPr id="12" name="Line 11"/>
            <p:cNvSpPr>
              <a:spLocks noChangeShapeType="1"/>
            </p:cNvSpPr>
            <p:nvPr/>
          </p:nvSpPr>
          <p:spPr bwMode="auto">
            <a:xfrm flipH="1">
              <a:off x="5486400" y="1676400"/>
              <a:ext cx="609600" cy="9906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2"/>
            <p:cNvSpPr>
              <a:spLocks noChangeShapeType="1"/>
            </p:cNvSpPr>
            <p:nvPr/>
          </p:nvSpPr>
          <p:spPr bwMode="auto">
            <a:xfrm>
              <a:off x="6248400" y="4114800"/>
              <a:ext cx="11430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 name="Line 13"/>
            <p:cNvSpPr>
              <a:spLocks noChangeShapeType="1"/>
            </p:cNvSpPr>
            <p:nvPr/>
          </p:nvSpPr>
          <p:spPr bwMode="auto">
            <a:xfrm>
              <a:off x="5562600" y="5257800"/>
              <a:ext cx="6096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4"/>
            <p:cNvSpPr>
              <a:spLocks noChangeShapeType="1"/>
            </p:cNvSpPr>
            <p:nvPr/>
          </p:nvSpPr>
          <p:spPr bwMode="auto">
            <a:xfrm flipH="1">
              <a:off x="2438400" y="4876800"/>
              <a:ext cx="685800" cy="7620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5"/>
            <p:cNvSpPr>
              <a:spLocks noChangeShapeType="1"/>
            </p:cNvSpPr>
            <p:nvPr/>
          </p:nvSpPr>
          <p:spPr bwMode="auto">
            <a:xfrm>
              <a:off x="2667000" y="1905000"/>
              <a:ext cx="685800" cy="914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 name="矩形 1"/>
          <p:cNvSpPr>
            <a:spLocks noChangeArrowheads="1"/>
          </p:cNvSpPr>
          <p:nvPr/>
        </p:nvSpPr>
        <p:spPr bwMode="auto">
          <a:xfrm>
            <a:off x="4296357" y="4050777"/>
            <a:ext cx="34523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 typeface="Arial" panose="020B0604020202020204" pitchFamily="34" charset="0"/>
              <a:buNone/>
            </a:pPr>
            <a:r>
              <a:rPr kumimoji="0" lang="en-US" altLang="zh-CN" sz="1600" dirty="0">
                <a:solidFill>
                  <a:srgbClr val="333333"/>
                </a:solidFill>
                <a:latin typeface="Arial" panose="020B0604020202020204" pitchFamily="34" charset="0"/>
                <a:sym typeface="Arial" panose="020B0604020202020204" pitchFamily="34" charset="0"/>
                <a:hlinkClick r:id="rId3"/>
              </a:rPr>
              <a:t>search and mathematical optimization</a:t>
            </a:r>
            <a:r>
              <a:rPr kumimoji="0" lang="en-US" altLang="zh-CN" sz="1600" dirty="0">
                <a:solidFill>
                  <a:srgbClr val="333333"/>
                </a:solidFill>
                <a:latin typeface="Arial" panose="020B0604020202020204" pitchFamily="34" charset="0"/>
                <a:sym typeface="Arial" panose="020B0604020202020204" pitchFamily="34" charset="0"/>
              </a:rPr>
              <a:t>, </a:t>
            </a:r>
            <a:r>
              <a:rPr kumimoji="0" lang="en-US" altLang="zh-CN" sz="1600" dirty="0">
                <a:solidFill>
                  <a:srgbClr val="333333"/>
                </a:solidFill>
                <a:latin typeface="Arial" panose="020B0604020202020204" pitchFamily="34" charset="0"/>
                <a:sym typeface="Arial" panose="020B0604020202020204" pitchFamily="34" charset="0"/>
                <a:hlinkClick r:id="rId4"/>
              </a:rPr>
              <a:t>logic</a:t>
            </a:r>
            <a:r>
              <a:rPr kumimoji="0" lang="en-US" altLang="zh-CN" sz="1600" dirty="0">
                <a:solidFill>
                  <a:srgbClr val="333333"/>
                </a:solidFill>
                <a:latin typeface="Arial" panose="020B0604020202020204" pitchFamily="34" charset="0"/>
                <a:sym typeface="Arial" panose="020B0604020202020204" pitchFamily="34" charset="0"/>
              </a:rPr>
              <a:t>, </a:t>
            </a:r>
            <a:r>
              <a:rPr kumimoji="0" lang="en-US" altLang="zh-CN" sz="1600" u="sng" dirty="0">
                <a:solidFill>
                  <a:srgbClr val="333333"/>
                </a:solidFill>
                <a:latin typeface="Arial" panose="020B0604020202020204" pitchFamily="34" charset="0"/>
                <a:sym typeface="Arial" panose="020B0604020202020204" pitchFamily="34" charset="0"/>
                <a:hlinkClick r:id="rId5"/>
              </a:rPr>
              <a:t>methods based on probability and economics</a:t>
            </a:r>
            <a:endParaRPr kumimoji="0" lang="zh-CN" altLang="en-US" sz="1600" dirty="0">
              <a:solidFill>
                <a:srgbClr val="333333"/>
              </a:solidFill>
              <a:latin typeface="Arial" panose="020B0604020202020204" pitchFamily="34" charset="0"/>
              <a:sym typeface="Arial" panose="020B0604020202020204" pitchFamily="34" charset="0"/>
            </a:endParaRPr>
          </a:p>
        </p:txBody>
      </p:sp>
      <p:sp>
        <p:nvSpPr>
          <p:cNvPr id="18" name="内容占位符 2"/>
          <p:cNvSpPr txBox="1"/>
          <p:nvPr/>
        </p:nvSpPr>
        <p:spPr bwMode="auto">
          <a:xfrm>
            <a:off x="5558813" y="359438"/>
            <a:ext cx="3552859" cy="363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defTabSz="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497205" indent="-192405" defTabSz="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781050" indent="-192405" defTabSz="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marL="0" lvl="1">
              <a:lnSpc>
                <a:spcPct val="140000"/>
              </a:lnSpc>
              <a:buClr>
                <a:schemeClr val="accent1"/>
              </a:buClr>
              <a:buFont typeface="Wingdings" panose="05000000000000000000" pitchFamily="2" charset="2"/>
              <a:buNone/>
            </a:pPr>
            <a:endParaRPr lang="en-US" altLang="zh-CN" sz="1600" dirty="0">
              <a:solidFill>
                <a:srgbClr val="0000FF"/>
              </a:solidFill>
              <a:cs typeface="Times New Roman" panose="02020603050405020304" pitchFamily="18" charset="0"/>
              <a:sym typeface="Arial" panose="020B0604020202020204" pitchFamily="34" charset="0"/>
            </a:endParaRPr>
          </a:p>
          <a:p>
            <a:pPr lvl="2">
              <a:lnSpc>
                <a:spcPct val="140000"/>
              </a:lnSpc>
              <a:buClr>
                <a:schemeClr val="accent1"/>
              </a:buClr>
              <a:buFont typeface="Wingdings" panose="05000000000000000000" pitchFamily="2" charset="2"/>
              <a:buChar char="ü"/>
            </a:pPr>
            <a:r>
              <a:rPr lang="en-US" altLang="zh-CN" sz="1600" dirty="0" smtClean="0">
                <a:solidFill>
                  <a:srgbClr val="0000FF"/>
                </a:solidFill>
                <a:cs typeface="Times New Roman" panose="02020603050405020304" pitchFamily="18" charset="0"/>
                <a:sym typeface="Arial" panose="020B0604020202020204" pitchFamily="34" charset="0"/>
              </a:rPr>
              <a:t>AI</a:t>
            </a:r>
            <a:r>
              <a:rPr lang="zh-CN" altLang="en-US" sz="1600" dirty="0" smtClean="0">
                <a:solidFill>
                  <a:srgbClr val="0000FF"/>
                </a:solidFill>
                <a:cs typeface="Times New Roman" panose="02020603050405020304" pitchFamily="18" charset="0"/>
                <a:sym typeface="Arial" panose="020B0604020202020204" pitchFamily="34" charset="0"/>
              </a:rPr>
              <a:t>源自</a:t>
            </a:r>
            <a:r>
              <a:rPr lang="en-US" altLang="zh-CN" sz="1600" dirty="0">
                <a:solidFill>
                  <a:srgbClr val="0000FF"/>
                </a:solidFill>
                <a:cs typeface="Times New Roman" panose="02020603050405020304" pitchFamily="18" charset="0"/>
                <a:sym typeface="Arial" panose="020B0604020202020204" pitchFamily="34" charset="0"/>
              </a:rPr>
              <a:t>1955</a:t>
            </a:r>
            <a:r>
              <a:rPr lang="zh-CN" altLang="en-US" sz="1600" dirty="0">
                <a:solidFill>
                  <a:srgbClr val="0000FF"/>
                </a:solidFill>
                <a:cs typeface="Times New Roman" panose="02020603050405020304" pitchFamily="18" charset="0"/>
                <a:sym typeface="Arial" panose="020B0604020202020204" pitchFamily="34" charset="0"/>
              </a:rPr>
              <a:t>年的达特茅斯会议</a:t>
            </a:r>
            <a:endParaRPr lang="en-US" altLang="zh-CN" sz="1600" dirty="0">
              <a:solidFill>
                <a:srgbClr val="0000FF"/>
              </a:solidFill>
              <a:cs typeface="Times New Roman" panose="02020603050405020304" pitchFamily="18" charset="0"/>
              <a:sym typeface="Arial" panose="020B0604020202020204" pitchFamily="34" charset="0"/>
            </a:endParaRPr>
          </a:p>
          <a:p>
            <a:pPr lvl="2">
              <a:lnSpc>
                <a:spcPct val="140000"/>
              </a:lnSpc>
              <a:buClr>
                <a:schemeClr val="accent1"/>
              </a:buClr>
              <a:buFont typeface="Wingdings" panose="05000000000000000000" pitchFamily="2" charset="2"/>
              <a:buChar char="ü"/>
            </a:pPr>
            <a:r>
              <a:rPr lang="zh-CN" altLang="en-US" sz="1600" dirty="0">
                <a:solidFill>
                  <a:srgbClr val="0000FF"/>
                </a:solidFill>
                <a:cs typeface="Times New Roman" panose="02020603050405020304" pitchFamily="18" charset="0"/>
                <a:sym typeface="Arial" panose="020B0604020202020204" pitchFamily="34" charset="0"/>
              </a:rPr>
              <a:t>逻辑学派（符号主义）</a:t>
            </a:r>
            <a:endParaRPr lang="en-US" altLang="zh-CN" sz="1600" dirty="0">
              <a:solidFill>
                <a:srgbClr val="0000FF"/>
              </a:solidFill>
              <a:cs typeface="Times New Roman" panose="02020603050405020304" pitchFamily="18" charset="0"/>
              <a:sym typeface="Arial" panose="020B0604020202020204" pitchFamily="34" charset="0"/>
            </a:endParaRPr>
          </a:p>
          <a:p>
            <a:pPr lvl="3">
              <a:lnSpc>
                <a:spcPct val="140000"/>
              </a:lnSpc>
              <a:buClr>
                <a:schemeClr val="accent1"/>
              </a:buClr>
              <a:buFont typeface="Wingdings" panose="05000000000000000000" pitchFamily="2" charset="2"/>
              <a:buChar char="Ø"/>
            </a:pPr>
            <a:r>
              <a:rPr lang="zh-CN" altLang="en-US" sz="1600" dirty="0">
                <a:solidFill>
                  <a:srgbClr val="0D0D0D"/>
                </a:solidFill>
                <a:cs typeface="Times New Roman" panose="02020603050405020304" pitchFamily="18" charset="0"/>
                <a:sym typeface="Arial" panose="020B0604020202020204" pitchFamily="34" charset="0"/>
              </a:rPr>
              <a:t>物理符号系统假设和有限合理性原理</a:t>
            </a:r>
            <a:endParaRPr lang="en-US" altLang="zh-CN" sz="1600" dirty="0">
              <a:solidFill>
                <a:srgbClr val="0D0D0D"/>
              </a:solidFill>
              <a:cs typeface="Times New Roman" panose="02020603050405020304" pitchFamily="18" charset="0"/>
              <a:sym typeface="Arial" panose="020B0604020202020204" pitchFamily="34" charset="0"/>
            </a:endParaRPr>
          </a:p>
          <a:p>
            <a:pPr lvl="2">
              <a:lnSpc>
                <a:spcPct val="140000"/>
              </a:lnSpc>
              <a:buClr>
                <a:schemeClr val="accent1"/>
              </a:buClr>
              <a:buFont typeface="Wingdings" panose="05000000000000000000" pitchFamily="2" charset="2"/>
              <a:buChar char="ü"/>
            </a:pPr>
            <a:r>
              <a:rPr lang="zh-CN" altLang="en-US" sz="1600" dirty="0">
                <a:solidFill>
                  <a:srgbClr val="0000FF"/>
                </a:solidFill>
                <a:cs typeface="Times New Roman" panose="02020603050405020304" pitchFamily="18" charset="0"/>
                <a:sym typeface="Arial" panose="020B0604020202020204" pitchFamily="34" charset="0"/>
              </a:rPr>
              <a:t>仿生学派（连接主义）</a:t>
            </a:r>
            <a:endParaRPr lang="en-US" altLang="zh-CN" sz="1600" dirty="0">
              <a:solidFill>
                <a:srgbClr val="0000FF"/>
              </a:solidFill>
              <a:cs typeface="Times New Roman" panose="02020603050405020304" pitchFamily="18" charset="0"/>
              <a:sym typeface="Arial" panose="020B0604020202020204" pitchFamily="34" charset="0"/>
            </a:endParaRPr>
          </a:p>
          <a:p>
            <a:pPr lvl="3">
              <a:lnSpc>
                <a:spcPct val="140000"/>
              </a:lnSpc>
              <a:buClr>
                <a:schemeClr val="accent1"/>
              </a:buClr>
              <a:buFont typeface="Wingdings" panose="05000000000000000000" pitchFamily="2" charset="2"/>
              <a:buChar char="Ø"/>
            </a:pPr>
            <a:r>
              <a:rPr lang="zh-CN" altLang="en-US" sz="1600" dirty="0">
                <a:solidFill>
                  <a:srgbClr val="0D0D0D"/>
                </a:solidFill>
                <a:cs typeface="Times New Roman" panose="02020603050405020304" pitchFamily="18" charset="0"/>
                <a:sym typeface="Arial" panose="020B0604020202020204" pitchFamily="34" charset="0"/>
              </a:rPr>
              <a:t>人工神经网络和进化计算</a:t>
            </a:r>
            <a:endParaRPr lang="en-US" altLang="zh-CN" sz="1600" dirty="0">
              <a:solidFill>
                <a:srgbClr val="0D0D0D"/>
              </a:solidFill>
              <a:cs typeface="Times New Roman" panose="02020603050405020304" pitchFamily="18" charset="0"/>
              <a:sym typeface="Arial" panose="020B0604020202020204" pitchFamily="34" charset="0"/>
            </a:endParaRPr>
          </a:p>
          <a:p>
            <a:pPr lvl="2">
              <a:lnSpc>
                <a:spcPct val="140000"/>
              </a:lnSpc>
              <a:buClr>
                <a:schemeClr val="accent1"/>
              </a:buClr>
              <a:buFont typeface="Wingdings" panose="05000000000000000000" pitchFamily="2" charset="2"/>
              <a:buChar char="ü"/>
            </a:pPr>
            <a:r>
              <a:rPr lang="zh-CN" altLang="en-US" sz="1600" dirty="0">
                <a:solidFill>
                  <a:srgbClr val="0000FF"/>
                </a:solidFill>
                <a:cs typeface="Times New Roman" panose="02020603050405020304" pitchFamily="18" charset="0"/>
                <a:sym typeface="Arial" panose="020B0604020202020204" pitchFamily="34" charset="0"/>
              </a:rPr>
              <a:t>控制论学派（行为主义）</a:t>
            </a:r>
            <a:endParaRPr lang="en-US" altLang="zh-CN" sz="1600" dirty="0">
              <a:solidFill>
                <a:srgbClr val="0000FF"/>
              </a:solidFill>
              <a:cs typeface="Times New Roman" panose="02020603050405020304" pitchFamily="18" charset="0"/>
              <a:sym typeface="Arial" panose="020B0604020202020204" pitchFamily="34" charset="0"/>
            </a:endParaRPr>
          </a:p>
          <a:p>
            <a:pPr lvl="3">
              <a:lnSpc>
                <a:spcPct val="140000"/>
              </a:lnSpc>
              <a:buClr>
                <a:schemeClr val="accent1"/>
              </a:buClr>
              <a:buFont typeface="Wingdings" panose="05000000000000000000" pitchFamily="2" charset="2"/>
              <a:buChar char="Ø"/>
            </a:pPr>
            <a:r>
              <a:rPr lang="zh-CN" altLang="en-US" sz="1600" dirty="0">
                <a:solidFill>
                  <a:srgbClr val="0D0D0D"/>
                </a:solidFill>
                <a:cs typeface="Times New Roman" panose="02020603050405020304" pitchFamily="18" charset="0"/>
                <a:sym typeface="Arial" panose="020B0604020202020204" pitchFamily="34" charset="0"/>
              </a:rPr>
              <a:t>感知和行为之间的关系</a:t>
            </a:r>
          </a:p>
        </p:txBody>
      </p:sp>
      <p:sp>
        <p:nvSpPr>
          <p:cNvPr id="19" name="矩形 1"/>
          <p:cNvSpPr>
            <a:spLocks noChangeArrowheads="1"/>
          </p:cNvSpPr>
          <p:nvPr/>
        </p:nvSpPr>
        <p:spPr bwMode="auto">
          <a:xfrm>
            <a:off x="2883875" y="444339"/>
            <a:ext cx="56930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dirty="0" smtClean="0">
                <a:latin typeface="Arial" panose="020B0604020202020204" pitchFamily="34" charset="0"/>
              </a:rPr>
              <a:t>Symbolism</a:t>
            </a:r>
            <a:r>
              <a:rPr lang="en-US" altLang="zh-CN" sz="1800" b="1" dirty="0">
                <a:latin typeface="Arial" panose="020B0604020202020204" pitchFamily="34" charset="0"/>
              </a:rPr>
              <a:t>, Connectionism and Behaviorism</a:t>
            </a:r>
            <a:endParaRPr lang="zh-CN" altLang="en-US" sz="1800" dirty="0"/>
          </a:p>
        </p:txBody>
      </p:sp>
      <p:grpSp>
        <p:nvGrpSpPr>
          <p:cNvPr id="25" name="组合 24"/>
          <p:cNvGrpSpPr/>
          <p:nvPr/>
        </p:nvGrpSpPr>
        <p:grpSpPr>
          <a:xfrm>
            <a:off x="-236220" y="219075"/>
            <a:ext cx="5153660" cy="600075"/>
            <a:chOff x="-372" y="345"/>
            <a:chExt cx="8116" cy="945"/>
          </a:xfrm>
        </p:grpSpPr>
        <p:sp>
          <p:nvSpPr>
            <p:cNvPr id="26" name="矩形 25"/>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7" name="文本框 26"/>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8" name="椭圆 2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236220" y="219075"/>
            <a:ext cx="5153660" cy="600075"/>
            <a:chOff x="-372" y="345"/>
            <a:chExt cx="8116" cy="945"/>
          </a:xfrm>
        </p:grpSpPr>
        <p:sp>
          <p:nvSpPr>
            <p:cNvPr id="26" name="矩形 25"/>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7" name="文本框 26"/>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8" name="椭圆 2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Rectangle 2"/>
          <p:cNvSpPr>
            <a:spLocks noChangeArrowheads="1"/>
          </p:cNvSpPr>
          <p:nvPr/>
        </p:nvSpPr>
        <p:spPr bwMode="auto">
          <a:xfrm>
            <a:off x="755576" y="771550"/>
            <a:ext cx="7785895"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sz="1800" b="1" dirty="0">
                <a:latin typeface="Arial" panose="020B0604020202020204" pitchFamily="34" charset="0"/>
              </a:rPr>
              <a:t>Symbolic </a:t>
            </a:r>
            <a:r>
              <a:rPr lang="en-US" altLang="zh-CN" sz="1800" b="1" dirty="0" smtClean="0">
                <a:latin typeface="Arial" panose="020B0604020202020204" pitchFamily="34" charset="0"/>
              </a:rPr>
              <a:t>AI  </a:t>
            </a:r>
            <a:r>
              <a:rPr lang="zh-CN" altLang="en-US" sz="1800" dirty="0" smtClean="0"/>
              <a:t>符号主义</a:t>
            </a:r>
            <a:endParaRPr lang="en-US" altLang="zh-CN" sz="1800" b="1" dirty="0">
              <a:latin typeface="Arial" panose="020B0604020202020204" pitchFamily="34" charset="0"/>
            </a:endParaRPr>
          </a:p>
          <a:p>
            <a:pPr eaLnBrk="1" hangingPunct="1">
              <a:buFontTx/>
              <a:buNone/>
            </a:pPr>
            <a:r>
              <a:rPr lang="en-US" altLang="zh-CN" sz="1800" b="1" dirty="0" smtClean="0">
                <a:latin typeface="Arial" panose="020B0604020202020204" pitchFamily="34" charset="0"/>
              </a:rPr>
              <a:t>☆ </a:t>
            </a:r>
            <a:r>
              <a:rPr lang="en-US" altLang="zh-CN" sz="1800" b="1" dirty="0">
                <a:latin typeface="Arial" panose="020B0604020202020204" pitchFamily="34" charset="0"/>
              </a:rPr>
              <a:t>Symbolic AI - Physical Symbol System </a:t>
            </a:r>
            <a:r>
              <a:rPr lang="en-US" altLang="zh-CN" sz="1800" b="1" dirty="0" smtClean="0">
                <a:latin typeface="Arial" panose="020B0604020202020204" pitchFamily="34" charset="0"/>
              </a:rPr>
              <a:t>Hypothesis</a:t>
            </a:r>
          </a:p>
          <a:p>
            <a:pPr marL="285750" indent="-285750" eaLnBrk="1" hangingPunct="1">
              <a:buFont typeface="Wingdings" panose="05000000000000000000" pitchFamily="2" charset="2"/>
              <a:buChar char="Ø"/>
            </a:pPr>
            <a:r>
              <a:rPr lang="en-US" altLang="zh-CN" sz="1800" dirty="0" smtClean="0">
                <a:latin typeface="Arial" panose="020B0604020202020204" pitchFamily="34" charset="0"/>
              </a:rPr>
              <a:t>Every </a:t>
            </a:r>
            <a:r>
              <a:rPr lang="en-US" altLang="zh-CN" sz="1800" dirty="0">
                <a:latin typeface="Arial" panose="020B0604020202020204" pitchFamily="34" charset="0"/>
              </a:rPr>
              <a:t>intelligent system can be </a:t>
            </a:r>
            <a:r>
              <a:rPr lang="en-US" altLang="zh-CN" sz="1800" dirty="0" smtClean="0">
                <a:latin typeface="Arial" panose="020B0604020202020204" pitchFamily="34" charset="0"/>
              </a:rPr>
              <a:t>constructed </a:t>
            </a:r>
            <a:r>
              <a:rPr lang="en-US" altLang="zh-CN" sz="1800" dirty="0">
                <a:latin typeface="Arial" panose="020B0604020202020204" pitchFamily="34" charset="0"/>
              </a:rPr>
              <a:t>by storing and </a:t>
            </a:r>
            <a:r>
              <a:rPr lang="en-US" altLang="zh-CN" sz="1800" dirty="0" smtClean="0">
                <a:latin typeface="Arial" panose="020B0604020202020204" pitchFamily="34" charset="0"/>
              </a:rPr>
              <a:t>processing symbols </a:t>
            </a:r>
            <a:r>
              <a:rPr lang="en-US" altLang="zh-CN" sz="1800" dirty="0">
                <a:latin typeface="Arial" panose="020B0604020202020204" pitchFamily="34" charset="0"/>
              </a:rPr>
              <a:t>and nothing more is necessary.</a:t>
            </a:r>
          </a:p>
          <a:p>
            <a:pPr eaLnBrk="1" hangingPunct="1">
              <a:buFontTx/>
              <a:buChar char="–"/>
            </a:pPr>
            <a:endParaRPr lang="en-US" altLang="zh-CN" sz="1800" b="1" dirty="0" smtClean="0">
              <a:latin typeface="Arial" panose="020B0604020202020204" pitchFamily="34" charset="0"/>
            </a:endParaRPr>
          </a:p>
          <a:p>
            <a:pPr eaLnBrk="1" hangingPunct="1">
              <a:buFontTx/>
              <a:buChar char="–"/>
            </a:pPr>
            <a:endParaRPr lang="en-US" altLang="zh-CN" sz="1800" b="1" dirty="0">
              <a:latin typeface="Arial" panose="020B0604020202020204" pitchFamily="34" charset="0"/>
            </a:endParaRPr>
          </a:p>
          <a:p>
            <a:pPr eaLnBrk="1" hangingPunct="1">
              <a:buFontTx/>
              <a:buChar char="–"/>
            </a:pPr>
            <a:endParaRPr lang="en-US" altLang="zh-CN" sz="1800" b="1" dirty="0">
              <a:latin typeface="Arial" panose="020B0604020202020204" pitchFamily="34" charset="0"/>
            </a:endParaRPr>
          </a:p>
          <a:p>
            <a:pPr eaLnBrk="1" hangingPunct="1">
              <a:buFontTx/>
              <a:buNone/>
            </a:pPr>
            <a:r>
              <a:rPr lang="en-US" altLang="zh-CN" sz="1800" b="1" dirty="0">
                <a:latin typeface="Arial" panose="020B0604020202020204" pitchFamily="34" charset="0"/>
              </a:rPr>
              <a:t>☆ Symbolic AI has a bearing on models of computation such as</a:t>
            </a:r>
          </a:p>
          <a:p>
            <a:pPr marL="1028700" lvl="1">
              <a:buFont typeface="Wingdings" panose="05000000000000000000" pitchFamily="2" charset="2"/>
              <a:buChar char="Ø"/>
            </a:pPr>
            <a:r>
              <a:rPr lang="en-US" altLang="zh-CN" sz="1400" dirty="0" smtClean="0">
                <a:latin typeface="Arial" panose="020B0604020202020204" pitchFamily="34" charset="0"/>
              </a:rPr>
              <a:t>Turing </a:t>
            </a:r>
            <a:r>
              <a:rPr lang="en-US" altLang="zh-CN" sz="1400" dirty="0">
                <a:latin typeface="Arial" panose="020B0604020202020204" pitchFamily="34" charset="0"/>
              </a:rPr>
              <a:t>Machine</a:t>
            </a:r>
          </a:p>
          <a:p>
            <a:pPr marL="1028700" lvl="1">
              <a:buFont typeface="Wingdings" panose="05000000000000000000" pitchFamily="2" charset="2"/>
              <a:buChar char="Ø"/>
            </a:pPr>
            <a:r>
              <a:rPr lang="en-US" altLang="zh-CN" sz="1400" dirty="0" smtClean="0">
                <a:latin typeface="Arial" panose="020B0604020202020204" pitchFamily="34" charset="0"/>
              </a:rPr>
              <a:t>Von </a:t>
            </a:r>
            <a:r>
              <a:rPr lang="en-US" altLang="zh-CN" sz="1400" dirty="0">
                <a:latin typeface="Arial" panose="020B0604020202020204" pitchFamily="34" charset="0"/>
              </a:rPr>
              <a:t>Neumann Machine</a:t>
            </a:r>
          </a:p>
          <a:p>
            <a:pPr marL="1028700" lvl="1">
              <a:buFont typeface="Wingdings" panose="05000000000000000000" pitchFamily="2" charset="2"/>
              <a:buChar char="Ø"/>
            </a:pPr>
            <a:r>
              <a:rPr lang="en-US" altLang="zh-CN" sz="1400" dirty="0" smtClean="0">
                <a:latin typeface="Arial" panose="020B0604020202020204" pitchFamily="34" charset="0"/>
              </a:rPr>
              <a:t>Lambda </a:t>
            </a:r>
            <a:r>
              <a:rPr lang="en-US" altLang="zh-CN" sz="1400" dirty="0">
                <a:latin typeface="Arial" panose="020B0604020202020204" pitchFamily="34" charset="0"/>
              </a:rPr>
              <a:t>calculus</a:t>
            </a:r>
          </a:p>
        </p:txBody>
      </p:sp>
      <p:sp>
        <p:nvSpPr>
          <p:cNvPr id="2" name="矩形 1"/>
          <p:cNvSpPr/>
          <p:nvPr/>
        </p:nvSpPr>
        <p:spPr>
          <a:xfrm>
            <a:off x="745447" y="4189025"/>
            <a:ext cx="7704856" cy="830997"/>
          </a:xfrm>
          <a:prstGeom prst="rect">
            <a:avLst/>
          </a:prstGeom>
        </p:spPr>
        <p:txBody>
          <a:bodyPr wrap="square">
            <a:spAutoFit/>
          </a:bodyPr>
          <a:lstStyle/>
          <a:p>
            <a:pPr>
              <a:defRPr/>
            </a:pPr>
            <a:r>
              <a:rPr lang="en-US" altLang="zh-CN" sz="1600" dirty="0">
                <a:solidFill>
                  <a:srgbClr val="0000FF"/>
                </a:solidFill>
                <a:latin typeface="+mn-ea"/>
              </a:rPr>
              <a:t>Simon</a:t>
            </a:r>
            <a:r>
              <a:rPr lang="zh-CN" altLang="en-US" sz="1600" dirty="0">
                <a:solidFill>
                  <a:srgbClr val="0000FF"/>
                </a:solidFill>
                <a:latin typeface="+mn-ea"/>
              </a:rPr>
              <a:t>、</a:t>
            </a:r>
            <a:r>
              <a:rPr lang="en-US" altLang="zh-CN" sz="1600" dirty="0">
                <a:solidFill>
                  <a:srgbClr val="0000FF"/>
                </a:solidFill>
                <a:latin typeface="+mn-ea"/>
              </a:rPr>
              <a:t>Minsky</a:t>
            </a:r>
            <a:r>
              <a:rPr lang="zh-CN" altLang="en-US" sz="1600" dirty="0">
                <a:solidFill>
                  <a:srgbClr val="0000FF"/>
                </a:solidFill>
                <a:latin typeface="+mn-ea"/>
              </a:rPr>
              <a:t>和</a:t>
            </a:r>
            <a:r>
              <a:rPr lang="en-US" altLang="zh-CN" sz="1600" dirty="0">
                <a:solidFill>
                  <a:srgbClr val="0000FF"/>
                </a:solidFill>
                <a:latin typeface="+mn-ea"/>
              </a:rPr>
              <a:t>Newell</a:t>
            </a:r>
            <a:r>
              <a:rPr lang="zh-CN" altLang="en-US" sz="1600" dirty="0">
                <a:solidFill>
                  <a:srgbClr val="0000FF"/>
                </a:solidFill>
                <a:latin typeface="+mn-ea"/>
              </a:rPr>
              <a:t>等认为，人和计算机都是一个物理符号系统，因此可用计算机的符号演算来模拟人的认知过程；作为智能基础的知识是可用符号表示的一种信息形式，因此人工智能的核心问题是知识表示、知识推理和知识运用的信息处理过程。</a:t>
            </a:r>
            <a:endParaRPr lang="en-US" altLang="zh-CN" sz="1600" dirty="0">
              <a:solidFill>
                <a:srgbClr val="0000FF"/>
              </a:solidFill>
              <a:latin typeface="+mn-ea"/>
            </a:endParaRPr>
          </a:p>
        </p:txBody>
      </p:sp>
      <p:sp>
        <p:nvSpPr>
          <p:cNvPr id="3" name="圆角矩形 2"/>
          <p:cNvSpPr/>
          <p:nvPr/>
        </p:nvSpPr>
        <p:spPr>
          <a:xfrm>
            <a:off x="745447" y="4159195"/>
            <a:ext cx="7704856" cy="9328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89463" y="2139702"/>
            <a:ext cx="7416824" cy="830997"/>
          </a:xfrm>
          <a:prstGeom prst="rect">
            <a:avLst/>
          </a:prstGeom>
        </p:spPr>
        <p:txBody>
          <a:bodyPr wrap="square">
            <a:spAutoFit/>
          </a:bodyPr>
          <a:lstStyle/>
          <a:p>
            <a:r>
              <a:rPr lang="zh-CN" altLang="en-US" sz="1600" dirty="0">
                <a:solidFill>
                  <a:srgbClr val="0000FF"/>
                </a:solidFill>
                <a:latin typeface="+mn-ea"/>
              </a:rPr>
              <a:t>符号主义</a:t>
            </a:r>
            <a:r>
              <a:rPr lang="en-US" altLang="zh-CN" sz="1600" dirty="0">
                <a:solidFill>
                  <a:srgbClr val="0000FF"/>
                </a:solidFill>
                <a:latin typeface="+mn-ea"/>
              </a:rPr>
              <a:t>(</a:t>
            </a:r>
            <a:r>
              <a:rPr lang="en-US" altLang="zh-CN" sz="1600" dirty="0" err="1">
                <a:solidFill>
                  <a:srgbClr val="0000FF"/>
                </a:solidFill>
                <a:latin typeface="+mn-ea"/>
              </a:rPr>
              <a:t>symbolicism</a:t>
            </a:r>
            <a:r>
              <a:rPr lang="en-US" altLang="zh-CN" sz="1600" dirty="0">
                <a:solidFill>
                  <a:srgbClr val="0000FF"/>
                </a:solidFill>
                <a:latin typeface="+mn-ea"/>
              </a:rPr>
              <a:t>)</a:t>
            </a:r>
            <a:r>
              <a:rPr lang="zh-CN" altLang="en-US" sz="1600" dirty="0">
                <a:solidFill>
                  <a:srgbClr val="0000FF"/>
                </a:solidFill>
                <a:latin typeface="+mn-ea"/>
              </a:rPr>
              <a:t>，又称为逻辑主义</a:t>
            </a:r>
            <a:r>
              <a:rPr lang="en-US" altLang="zh-CN" sz="1600" dirty="0">
                <a:solidFill>
                  <a:srgbClr val="0000FF"/>
                </a:solidFill>
                <a:latin typeface="+mn-ea"/>
              </a:rPr>
              <a:t>(</a:t>
            </a:r>
            <a:r>
              <a:rPr lang="en-US" altLang="zh-CN" sz="1600" dirty="0" err="1">
                <a:solidFill>
                  <a:srgbClr val="0000FF"/>
                </a:solidFill>
                <a:latin typeface="+mn-ea"/>
              </a:rPr>
              <a:t>logicism</a:t>
            </a:r>
            <a:r>
              <a:rPr lang="en-US" altLang="zh-CN" sz="1600" dirty="0">
                <a:solidFill>
                  <a:srgbClr val="0000FF"/>
                </a:solidFill>
                <a:latin typeface="+mn-ea"/>
              </a:rPr>
              <a:t>)</a:t>
            </a:r>
            <a:r>
              <a:rPr lang="zh-CN" altLang="en-US" sz="1600" dirty="0">
                <a:solidFill>
                  <a:srgbClr val="0000FF"/>
                </a:solidFill>
                <a:latin typeface="+mn-ea"/>
              </a:rPr>
              <a:t>、心理学派</a:t>
            </a:r>
            <a:r>
              <a:rPr lang="en-US" altLang="zh-CN" sz="1600" dirty="0">
                <a:solidFill>
                  <a:srgbClr val="0000FF"/>
                </a:solidFill>
                <a:latin typeface="+mn-ea"/>
              </a:rPr>
              <a:t>(</a:t>
            </a:r>
            <a:r>
              <a:rPr lang="en-US" altLang="zh-CN" sz="1600" dirty="0" err="1">
                <a:solidFill>
                  <a:srgbClr val="0000FF"/>
                </a:solidFill>
                <a:latin typeface="+mn-ea"/>
              </a:rPr>
              <a:t>psychologism</a:t>
            </a:r>
            <a:r>
              <a:rPr lang="en-US" altLang="zh-CN" sz="1600" dirty="0">
                <a:solidFill>
                  <a:srgbClr val="0000FF"/>
                </a:solidFill>
                <a:latin typeface="+mn-ea"/>
              </a:rPr>
              <a:t>)</a:t>
            </a:r>
            <a:r>
              <a:rPr lang="zh-CN" altLang="en-US" sz="1600" dirty="0">
                <a:solidFill>
                  <a:srgbClr val="0000FF"/>
                </a:solidFill>
                <a:latin typeface="+mn-ea"/>
              </a:rPr>
              <a:t>或计算机学派</a:t>
            </a:r>
            <a:r>
              <a:rPr lang="en-US" altLang="zh-CN" sz="1600" dirty="0">
                <a:solidFill>
                  <a:srgbClr val="0000FF"/>
                </a:solidFill>
                <a:latin typeface="+mn-ea"/>
              </a:rPr>
              <a:t>(</a:t>
            </a:r>
            <a:r>
              <a:rPr lang="en-US" altLang="zh-CN" sz="1600" dirty="0" err="1">
                <a:solidFill>
                  <a:srgbClr val="0000FF"/>
                </a:solidFill>
                <a:latin typeface="+mn-ea"/>
              </a:rPr>
              <a:t>computerism</a:t>
            </a:r>
            <a:r>
              <a:rPr lang="en-US" altLang="zh-CN" sz="1600" dirty="0">
                <a:solidFill>
                  <a:srgbClr val="0000FF"/>
                </a:solidFill>
                <a:latin typeface="+mn-ea"/>
              </a:rPr>
              <a:t>)</a:t>
            </a:r>
            <a:r>
              <a:rPr lang="zh-CN" altLang="en-US" sz="1600" dirty="0">
                <a:solidFill>
                  <a:srgbClr val="0000FF"/>
                </a:solidFill>
                <a:latin typeface="+mn-ea"/>
              </a:rPr>
              <a:t>，其原理主要为物理符号系统</a:t>
            </a:r>
            <a:r>
              <a:rPr lang="en-US" altLang="zh-CN" sz="1600" dirty="0">
                <a:solidFill>
                  <a:srgbClr val="0000FF"/>
                </a:solidFill>
                <a:latin typeface="+mn-ea"/>
              </a:rPr>
              <a:t>(</a:t>
            </a:r>
            <a:r>
              <a:rPr lang="zh-CN" altLang="en-US" sz="1600" dirty="0">
                <a:solidFill>
                  <a:srgbClr val="0000FF"/>
                </a:solidFill>
                <a:latin typeface="+mn-ea"/>
              </a:rPr>
              <a:t>即符号操作系统</a:t>
            </a:r>
            <a:r>
              <a:rPr lang="en-US" altLang="zh-CN" sz="1600" dirty="0">
                <a:solidFill>
                  <a:srgbClr val="0000FF"/>
                </a:solidFill>
                <a:latin typeface="+mn-ea"/>
              </a:rPr>
              <a:t>)</a:t>
            </a:r>
            <a:r>
              <a:rPr lang="zh-CN" altLang="en-US" sz="1600" dirty="0">
                <a:solidFill>
                  <a:srgbClr val="0000FF"/>
                </a:solidFill>
                <a:latin typeface="+mn-ea"/>
              </a:rPr>
              <a:t>假设和有限合理性原理。</a:t>
            </a:r>
          </a:p>
        </p:txBody>
      </p:sp>
      <p:sp>
        <p:nvSpPr>
          <p:cNvPr id="5" name="圆角矩形 4"/>
          <p:cNvSpPr/>
          <p:nvPr/>
        </p:nvSpPr>
        <p:spPr>
          <a:xfrm>
            <a:off x="745447" y="2139702"/>
            <a:ext cx="7704856" cy="83099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734287" y="3349399"/>
            <a:ext cx="4572000" cy="738664"/>
          </a:xfrm>
          <a:prstGeom prst="rect">
            <a:avLst/>
          </a:prstGeom>
        </p:spPr>
        <p:txBody>
          <a:bodyPr>
            <a:spAutoFit/>
          </a:bodyPr>
          <a:lstStyle/>
          <a:p>
            <a:pPr>
              <a:defRPr/>
            </a:pPr>
            <a:r>
              <a:rPr lang="zh-CN" altLang="en-US" sz="1400" dirty="0">
                <a:solidFill>
                  <a:srgbClr val="0000FF"/>
                </a:solidFill>
                <a:latin typeface="+mn-ea"/>
              </a:rPr>
              <a:t>传统的</a:t>
            </a:r>
            <a:r>
              <a:rPr lang="zh-CN" altLang="en-US" sz="1400" dirty="0" smtClean="0">
                <a:solidFill>
                  <a:srgbClr val="0000FF"/>
                </a:solidFill>
                <a:latin typeface="+mn-ea"/>
              </a:rPr>
              <a:t>人工智能认为</a:t>
            </a:r>
            <a:r>
              <a:rPr lang="zh-CN" altLang="en-US" sz="1400" dirty="0">
                <a:solidFill>
                  <a:srgbClr val="0000FF"/>
                </a:solidFill>
                <a:latin typeface="+mn-ea"/>
              </a:rPr>
              <a:t>人工智能源于数理逻辑，主张以知识为基础，通过推理来进行问题求解，在研究方法上采用计算机模拟人类认知系统功能的功能模拟方法</a:t>
            </a:r>
            <a:endParaRPr lang="en-US" altLang="zh-CN" sz="1400" dirty="0">
              <a:solidFill>
                <a:srgbClr val="0000FF"/>
              </a:solidFill>
              <a:latin typeface="+mn-ea"/>
            </a:endParaRPr>
          </a:p>
        </p:txBody>
      </p:sp>
      <p:sp>
        <p:nvSpPr>
          <p:cNvPr id="7" name="圆角矩形 6"/>
          <p:cNvSpPr/>
          <p:nvPr/>
        </p:nvSpPr>
        <p:spPr>
          <a:xfrm>
            <a:off x="3779912" y="3348244"/>
            <a:ext cx="4526375" cy="73894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236220" y="219075"/>
            <a:ext cx="5153660" cy="600075"/>
            <a:chOff x="-372" y="345"/>
            <a:chExt cx="8116" cy="945"/>
          </a:xfrm>
        </p:grpSpPr>
        <p:sp>
          <p:nvSpPr>
            <p:cNvPr id="26" name="矩形 25"/>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7" name="文本框 26"/>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8" name="椭圆 2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Rectangle 2"/>
          <p:cNvSpPr>
            <a:spLocks noChangeArrowheads="1"/>
          </p:cNvSpPr>
          <p:nvPr/>
        </p:nvSpPr>
        <p:spPr bwMode="auto">
          <a:xfrm>
            <a:off x="395536" y="1111885"/>
            <a:ext cx="8297416"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buNone/>
            </a:pPr>
            <a:r>
              <a:rPr lang="en-US" altLang="zh-CN" sz="1800" b="1" dirty="0">
                <a:solidFill>
                  <a:srgbClr val="0070C0"/>
                </a:solidFill>
                <a:latin typeface="Arial" panose="020B0604020202020204" pitchFamily="34" charset="0"/>
              </a:rPr>
              <a:t>Challenges to Symbolic </a:t>
            </a:r>
            <a:r>
              <a:rPr lang="en-US" altLang="zh-CN" sz="1800" b="1" dirty="0" smtClean="0">
                <a:solidFill>
                  <a:srgbClr val="0070C0"/>
                </a:solidFill>
                <a:latin typeface="Arial" panose="020B0604020202020204" pitchFamily="34" charset="0"/>
              </a:rPr>
              <a:t>AI</a:t>
            </a:r>
          </a:p>
          <a:p>
            <a:pPr algn="ctr" eaLnBrk="1" hangingPunct="1">
              <a:buNone/>
            </a:pPr>
            <a:endParaRPr lang="en-US" altLang="zh-CN" sz="1800" b="1" dirty="0">
              <a:solidFill>
                <a:srgbClr val="0070C0"/>
              </a:solidFill>
              <a:latin typeface="Arial" panose="020B0604020202020204" pitchFamily="34" charset="0"/>
            </a:endParaRPr>
          </a:p>
          <a:p>
            <a:pPr eaLnBrk="1" hangingPunct="1">
              <a:buFontTx/>
              <a:buNone/>
            </a:pPr>
            <a:r>
              <a:rPr lang="en-US" altLang="zh-CN" sz="1800" b="1" dirty="0">
                <a:latin typeface="Arial" panose="020B0604020202020204" pitchFamily="34" charset="0"/>
              </a:rPr>
              <a:t>☆ Motivation for challenging Symbolic AI</a:t>
            </a:r>
          </a:p>
          <a:p>
            <a:pPr eaLnBrk="1" hangingPunct="1">
              <a:buFontTx/>
              <a:buNone/>
            </a:pPr>
            <a:r>
              <a:rPr lang="en-US" altLang="zh-CN" sz="1800" b="1" dirty="0">
                <a:latin typeface="Arial" panose="020B0604020202020204" pitchFamily="34" charset="0"/>
              </a:rPr>
              <a:t>☆ A large number of computations and information process tasks that living beings are comfortable with, are not performed well by computers</a:t>
            </a:r>
            <a:r>
              <a:rPr lang="en-US" altLang="zh-CN" sz="1800" b="1" dirty="0" smtClean="0">
                <a:latin typeface="Arial" panose="020B0604020202020204" pitchFamily="34" charset="0"/>
              </a:rPr>
              <a:t>!</a:t>
            </a:r>
          </a:p>
          <a:p>
            <a:pPr eaLnBrk="1" hangingPunct="1">
              <a:buFontTx/>
              <a:buNone/>
            </a:pPr>
            <a:endParaRPr lang="en-US" altLang="zh-CN" sz="1800" b="1" dirty="0">
              <a:latin typeface="Arial" panose="020B0604020202020204" pitchFamily="34" charset="0"/>
            </a:endParaRPr>
          </a:p>
          <a:p>
            <a:pPr algn="ctr" eaLnBrk="1" hangingPunct="1">
              <a:buFontTx/>
              <a:buNone/>
            </a:pPr>
            <a:r>
              <a:rPr lang="en-US" altLang="zh-CN" sz="1800" b="1" dirty="0">
                <a:latin typeface="Arial" panose="020B0604020202020204" pitchFamily="34" charset="0"/>
              </a:rPr>
              <a:t>The </a:t>
            </a:r>
            <a:r>
              <a:rPr lang="en-US" altLang="zh-CN" sz="1800" b="1" dirty="0" smtClean="0">
                <a:latin typeface="Arial" panose="020B0604020202020204" pitchFamily="34" charset="0"/>
              </a:rPr>
              <a:t>Differences</a:t>
            </a:r>
            <a:endParaRPr lang="en-US" altLang="zh-CN" sz="1800" b="1" dirty="0">
              <a:latin typeface="Arial" panose="020B0604020202020204" pitchFamily="34" charset="0"/>
            </a:endParaRPr>
          </a:p>
          <a:p>
            <a:pPr marL="285750" indent="-285750">
              <a:buFont typeface="Wingdings" panose="05000000000000000000" pitchFamily="2" charset="2"/>
              <a:buChar char="u"/>
            </a:pPr>
            <a:r>
              <a:rPr lang="en-US" altLang="zh-CN" sz="1600" b="1" u="sng" dirty="0">
                <a:latin typeface="Arial" panose="020B0604020202020204" pitchFamily="34" charset="0"/>
              </a:rPr>
              <a:t>Brain computation in living beings</a:t>
            </a:r>
            <a:r>
              <a:rPr lang="en-US" altLang="zh-CN" sz="1600" b="1" dirty="0">
                <a:latin typeface="Arial" panose="020B0604020202020204" pitchFamily="34" charset="0"/>
              </a:rPr>
              <a:t> 	</a:t>
            </a:r>
            <a:r>
              <a:rPr lang="en-US" altLang="zh-CN" sz="1600" b="1" u="sng" dirty="0">
                <a:latin typeface="Arial" panose="020B0604020202020204" pitchFamily="34" charset="0"/>
              </a:rPr>
              <a:t>TM computation in computers</a:t>
            </a:r>
          </a:p>
          <a:p>
            <a:pPr marL="285750" indent="-285750" eaLnBrk="1" hangingPunct="1">
              <a:buFont typeface="Wingdings" panose="05000000000000000000" pitchFamily="2" charset="2"/>
              <a:buChar char="Ø"/>
            </a:pPr>
            <a:r>
              <a:rPr lang="en-US" altLang="zh-CN" sz="1600" b="1" dirty="0">
                <a:latin typeface="Arial" panose="020B0604020202020204" pitchFamily="34" charset="0"/>
              </a:rPr>
              <a:t>Pattern Recognition 			Numerical Processing</a:t>
            </a:r>
          </a:p>
          <a:p>
            <a:pPr marL="285750" indent="-285750" eaLnBrk="1" hangingPunct="1">
              <a:buFont typeface="Wingdings" panose="05000000000000000000" pitchFamily="2" charset="2"/>
              <a:buChar char="Ø"/>
            </a:pPr>
            <a:r>
              <a:rPr lang="en-US" altLang="zh-CN" sz="1600" b="1" dirty="0">
                <a:latin typeface="Arial" panose="020B0604020202020204" pitchFamily="34" charset="0"/>
              </a:rPr>
              <a:t>Learning oriented 			Programming oriented</a:t>
            </a:r>
          </a:p>
          <a:p>
            <a:pPr marL="285750" indent="-285750" eaLnBrk="1" hangingPunct="1">
              <a:buFont typeface="Wingdings" panose="05000000000000000000" pitchFamily="2" charset="2"/>
              <a:buChar char="Ø"/>
            </a:pPr>
            <a:r>
              <a:rPr lang="en-US" altLang="zh-CN" sz="1600" b="1" dirty="0">
                <a:latin typeface="Arial" panose="020B0604020202020204" pitchFamily="34" charset="0"/>
              </a:rPr>
              <a:t>Distributed &amp; parallel processing 		Centralized &amp; serial processing</a:t>
            </a:r>
          </a:p>
          <a:p>
            <a:pPr marL="285750" indent="-285750" eaLnBrk="1" hangingPunct="1">
              <a:buFont typeface="Wingdings" panose="05000000000000000000" pitchFamily="2" charset="2"/>
              <a:buChar char="Ø"/>
            </a:pPr>
            <a:r>
              <a:rPr lang="en-US" altLang="zh-CN" sz="1600" b="1" dirty="0">
                <a:latin typeface="Arial" panose="020B0604020202020204" pitchFamily="34" charset="0"/>
              </a:rPr>
              <a:t>Content addressable 			Location addressable</a:t>
            </a:r>
          </a:p>
        </p:txBody>
      </p:sp>
      <p:pic>
        <p:nvPicPr>
          <p:cNvPr id="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1000" y="387771"/>
            <a:ext cx="2621952" cy="1448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847100" y="3004711"/>
            <a:ext cx="877163" cy="369332"/>
          </a:xfrm>
          <a:prstGeom prst="rect">
            <a:avLst/>
          </a:prstGeom>
        </p:spPr>
        <p:txBody>
          <a:bodyPr wrap="none">
            <a:spAutoFit/>
          </a:bodyPr>
          <a:lstStyle/>
          <a:p>
            <a:r>
              <a:rPr lang="zh-CN" altLang="en-US" dirty="0">
                <a:solidFill>
                  <a:srgbClr val="FF0000"/>
                </a:solidFill>
              </a:rPr>
              <a:t>脑计算</a:t>
            </a:r>
          </a:p>
        </p:txBody>
      </p:sp>
      <p:sp>
        <p:nvSpPr>
          <p:cNvPr id="3" name="矩形 2"/>
          <p:cNvSpPr/>
          <p:nvPr/>
        </p:nvSpPr>
        <p:spPr>
          <a:xfrm>
            <a:off x="6071000" y="3036486"/>
            <a:ext cx="1107996" cy="369332"/>
          </a:xfrm>
          <a:prstGeom prst="rect">
            <a:avLst/>
          </a:prstGeom>
        </p:spPr>
        <p:txBody>
          <a:bodyPr wrap="none">
            <a:spAutoFit/>
          </a:bodyPr>
          <a:lstStyle/>
          <a:p>
            <a:r>
              <a:rPr lang="zh-CN" altLang="en-US" dirty="0">
                <a:solidFill>
                  <a:srgbClr val="FF0000"/>
                </a:solidFill>
              </a:rPr>
              <a:t>图灵计算</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236220" y="219075"/>
            <a:ext cx="5153660" cy="600075"/>
            <a:chOff x="-372" y="345"/>
            <a:chExt cx="8116" cy="945"/>
          </a:xfrm>
        </p:grpSpPr>
        <p:sp>
          <p:nvSpPr>
            <p:cNvPr id="26" name="矩形 25"/>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7" name="文本框 26"/>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8" name="椭圆 2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Title 1"/>
          <p:cNvSpPr txBox="1"/>
          <p:nvPr/>
        </p:nvSpPr>
        <p:spPr bwMode="auto">
          <a:xfrm>
            <a:off x="1835696" y="701411"/>
            <a:ext cx="4464049" cy="619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2400" b="1">
                <a:solidFill>
                  <a:srgbClr val="336699"/>
                </a:solidFill>
                <a:latin typeface="+mj-lt"/>
                <a:ea typeface="+mj-ea"/>
                <a:cs typeface="+mj-cs"/>
                <a:sym typeface="Arial" panose="020B0604020202020204" pitchFamily="34" charset="0"/>
              </a:defRPr>
            </a:lvl1pPr>
            <a:lvl2pPr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2pPr>
            <a:lvl3pPr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3pPr>
            <a:lvl4pPr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4pPr>
            <a:lvl5pPr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5pPr>
            <a:lvl6pPr marL="457200"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6pPr>
            <a:lvl7pPr marL="914400"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7pPr>
            <a:lvl8pPr marL="1371600"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8pPr>
            <a:lvl9pPr marL="1828800"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9pPr>
          </a:lstStyle>
          <a:p>
            <a:pPr algn="ctr">
              <a:defRPr/>
            </a:pPr>
            <a:r>
              <a:rPr lang="en-US" sz="2000" kern="0" dirty="0" smtClean="0"/>
              <a:t>Connectionist </a:t>
            </a:r>
            <a:r>
              <a:rPr lang="en-US" altLang="zh-CN" sz="2000" kern="0" dirty="0" smtClean="0"/>
              <a:t>AI</a:t>
            </a:r>
            <a:r>
              <a:rPr lang="en-US" sz="2000" kern="0" dirty="0" smtClean="0"/>
              <a:t> </a:t>
            </a:r>
            <a:r>
              <a:rPr lang="zh-CN" altLang="en-US" sz="2000" kern="0" dirty="0" smtClean="0"/>
              <a:t>连接</a:t>
            </a:r>
            <a:r>
              <a:rPr lang="zh-CN" altLang="en-US" sz="2000" kern="0" dirty="0"/>
              <a:t>主义</a:t>
            </a:r>
            <a:endParaRPr lang="en-US" sz="2000" kern="0" dirty="0"/>
          </a:p>
        </p:txBody>
      </p:sp>
      <p:sp>
        <p:nvSpPr>
          <p:cNvPr id="8" name="矩形 5"/>
          <p:cNvSpPr>
            <a:spLocks noChangeArrowheads="1"/>
          </p:cNvSpPr>
          <p:nvPr/>
        </p:nvSpPr>
        <p:spPr bwMode="auto">
          <a:xfrm>
            <a:off x="5472363" y="1415016"/>
            <a:ext cx="329612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1800" dirty="0">
                <a:latin typeface="Arial" panose="020B0604020202020204" pitchFamily="34" charset="0"/>
                <a:sym typeface="Arial" panose="020B0604020202020204" pitchFamily="34" charset="0"/>
              </a:rPr>
              <a:t>Artificial Neural </a:t>
            </a:r>
            <a:r>
              <a:rPr lang="en-US" altLang="zh-CN" sz="1800" dirty="0" smtClean="0">
                <a:latin typeface="Arial" panose="020B0604020202020204" pitchFamily="34" charset="0"/>
                <a:sym typeface="Arial" panose="020B0604020202020204" pitchFamily="34" charset="0"/>
              </a:rPr>
              <a:t>Networks</a:t>
            </a:r>
          </a:p>
          <a:p>
            <a:pPr eaLnBrk="1" hangingPunct="1">
              <a:spcBef>
                <a:spcPct val="0"/>
              </a:spcBef>
              <a:buFont typeface="Arial" panose="020B0604020202020204" pitchFamily="34" charset="0"/>
              <a:buNone/>
            </a:pPr>
            <a:r>
              <a:rPr lang="zh-CN" altLang="en-US" sz="1800" dirty="0" smtClean="0">
                <a:latin typeface="Arial" panose="020B0604020202020204" pitchFamily="34" charset="0"/>
                <a:sym typeface="Arial" panose="020B0604020202020204" pitchFamily="34" charset="0"/>
              </a:rPr>
              <a:t>人工神经网络</a:t>
            </a:r>
            <a:endParaRPr lang="en-US" altLang="zh-CN" sz="1800" dirty="0">
              <a:latin typeface="Arial" panose="020B0604020202020204" pitchFamily="34" charset="0"/>
              <a:sym typeface="Arial" panose="020B0604020202020204" pitchFamily="34" charset="0"/>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077" y="2169747"/>
            <a:ext cx="2602368" cy="1831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619" y="2153442"/>
            <a:ext cx="2088232" cy="1808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007604" y="4319862"/>
            <a:ext cx="7416824" cy="584775"/>
          </a:xfrm>
          <a:prstGeom prst="rect">
            <a:avLst/>
          </a:prstGeom>
        </p:spPr>
        <p:txBody>
          <a:bodyPr wrap="square">
            <a:spAutoFit/>
          </a:bodyPr>
          <a:lstStyle/>
          <a:p>
            <a:r>
              <a:rPr lang="zh-CN" altLang="en-US" sz="1600" dirty="0">
                <a:solidFill>
                  <a:srgbClr val="0065B0"/>
                </a:solidFill>
              </a:rPr>
              <a:t>连接主义</a:t>
            </a:r>
            <a:r>
              <a:rPr lang="en-US" altLang="zh-CN" sz="1600" dirty="0" smtClean="0">
                <a:solidFill>
                  <a:srgbClr val="0065B0"/>
                </a:solidFill>
              </a:rPr>
              <a:t>(Connectionism</a:t>
            </a:r>
            <a:r>
              <a:rPr lang="en-US" altLang="zh-CN" sz="1600" dirty="0">
                <a:solidFill>
                  <a:srgbClr val="0065B0"/>
                </a:solidFill>
              </a:rPr>
              <a:t>)</a:t>
            </a:r>
            <a:r>
              <a:rPr lang="zh-CN" altLang="en-US" sz="1600" dirty="0">
                <a:solidFill>
                  <a:srgbClr val="0065B0"/>
                </a:solidFill>
              </a:rPr>
              <a:t>，又称为仿生学派</a:t>
            </a:r>
            <a:r>
              <a:rPr lang="en-US" altLang="zh-CN" sz="1600" dirty="0" smtClean="0">
                <a:solidFill>
                  <a:srgbClr val="0065B0"/>
                </a:solidFill>
              </a:rPr>
              <a:t>(</a:t>
            </a:r>
            <a:r>
              <a:rPr lang="en-US" altLang="zh-CN" sz="1600" dirty="0" err="1" smtClean="0">
                <a:solidFill>
                  <a:srgbClr val="0065B0"/>
                </a:solidFill>
              </a:rPr>
              <a:t>Bionicsism</a:t>
            </a:r>
            <a:r>
              <a:rPr lang="en-US" altLang="zh-CN" sz="1600" dirty="0">
                <a:solidFill>
                  <a:srgbClr val="0065B0"/>
                </a:solidFill>
              </a:rPr>
              <a:t>)</a:t>
            </a:r>
            <a:r>
              <a:rPr lang="zh-CN" altLang="en-US" sz="1600" dirty="0">
                <a:solidFill>
                  <a:srgbClr val="0065B0"/>
                </a:solidFill>
              </a:rPr>
              <a:t>或生理学派</a:t>
            </a:r>
            <a:r>
              <a:rPr lang="en-US" altLang="zh-CN" sz="1600" dirty="0" smtClean="0">
                <a:solidFill>
                  <a:srgbClr val="0065B0"/>
                </a:solidFill>
              </a:rPr>
              <a:t>(</a:t>
            </a:r>
            <a:r>
              <a:rPr lang="en-US" altLang="zh-CN" sz="1600" dirty="0" err="1" smtClean="0">
                <a:solidFill>
                  <a:srgbClr val="0065B0"/>
                </a:solidFill>
              </a:rPr>
              <a:t>Physiologism</a:t>
            </a:r>
            <a:r>
              <a:rPr lang="en-US" altLang="zh-CN" sz="1600" dirty="0">
                <a:solidFill>
                  <a:srgbClr val="0065B0"/>
                </a:solidFill>
              </a:rPr>
              <a:t>)</a:t>
            </a:r>
            <a:r>
              <a:rPr lang="zh-CN" altLang="en-US" sz="1600" dirty="0">
                <a:solidFill>
                  <a:srgbClr val="0065B0"/>
                </a:solidFill>
              </a:rPr>
              <a:t>，其主要原理为神经网络及神经网络间的连接机制与学习算法</a:t>
            </a:r>
            <a:r>
              <a:rPr lang="zh-CN" altLang="en-US" sz="1600" dirty="0" smtClean="0">
                <a:solidFill>
                  <a:srgbClr val="0065B0"/>
                </a:solidFill>
              </a:rPr>
              <a:t>。</a:t>
            </a:r>
            <a:endParaRPr lang="zh-CN" altLang="en-US" sz="1600" dirty="0">
              <a:solidFill>
                <a:srgbClr val="0065B0"/>
              </a:solidFill>
            </a:endParaRPr>
          </a:p>
        </p:txBody>
      </p:sp>
      <p:sp>
        <p:nvSpPr>
          <p:cNvPr id="3" name="圆角矩形 2"/>
          <p:cNvSpPr/>
          <p:nvPr/>
        </p:nvSpPr>
        <p:spPr>
          <a:xfrm>
            <a:off x="899592" y="4319862"/>
            <a:ext cx="7524836" cy="5847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457445" y="2099246"/>
            <a:ext cx="3608222" cy="1902059"/>
          </a:xfrm>
          <a:prstGeom prst="rect">
            <a:avLst/>
          </a:prstGeom>
        </p:spPr>
        <p:txBody>
          <a:bodyPr wrap="square">
            <a:spAutoFit/>
          </a:bodyPr>
          <a:lstStyle/>
          <a:p>
            <a:pPr marL="171450" indent="-171450">
              <a:spcBef>
                <a:spcPct val="20000"/>
              </a:spcBef>
              <a:buFont typeface="Wingdings" panose="05000000000000000000" pitchFamily="2" charset="2"/>
              <a:buChar char="Ø"/>
              <a:defRPr/>
            </a:pPr>
            <a:r>
              <a:rPr lang="zh-CN" altLang="en-US" sz="1200" b="1" dirty="0">
                <a:solidFill>
                  <a:srgbClr val="FF0000"/>
                </a:solidFill>
                <a:latin typeface="楷体_GB2312"/>
                <a:ea typeface="楷体_GB2312"/>
                <a:cs typeface="楷体_GB2312"/>
              </a:rPr>
              <a:t>树突</a:t>
            </a:r>
            <a:r>
              <a:rPr lang="zh-CN" altLang="en-US" sz="1200" b="1" dirty="0">
                <a:solidFill>
                  <a:srgbClr val="0065B0"/>
                </a:solidFill>
                <a:latin typeface="楷体_GB2312"/>
                <a:ea typeface="楷体_GB2312"/>
                <a:cs typeface="楷体_GB2312"/>
              </a:rPr>
              <a:t>是树状的神经纤维接收网络，它将电信号传送到细胞体</a:t>
            </a:r>
          </a:p>
          <a:p>
            <a:pPr marL="171450" indent="-171450">
              <a:spcBef>
                <a:spcPct val="20000"/>
              </a:spcBef>
              <a:buFont typeface="Wingdings" panose="05000000000000000000" pitchFamily="2" charset="2"/>
              <a:buChar char="Ø"/>
              <a:defRPr/>
            </a:pPr>
            <a:r>
              <a:rPr lang="zh-CN" altLang="en-US" sz="1200" b="1" dirty="0">
                <a:solidFill>
                  <a:srgbClr val="FF0000"/>
                </a:solidFill>
                <a:latin typeface="楷体_GB2312"/>
                <a:ea typeface="楷体_GB2312"/>
                <a:cs typeface="楷体_GB2312"/>
              </a:rPr>
              <a:t>细胞体</a:t>
            </a:r>
            <a:r>
              <a:rPr lang="zh-CN" altLang="en-US" sz="1200" b="1" dirty="0">
                <a:solidFill>
                  <a:srgbClr val="0065B0"/>
                </a:solidFill>
                <a:latin typeface="楷体_GB2312"/>
                <a:ea typeface="楷体_GB2312"/>
                <a:cs typeface="楷体_GB2312"/>
              </a:rPr>
              <a:t>对这些输入信号进行整合并进行阈值处理</a:t>
            </a:r>
          </a:p>
          <a:p>
            <a:pPr marL="171450" indent="-171450">
              <a:spcBef>
                <a:spcPct val="20000"/>
              </a:spcBef>
              <a:buFont typeface="Wingdings" panose="05000000000000000000" pitchFamily="2" charset="2"/>
              <a:buChar char="Ø"/>
              <a:defRPr/>
            </a:pPr>
            <a:r>
              <a:rPr lang="zh-CN" altLang="en-US" sz="1200" b="1" dirty="0">
                <a:solidFill>
                  <a:srgbClr val="FF0000"/>
                </a:solidFill>
                <a:latin typeface="楷体_GB2312"/>
                <a:ea typeface="楷体_GB2312"/>
                <a:cs typeface="楷体_GB2312"/>
              </a:rPr>
              <a:t>轴突</a:t>
            </a:r>
            <a:r>
              <a:rPr lang="zh-CN" altLang="en-US" sz="1200" b="1" dirty="0">
                <a:solidFill>
                  <a:srgbClr val="0065B0"/>
                </a:solidFill>
                <a:latin typeface="楷体_GB2312"/>
                <a:ea typeface="楷体_GB2312"/>
                <a:cs typeface="楷体_GB2312"/>
              </a:rPr>
              <a:t>是单根长纤维，它把细胞体的输出信号导向其他神经元</a:t>
            </a:r>
          </a:p>
          <a:p>
            <a:pPr marL="171450" indent="-171450">
              <a:spcBef>
                <a:spcPct val="20000"/>
              </a:spcBef>
              <a:buFont typeface="Wingdings" panose="05000000000000000000" pitchFamily="2" charset="2"/>
              <a:buChar char="Ø"/>
              <a:defRPr/>
            </a:pPr>
            <a:r>
              <a:rPr lang="zh-CN" altLang="en-US" sz="1200" b="1" dirty="0">
                <a:solidFill>
                  <a:srgbClr val="0065B0"/>
                </a:solidFill>
                <a:latin typeface="楷体_GB2312"/>
                <a:ea typeface="楷体_GB2312"/>
                <a:cs typeface="楷体_GB2312"/>
              </a:rPr>
              <a:t>一个神经细胞的轴突和另一个神经细胞树突的结合点称为</a:t>
            </a:r>
            <a:r>
              <a:rPr lang="zh-CN" altLang="en-US" sz="1200" b="1" dirty="0">
                <a:solidFill>
                  <a:srgbClr val="FF0000"/>
                </a:solidFill>
                <a:latin typeface="楷体_GB2312"/>
                <a:ea typeface="楷体_GB2312"/>
                <a:cs typeface="楷体_GB2312"/>
              </a:rPr>
              <a:t>突触</a:t>
            </a:r>
            <a:r>
              <a:rPr lang="zh-CN" altLang="en-US" sz="1200" b="1" dirty="0">
                <a:solidFill>
                  <a:srgbClr val="0065B0"/>
                </a:solidFill>
                <a:latin typeface="楷体_GB2312"/>
                <a:ea typeface="楷体_GB2312"/>
                <a:cs typeface="楷体_GB2312"/>
              </a:rPr>
              <a:t> </a:t>
            </a:r>
            <a:endParaRPr lang="en-US" altLang="zh-CN" sz="1200" b="1" dirty="0">
              <a:solidFill>
                <a:srgbClr val="0065B0"/>
              </a:solidFill>
              <a:latin typeface="楷体_GB2312"/>
              <a:ea typeface="楷体_GB2312"/>
              <a:cs typeface="楷体_GB2312"/>
            </a:endParaRPr>
          </a:p>
          <a:p>
            <a:pPr marL="171450" indent="-171450">
              <a:spcBef>
                <a:spcPct val="20000"/>
              </a:spcBef>
              <a:buFont typeface="Wingdings" panose="05000000000000000000" pitchFamily="2" charset="2"/>
              <a:buChar char="Ø"/>
              <a:defRPr/>
            </a:pPr>
            <a:r>
              <a:rPr lang="zh-CN" altLang="en-US" sz="1200" b="1" dirty="0">
                <a:solidFill>
                  <a:srgbClr val="FF0000"/>
                </a:solidFill>
                <a:latin typeface="楷体_GB2312"/>
                <a:ea typeface="楷体_GB2312"/>
                <a:cs typeface="楷体_GB2312"/>
              </a:rPr>
              <a:t>神经元</a:t>
            </a:r>
            <a:r>
              <a:rPr lang="zh-CN" altLang="en-US" sz="1200" b="1" dirty="0">
                <a:solidFill>
                  <a:srgbClr val="0065B0"/>
                </a:solidFill>
                <a:latin typeface="楷体_GB2312"/>
                <a:ea typeface="楷体_GB2312"/>
                <a:cs typeface="楷体_GB2312"/>
              </a:rPr>
              <a:t>的排列和突触的强度</a:t>
            </a:r>
            <a:r>
              <a:rPr lang="en-US" altLang="zh-CN" sz="1200" b="1" dirty="0">
                <a:solidFill>
                  <a:srgbClr val="0065B0"/>
                </a:solidFill>
                <a:latin typeface="楷体_GB2312"/>
                <a:ea typeface="楷体_GB2312"/>
                <a:cs typeface="楷体_GB2312"/>
              </a:rPr>
              <a:t>(</a:t>
            </a:r>
            <a:r>
              <a:rPr lang="zh-CN" altLang="en-US" sz="1200" b="1" dirty="0">
                <a:solidFill>
                  <a:srgbClr val="0065B0"/>
                </a:solidFill>
                <a:latin typeface="楷体_GB2312"/>
                <a:ea typeface="楷体_GB2312"/>
                <a:cs typeface="楷体_GB2312"/>
              </a:rPr>
              <a:t>由复杂的化学过程决定</a:t>
            </a:r>
            <a:r>
              <a:rPr lang="en-US" altLang="zh-CN" sz="1200" b="1" dirty="0">
                <a:solidFill>
                  <a:srgbClr val="0065B0"/>
                </a:solidFill>
                <a:latin typeface="楷体_GB2312"/>
                <a:ea typeface="楷体_GB2312"/>
                <a:cs typeface="楷体_GB2312"/>
              </a:rPr>
              <a:t>)</a:t>
            </a:r>
            <a:r>
              <a:rPr lang="zh-CN" altLang="en-US" sz="1200" b="1" dirty="0">
                <a:solidFill>
                  <a:srgbClr val="0065B0"/>
                </a:solidFill>
                <a:latin typeface="楷体_GB2312"/>
                <a:ea typeface="楷体_GB2312"/>
                <a:cs typeface="楷体_GB2312"/>
              </a:rPr>
              <a:t>确立了</a:t>
            </a:r>
            <a:r>
              <a:rPr lang="zh-CN" altLang="en-US" sz="1200" b="1" dirty="0">
                <a:solidFill>
                  <a:srgbClr val="FF0000"/>
                </a:solidFill>
                <a:latin typeface="楷体_GB2312"/>
                <a:ea typeface="楷体_GB2312"/>
                <a:cs typeface="楷体_GB2312"/>
              </a:rPr>
              <a:t>神经网络</a:t>
            </a:r>
            <a:r>
              <a:rPr lang="zh-CN" altLang="en-US" sz="1200" b="1" dirty="0">
                <a:solidFill>
                  <a:srgbClr val="0065B0"/>
                </a:solidFill>
                <a:latin typeface="楷体_GB2312"/>
                <a:ea typeface="楷体_GB2312"/>
                <a:cs typeface="楷体_GB2312"/>
              </a:rPr>
              <a:t>的功能。</a:t>
            </a:r>
            <a:endParaRPr lang="zh-CN" altLang="en-US" sz="1200" dirty="0">
              <a:solidFill>
                <a:srgbClr val="0065B0"/>
              </a:solidFill>
            </a:endParaRPr>
          </a:p>
        </p:txBody>
      </p:sp>
      <p:sp>
        <p:nvSpPr>
          <p:cNvPr id="5" name="矩形 4"/>
          <p:cNvSpPr/>
          <p:nvPr/>
        </p:nvSpPr>
        <p:spPr>
          <a:xfrm>
            <a:off x="2033110" y="1553516"/>
            <a:ext cx="3193503" cy="369332"/>
          </a:xfrm>
          <a:prstGeom prst="rect">
            <a:avLst/>
          </a:prstGeom>
        </p:spPr>
        <p:txBody>
          <a:bodyPr wrap="none">
            <a:spAutoFit/>
          </a:bodyPr>
          <a:lstStyle/>
          <a:p>
            <a:r>
              <a:rPr lang="zh-CN" altLang="en-US" dirty="0" smtClean="0"/>
              <a:t>脑神经</a:t>
            </a:r>
            <a:r>
              <a:rPr lang="zh-CN" altLang="en-US" dirty="0"/>
              <a:t>网络</a:t>
            </a:r>
            <a:r>
              <a:rPr lang="en-US" altLang="zh-CN" dirty="0"/>
              <a:t> -&gt;</a:t>
            </a:r>
            <a:r>
              <a:rPr lang="zh-CN" altLang="en-US" dirty="0"/>
              <a:t>计算机神经网络</a:t>
            </a:r>
          </a:p>
        </p:txBody>
      </p:sp>
      <p:sp>
        <p:nvSpPr>
          <p:cNvPr id="6" name="圆角矩形 5"/>
          <p:cNvSpPr/>
          <p:nvPr/>
        </p:nvSpPr>
        <p:spPr>
          <a:xfrm>
            <a:off x="5457445" y="1415016"/>
            <a:ext cx="2786963" cy="64633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236220" y="219075"/>
            <a:ext cx="5153660" cy="600075"/>
            <a:chOff x="-372" y="345"/>
            <a:chExt cx="8116" cy="945"/>
          </a:xfrm>
        </p:grpSpPr>
        <p:sp>
          <p:nvSpPr>
            <p:cNvPr id="26" name="矩形 25"/>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7" name="文本框 26"/>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8" name="椭圆 2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1"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6748" y="851702"/>
            <a:ext cx="5476875"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10" descr="E:\计算生物学讲义\2004NewMaterials\ANN\网页材料\Warren McCulloch.files\CHICMcculloch.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8349" y="1677079"/>
            <a:ext cx="1159000" cy="179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113" descr="E:\计算生物学讲义\2004NewMaterials\ANN\网页材料\Walter Pitts.files\pitts.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23952" y="1692205"/>
            <a:ext cx="1096519" cy="1791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5899148" y="851702"/>
            <a:ext cx="2921324" cy="830997"/>
          </a:xfrm>
          <a:prstGeom prst="rect">
            <a:avLst/>
          </a:prstGeom>
          <a:solidFill>
            <a:schemeClr val="tx2">
              <a:lumMod val="40000"/>
              <a:lumOff val="60000"/>
            </a:schemeClr>
          </a:solidFill>
        </p:spPr>
        <p:txBody>
          <a:bodyPr wrap="square">
            <a:spAutoFit/>
          </a:bodyPr>
          <a:lstStyle/>
          <a:p>
            <a:pPr eaLnBrk="1" hangingPunct="1">
              <a:spcBef>
                <a:spcPct val="20000"/>
              </a:spcBef>
              <a:buFont typeface="Arial" panose="020B0604020202020204" pitchFamily="34" charset="0"/>
              <a:buNone/>
              <a:defRPr/>
            </a:pPr>
            <a:r>
              <a:rPr lang="zh-CN" altLang="en-US" sz="1600" b="1" dirty="0">
                <a:ea typeface="楷体_GB2312"/>
                <a:cs typeface="楷体_GB2312"/>
              </a:rPr>
              <a:t>适合大规模并行处理、容错性、自组织和自适应能力和联想功能强</a:t>
            </a:r>
            <a:endParaRPr lang="zh-CN" altLang="en-US" sz="1600" dirty="0">
              <a:latin typeface="Arial" panose="020B0604020202020204" pitchFamily="34" charset="0"/>
            </a:endParaRPr>
          </a:p>
        </p:txBody>
      </p:sp>
      <p:sp>
        <p:nvSpPr>
          <p:cNvPr id="15" name="矩形 14"/>
          <p:cNvSpPr/>
          <p:nvPr/>
        </p:nvSpPr>
        <p:spPr>
          <a:xfrm>
            <a:off x="739185" y="2652579"/>
            <a:ext cx="4572000" cy="830997"/>
          </a:xfrm>
          <a:prstGeom prst="rect">
            <a:avLst/>
          </a:prstGeom>
          <a:solidFill>
            <a:srgbClr val="FFE389"/>
          </a:solidFill>
        </p:spPr>
        <p:txBody>
          <a:bodyPr>
            <a:spAutoFit/>
          </a:bodyPr>
          <a:lstStyle/>
          <a:p>
            <a:pPr eaLnBrk="1" hangingPunct="1">
              <a:spcBef>
                <a:spcPct val="20000"/>
              </a:spcBef>
              <a:buFont typeface="Arial" panose="020B0604020202020204" pitchFamily="34" charset="0"/>
              <a:buNone/>
              <a:defRPr/>
            </a:pPr>
            <a:r>
              <a:rPr lang="zh-CN" altLang="en-US" sz="1600" dirty="0">
                <a:solidFill>
                  <a:srgbClr val="0000FF"/>
                </a:solidFill>
                <a:latin typeface="+mn-ea"/>
                <a:ea typeface="+mn-ea"/>
              </a:rPr>
              <a:t>神经元获得网络输入信号后，信号累计效果整合函数</a:t>
            </a:r>
            <a:r>
              <a:rPr lang="en-US" altLang="zh-CN" sz="1600" i="1" dirty="0">
                <a:solidFill>
                  <a:srgbClr val="0000FF"/>
                </a:solidFill>
                <a:latin typeface="+mn-ea"/>
                <a:ea typeface="+mn-ea"/>
              </a:rPr>
              <a:t>u</a:t>
            </a:r>
            <a:r>
              <a:rPr lang="en-US" altLang="zh-CN" sz="1600" dirty="0">
                <a:solidFill>
                  <a:srgbClr val="0000FF"/>
                </a:solidFill>
                <a:latin typeface="+mn-ea"/>
                <a:ea typeface="+mn-ea"/>
              </a:rPr>
              <a:t>(</a:t>
            </a:r>
            <a:r>
              <a:rPr lang="en-US" altLang="zh-CN" sz="1600" i="1" dirty="0">
                <a:solidFill>
                  <a:srgbClr val="0000FF"/>
                </a:solidFill>
                <a:latin typeface="+mn-ea"/>
                <a:ea typeface="+mn-ea"/>
              </a:rPr>
              <a:t>x</a:t>
            </a:r>
            <a:r>
              <a:rPr lang="en-US" altLang="zh-CN" sz="1600" dirty="0">
                <a:solidFill>
                  <a:srgbClr val="0000FF"/>
                </a:solidFill>
                <a:latin typeface="+mn-ea"/>
                <a:ea typeface="+mn-ea"/>
              </a:rPr>
              <a:t>)</a:t>
            </a:r>
            <a:r>
              <a:rPr lang="zh-CN" altLang="en-US" sz="1600" dirty="0">
                <a:solidFill>
                  <a:srgbClr val="0000FF"/>
                </a:solidFill>
                <a:latin typeface="+mn-ea"/>
                <a:ea typeface="+mn-ea"/>
              </a:rPr>
              <a:t>大于某阈值</a:t>
            </a:r>
            <a:r>
              <a:rPr lang="zh-CN" altLang="en-US" sz="1600" i="1" dirty="0">
                <a:solidFill>
                  <a:srgbClr val="FF0000"/>
                </a:solidFill>
                <a:latin typeface="+mn-ea"/>
                <a:ea typeface="+mn-ea"/>
                <a:sym typeface="Symbol" panose="05050102010706020507" pitchFamily="18" charset="2"/>
              </a:rPr>
              <a:t> </a:t>
            </a:r>
            <a:r>
              <a:rPr lang="zh-CN" altLang="en-US" sz="1600" dirty="0">
                <a:solidFill>
                  <a:srgbClr val="0000FF"/>
                </a:solidFill>
                <a:latin typeface="+mn-ea"/>
                <a:ea typeface="+mn-ea"/>
                <a:sym typeface="Symbol" panose="05050102010706020507" pitchFamily="18" charset="2"/>
              </a:rPr>
              <a:t>时，神经元处于激发状态；反之，神经元处于抑制状态。</a:t>
            </a:r>
          </a:p>
        </p:txBody>
      </p:sp>
      <p:sp>
        <p:nvSpPr>
          <p:cNvPr id="16" name="矩形 3"/>
          <p:cNvSpPr>
            <a:spLocks noChangeArrowheads="1"/>
          </p:cNvSpPr>
          <p:nvPr/>
        </p:nvSpPr>
        <p:spPr bwMode="auto">
          <a:xfrm>
            <a:off x="5948560" y="3517069"/>
            <a:ext cx="14405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 typeface="Arial" panose="020B0604020202020204" pitchFamily="34" charset="0"/>
              <a:buNone/>
            </a:pPr>
            <a:r>
              <a:rPr lang="en-US" altLang="zh-CN" sz="1200" dirty="0">
                <a:solidFill>
                  <a:srgbClr val="0000FF"/>
                </a:solidFill>
                <a:latin typeface="Arial" panose="020B0604020202020204" pitchFamily="34" charset="0"/>
                <a:ea typeface="MS PGothic" panose="020B0600070205080204" pitchFamily="34" charset="-128"/>
                <a:sym typeface="Arial" panose="020B0604020202020204" pitchFamily="34" charset="0"/>
              </a:rPr>
              <a:t>Warren McCulloch</a:t>
            </a:r>
          </a:p>
        </p:txBody>
      </p:sp>
      <p:sp>
        <p:nvSpPr>
          <p:cNvPr id="17" name="矩形 2"/>
          <p:cNvSpPr>
            <a:spLocks noChangeArrowheads="1"/>
          </p:cNvSpPr>
          <p:nvPr/>
        </p:nvSpPr>
        <p:spPr bwMode="auto">
          <a:xfrm>
            <a:off x="7789194" y="3511726"/>
            <a:ext cx="96603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 typeface="Arial" panose="020B0604020202020204" pitchFamily="34" charset="0"/>
              <a:buNone/>
            </a:pPr>
            <a:r>
              <a:rPr lang="en-US" altLang="zh-CN" sz="1200" dirty="0">
                <a:solidFill>
                  <a:srgbClr val="0000FF"/>
                </a:solidFill>
                <a:latin typeface="Arial" panose="020B0604020202020204" pitchFamily="34" charset="0"/>
                <a:ea typeface="MS PGothic" panose="020B0600070205080204" pitchFamily="34" charset="-128"/>
                <a:sym typeface="Arial" panose="020B0604020202020204" pitchFamily="34" charset="0"/>
              </a:rPr>
              <a:t>Walter Pitts</a:t>
            </a:r>
          </a:p>
        </p:txBody>
      </p:sp>
      <p:sp>
        <p:nvSpPr>
          <p:cNvPr id="20" name="Title 1"/>
          <p:cNvSpPr txBox="1"/>
          <p:nvPr/>
        </p:nvSpPr>
        <p:spPr bwMode="auto">
          <a:xfrm>
            <a:off x="2227833" y="361315"/>
            <a:ext cx="4464049" cy="619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2400" b="1">
                <a:solidFill>
                  <a:srgbClr val="336699"/>
                </a:solidFill>
                <a:latin typeface="+mj-lt"/>
                <a:ea typeface="+mj-ea"/>
                <a:cs typeface="+mj-cs"/>
                <a:sym typeface="Arial" panose="020B0604020202020204" pitchFamily="34" charset="0"/>
              </a:defRPr>
            </a:lvl1pPr>
            <a:lvl2pPr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2pPr>
            <a:lvl3pPr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3pPr>
            <a:lvl4pPr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4pPr>
            <a:lvl5pPr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5pPr>
            <a:lvl6pPr marL="457200"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6pPr>
            <a:lvl7pPr marL="914400"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7pPr>
            <a:lvl8pPr marL="1371600"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8pPr>
            <a:lvl9pPr marL="1828800" algn="l" rtl="0" eaLnBrk="0" fontAlgn="base" hangingPunct="0">
              <a:spcBef>
                <a:spcPct val="0"/>
              </a:spcBef>
              <a:spcAft>
                <a:spcPct val="0"/>
              </a:spcAft>
              <a:defRPr sz="2400" b="1">
                <a:solidFill>
                  <a:srgbClr val="336699"/>
                </a:solidFill>
                <a:latin typeface="Arial" panose="020B0604020202020204" pitchFamily="34" charset="0"/>
                <a:ea typeface="微软雅黑" panose="020B0503020204020204" charset="-122"/>
                <a:sym typeface="Arial" panose="020B0604020202020204" pitchFamily="34" charset="0"/>
              </a:defRPr>
            </a:lvl9pPr>
          </a:lstStyle>
          <a:p>
            <a:pPr algn="ctr">
              <a:defRPr/>
            </a:pPr>
            <a:r>
              <a:rPr lang="en-US" sz="2000" kern="0" dirty="0" smtClean="0"/>
              <a:t>Connectionist </a:t>
            </a:r>
            <a:r>
              <a:rPr lang="en-US" altLang="zh-CN" sz="2000" kern="0" dirty="0" smtClean="0"/>
              <a:t>AI</a:t>
            </a:r>
            <a:r>
              <a:rPr lang="en-US" sz="2000" kern="0" dirty="0" smtClean="0"/>
              <a:t> </a:t>
            </a:r>
            <a:r>
              <a:rPr lang="zh-CN" altLang="en-US" sz="2000" kern="0" dirty="0" smtClean="0"/>
              <a:t>连接</a:t>
            </a:r>
            <a:r>
              <a:rPr lang="zh-CN" altLang="en-US" sz="2000" kern="0" dirty="0"/>
              <a:t>主义</a:t>
            </a:r>
            <a:endParaRPr lang="en-US" sz="2000" kern="0" dirty="0"/>
          </a:p>
        </p:txBody>
      </p:sp>
      <p:sp>
        <p:nvSpPr>
          <p:cNvPr id="2" name="矩形 1"/>
          <p:cNvSpPr/>
          <p:nvPr/>
        </p:nvSpPr>
        <p:spPr>
          <a:xfrm>
            <a:off x="1619845" y="3586044"/>
            <a:ext cx="4368504" cy="338554"/>
          </a:xfrm>
          <a:prstGeom prst="rect">
            <a:avLst/>
          </a:prstGeom>
        </p:spPr>
        <p:txBody>
          <a:bodyPr wrap="none">
            <a:spAutoFit/>
          </a:bodyPr>
          <a:lstStyle/>
          <a:p>
            <a:pPr lvl="1"/>
            <a:r>
              <a:rPr lang="zh-CN" altLang="en-US" sz="1600" b="1" dirty="0">
                <a:solidFill>
                  <a:srgbClr val="FF0000"/>
                </a:solidFill>
              </a:rPr>
              <a:t>神经网络从四个方面刻画人脑的基本</a:t>
            </a:r>
            <a:r>
              <a:rPr lang="zh-CN" altLang="en-US" sz="1600" b="1" dirty="0" smtClean="0">
                <a:solidFill>
                  <a:srgbClr val="FF0000"/>
                </a:solidFill>
              </a:rPr>
              <a:t>特征</a:t>
            </a:r>
            <a:endParaRPr lang="en-US" altLang="zh-CN" sz="1600" b="1" dirty="0">
              <a:solidFill>
                <a:srgbClr val="FF0000"/>
              </a:solidFill>
            </a:endParaRPr>
          </a:p>
        </p:txBody>
      </p:sp>
      <p:sp>
        <p:nvSpPr>
          <p:cNvPr id="4" name="矩形 3"/>
          <p:cNvSpPr/>
          <p:nvPr/>
        </p:nvSpPr>
        <p:spPr>
          <a:xfrm>
            <a:off x="214900" y="3949890"/>
            <a:ext cx="8605572" cy="1138773"/>
          </a:xfrm>
          <a:prstGeom prst="rect">
            <a:avLst/>
          </a:prstGeom>
        </p:spPr>
        <p:txBody>
          <a:bodyPr wrap="square">
            <a:spAutoFit/>
          </a:bodyPr>
          <a:lstStyle/>
          <a:p>
            <a:pPr marL="171450" indent="-171450">
              <a:buFont typeface="Wingdings" panose="05000000000000000000" pitchFamily="2" charset="2"/>
              <a:buChar char="Ø"/>
            </a:pPr>
            <a:r>
              <a:rPr lang="zh-CN" altLang="en-US" sz="1400" b="1" dirty="0">
                <a:solidFill>
                  <a:srgbClr val="0070C0"/>
                </a:solidFill>
              </a:rPr>
              <a:t>物理结构</a:t>
            </a:r>
            <a:r>
              <a:rPr lang="zh-CN" altLang="en-US" sz="1200" dirty="0"/>
              <a:t>：模仿生物神经元的功能，构造人工神经元的联结网络</a:t>
            </a:r>
          </a:p>
          <a:p>
            <a:pPr marL="171450" indent="-171450">
              <a:buFont typeface="Wingdings" panose="05000000000000000000" pitchFamily="2" charset="2"/>
              <a:buChar char="Ø"/>
            </a:pPr>
            <a:r>
              <a:rPr lang="zh-CN" altLang="en-US" sz="1400" b="1" dirty="0">
                <a:solidFill>
                  <a:srgbClr val="0070C0"/>
                </a:solidFill>
              </a:rPr>
              <a:t>计算模拟</a:t>
            </a:r>
            <a:r>
              <a:rPr lang="zh-CN" altLang="en-US" sz="1200" dirty="0"/>
              <a:t>：ANN以具有局部计算能力的神经元为基础，同样实现信息的大规模并行处理。</a:t>
            </a:r>
          </a:p>
          <a:p>
            <a:pPr marL="171450" indent="-171450">
              <a:buFont typeface="Wingdings" panose="05000000000000000000" pitchFamily="2" charset="2"/>
              <a:buChar char="Ø"/>
            </a:pPr>
            <a:r>
              <a:rPr lang="zh-CN" altLang="en-US" sz="1400" b="1" dirty="0">
                <a:solidFill>
                  <a:srgbClr val="0070C0"/>
                </a:solidFill>
              </a:rPr>
              <a:t>存储与操作</a:t>
            </a:r>
            <a:r>
              <a:rPr lang="zh-CN" altLang="en-US" sz="1200" dirty="0"/>
              <a:t>：大脑对信息的记忆是通过改变突触的强度来实现并分布存储。ANN模拟信息的大规模分布存储。</a:t>
            </a:r>
          </a:p>
          <a:p>
            <a:pPr marL="171450" indent="-171450">
              <a:buFont typeface="Wingdings" panose="05000000000000000000" pitchFamily="2" charset="2"/>
              <a:buChar char="Ø"/>
            </a:pPr>
            <a:r>
              <a:rPr lang="zh-CN" altLang="en-US" sz="1400" b="1" dirty="0">
                <a:solidFill>
                  <a:srgbClr val="0070C0"/>
                </a:solidFill>
              </a:rPr>
              <a:t>训练</a:t>
            </a:r>
            <a:r>
              <a:rPr lang="zh-CN" altLang="en-US" sz="1200" dirty="0"/>
              <a:t>：后天的训练使得人脑具有很强的自组织和自适应性。ANN根据人工神经元网络的结构特性，使用不同的训练过程，自动从“实践”（即训练样本）中获取相关知识，并存储在系统中。</a:t>
            </a:r>
          </a:p>
        </p:txBody>
      </p:sp>
      <p:sp>
        <p:nvSpPr>
          <p:cNvPr id="5" name="圆角矩形 4"/>
          <p:cNvSpPr/>
          <p:nvPr/>
        </p:nvSpPr>
        <p:spPr>
          <a:xfrm>
            <a:off x="214900" y="3949890"/>
            <a:ext cx="8605571" cy="113877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236220" y="219075"/>
            <a:ext cx="5153660" cy="600075"/>
            <a:chOff x="-372" y="345"/>
            <a:chExt cx="8116" cy="945"/>
          </a:xfrm>
        </p:grpSpPr>
        <p:sp>
          <p:nvSpPr>
            <p:cNvPr id="26" name="矩形 25"/>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27" name="文本框 26"/>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8" name="椭圆 2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2924587" y="625160"/>
            <a:ext cx="3985706" cy="369332"/>
          </a:xfrm>
          <a:prstGeom prst="rect">
            <a:avLst/>
          </a:prstGeom>
        </p:spPr>
        <p:txBody>
          <a:bodyPr wrap="none">
            <a:spAutoFit/>
          </a:bodyPr>
          <a:lstStyle/>
          <a:p>
            <a:r>
              <a:rPr lang="zh-CN" altLang="en-US" dirty="0">
                <a:solidFill>
                  <a:srgbClr val="FF0000"/>
                </a:solidFill>
                <a:sym typeface="Arial" panose="020B0604020202020204" pitchFamily="34" charset="0"/>
              </a:rPr>
              <a:t>行为主义</a:t>
            </a:r>
            <a:r>
              <a:rPr lang="en-US" altLang="zh-CN" dirty="0">
                <a:sym typeface="Arial" panose="020B0604020202020204" pitchFamily="34" charset="0"/>
              </a:rPr>
              <a:t>(Behaviorism or </a:t>
            </a:r>
            <a:r>
              <a:rPr lang="en-US" altLang="zh-CN" dirty="0" err="1" smtClean="0">
                <a:sym typeface="Arial" panose="020B0604020202020204" pitchFamily="34" charset="0"/>
              </a:rPr>
              <a:t>Behaviourism</a:t>
            </a:r>
            <a:r>
              <a:rPr lang="en-US" altLang="zh-CN" dirty="0">
                <a:sym typeface="Arial" panose="020B0604020202020204" pitchFamily="34" charset="0"/>
              </a:rPr>
              <a:t>)</a:t>
            </a:r>
            <a:endParaRPr lang="zh-CN" altLang="en-US" dirty="0"/>
          </a:p>
        </p:txBody>
      </p:sp>
      <p:sp>
        <p:nvSpPr>
          <p:cNvPr id="4" name="矩形 3"/>
          <p:cNvSpPr/>
          <p:nvPr/>
        </p:nvSpPr>
        <p:spPr>
          <a:xfrm>
            <a:off x="539552" y="1023940"/>
            <a:ext cx="7896880" cy="3046988"/>
          </a:xfrm>
          <a:prstGeom prst="rect">
            <a:avLst/>
          </a:prstGeom>
        </p:spPr>
        <p:txBody>
          <a:bodyPr wrap="square">
            <a:spAutoFit/>
          </a:bodyPr>
          <a:lstStyle/>
          <a:p>
            <a:pPr marL="285750" indent="-285750">
              <a:buFont typeface="Wingdings" panose="05000000000000000000" pitchFamily="2" charset="2"/>
              <a:buChar char="Ø"/>
            </a:pPr>
            <a:r>
              <a:rPr lang="zh-CN" altLang="en-US" sz="1600" dirty="0"/>
              <a:t>认为人工智能来源于控制论，智能取决于感知和行动。提出智能行为的“感知－动作”模式，采用行为模拟方法</a:t>
            </a:r>
          </a:p>
          <a:p>
            <a:pPr lvl="1"/>
            <a:r>
              <a:rPr lang="zh-CN" altLang="en-US" sz="1600" dirty="0"/>
              <a:t>a systematic approach to understanding the behavior of humans and other animals</a:t>
            </a:r>
          </a:p>
          <a:p>
            <a:pPr marL="285750" indent="-285750">
              <a:buFont typeface="Wingdings" panose="05000000000000000000" pitchFamily="2" charset="2"/>
              <a:buChar char="Ø"/>
            </a:pPr>
            <a:r>
              <a:rPr lang="zh-CN" altLang="en-US" sz="1600" dirty="0"/>
              <a:t>对符号主义、联结主义采取批判的态度；（智能不需要知识、表示和推理，只需要与环境交互作用）</a:t>
            </a:r>
          </a:p>
          <a:p>
            <a:pPr lvl="1"/>
            <a:r>
              <a:rPr lang="zh-CN" altLang="en-US" sz="1600" dirty="0"/>
              <a:t>Most behavior-based systems are also reactive, which means they need no programming of internal representations of what a chair looks like, or what kind of surface the robot is moving on. Instead all the information is gleaned from the input of the robot's sensors. The robot uses that information to gradually correct its actions according to the changes in immediate environment.</a:t>
            </a:r>
          </a:p>
          <a:p>
            <a:pPr marL="285750" indent="-285750">
              <a:buFont typeface="Wingdings" panose="05000000000000000000" pitchFamily="2" charset="2"/>
              <a:buChar char="Ø"/>
            </a:pPr>
            <a:r>
              <a:rPr lang="zh-CN" altLang="en-US" sz="1600" dirty="0"/>
              <a:t>20世纪80年代诞生智能控制和智能机器人系统学科（R. A. Brooks），为机器人研究开创了新的方法</a:t>
            </a:r>
            <a:r>
              <a:rPr lang="zh-CN" altLang="en-US" sz="1600" dirty="0" smtClean="0"/>
              <a:t>。</a:t>
            </a:r>
            <a:r>
              <a:rPr lang="en-US" altLang="zh-CN" sz="1600" dirty="0"/>
              <a:t>Behavior-Based Robots (BBR) </a:t>
            </a:r>
            <a:endParaRPr lang="zh-CN" altLang="en-US" sz="1600" dirty="0">
              <a:solidFill>
                <a:schemeClr val="bg2"/>
              </a:solidFill>
              <a:latin typeface="楷体_GB2312" pitchFamily="49" charset="-122"/>
              <a:ea typeface="楷体_GB2312" pitchFamily="49" charset="-122"/>
              <a:sym typeface="Arial" panose="020B0604020202020204" pitchFamily="34" charset="0"/>
            </a:endParaRPr>
          </a:p>
        </p:txBody>
      </p:sp>
      <p:sp>
        <p:nvSpPr>
          <p:cNvPr id="5" name="矩形 4"/>
          <p:cNvSpPr/>
          <p:nvPr/>
        </p:nvSpPr>
        <p:spPr>
          <a:xfrm>
            <a:off x="395536" y="4070928"/>
            <a:ext cx="8424936" cy="954107"/>
          </a:xfrm>
          <a:prstGeom prst="rect">
            <a:avLst/>
          </a:prstGeom>
        </p:spPr>
        <p:txBody>
          <a:bodyPr wrap="square">
            <a:spAutoFit/>
          </a:bodyPr>
          <a:lstStyle/>
          <a:p>
            <a:r>
              <a:rPr lang="zh-CN" altLang="en-US" sz="1400" dirty="0">
                <a:solidFill>
                  <a:srgbClr val="0070C0"/>
                </a:solidFill>
              </a:rPr>
              <a:t>在人工智能研究领域，有关“符号主义”、“行为主义”、“联结主义”的争论一直都还没有停息。“符号主义”可以得到有限已知条件下的确定解，但对于复杂的系统难以用物理符号表述；“行为主义”可以得到未知环境下的快速反应，但不能明确表示它要完成的目标和为达到目标需要实施的行动，难以设计直接目标的行为；这两种形式的混合结构可以兼顾长期目标和快速反应的需求，达到一种折中的策略。</a:t>
            </a:r>
          </a:p>
        </p:txBody>
      </p:sp>
      <p:sp>
        <p:nvSpPr>
          <p:cNvPr id="6" name="圆角矩形 5"/>
          <p:cNvSpPr/>
          <p:nvPr/>
        </p:nvSpPr>
        <p:spPr>
          <a:xfrm>
            <a:off x="281305" y="4070928"/>
            <a:ext cx="8539167" cy="95410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b="49775"/>
          <a:stretch>
            <a:fillRect/>
          </a:stretch>
        </p:blipFill>
        <p:spPr bwMode="auto">
          <a:xfrm>
            <a:off x="6588224" y="771550"/>
            <a:ext cx="1529805" cy="1504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图片 21"/>
          <p:cNvPicPr>
            <a:picLocks noChangeAspect="1"/>
          </p:cNvPicPr>
          <p:nvPr/>
        </p:nvPicPr>
        <p:blipFill rotWithShape="1">
          <a:blip r:embed="rId7"/>
          <a:srcRect b="50000"/>
          <a:stretch>
            <a:fillRect/>
          </a:stretch>
        </p:blipFill>
        <p:spPr>
          <a:xfrm>
            <a:off x="3851920" y="2014439"/>
            <a:ext cx="1536828" cy="1493415"/>
          </a:xfrm>
          <a:prstGeom prst="rect">
            <a:avLst/>
          </a:prstGeom>
        </p:spPr>
      </p:pic>
      <p:pic>
        <p:nvPicPr>
          <p:cNvPr id="2" name="图片 1"/>
          <p:cNvPicPr>
            <a:picLocks noChangeAspect="1"/>
          </p:cNvPicPr>
          <p:nvPr/>
        </p:nvPicPr>
        <p:blipFill rotWithShape="1">
          <a:blip r:embed="rId8"/>
          <a:srcRect b="49697"/>
          <a:stretch>
            <a:fillRect/>
          </a:stretch>
        </p:blipFill>
        <p:spPr>
          <a:xfrm>
            <a:off x="1612185" y="3241547"/>
            <a:ext cx="1524132" cy="1490443"/>
          </a:xfrm>
          <a:prstGeom prst="rect">
            <a:avLst/>
          </a:prstGeom>
        </p:spPr>
      </p:pic>
      <p:cxnSp>
        <p:nvCxnSpPr>
          <p:cNvPr id="5" name="直接连接符 4"/>
          <p:cNvCxnSpPr>
            <a:stCxn id="54" idx="7"/>
            <a:endCxn id="49" idx="2"/>
          </p:cNvCxnSpPr>
          <p:nvPr/>
        </p:nvCxnSpPr>
        <p:spPr>
          <a:xfrm flipV="1">
            <a:off x="2607371" y="2753484"/>
            <a:ext cx="1675227" cy="98973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 name="直接连接符 5"/>
          <p:cNvCxnSpPr>
            <a:stCxn id="49" idx="6"/>
            <a:endCxn id="50" idx="2"/>
          </p:cNvCxnSpPr>
          <p:nvPr/>
        </p:nvCxnSpPr>
        <p:spPr>
          <a:xfrm flipV="1">
            <a:off x="4879498" y="1454443"/>
            <a:ext cx="2172050" cy="1299041"/>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396552" y="3444209"/>
            <a:ext cx="2353232" cy="632139"/>
            <a:chOff x="1481200" y="4382357"/>
            <a:chExt cx="3137152" cy="842721"/>
          </a:xfrm>
        </p:grpSpPr>
        <p:sp>
          <p:nvSpPr>
            <p:cNvPr id="11" name="矩形 10"/>
            <p:cNvSpPr/>
            <p:nvPr/>
          </p:nvSpPr>
          <p:spPr>
            <a:xfrm>
              <a:off x="1481200" y="4806567"/>
              <a:ext cx="2841876" cy="41851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1200" dirty="0" smtClean="0">
                  <a:latin typeface="微软雅黑" panose="020B0503020204020204" charset="-122"/>
                  <a:ea typeface="微软雅黑" panose="020B0503020204020204" charset="-122"/>
                  <a:cs typeface="+mn-ea"/>
                  <a:sym typeface="Arial" panose="020B0604020202020204" pitchFamily="34" charset="0"/>
                </a:rPr>
                <a:t>计算智能</a:t>
              </a:r>
              <a:endParaRPr lang="zh-CN" altLang="en-US" sz="1200" dirty="0" smtClean="0">
                <a:solidFill>
                  <a:schemeClr val="tx1"/>
                </a:solidFill>
                <a:latin typeface="微软雅黑" panose="020B0503020204020204" charset="-122"/>
                <a:ea typeface="微软雅黑" panose="020B0503020204020204" charset="-122"/>
                <a:cs typeface="+mn-ea"/>
                <a:sym typeface="Arial" panose="020B0604020202020204" pitchFamily="34" charset="0"/>
              </a:endParaRPr>
            </a:p>
          </p:txBody>
        </p:sp>
        <p:sp>
          <p:nvSpPr>
            <p:cNvPr id="12" name="Rectangle 84"/>
            <p:cNvSpPr>
              <a:spLocks noChangeArrowheads="1"/>
            </p:cNvSpPr>
            <p:nvPr/>
          </p:nvSpPr>
          <p:spPr bwMode="auto">
            <a:xfrm>
              <a:off x="2723706" y="4382357"/>
              <a:ext cx="1894646" cy="4813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90" tIns="34295" rIns="68590" bIns="34295" numCol="1" spcCol="0" rtlCol="0" fromWordArt="0" anchor="ctr" anchorCtr="0" forceAA="0" compatLnSpc="1">
              <a:noAutofit/>
            </a:bodyPr>
            <a:lstStyle/>
            <a:p>
              <a:pPr algn="ctr"/>
              <a:r>
                <a:rPr lang="zh-CN" altLang="en-US" sz="1600" b="1" dirty="0" smtClean="0">
                  <a:solidFill>
                    <a:schemeClr val="tx1"/>
                  </a:solidFill>
                  <a:latin typeface="微软雅黑" panose="020B0503020204020204" charset="-122"/>
                  <a:ea typeface="微软雅黑" panose="020B0503020204020204" charset="-122"/>
                  <a:sym typeface="Impact" panose="020B0806030902050204" pitchFamily="34" charset="0"/>
                </a:rPr>
                <a:t>第一阶段</a:t>
              </a:r>
            </a:p>
          </p:txBody>
        </p:sp>
      </p:grpSp>
      <p:grpSp>
        <p:nvGrpSpPr>
          <p:cNvPr id="13" name="组合 12"/>
          <p:cNvGrpSpPr/>
          <p:nvPr/>
        </p:nvGrpSpPr>
        <p:grpSpPr>
          <a:xfrm>
            <a:off x="5388748" y="2243140"/>
            <a:ext cx="2160320" cy="614141"/>
            <a:chOff x="1443100" y="4406349"/>
            <a:chExt cx="2879976" cy="818727"/>
          </a:xfrm>
        </p:grpSpPr>
        <p:sp>
          <p:nvSpPr>
            <p:cNvPr id="14" name="矩形 13"/>
            <p:cNvSpPr/>
            <p:nvPr/>
          </p:nvSpPr>
          <p:spPr>
            <a:xfrm>
              <a:off x="1481199" y="4806565"/>
              <a:ext cx="2841877" cy="41851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sz="1200" dirty="0" smtClean="0">
                  <a:solidFill>
                    <a:schemeClr val="tx1"/>
                  </a:solidFill>
                  <a:latin typeface="微软雅黑" panose="020B0503020204020204" charset="-122"/>
                  <a:ea typeface="微软雅黑" panose="020B0503020204020204" charset="-122"/>
                  <a:cs typeface="+mn-ea"/>
                  <a:sym typeface="Arial" panose="020B0604020202020204" pitchFamily="34" charset="0"/>
                </a:rPr>
                <a:t>感知智能</a:t>
              </a:r>
            </a:p>
          </p:txBody>
        </p:sp>
        <p:sp>
          <p:nvSpPr>
            <p:cNvPr id="15" name="Rectangle 84"/>
            <p:cNvSpPr>
              <a:spLocks noChangeArrowheads="1"/>
            </p:cNvSpPr>
            <p:nvPr/>
          </p:nvSpPr>
          <p:spPr bwMode="auto">
            <a:xfrm>
              <a:off x="1443100" y="4406349"/>
              <a:ext cx="1894646" cy="4813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90" tIns="34295" rIns="68590" bIns="34295" numCol="1" spcCol="0" rtlCol="0" fromWordArt="0" anchor="ctr" anchorCtr="0" forceAA="0" compatLnSpc="1">
              <a:noAutofit/>
            </a:bodyPr>
            <a:lstStyle/>
            <a:p>
              <a:r>
                <a:rPr lang="zh-CN" altLang="en-US" sz="1600" b="1" dirty="0" smtClean="0">
                  <a:solidFill>
                    <a:schemeClr val="tx1"/>
                  </a:solidFill>
                  <a:latin typeface="微软雅黑" panose="020B0503020204020204" charset="-122"/>
                  <a:ea typeface="微软雅黑" panose="020B0503020204020204" charset="-122"/>
                  <a:sym typeface="Impact" panose="020B0806030902050204" pitchFamily="34" charset="0"/>
                </a:rPr>
                <a:t>第二阶段</a:t>
              </a:r>
            </a:p>
          </p:txBody>
        </p:sp>
      </p:grpSp>
      <p:grpSp>
        <p:nvGrpSpPr>
          <p:cNvPr id="16" name="组合 15"/>
          <p:cNvGrpSpPr/>
          <p:nvPr/>
        </p:nvGrpSpPr>
        <p:grpSpPr>
          <a:xfrm>
            <a:off x="6099351" y="2358546"/>
            <a:ext cx="2353232" cy="632139"/>
            <a:chOff x="1481200" y="4382357"/>
            <a:chExt cx="3137152" cy="842721"/>
          </a:xfrm>
        </p:grpSpPr>
        <p:sp>
          <p:nvSpPr>
            <p:cNvPr id="17" name="矩形 16"/>
            <p:cNvSpPr/>
            <p:nvPr/>
          </p:nvSpPr>
          <p:spPr>
            <a:xfrm>
              <a:off x="1481200" y="4806567"/>
              <a:ext cx="2841876" cy="41851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20000"/>
                </a:lnSpc>
              </a:pPr>
              <a:r>
                <a:rPr lang="zh-CN" altLang="en-US" sz="1200" dirty="0" smtClean="0">
                  <a:solidFill>
                    <a:schemeClr val="tx1"/>
                  </a:solidFill>
                  <a:latin typeface="微软雅黑" panose="020B0503020204020204" charset="-122"/>
                  <a:ea typeface="微软雅黑" panose="020B0503020204020204" charset="-122"/>
                  <a:cs typeface="+mn-ea"/>
                  <a:sym typeface="Arial" panose="020B0604020202020204" pitchFamily="34" charset="0"/>
                </a:rPr>
                <a:t>认知智能</a:t>
              </a:r>
            </a:p>
          </p:txBody>
        </p:sp>
        <p:sp>
          <p:nvSpPr>
            <p:cNvPr id="18" name="Rectangle 84"/>
            <p:cNvSpPr>
              <a:spLocks noChangeArrowheads="1"/>
            </p:cNvSpPr>
            <p:nvPr/>
          </p:nvSpPr>
          <p:spPr bwMode="auto">
            <a:xfrm>
              <a:off x="2723706" y="4382357"/>
              <a:ext cx="1894646" cy="48135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90" tIns="34295" rIns="68590" bIns="34295" numCol="1" spcCol="0" rtlCol="0" fromWordArt="0" anchor="ctr" anchorCtr="0" forceAA="0" compatLnSpc="1">
              <a:noAutofit/>
            </a:bodyPr>
            <a:lstStyle/>
            <a:p>
              <a:pPr algn="r"/>
              <a:r>
                <a:rPr lang="zh-CN" altLang="en-US" sz="1600" b="1" dirty="0">
                  <a:solidFill>
                    <a:schemeClr val="tx1"/>
                  </a:solidFill>
                  <a:latin typeface="微软雅黑" panose="020B0503020204020204" charset="-122"/>
                  <a:ea typeface="微软雅黑" panose="020B0503020204020204" charset="-122"/>
                  <a:sym typeface="Impact" panose="020B0806030902050204" pitchFamily="34" charset="0"/>
                </a:rPr>
                <a:t>第三</a:t>
              </a:r>
              <a:r>
                <a:rPr lang="zh-CN" altLang="en-US" sz="1600" b="1" dirty="0" smtClean="0">
                  <a:solidFill>
                    <a:schemeClr val="tx1"/>
                  </a:solidFill>
                  <a:latin typeface="微软雅黑" panose="020B0503020204020204" charset="-122"/>
                  <a:ea typeface="微软雅黑" panose="020B0503020204020204" charset="-122"/>
                  <a:sym typeface="Impact" panose="020B0806030902050204" pitchFamily="34" charset="0"/>
                </a:rPr>
                <a:t>阶段</a:t>
              </a:r>
            </a:p>
          </p:txBody>
        </p:sp>
      </p:grpSp>
      <p:sp>
        <p:nvSpPr>
          <p:cNvPr id="54" name="椭圆 53"/>
          <p:cNvSpPr/>
          <p:nvPr>
            <p:custDataLst>
              <p:tags r:id="rId1"/>
            </p:custDataLst>
          </p:nvPr>
        </p:nvSpPr>
        <p:spPr>
          <a:xfrm>
            <a:off x="2097885" y="3655800"/>
            <a:ext cx="596900" cy="596900"/>
          </a:xfrm>
          <a:prstGeom prst="ellipse">
            <a:avLst/>
          </a:prstGeom>
          <a:solidFill>
            <a:srgbClr val="558ED5"/>
          </a:solidFill>
          <a:ln w="571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49" name="椭圆 48"/>
          <p:cNvSpPr/>
          <p:nvPr>
            <p:custDataLst>
              <p:tags r:id="rId2"/>
            </p:custDataLst>
          </p:nvPr>
        </p:nvSpPr>
        <p:spPr>
          <a:xfrm>
            <a:off x="4282598" y="2455034"/>
            <a:ext cx="596900" cy="596900"/>
          </a:xfrm>
          <a:prstGeom prst="ellipse">
            <a:avLst/>
          </a:prstGeom>
          <a:solidFill>
            <a:srgbClr val="558ED5"/>
          </a:solidFill>
          <a:ln w="571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50" name="椭圆 49"/>
          <p:cNvSpPr/>
          <p:nvPr>
            <p:custDataLst>
              <p:tags r:id="rId3"/>
            </p:custDataLst>
          </p:nvPr>
        </p:nvSpPr>
        <p:spPr>
          <a:xfrm>
            <a:off x="7051548" y="1155993"/>
            <a:ext cx="596900" cy="596900"/>
          </a:xfrm>
          <a:prstGeom prst="ellipse">
            <a:avLst/>
          </a:prstGeom>
          <a:solidFill>
            <a:srgbClr val="558ED5"/>
          </a:solidFill>
          <a:ln w="57150" cap="flat" cmpd="sng" algn="ctr">
            <a:noFill/>
            <a:prstDash val="solid"/>
            <a:miter lim="800000"/>
          </a:ln>
          <a:effectLst/>
        </p:spPr>
        <p:txBody>
          <a:bodyPr lIns="91444" tIns="45722" rIns="91444" bIns="45722" rtlCol="0" anchor="ctr"/>
          <a:lstStyle/>
          <a:p>
            <a:pPr algn="ctr" defTabSz="913765"/>
            <a:endParaRPr lang="zh-CN" altLang="en-US" sz="1350">
              <a:solidFill>
                <a:prstClr val="white"/>
              </a:solidFill>
              <a:latin typeface="Arial" panose="020B0604020202020204" pitchFamily="34" charset="0"/>
              <a:ea typeface="微软雅黑" panose="020B0503020204020204" charset="-122"/>
              <a:sym typeface="Arial" panose="020B0604020202020204" pitchFamily="34" charset="0"/>
            </a:endParaRPr>
          </a:p>
        </p:txBody>
      </p:sp>
      <p:sp>
        <p:nvSpPr>
          <p:cNvPr id="51" name="文本框 45"/>
          <p:cNvSpPr txBox="1"/>
          <p:nvPr/>
        </p:nvSpPr>
        <p:spPr>
          <a:xfrm>
            <a:off x="2170667" y="3762538"/>
            <a:ext cx="464820" cy="368300"/>
          </a:xfrm>
          <a:prstGeom prst="rect">
            <a:avLst/>
          </a:prstGeom>
          <a:noFill/>
        </p:spPr>
        <p:txBody>
          <a:bodyPr wrap="none" rtlCol="0">
            <a:spAutoFit/>
          </a:bodyPr>
          <a:lstStyle/>
          <a:p>
            <a:r>
              <a:rPr lang="en-US" altLang="zh-CN" b="1" dirty="0" smtClean="0">
                <a:solidFill>
                  <a:schemeClr val="bg1"/>
                </a:solidFill>
                <a:latin typeface="微软雅黑" panose="020B0503020204020204" charset="-122"/>
                <a:ea typeface="微软雅黑" panose="020B0503020204020204" charset="-122"/>
              </a:rPr>
              <a:t>01</a:t>
            </a:r>
          </a:p>
        </p:txBody>
      </p:sp>
      <p:sp>
        <p:nvSpPr>
          <p:cNvPr id="52" name="文本框 45"/>
          <p:cNvSpPr txBox="1"/>
          <p:nvPr/>
        </p:nvSpPr>
        <p:spPr>
          <a:xfrm>
            <a:off x="7117345" y="1270986"/>
            <a:ext cx="464820" cy="368300"/>
          </a:xfrm>
          <a:prstGeom prst="rect">
            <a:avLst/>
          </a:prstGeom>
          <a:noFill/>
        </p:spPr>
        <p:txBody>
          <a:bodyPr wrap="none" rtlCol="0">
            <a:spAutoFit/>
          </a:bodyPr>
          <a:lstStyle/>
          <a:p>
            <a:r>
              <a:rPr lang="en-US" altLang="zh-CN" b="1" dirty="0" smtClean="0">
                <a:solidFill>
                  <a:schemeClr val="bg1"/>
                </a:solidFill>
                <a:latin typeface="微软雅黑" panose="020B0503020204020204" charset="-122"/>
                <a:ea typeface="微软雅黑" panose="020B0503020204020204" charset="-122"/>
              </a:rPr>
              <a:t>03</a:t>
            </a:r>
          </a:p>
        </p:txBody>
      </p:sp>
      <p:sp>
        <p:nvSpPr>
          <p:cNvPr id="53" name="文本框 45"/>
          <p:cNvSpPr txBox="1"/>
          <p:nvPr/>
        </p:nvSpPr>
        <p:spPr>
          <a:xfrm>
            <a:off x="4348395" y="2552882"/>
            <a:ext cx="464820" cy="368300"/>
          </a:xfrm>
          <a:prstGeom prst="rect">
            <a:avLst/>
          </a:prstGeom>
          <a:noFill/>
        </p:spPr>
        <p:txBody>
          <a:bodyPr wrap="none" rtlCol="0">
            <a:spAutoFit/>
          </a:bodyPr>
          <a:lstStyle/>
          <a:p>
            <a:r>
              <a:rPr lang="en-US" altLang="zh-CN" b="1" dirty="0" smtClean="0">
                <a:solidFill>
                  <a:schemeClr val="bg1"/>
                </a:solidFill>
                <a:latin typeface="微软雅黑" panose="020B0503020204020204" charset="-122"/>
                <a:ea typeface="微软雅黑" panose="020B0503020204020204" charset="-122"/>
              </a:rPr>
              <a:t>02</a:t>
            </a:r>
          </a:p>
        </p:txBody>
      </p:sp>
      <p:grpSp>
        <p:nvGrpSpPr>
          <p:cNvPr id="31" name="组合 30"/>
          <p:cNvGrpSpPr/>
          <p:nvPr/>
        </p:nvGrpSpPr>
        <p:grpSpPr>
          <a:xfrm>
            <a:off x="-236220" y="219075"/>
            <a:ext cx="5153660" cy="600075"/>
            <a:chOff x="-372" y="345"/>
            <a:chExt cx="8116" cy="945"/>
          </a:xfrm>
        </p:grpSpPr>
        <p:sp>
          <p:nvSpPr>
            <p:cNvPr id="32" name="矩形 31"/>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3" name="文本框 32"/>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4" name="椭圆 3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矩形 2"/>
          <p:cNvSpPr/>
          <p:nvPr/>
        </p:nvSpPr>
        <p:spPr>
          <a:xfrm>
            <a:off x="3820304" y="617803"/>
            <a:ext cx="1380506" cy="461665"/>
          </a:xfrm>
          <a:prstGeom prst="rect">
            <a:avLst/>
          </a:prstGeom>
        </p:spPr>
        <p:txBody>
          <a:bodyPr wrap="none">
            <a:spAutoFit/>
          </a:bodyPr>
          <a:lstStyle/>
          <a:p>
            <a:r>
              <a:rPr lang="zh-CN" altLang="en-US" sz="2400" b="1" dirty="0">
                <a:solidFill>
                  <a:srgbClr val="0070C0"/>
                </a:solidFill>
              </a:rPr>
              <a:t>AI的发展</a:t>
            </a:r>
          </a:p>
        </p:txBody>
      </p:sp>
      <p:sp>
        <p:nvSpPr>
          <p:cNvPr id="4" name="矩形 3"/>
          <p:cNvSpPr/>
          <p:nvPr/>
        </p:nvSpPr>
        <p:spPr>
          <a:xfrm>
            <a:off x="1842337" y="2789549"/>
            <a:ext cx="1107996" cy="369332"/>
          </a:xfrm>
          <a:prstGeom prst="rect">
            <a:avLst/>
          </a:prstGeom>
        </p:spPr>
        <p:txBody>
          <a:bodyPr wrap="none">
            <a:spAutoFit/>
          </a:bodyPr>
          <a:lstStyle/>
          <a:p>
            <a:r>
              <a:rPr lang="zh-CN" altLang="en-US" dirty="0">
                <a:solidFill>
                  <a:srgbClr val="0070C0"/>
                </a:solidFill>
              </a:rPr>
              <a:t>能存会算</a:t>
            </a:r>
          </a:p>
        </p:txBody>
      </p:sp>
      <p:sp>
        <p:nvSpPr>
          <p:cNvPr id="7" name="矩形 6"/>
          <p:cNvSpPr/>
          <p:nvPr/>
        </p:nvSpPr>
        <p:spPr>
          <a:xfrm>
            <a:off x="3527879" y="1541225"/>
            <a:ext cx="2262158" cy="369332"/>
          </a:xfrm>
          <a:prstGeom prst="rect">
            <a:avLst/>
          </a:prstGeom>
        </p:spPr>
        <p:txBody>
          <a:bodyPr wrap="none">
            <a:spAutoFit/>
          </a:bodyPr>
          <a:lstStyle/>
          <a:p>
            <a:r>
              <a:rPr lang="zh-CN" altLang="en-US" dirty="0">
                <a:solidFill>
                  <a:srgbClr val="0070C0"/>
                </a:solidFill>
              </a:rPr>
              <a:t>能听会说、能看会认</a:t>
            </a:r>
            <a:endParaRPr lang="en-US" altLang="zh-CN" dirty="0">
              <a:solidFill>
                <a:srgbClr val="0070C0"/>
              </a:solidFill>
            </a:endParaRPr>
          </a:p>
        </p:txBody>
      </p:sp>
      <p:sp>
        <p:nvSpPr>
          <p:cNvPr id="8" name="矩形 7"/>
          <p:cNvSpPr/>
          <p:nvPr/>
        </p:nvSpPr>
        <p:spPr>
          <a:xfrm>
            <a:off x="6609779" y="427781"/>
            <a:ext cx="1569660" cy="369332"/>
          </a:xfrm>
          <a:prstGeom prst="rect">
            <a:avLst/>
          </a:prstGeom>
        </p:spPr>
        <p:txBody>
          <a:bodyPr wrap="none">
            <a:spAutoFit/>
          </a:bodyPr>
          <a:lstStyle/>
          <a:p>
            <a:r>
              <a:rPr lang="zh-CN" altLang="en-US" dirty="0">
                <a:solidFill>
                  <a:srgbClr val="0070C0"/>
                </a:solidFill>
              </a:rPr>
              <a:t>能理解会思考</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par>
                                <p:cTn id="12" presetID="14" presetClass="entr" presetSubtype="1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randombar(horizontal)">
                                      <p:cBhvr>
                                        <p:cTn id="14" dur="500"/>
                                        <p:tgtEl>
                                          <p:spTgt spid="13"/>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14" presetClass="entr" presetSubtype="1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randombar(horizontal)">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236220" y="219075"/>
            <a:ext cx="5153660" cy="600075"/>
            <a:chOff x="-372" y="345"/>
            <a:chExt cx="8116" cy="945"/>
          </a:xfrm>
        </p:grpSpPr>
        <p:sp>
          <p:nvSpPr>
            <p:cNvPr id="32" name="矩形 31"/>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3" name="文本框 32"/>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4" name="椭圆 3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矩形 25"/>
          <p:cNvSpPr/>
          <p:nvPr/>
        </p:nvSpPr>
        <p:spPr>
          <a:xfrm>
            <a:off x="333845" y="4045038"/>
            <a:ext cx="4065969" cy="923330"/>
          </a:xfrm>
          <a:prstGeom prst="rect">
            <a:avLst/>
          </a:prstGeom>
        </p:spPr>
        <p:style>
          <a:lnRef idx="0">
            <a:schemeClr val="accent4"/>
          </a:lnRef>
          <a:fillRef idx="3">
            <a:schemeClr val="accent4"/>
          </a:fillRef>
          <a:effectRef idx="3">
            <a:schemeClr val="accent4"/>
          </a:effectRef>
          <a:fontRef idx="minor">
            <a:schemeClr val="lt1"/>
          </a:fontRef>
        </p:style>
        <p:txBody>
          <a:bodyPr>
            <a:spAutoFit/>
          </a:bodyPr>
          <a:lstStyle/>
          <a:p>
            <a:pPr>
              <a:buFont typeface="Arial" panose="020B0604020202020204" pitchFamily="34" charset="0"/>
              <a:buNone/>
              <a:defRPr/>
            </a:pPr>
            <a:r>
              <a:rPr lang="zh-CN" altLang="en-US" dirty="0"/>
              <a:t>感知智能</a:t>
            </a:r>
            <a:endParaRPr lang="en-US" altLang="zh-CN" dirty="0"/>
          </a:p>
          <a:p>
            <a:pPr>
              <a:buFont typeface="Arial" panose="020B0604020202020204" pitchFamily="34" charset="0"/>
              <a:buNone/>
              <a:defRPr/>
            </a:pPr>
            <a:r>
              <a:rPr lang="zh-CN" altLang="en-US" dirty="0"/>
              <a:t>以模式识别、浅层理解为特征</a:t>
            </a:r>
          </a:p>
          <a:p>
            <a:pPr>
              <a:buFont typeface="Arial" panose="020B0604020202020204" pitchFamily="34" charset="0"/>
              <a:buNone/>
              <a:defRPr/>
            </a:pPr>
            <a:r>
              <a:rPr lang="zh-CN" altLang="en-US" dirty="0"/>
              <a:t>以大数据和云计算为支撑</a:t>
            </a:r>
          </a:p>
        </p:txBody>
      </p:sp>
      <p:sp>
        <p:nvSpPr>
          <p:cNvPr id="27" name="矩形 2"/>
          <p:cNvSpPr>
            <a:spLocks noChangeArrowheads="1"/>
          </p:cNvSpPr>
          <p:nvPr/>
        </p:nvSpPr>
        <p:spPr bwMode="auto">
          <a:xfrm>
            <a:off x="6645860" y="2075265"/>
            <a:ext cx="20066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NLP</a:t>
            </a:r>
            <a:endParaRPr lang="zh-CN" altLang="en-US" sz="1800" dirty="0">
              <a:solidFill>
                <a:schemeClr val="tx1"/>
              </a:solidFill>
              <a:ea typeface="宋体" panose="02010600030101010101" pitchFamily="2" charset="-122"/>
            </a:endParaRPr>
          </a:p>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HRI</a:t>
            </a:r>
          </a:p>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Reasoning</a:t>
            </a:r>
          </a:p>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Machine </a:t>
            </a:r>
            <a:r>
              <a:rPr lang="en-US" altLang="zh-CN" sz="1800" dirty="0" smtClean="0">
                <a:solidFill>
                  <a:schemeClr val="tx1"/>
                </a:solidFill>
                <a:ea typeface="宋体" panose="02010600030101010101" pitchFamily="2" charset="-122"/>
              </a:rPr>
              <a:t>Learning</a:t>
            </a:r>
          </a:p>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LLM</a:t>
            </a:r>
            <a:endParaRPr lang="zh-CN" altLang="en-US" sz="1800" dirty="0">
              <a:solidFill>
                <a:schemeClr val="tx1"/>
              </a:solidFill>
              <a:ea typeface="宋体" panose="02010600030101010101" pitchFamily="2" charset="-122"/>
            </a:endParaRPr>
          </a:p>
        </p:txBody>
      </p:sp>
      <p:pic>
        <p:nvPicPr>
          <p:cNvPr id="2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114" y="1807307"/>
            <a:ext cx="2178521" cy="191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778171"/>
            <a:ext cx="2073860" cy="1916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矩形 3"/>
          <p:cNvSpPr>
            <a:spLocks noChangeArrowheads="1"/>
          </p:cNvSpPr>
          <p:nvPr/>
        </p:nvSpPr>
        <p:spPr bwMode="auto">
          <a:xfrm>
            <a:off x="388938" y="843558"/>
            <a:ext cx="26638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Learning by observations and explanations</a:t>
            </a:r>
            <a:endParaRPr lang="zh-CN" altLang="en-US" sz="1800" dirty="0">
              <a:solidFill>
                <a:schemeClr val="tx1"/>
              </a:solidFill>
              <a:ea typeface="宋体" panose="02010600030101010101" pitchFamily="2" charset="-122"/>
            </a:endParaRPr>
          </a:p>
        </p:txBody>
      </p:sp>
      <p:sp>
        <p:nvSpPr>
          <p:cNvPr id="35" name="矩形 4"/>
          <p:cNvSpPr>
            <a:spLocks noChangeArrowheads="1"/>
          </p:cNvSpPr>
          <p:nvPr/>
        </p:nvSpPr>
        <p:spPr bwMode="auto">
          <a:xfrm>
            <a:off x="1008035" y="3680212"/>
            <a:ext cx="2260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Data-driven learning</a:t>
            </a:r>
            <a:endParaRPr lang="zh-CN" altLang="en-US" sz="1800" dirty="0">
              <a:solidFill>
                <a:schemeClr val="tx1"/>
              </a:solidFill>
              <a:ea typeface="宋体" panose="02010600030101010101" pitchFamily="2" charset="-122"/>
            </a:endParaRPr>
          </a:p>
        </p:txBody>
      </p:sp>
      <p:sp>
        <p:nvSpPr>
          <p:cNvPr id="36" name="矩形 5"/>
          <p:cNvSpPr>
            <a:spLocks noChangeArrowheads="1"/>
          </p:cNvSpPr>
          <p:nvPr/>
        </p:nvSpPr>
        <p:spPr bwMode="auto">
          <a:xfrm>
            <a:off x="4773613" y="935633"/>
            <a:ext cx="2017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Learning by doing</a:t>
            </a:r>
            <a:endParaRPr lang="zh-CN" altLang="en-US" sz="1800" dirty="0">
              <a:solidFill>
                <a:schemeClr val="tx1"/>
              </a:solidFill>
              <a:ea typeface="宋体" panose="02010600030101010101" pitchFamily="2" charset="-122"/>
            </a:endParaRPr>
          </a:p>
        </p:txBody>
      </p:sp>
      <p:sp>
        <p:nvSpPr>
          <p:cNvPr id="37" name="矩形 6"/>
          <p:cNvSpPr>
            <a:spLocks noChangeArrowheads="1"/>
          </p:cNvSpPr>
          <p:nvPr/>
        </p:nvSpPr>
        <p:spPr bwMode="auto">
          <a:xfrm>
            <a:off x="4572000" y="3658154"/>
            <a:ext cx="2535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Trial-and-error learning</a:t>
            </a:r>
            <a:endParaRPr lang="zh-CN" altLang="en-US" sz="1800" dirty="0">
              <a:solidFill>
                <a:schemeClr val="tx1"/>
              </a:solidFill>
              <a:ea typeface="宋体" panose="02010600030101010101" pitchFamily="2" charset="-122"/>
            </a:endParaRPr>
          </a:p>
        </p:txBody>
      </p:sp>
      <p:sp>
        <p:nvSpPr>
          <p:cNvPr id="39" name="右箭头 8"/>
          <p:cNvSpPr>
            <a:spLocks noChangeArrowheads="1"/>
          </p:cNvSpPr>
          <p:nvPr/>
        </p:nvSpPr>
        <p:spPr bwMode="auto">
          <a:xfrm>
            <a:off x="3419475" y="2766020"/>
            <a:ext cx="720725" cy="431800"/>
          </a:xfrm>
          <a:prstGeom prst="rightArrow">
            <a:avLst>
              <a:gd name="adj1" fmla="val 50000"/>
              <a:gd name="adj2" fmla="val 50074"/>
            </a:avLst>
          </a:prstGeom>
          <a:solidFill>
            <a:schemeClr val="accent1"/>
          </a:solidFill>
          <a:ln w="9525" algn="ctr">
            <a:solidFill>
              <a:schemeClr val="tx1"/>
            </a:solidFill>
            <a:round/>
          </a:ln>
        </p:spPr>
        <p:txBody>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pic>
        <p:nvPicPr>
          <p:cNvPr id="4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2539" y="3809920"/>
            <a:ext cx="1057275"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矩形 40"/>
          <p:cNvSpPr/>
          <p:nvPr/>
        </p:nvSpPr>
        <p:spPr>
          <a:xfrm>
            <a:off x="4572000" y="4024684"/>
            <a:ext cx="4074276" cy="923330"/>
          </a:xfrm>
          <a:prstGeom prst="rect">
            <a:avLst/>
          </a:prstGeom>
        </p:spPr>
        <p:style>
          <a:lnRef idx="0">
            <a:schemeClr val="accent4"/>
          </a:lnRef>
          <a:fillRef idx="3">
            <a:schemeClr val="accent4"/>
          </a:fillRef>
          <a:effectRef idx="3">
            <a:schemeClr val="accent4"/>
          </a:effectRef>
          <a:fontRef idx="minor">
            <a:schemeClr val="lt1"/>
          </a:fontRef>
        </p:style>
        <p:txBody>
          <a:bodyPr>
            <a:spAutoFit/>
          </a:bodyPr>
          <a:lstStyle/>
          <a:p>
            <a:pPr>
              <a:buFont typeface="Arial" panose="020B0604020202020204" pitchFamily="34" charset="0"/>
              <a:buNone/>
              <a:defRPr/>
            </a:pPr>
            <a:r>
              <a:rPr lang="zh-CN" altLang="en-US" dirty="0"/>
              <a:t>认知智能</a:t>
            </a:r>
            <a:endParaRPr lang="en-US" altLang="zh-CN" dirty="0"/>
          </a:p>
          <a:p>
            <a:pPr>
              <a:buFont typeface="Arial" panose="020B0604020202020204" pitchFamily="34" charset="0"/>
              <a:buNone/>
              <a:defRPr/>
            </a:pPr>
            <a:r>
              <a:rPr lang="zh-CN" altLang="en-US" dirty="0"/>
              <a:t>以深层语义理解、知识推理为特征</a:t>
            </a:r>
          </a:p>
          <a:p>
            <a:pPr>
              <a:buFont typeface="Arial" panose="020B0604020202020204" pitchFamily="34" charset="0"/>
              <a:buNone/>
              <a:defRPr/>
            </a:pPr>
            <a:r>
              <a:rPr lang="zh-CN" altLang="en-US" dirty="0"/>
              <a:t>新一代的类人智能关键算法</a:t>
            </a:r>
          </a:p>
        </p:txBody>
      </p:sp>
      <p:pic>
        <p:nvPicPr>
          <p:cNvPr id="42"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95381" y="3590778"/>
            <a:ext cx="981075"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236220" y="219075"/>
            <a:ext cx="5153660" cy="600075"/>
            <a:chOff x="-372" y="345"/>
            <a:chExt cx="8116" cy="945"/>
          </a:xfrm>
        </p:grpSpPr>
        <p:sp>
          <p:nvSpPr>
            <p:cNvPr id="32" name="矩形 31"/>
            <p:cNvSpPr/>
            <p:nvPr/>
          </p:nvSpPr>
          <p:spPr>
            <a:xfrm>
              <a:off x="443" y="824"/>
              <a:ext cx="6313" cy="466"/>
            </a:xfrm>
            <a:prstGeom prst="rect">
              <a:avLst/>
            </a:prstGeom>
          </p:spPr>
          <p:txBody>
            <a:bodyPr wrap="square">
              <a:spAutoFit/>
            </a:bodyPr>
            <a:lstStyle/>
            <a:p>
              <a:pPr algn="l">
                <a:lnSpc>
                  <a:spcPct val="150000"/>
                </a:lnSpc>
              </a:pPr>
              <a:r>
                <a:rPr lang="en-US" altLang="zh-CN" sz="1000" dirty="0" smtClean="0">
                  <a:latin typeface="Arial" panose="020B0604020202020204" pitchFamily="34" charset="0"/>
                  <a:ea typeface="微软雅黑" panose="020B0503020204020204" charset="-122"/>
                  <a:sym typeface="+mn-ea"/>
                </a:rPr>
                <a:t>Robot and AI</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33" name="文本框 32"/>
            <p:cNvSpPr txBox="1"/>
            <p:nvPr/>
          </p:nvSpPr>
          <p:spPr>
            <a:xfrm>
              <a:off x="443" y="363"/>
              <a:ext cx="7301" cy="628"/>
            </a:xfrm>
            <a:prstGeom prst="rect">
              <a:avLst/>
            </a:prstGeom>
            <a:noFill/>
          </p:spPr>
          <p:txBody>
            <a:bodyPr wrap="square" rtlCol="0" anchor="t">
              <a:spAutoFit/>
            </a:bodyPr>
            <a:lstStyle/>
            <a:p>
              <a:pPr algn="l"/>
              <a:r>
                <a:rPr lang="zh-CN" altLang="en-US" sz="2000" b="1" dirty="0" smtClean="0">
                  <a:latin typeface="Arial" panose="020B0604020202020204" pitchFamily="34" charset="0"/>
                  <a:ea typeface="微软雅黑" panose="020B0503020204020204" charset="-122"/>
                  <a:sym typeface="+mn-ea"/>
                </a:rPr>
                <a:t>机器人与人工智能</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4" name="椭圆 3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TextBox 3"/>
          <p:cNvSpPr txBox="1">
            <a:spLocks noChangeArrowheads="1"/>
          </p:cNvSpPr>
          <p:nvPr/>
        </p:nvSpPr>
        <p:spPr bwMode="auto">
          <a:xfrm>
            <a:off x="3036393" y="294503"/>
            <a:ext cx="32496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zh-CN" altLang="en-US" sz="2000" dirty="0" smtClean="0">
                <a:solidFill>
                  <a:srgbClr val="0070C0"/>
                </a:solidFill>
                <a:ea typeface="宋体" panose="02010600030101010101" pitchFamily="2" charset="-122"/>
              </a:rPr>
              <a:t>机器学习</a:t>
            </a:r>
            <a:r>
              <a:rPr lang="en-US" altLang="zh-CN" sz="2000" dirty="0" smtClean="0">
                <a:solidFill>
                  <a:srgbClr val="0070C0"/>
                </a:solidFill>
                <a:ea typeface="宋体" panose="02010600030101010101" pitchFamily="2" charset="-122"/>
              </a:rPr>
              <a:t>Machine Learning</a:t>
            </a:r>
          </a:p>
        </p:txBody>
      </p:sp>
      <p:pic>
        <p:nvPicPr>
          <p:cNvPr id="2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892" y="1593057"/>
            <a:ext cx="2843213" cy="2665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图片 6" descr="http://tc.sinaimg.cn/maxwidth.2048/tc.service.weibo.com/static_leiphone_com/9a5947db545f0530775a49c42479faf5.png"/>
          <p:cNvPicPr>
            <a:picLocks noChangeAspect="1" noChangeArrowheads="1"/>
          </p:cNvPicPr>
          <p:nvPr/>
        </p:nvPicPr>
        <p:blipFill>
          <a:blip r:embed="rId4">
            <a:extLst>
              <a:ext uri="{28A0092B-C50C-407E-A947-70E740481C1C}">
                <a14:useLocalDpi xmlns:a14="http://schemas.microsoft.com/office/drawing/2010/main" val="0"/>
              </a:ext>
            </a:extLst>
          </a:blip>
          <a:srcRect l="9087" t="10847" b="4128"/>
          <a:stretch>
            <a:fillRect/>
          </a:stretch>
        </p:blipFill>
        <p:spPr bwMode="auto">
          <a:xfrm>
            <a:off x="3293256" y="1627900"/>
            <a:ext cx="2735882" cy="264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右箭头 7"/>
          <p:cNvSpPr>
            <a:spLocks noChangeArrowheads="1"/>
          </p:cNvSpPr>
          <p:nvPr/>
        </p:nvSpPr>
        <p:spPr bwMode="auto">
          <a:xfrm>
            <a:off x="2700338" y="2925763"/>
            <a:ext cx="174625" cy="288925"/>
          </a:xfrm>
          <a:prstGeom prst="rightArrow">
            <a:avLst>
              <a:gd name="adj1" fmla="val 50000"/>
              <a:gd name="adj2" fmla="val 50000"/>
            </a:avLst>
          </a:prstGeom>
          <a:solidFill>
            <a:schemeClr val="accent1"/>
          </a:solidFill>
          <a:ln w="9525" algn="ctr">
            <a:solidFill>
              <a:schemeClr val="tx1"/>
            </a:solidFill>
            <a:round/>
          </a:ln>
        </p:spPr>
        <p:txBody>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pic>
        <p:nvPicPr>
          <p:cNvPr id="30" name="图片 8" descr="http://tc.sinaimg.cn/maxwidth.2048/tc.service.weibo.com/static_leiphone_com/4f1aa938e8c4e6da223888e9e81a7ebe.png"/>
          <p:cNvPicPr>
            <a:picLocks noChangeAspect="1" noChangeArrowheads="1"/>
          </p:cNvPicPr>
          <p:nvPr/>
        </p:nvPicPr>
        <p:blipFill>
          <a:blip r:embed="rId5">
            <a:extLst>
              <a:ext uri="{28A0092B-C50C-407E-A947-70E740481C1C}">
                <a14:useLocalDpi xmlns:a14="http://schemas.microsoft.com/office/drawing/2010/main" val="0"/>
              </a:ext>
            </a:extLst>
          </a:blip>
          <a:srcRect l="10229" t="18231" r="12743" b="6705"/>
          <a:stretch>
            <a:fillRect/>
          </a:stretch>
        </p:blipFill>
        <p:spPr bwMode="auto">
          <a:xfrm>
            <a:off x="6435621" y="1627900"/>
            <a:ext cx="2403279" cy="264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右箭头 9"/>
          <p:cNvSpPr>
            <a:spLocks noChangeArrowheads="1"/>
          </p:cNvSpPr>
          <p:nvPr/>
        </p:nvSpPr>
        <p:spPr bwMode="auto">
          <a:xfrm>
            <a:off x="6011863" y="2925763"/>
            <a:ext cx="174625" cy="288925"/>
          </a:xfrm>
          <a:prstGeom prst="rightArrow">
            <a:avLst>
              <a:gd name="adj1" fmla="val 50000"/>
              <a:gd name="adj2" fmla="val 50000"/>
            </a:avLst>
          </a:prstGeom>
          <a:solidFill>
            <a:schemeClr val="accent1"/>
          </a:solidFill>
          <a:ln w="9525" algn="ctr">
            <a:solidFill>
              <a:schemeClr val="tx1"/>
            </a:solidFill>
            <a:round/>
          </a:ln>
        </p:spPr>
        <p:txBody>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endParaRPr lang="zh-CN" altLang="en-US" sz="1800">
              <a:solidFill>
                <a:schemeClr val="tx1"/>
              </a:solidFill>
              <a:ea typeface="宋体" panose="02010600030101010101" pitchFamily="2" charset="-122"/>
            </a:endParaRPr>
          </a:p>
        </p:txBody>
      </p:sp>
      <p:sp>
        <p:nvSpPr>
          <p:cNvPr id="36" name="TextBox 10"/>
          <p:cNvSpPr txBox="1">
            <a:spLocks noChangeArrowheads="1"/>
          </p:cNvSpPr>
          <p:nvPr/>
        </p:nvSpPr>
        <p:spPr bwMode="auto">
          <a:xfrm>
            <a:off x="611188" y="838200"/>
            <a:ext cx="1698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zh-CN" altLang="en-US" sz="1800">
                <a:solidFill>
                  <a:schemeClr val="tx1"/>
                </a:solidFill>
                <a:ea typeface="宋体" panose="02010600030101010101" pitchFamily="2" charset="-122"/>
              </a:rPr>
              <a:t>深度学习</a:t>
            </a:r>
            <a:endParaRPr lang="en-US" altLang="zh-CN" sz="1800">
              <a:solidFill>
                <a:schemeClr val="tx1"/>
              </a:solidFill>
              <a:ea typeface="宋体" panose="02010600030101010101" pitchFamily="2" charset="-122"/>
            </a:endParaRPr>
          </a:p>
          <a:p>
            <a:pPr>
              <a:lnSpc>
                <a:spcPct val="100000"/>
              </a:lnSpc>
              <a:spcBef>
                <a:spcPct val="0"/>
              </a:spcBef>
              <a:buClrTx/>
              <a:buSzTx/>
              <a:buFont typeface="Arial" panose="020B0604020202020204" pitchFamily="34" charset="0"/>
              <a:buNone/>
            </a:pPr>
            <a:r>
              <a:rPr lang="en-US" altLang="zh-CN" sz="1800">
                <a:solidFill>
                  <a:schemeClr val="tx1"/>
                </a:solidFill>
                <a:ea typeface="宋体" panose="02010600030101010101" pitchFamily="2" charset="-122"/>
              </a:rPr>
              <a:t>Deep Learning</a:t>
            </a:r>
            <a:endParaRPr lang="zh-CN" altLang="en-US" sz="1800">
              <a:solidFill>
                <a:schemeClr val="tx1"/>
              </a:solidFill>
              <a:ea typeface="宋体" panose="02010600030101010101" pitchFamily="2" charset="-122"/>
            </a:endParaRPr>
          </a:p>
        </p:txBody>
      </p:sp>
      <p:sp>
        <p:nvSpPr>
          <p:cNvPr id="37" name="TextBox 11"/>
          <p:cNvSpPr txBox="1">
            <a:spLocks noChangeArrowheads="1"/>
          </p:cNvSpPr>
          <p:nvPr/>
        </p:nvSpPr>
        <p:spPr bwMode="auto">
          <a:xfrm>
            <a:off x="3419475" y="838200"/>
            <a:ext cx="2647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zh-CN" altLang="en-US" sz="1800" dirty="0">
                <a:solidFill>
                  <a:srgbClr val="FF0000"/>
                </a:solidFill>
                <a:ea typeface="宋体" panose="02010600030101010101" pitchFamily="2" charset="-122"/>
              </a:rPr>
              <a:t>强化学习</a:t>
            </a:r>
            <a:endParaRPr lang="en-US" altLang="zh-CN" sz="1800" dirty="0">
              <a:solidFill>
                <a:srgbClr val="FF0000"/>
              </a:solidFill>
              <a:ea typeface="宋体" panose="02010600030101010101" pitchFamily="2" charset="-122"/>
            </a:endParaRPr>
          </a:p>
          <a:p>
            <a:pPr>
              <a:lnSpc>
                <a:spcPct val="100000"/>
              </a:lnSpc>
              <a:spcBef>
                <a:spcPct val="0"/>
              </a:spcBef>
              <a:buClrTx/>
              <a:buSzTx/>
              <a:buFont typeface="Arial" panose="020B0604020202020204" pitchFamily="34" charset="0"/>
              <a:buNone/>
            </a:pPr>
            <a:r>
              <a:rPr lang="en-US" altLang="zh-CN" sz="1800" dirty="0">
                <a:solidFill>
                  <a:srgbClr val="FF0000"/>
                </a:solidFill>
                <a:ea typeface="宋体" panose="02010600030101010101" pitchFamily="2" charset="-122"/>
              </a:rPr>
              <a:t>Reinforcement Learning</a:t>
            </a:r>
          </a:p>
        </p:txBody>
      </p:sp>
      <p:sp>
        <p:nvSpPr>
          <p:cNvPr id="39" name="TextBox 12"/>
          <p:cNvSpPr txBox="1">
            <a:spLocks noChangeArrowheads="1"/>
          </p:cNvSpPr>
          <p:nvPr/>
        </p:nvSpPr>
        <p:spPr bwMode="auto">
          <a:xfrm>
            <a:off x="6781801" y="783258"/>
            <a:ext cx="1997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nSpc>
                <a:spcPct val="100000"/>
              </a:lnSpc>
              <a:spcBef>
                <a:spcPct val="0"/>
              </a:spcBef>
              <a:buClrTx/>
              <a:buSzTx/>
              <a:buFont typeface="Arial" panose="020B0604020202020204" pitchFamily="34" charset="0"/>
              <a:buNone/>
            </a:pPr>
            <a:r>
              <a:rPr lang="zh-CN" altLang="en-US" sz="1800" dirty="0">
                <a:solidFill>
                  <a:schemeClr val="tx1"/>
                </a:solidFill>
                <a:ea typeface="宋体" panose="02010600030101010101" pitchFamily="2" charset="-122"/>
              </a:rPr>
              <a:t>迁移学习</a:t>
            </a:r>
            <a:endParaRPr lang="en-US" altLang="zh-CN" sz="1800" dirty="0">
              <a:solidFill>
                <a:schemeClr val="tx1"/>
              </a:solidFill>
              <a:ea typeface="宋体" panose="02010600030101010101" pitchFamily="2" charset="-122"/>
            </a:endParaRPr>
          </a:p>
          <a:p>
            <a:pPr>
              <a:lnSpc>
                <a:spcPct val="100000"/>
              </a:lnSpc>
              <a:spcBef>
                <a:spcPct val="0"/>
              </a:spcBef>
              <a:buClrTx/>
              <a:buSzTx/>
              <a:buFont typeface="Arial" panose="020B0604020202020204" pitchFamily="34" charset="0"/>
              <a:buNone/>
            </a:pPr>
            <a:r>
              <a:rPr lang="en-US" altLang="zh-CN" sz="1800" dirty="0">
                <a:solidFill>
                  <a:schemeClr val="tx1"/>
                </a:solidFill>
                <a:ea typeface="宋体" panose="02010600030101010101" pitchFamily="2" charset="-122"/>
              </a:rPr>
              <a:t>Transfer Learning</a:t>
            </a:r>
            <a:endParaRPr lang="zh-CN" altLang="en-US" sz="1800" dirty="0">
              <a:solidFill>
                <a:schemeClr val="tx1"/>
              </a:solidFill>
              <a:ea typeface="宋体" panose="02010600030101010101" pitchFamily="2" charset="-122"/>
            </a:endParaRPr>
          </a:p>
        </p:txBody>
      </p:sp>
      <p:sp>
        <p:nvSpPr>
          <p:cNvPr id="2" name="文本框 1"/>
          <p:cNvSpPr txBox="1"/>
          <p:nvPr/>
        </p:nvSpPr>
        <p:spPr>
          <a:xfrm>
            <a:off x="298774" y="4290816"/>
            <a:ext cx="8702675" cy="337185"/>
          </a:xfrm>
          <a:prstGeom prst="rect">
            <a:avLst/>
          </a:prstGeom>
          <a:noFill/>
        </p:spPr>
        <p:txBody>
          <a:bodyPr wrap="none" rtlCol="0">
            <a:spAutoFit/>
          </a:bodyPr>
          <a:lstStyle/>
          <a:p>
            <a:r>
              <a:rPr lang="zh-CN" altLang="en-US" sz="1600" dirty="0" smtClean="0">
                <a:solidFill>
                  <a:srgbClr val="FF0000"/>
                </a:solidFill>
              </a:rPr>
              <a:t>机器人学</a:t>
            </a:r>
            <a:r>
              <a:rPr lang="zh-CN" altLang="en-US" sz="1600" dirty="0">
                <a:solidFill>
                  <a:srgbClr val="FF0000"/>
                </a:solidFill>
              </a:rPr>
              <a:t>习</a:t>
            </a:r>
            <a:r>
              <a:rPr lang="en-US" altLang="zh-CN" sz="1600" dirty="0">
                <a:solidFill>
                  <a:srgbClr val="FF0000"/>
                </a:solidFill>
              </a:rPr>
              <a:t>Robot </a:t>
            </a:r>
            <a:r>
              <a:rPr lang="en-US" altLang="zh-CN" sz="1600" dirty="0" smtClean="0">
                <a:solidFill>
                  <a:srgbClr val="FF0000"/>
                </a:solidFill>
              </a:rPr>
              <a:t>Learning</a:t>
            </a:r>
            <a:r>
              <a:rPr lang="zh-CN" altLang="en-US" sz="1600" dirty="0" smtClean="0">
                <a:solidFill>
                  <a:srgbClr val="FF0000"/>
                </a:solidFill>
              </a:rPr>
              <a:t>：除了</a:t>
            </a:r>
            <a:r>
              <a:rPr lang="en-US" altLang="zh-CN" sz="1600" dirty="0" smtClean="0">
                <a:solidFill>
                  <a:srgbClr val="FF0000"/>
                </a:solidFill>
              </a:rPr>
              <a:t>RL</a:t>
            </a:r>
            <a:r>
              <a:rPr lang="zh-CN" altLang="en-US" sz="1600" dirty="0" smtClean="0">
                <a:solidFill>
                  <a:srgbClr val="FF0000"/>
                </a:solidFill>
              </a:rPr>
              <a:t>之外，还有模仿学习</a:t>
            </a:r>
            <a:r>
              <a:rPr lang="en-US" altLang="zh-CN" sz="1600" dirty="0" smtClean="0">
                <a:solidFill>
                  <a:srgbClr val="FF0000"/>
                </a:solidFill>
              </a:rPr>
              <a:t>Imitation Learning or </a:t>
            </a:r>
            <a:r>
              <a:rPr lang="en-US" altLang="zh-CN" sz="1600" dirty="0" err="1" smtClean="0">
                <a:solidFill>
                  <a:srgbClr val="FF0000"/>
                </a:solidFill>
              </a:rPr>
              <a:t>LfD</a:t>
            </a:r>
            <a:r>
              <a:rPr lang="en-US" altLang="zh-CN" sz="1600" dirty="0" smtClean="0">
                <a:solidFill>
                  <a:srgbClr val="FF0000"/>
                </a:solidFill>
              </a:rPr>
              <a:t>(Learn from Demo)</a:t>
            </a:r>
          </a:p>
        </p:txBody>
      </p:sp>
      <p:sp>
        <p:nvSpPr>
          <p:cNvPr id="3" name="文本框 2"/>
          <p:cNvSpPr txBox="1"/>
          <p:nvPr/>
        </p:nvSpPr>
        <p:spPr>
          <a:xfrm>
            <a:off x="2844165" y="4660265"/>
            <a:ext cx="3048000" cy="368300"/>
          </a:xfrm>
          <a:prstGeom prst="rect">
            <a:avLst/>
          </a:prstGeom>
          <a:noFill/>
        </p:spPr>
        <p:txBody>
          <a:bodyPr wrap="square" rtlCol="0">
            <a:spAutoFit/>
          </a:bodyPr>
          <a:lstStyle/>
          <a:p>
            <a:pPr algn="ctr"/>
            <a:r>
              <a:rPr lang="zh-CN" altLang="en-US" b="1">
                <a:solidFill>
                  <a:srgbClr val="FF0000"/>
                </a:solidFill>
              </a:rPr>
              <a:t>具身智能</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477328"/>
          </a:xfrm>
          <a:prstGeom prst="rect">
            <a:avLst/>
          </a:prstGeom>
        </p:spPr>
        <p:txBody>
          <a:bodyPr wrap="square">
            <a:spAutoFit/>
          </a:bodyPr>
          <a:lstStyle/>
          <a:p>
            <a:pPr>
              <a:lnSpc>
                <a:spcPct val="150000"/>
              </a:lnSpc>
            </a:pPr>
            <a:r>
              <a:rPr lang="zh-CN" altLang="en-US" sz="1200" dirty="0" smtClean="0">
                <a:latin typeface="Arial" panose="020B0604020202020204" pitchFamily="34" charset="0"/>
                <a:ea typeface="微软雅黑" panose="020B0503020204020204" charset="-122"/>
                <a:sym typeface="+mn-ea"/>
              </a:rPr>
              <a:t>机器人体系结构</a:t>
            </a:r>
            <a:r>
              <a:rPr lang="zh-CN" altLang="en-US" sz="1200" dirty="0">
                <a:latin typeface="Arial" panose="020B0604020202020204" pitchFamily="34" charset="0"/>
                <a:ea typeface="微软雅黑" panose="020B0503020204020204" charset="-122"/>
                <a:sym typeface="+mn-ea"/>
              </a:rPr>
              <a:t>是定义机器人系统功能模块以及模块之间逻辑关系的结构框架，是实现整个机器人系统的基础。体系结构既是机器人本体的物理框架，又是机器人智能的逻辑载体。从机器人体系结构上来对机器人进行定义，对于机器人及其系统的设计具有更高的指导意义。</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781122"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机器人软件体系结构</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02</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763688" y="199568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1547663" y="1660345"/>
          <a:ext cx="5842145" cy="1878608"/>
        </p:xfrm>
        <a:graphic>
          <a:graphicData uri="http://schemas.openxmlformats.org/presentationml/2006/ole">
            <mc:AlternateContent xmlns:mc="http://schemas.openxmlformats.org/markup-compatibility/2006">
              <mc:Choice xmlns:v="urn:schemas-microsoft-com:vml" Requires="v">
                <p:oleObj spid="_x0000_s1113" name="Visio" r:id="rId4" imgW="8191500" imgH="2895600" progId="Visio.Drawing.11">
                  <p:embed/>
                </p:oleObj>
              </mc:Choice>
              <mc:Fallback>
                <p:oleObj name="Visio" r:id="rId4" imgW="8191500" imgH="289560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663" y="1660345"/>
                        <a:ext cx="5842145" cy="1878608"/>
                      </a:xfrm>
                      <a:prstGeom prst="rect">
                        <a:avLst/>
                      </a:prstGeom>
                      <a:noFill/>
                    </p:spPr>
                  </p:pic>
                </p:oleObj>
              </mc:Fallback>
            </mc:AlternateContent>
          </a:graphicData>
        </a:graphic>
      </p:graphicFrame>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2592917" y="925949"/>
            <a:ext cx="3647152" cy="369332"/>
          </a:xfrm>
          <a:prstGeom prst="rect">
            <a:avLst/>
          </a:prstGeom>
        </p:spPr>
        <p:txBody>
          <a:bodyPr wrap="none">
            <a:spAutoFit/>
          </a:bodyPr>
          <a:lstStyle/>
          <a:p>
            <a:r>
              <a:rPr lang="zh-CN" altLang="en-US" dirty="0" smtClean="0">
                <a:solidFill>
                  <a:srgbClr val="0070C0"/>
                </a:solidFill>
              </a:rPr>
              <a:t>智能机器人软件体系结构</a:t>
            </a:r>
            <a:r>
              <a:rPr lang="zh-CN" altLang="en-US" dirty="0">
                <a:solidFill>
                  <a:srgbClr val="0070C0"/>
                </a:solidFill>
              </a:rPr>
              <a:t>三种范式</a:t>
            </a:r>
          </a:p>
        </p:txBody>
      </p:sp>
      <p:sp>
        <p:nvSpPr>
          <p:cNvPr id="9" name="矩形 8"/>
          <p:cNvSpPr/>
          <p:nvPr/>
        </p:nvSpPr>
        <p:spPr>
          <a:xfrm>
            <a:off x="179512" y="3965919"/>
            <a:ext cx="8784976" cy="830997"/>
          </a:xfrm>
          <a:prstGeom prst="rect">
            <a:avLst/>
          </a:prstGeom>
        </p:spPr>
        <p:txBody>
          <a:bodyPr wrap="square">
            <a:spAutoFit/>
          </a:bodyPr>
          <a:lstStyle/>
          <a:p>
            <a:r>
              <a:rPr lang="zh-CN" altLang="zh-CN" sz="1600" dirty="0">
                <a:solidFill>
                  <a:srgbClr val="0070C0"/>
                </a:solidFill>
              </a:rPr>
              <a:t>机器人除了人工智能的软件实现技术外，还涉及机构、控制、通信等方面的技术。从机器人硬件组成的角度出发，由于机器人的形态各异，很难形成一个统一、标准的硬件体系结构。从人工智能的角度出发，对机器人软件体系结构进行设计，可以在更高的层面对系统设计进行统一的</a:t>
            </a:r>
            <a:r>
              <a:rPr lang="zh-CN" altLang="zh-CN" sz="1600" dirty="0" smtClean="0">
                <a:solidFill>
                  <a:srgbClr val="0070C0"/>
                </a:solidFill>
              </a:rPr>
              <a:t>指导</a:t>
            </a:r>
            <a:endParaRPr lang="zh-CN" altLang="en-US" sz="1600" dirty="0">
              <a:solidFill>
                <a:srgbClr val="0070C0"/>
              </a:solidFill>
            </a:endParaRPr>
          </a:p>
        </p:txBody>
      </p:sp>
      <p:sp>
        <p:nvSpPr>
          <p:cNvPr id="10" name="圆角矩形 9"/>
          <p:cNvSpPr/>
          <p:nvPr/>
        </p:nvSpPr>
        <p:spPr>
          <a:xfrm>
            <a:off x="179512" y="3946302"/>
            <a:ext cx="8784976" cy="92970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2656432" y="843558"/>
            <a:ext cx="3831134" cy="431602"/>
          </a:xfrm>
          <a:noFill/>
        </p:spPr>
        <p:txBody>
          <a:bodyPr/>
          <a:lstStyle/>
          <a:p>
            <a:r>
              <a:rPr lang="zh-CN" altLang="en-US" sz="2000" dirty="0"/>
              <a:t>分类角度</a:t>
            </a:r>
            <a:r>
              <a:rPr lang="en-US" altLang="zh-CN" sz="2000" dirty="0"/>
              <a:t>? </a:t>
            </a:r>
          </a:p>
        </p:txBody>
      </p:sp>
      <p:sp>
        <p:nvSpPr>
          <p:cNvPr id="37891" name="Rectangle 3"/>
          <p:cNvSpPr>
            <a:spLocks noGrp="1" noChangeArrowheads="1"/>
          </p:cNvSpPr>
          <p:nvPr>
            <p:ph type="body" idx="4294967295"/>
          </p:nvPr>
        </p:nvSpPr>
        <p:spPr>
          <a:xfrm>
            <a:off x="1656159" y="1419622"/>
            <a:ext cx="5831681" cy="3042691"/>
          </a:xfrm>
        </p:spPr>
        <p:txBody>
          <a:bodyPr/>
          <a:lstStyle/>
          <a:p>
            <a:pPr>
              <a:buFont typeface="Wingdings" panose="05000000000000000000" pitchFamily="2" charset="2"/>
              <a:buChar char="ü"/>
            </a:pPr>
            <a:r>
              <a:rPr lang="zh-CN" altLang="en-US" sz="1800" dirty="0" smtClean="0"/>
              <a:t>几何结构、控制方式、信息输入方式、智能程度、用途、移动性</a:t>
            </a:r>
            <a:r>
              <a:rPr lang="en-US" altLang="zh-CN" sz="1800" dirty="0" smtClean="0"/>
              <a:t>?</a:t>
            </a:r>
          </a:p>
          <a:p>
            <a:pPr>
              <a:buFont typeface="Wingdings" panose="05000000000000000000" pitchFamily="2" charset="2"/>
              <a:buChar char="ü"/>
            </a:pPr>
            <a:r>
              <a:rPr lang="zh-CN" altLang="en-US" sz="1800" dirty="0" smtClean="0"/>
              <a:t>机构、控制、通信、软件实现技术？</a:t>
            </a:r>
          </a:p>
          <a:p>
            <a:pPr>
              <a:buFont typeface="Wingdings" panose="05000000000000000000" pitchFamily="2" charset="2"/>
              <a:buChar char="ü"/>
            </a:pPr>
            <a:r>
              <a:rPr lang="zh-CN" altLang="en-US" sz="1800" dirty="0" smtClean="0"/>
              <a:t>综合人工智能的</a:t>
            </a:r>
            <a:r>
              <a:rPr lang="en-US" altLang="zh-CN" sz="1800" dirty="0" smtClean="0"/>
              <a:t>agent</a:t>
            </a:r>
            <a:r>
              <a:rPr lang="zh-CN" altLang="en-US" sz="1800" dirty="0" smtClean="0"/>
              <a:t>模式、控制系统的方式、通信、仿生学、脑科学的模型</a:t>
            </a:r>
          </a:p>
          <a:p>
            <a:pPr lvl="1">
              <a:buFont typeface="Wingdings" panose="05000000000000000000" pitchFamily="2" charset="2"/>
              <a:buChar char="Ø"/>
            </a:pPr>
            <a:r>
              <a:rPr lang="zh-CN" altLang="en-US" sz="1800" dirty="0" smtClean="0"/>
              <a:t>层次结构</a:t>
            </a:r>
          </a:p>
          <a:p>
            <a:pPr lvl="1">
              <a:buFont typeface="Wingdings" panose="05000000000000000000" pitchFamily="2" charset="2"/>
              <a:buChar char="Ø"/>
            </a:pPr>
            <a:r>
              <a:rPr lang="zh-CN" altLang="en-US" sz="1800" dirty="0" smtClean="0"/>
              <a:t>包容结构</a:t>
            </a:r>
          </a:p>
          <a:p>
            <a:pPr lvl="1">
              <a:buFont typeface="Wingdings" panose="05000000000000000000" pitchFamily="2" charset="2"/>
              <a:buChar char="Ø"/>
            </a:pPr>
            <a:r>
              <a:rPr lang="zh-CN" altLang="en-US" sz="1800" dirty="0" smtClean="0"/>
              <a:t>分布式结构</a:t>
            </a:r>
          </a:p>
          <a:p>
            <a:pPr lvl="1">
              <a:buFont typeface="Wingdings" panose="05000000000000000000" pitchFamily="2" charset="2"/>
              <a:buChar char="Ø"/>
            </a:pPr>
            <a:r>
              <a:rPr lang="zh-CN" altLang="en-US" sz="1800" dirty="0" smtClean="0"/>
              <a:t>仿生结构 </a:t>
            </a:r>
            <a:endParaRPr lang="en-US" altLang="zh-CN" sz="1800" dirty="0" smtClean="0"/>
          </a:p>
        </p:txBody>
      </p:sp>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1898897" y="707826"/>
            <a:ext cx="6100763" cy="332185"/>
          </a:xfrm>
          <a:noFill/>
        </p:spPr>
        <p:txBody>
          <a:bodyPr/>
          <a:lstStyle/>
          <a:p>
            <a:r>
              <a:rPr lang="zh-CN" altLang="en-US" sz="2000" dirty="0"/>
              <a:t>层次结构</a:t>
            </a:r>
            <a:r>
              <a:rPr lang="zh-CN" altLang="en-US" sz="2100" dirty="0"/>
              <a:t>（</a:t>
            </a:r>
            <a:r>
              <a:rPr lang="en-US" altLang="zh-CN" sz="2100" dirty="0"/>
              <a:t>Hierarchical Architecture</a:t>
            </a:r>
            <a:r>
              <a:rPr lang="zh-CN" altLang="en-US" sz="2100" dirty="0"/>
              <a:t>）</a:t>
            </a:r>
          </a:p>
        </p:txBody>
      </p:sp>
      <p:sp>
        <p:nvSpPr>
          <p:cNvPr id="38915" name="Rectangle 3"/>
          <p:cNvSpPr>
            <a:spLocks noChangeArrowheads="1"/>
          </p:cNvSpPr>
          <p:nvPr/>
        </p:nvSpPr>
        <p:spPr bwMode="auto">
          <a:xfrm>
            <a:off x="1602432" y="2043127"/>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eaLnBrk="1" hangingPunct="1">
              <a:lnSpc>
                <a:spcPct val="100000"/>
              </a:lnSpc>
              <a:spcBef>
                <a:spcPct val="0"/>
              </a:spcBef>
              <a:buClrTx/>
              <a:buSzTx/>
              <a:buFont typeface="Arial" panose="020B0604020202020204" pitchFamily="34" charset="0"/>
              <a:buNone/>
            </a:pPr>
            <a:endParaRPr kumimoji="1" lang="zh-CN" altLang="en-US" sz="2100">
              <a:solidFill>
                <a:schemeClr val="tx1"/>
              </a:solidFill>
              <a:latin typeface="Times New Roman" panose="02020603050405020304" pitchFamily="18" charset="0"/>
              <a:ea typeface="宋体" panose="02010600030101010101" pitchFamily="2" charset="-122"/>
            </a:endParaRPr>
          </a:p>
        </p:txBody>
      </p:sp>
      <p:graphicFrame>
        <p:nvGraphicFramePr>
          <p:cNvPr id="38916" name="Object 4"/>
          <p:cNvGraphicFramePr>
            <a:graphicFrameLocks noChangeAspect="1"/>
          </p:cNvGraphicFramePr>
          <p:nvPr/>
        </p:nvGraphicFramePr>
        <p:xfrm>
          <a:off x="1953666" y="1194791"/>
          <a:ext cx="1039415" cy="1404938"/>
        </p:xfrm>
        <a:graphic>
          <a:graphicData uri="http://schemas.openxmlformats.org/presentationml/2006/ole">
            <mc:AlternateContent xmlns:mc="http://schemas.openxmlformats.org/markup-compatibility/2006">
              <mc:Choice xmlns:v="urn:schemas-microsoft-com:vml" Requires="v">
                <p:oleObj spid="_x0000_s11596" name="Visio" r:id="rId4" imgW="1765300" imgH="3911600" progId="Visio.Drawing.11">
                  <p:embed/>
                </p:oleObj>
              </mc:Choice>
              <mc:Fallback>
                <p:oleObj name="Visio" r:id="rId4" imgW="1765300" imgH="3911600"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3666" y="1194791"/>
                        <a:ext cx="1039415" cy="140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7" name="Rectangle 5"/>
          <p:cNvSpPr>
            <a:spLocks noChangeArrowheads="1"/>
          </p:cNvSpPr>
          <p:nvPr/>
        </p:nvSpPr>
        <p:spPr bwMode="auto">
          <a:xfrm>
            <a:off x="1602432" y="2032411"/>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eaLnBrk="1" hangingPunct="1">
              <a:lnSpc>
                <a:spcPct val="100000"/>
              </a:lnSpc>
              <a:spcBef>
                <a:spcPct val="0"/>
              </a:spcBef>
              <a:buClrTx/>
              <a:buSzTx/>
              <a:buFont typeface="Arial" panose="020B0604020202020204" pitchFamily="34" charset="0"/>
              <a:buNone/>
            </a:pPr>
            <a:endParaRPr kumimoji="1" lang="zh-CN" altLang="en-US" sz="2100">
              <a:solidFill>
                <a:schemeClr val="tx1"/>
              </a:solidFill>
              <a:latin typeface="Times New Roman" panose="02020603050405020304" pitchFamily="18" charset="0"/>
              <a:ea typeface="宋体" panose="02010600030101010101" pitchFamily="2" charset="-122"/>
            </a:endParaRPr>
          </a:p>
        </p:txBody>
      </p:sp>
      <p:graphicFrame>
        <p:nvGraphicFramePr>
          <p:cNvPr id="38918" name="Object 6"/>
          <p:cNvGraphicFramePr>
            <a:graphicFrameLocks noChangeAspect="1"/>
          </p:cNvGraphicFramePr>
          <p:nvPr/>
        </p:nvGraphicFramePr>
        <p:xfrm>
          <a:off x="3626494" y="1194792"/>
          <a:ext cx="1458516" cy="1345406"/>
        </p:xfrm>
        <a:graphic>
          <a:graphicData uri="http://schemas.openxmlformats.org/presentationml/2006/ole">
            <mc:AlternateContent xmlns:mc="http://schemas.openxmlformats.org/markup-compatibility/2006">
              <mc:Choice xmlns:v="urn:schemas-microsoft-com:vml" Requires="v">
                <p:oleObj spid="_x0000_s11597" name="Visio" r:id="rId6" imgW="3949700" imgH="3810000" progId="Visio.Drawing.11">
                  <p:embed/>
                </p:oleObj>
              </mc:Choice>
              <mc:Fallback>
                <p:oleObj name="Visio" r:id="rId6" imgW="3949700" imgH="3810000" progId="Visio.Drawing.11">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26494" y="1194792"/>
                        <a:ext cx="1458516" cy="1345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9" name="Text Box 7"/>
          <p:cNvSpPr txBox="1">
            <a:spLocks noChangeArrowheads="1"/>
          </p:cNvSpPr>
          <p:nvPr/>
        </p:nvSpPr>
        <p:spPr bwMode="auto">
          <a:xfrm>
            <a:off x="1847133" y="2598538"/>
            <a:ext cx="14798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gn="ctr" eaLnBrk="1" hangingPunct="1">
              <a:lnSpc>
                <a:spcPct val="100000"/>
              </a:lnSpc>
              <a:spcBef>
                <a:spcPct val="0"/>
              </a:spcBef>
              <a:buClrTx/>
              <a:buSzTx/>
              <a:buFontTx/>
              <a:buNone/>
            </a:pPr>
            <a:r>
              <a:rPr lang="zh-CN" altLang="en-US" dirty="0">
                <a:solidFill>
                  <a:schemeClr val="tx1"/>
                </a:solidFill>
                <a:latin typeface="Tahoma" panose="020B0604030504040204" pitchFamily="34" charset="0"/>
                <a:ea typeface="宋体" panose="02010600030101010101" pitchFamily="2" charset="-122"/>
                <a:cs typeface="Arial" panose="020B0604020202020204" pitchFamily="34" charset="0"/>
              </a:rPr>
              <a:t>分层递阶结构 </a:t>
            </a:r>
          </a:p>
        </p:txBody>
      </p:sp>
      <p:sp>
        <p:nvSpPr>
          <p:cNvPr id="38920" name="Text Box 8"/>
          <p:cNvSpPr txBox="1">
            <a:spLocks noChangeArrowheads="1"/>
          </p:cNvSpPr>
          <p:nvPr/>
        </p:nvSpPr>
        <p:spPr bwMode="auto">
          <a:xfrm>
            <a:off x="3998988" y="2543770"/>
            <a:ext cx="10695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gn="ctr" eaLnBrk="1" hangingPunct="1">
              <a:lnSpc>
                <a:spcPct val="100000"/>
              </a:lnSpc>
              <a:spcBef>
                <a:spcPct val="0"/>
              </a:spcBef>
              <a:buClrTx/>
              <a:buSzTx/>
              <a:buFontTx/>
              <a:buNone/>
            </a:pPr>
            <a:r>
              <a:rPr lang="zh-CN" altLang="en-US" dirty="0">
                <a:solidFill>
                  <a:schemeClr val="tx1"/>
                </a:solidFill>
                <a:latin typeface="Tahoma" panose="020B0604030504040204" pitchFamily="34" charset="0"/>
                <a:ea typeface="宋体" panose="02010600030101010101" pitchFamily="2" charset="-122"/>
                <a:cs typeface="Arial" panose="020B0604020202020204" pitchFamily="34" charset="0"/>
              </a:rPr>
              <a:t>三层结构 </a:t>
            </a:r>
          </a:p>
        </p:txBody>
      </p:sp>
      <p:graphicFrame>
        <p:nvGraphicFramePr>
          <p:cNvPr id="38921" name="Object 9"/>
          <p:cNvGraphicFramePr>
            <a:graphicFrameLocks noChangeAspect="1"/>
          </p:cNvGraphicFramePr>
          <p:nvPr/>
        </p:nvGraphicFramePr>
        <p:xfrm>
          <a:off x="5167163" y="1194791"/>
          <a:ext cx="3293269" cy="1622822"/>
        </p:xfrm>
        <a:graphic>
          <a:graphicData uri="http://schemas.openxmlformats.org/presentationml/2006/ole">
            <mc:AlternateContent xmlns:mc="http://schemas.openxmlformats.org/markup-compatibility/2006">
              <mc:Choice xmlns:v="urn:schemas-microsoft-com:vml" Requires="v">
                <p:oleObj spid="_x0000_s11598" name="Visio" r:id="rId8" imgW="9639300" imgH="7327900" progId="Visio.Drawing.11">
                  <p:embed/>
                </p:oleObj>
              </mc:Choice>
              <mc:Fallback>
                <p:oleObj name="Visio" r:id="rId8" imgW="9639300" imgH="7327900" progId="Visio.Drawing.11">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67163" y="1194791"/>
                        <a:ext cx="3293269" cy="1622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2" name="Text Box 10"/>
          <p:cNvSpPr txBox="1">
            <a:spLocks noChangeArrowheads="1"/>
          </p:cNvSpPr>
          <p:nvPr/>
        </p:nvSpPr>
        <p:spPr bwMode="auto">
          <a:xfrm>
            <a:off x="6842654" y="2760463"/>
            <a:ext cx="52450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gn="ctr" eaLnBrk="1" hangingPunct="1">
              <a:lnSpc>
                <a:spcPct val="100000"/>
              </a:lnSpc>
              <a:spcBef>
                <a:spcPct val="0"/>
              </a:spcBef>
              <a:buClrTx/>
              <a:buSzTx/>
              <a:buFontTx/>
              <a:buNone/>
            </a:pPr>
            <a:r>
              <a:rPr lang="en-US" altLang="zh-CN" sz="1500" dirty="0">
                <a:solidFill>
                  <a:schemeClr val="tx1"/>
                </a:solidFill>
                <a:latin typeface="Tahoma" panose="020B0604030504040204" pitchFamily="34" charset="0"/>
                <a:ea typeface="宋体" panose="02010600030101010101" pitchFamily="2" charset="-122"/>
                <a:cs typeface="Arial" panose="020B0604020202020204" pitchFamily="34" charset="0"/>
              </a:rPr>
              <a:t>RAP</a:t>
            </a:r>
          </a:p>
        </p:txBody>
      </p:sp>
      <p:graphicFrame>
        <p:nvGraphicFramePr>
          <p:cNvPr id="38923" name="Object 11"/>
          <p:cNvGraphicFramePr>
            <a:graphicFrameLocks noChangeAspect="1"/>
          </p:cNvGraphicFramePr>
          <p:nvPr/>
        </p:nvGraphicFramePr>
        <p:xfrm>
          <a:off x="2384672" y="3084313"/>
          <a:ext cx="4968478" cy="1585913"/>
        </p:xfrm>
        <a:graphic>
          <a:graphicData uri="http://schemas.openxmlformats.org/presentationml/2006/ole">
            <mc:AlternateContent xmlns:mc="http://schemas.openxmlformats.org/markup-compatibility/2006">
              <mc:Choice xmlns:v="urn:schemas-microsoft-com:vml" Requires="v">
                <p:oleObj spid="_x0000_s11599" name="Visio" r:id="rId10" imgW="9207500" imgH="3797300" progId="Visio.Drawing.11">
                  <p:embed/>
                </p:oleObj>
              </mc:Choice>
              <mc:Fallback>
                <p:oleObj name="Visio" r:id="rId10" imgW="9207500" imgH="3797300" progId="Visio.Drawing.11">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84672" y="3084313"/>
                        <a:ext cx="4968478" cy="158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4" name="Text Box 12"/>
          <p:cNvSpPr txBox="1">
            <a:spLocks noChangeArrowheads="1"/>
          </p:cNvSpPr>
          <p:nvPr/>
        </p:nvSpPr>
        <p:spPr bwMode="auto">
          <a:xfrm>
            <a:off x="2844226" y="4702373"/>
            <a:ext cx="44244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gn="ctr" eaLnBrk="1" hangingPunct="1">
              <a:lnSpc>
                <a:spcPct val="100000"/>
              </a:lnSpc>
              <a:spcBef>
                <a:spcPct val="0"/>
              </a:spcBef>
              <a:buClrTx/>
              <a:buSzTx/>
              <a:buFontTx/>
              <a:buNone/>
            </a:pPr>
            <a:r>
              <a:rPr lang="zh-CN" altLang="en-US" dirty="0">
                <a:solidFill>
                  <a:schemeClr val="tx1"/>
                </a:solidFill>
                <a:latin typeface="Tahoma" panose="020B0604030504040204" pitchFamily="34" charset="0"/>
                <a:ea typeface="宋体" panose="02010600030101010101" pitchFamily="2" charset="-122"/>
                <a:cs typeface="Arial" panose="020B0604020202020204" pitchFamily="34" charset="0"/>
              </a:rPr>
              <a:t> 社会机器人结构（</a:t>
            </a:r>
            <a:r>
              <a:rPr lang="en-US" altLang="zh-CN" dirty="0">
                <a:solidFill>
                  <a:schemeClr val="tx1"/>
                </a:solidFill>
                <a:latin typeface="Tahoma" panose="020B0604030504040204" pitchFamily="34" charset="0"/>
                <a:ea typeface="宋体" panose="02010600030101010101" pitchFamily="2" charset="-122"/>
                <a:cs typeface="Arial" panose="020B0604020202020204" pitchFamily="34" charset="0"/>
              </a:rPr>
              <a:t>Social Robot Architecture</a:t>
            </a:r>
            <a:r>
              <a:rPr lang="zh-CN" altLang="en-US" dirty="0">
                <a:solidFill>
                  <a:schemeClr val="tx1"/>
                </a:solidFill>
                <a:latin typeface="Tahoma" panose="020B0604030504040204" pitchFamily="34" charset="0"/>
                <a:ea typeface="宋体" panose="02010600030101010101" pitchFamily="2" charset="-122"/>
                <a:cs typeface="Arial" panose="020B0604020202020204" pitchFamily="34" charset="0"/>
              </a:rPr>
              <a:t>） </a:t>
            </a:r>
          </a:p>
        </p:txBody>
      </p:sp>
      <p:grpSp>
        <p:nvGrpSpPr>
          <p:cNvPr id="13" name="组合 12"/>
          <p:cNvGrpSpPr/>
          <p:nvPr/>
        </p:nvGrpSpPr>
        <p:grpSpPr>
          <a:xfrm>
            <a:off x="-236220" y="219075"/>
            <a:ext cx="5153660" cy="598805"/>
            <a:chOff x="-372" y="345"/>
            <a:chExt cx="8116" cy="943"/>
          </a:xfrm>
        </p:grpSpPr>
        <p:sp>
          <p:nvSpPr>
            <p:cNvPr id="14" name="矩形 1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15" name="文本框 14"/>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6" name="椭圆 1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1421035" y="849610"/>
            <a:ext cx="6535341" cy="485775"/>
          </a:xfrm>
          <a:noFill/>
        </p:spPr>
        <p:txBody>
          <a:bodyPr/>
          <a:lstStyle/>
          <a:p>
            <a:r>
              <a:rPr lang="zh-CN" altLang="en-US" sz="2000" dirty="0"/>
              <a:t>包容体系结构（</a:t>
            </a:r>
            <a:r>
              <a:rPr lang="en-US" altLang="zh-CN" sz="2000" dirty="0" err="1"/>
              <a:t>Subsumption</a:t>
            </a:r>
            <a:r>
              <a:rPr lang="en-US" altLang="zh-CN" sz="2000" dirty="0"/>
              <a:t> Architecture</a:t>
            </a:r>
            <a:r>
              <a:rPr lang="zh-CN" altLang="en-US" sz="2000" dirty="0"/>
              <a:t>） </a:t>
            </a:r>
          </a:p>
        </p:txBody>
      </p:sp>
      <p:graphicFrame>
        <p:nvGraphicFramePr>
          <p:cNvPr id="39940" name="Object 4"/>
          <p:cNvGraphicFramePr>
            <a:graphicFrameLocks noChangeAspect="1"/>
          </p:cNvGraphicFramePr>
          <p:nvPr/>
        </p:nvGraphicFramePr>
        <p:xfrm>
          <a:off x="2267744" y="1555710"/>
          <a:ext cx="4464496" cy="3151867"/>
        </p:xfrm>
        <a:graphic>
          <a:graphicData uri="http://schemas.openxmlformats.org/presentationml/2006/ole">
            <mc:AlternateContent xmlns:mc="http://schemas.openxmlformats.org/markup-compatibility/2006">
              <mc:Choice xmlns:v="urn:schemas-microsoft-com:vml" Requires="v">
                <p:oleObj spid="_x0000_s12374" name="Visio" r:id="rId4" imgW="6197600" imgH="4381500" progId="Visio.Drawing.11">
                  <p:embed/>
                </p:oleObj>
              </mc:Choice>
              <mc:Fallback>
                <p:oleObj name="Visio" r:id="rId4" imgW="6197600" imgH="4381500"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1555710"/>
                        <a:ext cx="4464496" cy="3151867"/>
                      </a:xfrm>
                      <a:prstGeom prst="rect">
                        <a:avLst/>
                      </a:prstGeom>
                      <a:noFill/>
                      <a:ln>
                        <a:noFill/>
                      </a:ln>
                    </p:spPr>
                  </p:pic>
                </p:oleObj>
              </mc:Fallback>
            </mc:AlternateContent>
          </a:graphicData>
        </a:graphic>
      </p:graphicFrame>
      <p:grpSp>
        <p:nvGrpSpPr>
          <p:cNvPr id="6" name="组合 5"/>
          <p:cNvGrpSpPr/>
          <p:nvPr/>
        </p:nvGrpSpPr>
        <p:grpSpPr>
          <a:xfrm>
            <a:off x="-236220" y="219075"/>
            <a:ext cx="5153660" cy="598805"/>
            <a:chOff x="-372" y="345"/>
            <a:chExt cx="8116" cy="943"/>
          </a:xfrm>
        </p:grpSpPr>
        <p:sp>
          <p:nvSpPr>
            <p:cNvPr id="7" name="矩形 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8" name="文本框 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9" name="椭圆 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36220" y="219075"/>
            <a:ext cx="5153660" cy="598805"/>
            <a:chOff x="-372" y="345"/>
            <a:chExt cx="8116" cy="943"/>
          </a:xfrm>
        </p:grpSpPr>
        <p:sp>
          <p:nvSpPr>
            <p:cNvPr id="7" name="矩形 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8" name="文本框 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9" name="椭圆 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0" name="Object 4"/>
          <p:cNvGraphicFramePr>
            <a:graphicFrameLocks noChangeAspect="1"/>
          </p:cNvGraphicFramePr>
          <p:nvPr/>
        </p:nvGraphicFramePr>
        <p:xfrm>
          <a:off x="1494235" y="1707356"/>
          <a:ext cx="3000375" cy="1614488"/>
        </p:xfrm>
        <a:graphic>
          <a:graphicData uri="http://schemas.openxmlformats.org/presentationml/2006/ole">
            <mc:AlternateContent xmlns:mc="http://schemas.openxmlformats.org/markup-compatibility/2006">
              <mc:Choice xmlns:v="urn:schemas-microsoft-com:vml" Requires="v">
                <p:oleObj spid="_x0000_s13480" name="Visio" r:id="rId4" imgW="5575300" imgH="3327400" progId="Visio.Drawing.11">
                  <p:embed/>
                </p:oleObj>
              </mc:Choice>
              <mc:Fallback>
                <p:oleObj name="Visio" r:id="rId4" imgW="5575300" imgH="3327400"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4235" y="1707356"/>
                        <a:ext cx="3000375"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 Box 5"/>
          <p:cNvSpPr txBox="1">
            <a:spLocks noChangeArrowheads="1"/>
          </p:cNvSpPr>
          <p:nvPr/>
        </p:nvSpPr>
        <p:spPr bwMode="auto">
          <a:xfrm>
            <a:off x="2112015" y="3813573"/>
            <a:ext cx="17636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gn="ctr" eaLnBrk="1" hangingPunct="1">
              <a:lnSpc>
                <a:spcPct val="100000"/>
              </a:lnSpc>
              <a:spcBef>
                <a:spcPct val="0"/>
              </a:spcBef>
              <a:buClrTx/>
              <a:buSzTx/>
              <a:buFontTx/>
              <a:buNone/>
            </a:pPr>
            <a:r>
              <a:rPr lang="en-US" altLang="zh-CN" sz="1500" dirty="0">
                <a:solidFill>
                  <a:schemeClr val="tx1"/>
                </a:solidFill>
                <a:latin typeface="Tahoma" panose="020B0604030504040204" pitchFamily="34" charset="0"/>
                <a:ea typeface="宋体" panose="02010600030101010101" pitchFamily="2" charset="-122"/>
                <a:cs typeface="Arial" panose="020B0604020202020204" pitchFamily="34" charset="0"/>
              </a:rPr>
              <a:t>DAMN</a:t>
            </a:r>
            <a:r>
              <a:rPr lang="zh-CN" altLang="en-US" sz="1500" dirty="0">
                <a:solidFill>
                  <a:schemeClr val="tx1"/>
                </a:solidFill>
                <a:latin typeface="Tahoma" panose="020B0604030504040204" pitchFamily="34" charset="0"/>
                <a:ea typeface="宋体" panose="02010600030101010101" pitchFamily="2" charset="-122"/>
                <a:cs typeface="Arial" panose="020B0604020202020204" pitchFamily="34" charset="0"/>
              </a:rPr>
              <a:t>自组织结构</a:t>
            </a:r>
            <a:r>
              <a:rPr lang="zh-CN" altLang="en-US" sz="2400" dirty="0">
                <a:solidFill>
                  <a:schemeClr val="tx1"/>
                </a:solidFill>
                <a:latin typeface="Tahoma" panose="020B0604030504040204" pitchFamily="34" charset="0"/>
                <a:ea typeface="宋体" panose="02010600030101010101" pitchFamily="2" charset="-122"/>
                <a:cs typeface="Arial" panose="020B0604020202020204" pitchFamily="34" charset="0"/>
              </a:rPr>
              <a:t> </a:t>
            </a:r>
          </a:p>
        </p:txBody>
      </p:sp>
      <p:graphicFrame>
        <p:nvGraphicFramePr>
          <p:cNvPr id="12" name="Object 7"/>
          <p:cNvGraphicFramePr>
            <a:graphicFrameLocks noChangeAspect="1"/>
          </p:cNvGraphicFramePr>
          <p:nvPr/>
        </p:nvGraphicFramePr>
        <p:xfrm>
          <a:off x="4950619" y="1924050"/>
          <a:ext cx="2591991" cy="1209675"/>
        </p:xfrm>
        <a:graphic>
          <a:graphicData uri="http://schemas.openxmlformats.org/presentationml/2006/ole">
            <mc:AlternateContent xmlns:mc="http://schemas.openxmlformats.org/markup-compatibility/2006">
              <mc:Choice xmlns:v="urn:schemas-microsoft-com:vml" Requires="v">
                <p:oleObj spid="_x0000_s13481" name="Visio" r:id="rId6" imgW="3657600" imgH="2603500" progId="Visio.Drawing.11">
                  <p:embed/>
                </p:oleObj>
              </mc:Choice>
              <mc:Fallback>
                <p:oleObj name="Visio" r:id="rId6" imgW="3657600" imgH="2603500" progId="Visio.Drawing.11">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0619" y="1924050"/>
                        <a:ext cx="2591991"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8"/>
          <p:cNvSpPr txBox="1">
            <a:spLocks noChangeArrowheads="1"/>
          </p:cNvSpPr>
          <p:nvPr/>
        </p:nvSpPr>
        <p:spPr bwMode="auto">
          <a:xfrm>
            <a:off x="5769400" y="3598069"/>
            <a:ext cx="127470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gn="ctr" eaLnBrk="1" hangingPunct="1">
              <a:lnSpc>
                <a:spcPct val="100000"/>
              </a:lnSpc>
              <a:spcBef>
                <a:spcPct val="0"/>
              </a:spcBef>
              <a:buClrTx/>
              <a:buSzTx/>
              <a:buFontTx/>
              <a:buNone/>
            </a:pPr>
            <a:r>
              <a:rPr lang="zh-CN" altLang="en-US" dirty="0">
                <a:solidFill>
                  <a:schemeClr val="tx1"/>
                </a:solidFill>
                <a:latin typeface="Tahoma" panose="020B0604030504040204" pitchFamily="34" charset="0"/>
                <a:ea typeface="宋体" panose="02010600030101010101" pitchFamily="2" charset="-122"/>
                <a:cs typeface="Arial" panose="020B0604020202020204" pitchFamily="34" charset="0"/>
              </a:rPr>
              <a:t>分布式结构 </a:t>
            </a:r>
          </a:p>
        </p:txBody>
      </p:sp>
      <p:sp>
        <p:nvSpPr>
          <p:cNvPr id="14" name="矩形 13"/>
          <p:cNvSpPr/>
          <p:nvPr/>
        </p:nvSpPr>
        <p:spPr>
          <a:xfrm>
            <a:off x="2945679" y="985688"/>
            <a:ext cx="4421852" cy="400110"/>
          </a:xfrm>
          <a:prstGeom prst="rect">
            <a:avLst/>
          </a:prstGeom>
        </p:spPr>
        <p:txBody>
          <a:bodyPr wrap="none">
            <a:spAutoFit/>
          </a:bodyPr>
          <a:lstStyle/>
          <a:p>
            <a:r>
              <a:rPr lang="zh-CN" altLang="en-US" sz="2000" dirty="0"/>
              <a:t>分布式结构（</a:t>
            </a:r>
            <a:r>
              <a:rPr lang="en-US" altLang="zh-CN" sz="2000" dirty="0"/>
              <a:t>Distribute Architecture</a:t>
            </a:r>
            <a:r>
              <a:rPr lang="zh-CN" altLang="en-US" sz="2000" dirty="0"/>
              <a:t>） </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36220" y="219075"/>
            <a:ext cx="5153660" cy="598805"/>
            <a:chOff x="-372" y="345"/>
            <a:chExt cx="8116" cy="943"/>
          </a:xfrm>
        </p:grpSpPr>
        <p:sp>
          <p:nvSpPr>
            <p:cNvPr id="7" name="矩形 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8" name="文本框 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9" name="椭圆 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Rectangle 3"/>
          <p:cNvSpPr>
            <a:spLocks noChangeArrowheads="1"/>
          </p:cNvSpPr>
          <p:nvPr/>
        </p:nvSpPr>
        <p:spPr bwMode="auto">
          <a:xfrm>
            <a:off x="1143001" y="1249576"/>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eaLnBrk="1" hangingPunct="1">
              <a:lnSpc>
                <a:spcPct val="100000"/>
              </a:lnSpc>
              <a:spcBef>
                <a:spcPct val="0"/>
              </a:spcBef>
              <a:buClrTx/>
              <a:buSzTx/>
              <a:buFont typeface="Arial" panose="020B0604020202020204" pitchFamily="34" charset="0"/>
              <a:buNone/>
            </a:pPr>
            <a:endParaRPr kumimoji="1" lang="zh-CN" altLang="en-US" sz="2100">
              <a:solidFill>
                <a:schemeClr val="tx1"/>
              </a:solidFill>
              <a:latin typeface="Times New Roman" panose="02020603050405020304" pitchFamily="18" charset="0"/>
              <a:ea typeface="宋体" panose="02010600030101010101" pitchFamily="2" charset="-122"/>
            </a:endParaRPr>
          </a:p>
        </p:txBody>
      </p:sp>
      <p:graphicFrame>
        <p:nvGraphicFramePr>
          <p:cNvPr id="16" name="Object 4"/>
          <p:cNvGraphicFramePr>
            <a:graphicFrameLocks noChangeAspect="1"/>
          </p:cNvGraphicFramePr>
          <p:nvPr/>
        </p:nvGraphicFramePr>
        <p:xfrm>
          <a:off x="1385888" y="1275160"/>
          <a:ext cx="2591991" cy="2458640"/>
        </p:xfrm>
        <a:graphic>
          <a:graphicData uri="http://schemas.openxmlformats.org/presentationml/2006/ole">
            <mc:AlternateContent xmlns:mc="http://schemas.openxmlformats.org/markup-compatibility/2006">
              <mc:Choice xmlns:v="urn:schemas-microsoft-com:vml" Requires="v">
                <p:oleObj spid="_x0000_s17575" name="Visio" r:id="rId4" imgW="4737100" imgH="4483100" progId="Visio.Drawing.11">
                  <p:embed/>
                </p:oleObj>
              </mc:Choice>
              <mc:Fallback>
                <p:oleObj name="Visio" r:id="rId4" imgW="4737100" imgH="4483100"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5888" y="1275160"/>
                        <a:ext cx="2591991" cy="245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 Box 5"/>
          <p:cNvSpPr txBox="1">
            <a:spLocks noChangeArrowheads="1"/>
          </p:cNvSpPr>
          <p:nvPr/>
        </p:nvSpPr>
        <p:spPr bwMode="auto">
          <a:xfrm>
            <a:off x="2057843" y="4192191"/>
            <a:ext cx="14350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gn="ctr" eaLnBrk="1" hangingPunct="1">
              <a:lnSpc>
                <a:spcPct val="100000"/>
              </a:lnSpc>
              <a:spcBef>
                <a:spcPct val="0"/>
              </a:spcBef>
              <a:buClrTx/>
              <a:buSzTx/>
              <a:buFontTx/>
              <a:buNone/>
            </a:pPr>
            <a:r>
              <a:rPr lang="zh-CN" altLang="en-US" sz="1500">
                <a:solidFill>
                  <a:schemeClr val="tx1"/>
                </a:solidFill>
                <a:latin typeface="Tahoma" panose="020B0604030504040204" pitchFamily="34" charset="0"/>
                <a:ea typeface="宋体" panose="02010600030101010101" pitchFamily="2" charset="-122"/>
                <a:cs typeface="Arial" panose="020B0604020202020204" pitchFamily="34" charset="0"/>
              </a:rPr>
              <a:t>进化控制结构</a:t>
            </a:r>
            <a:r>
              <a:rPr lang="zh-CN" altLang="en-US" sz="2400">
                <a:solidFill>
                  <a:schemeClr val="tx1"/>
                </a:solidFill>
                <a:latin typeface="Tahoma" panose="020B0604030504040204" pitchFamily="34" charset="0"/>
                <a:ea typeface="宋体" panose="02010600030101010101" pitchFamily="2" charset="-122"/>
                <a:cs typeface="Arial" panose="020B0604020202020204" pitchFamily="34" charset="0"/>
              </a:rPr>
              <a:t> </a:t>
            </a:r>
          </a:p>
        </p:txBody>
      </p:sp>
      <p:sp>
        <p:nvSpPr>
          <p:cNvPr id="18" name="Rectangle 6"/>
          <p:cNvSpPr>
            <a:spLocks noChangeArrowheads="1"/>
          </p:cNvSpPr>
          <p:nvPr/>
        </p:nvSpPr>
        <p:spPr bwMode="auto">
          <a:xfrm>
            <a:off x="1143001" y="1485320"/>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eaLnBrk="1" hangingPunct="1">
              <a:lnSpc>
                <a:spcPct val="100000"/>
              </a:lnSpc>
              <a:spcBef>
                <a:spcPct val="0"/>
              </a:spcBef>
              <a:buClrTx/>
              <a:buSzTx/>
              <a:buFont typeface="Arial" panose="020B0604020202020204" pitchFamily="34" charset="0"/>
              <a:buNone/>
            </a:pPr>
            <a:endParaRPr kumimoji="1" lang="zh-CN" altLang="en-US" sz="2100">
              <a:solidFill>
                <a:schemeClr val="tx1"/>
              </a:solidFill>
              <a:latin typeface="Times New Roman" panose="02020603050405020304" pitchFamily="18" charset="0"/>
              <a:ea typeface="宋体" panose="02010600030101010101" pitchFamily="2" charset="-122"/>
            </a:endParaRPr>
          </a:p>
        </p:txBody>
      </p:sp>
      <p:graphicFrame>
        <p:nvGraphicFramePr>
          <p:cNvPr id="19" name="Object 7"/>
          <p:cNvGraphicFramePr>
            <a:graphicFrameLocks noChangeAspect="1"/>
          </p:cNvGraphicFramePr>
          <p:nvPr/>
        </p:nvGraphicFramePr>
        <p:xfrm>
          <a:off x="4031456" y="1707356"/>
          <a:ext cx="3914775" cy="1757363"/>
        </p:xfrm>
        <a:graphic>
          <a:graphicData uri="http://schemas.openxmlformats.org/presentationml/2006/ole">
            <mc:AlternateContent xmlns:mc="http://schemas.openxmlformats.org/markup-compatibility/2006">
              <mc:Choice xmlns:v="urn:schemas-microsoft-com:vml" Requires="v">
                <p:oleObj spid="_x0000_s17576" name="Visio" r:id="rId6" imgW="9232900" imgH="4140200" progId="Visio.Drawing.11">
                  <p:embed/>
                </p:oleObj>
              </mc:Choice>
              <mc:Fallback>
                <p:oleObj name="Visio" r:id="rId6" imgW="9232900" imgH="4140200" progId="Visio.Drawing.11">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1456" y="1707356"/>
                        <a:ext cx="3914775"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 Box 8"/>
          <p:cNvSpPr txBox="1">
            <a:spLocks noChangeArrowheads="1"/>
          </p:cNvSpPr>
          <p:nvPr/>
        </p:nvSpPr>
        <p:spPr bwMode="auto">
          <a:xfrm>
            <a:off x="5350442" y="4137423"/>
            <a:ext cx="18197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algn="ctr" eaLnBrk="1" hangingPunct="1">
              <a:lnSpc>
                <a:spcPct val="100000"/>
              </a:lnSpc>
              <a:spcBef>
                <a:spcPct val="0"/>
              </a:spcBef>
              <a:buClrTx/>
              <a:buSzTx/>
              <a:buFontTx/>
              <a:buNone/>
            </a:pPr>
            <a:r>
              <a:rPr lang="zh-CN" altLang="en-US" sz="1500">
                <a:solidFill>
                  <a:schemeClr val="tx1"/>
                </a:solidFill>
                <a:latin typeface="Tahoma" panose="020B0604030504040204" pitchFamily="34" charset="0"/>
                <a:ea typeface="宋体" panose="02010600030101010101" pitchFamily="2" charset="-122"/>
                <a:cs typeface="Arial" panose="020B0604020202020204" pitchFamily="34" charset="0"/>
              </a:rPr>
              <a:t>拟人情感体系结构</a:t>
            </a:r>
            <a:r>
              <a:rPr lang="zh-CN" altLang="en-US" sz="2400">
                <a:solidFill>
                  <a:schemeClr val="tx1"/>
                </a:solidFill>
                <a:latin typeface="Tahoma" panose="020B0604030504040204" pitchFamily="34" charset="0"/>
                <a:ea typeface="宋体" panose="02010600030101010101" pitchFamily="2" charset="-122"/>
                <a:cs typeface="Arial" panose="020B0604020202020204" pitchFamily="34" charset="0"/>
              </a:rPr>
              <a:t> </a:t>
            </a:r>
          </a:p>
        </p:txBody>
      </p:sp>
      <p:sp>
        <p:nvSpPr>
          <p:cNvPr id="21" name="矩形 20"/>
          <p:cNvSpPr/>
          <p:nvPr/>
        </p:nvSpPr>
        <p:spPr>
          <a:xfrm>
            <a:off x="2807499" y="681326"/>
            <a:ext cx="3915944" cy="461665"/>
          </a:xfrm>
          <a:prstGeom prst="rect">
            <a:avLst/>
          </a:prstGeom>
        </p:spPr>
        <p:txBody>
          <a:bodyPr wrap="none">
            <a:spAutoFit/>
          </a:bodyPr>
          <a:lstStyle/>
          <a:p>
            <a:r>
              <a:rPr lang="zh-CN" altLang="en-US" dirty="0"/>
              <a:t>仿生结构（</a:t>
            </a:r>
            <a:r>
              <a:rPr lang="en-US" altLang="zh-CN" dirty="0"/>
              <a:t>Biomimetic Architecture</a:t>
            </a:r>
            <a:r>
              <a:rPr lang="zh-CN" altLang="en-US" dirty="0"/>
              <a:t>）</a:t>
            </a:r>
            <a:r>
              <a:rPr lang="zh-CN" altLang="en-US" sz="2400" dirty="0"/>
              <a:t> </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36220" y="219075"/>
            <a:ext cx="5153660" cy="598805"/>
            <a:chOff x="-372" y="345"/>
            <a:chExt cx="8116" cy="943"/>
          </a:xfrm>
        </p:grpSpPr>
        <p:sp>
          <p:nvSpPr>
            <p:cNvPr id="7" name="矩形 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8" name="文本框 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9" name="椭圆 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矩形 4"/>
          <p:cNvSpPr/>
          <p:nvPr/>
        </p:nvSpPr>
        <p:spPr>
          <a:xfrm>
            <a:off x="3347864" y="771550"/>
            <a:ext cx="2749471" cy="400110"/>
          </a:xfrm>
          <a:prstGeom prst="rect">
            <a:avLst/>
          </a:prstGeom>
        </p:spPr>
        <p:txBody>
          <a:bodyPr wrap="none">
            <a:spAutoFit/>
          </a:bodyPr>
          <a:lstStyle/>
          <a:p>
            <a:r>
              <a:rPr lang="zh-CN" altLang="zh-CN" sz="2000" dirty="0">
                <a:solidFill>
                  <a:srgbClr val="0070C0"/>
                </a:solidFill>
                <a:latin typeface="Times New Roman" panose="02020603050405020304" pitchFamily="18" charset="0"/>
                <a:cs typeface="Times New Roman" panose="02020603050405020304" pitchFamily="18" charset="0"/>
              </a:rPr>
              <a:t>体系结构中的任务规划</a:t>
            </a:r>
            <a:endParaRPr lang="zh-CN" altLang="en-US" sz="2000" dirty="0">
              <a:solidFill>
                <a:srgbClr val="0070C0"/>
              </a:solidFill>
            </a:endParaRPr>
          </a:p>
        </p:txBody>
      </p:sp>
      <p:sp>
        <p:nvSpPr>
          <p:cNvPr id="10" name="矩形 9"/>
          <p:cNvSpPr/>
          <p:nvPr/>
        </p:nvSpPr>
        <p:spPr>
          <a:xfrm>
            <a:off x="1115616" y="1214245"/>
            <a:ext cx="6696744" cy="923330"/>
          </a:xfrm>
          <a:prstGeom prst="rect">
            <a:avLst/>
          </a:prstGeom>
        </p:spPr>
        <p:txBody>
          <a:bodyPr wrap="square">
            <a:spAutoFit/>
          </a:bodyPr>
          <a:lstStyle/>
          <a:p>
            <a:r>
              <a:rPr lang="zh-CN" altLang="zh-CN" dirty="0">
                <a:latin typeface="Times New Roman" panose="02020603050405020304" pitchFamily="18" charset="0"/>
                <a:cs typeface="Times New Roman" panose="02020603050405020304" pitchFamily="18" charset="0"/>
              </a:rPr>
              <a:t>在人工智能中，规划（</a:t>
            </a:r>
            <a:r>
              <a:rPr lang="en-US" altLang="zh-CN" dirty="0">
                <a:latin typeface="Times New Roman" panose="02020603050405020304" pitchFamily="18" charset="0"/>
              </a:rPr>
              <a:t>Planning</a:t>
            </a:r>
            <a:r>
              <a:rPr lang="zh-CN" altLang="zh-CN" dirty="0">
                <a:latin typeface="Times New Roman" panose="02020603050405020304" pitchFamily="18" charset="0"/>
                <a:cs typeface="Times New Roman" panose="02020603050405020304" pitchFamily="18" charset="0"/>
              </a:rPr>
              <a:t>）被定义为关于要采取行动的决策。而在机器人学中，规划包含</a:t>
            </a:r>
            <a:r>
              <a:rPr lang="zh-CN" altLang="zh-CN" dirty="0">
                <a:solidFill>
                  <a:srgbClr val="0070C0"/>
                </a:solidFill>
                <a:latin typeface="Times New Roman" panose="02020603050405020304" pitchFamily="18" charset="0"/>
                <a:cs typeface="Times New Roman" panose="02020603050405020304" pitchFamily="18" charset="0"/>
              </a:rPr>
              <a:t>任务规划</a:t>
            </a:r>
            <a:r>
              <a:rPr lang="en-US" altLang="zh-CN" dirty="0">
                <a:latin typeface="Times New Roman" panose="02020603050405020304" pitchFamily="18" charset="0"/>
              </a:rPr>
              <a:t>(Task Planning)</a:t>
            </a:r>
            <a:r>
              <a:rPr lang="zh-CN" altLang="zh-CN" dirty="0">
                <a:latin typeface="Times New Roman" panose="02020603050405020304" pitchFamily="18" charset="0"/>
                <a:cs typeface="Times New Roman" panose="02020603050405020304" pitchFamily="18" charset="0"/>
              </a:rPr>
              <a:t>以及运动规划</a:t>
            </a:r>
            <a:r>
              <a:rPr lang="en-US" altLang="zh-CN" dirty="0">
                <a:latin typeface="Times New Roman" panose="02020603050405020304" pitchFamily="18" charset="0"/>
              </a:rPr>
              <a:t>(Motion Planning)</a:t>
            </a:r>
            <a:r>
              <a:rPr lang="zh-CN" altLang="zh-CN" dirty="0">
                <a:latin typeface="Times New Roman" panose="02020603050405020304" pitchFamily="18" charset="0"/>
                <a:cs typeface="Times New Roman" panose="02020603050405020304" pitchFamily="18" charset="0"/>
              </a:rPr>
              <a:t>等内容。</a:t>
            </a:r>
            <a:endParaRPr lang="zh-CN" altLang="en-US" dirty="0"/>
          </a:p>
        </p:txBody>
      </p:sp>
      <p:sp>
        <p:nvSpPr>
          <p:cNvPr id="11" name="矩形 10"/>
          <p:cNvSpPr/>
          <p:nvPr/>
        </p:nvSpPr>
        <p:spPr>
          <a:xfrm>
            <a:off x="1060149" y="2220419"/>
            <a:ext cx="6912768" cy="2862322"/>
          </a:xfrm>
          <a:prstGeom prst="rect">
            <a:avLst/>
          </a:prstGeom>
        </p:spPr>
        <p:txBody>
          <a:bodyPr wrap="square">
            <a:spAutoFit/>
          </a:bodyPr>
          <a:lstStyle/>
          <a:p>
            <a:pPr marL="285750" indent="-285750" algn="ctr">
              <a:buFont typeface="Wingdings" panose="05000000000000000000" pitchFamily="2" charset="2"/>
              <a:buChar char="Ø"/>
            </a:pPr>
            <a:r>
              <a:rPr lang="zh-CN" altLang="zh-CN" dirty="0">
                <a:latin typeface="Times New Roman" panose="02020603050405020304" pitchFamily="18" charset="0"/>
                <a:cs typeface="Times New Roman" panose="02020603050405020304" pitchFamily="18" charset="0"/>
              </a:rPr>
              <a:t>基于状态空间的机器人任务</a:t>
            </a:r>
            <a:r>
              <a:rPr lang="zh-CN" altLang="zh-CN" dirty="0" smtClean="0">
                <a:latin typeface="Times New Roman" panose="02020603050405020304" pitchFamily="18" charset="0"/>
                <a:cs typeface="Times New Roman" panose="02020603050405020304" pitchFamily="18" charset="0"/>
              </a:rPr>
              <a:t>规划</a:t>
            </a:r>
            <a:endParaRPr lang="en-US" altLang="zh-CN" dirty="0" smtClean="0">
              <a:latin typeface="Times New Roman" panose="02020603050405020304" pitchFamily="18" charset="0"/>
              <a:cs typeface="Times New Roman" panose="02020603050405020304" pitchFamily="18" charset="0"/>
            </a:endParaRPr>
          </a:p>
          <a:p>
            <a:pPr marL="285750" indent="-285750" algn="ctr">
              <a:buFont typeface="Wingdings" panose="05000000000000000000" pitchFamily="2" charset="2"/>
              <a:buChar char="Ø"/>
            </a:pPr>
            <a:endParaRPr lang="en-US" altLang="zh-CN"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zh-CN" dirty="0" smtClean="0">
                <a:latin typeface="Times New Roman" panose="02020603050405020304" pitchFamily="18" charset="0"/>
                <a:cs typeface="Times New Roman" panose="02020603050405020304" pitchFamily="18" charset="0"/>
              </a:rPr>
              <a:t>基本</a:t>
            </a:r>
            <a:r>
              <a:rPr lang="zh-CN" altLang="zh-CN" dirty="0">
                <a:latin typeface="Times New Roman" panose="02020603050405020304" pitchFamily="18" charset="0"/>
                <a:cs typeface="Times New Roman" panose="02020603050405020304" pitchFamily="18" charset="0"/>
              </a:rPr>
              <a:t>思想也是用</a:t>
            </a:r>
            <a:r>
              <a:rPr lang="en-US" altLang="zh-CN" dirty="0">
                <a:latin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状态</a:t>
            </a:r>
            <a:r>
              <a:rPr lang="en-US" altLang="zh-CN" dirty="0">
                <a:latin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操作</a:t>
            </a:r>
            <a:r>
              <a:rPr lang="en-US" altLang="zh-CN" dirty="0">
                <a:latin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来表示和求解任务规划</a:t>
            </a:r>
            <a:r>
              <a:rPr lang="zh-CN" altLang="zh-CN" dirty="0" smtClean="0">
                <a:latin typeface="Times New Roman" panose="02020603050405020304" pitchFamily="18" charset="0"/>
                <a:cs typeface="Times New Roman" panose="02020603050405020304" pitchFamily="18" charset="0"/>
              </a:rPr>
              <a:t>问题</a:t>
            </a:r>
            <a:endParaRPr lang="en-US" altLang="zh-CN"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zh-CN" dirty="0" smtClean="0">
                <a:latin typeface="Times New Roman" panose="02020603050405020304" pitchFamily="18" charset="0"/>
                <a:cs typeface="Times New Roman" panose="02020603050405020304" pitchFamily="18" charset="0"/>
              </a:rPr>
              <a:t>状态空间</a:t>
            </a:r>
            <a:r>
              <a:rPr lang="en-US" altLang="zh-CN" dirty="0">
                <a:latin typeface="Times New Roman" panose="02020603050405020304" pitchFamily="18" charset="0"/>
              </a:rPr>
              <a:t>(State Space)</a:t>
            </a:r>
            <a:r>
              <a:rPr lang="zh-CN" altLang="zh-CN" dirty="0">
                <a:latin typeface="Times New Roman" panose="02020603050405020304" pitchFamily="18" charset="0"/>
                <a:cs typeface="Times New Roman" panose="02020603050405020304" pitchFamily="18" charset="0"/>
              </a:rPr>
              <a:t>用来描述一个问题的全部状态以及这些状态之间的相互</a:t>
            </a:r>
            <a:r>
              <a:rPr lang="zh-CN" altLang="zh-CN" dirty="0" smtClean="0">
                <a:latin typeface="Times New Roman" panose="02020603050405020304" pitchFamily="18" charset="0"/>
                <a:cs typeface="Times New Roman" panose="02020603050405020304" pitchFamily="18" charset="0"/>
              </a:rPr>
              <a:t>关系</a:t>
            </a:r>
            <a:endParaRPr lang="en-US" altLang="zh-CN"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zh-CN" dirty="0" smtClean="0">
                <a:latin typeface="Times New Roman" panose="02020603050405020304" pitchFamily="18" charset="0"/>
                <a:cs typeface="Times New Roman" panose="02020603050405020304" pitchFamily="18" charset="0"/>
              </a:rPr>
              <a:t>基于</a:t>
            </a:r>
            <a:r>
              <a:rPr lang="zh-CN" altLang="zh-CN" dirty="0">
                <a:latin typeface="Times New Roman" panose="02020603050405020304" pitchFamily="18" charset="0"/>
                <a:cs typeface="Times New Roman" panose="02020603050405020304" pitchFamily="18" charset="0"/>
              </a:rPr>
              <a:t>状态空间的问题求解过程实际上是一个搜索</a:t>
            </a:r>
            <a:r>
              <a:rPr lang="zh-CN" altLang="zh-CN" dirty="0" smtClean="0">
                <a:latin typeface="Times New Roman" panose="02020603050405020304" pitchFamily="18" charset="0"/>
                <a:cs typeface="Times New Roman" panose="02020603050405020304" pitchFamily="18" charset="0"/>
              </a:rPr>
              <a:t>过程</a:t>
            </a:r>
            <a:endParaRPr lang="en-US" altLang="zh-CN" dirty="0" smtClean="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r>
              <a:rPr lang="zh-CN" altLang="zh-CN" dirty="0" smtClean="0">
                <a:latin typeface="Times New Roman" panose="02020603050405020304" pitchFamily="18" charset="0"/>
                <a:cs typeface="Times New Roman" panose="02020603050405020304" pitchFamily="18" charset="0"/>
              </a:rPr>
              <a:t>如果</a:t>
            </a:r>
            <a:r>
              <a:rPr lang="zh-CN" altLang="zh-CN" dirty="0">
                <a:latin typeface="Times New Roman" panose="02020603050405020304" pitchFamily="18" charset="0"/>
                <a:cs typeface="Times New Roman" panose="02020603050405020304" pitchFamily="18" charset="0"/>
              </a:rPr>
              <a:t>用一个赋值的有向图来表示状态空间，可以采用基于广度优先搜索、基于深度优先搜索以及启发式搜索等图搜索算法进行问题求解，这些基本的图搜索算法将在第</a:t>
            </a:r>
            <a:r>
              <a:rPr lang="en-US" altLang="zh-CN" dirty="0">
                <a:latin typeface="Times New Roman" panose="02020603050405020304" pitchFamily="18" charset="0"/>
              </a:rPr>
              <a:t>5</a:t>
            </a:r>
            <a:r>
              <a:rPr lang="zh-CN" altLang="zh-CN" dirty="0" smtClean="0">
                <a:latin typeface="Times New Roman" panose="02020603050405020304" pitchFamily="18" charset="0"/>
                <a:cs typeface="Times New Roman" panose="02020603050405020304" pitchFamily="18" charset="0"/>
              </a:rPr>
              <a:t>章</a:t>
            </a:r>
            <a:r>
              <a:rPr lang="zh-CN" altLang="zh-CN" dirty="0">
                <a:latin typeface="Times New Roman" panose="02020603050405020304" pitchFamily="18" charset="0"/>
                <a:cs typeface="Times New Roman" panose="02020603050405020304" pitchFamily="18" charset="0"/>
              </a:rPr>
              <a:t>运动规划</a:t>
            </a:r>
            <a:r>
              <a:rPr lang="zh-CN" altLang="zh-CN" dirty="0" smtClean="0">
                <a:latin typeface="Times New Roman" panose="02020603050405020304" pitchFamily="18" charset="0"/>
                <a:cs typeface="Times New Roman" panose="02020603050405020304" pitchFamily="18" charset="0"/>
              </a:rPr>
              <a:t>进行</a:t>
            </a:r>
            <a:r>
              <a:rPr lang="zh-CN" altLang="zh-CN" dirty="0">
                <a:latin typeface="Times New Roman" panose="02020603050405020304" pitchFamily="18" charset="0"/>
                <a:cs typeface="Times New Roman" panose="02020603050405020304" pitchFamily="18" charset="0"/>
              </a:rPr>
              <a:t>介绍。</a:t>
            </a:r>
            <a:endParaRPr lang="zh-CN" altLang="en-US" dirty="0"/>
          </a:p>
        </p:txBody>
      </p:sp>
      <p:sp>
        <p:nvSpPr>
          <p:cNvPr id="12" name="圆角矩形 11"/>
          <p:cNvSpPr/>
          <p:nvPr/>
        </p:nvSpPr>
        <p:spPr>
          <a:xfrm>
            <a:off x="1115616" y="1171660"/>
            <a:ext cx="6726850" cy="92333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43608" y="2639116"/>
            <a:ext cx="6933719" cy="23744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36220" y="219075"/>
            <a:ext cx="5153660" cy="598805"/>
            <a:chOff x="-372" y="345"/>
            <a:chExt cx="8116" cy="943"/>
          </a:xfrm>
        </p:grpSpPr>
        <p:sp>
          <p:nvSpPr>
            <p:cNvPr id="7" name="矩形 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8" name="文本框 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9" name="椭圆 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Rectangle 2"/>
          <p:cNvSpPr>
            <a:spLocks noChangeArrowheads="1"/>
          </p:cNvSpPr>
          <p:nvPr/>
        </p:nvSpPr>
        <p:spPr bwMode="auto">
          <a:xfrm>
            <a:off x="4067944" y="164484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矩形 3"/>
          <p:cNvSpPr/>
          <p:nvPr/>
        </p:nvSpPr>
        <p:spPr>
          <a:xfrm>
            <a:off x="1507141" y="1140037"/>
            <a:ext cx="6396218" cy="400110"/>
          </a:xfrm>
          <a:prstGeom prst="rect">
            <a:avLst/>
          </a:prstGeom>
        </p:spPr>
        <p:txBody>
          <a:bodyPr wrap="square">
            <a:spAutoFit/>
          </a:bodyPr>
          <a:lstStyle/>
          <a:p>
            <a:r>
              <a:rPr lang="zh-CN" altLang="en-US" sz="2000" dirty="0"/>
              <a:t>层次有限状态机(HFSM, Hierarchical Finite State Machine)</a:t>
            </a:r>
          </a:p>
        </p:txBody>
      </p:sp>
      <p:sp>
        <p:nvSpPr>
          <p:cNvPr id="5" name="矩形 4"/>
          <p:cNvSpPr/>
          <p:nvPr/>
        </p:nvSpPr>
        <p:spPr>
          <a:xfrm>
            <a:off x="3330514" y="726050"/>
            <a:ext cx="2749471" cy="400110"/>
          </a:xfrm>
          <a:prstGeom prst="rect">
            <a:avLst/>
          </a:prstGeom>
        </p:spPr>
        <p:txBody>
          <a:bodyPr wrap="none">
            <a:spAutoFit/>
          </a:bodyPr>
          <a:lstStyle/>
          <a:p>
            <a:r>
              <a:rPr lang="zh-CN" altLang="zh-CN" sz="2000" dirty="0">
                <a:solidFill>
                  <a:srgbClr val="0070C0"/>
                </a:solidFill>
                <a:latin typeface="Times New Roman" panose="02020603050405020304" pitchFamily="18" charset="0"/>
                <a:cs typeface="Times New Roman" panose="02020603050405020304" pitchFamily="18" charset="0"/>
              </a:rPr>
              <a:t>体系结构中的任务规划</a:t>
            </a:r>
            <a:endParaRPr lang="zh-CN" altLang="en-US" sz="2000" dirty="0">
              <a:solidFill>
                <a:srgbClr val="0070C0"/>
              </a:solidFill>
            </a:endParaRPr>
          </a:p>
        </p:txBody>
      </p:sp>
      <p:graphicFrame>
        <p:nvGraphicFramePr>
          <p:cNvPr id="11" name="对象 10"/>
          <p:cNvGraphicFramePr>
            <a:graphicFrameLocks noChangeAspect="1"/>
          </p:cNvGraphicFramePr>
          <p:nvPr/>
        </p:nvGraphicFramePr>
        <p:xfrm>
          <a:off x="107504" y="2036413"/>
          <a:ext cx="2573341" cy="1676571"/>
        </p:xfrm>
        <a:graphic>
          <a:graphicData uri="http://schemas.openxmlformats.org/presentationml/2006/ole">
            <mc:AlternateContent xmlns:mc="http://schemas.openxmlformats.org/markup-compatibility/2006">
              <mc:Choice xmlns:v="urn:schemas-microsoft-com:vml" Requires="v">
                <p:oleObj spid="_x0000_s16513" name="Visio" r:id="rId4" imgW="4596130" imgH="3001010" progId="Visio.Drawing.15">
                  <p:embed/>
                </p:oleObj>
              </mc:Choice>
              <mc:Fallback>
                <p:oleObj name="Visio" r:id="rId4" imgW="4596130" imgH="3001010" progId="Visio.Drawing.15">
                  <p:embed/>
                  <p:pic>
                    <p:nvPicPr>
                      <p:cNvPr id="0" name="Object 6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2036413"/>
                        <a:ext cx="2573341" cy="1676571"/>
                      </a:xfrm>
                      <a:prstGeom prst="rect">
                        <a:avLst/>
                      </a:prstGeom>
                      <a:noFill/>
                    </p:spPr>
                  </p:pic>
                </p:oleObj>
              </mc:Fallback>
            </mc:AlternateContent>
          </a:graphicData>
        </a:graphic>
      </p:graphicFrame>
      <p:graphicFrame>
        <p:nvGraphicFramePr>
          <p:cNvPr id="14" name="对象 13"/>
          <p:cNvGraphicFramePr>
            <a:graphicFrameLocks noChangeAspect="1"/>
          </p:cNvGraphicFramePr>
          <p:nvPr/>
        </p:nvGraphicFramePr>
        <p:xfrm>
          <a:off x="2627784" y="1749546"/>
          <a:ext cx="2885985" cy="2270209"/>
        </p:xfrm>
        <a:graphic>
          <a:graphicData uri="http://schemas.openxmlformats.org/presentationml/2006/ole">
            <mc:AlternateContent xmlns:mc="http://schemas.openxmlformats.org/markup-compatibility/2006">
              <mc:Choice xmlns:v="urn:schemas-microsoft-com:vml" Requires="v">
                <p:oleObj spid="_x0000_s16514" name="Visio" r:id="rId6" imgW="5433060" imgH="4270375" progId="Visio.Drawing.15">
                  <p:embed/>
                </p:oleObj>
              </mc:Choice>
              <mc:Fallback>
                <p:oleObj name="Visio" r:id="rId6" imgW="5433060" imgH="4270375" progId="Visio.Drawing.15">
                  <p:embed/>
                  <p:pic>
                    <p:nvPicPr>
                      <p:cNvPr id="0" name="Object 6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784" y="1749546"/>
                        <a:ext cx="2885985" cy="2270209"/>
                      </a:xfrm>
                      <a:prstGeom prst="rect">
                        <a:avLst/>
                      </a:prstGeom>
                      <a:noFill/>
                    </p:spPr>
                  </p:pic>
                </p:oleObj>
              </mc:Fallback>
            </mc:AlternateContent>
          </a:graphicData>
        </a:graphic>
      </p:graphicFrame>
      <p:graphicFrame>
        <p:nvGraphicFramePr>
          <p:cNvPr id="16" name="对象 15"/>
          <p:cNvGraphicFramePr>
            <a:graphicFrameLocks noChangeAspect="1"/>
          </p:cNvGraphicFramePr>
          <p:nvPr/>
        </p:nvGraphicFramePr>
        <p:xfrm>
          <a:off x="5580112" y="1870420"/>
          <a:ext cx="3533181" cy="2050727"/>
        </p:xfrm>
        <a:graphic>
          <a:graphicData uri="http://schemas.openxmlformats.org/presentationml/2006/ole">
            <mc:AlternateContent xmlns:mc="http://schemas.openxmlformats.org/markup-compatibility/2006">
              <mc:Choice xmlns:v="urn:schemas-microsoft-com:vml" Requires="v">
                <p:oleObj spid="_x0000_s16515" name="Visio" r:id="rId8" imgW="6454140" imgH="3759835" progId="Visio.Drawing.15">
                  <p:embed/>
                </p:oleObj>
              </mc:Choice>
              <mc:Fallback>
                <p:oleObj name="Visio" r:id="rId8" imgW="6454140" imgH="3759835" progId="Visio.Drawing.15">
                  <p:embed/>
                  <p:pic>
                    <p:nvPicPr>
                      <p:cNvPr id="0" name="Object 7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0112" y="1870420"/>
                        <a:ext cx="3533181" cy="2050727"/>
                      </a:xfrm>
                      <a:prstGeom prst="rect">
                        <a:avLst/>
                      </a:prstGeom>
                      <a:noFill/>
                    </p:spPr>
                  </p:pic>
                </p:oleObj>
              </mc:Fallback>
            </mc:AlternateContent>
          </a:graphicData>
        </a:graphic>
      </p:graphicFrame>
      <p:sp>
        <p:nvSpPr>
          <p:cNvPr id="17" name="矩形 16"/>
          <p:cNvSpPr/>
          <p:nvPr/>
        </p:nvSpPr>
        <p:spPr>
          <a:xfrm>
            <a:off x="320593" y="4200122"/>
            <a:ext cx="1800493"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宠物机器</a:t>
            </a:r>
            <a:r>
              <a:rPr lang="zh-CN" altLang="zh-CN" dirty="0" smtClean="0">
                <a:latin typeface="Times New Roman" panose="02020603050405020304" pitchFamily="18" charset="0"/>
                <a:cs typeface="Times New Roman" panose="02020603050405020304" pitchFamily="18" charset="0"/>
              </a:rPr>
              <a:t>狗</a:t>
            </a:r>
            <a:r>
              <a:rPr lang="en-US" altLang="zh-CN" dirty="0" smtClean="0">
                <a:latin typeface="Times New Roman" panose="02020603050405020304" pitchFamily="18" charset="0"/>
                <a:cs typeface="Times New Roman" panose="02020603050405020304" pitchFamily="18" charset="0"/>
              </a:rPr>
              <a:t>FSM</a:t>
            </a:r>
            <a:endParaRPr lang="zh-CN" altLang="en-US" dirty="0"/>
          </a:p>
        </p:txBody>
      </p:sp>
      <p:sp>
        <p:nvSpPr>
          <p:cNvPr id="18" name="矩形 17"/>
          <p:cNvSpPr/>
          <p:nvPr/>
        </p:nvSpPr>
        <p:spPr>
          <a:xfrm>
            <a:off x="2815594" y="4206787"/>
            <a:ext cx="2698175"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增加了</a:t>
            </a:r>
            <a:r>
              <a:rPr lang="en-US" altLang="zh-CN" dirty="0">
                <a:latin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进食</a:t>
            </a:r>
            <a:r>
              <a:rPr lang="en-US" altLang="zh-CN" dirty="0">
                <a:latin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状态的</a:t>
            </a:r>
            <a:r>
              <a:rPr lang="en-US" altLang="zh-CN" dirty="0">
                <a:latin typeface="Times New Roman" panose="02020603050405020304" pitchFamily="18" charset="0"/>
              </a:rPr>
              <a:t>FSM</a:t>
            </a:r>
            <a:endParaRPr lang="zh-CN" altLang="en-US" dirty="0"/>
          </a:p>
        </p:txBody>
      </p:sp>
      <p:sp>
        <p:nvSpPr>
          <p:cNvPr id="19" name="矩形 18"/>
          <p:cNvSpPr/>
          <p:nvPr/>
        </p:nvSpPr>
        <p:spPr>
          <a:xfrm>
            <a:off x="6057192" y="4206787"/>
            <a:ext cx="2428870"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采用</a:t>
            </a:r>
            <a:r>
              <a:rPr lang="en-US" altLang="zh-CN" dirty="0">
                <a:latin typeface="Times New Roman" panose="02020603050405020304" pitchFamily="18" charset="0"/>
              </a:rPr>
              <a:t>HFSM</a:t>
            </a:r>
            <a:r>
              <a:rPr lang="zh-CN" altLang="zh-CN" dirty="0">
                <a:latin typeface="Times New Roman" panose="02020603050405020304" pitchFamily="18" charset="0"/>
                <a:cs typeface="Times New Roman" panose="02020603050405020304" pitchFamily="18" charset="0"/>
              </a:rPr>
              <a:t>设计的结构</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36220" y="219075"/>
            <a:ext cx="5153660" cy="598805"/>
            <a:chOff x="-372" y="345"/>
            <a:chExt cx="8116" cy="943"/>
          </a:xfrm>
        </p:grpSpPr>
        <p:sp>
          <p:nvSpPr>
            <p:cNvPr id="7" name="矩形 6"/>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Architecture of Intelligent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8" name="文本框 7"/>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智能机器人体系结构</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9" name="椭圆 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Rectangle 3"/>
          <p:cNvSpPr>
            <a:spLocks noChangeArrowheads="1"/>
          </p:cNvSpPr>
          <p:nvPr/>
        </p:nvSpPr>
        <p:spPr bwMode="auto">
          <a:xfrm>
            <a:off x="1143001" y="1249576"/>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eaLnBrk="1" hangingPunct="1">
              <a:lnSpc>
                <a:spcPct val="100000"/>
              </a:lnSpc>
              <a:spcBef>
                <a:spcPct val="0"/>
              </a:spcBef>
              <a:buClrTx/>
              <a:buSzTx/>
              <a:buFont typeface="Arial" panose="020B0604020202020204" pitchFamily="34" charset="0"/>
              <a:buNone/>
            </a:pPr>
            <a:endParaRPr kumimoji="1" lang="zh-CN" altLang="en-US" sz="2100">
              <a:solidFill>
                <a:schemeClr val="tx1"/>
              </a:solidFill>
              <a:latin typeface="Times New Roman" panose="02020603050405020304" pitchFamily="18" charset="0"/>
              <a:ea typeface="宋体" panose="02010600030101010101" pitchFamily="2" charset="-122"/>
            </a:endParaRPr>
          </a:p>
        </p:txBody>
      </p:sp>
      <p:sp>
        <p:nvSpPr>
          <p:cNvPr id="18" name="Rectangle 6"/>
          <p:cNvSpPr>
            <a:spLocks noChangeArrowheads="1"/>
          </p:cNvSpPr>
          <p:nvPr/>
        </p:nvSpPr>
        <p:spPr bwMode="auto">
          <a:xfrm>
            <a:off x="1143001" y="1485320"/>
            <a:ext cx="18473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40000"/>
              </a:lnSpc>
              <a:spcBef>
                <a:spcPct val="20000"/>
              </a:spcBef>
              <a:buClr>
                <a:schemeClr val="accent1"/>
              </a:buClr>
              <a:buSzPct val="100000"/>
              <a:buFont typeface="Wingdings" panose="05000000000000000000" pitchFamily="2" charset="2"/>
              <a:buChar char="v"/>
              <a:defRPr sz="1600">
                <a:solidFill>
                  <a:schemeClr val="bg2"/>
                </a:solidFill>
                <a:latin typeface="Arial" panose="020B0604020202020204" pitchFamily="34" charset="0"/>
                <a:ea typeface="微软雅黑" panose="020B0503020204020204" charset="-122"/>
                <a:sym typeface="Arial" panose="020B0604020202020204" pitchFamily="34" charset="0"/>
              </a:defRPr>
            </a:lvl1pPr>
            <a:lvl2pPr marL="742950" indent="-285750">
              <a:lnSpc>
                <a:spcPct val="140000"/>
              </a:lnSpc>
              <a:spcBef>
                <a:spcPct val="20000"/>
              </a:spcBef>
              <a:buClr>
                <a:schemeClr val="accent1"/>
              </a:buClr>
              <a:buSzPct val="100000"/>
              <a:buFont typeface="Wingdings" panose="05000000000000000000" pitchFamily="2" charset="2"/>
              <a:buChar char="n"/>
              <a:defRPr sz="1600">
                <a:solidFill>
                  <a:schemeClr val="bg2"/>
                </a:solidFill>
                <a:latin typeface="Arial" panose="020B0604020202020204" pitchFamily="34" charset="0"/>
                <a:ea typeface="微软雅黑" panose="020B0503020204020204" charset="-122"/>
                <a:sym typeface="Arial" panose="020B0604020202020204" pitchFamily="34" charset="0"/>
              </a:defRPr>
            </a:lvl2pPr>
            <a:lvl3pPr marL="1143000" indent="-228600">
              <a:lnSpc>
                <a:spcPct val="140000"/>
              </a:lnSpc>
              <a:spcBef>
                <a:spcPct val="20000"/>
              </a:spcBef>
              <a:buClr>
                <a:schemeClr val="accent1"/>
              </a:buClr>
              <a:buSzPct val="100000"/>
              <a:buFont typeface="Wingdings" panose="05000000000000000000" pitchFamily="2" charset="2"/>
              <a:buChar char="ü"/>
              <a:defRPr sz="1400">
                <a:solidFill>
                  <a:schemeClr val="bg2"/>
                </a:solidFill>
                <a:latin typeface="Arial" panose="020B0604020202020204" pitchFamily="34" charset="0"/>
                <a:ea typeface="微软雅黑" panose="020B0503020204020204" charset="-122"/>
                <a:sym typeface="Arial" panose="020B0604020202020204" pitchFamily="34" charset="0"/>
              </a:defRPr>
            </a:lvl3pPr>
            <a:lvl4pPr marL="1600200" indent="-228600">
              <a:lnSpc>
                <a:spcPct val="140000"/>
              </a:lnSpc>
              <a:spcBef>
                <a:spcPct val="20000"/>
              </a:spcBef>
              <a:buClr>
                <a:schemeClr val="accent1"/>
              </a:buClr>
              <a:buSzPct val="100000"/>
              <a:buFont typeface="Wingdings" panose="05000000000000000000" pitchFamily="2" charset="2"/>
              <a:buChar char="Ø"/>
              <a:defRPr sz="1400">
                <a:solidFill>
                  <a:schemeClr val="bg2"/>
                </a:solidFill>
                <a:latin typeface="Arial" panose="020B0604020202020204" pitchFamily="34" charset="0"/>
                <a:ea typeface="微软雅黑" panose="020B0503020204020204" charset="-122"/>
                <a:sym typeface="Arial" panose="020B0604020202020204" pitchFamily="34" charset="0"/>
              </a:defRPr>
            </a:lvl4pPr>
            <a:lvl5pPr marL="2057400" indent="-228600">
              <a:lnSpc>
                <a:spcPct val="140000"/>
              </a:lnSpc>
              <a:spcBef>
                <a:spcPct val="20000"/>
              </a:spcBef>
              <a:buClr>
                <a:srgbClr val="336699"/>
              </a:buClr>
              <a:buSzPct val="10000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5pPr>
            <a:lvl6pPr marL="25146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6pPr>
            <a:lvl7pPr marL="29718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7pPr>
            <a:lvl8pPr marL="34290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8pPr>
            <a:lvl9pPr marL="3886200" indent="-228600" eaLnBrk="0" fontAlgn="base" hangingPunct="0">
              <a:lnSpc>
                <a:spcPct val="140000"/>
              </a:lnSpc>
              <a:spcBef>
                <a:spcPct val="20000"/>
              </a:spcBef>
              <a:spcAft>
                <a:spcPct val="0"/>
              </a:spcAft>
              <a:buClr>
                <a:srgbClr val="336699"/>
              </a:buClr>
              <a:buSzPct val="100000"/>
              <a:buFont typeface="Arial" panose="020B0604020202020204" pitchFamily="34" charset="0"/>
              <a:buChar char="•"/>
              <a:defRPr sz="1200">
                <a:solidFill>
                  <a:schemeClr val="bg2"/>
                </a:solidFill>
                <a:latin typeface="Arial" panose="020B0604020202020204" pitchFamily="34" charset="0"/>
                <a:ea typeface="微软雅黑" panose="020B0503020204020204" charset="-122"/>
                <a:sym typeface="Arial" panose="020B0604020202020204" pitchFamily="34" charset="0"/>
              </a:defRPr>
            </a:lvl9pPr>
          </a:lstStyle>
          <a:p>
            <a:pPr eaLnBrk="1" hangingPunct="1">
              <a:lnSpc>
                <a:spcPct val="100000"/>
              </a:lnSpc>
              <a:spcBef>
                <a:spcPct val="0"/>
              </a:spcBef>
              <a:buClrTx/>
              <a:buSzTx/>
              <a:buFont typeface="Arial" panose="020B0604020202020204" pitchFamily="34" charset="0"/>
              <a:buNone/>
            </a:pPr>
            <a:endParaRPr kumimoji="1" lang="zh-CN" altLang="en-US" sz="2100">
              <a:solidFill>
                <a:schemeClr val="tx1"/>
              </a:solidFill>
              <a:latin typeface="Times New Roman" panose="02020603050405020304" pitchFamily="18" charset="0"/>
              <a:ea typeface="宋体" panose="02010600030101010101" pitchFamily="2" charset="-122"/>
            </a:endParaRPr>
          </a:p>
        </p:txBody>
      </p:sp>
      <p:sp>
        <p:nvSpPr>
          <p:cNvPr id="2" name="Rectangle 4"/>
          <p:cNvSpPr>
            <a:spLocks noChangeArrowheads="1"/>
          </p:cNvSpPr>
          <p:nvPr/>
        </p:nvSpPr>
        <p:spPr bwMode="auto">
          <a:xfrm>
            <a:off x="2339752" y="148532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矩形 3"/>
          <p:cNvSpPr/>
          <p:nvPr/>
        </p:nvSpPr>
        <p:spPr>
          <a:xfrm>
            <a:off x="3419441" y="1131590"/>
            <a:ext cx="2541593" cy="400110"/>
          </a:xfrm>
          <a:prstGeom prst="rect">
            <a:avLst/>
          </a:prstGeom>
        </p:spPr>
        <p:txBody>
          <a:bodyPr wrap="none">
            <a:spAutoFit/>
          </a:bodyPr>
          <a:lstStyle/>
          <a:p>
            <a:r>
              <a:rPr lang="zh-CN" altLang="en-US" sz="2000" dirty="0"/>
              <a:t>行为树(Behavior Tree)</a:t>
            </a:r>
          </a:p>
        </p:txBody>
      </p:sp>
      <p:graphicFrame>
        <p:nvGraphicFramePr>
          <p:cNvPr id="10" name="对象 9"/>
          <p:cNvGraphicFramePr>
            <a:graphicFrameLocks noChangeAspect="1"/>
          </p:cNvGraphicFramePr>
          <p:nvPr/>
        </p:nvGraphicFramePr>
        <p:xfrm>
          <a:off x="2051720" y="1555795"/>
          <a:ext cx="4676775" cy="3362325"/>
        </p:xfrm>
        <a:graphic>
          <a:graphicData uri="http://schemas.openxmlformats.org/presentationml/2006/ole">
            <mc:AlternateContent xmlns:mc="http://schemas.openxmlformats.org/markup-compatibility/2006">
              <mc:Choice xmlns:v="urn:schemas-microsoft-com:vml" Requires="v">
                <p:oleObj spid="_x0000_s15450" name="Visio" r:id="rId4" imgW="5215255" imgH="3750310" progId="Visio.Drawing.15">
                  <p:embed/>
                </p:oleObj>
              </mc:Choice>
              <mc:Fallback>
                <p:oleObj name="Visio" r:id="rId4" imgW="5215255" imgH="3750310" progId="Visio.Drawing.15">
                  <p:embed/>
                  <p:pic>
                    <p:nvPicPr>
                      <p:cNvPr id="0" name="Object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720" y="1555795"/>
                        <a:ext cx="4676775" cy="336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167371"/>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分析机器人系统组成的目的，是为了能够从系统宏观的角度来对机器人系统进行抽象建模与分析。特别是机器人本体与环境的建模与分析方法，是进行感知、交互、规划与执行等系统设计的基础。</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523220"/>
          </a:xfrm>
          <a:prstGeom prst="rect">
            <a:avLst/>
          </a:prstGeom>
          <a:noFill/>
        </p:spPr>
        <p:txBody>
          <a:bodyPr wrap="square" rtlCol="0" anchor="t">
            <a:spAutoFit/>
          </a:bodyPr>
          <a:lstStyle/>
          <a:p>
            <a:pPr algn="l"/>
            <a:r>
              <a:rPr lang="zh-CN" altLang="en-US" sz="2800" b="1" dirty="0" smtClean="0">
                <a:solidFill>
                  <a:schemeClr val="tx1"/>
                </a:solidFill>
                <a:latin typeface="Arial" panose="020B0604020202020204" pitchFamily="34" charset="0"/>
                <a:ea typeface="微软雅黑" panose="020B0503020204020204" charset="-122"/>
                <a:sym typeface="+mn-ea"/>
              </a:rPr>
              <a:t>机器人系统的组成</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03</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2555776" y="1491630"/>
          <a:ext cx="3832822" cy="2304256"/>
        </p:xfrm>
        <a:graphic>
          <a:graphicData uri="http://schemas.openxmlformats.org/presentationml/2006/ole">
            <mc:AlternateContent xmlns:mc="http://schemas.openxmlformats.org/markup-compatibility/2006">
              <mc:Choice xmlns:v="urn:schemas-microsoft-com:vml" Requires="v">
                <p:oleObj spid="_x0000_s21587" name="Visio" r:id="rId4" imgW="6807200" imgH="4165600" progId="Visio.Drawing.11">
                  <p:embed/>
                </p:oleObj>
              </mc:Choice>
              <mc:Fallback>
                <p:oleObj name="Visio" r:id="rId4" imgW="6807200" imgH="416560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776" y="1491630"/>
                        <a:ext cx="3832822" cy="2304256"/>
                      </a:xfrm>
                      <a:prstGeom prst="rect">
                        <a:avLst/>
                      </a:prstGeom>
                      <a:noFill/>
                    </p:spPr>
                  </p:pic>
                </p:oleObj>
              </mc:Fallback>
            </mc:AlternateContent>
          </a:graphicData>
        </a:graphic>
      </p:graphicFrame>
      <p:grpSp>
        <p:nvGrpSpPr>
          <p:cNvPr id="4" name="组合 3"/>
          <p:cNvGrpSpPr/>
          <p:nvPr/>
        </p:nvGrpSpPr>
        <p:grpSpPr>
          <a:xfrm>
            <a:off x="-236220" y="219075"/>
            <a:ext cx="5153660" cy="598805"/>
            <a:chOff x="-372" y="345"/>
            <a:chExt cx="8116" cy="943"/>
          </a:xfrm>
        </p:grpSpPr>
        <p:sp>
          <p:nvSpPr>
            <p:cNvPr id="5" name="矩形 4"/>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System of Robots</a:t>
              </a:r>
              <a:endParaRPr lang="zh-CN" altLang="en-US" sz="1000" dirty="0">
                <a:solidFill>
                  <a:schemeClr val="tx1"/>
                </a:solidFill>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机器人系统的组成</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2843808" y="954700"/>
            <a:ext cx="3262432" cy="400110"/>
          </a:xfrm>
          <a:prstGeom prst="rect">
            <a:avLst/>
          </a:prstGeom>
        </p:spPr>
        <p:txBody>
          <a:bodyPr wrap="none">
            <a:spAutoFit/>
          </a:bodyPr>
          <a:lstStyle/>
          <a:p>
            <a:r>
              <a:rPr lang="zh-CN" altLang="en-US" sz="2000" dirty="0"/>
              <a:t>机器人系统的体系结构组成</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444370"/>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机器人学的理论基础就是为了研究机器人在空间域、时间域的表征以及求解问题，在</a:t>
            </a:r>
            <a:r>
              <a:rPr lang="en-US" altLang="zh-CN" sz="1200" dirty="0">
                <a:latin typeface="Arial" panose="020B0604020202020204" pitchFamily="34" charset="0"/>
                <a:ea typeface="微软雅黑" panose="020B0503020204020204" charset="-122"/>
                <a:sym typeface="+mn-ea"/>
              </a:rPr>
              <a:t>n</a:t>
            </a:r>
            <a:r>
              <a:rPr lang="zh-CN" altLang="en-US" sz="1200" dirty="0">
                <a:latin typeface="Arial" panose="020B0604020202020204" pitchFamily="34" charset="0"/>
                <a:ea typeface="微软雅黑" panose="020B0503020204020204" charset="-122"/>
                <a:sym typeface="+mn-ea"/>
              </a:rPr>
              <a:t>维空间中描述机器人的位形及其与时间之间的关系，表达为机器人的运动学，而如果还需在时间域描述产生机器人位形变化所需的力和力矩，则表达为机器人的动力学。</a:t>
            </a:r>
          </a:p>
        </p:txBody>
      </p:sp>
      <p:sp>
        <p:nvSpPr>
          <p:cNvPr id="7" name="文本框 6"/>
          <p:cNvSpPr txBox="1"/>
          <p:nvPr/>
        </p:nvSpPr>
        <p:spPr>
          <a:xfrm>
            <a:off x="4319270" y="1951355"/>
            <a:ext cx="3849370"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机器人</a:t>
            </a:r>
            <a:r>
              <a:rPr lang="zh-CN" altLang="en-US" sz="2800" b="1" dirty="0" smtClean="0">
                <a:latin typeface="Arial" panose="020B0604020202020204" pitchFamily="34" charset="0"/>
                <a:ea typeface="微软雅黑" panose="020B0503020204020204" charset="-122"/>
                <a:sym typeface="+mn-ea"/>
              </a:rPr>
              <a:t>位形与位形空间</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04</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584" y="1540680"/>
            <a:ext cx="7704856" cy="2308324"/>
          </a:xfrm>
          <a:prstGeom prst="rect">
            <a:avLst/>
          </a:prstGeom>
        </p:spPr>
        <p:txBody>
          <a:bodyPr wrap="square">
            <a:spAutoFit/>
          </a:bodyPr>
          <a:lstStyle/>
          <a:p>
            <a:pPr>
              <a:lnSpc>
                <a:spcPct val="150000"/>
              </a:lnSpc>
            </a:pPr>
            <a:r>
              <a:rPr lang="zh-CN" altLang="en-US" sz="1600" dirty="0">
                <a:latin typeface="Arial" panose="020B0604020202020204" pitchFamily="34" charset="0"/>
                <a:ea typeface="微软雅黑" panose="020B0503020204020204" charset="-122"/>
                <a:sym typeface="+mn-ea"/>
              </a:rPr>
              <a:t>分析刚体运动，我们首先需要确定参考坐标系。</a:t>
            </a:r>
            <a:r>
              <a:rPr lang="zh-CN" altLang="en-US" sz="1600" dirty="0" smtClean="0">
                <a:latin typeface="Arial" panose="020B0604020202020204" pitchFamily="34" charset="0"/>
                <a:ea typeface="微软雅黑" panose="020B0503020204020204" charset="-122"/>
                <a:sym typeface="+mn-ea"/>
              </a:rPr>
              <a:t>机器人</a:t>
            </a:r>
            <a:r>
              <a:rPr lang="zh-CN" altLang="en-US" sz="1600" dirty="0">
                <a:latin typeface="Arial" panose="020B0604020202020204" pitchFamily="34" charset="0"/>
                <a:ea typeface="微软雅黑" panose="020B0503020204020204" charset="-122"/>
                <a:sym typeface="+mn-ea"/>
              </a:rPr>
              <a:t>参考坐标系，通常</a:t>
            </a:r>
            <a:r>
              <a:rPr lang="zh-CN" altLang="en-US" sz="1600" dirty="0" smtClean="0">
                <a:latin typeface="Arial" panose="020B0604020202020204" pitchFamily="34" charset="0"/>
                <a:ea typeface="微软雅黑" panose="020B0503020204020204" charset="-122"/>
                <a:sym typeface="+mn-ea"/>
              </a:rPr>
              <a:t>使用的有：</a:t>
            </a:r>
            <a:endParaRPr lang="en-US" altLang="zh-CN" sz="1600" dirty="0" smtClean="0">
              <a:latin typeface="Arial" panose="020B0604020202020204" pitchFamily="34" charset="0"/>
              <a:ea typeface="微软雅黑" panose="020B0503020204020204" charset="-122"/>
              <a:sym typeface="+mn-ea"/>
            </a:endParaRPr>
          </a:p>
          <a:p>
            <a:pPr marL="285750" indent="-285750">
              <a:lnSpc>
                <a:spcPct val="150000"/>
              </a:lnSpc>
              <a:buFont typeface="Wingdings" panose="05000000000000000000" pitchFamily="2" charset="2"/>
              <a:buChar char="Ø"/>
            </a:pPr>
            <a:r>
              <a:rPr lang="zh-CN" altLang="en-US" sz="1600" b="1" dirty="0" smtClean="0">
                <a:solidFill>
                  <a:srgbClr val="FF0000"/>
                </a:solidFill>
                <a:latin typeface="Arial" panose="020B0604020202020204" pitchFamily="34" charset="0"/>
                <a:ea typeface="微软雅黑" panose="020B0503020204020204" charset="-122"/>
                <a:sym typeface="+mn-ea"/>
              </a:rPr>
              <a:t>三维空间</a:t>
            </a:r>
            <a:r>
              <a:rPr lang="zh-CN" altLang="en-US" sz="1600" b="1" dirty="0">
                <a:solidFill>
                  <a:srgbClr val="FF0000"/>
                </a:solidFill>
                <a:latin typeface="Arial" panose="020B0604020202020204" pitchFamily="34" charset="0"/>
                <a:ea typeface="微软雅黑" panose="020B0503020204020204" charset="-122"/>
                <a:sym typeface="+mn-ea"/>
              </a:rPr>
              <a:t>坐标系</a:t>
            </a:r>
            <a:r>
              <a:rPr lang="en-US" altLang="zh-CN" sz="1600" dirty="0">
                <a:latin typeface="Arial" panose="020B0604020202020204" pitchFamily="34" charset="0"/>
                <a:ea typeface="微软雅黑" panose="020B0503020204020204" charset="-122"/>
                <a:sym typeface="+mn-ea"/>
              </a:rPr>
              <a:t>(</a:t>
            </a:r>
            <a:r>
              <a:rPr lang="zh-CN" altLang="en-US" sz="1600" dirty="0">
                <a:solidFill>
                  <a:srgbClr val="FF0000"/>
                </a:solidFill>
                <a:latin typeface="Arial" panose="020B0604020202020204" pitchFamily="34" charset="0"/>
                <a:ea typeface="微软雅黑" panose="020B0503020204020204" charset="-122"/>
                <a:sym typeface="+mn-ea"/>
              </a:rPr>
              <a:t>笛卡尔坐标系</a:t>
            </a:r>
            <a:r>
              <a:rPr lang="zh-CN" altLang="en-US" sz="1600" dirty="0">
                <a:latin typeface="Arial" panose="020B0604020202020204" pitchFamily="34" charset="0"/>
                <a:ea typeface="微软雅黑" panose="020B0503020204020204" charset="-122"/>
                <a:sym typeface="+mn-ea"/>
              </a:rPr>
              <a:t>，</a:t>
            </a:r>
            <a:r>
              <a:rPr lang="en-US" altLang="zh-CN" sz="1600" dirty="0">
                <a:latin typeface="Arial" panose="020B0604020202020204" pitchFamily="34" charset="0"/>
                <a:ea typeface="微软雅黑" panose="020B0503020204020204" charset="-122"/>
                <a:sym typeface="+mn-ea"/>
              </a:rPr>
              <a:t>Cartesian coordinate system</a:t>
            </a:r>
            <a:r>
              <a:rPr lang="zh-CN" altLang="en-US" sz="1600" dirty="0">
                <a:latin typeface="Arial" panose="020B0604020202020204" pitchFamily="34" charset="0"/>
                <a:ea typeface="微软雅黑" panose="020B0503020204020204" charset="-122"/>
                <a:sym typeface="+mn-ea"/>
              </a:rPr>
              <a:t>，也称直角坐标系</a:t>
            </a:r>
            <a:r>
              <a:rPr lang="en-US" altLang="zh-CN" sz="1600" dirty="0" smtClean="0">
                <a:latin typeface="Arial" panose="020B0604020202020204" pitchFamily="34" charset="0"/>
                <a:ea typeface="微软雅黑" panose="020B0503020204020204" charset="-122"/>
                <a:sym typeface="+mn-ea"/>
              </a:rPr>
              <a:t>)</a:t>
            </a:r>
            <a:r>
              <a:rPr lang="zh-CN" altLang="en-US" sz="1600" dirty="0" smtClean="0">
                <a:latin typeface="Arial" panose="020B0604020202020204" pitchFamily="34" charset="0"/>
                <a:ea typeface="微软雅黑" panose="020B0503020204020204" charset="-122"/>
                <a:sym typeface="+mn-ea"/>
              </a:rPr>
              <a:t>。</a:t>
            </a:r>
            <a:endParaRPr lang="en-US" altLang="zh-CN" sz="1600" dirty="0" smtClean="0">
              <a:latin typeface="Arial" panose="020B0604020202020204" pitchFamily="34" charset="0"/>
              <a:ea typeface="微软雅黑" panose="020B0503020204020204" charset="-122"/>
              <a:sym typeface="+mn-ea"/>
            </a:endParaRPr>
          </a:p>
          <a:p>
            <a:pPr>
              <a:lnSpc>
                <a:spcPct val="150000"/>
              </a:lnSpc>
            </a:pPr>
            <a:r>
              <a:rPr lang="zh-CN" altLang="en-US" sz="1600" dirty="0" smtClean="0">
                <a:latin typeface="Arial" panose="020B0604020202020204" pitchFamily="34" charset="0"/>
                <a:ea typeface="微软雅黑" panose="020B0503020204020204" charset="-122"/>
                <a:sym typeface="+mn-ea"/>
              </a:rPr>
              <a:t>除此之外，我们还会用到下面的坐标系：</a:t>
            </a:r>
            <a:endParaRPr lang="en-US" altLang="zh-CN" sz="1600" dirty="0" smtClean="0">
              <a:latin typeface="Arial" panose="020B0604020202020204" pitchFamily="34" charset="0"/>
              <a:ea typeface="微软雅黑" panose="020B0503020204020204" charset="-122"/>
              <a:sym typeface="+mn-ea"/>
            </a:endParaRPr>
          </a:p>
          <a:p>
            <a:pPr marL="285750" indent="-285750">
              <a:lnSpc>
                <a:spcPct val="150000"/>
              </a:lnSpc>
              <a:buFont typeface="Wingdings" panose="05000000000000000000" pitchFamily="2" charset="2"/>
              <a:buChar char="Ø"/>
            </a:pPr>
            <a:r>
              <a:rPr lang="zh-CN" altLang="en-US" sz="1600" b="1" dirty="0" smtClean="0">
                <a:solidFill>
                  <a:srgbClr val="002060"/>
                </a:solidFill>
                <a:latin typeface="Arial" panose="020B0604020202020204" pitchFamily="34" charset="0"/>
                <a:ea typeface="微软雅黑" panose="020B0503020204020204" charset="-122"/>
                <a:sym typeface="+mn-ea"/>
              </a:rPr>
              <a:t>齐次坐标</a:t>
            </a:r>
            <a:r>
              <a:rPr lang="zh-CN" altLang="en-US" sz="1600" b="1" dirty="0">
                <a:solidFill>
                  <a:srgbClr val="002060"/>
                </a:solidFill>
                <a:latin typeface="Arial" panose="020B0604020202020204" pitchFamily="34" charset="0"/>
                <a:ea typeface="微软雅黑" panose="020B0503020204020204" charset="-122"/>
                <a:sym typeface="+mn-ea"/>
              </a:rPr>
              <a:t>系</a:t>
            </a:r>
            <a:r>
              <a:rPr lang="zh-CN" altLang="en-US" sz="1600" dirty="0">
                <a:latin typeface="Arial" panose="020B0604020202020204" pitchFamily="34" charset="0"/>
                <a:ea typeface="微软雅黑" panose="020B0503020204020204" charset="-122"/>
                <a:sym typeface="+mn-ea"/>
              </a:rPr>
              <a:t>（</a:t>
            </a:r>
            <a:r>
              <a:rPr lang="en-US" altLang="zh-CN" sz="1600" dirty="0">
                <a:latin typeface="Arial" panose="020B0604020202020204" pitchFamily="34" charset="0"/>
                <a:ea typeface="微软雅黑" panose="020B0503020204020204" charset="-122"/>
                <a:sym typeface="+mn-ea"/>
              </a:rPr>
              <a:t>Homogeneous Coordinates System</a:t>
            </a:r>
            <a:r>
              <a:rPr lang="zh-CN" altLang="en-US" sz="1600" dirty="0" smtClean="0">
                <a:latin typeface="Arial" panose="020B0604020202020204" pitchFamily="34" charset="0"/>
                <a:ea typeface="微软雅黑" panose="020B0503020204020204" charset="-122"/>
                <a:sym typeface="+mn-ea"/>
              </a:rPr>
              <a:t>）</a:t>
            </a:r>
            <a:endParaRPr lang="en-US" altLang="zh-CN" sz="1600" dirty="0" smtClean="0">
              <a:latin typeface="Arial" panose="020B0604020202020204" pitchFamily="34" charset="0"/>
              <a:ea typeface="微软雅黑" panose="020B0503020204020204" charset="-122"/>
              <a:sym typeface="+mn-ea"/>
            </a:endParaRPr>
          </a:p>
          <a:p>
            <a:pPr marL="285750" indent="-285750">
              <a:lnSpc>
                <a:spcPct val="150000"/>
              </a:lnSpc>
              <a:buFont typeface="Wingdings" panose="05000000000000000000" pitchFamily="2" charset="2"/>
              <a:buChar char="Ø"/>
            </a:pPr>
            <a:r>
              <a:rPr lang="zh-CN" altLang="en-US" sz="1600" b="1" dirty="0" smtClean="0">
                <a:solidFill>
                  <a:srgbClr val="7030A0"/>
                </a:solidFill>
                <a:latin typeface="Arial" panose="020B0604020202020204" pitchFamily="34" charset="0"/>
                <a:ea typeface="微软雅黑" panose="020B0503020204020204" charset="-122"/>
                <a:sym typeface="+mn-ea"/>
              </a:rPr>
              <a:t>指数</a:t>
            </a:r>
            <a:r>
              <a:rPr lang="zh-CN" altLang="en-US" sz="1600" b="1" dirty="0">
                <a:solidFill>
                  <a:srgbClr val="7030A0"/>
                </a:solidFill>
                <a:latin typeface="Arial" panose="020B0604020202020204" pitchFamily="34" charset="0"/>
                <a:ea typeface="微软雅黑" panose="020B0503020204020204" charset="-122"/>
                <a:sym typeface="+mn-ea"/>
              </a:rPr>
              <a:t>坐标</a:t>
            </a:r>
            <a:r>
              <a:rPr lang="en-US" altLang="zh-CN" sz="1600" dirty="0">
                <a:latin typeface="Arial" panose="020B0604020202020204" pitchFamily="34" charset="0"/>
                <a:ea typeface="微软雅黑" panose="020B0503020204020204" charset="-122"/>
                <a:sym typeface="+mn-ea"/>
              </a:rPr>
              <a:t>(Exponential coordinate</a:t>
            </a:r>
            <a:r>
              <a:rPr lang="en-US" altLang="zh-CN" sz="1600" dirty="0" smtClean="0">
                <a:latin typeface="Arial" panose="020B0604020202020204" pitchFamily="34" charset="0"/>
                <a:ea typeface="微软雅黑" panose="020B0503020204020204" charset="-122"/>
                <a:sym typeface="+mn-ea"/>
              </a:rPr>
              <a:t>)</a:t>
            </a:r>
          </a:p>
          <a:p>
            <a:pPr marL="285750" indent="-285750">
              <a:lnSpc>
                <a:spcPct val="150000"/>
              </a:lnSpc>
              <a:buFont typeface="Wingdings" panose="05000000000000000000" pitchFamily="2" charset="2"/>
              <a:buChar char="Ø"/>
            </a:pPr>
            <a:r>
              <a:rPr lang="zh-CN" altLang="en-US" sz="1600" b="1" dirty="0" smtClean="0">
                <a:solidFill>
                  <a:srgbClr val="00C0A9"/>
                </a:solidFill>
                <a:latin typeface="Arial" panose="020B0604020202020204" pitchFamily="34" charset="0"/>
                <a:ea typeface="微软雅黑" panose="020B0503020204020204" charset="-122"/>
                <a:sym typeface="+mn-ea"/>
              </a:rPr>
              <a:t>普吕克坐标</a:t>
            </a:r>
            <a:r>
              <a:rPr lang="zh-CN" altLang="en-US" sz="1600" b="1" dirty="0">
                <a:solidFill>
                  <a:srgbClr val="00C0A9"/>
                </a:solidFill>
                <a:latin typeface="Arial" panose="020B0604020202020204" pitchFamily="34" charset="0"/>
                <a:ea typeface="微软雅黑" panose="020B0503020204020204" charset="-122"/>
                <a:sym typeface="+mn-ea"/>
              </a:rPr>
              <a:t>系</a:t>
            </a:r>
            <a:r>
              <a:rPr lang="en-US" altLang="zh-CN" sz="1600" dirty="0">
                <a:latin typeface="Arial" panose="020B0604020202020204" pitchFamily="34" charset="0"/>
                <a:ea typeface="微软雅黑" panose="020B0503020204020204" charset="-122"/>
                <a:sym typeface="+mn-ea"/>
              </a:rPr>
              <a:t>(</a:t>
            </a:r>
            <a:r>
              <a:rPr lang="en-US" altLang="zh-CN" sz="1600" dirty="0" err="1">
                <a:latin typeface="Arial" panose="020B0604020202020204" pitchFamily="34" charset="0"/>
                <a:ea typeface="微软雅黑" panose="020B0503020204020204" charset="-122"/>
                <a:sym typeface="+mn-ea"/>
              </a:rPr>
              <a:t>PlÜcker</a:t>
            </a:r>
            <a:r>
              <a:rPr lang="en-US" altLang="zh-CN" sz="1600" dirty="0">
                <a:latin typeface="Arial" panose="020B0604020202020204" pitchFamily="34" charset="0"/>
                <a:ea typeface="微软雅黑" panose="020B0503020204020204" charset="-122"/>
                <a:sym typeface="+mn-ea"/>
              </a:rPr>
              <a:t> Coordinates</a:t>
            </a:r>
            <a:r>
              <a:rPr lang="en-US" altLang="zh-CN" sz="1600" dirty="0" smtClean="0">
                <a:latin typeface="Arial" panose="020B0604020202020204" pitchFamily="34" charset="0"/>
                <a:ea typeface="微软雅黑" panose="020B0503020204020204" charset="-122"/>
                <a:sym typeface="+mn-ea"/>
              </a:rPr>
              <a:t>)</a:t>
            </a:r>
          </a:p>
        </p:txBody>
      </p:sp>
      <p:sp>
        <p:nvSpPr>
          <p:cNvPr id="7" name="文本框 6"/>
          <p:cNvSpPr txBox="1"/>
          <p:nvPr/>
        </p:nvSpPr>
        <p:spPr>
          <a:xfrm>
            <a:off x="2607162" y="656060"/>
            <a:ext cx="3637106" cy="523220"/>
          </a:xfrm>
          <a:prstGeom prst="rect">
            <a:avLst/>
          </a:prstGeom>
          <a:noFill/>
        </p:spPr>
        <p:txBody>
          <a:bodyPr wrap="square" rtlCol="0" anchor="t">
            <a:spAutoFit/>
          </a:bodyPr>
          <a:lstStyle/>
          <a:p>
            <a:pPr algn="l"/>
            <a:r>
              <a:rPr lang="zh-CN" altLang="en-US" sz="2800" b="1" dirty="0" smtClean="0">
                <a:latin typeface="Arial" panose="020B0604020202020204" pitchFamily="34" charset="0"/>
                <a:ea typeface="微软雅黑" panose="020B0503020204020204" charset="-122"/>
                <a:sym typeface="+mn-ea"/>
              </a:rPr>
              <a:t>机器人坐标系与位姿</a:t>
            </a:r>
            <a:endParaRPr lang="zh-CN" altLang="en-US" sz="2400" b="1" dirty="0">
              <a:solidFill>
                <a:schemeClr val="tx1"/>
              </a:solidFill>
              <a:latin typeface="Arial" panose="020B0604020202020204" pitchFamily="34" charset="0"/>
              <a:ea typeface="微软雅黑" panose="020B0503020204020204" charset="-122"/>
              <a:sym typeface="+mn-ea"/>
            </a:endParaRPr>
          </a:p>
        </p:txBody>
      </p:sp>
      <p:grpSp>
        <p:nvGrpSpPr>
          <p:cNvPr id="8" name="组合 7"/>
          <p:cNvGrpSpPr/>
          <p:nvPr/>
        </p:nvGrpSpPr>
        <p:grpSpPr>
          <a:xfrm>
            <a:off x="-236220" y="219075"/>
            <a:ext cx="5153660" cy="598805"/>
            <a:chOff x="-372" y="345"/>
            <a:chExt cx="8116" cy="943"/>
          </a:xfrm>
        </p:grpSpPr>
        <p:sp>
          <p:nvSpPr>
            <p:cNvPr id="9" name="矩形 8"/>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矩形 3"/>
          <p:cNvSpPr/>
          <p:nvPr/>
        </p:nvSpPr>
        <p:spPr>
          <a:xfrm>
            <a:off x="1547664" y="4128055"/>
            <a:ext cx="6264696" cy="507831"/>
          </a:xfrm>
          <a:prstGeom prst="rect">
            <a:avLst/>
          </a:prstGeom>
        </p:spPr>
        <p:txBody>
          <a:bodyPr wrap="square">
            <a:spAutoFit/>
          </a:bodyPr>
          <a:lstStyle/>
          <a:p>
            <a:pPr>
              <a:lnSpc>
                <a:spcPct val="150000"/>
              </a:lnSpc>
            </a:pPr>
            <a:r>
              <a:rPr lang="zh-CN" altLang="en-US" dirty="0">
                <a:latin typeface="Arial" panose="020B0604020202020204" pitchFamily="34" charset="0"/>
                <a:ea typeface="微软雅黑" panose="020B0503020204020204" charset="-122"/>
                <a:sym typeface="+mn-ea"/>
              </a:rPr>
              <a:t>机器人位姿</a:t>
            </a:r>
            <a:r>
              <a:rPr lang="en-US" altLang="zh-CN" dirty="0">
                <a:latin typeface="Arial" panose="020B0604020202020204" pitchFamily="34" charset="0"/>
                <a:ea typeface="微软雅黑" panose="020B0503020204020204" charset="-122"/>
                <a:sym typeface="+mn-ea"/>
              </a:rPr>
              <a:t>(Pose)</a:t>
            </a:r>
            <a:r>
              <a:rPr lang="zh-CN" altLang="en-US" dirty="0">
                <a:latin typeface="Arial" panose="020B0604020202020204" pitchFamily="34" charset="0"/>
                <a:ea typeface="微软雅黑" panose="020B0503020204020204" charset="-122"/>
                <a:sym typeface="+mn-ea"/>
              </a:rPr>
              <a:t>，即位置</a:t>
            </a:r>
            <a:r>
              <a:rPr lang="en-US" altLang="zh-CN" dirty="0">
                <a:latin typeface="Arial" panose="020B0604020202020204" pitchFamily="34" charset="0"/>
                <a:ea typeface="微软雅黑" panose="020B0503020204020204" charset="-122"/>
                <a:sym typeface="+mn-ea"/>
              </a:rPr>
              <a:t>(position)</a:t>
            </a:r>
            <a:r>
              <a:rPr lang="zh-CN" altLang="en-US" dirty="0">
                <a:latin typeface="Arial" panose="020B0604020202020204" pitchFamily="34" charset="0"/>
                <a:ea typeface="微软雅黑" panose="020B0503020204020204" charset="-122"/>
                <a:sym typeface="+mn-ea"/>
              </a:rPr>
              <a:t>和姿态</a:t>
            </a:r>
            <a:r>
              <a:rPr lang="en-US" altLang="zh-CN" dirty="0">
                <a:latin typeface="Arial" panose="020B0604020202020204" pitchFamily="34" charset="0"/>
                <a:ea typeface="微软雅黑" panose="020B0503020204020204" charset="-122"/>
                <a:sym typeface="+mn-ea"/>
              </a:rPr>
              <a:t>(Orientation</a:t>
            </a:r>
            <a:r>
              <a:rPr lang="en-US" altLang="zh-CN" dirty="0" smtClean="0">
                <a:latin typeface="Arial" panose="020B0604020202020204" pitchFamily="34" charset="0"/>
                <a:ea typeface="微软雅黑" panose="020B0503020204020204" charset="-122"/>
                <a:sym typeface="+mn-ea"/>
              </a:rPr>
              <a:t>)</a:t>
            </a:r>
            <a:endParaRPr lang="zh-CN" altLang="en-US" dirty="0">
              <a:latin typeface="Arial" panose="020B0604020202020204" pitchFamily="34" charset="0"/>
              <a:ea typeface="微软雅黑" panose="020B0503020204020204" charset="-122"/>
              <a:sym typeface="+mn-ea"/>
            </a:endParaRPr>
          </a:p>
        </p:txBody>
      </p:sp>
      <p:sp>
        <p:nvSpPr>
          <p:cNvPr id="12" name="矩形 11"/>
          <p:cNvSpPr/>
          <p:nvPr/>
        </p:nvSpPr>
        <p:spPr>
          <a:xfrm>
            <a:off x="2384130" y="1032849"/>
            <a:ext cx="4083169" cy="507831"/>
          </a:xfrm>
          <a:prstGeom prst="rect">
            <a:avLst/>
          </a:prstGeom>
        </p:spPr>
        <p:txBody>
          <a:bodyPr wrap="none">
            <a:spAutoFit/>
          </a:bodyPr>
          <a:lstStyle/>
          <a:p>
            <a:pPr>
              <a:lnSpc>
                <a:spcPct val="150000"/>
              </a:lnSpc>
            </a:pPr>
            <a:r>
              <a:rPr lang="en-US" altLang="zh-CN" dirty="0">
                <a:latin typeface="Arial" panose="020B0604020202020204" pitchFamily="34" charset="0"/>
                <a:ea typeface="微软雅黑" panose="020B0503020204020204" charset="-122"/>
                <a:sym typeface="+mn-ea"/>
              </a:rPr>
              <a:t>Coordinate system and Pose of Robot</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3"/>
          <a:stretch>
            <a:fillRect/>
          </a:stretch>
        </p:blipFill>
        <p:spPr>
          <a:xfrm>
            <a:off x="2123728" y="1860190"/>
            <a:ext cx="1647825" cy="1461135"/>
          </a:xfrm>
          <a:prstGeom prst="rect">
            <a:avLst/>
          </a:prstGeom>
        </p:spPr>
      </p:pic>
      <p:pic>
        <p:nvPicPr>
          <p:cNvPr id="3" name="图片 2"/>
          <p:cNvPicPr/>
          <p:nvPr/>
        </p:nvPicPr>
        <p:blipFill>
          <a:blip r:embed="rId4"/>
          <a:stretch>
            <a:fillRect/>
          </a:stretch>
        </p:blipFill>
        <p:spPr>
          <a:xfrm>
            <a:off x="4860032" y="1860190"/>
            <a:ext cx="1304503" cy="1461135"/>
          </a:xfrm>
          <a:prstGeom prst="rect">
            <a:avLst/>
          </a:prstGeom>
        </p:spPr>
      </p:pic>
      <p:sp>
        <p:nvSpPr>
          <p:cNvPr id="8" name="矩形 7"/>
          <p:cNvSpPr/>
          <p:nvPr/>
        </p:nvSpPr>
        <p:spPr>
          <a:xfrm>
            <a:off x="2123728" y="3435846"/>
            <a:ext cx="4320480" cy="246221"/>
          </a:xfrm>
          <a:prstGeom prst="rect">
            <a:avLst/>
          </a:prstGeom>
        </p:spPr>
        <p:txBody>
          <a:bodyPr wrap="square">
            <a:spAutoFit/>
          </a:bodyPr>
          <a:lstStyle/>
          <a:p>
            <a:r>
              <a:rPr lang="zh-CN" altLang="zh-CN" sz="1000" dirty="0">
                <a:latin typeface="Cambria Math" panose="02040503050406030204" pitchFamily="18" charset="0"/>
                <a:cs typeface="Times New Roman" panose="02020603050405020304" pitchFamily="18" charset="0"/>
              </a:rPr>
              <a:t>（</a:t>
            </a:r>
            <a:r>
              <a:rPr lang="en-US" altLang="zh-CN" sz="1000" dirty="0">
                <a:latin typeface="Cambria Math" panose="02040503050406030204" pitchFamily="18" charset="0"/>
                <a:cs typeface="Times New Roman" panose="02020603050405020304" pitchFamily="18" charset="0"/>
              </a:rPr>
              <a:t>a</a:t>
            </a:r>
            <a:r>
              <a:rPr lang="zh-CN" altLang="zh-CN" sz="1000" dirty="0">
                <a:latin typeface="Cambria Math" panose="02040503050406030204" pitchFamily="18" charset="0"/>
                <a:cs typeface="Times New Roman" panose="02020603050405020304" pitchFamily="18" charset="0"/>
              </a:rPr>
              <a:t>）右手坐标系</a:t>
            </a:r>
            <a:r>
              <a:rPr lang="zh-CN" altLang="zh-CN" sz="1000" dirty="0" smtClean="0">
                <a:latin typeface="Cambria Math" panose="02040503050406030204" pitchFamily="18" charset="0"/>
                <a:cs typeface="Times New Roman" panose="02020603050405020304" pitchFamily="18" charset="0"/>
              </a:rPr>
              <a:t>法则</a:t>
            </a:r>
            <a:r>
              <a:rPr lang="en-US" altLang="zh-CN" sz="1000" dirty="0" smtClean="0">
                <a:latin typeface="Cambria Math" panose="02040503050406030204" pitchFamily="18" charset="0"/>
                <a:cs typeface="Times New Roman" panose="02020603050405020304" pitchFamily="18" charset="0"/>
              </a:rPr>
              <a:t>                                     (</a:t>
            </a:r>
            <a:r>
              <a:rPr lang="en-US" altLang="zh-CN" sz="1000" dirty="0">
                <a:latin typeface="Cambria Math" panose="02040503050406030204" pitchFamily="18" charset="0"/>
                <a:cs typeface="Times New Roman" panose="02020603050405020304" pitchFamily="18" charset="0"/>
              </a:rPr>
              <a:t>b)</a:t>
            </a:r>
            <a:r>
              <a:rPr lang="zh-CN" altLang="zh-CN" sz="1000" dirty="0">
                <a:latin typeface="Cambria Math" panose="02040503050406030204" pitchFamily="18" charset="0"/>
                <a:cs typeface="Times New Roman" panose="02020603050405020304" pitchFamily="18" charset="0"/>
              </a:rPr>
              <a:t>右手坐标系的正向运动定义</a:t>
            </a:r>
            <a:endParaRPr lang="zh-CN" altLang="en-US" sz="1000" dirty="0"/>
          </a:p>
        </p:txBody>
      </p:sp>
      <p:sp>
        <p:nvSpPr>
          <p:cNvPr id="9" name="矩形 8"/>
          <p:cNvSpPr/>
          <p:nvPr/>
        </p:nvSpPr>
        <p:spPr>
          <a:xfrm>
            <a:off x="2932796" y="743806"/>
            <a:ext cx="3416320" cy="523220"/>
          </a:xfrm>
          <a:prstGeom prst="rect">
            <a:avLst/>
          </a:prstGeom>
        </p:spPr>
        <p:txBody>
          <a:bodyPr wrap="none">
            <a:spAutoFit/>
          </a:bodyPr>
          <a:lstStyle/>
          <a:p>
            <a:r>
              <a:rPr lang="zh-CN" altLang="en-US" sz="2800" b="1" dirty="0">
                <a:latin typeface="Arial" panose="020B0604020202020204" pitchFamily="34" charset="0"/>
                <a:ea typeface="微软雅黑" panose="020B0503020204020204" charset="-122"/>
                <a:sym typeface="+mn-ea"/>
              </a:rPr>
              <a:t>机器人坐标系与位姿</a:t>
            </a:r>
          </a:p>
        </p:txBody>
      </p:sp>
      <p:sp>
        <p:nvSpPr>
          <p:cNvPr id="10" name="矩形 9"/>
          <p:cNvSpPr/>
          <p:nvPr/>
        </p:nvSpPr>
        <p:spPr>
          <a:xfrm>
            <a:off x="2599372" y="1176521"/>
            <a:ext cx="4083169" cy="507831"/>
          </a:xfrm>
          <a:prstGeom prst="rect">
            <a:avLst/>
          </a:prstGeom>
        </p:spPr>
        <p:txBody>
          <a:bodyPr wrap="none">
            <a:spAutoFit/>
          </a:bodyPr>
          <a:lstStyle/>
          <a:p>
            <a:pPr>
              <a:lnSpc>
                <a:spcPct val="150000"/>
              </a:lnSpc>
            </a:pPr>
            <a:r>
              <a:rPr lang="en-US" altLang="zh-CN" dirty="0">
                <a:latin typeface="Arial" panose="020B0604020202020204" pitchFamily="34" charset="0"/>
                <a:ea typeface="微软雅黑" panose="020B0503020204020204" charset="-122"/>
                <a:sym typeface="+mn-ea"/>
              </a:rPr>
              <a:t>Coordinate system and Pose of Robot</a:t>
            </a:r>
          </a:p>
        </p:txBody>
      </p:sp>
      <p:grpSp>
        <p:nvGrpSpPr>
          <p:cNvPr id="11" name="组合 10"/>
          <p:cNvGrpSpPr/>
          <p:nvPr/>
        </p:nvGrpSpPr>
        <p:grpSpPr>
          <a:xfrm>
            <a:off x="-236220" y="219075"/>
            <a:ext cx="5153660" cy="598805"/>
            <a:chOff x="-372" y="345"/>
            <a:chExt cx="8116" cy="943"/>
          </a:xfrm>
        </p:grpSpPr>
        <p:sp>
          <p:nvSpPr>
            <p:cNvPr id="12" name="矩形 11"/>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3" name="文本框 12"/>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4" name="椭圆 1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251520" y="2067694"/>
          <a:ext cx="1276350" cy="914400"/>
        </p:xfrm>
        <a:graphic>
          <a:graphicData uri="http://schemas.openxmlformats.org/presentationml/2006/ole">
            <mc:AlternateContent xmlns:mc="http://schemas.openxmlformats.org/markup-compatibility/2006">
              <mc:Choice xmlns:v="urn:schemas-microsoft-com:vml" Requires="v">
                <p:oleObj spid="_x0000_s23679" name="公式" r:id="rId4" imgW="1270000" imgH="914400" progId="Equation.3">
                  <p:embed/>
                </p:oleObj>
              </mc:Choice>
              <mc:Fallback>
                <p:oleObj name="公式" r:id="rId4" imgW="1270000" imgH="914400"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20" y="2067694"/>
                        <a:ext cx="127635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1826403" y="2046311"/>
          <a:ext cx="1466850" cy="914400"/>
        </p:xfrm>
        <a:graphic>
          <a:graphicData uri="http://schemas.openxmlformats.org/presentationml/2006/ole">
            <mc:AlternateContent xmlns:mc="http://schemas.openxmlformats.org/markup-compatibility/2006">
              <mc:Choice xmlns:v="urn:schemas-microsoft-com:vml" Requires="v">
                <p:oleObj spid="_x0000_s23680" name="公式" r:id="rId6" imgW="1485900" imgH="914400" progId="Equation.3">
                  <p:embed/>
                </p:oleObj>
              </mc:Choice>
              <mc:Fallback>
                <p:oleObj name="公式" r:id="rId6" imgW="1485900" imgH="914400" progId="Equation.3">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6403" y="2046311"/>
                        <a:ext cx="146685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3" name="矩形 12"/>
              <p:cNvSpPr/>
              <p:nvPr/>
            </p:nvSpPr>
            <p:spPr>
              <a:xfrm>
                <a:off x="3131840" y="1903988"/>
                <a:ext cx="6264696" cy="11990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𝑇</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4"/>
                                    <m:mcJc m:val="center"/>
                                  </m:mcPr>
                                </m:mc>
                              </m:mcs>
                              <m:ctrlPr>
                                <a:rPr lang="zh-CN" altLang="en-US" i="1">
                                  <a:latin typeface="Cambria Math" panose="02040503050406030204" pitchFamily="18" charset="0"/>
                                </a:rPr>
                              </m:ctrlPr>
                            </m:mPr>
                            <m:mr>
                              <m:e/>
                              <m:e/>
                              <m:e/>
                              <m:e/>
                            </m:mr>
                            <m:mr>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3×3</m:t>
                                    </m:r>
                                  </m:sub>
                                </m:sSub>
                              </m:e>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3×1</m:t>
                                    </m:r>
                                  </m:sub>
                                </m:sSub>
                              </m:e>
                            </m:mr>
                            <m:mr>
                              <m:e/>
                              <m:e/>
                              <m:e/>
                              <m:e/>
                            </m:mr>
                            <m:mr>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0">
                                        <a:latin typeface="Cambria Math" panose="02040503050406030204" pitchFamily="18" charset="0"/>
                                      </a:rPr>
                                      <m:t>1×3</m:t>
                                    </m:r>
                                  </m:sub>
                                </m:sSub>
                              </m:e>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0">
                                        <a:latin typeface="Cambria Math" panose="02040503050406030204" pitchFamily="18" charset="0"/>
                                      </a:rPr>
                                      <m:t>1×1</m:t>
                                    </m:r>
                                  </m:sub>
                                </m:sSub>
                              </m:e>
                            </m:mr>
                          </m:m>
                        </m:e>
                      </m:d>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旋转矩阵</m:t>
                                </m:r>
                              </m:e>
                              <m:e>
                                <m:r>
                                  <a:rPr lang="zh-CN" altLang="en-US" i="0">
                                    <a:latin typeface="Cambria Math" panose="02040503050406030204" pitchFamily="18" charset="0"/>
                                  </a:rPr>
                                  <m:t>位置矢量</m:t>
                                </m:r>
                              </m:e>
                            </m:mr>
                            <m:mr>
                              <m:e>
                                <m:r>
                                  <a:rPr lang="zh-CN" altLang="en-US" i="0">
                                    <a:latin typeface="Cambria Math" panose="02040503050406030204" pitchFamily="18" charset="0"/>
                                  </a:rPr>
                                  <m:t>透视矩阵</m:t>
                                </m:r>
                              </m:e>
                              <m:e>
                                <m:r>
                                  <a:rPr lang="zh-CN" altLang="en-US" i="0">
                                    <a:latin typeface="Cambria Math" panose="02040503050406030204" pitchFamily="18" charset="0"/>
                                  </a:rPr>
                                  <m:t>比例系数</m:t>
                                </m:r>
                              </m:e>
                            </m:mr>
                          </m:m>
                        </m:e>
                      </m:d>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3131840" y="1903988"/>
                <a:ext cx="6264696" cy="1199046"/>
              </a:xfrm>
              <a:prstGeom prst="rect">
                <a:avLst/>
              </a:prstGeom>
              <a:blipFill rotWithShape="1">
                <a:blip r:embed="rId8"/>
                <a:stretch>
                  <a:fillRect t="-22" r="7" b="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2599372" y="3651870"/>
                <a:ext cx="2406172" cy="824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3×3</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𝑥</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𝜈</m:t>
                                    </m:r>
                                  </m:e>
                                  <m:sub>
                                    <m:r>
                                      <a:rPr lang="zh-CN" altLang="en-US" i="1">
                                        <a:latin typeface="Cambria Math" panose="02040503050406030204" pitchFamily="18" charset="0"/>
                                      </a:rPr>
                                      <m:t>𝑥</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𝑥</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𝜈</m:t>
                                    </m:r>
                                  </m:e>
                                  <m:sub>
                                    <m:r>
                                      <a:rPr lang="zh-CN" altLang="en-US" i="1">
                                        <a:latin typeface="Cambria Math" panose="02040503050406030204" pitchFamily="18" charset="0"/>
                                      </a:rPr>
                                      <m:t>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𝑦</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𝜈</m:t>
                                    </m:r>
                                  </m:e>
                                  <m:sub>
                                    <m:r>
                                      <a:rPr lang="zh-CN" altLang="en-US" i="1">
                                        <a:latin typeface="Cambria Math" panose="02040503050406030204" pitchFamily="18" charset="0"/>
                                      </a:rPr>
                                      <m:t>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𝑧</m:t>
                                    </m:r>
                                  </m:sub>
                                </m:sSub>
                              </m:e>
                            </m:mr>
                          </m:m>
                        </m:e>
                      </m:d>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2599372" y="3651870"/>
                <a:ext cx="2406172" cy="824136"/>
              </a:xfrm>
              <a:prstGeom prst="rect">
                <a:avLst/>
              </a:prstGeom>
              <a:blipFill rotWithShape="1">
                <a:blip r:embed="rId9"/>
                <a:stretch>
                  <a:fillRect l="-13" t="-75" r="20" b="64"/>
                </a:stretch>
              </a:blipFill>
            </p:spPr>
            <p:txBody>
              <a:bodyPr/>
              <a:lstStyle/>
              <a:p>
                <a:r>
                  <a:rPr lang="zh-CN" altLang="en-US">
                    <a:noFill/>
                  </a:rPr>
                  <a:t> </a:t>
                </a:r>
              </a:p>
            </p:txBody>
          </p:sp>
        </mc:Fallback>
      </mc:AlternateContent>
      <p:grpSp>
        <p:nvGrpSpPr>
          <p:cNvPr id="11" name="组合 10"/>
          <p:cNvGrpSpPr/>
          <p:nvPr/>
        </p:nvGrpSpPr>
        <p:grpSpPr>
          <a:xfrm>
            <a:off x="-236220" y="219075"/>
            <a:ext cx="5153660" cy="598805"/>
            <a:chOff x="-372" y="345"/>
            <a:chExt cx="8116" cy="943"/>
          </a:xfrm>
        </p:grpSpPr>
        <p:sp>
          <p:nvSpPr>
            <p:cNvPr id="15" name="矩形 1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6" name="文本框 1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7" name="椭圆 1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矩形 17"/>
          <p:cNvSpPr/>
          <p:nvPr/>
        </p:nvSpPr>
        <p:spPr>
          <a:xfrm>
            <a:off x="2932796" y="743806"/>
            <a:ext cx="3416320" cy="523220"/>
          </a:xfrm>
          <a:prstGeom prst="rect">
            <a:avLst/>
          </a:prstGeom>
        </p:spPr>
        <p:txBody>
          <a:bodyPr wrap="none">
            <a:spAutoFit/>
          </a:bodyPr>
          <a:lstStyle/>
          <a:p>
            <a:r>
              <a:rPr lang="zh-CN" altLang="en-US" sz="2800" b="1" dirty="0">
                <a:latin typeface="Arial" panose="020B0604020202020204" pitchFamily="34" charset="0"/>
                <a:ea typeface="微软雅黑" panose="020B0503020204020204" charset="-122"/>
                <a:sym typeface="+mn-ea"/>
              </a:rPr>
              <a:t>机器人坐标系与位姿</a:t>
            </a:r>
          </a:p>
        </p:txBody>
      </p:sp>
      <p:sp>
        <p:nvSpPr>
          <p:cNvPr id="19" name="矩形 18"/>
          <p:cNvSpPr/>
          <p:nvPr/>
        </p:nvSpPr>
        <p:spPr>
          <a:xfrm>
            <a:off x="2599372" y="1176521"/>
            <a:ext cx="4083169" cy="507831"/>
          </a:xfrm>
          <a:prstGeom prst="rect">
            <a:avLst/>
          </a:prstGeom>
        </p:spPr>
        <p:txBody>
          <a:bodyPr wrap="none">
            <a:spAutoFit/>
          </a:bodyPr>
          <a:lstStyle/>
          <a:p>
            <a:pPr>
              <a:lnSpc>
                <a:spcPct val="150000"/>
              </a:lnSpc>
            </a:pPr>
            <a:r>
              <a:rPr lang="en-US" altLang="zh-CN" dirty="0">
                <a:latin typeface="Arial" panose="020B0604020202020204" pitchFamily="34" charset="0"/>
                <a:ea typeface="微软雅黑" panose="020B0503020204020204" charset="-122"/>
                <a:sym typeface="+mn-ea"/>
              </a:rPr>
              <a:t>Coordinate system and Pose of Robot</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p:nvPr/>
            </p:nvSpPr>
            <p:spPr>
              <a:xfrm>
                <a:off x="1144262" y="1746977"/>
                <a:ext cx="2511970" cy="11128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𝑇</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4"/>
                                    <m:mcJc m:val="center"/>
                                  </m:mcPr>
                                </m:mc>
                              </m:mcs>
                              <m:ctrlPr>
                                <a:rPr lang="zh-CN" altLang="en-US" i="1" smtClean="0">
                                  <a:latin typeface="Cambria Math" panose="02040503050406030204" pitchFamily="18" charset="0"/>
                                </a:rPr>
                              </m:ctrlPr>
                            </m:mPr>
                            <m:mr>
                              <m:e>
                                <m:sSub>
                                  <m:sSubPr>
                                    <m:ctrlPr>
                                      <a:rPr lang="zh-CN" altLang="en-US" i="1">
                                        <a:latin typeface="Cambria Math" panose="02040503050406030204" pitchFamily="18" charset="0"/>
                                      </a:rPr>
                                    </m:ctrlPr>
                                  </m:sSubPr>
                                  <m:e>
                                    <m:r>
                                      <a:rPr lang="en-US" altLang="zh-CN" i="1">
                                        <a:latin typeface="Cambria Math" panose="02040503050406030204" pitchFamily="18" charset="0"/>
                                      </a:rPr>
                                      <m:t>𝜇</m:t>
                                    </m:r>
                                  </m:e>
                                  <m:sub>
                                    <m:r>
                                      <a:rPr lang="en-US" altLang="zh-CN" i="1">
                                        <a:latin typeface="Cambria Math" panose="02040503050406030204" pitchFamily="18" charset="0"/>
                                      </a:rPr>
                                      <m:t>𝑥</m:t>
                                    </m:r>
                                  </m:sub>
                                </m:sSub>
                              </m:e>
                              <m:e>
                                <m:sSub>
                                  <m:sSubPr>
                                    <m:ctrlPr>
                                      <a:rPr lang="zh-CN" altLang="en-US" i="1">
                                        <a:latin typeface="Cambria Math" panose="02040503050406030204" pitchFamily="18" charset="0"/>
                                      </a:rPr>
                                    </m:ctrlPr>
                                  </m:sSubPr>
                                  <m:e>
                                    <m:r>
                                      <a:rPr lang="en-US" altLang="zh-CN" i="1">
                                        <a:latin typeface="Cambria Math" panose="02040503050406030204" pitchFamily="18" charset="0"/>
                                      </a:rPr>
                                      <m:t>𝜈</m:t>
                                    </m:r>
                                  </m:e>
                                  <m:sub>
                                    <m:r>
                                      <a:rPr lang="en-US" altLang="zh-CN" i="1">
                                        <a:latin typeface="Cambria Math" panose="02040503050406030204" pitchFamily="18" charset="0"/>
                                      </a:rPr>
                                      <m:t>𝑥</m:t>
                                    </m:r>
                                  </m:sub>
                                </m:sSub>
                              </m:e>
                              <m:e>
                                <m:sSub>
                                  <m:sSubPr>
                                    <m:ctrlPr>
                                      <a:rPr lang="zh-CN" altLang="en-US"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𝑥</m:t>
                                    </m:r>
                                  </m:sub>
                                </m:sSub>
                              </m:e>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𝑥</m:t>
                                    </m:r>
                                  </m:sub>
                                </m:sSub>
                              </m:e>
                            </m:mr>
                            <m:mr>
                              <m:e>
                                <m:sSub>
                                  <m:sSubPr>
                                    <m:ctrlPr>
                                      <a:rPr lang="zh-CN" altLang="en-US" i="1">
                                        <a:latin typeface="Cambria Math" panose="02040503050406030204" pitchFamily="18" charset="0"/>
                                      </a:rPr>
                                    </m:ctrlPr>
                                  </m:sSubPr>
                                  <m:e>
                                    <m:r>
                                      <a:rPr lang="en-US" altLang="zh-CN" i="1">
                                        <a:latin typeface="Cambria Math" panose="02040503050406030204" pitchFamily="18" charset="0"/>
                                      </a:rPr>
                                      <m:t>𝜇</m:t>
                                    </m:r>
                                  </m:e>
                                  <m:sub>
                                    <m:r>
                                      <a:rPr lang="en-US" altLang="zh-CN" i="1">
                                        <a:latin typeface="Cambria Math" panose="02040503050406030204" pitchFamily="18" charset="0"/>
                                      </a:rPr>
                                      <m:t>𝑦</m:t>
                                    </m:r>
                                  </m:sub>
                                </m:sSub>
                              </m:e>
                              <m:e>
                                <m:sSub>
                                  <m:sSubPr>
                                    <m:ctrlPr>
                                      <a:rPr lang="zh-CN" altLang="en-US" i="1">
                                        <a:latin typeface="Cambria Math" panose="02040503050406030204" pitchFamily="18" charset="0"/>
                                      </a:rPr>
                                    </m:ctrlPr>
                                  </m:sSubPr>
                                  <m:e>
                                    <m:r>
                                      <a:rPr lang="en-US" altLang="zh-CN" i="1">
                                        <a:latin typeface="Cambria Math" panose="02040503050406030204" pitchFamily="18" charset="0"/>
                                      </a:rPr>
                                      <m:t>𝜈</m:t>
                                    </m:r>
                                  </m:e>
                                  <m:sub>
                                    <m:r>
                                      <a:rPr lang="en-US" altLang="zh-CN" i="1">
                                        <a:latin typeface="Cambria Math" panose="02040503050406030204" pitchFamily="18" charset="0"/>
                                      </a:rPr>
                                      <m:t>𝑦</m:t>
                                    </m:r>
                                  </m:sub>
                                </m:sSub>
                              </m:e>
                              <m:e>
                                <m:sSub>
                                  <m:sSubPr>
                                    <m:ctrlPr>
                                      <a:rPr lang="zh-CN" altLang="en-US"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m:rPr>
                                        <m:sty m:val="p"/>
                                      </m:rPr>
                                      <a:rPr lang="en-US" altLang="zh-CN" b="0" i="0" smtClean="0">
                                        <a:latin typeface="Cambria Math" panose="02040503050406030204" pitchFamily="18" charset="0"/>
                                      </a:rPr>
                                      <m:t>y</m:t>
                                    </m:r>
                                  </m:sub>
                                </m:sSub>
                              </m:e>
                            </m:mr>
                            <m:mr>
                              <m:e>
                                <m:sSub>
                                  <m:sSubPr>
                                    <m:ctrlPr>
                                      <a:rPr lang="zh-CN" altLang="en-US" i="1">
                                        <a:latin typeface="Cambria Math" panose="02040503050406030204" pitchFamily="18" charset="0"/>
                                      </a:rPr>
                                    </m:ctrlPr>
                                  </m:sSubPr>
                                  <m:e>
                                    <m:r>
                                      <a:rPr lang="en-US" altLang="zh-CN" i="1">
                                        <a:latin typeface="Cambria Math" panose="02040503050406030204" pitchFamily="18" charset="0"/>
                                      </a:rPr>
                                      <m:t>𝜇</m:t>
                                    </m:r>
                                  </m:e>
                                  <m:sub>
                                    <m:r>
                                      <a:rPr lang="en-US" altLang="zh-CN" i="1">
                                        <a:latin typeface="Cambria Math" panose="02040503050406030204" pitchFamily="18" charset="0"/>
                                      </a:rPr>
                                      <m:t>𝑧</m:t>
                                    </m:r>
                                  </m:sub>
                                </m:sSub>
                              </m:e>
                              <m:e>
                                <m:sSub>
                                  <m:sSubPr>
                                    <m:ctrlPr>
                                      <a:rPr lang="zh-CN" altLang="en-US" i="1">
                                        <a:latin typeface="Cambria Math" panose="02040503050406030204" pitchFamily="18" charset="0"/>
                                      </a:rPr>
                                    </m:ctrlPr>
                                  </m:sSubPr>
                                  <m:e>
                                    <m:r>
                                      <a:rPr lang="en-US" altLang="zh-CN" i="1">
                                        <a:latin typeface="Cambria Math" panose="02040503050406030204" pitchFamily="18" charset="0"/>
                                      </a:rPr>
                                      <m:t>𝜈</m:t>
                                    </m:r>
                                  </m:e>
                                  <m:sub>
                                    <m:r>
                                      <a:rPr lang="en-US" altLang="zh-CN" i="1">
                                        <a:latin typeface="Cambria Math" panose="02040503050406030204" pitchFamily="18" charset="0"/>
                                      </a:rPr>
                                      <m:t>𝑧</m:t>
                                    </m:r>
                                  </m:sub>
                                </m:sSub>
                              </m:e>
                              <m:e>
                                <m:sSub>
                                  <m:sSubPr>
                                    <m:ctrlPr>
                                      <a:rPr lang="zh-CN" altLang="en-US" i="1">
                                        <a:latin typeface="Cambria Math" panose="02040503050406030204" pitchFamily="18" charset="0"/>
                                      </a:rPr>
                                    </m:ctrlPr>
                                  </m:sSubPr>
                                  <m:e>
                                    <m:r>
                                      <a:rPr lang="en-US" altLang="zh-CN" i="1">
                                        <a:latin typeface="Cambria Math" panose="02040503050406030204" pitchFamily="18" charset="0"/>
                                      </a:rPr>
                                      <m:t>𝑤</m:t>
                                    </m:r>
                                  </m:e>
                                  <m:sub>
                                    <m:r>
                                      <a:rPr lang="en-US" altLang="zh-CN" i="1">
                                        <a:latin typeface="Cambria Math" panose="02040503050406030204" pitchFamily="18" charset="0"/>
                                      </a:rPr>
                                      <m:t>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m:rPr>
                                        <m:sty m:val="p"/>
                                      </m:rPr>
                                      <a:rPr lang="en-US" altLang="zh-CN" b="0" i="0" smtClean="0">
                                        <a:latin typeface="Cambria Math" panose="02040503050406030204" pitchFamily="18" charset="0"/>
                                      </a:rPr>
                                      <m:t>z</m:t>
                                    </m:r>
                                  </m:sub>
                                </m:sSub>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mr>
                          </m:m>
                        </m:e>
                      </m:d>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1144262" y="1746977"/>
                <a:ext cx="2511970" cy="1112805"/>
              </a:xfrm>
              <a:prstGeom prst="rect">
                <a:avLst/>
              </a:prstGeom>
              <a:blipFill rotWithShape="1">
                <a:blip r:embed="rId4"/>
                <a:stretch>
                  <a:fillRect l="-25" t="-8" r="21" b="34"/>
                </a:stretch>
              </a:blipFill>
            </p:spPr>
            <p:txBody>
              <a:bodyPr/>
              <a:lstStyle/>
              <a:p>
                <a:r>
                  <a:rPr lang="zh-CN" altLang="en-US">
                    <a:noFill/>
                  </a:rPr>
                  <a:t> </a:t>
                </a:r>
              </a:p>
            </p:txBody>
          </p:sp>
        </mc:Fallback>
      </mc:AlternateContent>
      <p:graphicFrame>
        <p:nvGraphicFramePr>
          <p:cNvPr id="8" name="对象 7"/>
          <p:cNvGraphicFramePr>
            <a:graphicFrameLocks noChangeAspect="1"/>
          </p:cNvGraphicFramePr>
          <p:nvPr/>
        </p:nvGraphicFramePr>
        <p:xfrm>
          <a:off x="4290060" y="1642452"/>
          <a:ext cx="2317750" cy="1112838"/>
        </p:xfrm>
        <a:graphic>
          <a:graphicData uri="http://schemas.openxmlformats.org/presentationml/2006/ole">
            <mc:AlternateContent xmlns:mc="http://schemas.openxmlformats.org/markup-compatibility/2006">
              <mc:Choice xmlns:v="urn:schemas-microsoft-com:vml" Requires="v">
                <p:oleObj spid="_x0000_s24891" name="公式" r:id="rId5" imgW="46329600" imgH="22555200" progId="Equation.3">
                  <p:embed/>
                </p:oleObj>
              </mc:Choice>
              <mc:Fallback>
                <p:oleObj name="公式" r:id="rId5" imgW="46329600" imgH="22555200" progId="Equation.3">
                  <p:embed/>
                  <p:pic>
                    <p:nvPicPr>
                      <p:cNvPr id="0" name="Object 1"/>
                      <p:cNvPicPr>
                        <a:picLocks noChangeAspect="1" noChangeArrowheads="1"/>
                      </p:cNvPicPr>
                      <p:nvPr/>
                    </p:nvPicPr>
                    <p:blipFill>
                      <a:blip r:embed="rId6"/>
                      <a:srcRect/>
                      <a:stretch>
                        <a:fillRect/>
                      </a:stretch>
                    </p:blipFill>
                    <p:spPr bwMode="auto">
                      <a:xfrm>
                        <a:off x="4290060" y="1642452"/>
                        <a:ext cx="2317750" cy="1112838"/>
                      </a:xfrm>
                      <a:prstGeom prst="rect">
                        <a:avLst/>
                      </a:prstGeom>
                      <a:noFill/>
                    </p:spPr>
                  </p:pic>
                </p:oleObj>
              </mc:Fallback>
            </mc:AlternateContent>
          </a:graphicData>
        </a:graphic>
      </p:graphicFrame>
      <p:sp>
        <p:nvSpPr>
          <p:cNvPr id="9" name="矩形 8"/>
          <p:cNvSpPr/>
          <p:nvPr/>
        </p:nvSpPr>
        <p:spPr>
          <a:xfrm>
            <a:off x="2285682" y="1214770"/>
            <a:ext cx="461986" cy="369332"/>
          </a:xfrm>
          <a:prstGeom prst="rect">
            <a:avLst/>
          </a:prstGeom>
        </p:spPr>
        <p:txBody>
          <a:bodyPr wrap="none">
            <a:spAutoFit/>
          </a:bodyPr>
          <a:lstStyle/>
          <a:p>
            <a:r>
              <a:rPr lang="zh-CN" altLang="zh-CN" dirty="0"/>
              <a:t>∑</a:t>
            </a:r>
            <a:r>
              <a:rPr lang="en-US" altLang="zh-CN" dirty="0"/>
              <a:t>O</a:t>
            </a:r>
            <a:endParaRPr lang="zh-CN" altLang="en-US" dirty="0"/>
          </a:p>
        </p:txBody>
      </p:sp>
      <p:sp>
        <p:nvSpPr>
          <p:cNvPr id="11" name="矩形 10"/>
          <p:cNvSpPr/>
          <p:nvPr/>
        </p:nvSpPr>
        <p:spPr>
          <a:xfrm>
            <a:off x="5660037" y="1214770"/>
            <a:ext cx="577402" cy="369332"/>
          </a:xfrm>
          <a:prstGeom prst="rect">
            <a:avLst/>
          </a:prstGeom>
        </p:spPr>
        <p:txBody>
          <a:bodyPr wrap="none">
            <a:spAutoFit/>
          </a:bodyPr>
          <a:lstStyle/>
          <a:p>
            <a:r>
              <a:rPr lang="zh-CN" altLang="zh-CN" dirty="0"/>
              <a:t>∑</a:t>
            </a:r>
            <a:r>
              <a:rPr lang="en-US" altLang="zh-CN" dirty="0"/>
              <a:t>O</a:t>
            </a:r>
            <a:r>
              <a:rPr lang="zh-CN" altLang="zh-CN" dirty="0"/>
              <a:t>´</a:t>
            </a:r>
            <a:endParaRPr lang="zh-CN" altLang="en-US" dirty="0"/>
          </a:p>
        </p:txBody>
      </p:sp>
      <mc:AlternateContent xmlns:mc="http://schemas.openxmlformats.org/markup-compatibility/2006" xmlns:a14="http://schemas.microsoft.com/office/drawing/2010/main">
        <mc:Choice Requires="a14">
          <p:sp>
            <p:nvSpPr>
              <p:cNvPr id="19" name="矩形 18"/>
              <p:cNvSpPr/>
              <p:nvPr/>
            </p:nvSpPr>
            <p:spPr>
              <a:xfrm>
                <a:off x="1313589" y="3579862"/>
                <a:ext cx="2406172" cy="824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0">
                              <a:latin typeface="Cambria Math" panose="02040503050406030204" pitchFamily="18" charset="0"/>
                            </a:rPr>
                            <m:t>3×3</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𝑥</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𝜈</m:t>
                                    </m:r>
                                  </m:e>
                                  <m:sub>
                                    <m:r>
                                      <a:rPr lang="zh-CN" altLang="en-US" i="1">
                                        <a:latin typeface="Cambria Math" panose="02040503050406030204" pitchFamily="18" charset="0"/>
                                      </a:rPr>
                                      <m:t>𝑥</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𝑥</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𝜈</m:t>
                                    </m:r>
                                  </m:e>
                                  <m:sub>
                                    <m:r>
                                      <a:rPr lang="zh-CN" altLang="en-US" i="1">
                                        <a:latin typeface="Cambria Math" panose="02040503050406030204" pitchFamily="18" charset="0"/>
                                      </a:rPr>
                                      <m:t>𝑦</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𝑦</m:t>
                                    </m:r>
                                  </m:sub>
                                </m:sSub>
                              </m:e>
                            </m:mr>
                            <m:mr>
                              <m:e>
                                <m:sSub>
                                  <m:sSubPr>
                                    <m:ctrlPr>
                                      <a:rPr lang="zh-CN" altLang="en-US" i="1">
                                        <a:latin typeface="Cambria Math" panose="02040503050406030204" pitchFamily="18" charset="0"/>
                                      </a:rPr>
                                    </m:ctrlPr>
                                  </m:sSubPr>
                                  <m:e>
                                    <m:r>
                                      <a:rPr lang="zh-CN" altLang="en-US" i="1">
                                        <a:latin typeface="Cambria Math" panose="02040503050406030204" pitchFamily="18" charset="0"/>
                                      </a:rPr>
                                      <m:t>𝜇</m:t>
                                    </m:r>
                                  </m:e>
                                  <m:sub>
                                    <m:r>
                                      <a:rPr lang="zh-CN" altLang="en-US" i="1">
                                        <a:latin typeface="Cambria Math" panose="02040503050406030204" pitchFamily="18" charset="0"/>
                                      </a:rPr>
                                      <m:t>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𝜈</m:t>
                                    </m:r>
                                  </m:e>
                                  <m:sub>
                                    <m:r>
                                      <a:rPr lang="zh-CN" altLang="en-US" i="1">
                                        <a:latin typeface="Cambria Math" panose="02040503050406030204" pitchFamily="18" charset="0"/>
                                      </a:rPr>
                                      <m:t>𝑧</m:t>
                                    </m:r>
                                  </m:sub>
                                </m:sSub>
                              </m:e>
                              <m:e>
                                <m:sSub>
                                  <m:sSubPr>
                                    <m:ctrlPr>
                                      <a:rPr lang="zh-CN" altLang="en-US" i="1">
                                        <a:latin typeface="Cambria Math" panose="02040503050406030204" pitchFamily="18" charset="0"/>
                                      </a:rPr>
                                    </m:ctrlPr>
                                  </m:sSubPr>
                                  <m:e>
                                    <m:r>
                                      <a:rPr lang="zh-CN" altLang="en-US" i="1">
                                        <a:latin typeface="Cambria Math" panose="02040503050406030204" pitchFamily="18" charset="0"/>
                                      </a:rPr>
                                      <m:t>𝑤</m:t>
                                    </m:r>
                                  </m:e>
                                  <m:sub>
                                    <m:r>
                                      <a:rPr lang="zh-CN" altLang="en-US" i="1">
                                        <a:latin typeface="Cambria Math" panose="02040503050406030204" pitchFamily="18" charset="0"/>
                                      </a:rPr>
                                      <m:t>𝑧</m:t>
                                    </m:r>
                                  </m:sub>
                                </m:sSub>
                              </m:e>
                            </m:mr>
                          </m:m>
                        </m:e>
                      </m:d>
                    </m:oMath>
                  </m:oMathPara>
                </a14:m>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1313589" y="3579862"/>
                <a:ext cx="2406172" cy="824136"/>
              </a:xfrm>
              <a:prstGeom prst="rect">
                <a:avLst/>
              </a:prstGeom>
              <a:blipFill rotWithShape="1">
                <a:blip r:embed="rId7"/>
                <a:stretch>
                  <a:fillRect l="-17" t="-45" r="24" b="33"/>
                </a:stretch>
              </a:blipFill>
            </p:spPr>
            <p:txBody>
              <a:bodyPr/>
              <a:lstStyle/>
              <a:p>
                <a:r>
                  <a:rPr lang="zh-CN" altLang="en-US">
                    <a:noFill/>
                  </a:rPr>
                  <a:t> </a:t>
                </a:r>
              </a:p>
            </p:txBody>
          </p:sp>
        </mc:Fallback>
      </mc:AlternateContent>
      <p:sp>
        <p:nvSpPr>
          <p:cNvPr id="20" name="矩形 19"/>
          <p:cNvSpPr/>
          <p:nvPr/>
        </p:nvSpPr>
        <p:spPr>
          <a:xfrm>
            <a:off x="3851920" y="3114767"/>
            <a:ext cx="4572000" cy="1754326"/>
          </a:xfrm>
          <a:prstGeom prst="rect">
            <a:avLst/>
          </a:prstGeom>
        </p:spPr>
        <p:txBody>
          <a:bodyPr>
            <a:spAutoFit/>
          </a:bodyPr>
          <a:lstStyle/>
          <a:p>
            <a:r>
              <a:rPr lang="zh-CN" altLang="zh-CN" dirty="0" smtClean="0"/>
              <a:t>姿态较</a:t>
            </a:r>
            <a:r>
              <a:rPr lang="zh-CN" altLang="zh-CN" dirty="0"/>
              <a:t>常用的表示方法</a:t>
            </a:r>
            <a:r>
              <a:rPr lang="zh-CN" altLang="zh-CN" dirty="0" smtClean="0"/>
              <a:t>有</a:t>
            </a:r>
            <a:r>
              <a:rPr lang="en-US" altLang="zh-CN" dirty="0" smtClean="0"/>
              <a:t>:</a:t>
            </a:r>
          </a:p>
          <a:p>
            <a:pPr marL="285750" indent="-285750">
              <a:buFont typeface="Wingdings" panose="05000000000000000000" pitchFamily="2" charset="2"/>
              <a:buChar char="Ø"/>
            </a:pPr>
            <a:r>
              <a:rPr lang="en-US" altLang="zh-CN" b="1" dirty="0" smtClean="0"/>
              <a:t>RPY</a:t>
            </a:r>
            <a:r>
              <a:rPr lang="zh-CN" altLang="zh-CN" b="1" dirty="0"/>
              <a:t>角法</a:t>
            </a:r>
            <a:r>
              <a:rPr lang="zh-CN" altLang="zh-CN" dirty="0"/>
              <a:t>（滚动角、俯仰角、偏航角</a:t>
            </a:r>
            <a:r>
              <a:rPr lang="zh-CN" altLang="zh-CN" dirty="0" smtClean="0"/>
              <a:t>）</a:t>
            </a:r>
            <a:endParaRPr lang="en-US" altLang="zh-CN" dirty="0" smtClean="0"/>
          </a:p>
          <a:p>
            <a:pPr marL="285750" indent="-285750">
              <a:buFont typeface="Wingdings" panose="05000000000000000000" pitchFamily="2" charset="2"/>
              <a:buChar char="Ø"/>
            </a:pPr>
            <a:r>
              <a:rPr lang="zh-CN" altLang="zh-CN" b="1" dirty="0" smtClean="0"/>
              <a:t>欧拉角法</a:t>
            </a:r>
            <a:endParaRPr lang="en-US" altLang="zh-CN" dirty="0" smtClean="0"/>
          </a:p>
          <a:p>
            <a:pPr marL="285750" indent="-285750">
              <a:buFont typeface="Wingdings" panose="05000000000000000000" pitchFamily="2" charset="2"/>
              <a:buChar char="Ø"/>
            </a:pPr>
            <a:r>
              <a:rPr lang="zh-CN" altLang="zh-CN" b="1" dirty="0" smtClean="0"/>
              <a:t>罗德里格斯公式</a:t>
            </a:r>
            <a:endParaRPr lang="en-US" altLang="zh-CN" b="1" dirty="0" smtClean="0"/>
          </a:p>
          <a:p>
            <a:pPr marL="285750" indent="-285750">
              <a:buFont typeface="Wingdings" panose="05000000000000000000" pitchFamily="2" charset="2"/>
              <a:buChar char="Ø"/>
            </a:pPr>
            <a:r>
              <a:rPr lang="zh-CN" altLang="zh-CN" b="1" dirty="0" smtClean="0"/>
              <a:t>四</a:t>
            </a:r>
            <a:r>
              <a:rPr lang="zh-CN" altLang="zh-CN" b="1" dirty="0"/>
              <a:t>元素</a:t>
            </a:r>
            <a:r>
              <a:rPr lang="zh-CN" altLang="zh-CN" b="1" dirty="0" smtClean="0"/>
              <a:t>法</a:t>
            </a:r>
            <a:endParaRPr lang="en-US" altLang="zh-CN" dirty="0" smtClean="0"/>
          </a:p>
          <a:p>
            <a:pPr marL="285750" indent="-285750">
              <a:buFont typeface="Wingdings" panose="05000000000000000000" pitchFamily="2" charset="2"/>
              <a:buChar char="Ø"/>
            </a:pPr>
            <a:r>
              <a:rPr lang="zh-CN" altLang="zh-CN" b="1" dirty="0" smtClean="0"/>
              <a:t>罗德里格斯</a:t>
            </a:r>
            <a:r>
              <a:rPr lang="zh-CN" altLang="zh-CN" b="1" dirty="0"/>
              <a:t>参数法</a:t>
            </a:r>
            <a:r>
              <a:rPr lang="zh-CN" altLang="zh-CN" dirty="0"/>
              <a:t>等方法</a:t>
            </a:r>
            <a:endParaRPr lang="zh-CN" altLang="en-US" dirty="0"/>
          </a:p>
        </p:txBody>
      </p:sp>
      <p:graphicFrame>
        <p:nvGraphicFramePr>
          <p:cNvPr id="21" name="对象 20"/>
          <p:cNvGraphicFramePr>
            <a:graphicFrameLocks noChangeAspect="1"/>
          </p:cNvGraphicFramePr>
          <p:nvPr/>
        </p:nvGraphicFramePr>
        <p:xfrm>
          <a:off x="6948264" y="1713523"/>
          <a:ext cx="1276350" cy="276225"/>
        </p:xfrm>
        <a:graphic>
          <a:graphicData uri="http://schemas.openxmlformats.org/presentationml/2006/ole">
            <mc:AlternateContent xmlns:mc="http://schemas.openxmlformats.org/markup-compatibility/2006">
              <mc:Choice xmlns:v="urn:schemas-microsoft-com:vml" Requires="v">
                <p:oleObj spid="_x0000_s24892" name="公式" r:id="rId8" imgW="1269365" imgH="254000" progId="Equation.3">
                  <p:embed/>
                </p:oleObj>
              </mc:Choice>
              <mc:Fallback>
                <p:oleObj name="公式" r:id="rId8" imgW="1269365" imgH="2540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48264" y="1713523"/>
                        <a:ext cx="1276350"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对象 21"/>
          <p:cNvGraphicFramePr>
            <a:graphicFrameLocks noChangeAspect="1"/>
          </p:cNvGraphicFramePr>
          <p:nvPr/>
        </p:nvGraphicFramePr>
        <p:xfrm>
          <a:off x="6948264" y="1989748"/>
          <a:ext cx="1276350" cy="276225"/>
        </p:xfrm>
        <a:graphic>
          <a:graphicData uri="http://schemas.openxmlformats.org/presentationml/2006/ole">
            <mc:AlternateContent xmlns:mc="http://schemas.openxmlformats.org/markup-compatibility/2006">
              <mc:Choice xmlns:v="urn:schemas-microsoft-com:vml" Requires="v">
                <p:oleObj spid="_x0000_s24893" name="公式" r:id="rId10" imgW="1269365" imgH="254000" progId="Equation.3">
                  <p:embed/>
                </p:oleObj>
              </mc:Choice>
              <mc:Fallback>
                <p:oleObj name="公式" r:id="rId10" imgW="1269365" imgH="2540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48264" y="1989748"/>
                        <a:ext cx="1276350"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对象 22"/>
          <p:cNvGraphicFramePr>
            <a:graphicFrameLocks noChangeAspect="1"/>
          </p:cNvGraphicFramePr>
          <p:nvPr/>
        </p:nvGraphicFramePr>
        <p:xfrm>
          <a:off x="6948264" y="2265973"/>
          <a:ext cx="1190625" cy="276225"/>
        </p:xfrm>
        <a:graphic>
          <a:graphicData uri="http://schemas.openxmlformats.org/presentationml/2006/ole">
            <mc:AlternateContent xmlns:mc="http://schemas.openxmlformats.org/markup-compatibility/2006">
              <mc:Choice xmlns:v="urn:schemas-microsoft-com:vml" Requires="v">
                <p:oleObj spid="_x0000_s24894" name="公式" r:id="rId12" imgW="1155700" imgH="254000" progId="Equation.3">
                  <p:embed/>
                </p:oleObj>
              </mc:Choice>
              <mc:Fallback>
                <p:oleObj name="公式" r:id="rId12" imgW="1155700" imgH="2540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48264" y="2265973"/>
                        <a:ext cx="1190625"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对象 23"/>
          <p:cNvGraphicFramePr>
            <a:graphicFrameLocks noChangeAspect="1"/>
          </p:cNvGraphicFramePr>
          <p:nvPr/>
        </p:nvGraphicFramePr>
        <p:xfrm>
          <a:off x="6948264" y="2542198"/>
          <a:ext cx="1276350" cy="276225"/>
        </p:xfrm>
        <a:graphic>
          <a:graphicData uri="http://schemas.openxmlformats.org/presentationml/2006/ole">
            <mc:AlternateContent xmlns:mc="http://schemas.openxmlformats.org/markup-compatibility/2006">
              <mc:Choice xmlns:v="urn:schemas-microsoft-com:vml" Requires="v">
                <p:oleObj spid="_x0000_s24895" name="公式" r:id="rId14" imgW="1282700" imgH="254000" progId="Equation.3">
                  <p:embed/>
                </p:oleObj>
              </mc:Choice>
              <mc:Fallback>
                <p:oleObj name="公式" r:id="rId14" imgW="1282700" imgH="254000" progId="Equation.3">
                  <p:embed/>
                  <p:pic>
                    <p:nvPicPr>
                      <p:cNvPr id="0"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48264" y="2542198"/>
                        <a:ext cx="1276350"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矩形 17"/>
          <p:cNvSpPr/>
          <p:nvPr/>
        </p:nvSpPr>
        <p:spPr>
          <a:xfrm>
            <a:off x="2932796" y="339502"/>
            <a:ext cx="3416320" cy="523220"/>
          </a:xfrm>
          <a:prstGeom prst="rect">
            <a:avLst/>
          </a:prstGeom>
        </p:spPr>
        <p:txBody>
          <a:bodyPr wrap="none">
            <a:spAutoFit/>
          </a:bodyPr>
          <a:lstStyle/>
          <a:p>
            <a:r>
              <a:rPr lang="zh-CN" altLang="en-US" sz="2800" b="1" dirty="0">
                <a:latin typeface="Arial" panose="020B0604020202020204" pitchFamily="34" charset="0"/>
                <a:ea typeface="微软雅黑" panose="020B0503020204020204" charset="-122"/>
                <a:sym typeface="+mn-ea"/>
              </a:rPr>
              <a:t>机器人坐标系与位姿</a:t>
            </a:r>
          </a:p>
        </p:txBody>
      </p:sp>
      <p:sp>
        <p:nvSpPr>
          <p:cNvPr id="25" name="矩形 24"/>
          <p:cNvSpPr/>
          <p:nvPr/>
        </p:nvSpPr>
        <p:spPr>
          <a:xfrm>
            <a:off x="2599372" y="772217"/>
            <a:ext cx="4083169" cy="507831"/>
          </a:xfrm>
          <a:prstGeom prst="rect">
            <a:avLst/>
          </a:prstGeom>
        </p:spPr>
        <p:txBody>
          <a:bodyPr wrap="none">
            <a:spAutoFit/>
          </a:bodyPr>
          <a:lstStyle/>
          <a:p>
            <a:pPr>
              <a:lnSpc>
                <a:spcPct val="150000"/>
              </a:lnSpc>
            </a:pPr>
            <a:r>
              <a:rPr lang="en-US" altLang="zh-CN" dirty="0">
                <a:latin typeface="Arial" panose="020B0604020202020204" pitchFamily="34" charset="0"/>
                <a:ea typeface="微软雅黑" panose="020B0503020204020204" charset="-122"/>
                <a:sym typeface="+mn-ea"/>
              </a:rPr>
              <a:t>Coordinate system and Pose of Robot</a:t>
            </a:r>
          </a:p>
        </p:txBody>
      </p:sp>
      <p:grpSp>
        <p:nvGrpSpPr>
          <p:cNvPr id="26" name="组合 25"/>
          <p:cNvGrpSpPr/>
          <p:nvPr/>
        </p:nvGrpSpPr>
        <p:grpSpPr>
          <a:xfrm>
            <a:off x="-236220" y="219075"/>
            <a:ext cx="5153660" cy="598805"/>
            <a:chOff x="-372" y="345"/>
            <a:chExt cx="8116" cy="943"/>
          </a:xfrm>
        </p:grpSpPr>
        <p:sp>
          <p:nvSpPr>
            <p:cNvPr id="27" name="矩形 26"/>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28" name="文本框 27"/>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9" name="椭圆 2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p:nvPr/>
        </p:nvPicPr>
        <p:blipFill>
          <a:blip r:embed="rId4">
            <a:extLst>
              <a:ext uri="{28A0092B-C50C-407E-A947-70E740481C1C}">
                <a14:useLocalDpi xmlns:a14="http://schemas.microsoft.com/office/drawing/2010/main" val="0"/>
              </a:ext>
            </a:extLst>
          </a:blip>
          <a:srcRect/>
          <a:stretch>
            <a:fillRect/>
          </a:stretch>
        </p:blipFill>
        <p:spPr bwMode="auto">
          <a:xfrm>
            <a:off x="755576" y="4092857"/>
            <a:ext cx="4293235" cy="198755"/>
          </a:xfrm>
          <a:prstGeom prst="rect">
            <a:avLst/>
          </a:prstGeom>
          <a:noFill/>
        </p:spPr>
      </p:pic>
      <p:pic>
        <p:nvPicPr>
          <p:cNvPr id="25" name="图片 24"/>
          <p:cNvPicPr/>
          <p:nvPr/>
        </p:nvPicPr>
        <p:blipFill>
          <a:blip r:embed="rId5"/>
          <a:stretch>
            <a:fillRect/>
          </a:stretch>
        </p:blipFill>
        <p:spPr>
          <a:xfrm>
            <a:off x="5148064" y="3292440"/>
            <a:ext cx="3390265" cy="1799590"/>
          </a:xfrm>
          <a:prstGeom prst="rect">
            <a:avLst/>
          </a:prstGeom>
        </p:spPr>
      </p:pic>
      <p:sp>
        <p:nvSpPr>
          <p:cNvPr id="3" name="矩形 2"/>
          <p:cNvSpPr/>
          <p:nvPr/>
        </p:nvSpPr>
        <p:spPr>
          <a:xfrm>
            <a:off x="3758841" y="736403"/>
            <a:ext cx="1093826" cy="400110"/>
          </a:xfrm>
          <a:prstGeom prst="rect">
            <a:avLst/>
          </a:prstGeom>
        </p:spPr>
        <p:txBody>
          <a:bodyPr wrap="none">
            <a:spAutoFit/>
          </a:bodyPr>
          <a:lstStyle/>
          <a:p>
            <a:r>
              <a:rPr lang="zh-CN" altLang="en-US" sz="2000" dirty="0">
                <a:solidFill>
                  <a:srgbClr val="0070C0"/>
                </a:solidFill>
              </a:rPr>
              <a:t>RPY角法</a:t>
            </a:r>
          </a:p>
        </p:txBody>
      </p:sp>
      <p:sp>
        <p:nvSpPr>
          <p:cNvPr id="2" name="矩形 1"/>
          <p:cNvSpPr/>
          <p:nvPr/>
        </p:nvSpPr>
        <p:spPr>
          <a:xfrm>
            <a:off x="7092280" y="259953"/>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p>
        </p:txBody>
      </p:sp>
      <p:grpSp>
        <p:nvGrpSpPr>
          <p:cNvPr id="12" name="组合 11"/>
          <p:cNvGrpSpPr/>
          <p:nvPr/>
        </p:nvGrpSpPr>
        <p:grpSpPr>
          <a:xfrm>
            <a:off x="-236220" y="219075"/>
            <a:ext cx="5153660" cy="598805"/>
            <a:chOff x="-372" y="345"/>
            <a:chExt cx="8116" cy="943"/>
          </a:xfrm>
        </p:grpSpPr>
        <p:sp>
          <p:nvSpPr>
            <p:cNvPr id="13" name="矩形 1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4" name="文本框 1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5" name="椭圆 1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9" name="对象 8"/>
          <p:cNvGraphicFramePr>
            <a:graphicFrameLocks noChangeAspect="1"/>
          </p:cNvGraphicFramePr>
          <p:nvPr/>
        </p:nvGraphicFramePr>
        <p:xfrm>
          <a:off x="2411760" y="1414286"/>
          <a:ext cx="1800225" cy="1704975"/>
        </p:xfrm>
        <a:graphic>
          <a:graphicData uri="http://schemas.openxmlformats.org/presentationml/2006/ole">
            <mc:AlternateContent xmlns:mc="http://schemas.openxmlformats.org/markup-compatibility/2006">
              <mc:Choice xmlns:v="urn:schemas-microsoft-com:vml" Requires="v">
                <p:oleObj spid="_x0000_s33831" name="Visio" r:id="rId6" imgW="2378710" imgH="2251710" progId="Visio.Drawing.15">
                  <p:embed/>
                </p:oleObj>
              </mc:Choice>
              <mc:Fallback>
                <p:oleObj name="Visio" r:id="rId6" imgW="2378710" imgH="2251710" progId="Visio.Drawing.15">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1760" y="1414286"/>
                        <a:ext cx="1800225" cy="170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4788024" y="1414286"/>
          <a:ext cx="1952625" cy="1695450"/>
        </p:xfrm>
        <a:graphic>
          <a:graphicData uri="http://schemas.openxmlformats.org/presentationml/2006/ole">
            <mc:AlternateContent xmlns:mc="http://schemas.openxmlformats.org/markup-compatibility/2006">
              <mc:Choice xmlns:v="urn:schemas-microsoft-com:vml" Requires="v">
                <p:oleObj spid="_x0000_s33832" name="Visio" r:id="rId8" imgW="2937510" imgH="2538730" progId="Visio.Drawing.15">
                  <p:embed/>
                </p:oleObj>
              </mc:Choice>
              <mc:Fallback>
                <p:oleObj name="Visio" r:id="rId8" imgW="2937510" imgH="2538730" progId="Visio.Drawing.15">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8024" y="1414286"/>
                        <a:ext cx="1952625" cy="169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92280" y="259953"/>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p>
        </p:txBody>
      </p:sp>
      <p:grpSp>
        <p:nvGrpSpPr>
          <p:cNvPr id="12" name="组合 11"/>
          <p:cNvGrpSpPr/>
          <p:nvPr/>
        </p:nvGrpSpPr>
        <p:grpSpPr>
          <a:xfrm>
            <a:off x="-236220" y="219075"/>
            <a:ext cx="5153660" cy="598805"/>
            <a:chOff x="-372" y="345"/>
            <a:chExt cx="8116" cy="943"/>
          </a:xfrm>
        </p:grpSpPr>
        <p:sp>
          <p:nvSpPr>
            <p:cNvPr id="13" name="矩形 1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4" name="文本框 1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5" name="椭圆 1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5" name="对象 4"/>
          <p:cNvGraphicFramePr>
            <a:graphicFrameLocks noChangeAspect="1"/>
          </p:cNvGraphicFramePr>
          <p:nvPr/>
        </p:nvGraphicFramePr>
        <p:xfrm>
          <a:off x="408622" y="921630"/>
          <a:ext cx="4381500" cy="3314700"/>
        </p:xfrm>
        <a:graphic>
          <a:graphicData uri="http://schemas.openxmlformats.org/presentationml/2006/ole">
            <mc:AlternateContent xmlns:mc="http://schemas.openxmlformats.org/markup-compatibility/2006">
              <mc:Choice xmlns:v="urn:schemas-microsoft-com:vml" Requires="v">
                <p:oleObj spid="_x0000_s34838" name="Visio" r:id="rId4" imgW="4958080" imgH="3757930" progId="Visio.Drawing.15">
                  <p:embed/>
                </p:oleObj>
              </mc:Choice>
              <mc:Fallback>
                <p:oleObj name="Visio" r:id="rId4" imgW="4958080" imgH="375793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622" y="921630"/>
                        <a:ext cx="4381500" cy="331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3158981" y="4358500"/>
            <a:ext cx="2262158"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刚体运动实例示意图</a:t>
            </a:r>
            <a:endParaRPr lang="zh-CN" altLang="en-US" dirty="0"/>
          </a:p>
        </p:txBody>
      </p:sp>
      <p:pic>
        <p:nvPicPr>
          <p:cNvPr id="7" name="图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02864" y="1047571"/>
            <a:ext cx="4096147" cy="3062818"/>
          </a:xfrm>
          <a:prstGeom prst="rect">
            <a:avLst/>
          </a:prstGeom>
        </p:spPr>
      </p:pic>
      <p:sp>
        <p:nvSpPr>
          <p:cNvPr id="16" name="矩形 15"/>
          <p:cNvSpPr/>
          <p:nvPr/>
        </p:nvSpPr>
        <p:spPr>
          <a:xfrm>
            <a:off x="3879985" y="597520"/>
            <a:ext cx="1093826" cy="400110"/>
          </a:xfrm>
          <a:prstGeom prst="rect">
            <a:avLst/>
          </a:prstGeom>
        </p:spPr>
        <p:txBody>
          <a:bodyPr wrap="none">
            <a:spAutoFit/>
          </a:bodyPr>
          <a:lstStyle/>
          <a:p>
            <a:r>
              <a:rPr lang="zh-CN" altLang="en-US" sz="2000" dirty="0">
                <a:solidFill>
                  <a:srgbClr val="0070C0"/>
                </a:solidFill>
              </a:rPr>
              <a:t>RPY角法</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9952" y="2450798"/>
            <a:ext cx="4333875" cy="323850"/>
          </a:xfrm>
          <a:prstGeom prst="rect">
            <a:avLst/>
          </a:prstGeom>
          <a:noFill/>
          <a:ln>
            <a:noFill/>
          </a:ln>
        </p:spPr>
      </p:pic>
      <p:sp>
        <p:nvSpPr>
          <p:cNvPr id="2" name="矩形 1"/>
          <p:cNvSpPr/>
          <p:nvPr/>
        </p:nvSpPr>
        <p:spPr>
          <a:xfrm>
            <a:off x="3827329" y="787245"/>
            <a:ext cx="1210588" cy="400110"/>
          </a:xfrm>
          <a:prstGeom prst="rect">
            <a:avLst/>
          </a:prstGeom>
        </p:spPr>
        <p:txBody>
          <a:bodyPr wrap="none">
            <a:spAutoFit/>
          </a:bodyPr>
          <a:lstStyle/>
          <a:p>
            <a:r>
              <a:rPr lang="zh-CN" altLang="en-US" sz="2000" dirty="0">
                <a:solidFill>
                  <a:srgbClr val="0070C0"/>
                </a:solidFill>
              </a:rPr>
              <a:t>欧拉角法</a:t>
            </a:r>
          </a:p>
        </p:txBody>
      </p:sp>
      <p:pic>
        <p:nvPicPr>
          <p:cNvPr id="10" name="图片 9" descr="形状, 雷达图&#10;&#10;描述已自动生成"/>
          <p:cNvPicPr/>
          <p:nvPr/>
        </p:nvPicPr>
        <p:blipFill>
          <a:blip r:embed="rId4">
            <a:extLst>
              <a:ext uri="{28A0092B-C50C-407E-A947-70E740481C1C}">
                <a14:useLocalDpi xmlns:a14="http://schemas.microsoft.com/office/drawing/2010/main" val="0"/>
              </a:ext>
            </a:extLst>
          </a:blip>
          <a:stretch>
            <a:fillRect/>
          </a:stretch>
        </p:blipFill>
        <p:spPr>
          <a:xfrm>
            <a:off x="856932" y="1187355"/>
            <a:ext cx="2857500" cy="2900045"/>
          </a:xfrm>
          <a:prstGeom prst="rect">
            <a:avLst/>
          </a:prstGeom>
        </p:spPr>
      </p:pic>
      <mc:AlternateContent xmlns:mc="http://schemas.openxmlformats.org/markup-compatibility/2006" xmlns:a14="http://schemas.microsoft.com/office/drawing/2010/main">
        <mc:Choice Requires="a14">
          <p:sp>
            <p:nvSpPr>
              <p:cNvPr id="3" name="矩形 2"/>
              <p:cNvSpPr/>
              <p:nvPr/>
            </p:nvSpPr>
            <p:spPr>
              <a:xfrm>
                <a:off x="1691680" y="4087400"/>
                <a:ext cx="6984776" cy="8437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𝑅</m:t>
                          </m:r>
                        </m:e>
                        <m:sub>
                          <m:r>
                            <a:rPr lang="zh-CN" altLang="en-US" i="1">
                              <a:latin typeface="Cambria Math" panose="02040503050406030204" pitchFamily="18" charset="0"/>
                            </a:rPr>
                            <m:t>𝑧𝑦𝑧</m:t>
                          </m:r>
                        </m:sub>
                      </m:sSub>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𝑐𝑜𝑠</m:t>
                                </m:r>
                                <m:r>
                                  <a:rPr lang="zh-CN" altLang="en-US" i="0">
                                    <a:latin typeface="Cambria Math" panose="02040503050406030204" pitchFamily="18" charset="0"/>
                                  </a:rPr>
                                  <m:t>∅</m:t>
                                </m:r>
                              </m:e>
                              <m:e>
                                <m:r>
                                  <a:rPr lang="zh-CN" altLang="en-US" i="0">
                                    <a:latin typeface="Cambria Math" panose="02040503050406030204" pitchFamily="18" charset="0"/>
                                  </a:rPr>
                                  <m:t>−</m:t>
                                </m:r>
                                <m:r>
                                  <a:rPr lang="zh-CN" altLang="en-US" i="1">
                                    <a:latin typeface="Cambria Math" panose="02040503050406030204" pitchFamily="18" charset="0"/>
                                  </a:rPr>
                                  <m:t>𝑠𝑖𝑛</m:t>
                                </m:r>
                                <m:r>
                                  <a:rPr lang="zh-CN" altLang="en-US" i="0">
                                    <a:latin typeface="Cambria Math" panose="02040503050406030204" pitchFamily="18" charset="0"/>
                                  </a:rPr>
                                  <m:t>∅</m:t>
                                </m:r>
                              </m:e>
                              <m:e>
                                <m:r>
                                  <a:rPr lang="zh-CN" altLang="en-US" i="0">
                                    <a:latin typeface="Cambria Math" panose="02040503050406030204" pitchFamily="18" charset="0"/>
                                  </a:rPr>
                                  <m:t>0</m:t>
                                </m:r>
                              </m:e>
                            </m:mr>
                            <m:mr>
                              <m:e>
                                <m:r>
                                  <a:rPr lang="zh-CN" altLang="en-US" i="1">
                                    <a:latin typeface="Cambria Math" panose="02040503050406030204" pitchFamily="18" charset="0"/>
                                  </a:rPr>
                                  <m:t>𝑠𝑖𝑛</m:t>
                                </m:r>
                                <m:r>
                                  <a:rPr lang="zh-CN" altLang="en-US" i="0">
                                    <a:latin typeface="Cambria Math" panose="02040503050406030204" pitchFamily="18" charset="0"/>
                                  </a:rPr>
                                  <m:t>∅</m:t>
                                </m:r>
                              </m:e>
                              <m:e>
                                <m:r>
                                  <a:rPr lang="zh-CN" altLang="en-US" i="1">
                                    <a:latin typeface="Cambria Math" panose="02040503050406030204" pitchFamily="18" charset="0"/>
                                  </a:rPr>
                                  <m:t>𝑐𝑜𝑠</m:t>
                                </m:r>
                                <m:r>
                                  <a:rPr lang="zh-CN" altLang="en-US" i="0">
                                    <a:latin typeface="Cambria Math" panose="02040503050406030204" pitchFamily="18" charset="0"/>
                                  </a:rPr>
                                  <m:t>∅</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0</m:t>
                                </m:r>
                              </m:e>
                              <m:e>
                                <m:r>
                                  <a:rPr lang="zh-CN" altLang="en-US" i="0">
                                    <a:latin typeface="Cambria Math" panose="02040503050406030204" pitchFamily="18" charset="0"/>
                                  </a:rPr>
                                  <m:t>1</m:t>
                                </m:r>
                              </m:e>
                            </m:mr>
                          </m:m>
                        </m:e>
                      </m:d>
                      <m:d>
                        <m:dPr>
                          <m:begChr m:val="["/>
                          <m:endChr m:val="]"/>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𝑐𝑜𝑠</m:t>
                                </m:r>
                                <m:r>
                                  <a:rPr lang="zh-CN" altLang="en-US" i="1">
                                    <a:latin typeface="Cambria Math" panose="02040503050406030204" pitchFamily="18" charset="0"/>
                                  </a:rPr>
                                  <m:t>𝜃</m:t>
                                </m:r>
                              </m:e>
                              <m:e>
                                <m:r>
                                  <a:rPr lang="zh-CN" altLang="en-US" i="0">
                                    <a:latin typeface="Cambria Math" panose="02040503050406030204" pitchFamily="18" charset="0"/>
                                  </a:rPr>
                                  <m:t>0</m:t>
                                </m:r>
                              </m:e>
                              <m:e>
                                <m:r>
                                  <a:rPr lang="zh-CN" altLang="en-US" i="1">
                                    <a:latin typeface="Cambria Math" panose="02040503050406030204" pitchFamily="18" charset="0"/>
                                  </a:rPr>
                                  <m:t>𝑠𝑖𝑛</m:t>
                                </m:r>
                                <m:r>
                                  <a:rPr lang="zh-CN" altLang="en-US" i="1">
                                    <a:latin typeface="Cambria Math" panose="02040503050406030204" pitchFamily="18" charset="0"/>
                                  </a:rPr>
                                  <m:t>𝜃</m:t>
                                </m:r>
                              </m:e>
                            </m:mr>
                            <m:mr>
                              <m:e>
                                <m:r>
                                  <a:rPr lang="zh-CN" altLang="en-US" i="0">
                                    <a:latin typeface="Cambria Math" panose="02040503050406030204" pitchFamily="18" charset="0"/>
                                  </a:rPr>
                                  <m:t>0</m:t>
                                </m:r>
                              </m:e>
                              <m:e>
                                <m:r>
                                  <a:rPr lang="zh-CN" altLang="en-US" i="0">
                                    <a:latin typeface="Cambria Math" panose="02040503050406030204" pitchFamily="18" charset="0"/>
                                  </a:rPr>
                                  <m:t>1</m:t>
                                </m:r>
                              </m:e>
                              <m:e>
                                <m:r>
                                  <a:rPr lang="zh-CN" altLang="en-US" i="0">
                                    <a:latin typeface="Cambria Math" panose="02040503050406030204" pitchFamily="18" charset="0"/>
                                  </a:rPr>
                                  <m:t>0</m:t>
                                </m:r>
                              </m:e>
                            </m:mr>
                            <m:mr>
                              <m:e>
                                <m:r>
                                  <a:rPr lang="zh-CN" altLang="en-US" i="0">
                                    <a:latin typeface="Cambria Math" panose="02040503050406030204" pitchFamily="18" charset="0"/>
                                  </a:rPr>
                                  <m:t>−</m:t>
                                </m:r>
                                <m:r>
                                  <a:rPr lang="zh-CN" altLang="en-US" i="1">
                                    <a:latin typeface="Cambria Math" panose="02040503050406030204" pitchFamily="18" charset="0"/>
                                  </a:rPr>
                                  <m:t>𝑠𝑖𝑛</m:t>
                                </m:r>
                                <m:r>
                                  <a:rPr lang="zh-CN" altLang="en-US" i="1">
                                    <a:latin typeface="Cambria Math" panose="02040503050406030204" pitchFamily="18" charset="0"/>
                                  </a:rPr>
                                  <m:t>𝜃</m:t>
                                </m:r>
                              </m:e>
                              <m:e>
                                <m:r>
                                  <a:rPr lang="zh-CN" altLang="en-US" i="0">
                                    <a:latin typeface="Cambria Math" panose="02040503050406030204" pitchFamily="18" charset="0"/>
                                  </a:rPr>
                                  <m:t>0</m:t>
                                </m:r>
                              </m:e>
                              <m:e>
                                <m:r>
                                  <a:rPr lang="zh-CN" altLang="en-US" i="1">
                                    <a:latin typeface="Cambria Math" panose="02040503050406030204" pitchFamily="18" charset="0"/>
                                  </a:rPr>
                                  <m:t>𝑐𝑜𝑠</m:t>
                                </m:r>
                                <m:r>
                                  <a:rPr lang="zh-CN" altLang="en-US" i="1">
                                    <a:latin typeface="Cambria Math" panose="02040503050406030204" pitchFamily="18" charset="0"/>
                                  </a:rPr>
                                  <m:t>𝜃</m:t>
                                </m:r>
                              </m:e>
                            </m:mr>
                          </m:m>
                        </m:e>
                      </m:d>
                      <m:d>
                        <m:dPr>
                          <m:begChr m:val="["/>
                          <m:endChr m:val="]"/>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𝑐𝑜𝑠</m:t>
                                </m:r>
                                <m:r>
                                  <a:rPr lang="zh-CN" altLang="en-US" i="1">
                                    <a:latin typeface="Cambria Math" panose="02040503050406030204" pitchFamily="18" charset="0"/>
                                  </a:rPr>
                                  <m:t>𝜓</m:t>
                                </m:r>
                              </m:e>
                              <m:e>
                                <m:r>
                                  <a:rPr lang="zh-CN" altLang="en-US" i="0">
                                    <a:latin typeface="Cambria Math" panose="02040503050406030204" pitchFamily="18" charset="0"/>
                                  </a:rPr>
                                  <m:t>−</m:t>
                                </m:r>
                                <m:r>
                                  <a:rPr lang="zh-CN" altLang="en-US" i="1">
                                    <a:latin typeface="Cambria Math" panose="02040503050406030204" pitchFamily="18" charset="0"/>
                                  </a:rPr>
                                  <m:t>𝑠𝑖𝑛</m:t>
                                </m:r>
                                <m:r>
                                  <a:rPr lang="zh-CN" altLang="en-US" i="1">
                                    <a:latin typeface="Cambria Math" panose="02040503050406030204" pitchFamily="18" charset="0"/>
                                  </a:rPr>
                                  <m:t>𝜓</m:t>
                                </m:r>
                              </m:e>
                              <m:e>
                                <m:r>
                                  <a:rPr lang="zh-CN" altLang="en-US" i="0">
                                    <a:latin typeface="Cambria Math" panose="02040503050406030204" pitchFamily="18" charset="0"/>
                                  </a:rPr>
                                  <m:t>0</m:t>
                                </m:r>
                              </m:e>
                            </m:mr>
                            <m:mr>
                              <m:e>
                                <m:r>
                                  <a:rPr lang="zh-CN" altLang="en-US" i="1">
                                    <a:latin typeface="Cambria Math" panose="02040503050406030204" pitchFamily="18" charset="0"/>
                                  </a:rPr>
                                  <m:t>𝑠𝑖𝑛</m:t>
                                </m:r>
                                <m:r>
                                  <a:rPr lang="zh-CN" altLang="en-US" i="1">
                                    <a:latin typeface="Cambria Math" panose="02040503050406030204" pitchFamily="18" charset="0"/>
                                  </a:rPr>
                                  <m:t>𝜓</m:t>
                                </m:r>
                              </m:e>
                              <m:e>
                                <m:r>
                                  <a:rPr lang="zh-CN" altLang="en-US" i="1">
                                    <a:latin typeface="Cambria Math" panose="02040503050406030204" pitchFamily="18" charset="0"/>
                                  </a:rPr>
                                  <m:t>𝑐𝑜𝑠</m:t>
                                </m:r>
                                <m:r>
                                  <a:rPr lang="zh-CN" altLang="en-US" i="1">
                                    <a:latin typeface="Cambria Math" panose="02040503050406030204" pitchFamily="18" charset="0"/>
                                  </a:rPr>
                                  <m:t>𝜓</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0</m:t>
                                </m:r>
                              </m:e>
                              <m:e>
                                <m:r>
                                  <a:rPr lang="zh-CN" altLang="en-US" i="0">
                                    <a:latin typeface="Cambria Math" panose="02040503050406030204" pitchFamily="18" charset="0"/>
                                  </a:rPr>
                                  <m:t>1</m:t>
                                </m:r>
                              </m:e>
                            </m:mr>
                          </m:m>
                        </m:e>
                      </m:d>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1691680" y="4087400"/>
                <a:ext cx="6984776" cy="843757"/>
              </a:xfrm>
              <a:prstGeom prst="rect">
                <a:avLst/>
              </a:prstGeom>
              <a:blipFill rotWithShape="1">
                <a:blip r:embed="rId5"/>
                <a:stretch>
                  <a:fillRect l="-1" t="-64" r="6" b="45"/>
                </a:stretch>
              </a:blipFill>
            </p:spPr>
            <p:txBody>
              <a:bodyPr/>
              <a:lstStyle/>
              <a:p>
                <a:r>
                  <a:rPr lang="zh-CN" altLang="en-US">
                    <a:noFill/>
                  </a:rPr>
                  <a:t> </a:t>
                </a:r>
              </a:p>
            </p:txBody>
          </p:sp>
        </mc:Fallback>
      </mc:AlternateContent>
      <p:sp>
        <p:nvSpPr>
          <p:cNvPr id="8" name="矩形 7"/>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grpSp>
        <p:nvGrpSpPr>
          <p:cNvPr id="14" name="组合 13"/>
          <p:cNvGrpSpPr/>
          <p:nvPr/>
        </p:nvGrpSpPr>
        <p:grpSpPr>
          <a:xfrm>
            <a:off x="-236220" y="219075"/>
            <a:ext cx="5153660" cy="598805"/>
            <a:chOff x="-372" y="345"/>
            <a:chExt cx="8116" cy="943"/>
          </a:xfrm>
        </p:grpSpPr>
        <p:sp>
          <p:nvSpPr>
            <p:cNvPr id="15" name="矩形 14"/>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6" name="文本框 15"/>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7" name="椭圆 1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p:cNvGraphicFramePr>
            <a:graphicFrameLocks noChangeAspect="1"/>
          </p:cNvGraphicFramePr>
          <p:nvPr/>
        </p:nvGraphicFramePr>
        <p:xfrm>
          <a:off x="22542" y="938490"/>
          <a:ext cx="4933950" cy="3743325"/>
        </p:xfrm>
        <a:graphic>
          <a:graphicData uri="http://schemas.openxmlformats.org/presentationml/2006/ole">
            <mc:AlternateContent xmlns:mc="http://schemas.openxmlformats.org/markup-compatibility/2006">
              <mc:Choice xmlns:v="urn:schemas-microsoft-com:vml" Requires="v">
                <p:oleObj spid="_x0000_s25663" name="Visio" r:id="rId4" imgW="12039600" imgH="9182100" progId="Visio.Drawing.11">
                  <p:embed/>
                </p:oleObj>
              </mc:Choice>
              <mc:Fallback>
                <p:oleObj name="Visio" r:id="rId4" imgW="12039600" imgH="918210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42" y="938490"/>
                        <a:ext cx="4933950" cy="3743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2" name="矩形 1"/>
              <p:cNvSpPr/>
              <p:nvPr/>
            </p:nvSpPr>
            <p:spPr>
              <a:xfrm>
                <a:off x="6516216" y="1275606"/>
                <a:ext cx="1268104" cy="8249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latin typeface="Cambria Math" panose="02040503050406030204" pitchFamily="18" charset="0"/>
                            </a:rPr>
                          </m:ctrlPr>
                        </m:dPr>
                        <m:e>
                          <m:m>
                            <m:mPr>
                              <m:mcs>
                                <m:mc>
                                  <m:mcPr>
                                    <m:count m:val="3"/>
                                    <m:mcJc m:val="center"/>
                                  </m:mcPr>
                                </m:mc>
                              </m:mcs>
                              <m:ctrlPr>
                                <a:rPr lang="zh-CN" altLang="en-US" i="1">
                                  <a:latin typeface="Cambria Math" panose="02040503050406030204" pitchFamily="18" charset="0"/>
                                </a:rPr>
                              </m:ctrlPr>
                            </m:mPr>
                            <m:mr>
                              <m:e>
                                <m:r>
                                  <a:rPr lang="zh-CN" altLang="en-US">
                                    <a:latin typeface="Cambria Math" panose="02040503050406030204" pitchFamily="18" charset="0"/>
                                  </a:rPr>
                                  <m:t>1</m:t>
                                </m:r>
                              </m:e>
                              <m:e>
                                <m:r>
                                  <a:rPr lang="zh-CN" altLang="en-US" i="0">
                                    <a:latin typeface="Cambria Math" panose="02040503050406030204" pitchFamily="18" charset="0"/>
                                  </a:rPr>
                                  <m:t>0</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1</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0</m:t>
                                </m:r>
                              </m:e>
                              <m:e>
                                <m:r>
                                  <a:rPr lang="zh-CN" altLang="en-US" i="0">
                                    <a:latin typeface="Cambria Math" panose="02040503050406030204" pitchFamily="18" charset="0"/>
                                  </a:rPr>
                                  <m:t>1</m:t>
                                </m:r>
                              </m:e>
                            </m:mr>
                          </m:m>
                        </m:e>
                      </m:d>
                    </m:oMath>
                  </m:oMathPara>
                </a14:m>
                <a:endParaRPr lang="zh-CN" altLang="en-US" dirty="0"/>
              </a:p>
            </p:txBody>
          </p:sp>
        </mc:Choice>
        <mc:Fallback xmlns="">
          <p:sp>
            <p:nvSpPr>
              <p:cNvPr id="2" name="矩形 1"/>
              <p:cNvSpPr>
                <a:spLocks noRot="1" noChangeAspect="1" noMove="1" noResize="1" noEditPoints="1" noAdjustHandles="1" noChangeArrowheads="1" noChangeShapeType="1" noTextEdit="1"/>
              </p:cNvSpPr>
              <p:nvPr/>
            </p:nvSpPr>
            <p:spPr>
              <a:xfrm>
                <a:off x="6516216" y="1275606"/>
                <a:ext cx="1268104" cy="824906"/>
              </a:xfrm>
              <a:prstGeom prst="rect">
                <a:avLst/>
              </a:prstGeom>
              <a:blipFill rotWithShape="1">
                <a:blip r:embed="rId6"/>
                <a:stretch>
                  <a:fillRect l="-38" t="-64" r="39" b="69"/>
                </a:stretch>
              </a:blipFill>
            </p:spPr>
            <p:txBody>
              <a:bodyPr/>
              <a:lstStyle/>
              <a:p>
                <a:r>
                  <a:rPr lang="zh-CN" altLang="en-US">
                    <a:noFill/>
                  </a:rPr>
                  <a:t> </a:t>
                </a:r>
              </a:p>
            </p:txBody>
          </p:sp>
        </mc:Fallback>
      </mc:AlternateContent>
      <p:sp>
        <p:nvSpPr>
          <p:cNvPr id="3" name="矩形 2"/>
          <p:cNvSpPr/>
          <p:nvPr/>
        </p:nvSpPr>
        <p:spPr>
          <a:xfrm>
            <a:off x="5724128" y="849655"/>
            <a:ext cx="2492990"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终止状态下的姿态矩阵</a:t>
            </a:r>
            <a:endParaRPr lang="zh-CN" altLang="en-US" dirty="0"/>
          </a:p>
        </p:txBody>
      </p:sp>
      <mc:AlternateContent xmlns:mc="http://schemas.openxmlformats.org/markup-compatibility/2006" xmlns:a14="http://schemas.microsoft.com/office/drawing/2010/main">
        <mc:Choice Requires="a14">
          <p:sp>
            <p:nvSpPr>
              <p:cNvPr id="9" name="矩形 8"/>
              <p:cNvSpPr/>
              <p:nvPr/>
            </p:nvSpPr>
            <p:spPr>
              <a:xfrm>
                <a:off x="5436096" y="2174200"/>
                <a:ext cx="3707904" cy="1077218"/>
              </a:xfrm>
              <a:prstGeom prst="rect">
                <a:avLst/>
              </a:prstGeom>
            </p:spPr>
            <p:txBody>
              <a:bodyPr wrap="square">
                <a:spAutoFit/>
              </a:bodyPr>
              <a:lstStyle/>
              <a:p>
                <a:r>
                  <a:rPr lang="zh-CN" altLang="en-US" sz="1600" dirty="0" smtClean="0">
                    <a:latin typeface="Times New Roman" panose="02020603050405020304" pitchFamily="18" charset="0"/>
                    <a:cs typeface="Times New Roman" panose="02020603050405020304" pitchFamily="18" charset="0"/>
                  </a:rPr>
                  <a:t>终止状态到</a:t>
                </a:r>
                <a:r>
                  <a:rPr lang="zh-CN" altLang="zh-CN" sz="1600" dirty="0" smtClean="0">
                    <a:latin typeface="Times New Roman" panose="02020603050405020304" pitchFamily="18" charset="0"/>
                    <a:cs typeface="Times New Roman" panose="02020603050405020304" pitchFamily="18" charset="0"/>
                  </a:rPr>
                  <a:t>初始状态</a:t>
                </a:r>
                <a:r>
                  <a:rPr lang="zh-CN" altLang="en-US" sz="1600" dirty="0" smtClean="0">
                    <a:latin typeface="Times New Roman" panose="02020603050405020304" pitchFamily="18" charset="0"/>
                    <a:cs typeface="Times New Roman" panose="02020603050405020304" pitchFamily="18" charset="0"/>
                  </a:rPr>
                  <a:t>转换</a:t>
                </a:r>
                <a:r>
                  <a:rPr lang="zh-CN" altLang="zh-CN" sz="1600" dirty="0" smtClean="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可以</a:t>
                </a:r>
                <a:r>
                  <a:rPr lang="zh-CN" altLang="zh-CN" sz="1600" dirty="0" smtClean="0">
                    <a:latin typeface="Times New Roman" panose="02020603050405020304" pitchFamily="18" charset="0"/>
                    <a:cs typeface="Times New Roman" panose="02020603050405020304" pitchFamily="18" charset="0"/>
                  </a:rPr>
                  <a:t>看成</a:t>
                </a:r>
                <a:r>
                  <a:rPr lang="zh-CN" altLang="en-US" sz="1600" dirty="0" smtClean="0">
                    <a:latin typeface="Times New Roman" panose="02020603050405020304" pitchFamily="18" charset="0"/>
                    <a:cs typeface="Times New Roman" panose="02020603050405020304" pitchFamily="18" charset="0"/>
                  </a:rPr>
                  <a:t>：</a:t>
                </a:r>
                <a:endParaRPr lang="en-US" altLang="zh-CN" sz="16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zh-CN" sz="1600" dirty="0" smtClean="0">
                    <a:latin typeface="Times New Roman" panose="02020603050405020304" pitchFamily="18" charset="0"/>
                    <a:cs typeface="Times New Roman" panose="02020603050405020304" pitchFamily="18" charset="0"/>
                  </a:rPr>
                  <a:t>绕</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𝑧</m:t>
                    </m:r>
                  </m:oMath>
                </a14:m>
                <a:r>
                  <a:rPr lang="zh-CN" altLang="zh-CN" sz="1600" dirty="0">
                    <a:latin typeface="Times New Roman" panose="02020603050405020304" pitchFamily="18" charset="0"/>
                    <a:cs typeface="Times New Roman" panose="02020603050405020304" pitchFamily="18" charset="0"/>
                  </a:rPr>
                  <a:t>轴旋转</a:t>
                </a:r>
                <a14:m>
                  <m:oMath xmlns:m="http://schemas.openxmlformats.org/officeDocument/2006/math">
                    <m:r>
                      <a:rPr lang="en-US" altLang="zh-CN" sz="1600" i="1">
                        <a:latin typeface="Cambria Math" panose="02040503050406030204" pitchFamily="18" charset="0"/>
                        <a:cs typeface="Times New Roman" panose="02020603050405020304" pitchFamily="18" charset="0"/>
                      </a:rPr>
                      <m:t>𝛼</m:t>
                    </m:r>
                    <m:r>
                      <a:rPr lang="en-US" altLang="zh-CN" sz="1600" i="1">
                        <a:latin typeface="Cambria Math" panose="02040503050406030204" pitchFamily="18" charset="0"/>
                        <a:cs typeface="Times New Roman" panose="02020603050405020304" pitchFamily="18" charset="0"/>
                      </a:rPr>
                      <m:t>=0</m:t>
                    </m:r>
                  </m:oMath>
                </a14:m>
                <a:r>
                  <a:rPr lang="zh-CN" altLang="zh-CN" sz="1600" dirty="0" smtClean="0">
                    <a:latin typeface="Times New Roman" panose="02020603050405020304" pitchFamily="18" charset="0"/>
                    <a:cs typeface="Times New Roman" panose="02020603050405020304" pitchFamily="18" charset="0"/>
                  </a:rPr>
                  <a:t>度</a:t>
                </a:r>
                <a:endParaRPr lang="en-US" altLang="zh-CN" sz="16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zh-CN" sz="1600" dirty="0" smtClean="0">
                    <a:latin typeface="Times New Roman" panose="02020603050405020304" pitchFamily="18" charset="0"/>
                    <a:cs typeface="Times New Roman" panose="02020603050405020304" pitchFamily="18" charset="0"/>
                  </a:rPr>
                  <a:t>再</a:t>
                </a:r>
                <a:r>
                  <a:rPr lang="zh-CN" altLang="zh-CN" sz="1600" dirty="0">
                    <a:latin typeface="Times New Roman" panose="02020603050405020304" pitchFamily="18" charset="0"/>
                    <a:cs typeface="Times New Roman" panose="02020603050405020304" pitchFamily="18" charset="0"/>
                  </a:rPr>
                  <a:t>绕新的</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𝑦</m:t>
                    </m:r>
                  </m:oMath>
                </a14:m>
                <a:r>
                  <a:rPr lang="zh-CN" altLang="zh-CN" sz="1600" dirty="0">
                    <a:latin typeface="Times New Roman" panose="02020603050405020304" pitchFamily="18" charset="0"/>
                    <a:cs typeface="Times New Roman" panose="02020603050405020304" pitchFamily="18" charset="0"/>
                  </a:rPr>
                  <a:t>轴</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𝑦</m:t>
                    </m:r>
                    <m:r>
                      <a:rPr lang="en-US" altLang="zh-CN" sz="1600" i="1">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旋转</a:t>
                </a:r>
                <a14:m>
                  <m:oMath xmlns:m="http://schemas.openxmlformats.org/officeDocument/2006/math">
                    <m:r>
                      <a:rPr lang="en-US" altLang="zh-CN" sz="1600" i="1">
                        <a:latin typeface="Cambria Math" panose="02040503050406030204" pitchFamily="18" charset="0"/>
                        <a:cs typeface="Times New Roman" panose="02020603050405020304" pitchFamily="18" charset="0"/>
                      </a:rPr>
                      <m:t>𝛽</m:t>
                    </m:r>
                    <m:r>
                      <a:rPr lang="en-US" altLang="zh-CN" sz="1600" i="1">
                        <a:latin typeface="Cambria Math" panose="02040503050406030204" pitchFamily="18" charset="0"/>
                        <a:cs typeface="Times New Roman" panose="02020603050405020304" pitchFamily="18" charset="0"/>
                      </a:rPr>
                      <m:t>=0</m:t>
                    </m:r>
                  </m:oMath>
                </a14:m>
                <a:r>
                  <a:rPr lang="zh-CN" altLang="zh-CN" sz="1600" dirty="0" smtClean="0">
                    <a:latin typeface="Times New Roman" panose="02020603050405020304" pitchFamily="18" charset="0"/>
                    <a:cs typeface="Times New Roman" panose="02020603050405020304" pitchFamily="18" charset="0"/>
                  </a:rPr>
                  <a:t>度</a:t>
                </a:r>
                <a:endParaRPr lang="en-US" altLang="zh-CN" sz="1600" dirty="0" smtClean="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zh-CN" sz="1600" dirty="0" smtClean="0">
                    <a:latin typeface="Times New Roman" panose="02020603050405020304" pitchFamily="18" charset="0"/>
                    <a:cs typeface="Times New Roman" panose="02020603050405020304" pitchFamily="18" charset="0"/>
                  </a:rPr>
                  <a:t>最后</a:t>
                </a:r>
                <a:r>
                  <a:rPr lang="zh-CN" altLang="zh-CN" sz="1600" dirty="0">
                    <a:latin typeface="Times New Roman" panose="02020603050405020304" pitchFamily="18" charset="0"/>
                    <a:cs typeface="Times New Roman" panose="02020603050405020304" pitchFamily="18" charset="0"/>
                  </a:rPr>
                  <a:t>绕新的</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𝑥</m:t>
                    </m:r>
                  </m:oMath>
                </a14:m>
                <a:r>
                  <a:rPr lang="zh-CN" altLang="zh-CN" sz="1600" dirty="0">
                    <a:latin typeface="Times New Roman" panose="02020603050405020304" pitchFamily="18" charset="0"/>
                    <a:cs typeface="Times New Roman" panose="02020603050405020304" pitchFamily="18" charset="0"/>
                  </a:rPr>
                  <a:t>轴</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𝑥</m:t>
                    </m:r>
                    <m:r>
                      <a:rPr lang="en-US" altLang="zh-CN" sz="1600" i="1">
                        <a:latin typeface="Cambria Math" panose="02040503050406030204" pitchFamily="18" charset="0"/>
                        <a:cs typeface="Times New Roman" panose="02020603050405020304" pitchFamily="18" charset="0"/>
                      </a:rPr>
                      <m:t>′′</m:t>
                    </m:r>
                  </m:oMath>
                </a14:m>
                <a:r>
                  <a:rPr lang="zh-CN" altLang="zh-CN" sz="1600" dirty="0">
                    <a:latin typeface="Times New Roman" panose="02020603050405020304" pitchFamily="18" charset="0"/>
                    <a:cs typeface="Times New Roman" panose="02020603050405020304" pitchFamily="18" charset="0"/>
                  </a:rPr>
                  <a:t>旋转了</a:t>
                </a:r>
                <a14:m>
                  <m:oMath xmlns:m="http://schemas.openxmlformats.org/officeDocument/2006/math">
                    <m:r>
                      <a:rPr lang="en-US" altLang="zh-CN" sz="1600" i="1">
                        <a:latin typeface="Cambria Math" panose="02040503050406030204" pitchFamily="18" charset="0"/>
                        <a:cs typeface="Times New Roman" panose="02020603050405020304" pitchFamily="18" charset="0"/>
                      </a:rPr>
                      <m:t>𝛾</m:t>
                    </m:r>
                    <m:r>
                      <a:rPr lang="en-US" altLang="zh-CN" sz="1600" i="1">
                        <a:latin typeface="Cambria Math" panose="02040503050406030204" pitchFamily="18" charset="0"/>
                        <a:cs typeface="Times New Roman" panose="02020603050405020304" pitchFamily="18" charset="0"/>
                      </a:rPr>
                      <m:t>=−90</m:t>
                    </m:r>
                  </m:oMath>
                </a14:m>
                <a:r>
                  <a:rPr lang="zh-CN" altLang="zh-CN" sz="1600" dirty="0">
                    <a:latin typeface="Times New Roman" panose="02020603050405020304" pitchFamily="18" charset="0"/>
                    <a:cs typeface="Times New Roman" panose="02020603050405020304" pitchFamily="18" charset="0"/>
                  </a:rPr>
                  <a:t>度</a:t>
                </a:r>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5436096" y="2174200"/>
                <a:ext cx="3707904" cy="1077218"/>
              </a:xfrm>
              <a:prstGeom prst="rect">
                <a:avLst/>
              </a:prstGeom>
              <a:blipFill rotWithShape="1">
                <a:blip r:embed="rId7"/>
                <a:stretch>
                  <a:fillRect l="-13" t="-55" b="20"/>
                </a:stretch>
              </a:blipFill>
            </p:spPr>
            <p:txBody>
              <a:bodyPr/>
              <a:lstStyle/>
              <a:p>
                <a:r>
                  <a:rPr lang="zh-CN" altLang="en-US">
                    <a:noFill/>
                  </a:rPr>
                  <a:t> </a:t>
                </a:r>
              </a:p>
            </p:txBody>
          </p:sp>
        </mc:Fallback>
      </mc:AlternateContent>
      <p:pic>
        <p:nvPicPr>
          <p:cNvPr id="10" name="图片 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37699" y="3403472"/>
            <a:ext cx="4097020" cy="1032515"/>
          </a:xfrm>
          <a:prstGeom prst="rect">
            <a:avLst/>
          </a:prstGeom>
        </p:spPr>
      </p:pic>
      <p:grpSp>
        <p:nvGrpSpPr>
          <p:cNvPr id="11" name="组合 10"/>
          <p:cNvGrpSpPr/>
          <p:nvPr/>
        </p:nvGrpSpPr>
        <p:grpSpPr>
          <a:xfrm>
            <a:off x="-236220" y="219075"/>
            <a:ext cx="5153660" cy="598805"/>
            <a:chOff x="-372" y="345"/>
            <a:chExt cx="8116" cy="943"/>
          </a:xfrm>
        </p:grpSpPr>
        <p:sp>
          <p:nvSpPr>
            <p:cNvPr id="12" name="矩形 11"/>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3" name="文本框 12"/>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4" name="椭圆 13"/>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矩形 14"/>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sp>
        <p:nvSpPr>
          <p:cNvPr id="16" name="矩形 15"/>
          <p:cNvSpPr/>
          <p:nvPr/>
        </p:nvSpPr>
        <p:spPr>
          <a:xfrm>
            <a:off x="3985706" y="615737"/>
            <a:ext cx="1210588" cy="400110"/>
          </a:xfrm>
          <a:prstGeom prst="rect">
            <a:avLst/>
          </a:prstGeom>
        </p:spPr>
        <p:txBody>
          <a:bodyPr wrap="none">
            <a:spAutoFit/>
          </a:bodyPr>
          <a:lstStyle/>
          <a:p>
            <a:r>
              <a:rPr lang="zh-CN" altLang="en-US" sz="2000" dirty="0">
                <a:solidFill>
                  <a:srgbClr val="0070C0"/>
                </a:solidFill>
              </a:rPr>
              <a:t>欧拉角法</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60988" y="457198"/>
            <a:ext cx="1980029" cy="400110"/>
          </a:xfrm>
          <a:prstGeom prst="rect">
            <a:avLst/>
          </a:prstGeom>
        </p:spPr>
        <p:txBody>
          <a:bodyPr wrap="none">
            <a:spAutoFit/>
          </a:bodyPr>
          <a:lstStyle/>
          <a:p>
            <a:r>
              <a:rPr lang="zh-CN" altLang="en-US" sz="2000" dirty="0">
                <a:solidFill>
                  <a:srgbClr val="0070C0"/>
                </a:solidFill>
              </a:rPr>
              <a:t>罗德里格斯公式</a:t>
            </a:r>
          </a:p>
        </p:txBody>
      </p:sp>
      <p:sp>
        <p:nvSpPr>
          <p:cNvPr id="3" name="矩形 2"/>
          <p:cNvSpPr/>
          <p:nvPr/>
        </p:nvSpPr>
        <p:spPr>
          <a:xfrm>
            <a:off x="778047" y="4592988"/>
            <a:ext cx="8395151" cy="307777"/>
          </a:xfrm>
          <a:prstGeom prst="rect">
            <a:avLst/>
          </a:prstGeom>
        </p:spPr>
        <p:txBody>
          <a:bodyPr wrap="square">
            <a:spAutoFit/>
          </a:bodyPr>
          <a:lstStyle/>
          <a:p>
            <a:r>
              <a:rPr lang="zh-CN" altLang="en-US" sz="1400" dirty="0"/>
              <a:t>Chasles-Mozzi定理：任何刚体运动都可通过绕空间某一固定螺旋轴S的运动来实现。</a:t>
            </a:r>
          </a:p>
        </p:txBody>
      </p:sp>
      <p:graphicFrame>
        <p:nvGraphicFramePr>
          <p:cNvPr id="10" name="对象 9"/>
          <p:cNvGraphicFramePr>
            <a:graphicFrameLocks noChangeAspect="1"/>
          </p:cNvGraphicFramePr>
          <p:nvPr/>
        </p:nvGraphicFramePr>
        <p:xfrm>
          <a:off x="3863160" y="162957"/>
          <a:ext cx="4933950" cy="3743325"/>
        </p:xfrm>
        <a:graphic>
          <a:graphicData uri="http://schemas.openxmlformats.org/presentationml/2006/ole">
            <mc:AlternateContent xmlns:mc="http://schemas.openxmlformats.org/markup-compatibility/2006">
              <mc:Choice xmlns:v="urn:schemas-microsoft-com:vml" Requires="v">
                <p:oleObj spid="_x0000_s28734" name="Visio" r:id="rId4" imgW="12039600" imgH="9182100" progId="Visio.Drawing.11">
                  <p:embed/>
                </p:oleObj>
              </mc:Choice>
              <mc:Fallback>
                <p:oleObj name="Visio" r:id="rId4" imgW="12039600" imgH="918210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3160" y="162957"/>
                        <a:ext cx="4933950" cy="3743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11" name="矩形 10"/>
              <p:cNvSpPr/>
              <p:nvPr/>
            </p:nvSpPr>
            <p:spPr>
              <a:xfrm>
                <a:off x="854230" y="1145958"/>
                <a:ext cx="2496773" cy="11128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𝑀</m:t>
                      </m:r>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1</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1</m:t>
                                      </m:r>
                                    </m:e>
                                  </m:mr>
                                </m:m>
                              </m:e>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0</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0</m:t>
                                      </m:r>
                                    </m:e>
                                  </m:mr>
                                </m:m>
                              </m:e>
                            </m:mr>
                            <m:mr>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0</m:t>
                                      </m:r>
                                    </m:e>
                                    <m:e>
                                      <m:r>
                                        <a:rPr lang="zh-CN" altLang="en-US" i="0">
                                          <a:latin typeface="Cambria Math" panose="02040503050406030204" pitchFamily="18" charset="0"/>
                                        </a:rPr>
                                        <m:t>0</m:t>
                                      </m:r>
                                    </m:e>
                                  </m:mr>
                                  <m:mr>
                                    <m:e>
                                      <m:r>
                                        <a:rPr lang="zh-CN" altLang="en-US" i="0">
                                          <a:latin typeface="Cambria Math" panose="02040503050406030204" pitchFamily="18" charset="0"/>
                                        </a:rPr>
                                        <m:t>0</m:t>
                                      </m:r>
                                    </m:e>
                                    <m:e>
                                      <m:r>
                                        <a:rPr lang="zh-CN" altLang="en-US" i="0">
                                          <a:latin typeface="Cambria Math" panose="02040503050406030204" pitchFamily="18" charset="0"/>
                                        </a:rPr>
                                        <m:t>0</m:t>
                                      </m:r>
                                    </m:e>
                                  </m:mr>
                                </m:m>
                              </m:e>
                              <m:e>
                                <m:m>
                                  <m:mPr>
                                    <m:mcs>
                                      <m:mc>
                                        <m:mcPr>
                                          <m:count m:val="2"/>
                                          <m:mcJc m:val="center"/>
                                        </m:mcPr>
                                      </m:mc>
                                    </m:mcs>
                                    <m:ctrlPr>
                                      <a:rPr lang="zh-CN" altLang="en-US" i="1">
                                        <a:latin typeface="Cambria Math" panose="02040503050406030204" pitchFamily="18" charset="0"/>
                                      </a:rPr>
                                    </m:ctrlPr>
                                  </m:mPr>
                                  <m:mr>
                                    <m:e>
                                      <m:r>
                                        <a:rPr lang="zh-CN" altLang="en-US" i="0">
                                          <a:latin typeface="Cambria Math" panose="02040503050406030204" pitchFamily="18" charset="0"/>
                                        </a:rPr>
                                        <m:t>1</m:t>
                                      </m:r>
                                    </m:e>
                                    <m:e>
                                      <m:r>
                                        <a:rPr lang="zh-CN" altLang="en-US" i="0">
                                          <a:latin typeface="Cambria Math" panose="02040503050406030204" pitchFamily="18" charset="0"/>
                                        </a:rPr>
                                        <m:t>−10</m:t>
                                      </m:r>
                                    </m:e>
                                  </m:mr>
                                  <m:mr>
                                    <m:e>
                                      <m:r>
                                        <a:rPr lang="zh-CN" altLang="en-US" i="0">
                                          <a:latin typeface="Cambria Math" panose="02040503050406030204" pitchFamily="18" charset="0"/>
                                        </a:rPr>
                                        <m:t>0</m:t>
                                      </m:r>
                                    </m:e>
                                    <m:e>
                                      <m:r>
                                        <a:rPr lang="zh-CN" altLang="en-US" i="0">
                                          <a:latin typeface="Cambria Math" panose="02040503050406030204" pitchFamily="18" charset="0"/>
                                        </a:rPr>
                                        <m:t>1</m:t>
                                      </m:r>
                                    </m:e>
                                  </m:mr>
                                </m:m>
                              </m:e>
                            </m:mr>
                          </m:m>
                        </m:e>
                      </m:d>
                    </m:oMath>
                  </m:oMathPara>
                </a14:m>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854230" y="1145958"/>
                <a:ext cx="2496773" cy="1112805"/>
              </a:xfrm>
              <a:prstGeom prst="rect">
                <a:avLst/>
              </a:prstGeom>
              <a:blipFill rotWithShape="1">
                <a:blip r:embed="rId6"/>
                <a:stretch>
                  <a:fillRect l="-6" t="-38" r="4" b="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701505" y="2305069"/>
                <a:ext cx="3168352" cy="584775"/>
              </a:xfrm>
              <a:prstGeom prst="rect">
                <a:avLst/>
              </a:prstGeom>
            </p:spPr>
            <p:txBody>
              <a:bodyPr wrap="square">
                <a:spAutoFit/>
              </a:bodyPr>
              <a:lstStyle/>
              <a:p>
                <a:pPr indent="266700">
                  <a:spcBef>
                    <a:spcPts val="600"/>
                  </a:spcBef>
                  <a:spcAft>
                    <a:spcPts val="600"/>
                  </a:spcAft>
                </a:pPr>
                <a:r>
                  <a:rPr lang="zh-CN" altLang="zh-CN" sz="1600" dirty="0" smtClean="0">
                    <a:solidFill>
                      <a:srgbClr val="0070C0"/>
                    </a:solidFill>
                    <a:latin typeface="Cambria Math" panose="02040503050406030204" pitchFamily="18" charset="0"/>
                    <a:cs typeface="宋体" panose="02010600030101010101" pitchFamily="2" charset="-122"/>
                  </a:rPr>
                  <a:t>螺旋运动后的位姿矩阵</a:t>
                </a:r>
                <a14:m>
                  <m:oMath xmlns:m="http://schemas.openxmlformats.org/officeDocument/2006/math">
                    <m:r>
                      <a:rPr lang="en-US" altLang="zh-CN" sz="1600" i="1">
                        <a:solidFill>
                          <a:srgbClr val="0070C0"/>
                        </a:solidFill>
                        <a:latin typeface="Cambria Math" panose="02040503050406030204" pitchFamily="18" charset="0"/>
                        <a:cs typeface="宋体" panose="02010600030101010101" pitchFamily="2" charset="-122"/>
                      </a:rPr>
                      <m:t>𝑇</m:t>
                    </m:r>
                  </m:oMath>
                </a14:m>
                <a:r>
                  <a:rPr lang="zh-CN" altLang="zh-CN" sz="1600" dirty="0">
                    <a:solidFill>
                      <a:srgbClr val="0070C0"/>
                    </a:solidFill>
                    <a:latin typeface="Cambria Math" panose="02040503050406030204" pitchFamily="18" charset="0"/>
                    <a:cs typeface="宋体" panose="02010600030101010101" pitchFamily="2" charset="-122"/>
                  </a:rPr>
                  <a:t>，可以由指数积公式表达</a:t>
                </a:r>
                <a:r>
                  <a:rPr lang="zh-CN" altLang="zh-CN" sz="1600" dirty="0" smtClean="0">
                    <a:solidFill>
                      <a:srgbClr val="0070C0"/>
                    </a:solidFill>
                    <a:latin typeface="Cambria Math" panose="02040503050406030204" pitchFamily="18" charset="0"/>
                    <a:cs typeface="宋体" panose="02010600030101010101" pitchFamily="2" charset="-122"/>
                  </a:rPr>
                  <a:t>：</a:t>
                </a:r>
                <a:endParaRPr lang="zh-CN" altLang="zh-CN" sz="1600" dirty="0">
                  <a:solidFill>
                    <a:srgbClr val="0070C0"/>
                  </a:solidFill>
                  <a:latin typeface="宋体" panose="02010600030101010101" pitchFamily="2" charset="-122"/>
                  <a:cs typeface="宋体" panose="02010600030101010101" pitchFamily="2"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701505" y="2305069"/>
                <a:ext cx="3168352" cy="584775"/>
              </a:xfrm>
              <a:prstGeom prst="rect">
                <a:avLst/>
              </a:prstGeom>
              <a:blipFill rotWithShape="1">
                <a:blip r:embed="rId7"/>
                <a:stretch>
                  <a:fillRect l="-15" t="-3" r="5" b="1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707204" y="3294066"/>
                <a:ext cx="2482859" cy="5852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r>
                                <a:rPr lang="zh-CN" altLang="en-US" i="1">
                                  <a:latin typeface="Cambria Math" panose="02040503050406030204" pitchFamily="18" charset="0"/>
                                </a:rPr>
                                <m:t>𝜃</m:t>
                              </m:r>
                            </m:e>
                          </m:d>
                        </m:sup>
                      </m:sSup>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𝑅𝑜𝑡</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r>
                                      <a:rPr lang="zh-CN" altLang="en-US" i="0">
                                        <a:latin typeface="Cambria Math" panose="02040503050406030204" pitchFamily="18" charset="0"/>
                                      </a:rPr>
                                      <m:t>,</m:t>
                                    </m:r>
                                    <m:r>
                                      <a:rPr lang="zh-CN" altLang="en-US" i="1">
                                        <a:latin typeface="Cambria Math" panose="02040503050406030204" pitchFamily="18" charset="0"/>
                                      </a:rPr>
                                      <m:t>𝜃</m:t>
                                    </m:r>
                                  </m:e>
                                </m:d>
                              </m:e>
                              <m:e>
                                <m:r>
                                  <a:rPr lang="zh-CN" altLang="en-US" i="1">
                                    <a:latin typeface="Cambria Math" panose="02040503050406030204" pitchFamily="18" charset="0"/>
                                  </a:rPr>
                                  <m:t>𝑣</m:t>
                                </m:r>
                              </m:e>
                            </m:mr>
                            <m:mr>
                              <m:e>
                                <m:r>
                                  <a:rPr lang="zh-CN" altLang="en-US" i="0">
                                    <a:latin typeface="Cambria Math" panose="02040503050406030204" pitchFamily="18" charset="0"/>
                                  </a:rPr>
                                  <m:t>0</m:t>
                                </m:r>
                              </m:e>
                              <m:e>
                                <m:r>
                                  <a:rPr lang="zh-CN" altLang="en-US" i="0">
                                    <a:latin typeface="Cambria Math" panose="02040503050406030204" pitchFamily="18" charset="0"/>
                                  </a:rPr>
                                  <m:t>1</m:t>
                                </m:r>
                              </m:e>
                            </m:mr>
                          </m:m>
                        </m:e>
                      </m:d>
                    </m:oMath>
                  </m:oMathPara>
                </a14:m>
                <a:endParaRPr lang="zh-CN" altLang="en-US" dirty="0"/>
              </a:p>
            </p:txBody>
          </p:sp>
        </mc:Choice>
        <mc:Fallback xmlns="">
          <p:sp>
            <p:nvSpPr>
              <p:cNvPr id="13" name="矩形 12"/>
              <p:cNvSpPr>
                <a:spLocks noRot="1" noChangeAspect="1" noMove="1" noResize="1" noEditPoints="1" noAdjustHandles="1" noChangeArrowheads="1" noChangeShapeType="1" noTextEdit="1"/>
              </p:cNvSpPr>
              <p:nvPr/>
            </p:nvSpPr>
            <p:spPr>
              <a:xfrm>
                <a:off x="707204" y="3294066"/>
                <a:ext cx="2482859" cy="585288"/>
              </a:xfrm>
              <a:prstGeom prst="rect">
                <a:avLst/>
              </a:prstGeom>
              <a:blipFill rotWithShape="1">
                <a:blip r:embed="rId8"/>
                <a:stretch>
                  <a:fillRect l="-18" t="-55" r="18" b="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1227506" y="2936150"/>
                <a:ext cx="1442254" cy="388311"/>
              </a:xfrm>
              <a:prstGeom prst="rect">
                <a:avLst/>
              </a:prstGeom>
            </p:spPr>
            <p:txBody>
              <a:bodyPr wrap="none">
                <a:spAutoFit/>
              </a:bodyPr>
              <a:lstStyle/>
              <a:p>
                <a14:m>
                  <m:oMath xmlns:m="http://schemas.openxmlformats.org/officeDocument/2006/math">
                    <m:r>
                      <a:rPr lang="en-US" altLang="zh-CN" i="1">
                        <a:latin typeface="Cambria Math" panose="02040503050406030204" pitchFamily="18" charset="0"/>
                        <a:cs typeface="Times New Roman" panose="02020603050405020304" pitchFamily="18" charset="0"/>
                      </a:rPr>
                      <m:t>𝑇</m:t>
                    </m:r>
                    <m:r>
                      <a:rPr lang="en-US" altLang="zh-CN" i="1">
                        <a:latin typeface="Cambria Math" panose="02040503050406030204" pitchFamily="18" charset="0"/>
                        <a:cs typeface="Times New Roman" panose="02020603050405020304" pitchFamily="18" charset="0"/>
                      </a:rPr>
                      <m:t>′=</m:t>
                    </m:r>
                    <m:sSup>
                      <m:sSupPr>
                        <m:ctrlPr>
                          <a:rPr lang="zh-CN"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cs typeface="Times New Roman" panose="02020603050405020304" pitchFamily="18" charset="0"/>
                          </a:rPr>
                          <m:t>𝑒</m:t>
                        </m:r>
                      </m:e>
                      <m:sup>
                        <m:d>
                          <m:dPr>
                            <m:begChr m:val="["/>
                            <m:endChr m:val="]"/>
                            <m:ctrlPr>
                              <a:rPr lang="zh-CN"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cs typeface="Times New Roman" panose="02020603050405020304" pitchFamily="18" charset="0"/>
                              </a:rPr>
                              <m:t>𝑠</m:t>
                            </m:r>
                          </m:e>
                        </m:d>
                        <m:r>
                          <a:rPr lang="en-US" altLang="zh-CN" i="1">
                            <a:latin typeface="Cambria Math" panose="02040503050406030204" pitchFamily="18" charset="0"/>
                            <a:cs typeface="Times New Roman" panose="02020603050405020304" pitchFamily="18" charset="0"/>
                          </a:rPr>
                          <m:t>𝜃</m:t>
                        </m:r>
                      </m:sup>
                    </m:sSup>
                    <m:r>
                      <a:rPr lang="en-US" altLang="zh-CN" i="1">
                        <a:latin typeface="Cambria Math" panose="02040503050406030204" pitchFamily="18" charset="0"/>
                        <a:cs typeface="Times New Roman" panose="02020603050405020304" pitchFamily="18" charset="0"/>
                      </a:rPr>
                      <m:t>𝑀</m:t>
                    </m:r>
                    <m:r>
                      <a:rPr lang="en-US" altLang="zh-CN" i="1">
                        <a:latin typeface="Cambria Math" panose="02040503050406030204" pitchFamily="18" charset="0"/>
                        <a:cs typeface="Times New Roman" panose="02020603050405020304" pitchFamily="18" charset="0"/>
                      </a:rPr>
                      <m:t>′</m:t>
                    </m:r>
                  </m:oMath>
                </a14:m>
                <a:r>
                  <a:rPr lang="en-US" altLang="zh-CN" dirty="0">
                    <a:latin typeface="Cambria Math" panose="02040503050406030204" pitchFamily="18" charset="0"/>
                    <a:cs typeface="Times New Roman" panose="02020603050405020304" pitchFamily="18" charset="0"/>
                  </a:rPr>
                  <a:t> </a:t>
                </a:r>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1227506" y="2936150"/>
                <a:ext cx="1442254" cy="388311"/>
              </a:xfrm>
              <a:prstGeom prst="rect">
                <a:avLst/>
              </a:prstGeom>
              <a:blipFill rotWithShape="1">
                <a:blip r:embed="rId9"/>
                <a:stretch>
                  <a:fillRect l="-4" t="-140" r="15" b="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781846" y="4134305"/>
                <a:ext cx="5832648" cy="385298"/>
              </a:xfrm>
              <a:prstGeom prst="rect">
                <a:avLst/>
              </a:prstGeom>
            </p:spPr>
            <p:txBody>
              <a:bodyPr wrap="square">
                <a:spAutoFit/>
              </a:bodyPr>
              <a:lstStyle/>
              <a:p>
                <a14:m>
                  <m:oMath xmlns:m="http://schemas.openxmlformats.org/officeDocument/2006/math">
                    <m:r>
                      <a:rPr lang="en-US" altLang="zh-CN" i="1" smtClean="0">
                        <a:solidFill>
                          <a:srgbClr val="FF0000"/>
                        </a:solidFill>
                        <a:latin typeface="Cambria Math" panose="02040503050406030204" pitchFamily="18" charset="0"/>
                        <a:cs typeface="Times New Roman" panose="02020603050405020304" pitchFamily="18" charset="0"/>
                      </a:rPr>
                      <m:t>𝑅𝑜𝑡</m:t>
                    </m:r>
                    <m:d>
                      <m:dPr>
                        <m:ctrlPr>
                          <a:rPr lang="zh-CN" altLang="zh-CN" i="1">
                            <a:solidFill>
                              <a:srgbClr val="FF0000"/>
                            </a:solidFill>
                            <a:effectLst/>
                            <a:latin typeface="Cambria Math" panose="02040503050406030204" pitchFamily="18" charset="0"/>
                            <a:ea typeface="Cambria Math" panose="02040503050406030204" pitchFamily="18" charset="0"/>
                          </a:rPr>
                        </m:ctrlPr>
                      </m:dPr>
                      <m:e>
                        <m:acc>
                          <m:accPr>
                            <m:chr m:val="̂"/>
                            <m:ctrlPr>
                              <a:rPr lang="zh-CN" altLang="zh-CN" i="1">
                                <a:solidFill>
                                  <a:srgbClr val="FF0000"/>
                                </a:solidFill>
                                <a:effectLst/>
                                <a:latin typeface="Cambria Math" panose="02040503050406030204" pitchFamily="18" charset="0"/>
                                <a:ea typeface="Cambria Math" panose="02040503050406030204" pitchFamily="18" charset="0"/>
                              </a:rPr>
                            </m:ctrlPr>
                          </m:accPr>
                          <m:e>
                            <m:r>
                              <a:rPr lang="en-US" altLang="zh-CN" i="1">
                                <a:solidFill>
                                  <a:srgbClr val="FF0000"/>
                                </a:solidFill>
                                <a:latin typeface="Cambria Math" panose="02040503050406030204" pitchFamily="18" charset="0"/>
                                <a:cs typeface="Times New Roman" panose="02020603050405020304" pitchFamily="18" charset="0"/>
                              </a:rPr>
                              <m:t>𝜔</m:t>
                            </m:r>
                          </m:e>
                        </m:acc>
                        <m:r>
                          <a:rPr lang="en-US" altLang="zh-CN" i="1">
                            <a:solidFill>
                              <a:srgbClr val="FF0000"/>
                            </a:solidFill>
                            <a:latin typeface="Cambria Math" panose="02040503050406030204" pitchFamily="18" charset="0"/>
                            <a:cs typeface="Times New Roman" panose="02020603050405020304" pitchFamily="18" charset="0"/>
                          </a:rPr>
                          <m:t>,</m:t>
                        </m:r>
                        <m:r>
                          <a:rPr lang="en-US" altLang="zh-CN" i="1">
                            <a:solidFill>
                              <a:srgbClr val="FF0000"/>
                            </a:solidFill>
                            <a:latin typeface="Cambria Math" panose="02040503050406030204" pitchFamily="18" charset="0"/>
                            <a:cs typeface="Times New Roman" panose="02020603050405020304" pitchFamily="18" charset="0"/>
                          </a:rPr>
                          <m:t>𝜃</m:t>
                        </m:r>
                      </m:e>
                    </m:d>
                    <m:r>
                      <a:rPr lang="en-US" altLang="zh-CN" i="1">
                        <a:solidFill>
                          <a:srgbClr val="FF0000"/>
                        </a:solidFill>
                        <a:latin typeface="Cambria Math" panose="02040503050406030204" pitchFamily="18" charset="0"/>
                        <a:cs typeface="Times New Roman" panose="02020603050405020304" pitchFamily="18" charset="0"/>
                      </a:rPr>
                      <m:t>=</m:t>
                    </m:r>
                    <m:sSup>
                      <m:sSupPr>
                        <m:ctrlPr>
                          <a:rPr lang="zh-CN" altLang="zh-CN" i="1">
                            <a:solidFill>
                              <a:srgbClr val="FF0000"/>
                            </a:solidFill>
                            <a:effectLst/>
                            <a:latin typeface="Cambria Math" panose="02040503050406030204" pitchFamily="18" charset="0"/>
                            <a:ea typeface="Cambria Math" panose="02040503050406030204" pitchFamily="18" charset="0"/>
                          </a:rPr>
                        </m:ctrlPr>
                      </m:sSupPr>
                      <m:e>
                        <m:r>
                          <a:rPr lang="en-US" altLang="zh-CN" i="1">
                            <a:solidFill>
                              <a:srgbClr val="FF0000"/>
                            </a:solidFill>
                            <a:latin typeface="Cambria Math" panose="02040503050406030204" pitchFamily="18" charset="0"/>
                            <a:cs typeface="Times New Roman" panose="02020603050405020304" pitchFamily="18" charset="0"/>
                          </a:rPr>
                          <m:t>𝑒</m:t>
                        </m:r>
                      </m:e>
                      <m:sup>
                        <m:r>
                          <a:rPr lang="en-US" altLang="zh-CN" i="1">
                            <a:solidFill>
                              <a:srgbClr val="FF0000"/>
                            </a:solidFill>
                            <a:latin typeface="Cambria Math" panose="02040503050406030204" pitchFamily="18" charset="0"/>
                            <a:cs typeface="Times New Roman" panose="02020603050405020304" pitchFamily="18" charset="0"/>
                          </a:rPr>
                          <m:t>[</m:t>
                        </m:r>
                        <m:acc>
                          <m:accPr>
                            <m:chr m:val="̂"/>
                            <m:ctrlPr>
                              <a:rPr lang="zh-CN" altLang="zh-CN" i="1">
                                <a:solidFill>
                                  <a:srgbClr val="FF0000"/>
                                </a:solidFill>
                                <a:effectLst/>
                                <a:latin typeface="Cambria Math" panose="02040503050406030204" pitchFamily="18" charset="0"/>
                                <a:ea typeface="Cambria Math" panose="02040503050406030204" pitchFamily="18" charset="0"/>
                              </a:rPr>
                            </m:ctrlPr>
                          </m:accPr>
                          <m:e>
                            <m:r>
                              <a:rPr lang="en-US" altLang="zh-CN" i="1">
                                <a:solidFill>
                                  <a:srgbClr val="FF0000"/>
                                </a:solidFill>
                                <a:latin typeface="Cambria Math" panose="02040503050406030204" pitchFamily="18" charset="0"/>
                                <a:cs typeface="Times New Roman" panose="02020603050405020304" pitchFamily="18" charset="0"/>
                              </a:rPr>
                              <m:t>𝜔</m:t>
                            </m:r>
                          </m:e>
                        </m:acc>
                        <m:r>
                          <a:rPr lang="en-US" altLang="zh-CN" i="1">
                            <a:solidFill>
                              <a:srgbClr val="FF0000"/>
                            </a:solidFill>
                            <a:latin typeface="Cambria Math" panose="02040503050406030204" pitchFamily="18" charset="0"/>
                            <a:cs typeface="Times New Roman" panose="02020603050405020304" pitchFamily="18" charset="0"/>
                          </a:rPr>
                          <m:t>]</m:t>
                        </m:r>
                        <m:r>
                          <a:rPr lang="en-US" altLang="zh-CN" i="1">
                            <a:solidFill>
                              <a:srgbClr val="FF0000"/>
                            </a:solidFill>
                            <a:latin typeface="Cambria Math" panose="02040503050406030204" pitchFamily="18" charset="0"/>
                            <a:cs typeface="Times New Roman" panose="02020603050405020304" pitchFamily="18" charset="0"/>
                          </a:rPr>
                          <m:t>𝜃</m:t>
                        </m:r>
                      </m:sup>
                    </m:sSup>
                    <m:r>
                      <a:rPr lang="en-US" altLang="zh-CN" i="1">
                        <a:solidFill>
                          <a:srgbClr val="FF0000"/>
                        </a:solidFill>
                        <a:latin typeface="Cambria Math" panose="02040503050406030204" pitchFamily="18" charset="0"/>
                        <a:cs typeface="Times New Roman" panose="02020603050405020304" pitchFamily="18" charset="0"/>
                      </a:rPr>
                      <m:t>=</m:t>
                    </m:r>
                    <m:r>
                      <a:rPr lang="en-US" altLang="zh-CN" i="1">
                        <a:solidFill>
                          <a:srgbClr val="FF0000"/>
                        </a:solidFill>
                        <a:latin typeface="Cambria Math" panose="02040503050406030204" pitchFamily="18" charset="0"/>
                        <a:cs typeface="Times New Roman" panose="02020603050405020304" pitchFamily="18" charset="0"/>
                      </a:rPr>
                      <m:t>𝐼</m:t>
                    </m:r>
                    <m:r>
                      <a:rPr lang="en-US" altLang="zh-CN" i="1">
                        <a:solidFill>
                          <a:srgbClr val="FF0000"/>
                        </a:solidFill>
                        <a:latin typeface="Cambria Math" panose="02040503050406030204" pitchFamily="18" charset="0"/>
                        <a:cs typeface="Times New Roman" panose="02020603050405020304" pitchFamily="18" charset="0"/>
                      </a:rPr>
                      <m:t>+</m:t>
                    </m:r>
                    <m:func>
                      <m:funcPr>
                        <m:ctrlPr>
                          <a:rPr lang="zh-CN" altLang="zh-CN" i="1">
                            <a:solidFill>
                              <a:srgbClr val="FF0000"/>
                            </a:solidFill>
                            <a:effectLst/>
                            <a:latin typeface="Cambria Math" panose="02040503050406030204" pitchFamily="18" charset="0"/>
                            <a:ea typeface="Cambria Math" panose="02040503050406030204" pitchFamily="18" charset="0"/>
                          </a:rPr>
                        </m:ctrlPr>
                      </m:funcPr>
                      <m:fName>
                        <m:r>
                          <m:rPr>
                            <m:sty m:val="p"/>
                          </m:rPr>
                          <a:rPr lang="en-US" altLang="zh-CN">
                            <a:solidFill>
                              <a:srgbClr val="FF0000"/>
                            </a:solidFill>
                            <a:latin typeface="Cambria Math" panose="02040503050406030204" pitchFamily="18" charset="0"/>
                            <a:cs typeface="Times New Roman" panose="02020603050405020304" pitchFamily="18" charset="0"/>
                          </a:rPr>
                          <m:t>sin</m:t>
                        </m:r>
                      </m:fName>
                      <m:e>
                        <m:r>
                          <a:rPr lang="en-US" altLang="zh-CN" i="1">
                            <a:solidFill>
                              <a:srgbClr val="FF0000"/>
                            </a:solidFill>
                            <a:latin typeface="Cambria Math" panose="02040503050406030204" pitchFamily="18" charset="0"/>
                            <a:cs typeface="Times New Roman" panose="02020603050405020304" pitchFamily="18" charset="0"/>
                          </a:rPr>
                          <m:t>𝜃</m:t>
                        </m:r>
                      </m:e>
                    </m:func>
                    <m:d>
                      <m:dPr>
                        <m:begChr m:val="["/>
                        <m:endChr m:val="]"/>
                        <m:ctrlPr>
                          <a:rPr lang="zh-CN" altLang="zh-CN" i="1">
                            <a:solidFill>
                              <a:srgbClr val="FF0000"/>
                            </a:solidFill>
                            <a:effectLst/>
                            <a:latin typeface="Cambria Math" panose="02040503050406030204" pitchFamily="18" charset="0"/>
                            <a:ea typeface="Cambria Math" panose="02040503050406030204" pitchFamily="18" charset="0"/>
                          </a:rPr>
                        </m:ctrlPr>
                      </m:dPr>
                      <m:e>
                        <m:acc>
                          <m:accPr>
                            <m:chr m:val="̂"/>
                            <m:ctrlPr>
                              <a:rPr lang="zh-CN" altLang="zh-CN" i="1">
                                <a:solidFill>
                                  <a:srgbClr val="FF0000"/>
                                </a:solidFill>
                                <a:effectLst/>
                                <a:latin typeface="Cambria Math" panose="02040503050406030204" pitchFamily="18" charset="0"/>
                                <a:ea typeface="Cambria Math" panose="02040503050406030204" pitchFamily="18" charset="0"/>
                              </a:rPr>
                            </m:ctrlPr>
                          </m:accPr>
                          <m:e>
                            <m:r>
                              <a:rPr lang="en-US" altLang="zh-CN" i="1">
                                <a:solidFill>
                                  <a:srgbClr val="FF0000"/>
                                </a:solidFill>
                                <a:latin typeface="Cambria Math" panose="02040503050406030204" pitchFamily="18" charset="0"/>
                                <a:cs typeface="Times New Roman" panose="02020603050405020304" pitchFamily="18" charset="0"/>
                              </a:rPr>
                              <m:t>𝜔</m:t>
                            </m:r>
                          </m:e>
                        </m:acc>
                      </m:e>
                    </m:d>
                    <m:r>
                      <a:rPr lang="en-US" altLang="zh-CN" i="1">
                        <a:solidFill>
                          <a:srgbClr val="FF0000"/>
                        </a:solidFill>
                        <a:latin typeface="Cambria Math" panose="02040503050406030204" pitchFamily="18" charset="0"/>
                        <a:cs typeface="Times New Roman" panose="02020603050405020304" pitchFamily="18" charset="0"/>
                      </a:rPr>
                      <m:t>+(1−</m:t>
                    </m:r>
                    <m:func>
                      <m:funcPr>
                        <m:ctrlPr>
                          <a:rPr lang="zh-CN" altLang="zh-CN" i="1">
                            <a:solidFill>
                              <a:srgbClr val="FF0000"/>
                            </a:solidFill>
                            <a:effectLst/>
                            <a:latin typeface="Cambria Math" panose="02040503050406030204" pitchFamily="18" charset="0"/>
                            <a:ea typeface="Cambria Math" panose="02040503050406030204" pitchFamily="18" charset="0"/>
                          </a:rPr>
                        </m:ctrlPr>
                      </m:funcPr>
                      <m:fName>
                        <m:r>
                          <m:rPr>
                            <m:sty m:val="p"/>
                          </m:rPr>
                          <a:rPr lang="en-US" altLang="zh-CN">
                            <a:solidFill>
                              <a:srgbClr val="FF0000"/>
                            </a:solidFill>
                            <a:latin typeface="Cambria Math" panose="02040503050406030204" pitchFamily="18" charset="0"/>
                            <a:cs typeface="Times New Roman" panose="02020603050405020304" pitchFamily="18" charset="0"/>
                          </a:rPr>
                          <m:t>cos</m:t>
                        </m:r>
                      </m:fName>
                      <m:e>
                        <m:r>
                          <a:rPr lang="en-US" altLang="zh-CN" i="1">
                            <a:solidFill>
                              <a:srgbClr val="FF0000"/>
                            </a:solidFill>
                            <a:latin typeface="Cambria Math" panose="02040503050406030204" pitchFamily="18" charset="0"/>
                            <a:cs typeface="Times New Roman" panose="02020603050405020304" pitchFamily="18" charset="0"/>
                          </a:rPr>
                          <m:t>𝜃</m:t>
                        </m:r>
                        <m:r>
                          <a:rPr lang="en-US" altLang="zh-CN" i="1">
                            <a:solidFill>
                              <a:srgbClr val="FF0000"/>
                            </a:solidFill>
                            <a:latin typeface="Cambria Math" panose="02040503050406030204" pitchFamily="18" charset="0"/>
                            <a:cs typeface="Times New Roman" panose="02020603050405020304" pitchFamily="18" charset="0"/>
                          </a:rPr>
                          <m:t>)</m:t>
                        </m:r>
                        <m:sSup>
                          <m:sSupPr>
                            <m:ctrlPr>
                              <a:rPr lang="zh-CN" altLang="zh-CN" i="1">
                                <a:solidFill>
                                  <a:srgbClr val="FF0000"/>
                                </a:solidFill>
                                <a:effectLst/>
                                <a:latin typeface="Cambria Math" panose="02040503050406030204" pitchFamily="18" charset="0"/>
                                <a:ea typeface="Cambria Math" panose="02040503050406030204" pitchFamily="18" charset="0"/>
                              </a:rPr>
                            </m:ctrlPr>
                          </m:sSupPr>
                          <m:e>
                            <m:r>
                              <a:rPr lang="en-US" altLang="zh-CN" i="1">
                                <a:solidFill>
                                  <a:srgbClr val="FF0000"/>
                                </a:solidFill>
                                <a:latin typeface="Cambria Math" panose="02040503050406030204" pitchFamily="18" charset="0"/>
                                <a:cs typeface="Times New Roman" panose="02020603050405020304" pitchFamily="18" charset="0"/>
                              </a:rPr>
                              <m:t>[</m:t>
                            </m:r>
                            <m:acc>
                              <m:accPr>
                                <m:chr m:val="̂"/>
                                <m:ctrlPr>
                                  <a:rPr lang="zh-CN" altLang="zh-CN" i="1">
                                    <a:solidFill>
                                      <a:srgbClr val="FF0000"/>
                                    </a:solidFill>
                                    <a:effectLst/>
                                    <a:latin typeface="Cambria Math" panose="02040503050406030204" pitchFamily="18" charset="0"/>
                                    <a:ea typeface="Cambria Math" panose="02040503050406030204" pitchFamily="18" charset="0"/>
                                  </a:rPr>
                                </m:ctrlPr>
                              </m:accPr>
                              <m:e>
                                <m:r>
                                  <a:rPr lang="en-US" altLang="zh-CN" i="1">
                                    <a:solidFill>
                                      <a:srgbClr val="FF0000"/>
                                    </a:solidFill>
                                    <a:latin typeface="Cambria Math" panose="02040503050406030204" pitchFamily="18" charset="0"/>
                                    <a:cs typeface="Times New Roman" panose="02020603050405020304" pitchFamily="18" charset="0"/>
                                  </a:rPr>
                                  <m:t>𝜔</m:t>
                                </m:r>
                              </m:e>
                            </m:acc>
                            <m:r>
                              <a:rPr lang="en-US" altLang="zh-CN" i="1">
                                <a:solidFill>
                                  <a:srgbClr val="FF0000"/>
                                </a:solidFill>
                                <a:latin typeface="Cambria Math" panose="02040503050406030204" pitchFamily="18" charset="0"/>
                                <a:cs typeface="Times New Roman" panose="02020603050405020304" pitchFamily="18" charset="0"/>
                              </a:rPr>
                              <m:t>]</m:t>
                            </m:r>
                          </m:e>
                          <m:sup>
                            <m:r>
                              <a:rPr lang="en-US" altLang="zh-CN" i="1">
                                <a:solidFill>
                                  <a:srgbClr val="FF0000"/>
                                </a:solidFill>
                                <a:latin typeface="Cambria Math" panose="02040503050406030204" pitchFamily="18" charset="0"/>
                                <a:cs typeface="Times New Roman" panose="02020603050405020304" pitchFamily="18" charset="0"/>
                              </a:rPr>
                              <m:t>2</m:t>
                            </m:r>
                          </m:sup>
                        </m:sSup>
                      </m:e>
                    </m:func>
                  </m:oMath>
                </a14:m>
                <a:r>
                  <a:rPr lang="en-US" altLang="zh-CN" dirty="0">
                    <a:solidFill>
                      <a:srgbClr val="FF0000"/>
                    </a:solidFill>
                    <a:latin typeface="Cambria Math" panose="02040503050406030204" pitchFamily="18" charset="0"/>
                    <a:cs typeface="Times New Roman" panose="02020603050405020304" pitchFamily="18" charset="0"/>
                  </a:rPr>
                  <a:t> </a:t>
                </a:r>
                <a:endParaRPr lang="zh-CN" altLang="en-US" dirty="0">
                  <a:solidFill>
                    <a:srgbClr val="FF0000"/>
                  </a:solidFill>
                </a:endParaRPr>
              </a:p>
            </p:txBody>
          </p:sp>
        </mc:Choice>
        <mc:Fallback xmlns="">
          <p:sp>
            <p:nvSpPr>
              <p:cNvPr id="15" name="矩形 14"/>
              <p:cNvSpPr>
                <a:spLocks noRot="1" noChangeAspect="1" noMove="1" noResize="1" noEditPoints="1" noAdjustHandles="1" noChangeArrowheads="1" noChangeShapeType="1" noTextEdit="1"/>
              </p:cNvSpPr>
              <p:nvPr/>
            </p:nvSpPr>
            <p:spPr>
              <a:xfrm>
                <a:off x="781846" y="4134305"/>
                <a:ext cx="5832648" cy="385298"/>
              </a:xfrm>
              <a:prstGeom prst="rect">
                <a:avLst/>
              </a:prstGeom>
              <a:blipFill rotWithShape="1">
                <a:blip r:embed="rId10"/>
                <a:stretch>
                  <a:fillRect l="-3" t="-118" r="6" b="80"/>
                </a:stretch>
              </a:blipFill>
            </p:spPr>
            <p:txBody>
              <a:bodyPr/>
              <a:lstStyle/>
              <a:p>
                <a:r>
                  <a:rPr lang="zh-CN" altLang="en-US">
                    <a:noFill/>
                  </a:rPr>
                  <a:t> </a:t>
                </a:r>
              </a:p>
            </p:txBody>
          </p:sp>
        </mc:Fallback>
      </mc:AlternateContent>
      <p:sp>
        <p:nvSpPr>
          <p:cNvPr id="16" name="矩形 15"/>
          <p:cNvSpPr/>
          <p:nvPr/>
        </p:nvSpPr>
        <p:spPr>
          <a:xfrm>
            <a:off x="5940152" y="3973585"/>
            <a:ext cx="3096344" cy="646331"/>
          </a:xfrm>
          <a:prstGeom prst="rect">
            <a:avLst/>
          </a:prstGeom>
        </p:spPr>
        <p:txBody>
          <a:bodyPr wrap="square">
            <a:spAutoFit/>
          </a:bodyPr>
          <a:lstStyle/>
          <a:p>
            <a:r>
              <a:rPr lang="zh-CN" altLang="zh-CN" dirty="0"/>
              <a:t>这种固定坐标系及旋量轴的表示，又称为</a:t>
            </a:r>
            <a:r>
              <a:rPr lang="zh-CN" altLang="zh-CN" b="1" dirty="0">
                <a:solidFill>
                  <a:srgbClr val="FF0000"/>
                </a:solidFill>
              </a:rPr>
              <a:t>指数坐标</a:t>
            </a:r>
            <a:endParaRPr lang="zh-CN" altLang="en-US" dirty="0">
              <a:solidFill>
                <a:srgbClr val="FF0000"/>
              </a:solidFill>
            </a:endParaRPr>
          </a:p>
        </p:txBody>
      </p:sp>
      <p:sp>
        <p:nvSpPr>
          <p:cNvPr id="8" name="矩形 7"/>
          <p:cNvSpPr/>
          <p:nvPr/>
        </p:nvSpPr>
        <p:spPr>
          <a:xfrm>
            <a:off x="7530475" y="330210"/>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grpSp>
        <p:nvGrpSpPr>
          <p:cNvPr id="17" name="组合 16"/>
          <p:cNvGrpSpPr/>
          <p:nvPr/>
        </p:nvGrpSpPr>
        <p:grpSpPr>
          <a:xfrm>
            <a:off x="-236220" y="219075"/>
            <a:ext cx="5153660" cy="598805"/>
            <a:chOff x="-372" y="345"/>
            <a:chExt cx="8116" cy="943"/>
          </a:xfrm>
        </p:grpSpPr>
        <p:sp>
          <p:nvSpPr>
            <p:cNvPr id="18" name="矩形 17"/>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9" name="文本框 18"/>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0" name="椭圆 1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9" name="矩形 8"/>
              <p:cNvSpPr/>
              <p:nvPr/>
            </p:nvSpPr>
            <p:spPr>
              <a:xfrm>
                <a:off x="854230" y="938225"/>
                <a:ext cx="2776722" cy="276999"/>
              </a:xfrm>
              <a:prstGeom prst="rect">
                <a:avLst/>
              </a:prstGeom>
            </p:spPr>
            <p:txBody>
              <a:bodyPr wrap="none">
                <a:spAutoFit/>
              </a:bodyPr>
              <a:lstStyle/>
              <a:p>
                <a:r>
                  <a:rPr lang="zh-CN" altLang="zh-CN" sz="1200" dirty="0"/>
                  <a:t>刚体在坐标系</a:t>
                </a:r>
                <a14:m>
                  <m:oMath xmlns:m="http://schemas.openxmlformats.org/officeDocument/2006/math">
                    <m:r>
                      <a:rPr lang="en-US" altLang="zh-CN" sz="1200">
                        <a:latin typeface="Cambria Math" panose="02040503050406030204" pitchFamily="18" charset="0"/>
                      </a:rPr>
                      <m:t>{</m:t>
                    </m:r>
                    <m:sSup>
                      <m:sSupPr>
                        <m:ctrlPr>
                          <a:rPr lang="zh-CN" altLang="zh-CN" sz="1200" i="1">
                            <a:latin typeface="Cambria Math" panose="02040503050406030204" pitchFamily="18" charset="0"/>
                          </a:rPr>
                        </m:ctrlPr>
                      </m:sSupPr>
                      <m:e>
                        <m:r>
                          <m:rPr>
                            <m:sty m:val="p"/>
                          </m:rPr>
                          <a:rPr lang="en-US" altLang="zh-CN" sz="1200">
                            <a:latin typeface="Cambria Math" panose="02040503050406030204" pitchFamily="18" charset="0"/>
                          </a:rPr>
                          <m:t>O</m:t>
                        </m:r>
                      </m:e>
                      <m:sup>
                        <m:r>
                          <a:rPr lang="en-US" altLang="zh-CN" sz="1200" i="1">
                            <a:latin typeface="Cambria Math" panose="02040503050406030204" pitchFamily="18" charset="0"/>
                          </a:rPr>
                          <m:t>′</m:t>
                        </m:r>
                      </m:sup>
                    </m:sSup>
                    <m:r>
                      <a:rPr lang="en-US" altLang="zh-CN" sz="1200" i="1">
                        <a:latin typeface="Cambria Math" panose="02040503050406030204" pitchFamily="18" charset="0"/>
                      </a:rPr>
                      <m:t>}</m:t>
                    </m:r>
                  </m:oMath>
                </a14:m>
                <a:r>
                  <a:rPr lang="zh-CN" altLang="zh-CN" sz="1200" dirty="0"/>
                  <a:t>中的初始位姿矩阵</a:t>
                </a:r>
                <a14:m>
                  <m:oMath xmlns:m="http://schemas.openxmlformats.org/officeDocument/2006/math">
                    <m:r>
                      <a:rPr lang="en-US" altLang="zh-CN" sz="1200" i="1">
                        <a:latin typeface="Cambria Math" panose="02040503050406030204" pitchFamily="18" charset="0"/>
                      </a:rPr>
                      <m:t>𝑀</m:t>
                    </m:r>
                    <m:r>
                      <a:rPr lang="en-US" altLang="zh-CN" sz="1200" i="1">
                        <a:latin typeface="Cambria Math" panose="02040503050406030204" pitchFamily="18" charset="0"/>
                      </a:rPr>
                      <m:t>′</m:t>
                    </m:r>
                  </m:oMath>
                </a14:m>
                <a:endParaRPr lang="zh-CN" altLang="en-US" sz="1200" dirty="0"/>
              </a:p>
            </p:txBody>
          </p:sp>
        </mc:Choice>
        <mc:Fallback xmlns="">
          <p:sp>
            <p:nvSpPr>
              <p:cNvPr id="9" name="矩形 8"/>
              <p:cNvSpPr>
                <a:spLocks noRot="1" noChangeAspect="1" noMove="1" noResize="1" noEditPoints="1" noAdjustHandles="1" noChangeArrowheads="1" noChangeShapeType="1" noTextEdit="1"/>
              </p:cNvSpPr>
              <p:nvPr/>
            </p:nvSpPr>
            <p:spPr>
              <a:xfrm>
                <a:off x="854230" y="938225"/>
                <a:ext cx="2776722" cy="276999"/>
              </a:xfrm>
              <a:prstGeom prst="rect">
                <a:avLst/>
              </a:prstGeom>
              <a:blipFill rotWithShape="1">
                <a:blip r:embed="rId11"/>
                <a:stretch>
                  <a:fillRect l="-6" t="-119" r="1" b="169"/>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Gimbal lock - Wikipedia"/>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927922"/>
            <a:ext cx="2344736" cy="2344736"/>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776294" y="1204420"/>
            <a:ext cx="3018775" cy="369332"/>
          </a:xfrm>
          <a:prstGeom prst="rect">
            <a:avLst/>
          </a:prstGeom>
        </p:spPr>
        <p:txBody>
          <a:bodyPr wrap="none">
            <a:spAutoFit/>
          </a:bodyPr>
          <a:lstStyle/>
          <a:p>
            <a:r>
              <a:rPr lang="zh-CN" altLang="zh-CN" dirty="0">
                <a:solidFill>
                  <a:srgbClr val="002060"/>
                </a:solidFill>
                <a:latin typeface="Cambria Math" panose="02040503050406030204" pitchFamily="18" charset="0"/>
                <a:cs typeface="Times New Roman" panose="02020603050405020304" pitchFamily="18" charset="0"/>
              </a:rPr>
              <a:t>万向节死锁（</a:t>
            </a:r>
            <a:r>
              <a:rPr lang="en-US" altLang="zh-CN" dirty="0">
                <a:solidFill>
                  <a:srgbClr val="002060"/>
                </a:solidFill>
                <a:latin typeface="Cambria Math" panose="02040503050406030204" pitchFamily="18" charset="0"/>
                <a:cs typeface="Times New Roman" panose="02020603050405020304" pitchFamily="18" charset="0"/>
              </a:rPr>
              <a:t>Gimbal Lock</a:t>
            </a:r>
            <a:r>
              <a:rPr lang="zh-CN" altLang="zh-CN" dirty="0">
                <a:solidFill>
                  <a:srgbClr val="002060"/>
                </a:solidFill>
                <a:latin typeface="Cambria Math" panose="02040503050406030204" pitchFamily="18" charset="0"/>
                <a:cs typeface="Times New Roman" panose="02020603050405020304" pitchFamily="18" charset="0"/>
              </a:rPr>
              <a:t>）</a:t>
            </a:r>
            <a:endParaRPr lang="zh-CN" altLang="en-US" dirty="0">
              <a:solidFill>
                <a:srgbClr val="002060"/>
              </a:solidFill>
            </a:endParaRPr>
          </a:p>
        </p:txBody>
      </p:sp>
      <p:pic>
        <p:nvPicPr>
          <p:cNvPr id="29700" name="Picture 4" descr="Quaternions GIF | Gfycat"/>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3995936" y="1209841"/>
            <a:ext cx="4161307" cy="2344736"/>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3974232" y="3810993"/>
            <a:ext cx="4183011" cy="830997"/>
          </a:xfrm>
          <a:prstGeom prst="rect">
            <a:avLst/>
          </a:prstGeom>
        </p:spPr>
        <p:txBody>
          <a:bodyPr wrap="square">
            <a:spAutoFit/>
          </a:bodyPr>
          <a:lstStyle/>
          <a:p>
            <a:r>
              <a:rPr lang="en-US" altLang="zh-CN" sz="1600" dirty="0">
                <a:solidFill>
                  <a:srgbClr val="002060"/>
                </a:solidFill>
              </a:rPr>
              <a:t>1843</a:t>
            </a:r>
            <a:r>
              <a:rPr lang="zh-CN" altLang="zh-CN" sz="1600" dirty="0">
                <a:solidFill>
                  <a:srgbClr val="002060"/>
                </a:solidFill>
              </a:rPr>
              <a:t>年，爱尔兰数学家</a:t>
            </a:r>
            <a:r>
              <a:rPr lang="en-US" altLang="zh-CN" sz="1600" dirty="0">
                <a:solidFill>
                  <a:srgbClr val="002060"/>
                </a:solidFill>
              </a:rPr>
              <a:t>William Rowan Hamilton</a:t>
            </a:r>
            <a:r>
              <a:rPr lang="zh-CN" altLang="zh-CN" sz="1600" dirty="0">
                <a:solidFill>
                  <a:srgbClr val="002060"/>
                </a:solidFill>
              </a:rPr>
              <a:t>创造了一个称为四元数</a:t>
            </a:r>
            <a:r>
              <a:rPr lang="en-US" altLang="zh-CN" sz="1600" dirty="0">
                <a:solidFill>
                  <a:srgbClr val="002060"/>
                </a:solidFill>
              </a:rPr>
              <a:t>(Quaternion)</a:t>
            </a:r>
            <a:r>
              <a:rPr lang="zh-CN" altLang="zh-CN" sz="1600" dirty="0">
                <a:solidFill>
                  <a:srgbClr val="002060"/>
                </a:solidFill>
              </a:rPr>
              <a:t>的超复数概念</a:t>
            </a:r>
            <a:endParaRPr lang="zh-CN" altLang="en-US" sz="1600" dirty="0">
              <a:solidFill>
                <a:srgbClr val="002060"/>
              </a:solidFill>
            </a:endParaRPr>
          </a:p>
        </p:txBody>
      </p:sp>
      <mc:AlternateContent xmlns:mc="http://schemas.openxmlformats.org/markup-compatibility/2006" xmlns:a14="http://schemas.microsoft.com/office/drawing/2010/main">
        <mc:Choice Requires="a14">
          <p:sp>
            <p:nvSpPr>
              <p:cNvPr id="9" name="矩形 8"/>
              <p:cNvSpPr/>
              <p:nvPr/>
            </p:nvSpPr>
            <p:spPr>
              <a:xfrm>
                <a:off x="2313436" y="4636630"/>
                <a:ext cx="6085283" cy="506870"/>
              </a:xfrm>
              <a:prstGeom prst="rect">
                <a:avLst/>
              </a:prstGeom>
            </p:spPr>
            <p:txBody>
              <a:bodyPr wrap="square">
                <a:spAutoFit/>
              </a:bodyPr>
              <a:lstStyle/>
              <a:p>
                <a14:m>
                  <m:oMath xmlns:m="http://schemas.openxmlformats.org/officeDocument/2006/math">
                    <m:r>
                      <a:rPr lang="en-US" altLang="zh-CN" i="1">
                        <a:latin typeface="Cambria Math" panose="02040503050406030204" pitchFamily="18" charset="0"/>
                      </a:rPr>
                      <m:t>𝑞</m:t>
                    </m:r>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cos</m:t>
                        </m:r>
                      </m:fName>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𝜃</m:t>
                                </m:r>
                              </m:num>
                              <m:den>
                                <m:r>
                                  <a:rPr lang="en-US" altLang="zh-CN" i="1">
                                    <a:latin typeface="Cambria Math" panose="02040503050406030204" pitchFamily="18" charset="0"/>
                                  </a:rPr>
                                  <m:t>2</m:t>
                                </m:r>
                              </m:den>
                            </m:f>
                          </m:e>
                        </m:d>
                      </m:e>
                    </m:func>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sin</m:t>
                        </m:r>
                      </m:fName>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𝜃</m:t>
                                </m:r>
                              </m:num>
                              <m:den>
                                <m:r>
                                  <a:rPr lang="en-US" altLang="zh-CN" i="1">
                                    <a:latin typeface="Cambria Math" panose="02040503050406030204" pitchFamily="18" charset="0"/>
                                  </a:rPr>
                                  <m:t>2</m:t>
                                </m:r>
                              </m:den>
                            </m:f>
                          </m:e>
                        </m:d>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𝑥</m:t>
                        </m:r>
                      </m:sub>
                    </m:sSub>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sin</m:t>
                        </m:r>
                      </m:fName>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𝜃</m:t>
                                </m:r>
                              </m:num>
                              <m:den>
                                <m:r>
                                  <a:rPr lang="en-US" altLang="zh-CN" i="1">
                                    <a:latin typeface="Cambria Math" panose="02040503050406030204" pitchFamily="18" charset="0"/>
                                  </a:rPr>
                                  <m:t>2</m:t>
                                </m:r>
                              </m:den>
                            </m:f>
                          </m:e>
                        </m:d>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𝑦</m:t>
                        </m:r>
                      </m:sub>
                    </m:sSub>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sin</m:t>
                        </m:r>
                      </m:fName>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𝜃</m:t>
                                </m:r>
                              </m:num>
                              <m:den>
                                <m:r>
                                  <a:rPr lang="en-US" altLang="zh-CN" i="1">
                                    <a:latin typeface="Cambria Math" panose="02040503050406030204" pitchFamily="18" charset="0"/>
                                  </a:rPr>
                                  <m:t>2</m:t>
                                </m:r>
                              </m:den>
                            </m:f>
                          </m:e>
                        </m:d>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𝑧</m:t>
                        </m:r>
                      </m:sub>
                    </m:sSub>
                    <m:r>
                      <a:rPr lang="en-US" altLang="zh-CN" i="1">
                        <a:latin typeface="Cambria Math" panose="02040503050406030204" pitchFamily="18" charset="0"/>
                      </a:rPr>
                      <m:t>)</m:t>
                    </m:r>
                  </m:oMath>
                </a14:m>
                <a:r>
                  <a:rPr lang="en-US" altLang="zh-CN" dirty="0"/>
                  <a:t> </a:t>
                </a:r>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2313436" y="4636630"/>
                <a:ext cx="6085283" cy="506870"/>
              </a:xfrm>
              <a:prstGeom prst="rect">
                <a:avLst/>
              </a:prstGeom>
              <a:blipFill rotWithShape="1">
                <a:blip r:embed="rId5"/>
                <a:stretch>
                  <a:fillRect l="-2" t="-98" r="3"/>
                </a:stretch>
              </a:blipFill>
            </p:spPr>
            <p:txBody>
              <a:bodyPr/>
              <a:lstStyle/>
              <a:p>
                <a:r>
                  <a:rPr lang="zh-CN" altLang="en-US">
                    <a:noFill/>
                  </a:rPr>
                  <a:t> </a:t>
                </a:r>
              </a:p>
            </p:txBody>
          </p:sp>
        </mc:Fallback>
      </mc:AlternateContent>
      <p:sp>
        <p:nvSpPr>
          <p:cNvPr id="10" name="矩形 9"/>
          <p:cNvSpPr/>
          <p:nvPr/>
        </p:nvSpPr>
        <p:spPr>
          <a:xfrm>
            <a:off x="4924030" y="753370"/>
            <a:ext cx="2305118" cy="400110"/>
          </a:xfrm>
          <a:prstGeom prst="rect">
            <a:avLst/>
          </a:prstGeom>
        </p:spPr>
        <p:txBody>
          <a:bodyPr wrap="none">
            <a:spAutoFit/>
          </a:bodyPr>
          <a:lstStyle/>
          <a:p>
            <a:r>
              <a:rPr lang="zh-CN" altLang="zh-CN" sz="2000" dirty="0">
                <a:solidFill>
                  <a:srgbClr val="002060"/>
                </a:solidFill>
              </a:rPr>
              <a:t>四元数</a:t>
            </a:r>
            <a:r>
              <a:rPr lang="en-US" altLang="zh-CN" sz="2000" dirty="0">
                <a:solidFill>
                  <a:srgbClr val="002060"/>
                </a:solidFill>
              </a:rPr>
              <a:t>(Quaternion)</a:t>
            </a:r>
            <a:endParaRPr lang="zh-CN" altLang="en-US" sz="2000" dirty="0">
              <a:solidFill>
                <a:srgbClr val="002060"/>
              </a:solidFill>
            </a:endParaRPr>
          </a:p>
        </p:txBody>
      </p:sp>
      <p:grpSp>
        <p:nvGrpSpPr>
          <p:cNvPr id="12" name="组合 11"/>
          <p:cNvGrpSpPr/>
          <p:nvPr/>
        </p:nvGrpSpPr>
        <p:grpSpPr>
          <a:xfrm>
            <a:off x="-236220" y="219075"/>
            <a:ext cx="5153660" cy="598805"/>
            <a:chOff x="-372" y="345"/>
            <a:chExt cx="8116" cy="943"/>
          </a:xfrm>
        </p:grpSpPr>
        <p:sp>
          <p:nvSpPr>
            <p:cNvPr id="13" name="矩形 1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4" name="文本框 1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5" name="椭圆 1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矩形 8"/>
              <p:cNvSpPr/>
              <p:nvPr/>
            </p:nvSpPr>
            <p:spPr>
              <a:xfrm>
                <a:off x="1619672" y="1569456"/>
                <a:ext cx="6085283" cy="506870"/>
              </a:xfrm>
              <a:prstGeom prst="rect">
                <a:avLst/>
              </a:prstGeom>
            </p:spPr>
            <p:txBody>
              <a:bodyPr wrap="square">
                <a:spAutoFit/>
              </a:bodyPr>
              <a:lstStyle/>
              <a:p>
                <a14:m>
                  <m:oMath xmlns:m="http://schemas.openxmlformats.org/officeDocument/2006/math">
                    <m:r>
                      <a:rPr lang="en-US" altLang="zh-CN" i="1">
                        <a:latin typeface="Cambria Math" panose="02040503050406030204" pitchFamily="18" charset="0"/>
                      </a:rPr>
                      <m:t>𝑞</m:t>
                    </m:r>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cos</m:t>
                        </m:r>
                      </m:fName>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𝜃</m:t>
                                </m:r>
                              </m:num>
                              <m:den>
                                <m:r>
                                  <a:rPr lang="en-US" altLang="zh-CN" i="1">
                                    <a:latin typeface="Cambria Math" panose="02040503050406030204" pitchFamily="18" charset="0"/>
                                  </a:rPr>
                                  <m:t>2</m:t>
                                </m:r>
                              </m:den>
                            </m:f>
                          </m:e>
                        </m:d>
                      </m:e>
                    </m:func>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sin</m:t>
                        </m:r>
                      </m:fName>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𝜃</m:t>
                                </m:r>
                              </m:num>
                              <m:den>
                                <m:r>
                                  <a:rPr lang="en-US" altLang="zh-CN" i="1">
                                    <a:latin typeface="Cambria Math" panose="02040503050406030204" pitchFamily="18" charset="0"/>
                                  </a:rPr>
                                  <m:t>2</m:t>
                                </m:r>
                              </m:den>
                            </m:f>
                          </m:e>
                        </m:d>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𝑥</m:t>
                        </m:r>
                      </m:sub>
                    </m:sSub>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sin</m:t>
                        </m:r>
                      </m:fName>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𝜃</m:t>
                                </m:r>
                              </m:num>
                              <m:den>
                                <m:r>
                                  <a:rPr lang="en-US" altLang="zh-CN" i="1">
                                    <a:latin typeface="Cambria Math" panose="02040503050406030204" pitchFamily="18" charset="0"/>
                                  </a:rPr>
                                  <m:t>2</m:t>
                                </m:r>
                              </m:den>
                            </m:f>
                          </m:e>
                        </m:d>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𝑦</m:t>
                        </m:r>
                      </m:sub>
                    </m:sSub>
                    <m:r>
                      <a:rPr lang="en-US" altLang="zh-CN" i="1">
                        <a:latin typeface="Cambria Math" panose="02040503050406030204" pitchFamily="18" charset="0"/>
                      </a:rPr>
                      <m:t>,</m:t>
                    </m:r>
                    <m:func>
                      <m:funcPr>
                        <m:ctrlPr>
                          <a:rPr lang="zh-CN" altLang="zh-CN" i="1">
                            <a:latin typeface="Cambria Math" panose="02040503050406030204" pitchFamily="18" charset="0"/>
                          </a:rPr>
                        </m:ctrlPr>
                      </m:funcPr>
                      <m:fName>
                        <m:r>
                          <m:rPr>
                            <m:sty m:val="p"/>
                          </m:rPr>
                          <a:rPr lang="en-US" altLang="zh-CN">
                            <a:latin typeface="Cambria Math" panose="02040503050406030204" pitchFamily="18" charset="0"/>
                          </a:rPr>
                          <m:t>sin</m:t>
                        </m:r>
                      </m:fName>
                      <m:e>
                        <m:d>
                          <m:dPr>
                            <m:ctrlPr>
                              <a:rPr lang="zh-CN" altLang="zh-CN" i="1">
                                <a:latin typeface="Cambria Math" panose="02040503050406030204" pitchFamily="18" charset="0"/>
                              </a:rPr>
                            </m:ctrlPr>
                          </m:dPr>
                          <m:e>
                            <m:f>
                              <m:fPr>
                                <m:ctrlPr>
                                  <a:rPr lang="zh-CN" altLang="zh-CN" i="1">
                                    <a:latin typeface="Cambria Math" panose="02040503050406030204" pitchFamily="18" charset="0"/>
                                  </a:rPr>
                                </m:ctrlPr>
                              </m:fPr>
                              <m:num>
                                <m:r>
                                  <a:rPr lang="en-US" altLang="zh-CN" i="1">
                                    <a:latin typeface="Cambria Math" panose="02040503050406030204" pitchFamily="18" charset="0"/>
                                  </a:rPr>
                                  <m:t>𝜃</m:t>
                                </m:r>
                              </m:num>
                              <m:den>
                                <m:r>
                                  <a:rPr lang="en-US" altLang="zh-CN" i="1">
                                    <a:latin typeface="Cambria Math" panose="02040503050406030204" pitchFamily="18" charset="0"/>
                                  </a:rPr>
                                  <m:t>2</m:t>
                                </m:r>
                              </m:den>
                            </m:f>
                          </m:e>
                        </m:d>
                      </m:e>
                    </m:func>
                    <m:sSub>
                      <m:sSubPr>
                        <m:ctrlPr>
                          <a:rPr lang="zh-CN"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i="1">
                            <a:latin typeface="Cambria Math" panose="02040503050406030204" pitchFamily="18" charset="0"/>
                          </a:rPr>
                          <m:t>𝑧</m:t>
                        </m:r>
                      </m:sub>
                    </m:sSub>
                    <m:r>
                      <a:rPr lang="en-US" altLang="zh-CN" i="1">
                        <a:latin typeface="Cambria Math" panose="02040503050406030204" pitchFamily="18" charset="0"/>
                      </a:rPr>
                      <m:t>)</m:t>
                    </m:r>
                  </m:oMath>
                </a14:m>
                <a:r>
                  <a:rPr lang="en-US" altLang="zh-CN" dirty="0"/>
                  <a:t> </a:t>
                </a:r>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1619672" y="1569456"/>
                <a:ext cx="6085283" cy="506870"/>
              </a:xfrm>
              <a:prstGeom prst="rect">
                <a:avLst/>
              </a:prstGeom>
              <a:blipFill rotWithShape="1">
                <a:blip r:embed="rId3"/>
                <a:stretch>
                  <a:fillRect l="-7" t="-73" r="8" b="101"/>
                </a:stretch>
              </a:blipFill>
            </p:spPr>
            <p:txBody>
              <a:bodyPr/>
              <a:lstStyle/>
              <a:p>
                <a:r>
                  <a:rPr lang="zh-CN" altLang="en-US">
                    <a:noFill/>
                  </a:rPr>
                  <a:t> </a:t>
                </a:r>
              </a:p>
            </p:txBody>
          </p:sp>
        </mc:Fallback>
      </mc:AlternateContent>
      <p:sp>
        <p:nvSpPr>
          <p:cNvPr id="10" name="矩形 9"/>
          <p:cNvSpPr/>
          <p:nvPr/>
        </p:nvSpPr>
        <p:spPr>
          <a:xfrm>
            <a:off x="3050959" y="923290"/>
            <a:ext cx="2305118" cy="400110"/>
          </a:xfrm>
          <a:prstGeom prst="rect">
            <a:avLst/>
          </a:prstGeom>
        </p:spPr>
        <p:txBody>
          <a:bodyPr wrap="none">
            <a:spAutoFit/>
          </a:bodyPr>
          <a:lstStyle/>
          <a:p>
            <a:r>
              <a:rPr lang="zh-CN" altLang="zh-CN" sz="2000" dirty="0">
                <a:solidFill>
                  <a:srgbClr val="002060"/>
                </a:solidFill>
              </a:rPr>
              <a:t>四元数</a:t>
            </a:r>
            <a:r>
              <a:rPr lang="en-US" altLang="zh-CN" sz="2000" dirty="0">
                <a:solidFill>
                  <a:srgbClr val="002060"/>
                </a:solidFill>
              </a:rPr>
              <a:t>(Quaternion)</a:t>
            </a:r>
            <a:endParaRPr lang="zh-CN" altLang="en-US" sz="2000" dirty="0">
              <a:solidFill>
                <a:srgbClr val="002060"/>
              </a:solidFill>
            </a:endParaRPr>
          </a:p>
        </p:txBody>
      </p:sp>
      <mc:AlternateContent xmlns:mc="http://schemas.openxmlformats.org/markup-compatibility/2006" xmlns:a14="http://schemas.microsoft.com/office/drawing/2010/main">
        <mc:Choice Requires="a14">
          <p:sp>
            <p:nvSpPr>
              <p:cNvPr id="8" name="矩形 7"/>
              <p:cNvSpPr/>
              <p:nvPr/>
            </p:nvSpPr>
            <p:spPr>
              <a:xfrm>
                <a:off x="899592" y="2436480"/>
                <a:ext cx="24824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=(0,</m:t>
                          </m:r>
                          <m:r>
                            <a:rPr lang="zh-CN" altLang="en-US" i="1">
                              <a:latin typeface="Cambria Math" panose="02040503050406030204" pitchFamily="18" charset="0"/>
                            </a:rPr>
                            <m:t>𝑥</m:t>
                          </m:r>
                          <m:r>
                            <a:rPr lang="zh-CN" altLang="en-US" i="0">
                              <a:latin typeface="Cambria Math" panose="02040503050406030204" pitchFamily="18" charset="0"/>
                            </a:rPr>
                            <m:t>,</m:t>
                          </m:r>
                          <m:r>
                            <a:rPr lang="zh-CN" altLang="en-US" i="1">
                              <a:latin typeface="Cambria Math" panose="02040503050406030204" pitchFamily="18" charset="0"/>
                            </a:rPr>
                            <m:t>𝑦</m:t>
                          </m:r>
                          <m:r>
                            <a:rPr lang="zh-CN" altLang="en-US" i="0">
                              <a:latin typeface="Cambria Math" panose="02040503050406030204" pitchFamily="18" charset="0"/>
                            </a:rPr>
                            <m:t>,</m:t>
                          </m:r>
                          <m:r>
                            <a:rPr lang="zh-CN" altLang="en-US" i="1">
                              <a:latin typeface="Cambria Math" panose="02040503050406030204" pitchFamily="18" charset="0"/>
                            </a:rPr>
                            <m:t>𝑧</m:t>
                          </m:r>
                          <m:r>
                            <a:rPr lang="zh-CN" altLang="en-US" i="0">
                              <a:latin typeface="Cambria Math" panose="02040503050406030204" pitchFamily="18" charset="0"/>
                            </a:rPr>
                            <m:t>)=(0,</m:t>
                          </m:r>
                          <m:r>
                            <a:rPr lang="zh-CN" altLang="en-US" i="1">
                              <a:latin typeface="Cambria Math" panose="02040503050406030204" pitchFamily="18" charset="0"/>
                            </a:rPr>
                            <m:t>𝑆</m:t>
                          </m:r>
                        </m:e>
                      </m:d>
                    </m:oMath>
                  </m:oMathPara>
                </a14:m>
                <a:endParaRPr lang="zh-CN" altLang="en-US" dirty="0"/>
              </a:p>
            </p:txBody>
          </p:sp>
        </mc:Choice>
        <mc:Fallback xmlns="">
          <p:sp>
            <p:nvSpPr>
              <p:cNvPr id="8" name="矩形 7"/>
              <p:cNvSpPr>
                <a:spLocks noRot="1" noChangeAspect="1" noMove="1" noResize="1" noEditPoints="1" noAdjustHandles="1" noChangeArrowheads="1" noChangeShapeType="1" noTextEdit="1"/>
              </p:cNvSpPr>
              <p:nvPr/>
            </p:nvSpPr>
            <p:spPr>
              <a:xfrm>
                <a:off x="899592" y="2436480"/>
                <a:ext cx="2482410" cy="369332"/>
              </a:xfrm>
              <a:prstGeom prst="rect">
                <a:avLst/>
              </a:prstGeom>
              <a:blipFill rotWithShape="1">
                <a:blip r:embed="rId4"/>
                <a:stretch>
                  <a:fillRect l="-17" t="-168" r="25" b="10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955100" y="2981300"/>
                <a:ext cx="1389035" cy="369332"/>
              </a:xfrm>
              <a:prstGeom prst="rect">
                <a:avLst/>
              </a:prstGeom>
            </p:spPr>
            <p:txBody>
              <a:bodyPr wrap="none">
                <a:spAutoFit/>
              </a:bodyPr>
              <a:lstStyle/>
              <a:p>
                <a14:m>
                  <m:oMath xmlns:m="http://schemas.openxmlformats.org/officeDocument/2006/math">
                    <m:sSup>
                      <m:sSupPr>
                        <m:ctrlPr>
                          <a:rPr lang="zh-CN"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cs typeface="Times New Roman" panose="02020603050405020304" pitchFamily="18" charset="0"/>
                          </a:rPr>
                          <m:t>𝑃</m:t>
                        </m:r>
                      </m:e>
                      <m:sup>
                        <m:r>
                          <a:rPr lang="en-US" altLang="zh-CN" i="1">
                            <a:latin typeface="Cambria Math" panose="02040503050406030204" pitchFamily="18" charset="0"/>
                            <a:cs typeface="Times New Roman" panose="02020603050405020304" pitchFamily="18" charset="0"/>
                          </a:rPr>
                          <m:t>′</m:t>
                        </m:r>
                      </m:sup>
                    </m:sSup>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𝑞𝑃</m:t>
                    </m:r>
                    <m:sSup>
                      <m:sSupPr>
                        <m:ctrlPr>
                          <a:rPr lang="zh-CN" altLang="zh-CN" i="1">
                            <a:effectLst/>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cs typeface="Times New Roman" panose="02020603050405020304" pitchFamily="18" charset="0"/>
                          </a:rPr>
                          <m:t>𝑞</m:t>
                        </m:r>
                      </m:e>
                      <m:sup>
                        <m:r>
                          <a:rPr lang="en-US" altLang="zh-CN" i="1">
                            <a:latin typeface="Cambria Math" panose="02040503050406030204" pitchFamily="18" charset="0"/>
                            <a:cs typeface="Times New Roman" panose="02020603050405020304" pitchFamily="18" charset="0"/>
                          </a:rPr>
                          <m:t>−1</m:t>
                        </m:r>
                      </m:sup>
                    </m:sSup>
                  </m:oMath>
                </a14:m>
                <a:r>
                  <a:rPr lang="en-US" altLang="zh-CN" dirty="0">
                    <a:latin typeface="Cambria Math" panose="02040503050406030204" pitchFamily="18" charset="0"/>
                    <a:cs typeface="Times New Roman" panose="02020603050405020304" pitchFamily="18" charset="0"/>
                  </a:rPr>
                  <a:t> </a:t>
                </a:r>
                <a:endParaRPr lang="zh-CN" altLang="en-US" dirty="0"/>
              </a:p>
            </p:txBody>
          </p:sp>
        </mc:Choice>
        <mc:Fallback xmlns="">
          <p:sp>
            <p:nvSpPr>
              <p:cNvPr id="11" name="矩形 10"/>
              <p:cNvSpPr>
                <a:spLocks noRot="1" noChangeAspect="1" noMove="1" noResize="1" noEditPoints="1" noAdjustHandles="1" noChangeArrowheads="1" noChangeShapeType="1" noTextEdit="1"/>
              </p:cNvSpPr>
              <p:nvPr/>
            </p:nvSpPr>
            <p:spPr>
              <a:xfrm>
                <a:off x="955100" y="2981300"/>
                <a:ext cx="1389035" cy="369332"/>
              </a:xfrm>
              <a:prstGeom prst="rect">
                <a:avLst/>
              </a:prstGeom>
              <a:blipFill rotWithShape="1">
                <a:blip r:embed="rId5"/>
                <a:stretch>
                  <a:fillRect l="-4" t="-165" r="25" b="1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779912" y="2175722"/>
                <a:ext cx="4248473" cy="9254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𝑃</m:t>
                      </m:r>
                      <m:nary>
                        <m:naryPr>
                          <m:chr m:val="⨂"/>
                          <m:subHide m:val="on"/>
                          <m:supHide m:val="on"/>
                          <m:ctrlPr>
                            <a:rPr lang="zh-CN" altLang="en-US" sz="1400" i="1">
                              <a:latin typeface="Cambria Math" panose="02040503050406030204" pitchFamily="18" charset="0"/>
                            </a:rPr>
                          </m:ctrlPr>
                        </m:naryPr>
                        <m:sub/>
                        <m:sup/>
                        <m:e>
                          <m:r>
                            <m:rPr>
                              <m:sty m:val="p"/>
                            </m:rPr>
                            <a:rPr lang="zh-CN" altLang="en-US" sz="1400" i="0">
                              <a:latin typeface="Cambria Math" panose="02040503050406030204" pitchFamily="18" charset="0"/>
                            </a:rPr>
                            <m:t>Q</m:t>
                          </m:r>
                        </m:e>
                      </m:nary>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m>
                                  <m:mPr>
                                    <m:mcs>
                                      <m:mc>
                                        <m:mcPr>
                                          <m:count m:val="2"/>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𝑝</m:t>
                                      </m:r>
                                      <m:r>
                                        <a:rPr lang="zh-CN" altLang="en-US" sz="1400" i="0">
                                          <a:latin typeface="Cambria Math" panose="02040503050406030204" pitchFamily="18" charset="0"/>
                                        </a:rPr>
                                        <m:t>0</m:t>
                                      </m:r>
                                    </m:e>
                                    <m:e>
                                      <m:r>
                                        <a:rPr lang="zh-CN" altLang="en-US" sz="1400" i="0">
                                          <a:latin typeface="Cambria Math" panose="02040503050406030204" pitchFamily="18" charset="0"/>
                                        </a:rPr>
                                        <m:t>−</m:t>
                                      </m:r>
                                      <m:r>
                                        <a:rPr lang="zh-CN" altLang="en-US" sz="1400" i="1">
                                          <a:latin typeface="Cambria Math" panose="02040503050406030204" pitchFamily="18" charset="0"/>
                                        </a:rPr>
                                        <m:t>𝑝</m:t>
                                      </m:r>
                                      <m:r>
                                        <a:rPr lang="zh-CN" altLang="en-US" sz="1400" i="0">
                                          <a:latin typeface="Cambria Math" panose="02040503050406030204" pitchFamily="18" charset="0"/>
                                        </a:rPr>
                                        <m:t>1</m:t>
                                      </m:r>
                                    </m:e>
                                  </m:mr>
                                  <m:mr>
                                    <m:e>
                                      <m:r>
                                        <a:rPr lang="zh-CN" altLang="en-US" sz="1400" i="1">
                                          <a:latin typeface="Cambria Math" panose="02040503050406030204" pitchFamily="18" charset="0"/>
                                        </a:rPr>
                                        <m:t>𝑝</m:t>
                                      </m:r>
                                      <m:r>
                                        <a:rPr lang="zh-CN" altLang="en-US" sz="1400" i="0">
                                          <a:latin typeface="Cambria Math" panose="02040503050406030204" pitchFamily="18" charset="0"/>
                                        </a:rPr>
                                        <m:t>1</m:t>
                                      </m:r>
                                    </m:e>
                                    <m:e>
                                      <m:r>
                                        <a:rPr lang="zh-CN" altLang="en-US" sz="1400" i="1">
                                          <a:latin typeface="Cambria Math" panose="02040503050406030204" pitchFamily="18" charset="0"/>
                                        </a:rPr>
                                        <m:t>𝑝</m:t>
                                      </m:r>
                                      <m:r>
                                        <a:rPr lang="zh-CN" altLang="en-US" sz="1400" i="0">
                                          <a:latin typeface="Cambria Math" panose="02040503050406030204" pitchFamily="18" charset="0"/>
                                        </a:rPr>
                                        <m:t>0</m:t>
                                      </m:r>
                                    </m:e>
                                  </m:mr>
                                </m:m>
                              </m:e>
                              <m:e>
                                <m:m>
                                  <m:mPr>
                                    <m:mcs>
                                      <m:mc>
                                        <m:mcPr>
                                          <m:count m:val="2"/>
                                          <m:mcJc m:val="center"/>
                                        </m:mcPr>
                                      </m:mc>
                                    </m:mcs>
                                    <m:ctrlPr>
                                      <a:rPr lang="zh-CN" altLang="en-US" sz="1400" i="1">
                                        <a:latin typeface="Cambria Math" panose="02040503050406030204" pitchFamily="18" charset="0"/>
                                      </a:rPr>
                                    </m:ctrlPr>
                                  </m:mPr>
                                  <m:mr>
                                    <m:e>
                                      <m:r>
                                        <a:rPr lang="zh-CN" altLang="en-US" sz="1400" i="0">
                                          <a:latin typeface="Cambria Math" panose="02040503050406030204" pitchFamily="18" charset="0"/>
                                        </a:rPr>
                                        <m:t>−</m:t>
                                      </m:r>
                                      <m:r>
                                        <a:rPr lang="zh-CN" altLang="en-US" sz="1400" i="1">
                                          <a:latin typeface="Cambria Math" panose="02040503050406030204" pitchFamily="18" charset="0"/>
                                        </a:rPr>
                                        <m:t>𝑝</m:t>
                                      </m:r>
                                      <m:r>
                                        <a:rPr lang="zh-CN" altLang="en-US" sz="1400" i="0">
                                          <a:latin typeface="Cambria Math" panose="02040503050406030204" pitchFamily="18" charset="0"/>
                                        </a:rPr>
                                        <m:t>2</m:t>
                                      </m:r>
                                    </m:e>
                                    <m:e>
                                      <m:r>
                                        <a:rPr lang="zh-CN" altLang="en-US" sz="1400" i="0">
                                          <a:latin typeface="Cambria Math" panose="02040503050406030204" pitchFamily="18" charset="0"/>
                                        </a:rPr>
                                        <m:t>−</m:t>
                                      </m:r>
                                      <m:r>
                                        <a:rPr lang="zh-CN" altLang="en-US" sz="1400" i="1">
                                          <a:latin typeface="Cambria Math" panose="02040503050406030204" pitchFamily="18" charset="0"/>
                                        </a:rPr>
                                        <m:t>𝑝</m:t>
                                      </m:r>
                                      <m:r>
                                        <a:rPr lang="zh-CN" altLang="en-US" sz="1400" i="0">
                                          <a:latin typeface="Cambria Math" panose="02040503050406030204" pitchFamily="18" charset="0"/>
                                        </a:rPr>
                                        <m:t>3</m:t>
                                      </m:r>
                                    </m:e>
                                  </m:mr>
                                  <m:mr>
                                    <m:e>
                                      <m:r>
                                        <a:rPr lang="zh-CN" altLang="en-US" sz="1400" i="0">
                                          <a:latin typeface="Cambria Math" panose="02040503050406030204" pitchFamily="18" charset="0"/>
                                        </a:rPr>
                                        <m:t>−</m:t>
                                      </m:r>
                                      <m:r>
                                        <a:rPr lang="zh-CN" altLang="en-US" sz="1400" i="1">
                                          <a:latin typeface="Cambria Math" panose="02040503050406030204" pitchFamily="18" charset="0"/>
                                        </a:rPr>
                                        <m:t>𝑝</m:t>
                                      </m:r>
                                      <m:r>
                                        <a:rPr lang="zh-CN" altLang="en-US" sz="1400" i="0">
                                          <a:latin typeface="Cambria Math" panose="02040503050406030204" pitchFamily="18" charset="0"/>
                                        </a:rPr>
                                        <m:t>3</m:t>
                                      </m:r>
                                    </m:e>
                                    <m:e>
                                      <m:r>
                                        <a:rPr lang="zh-CN" altLang="en-US" sz="1400" i="1">
                                          <a:latin typeface="Cambria Math" panose="02040503050406030204" pitchFamily="18" charset="0"/>
                                        </a:rPr>
                                        <m:t>𝑝</m:t>
                                      </m:r>
                                      <m:r>
                                        <a:rPr lang="zh-CN" altLang="en-US" sz="1400" i="0">
                                          <a:latin typeface="Cambria Math" panose="02040503050406030204" pitchFamily="18" charset="0"/>
                                        </a:rPr>
                                        <m:t>2</m:t>
                                      </m:r>
                                    </m:e>
                                  </m:mr>
                                </m:m>
                              </m:e>
                            </m:mr>
                            <m:mr>
                              <m:e>
                                <m:m>
                                  <m:mPr>
                                    <m:mcs>
                                      <m:mc>
                                        <m:mcPr>
                                          <m:count m:val="2"/>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𝑝</m:t>
                                      </m:r>
                                      <m:r>
                                        <a:rPr lang="zh-CN" altLang="en-US" sz="1400" i="0">
                                          <a:latin typeface="Cambria Math" panose="02040503050406030204" pitchFamily="18" charset="0"/>
                                        </a:rPr>
                                        <m:t>2</m:t>
                                      </m:r>
                                    </m:e>
                                    <m:e>
                                      <m:r>
                                        <a:rPr lang="zh-CN" altLang="en-US" sz="1400" i="1">
                                          <a:latin typeface="Cambria Math" panose="02040503050406030204" pitchFamily="18" charset="0"/>
                                        </a:rPr>
                                        <m:t>𝑝</m:t>
                                      </m:r>
                                      <m:r>
                                        <a:rPr lang="zh-CN" altLang="en-US" sz="1400" i="0">
                                          <a:latin typeface="Cambria Math" panose="02040503050406030204" pitchFamily="18" charset="0"/>
                                        </a:rPr>
                                        <m:t>3</m:t>
                                      </m:r>
                                    </m:e>
                                  </m:mr>
                                  <m:mr>
                                    <m:e>
                                      <m:r>
                                        <a:rPr lang="zh-CN" altLang="en-US" sz="1400" i="1">
                                          <a:latin typeface="Cambria Math" panose="02040503050406030204" pitchFamily="18" charset="0"/>
                                        </a:rPr>
                                        <m:t>𝑝</m:t>
                                      </m:r>
                                      <m:r>
                                        <a:rPr lang="zh-CN" altLang="en-US" sz="1400" i="0">
                                          <a:latin typeface="Cambria Math" panose="02040503050406030204" pitchFamily="18" charset="0"/>
                                        </a:rPr>
                                        <m:t>3</m:t>
                                      </m:r>
                                    </m:e>
                                    <m:e>
                                      <m:r>
                                        <a:rPr lang="zh-CN" altLang="en-US" sz="1400" i="0">
                                          <a:latin typeface="Cambria Math" panose="02040503050406030204" pitchFamily="18" charset="0"/>
                                        </a:rPr>
                                        <m:t>−</m:t>
                                      </m:r>
                                      <m:r>
                                        <a:rPr lang="zh-CN" altLang="en-US" sz="1400" i="1">
                                          <a:latin typeface="Cambria Math" panose="02040503050406030204" pitchFamily="18" charset="0"/>
                                        </a:rPr>
                                        <m:t>𝑝</m:t>
                                      </m:r>
                                      <m:r>
                                        <a:rPr lang="zh-CN" altLang="en-US" sz="1400" i="0">
                                          <a:latin typeface="Cambria Math" panose="02040503050406030204" pitchFamily="18" charset="0"/>
                                        </a:rPr>
                                        <m:t>2</m:t>
                                      </m:r>
                                    </m:e>
                                  </m:mr>
                                </m:m>
                              </m:e>
                              <m:e>
                                <m:m>
                                  <m:mPr>
                                    <m:mcs>
                                      <m:mc>
                                        <m:mcPr>
                                          <m:count m:val="2"/>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𝑝</m:t>
                                      </m:r>
                                      <m:r>
                                        <a:rPr lang="zh-CN" altLang="en-US" sz="1400" i="0">
                                          <a:latin typeface="Cambria Math" panose="02040503050406030204" pitchFamily="18" charset="0"/>
                                        </a:rPr>
                                        <m:t>0</m:t>
                                      </m:r>
                                    </m:e>
                                    <m:e>
                                      <m:r>
                                        <a:rPr lang="zh-CN" altLang="en-US" sz="1400" i="0">
                                          <a:latin typeface="Cambria Math" panose="02040503050406030204" pitchFamily="18" charset="0"/>
                                        </a:rPr>
                                        <m:t>−</m:t>
                                      </m:r>
                                      <m:r>
                                        <a:rPr lang="zh-CN" altLang="en-US" sz="1400" i="1">
                                          <a:latin typeface="Cambria Math" panose="02040503050406030204" pitchFamily="18" charset="0"/>
                                        </a:rPr>
                                        <m:t>𝑝</m:t>
                                      </m:r>
                                      <m:r>
                                        <a:rPr lang="zh-CN" altLang="en-US" sz="1400" i="0">
                                          <a:latin typeface="Cambria Math" panose="02040503050406030204" pitchFamily="18" charset="0"/>
                                        </a:rPr>
                                        <m:t>1</m:t>
                                      </m:r>
                                    </m:e>
                                  </m:mr>
                                  <m:mr>
                                    <m:e>
                                      <m:r>
                                        <a:rPr lang="zh-CN" altLang="en-US" sz="1400" i="1">
                                          <a:latin typeface="Cambria Math" panose="02040503050406030204" pitchFamily="18" charset="0"/>
                                        </a:rPr>
                                        <m:t>𝑝</m:t>
                                      </m:r>
                                      <m:r>
                                        <a:rPr lang="zh-CN" altLang="en-US" sz="1400" i="0">
                                          <a:latin typeface="Cambria Math" panose="02040503050406030204" pitchFamily="18" charset="0"/>
                                        </a:rPr>
                                        <m:t>1</m:t>
                                      </m:r>
                                    </m:e>
                                    <m:e>
                                      <m:r>
                                        <a:rPr lang="zh-CN" altLang="en-US" sz="1400" i="1">
                                          <a:latin typeface="Cambria Math" panose="02040503050406030204" pitchFamily="18" charset="0"/>
                                        </a:rPr>
                                        <m:t>𝑝</m:t>
                                      </m:r>
                                      <m:r>
                                        <a:rPr lang="zh-CN" altLang="en-US" sz="1400" i="0">
                                          <a:latin typeface="Cambria Math" panose="02040503050406030204" pitchFamily="18" charset="0"/>
                                        </a:rPr>
                                        <m:t>0</m:t>
                                      </m:r>
                                    </m:e>
                                  </m:mr>
                                </m:m>
                              </m:e>
                            </m:mr>
                          </m:m>
                        </m:e>
                      </m:d>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m>
                                  <m:mPr>
                                    <m:mcs>
                                      <m:mc>
                                        <m:mcPr>
                                          <m:count m:val="1"/>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𝑞</m:t>
                                      </m:r>
                                      <m:r>
                                        <a:rPr lang="zh-CN" altLang="en-US" sz="1400" i="0">
                                          <a:latin typeface="Cambria Math" panose="02040503050406030204" pitchFamily="18" charset="0"/>
                                        </a:rPr>
                                        <m:t>0</m:t>
                                      </m:r>
                                    </m:e>
                                  </m:mr>
                                  <m:mr>
                                    <m:e>
                                      <m:r>
                                        <a:rPr lang="zh-CN" altLang="en-US" sz="1400" i="1">
                                          <a:latin typeface="Cambria Math" panose="02040503050406030204" pitchFamily="18" charset="0"/>
                                        </a:rPr>
                                        <m:t>𝑞</m:t>
                                      </m:r>
                                      <m:r>
                                        <a:rPr lang="zh-CN" altLang="en-US" sz="1400" i="0">
                                          <a:latin typeface="Cambria Math" panose="02040503050406030204" pitchFamily="18" charset="0"/>
                                        </a:rPr>
                                        <m:t>1</m:t>
                                      </m:r>
                                    </m:e>
                                  </m:mr>
                                </m:m>
                              </m:e>
                            </m:mr>
                            <m:mr>
                              <m:e>
                                <m:m>
                                  <m:mPr>
                                    <m:mcs>
                                      <m:mc>
                                        <m:mcPr>
                                          <m:count m:val="1"/>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𝑞</m:t>
                                      </m:r>
                                      <m:r>
                                        <a:rPr lang="zh-CN" altLang="en-US" sz="1400" i="0">
                                          <a:latin typeface="Cambria Math" panose="02040503050406030204" pitchFamily="18" charset="0"/>
                                        </a:rPr>
                                        <m:t>2</m:t>
                                      </m:r>
                                    </m:e>
                                  </m:mr>
                                  <m:mr>
                                    <m:e>
                                      <m:r>
                                        <a:rPr lang="zh-CN" altLang="en-US" sz="1400" i="1">
                                          <a:latin typeface="Cambria Math" panose="02040503050406030204" pitchFamily="18" charset="0"/>
                                        </a:rPr>
                                        <m:t>𝑞</m:t>
                                      </m:r>
                                      <m:r>
                                        <a:rPr lang="zh-CN" altLang="en-US" sz="1400" i="0">
                                          <a:latin typeface="Cambria Math" panose="02040503050406030204" pitchFamily="18" charset="0"/>
                                        </a:rPr>
                                        <m:t>3</m:t>
                                      </m:r>
                                    </m:e>
                                  </m:mr>
                                </m:m>
                              </m:e>
                            </m:mr>
                          </m:m>
                        </m:e>
                      </m:d>
                      <m:r>
                        <a:rPr lang="zh-CN" altLang="en-US" sz="1400" i="0">
                          <a:latin typeface="Cambria Math" panose="02040503050406030204" pitchFamily="18" charset="0"/>
                        </a:rPr>
                        <m:t>=</m:t>
                      </m:r>
                      <m:r>
                        <a:rPr lang="zh-CN" altLang="en-US" sz="1400" i="1">
                          <a:latin typeface="Cambria Math" panose="02040503050406030204" pitchFamily="18" charset="0"/>
                        </a:rPr>
                        <m:t>𝑀</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𝑃</m:t>
                          </m:r>
                        </m:e>
                      </m:d>
                      <m:r>
                        <a:rPr lang="zh-CN" altLang="en-US" sz="1400" i="1">
                          <a:latin typeface="Cambria Math" panose="02040503050406030204" pitchFamily="18" charset="0"/>
                        </a:rPr>
                        <m:t>𝑄</m:t>
                      </m:r>
                    </m:oMath>
                  </m:oMathPara>
                </a14:m>
                <a:endParaRPr lang="zh-CN" altLang="en-US" sz="1400" dirty="0"/>
              </a:p>
            </p:txBody>
          </p:sp>
        </mc:Choice>
        <mc:Fallback xmlns="">
          <p:sp>
            <p:nvSpPr>
              <p:cNvPr id="12" name="矩形 11"/>
              <p:cNvSpPr>
                <a:spLocks noRot="1" noChangeAspect="1" noMove="1" noResize="1" noEditPoints="1" noAdjustHandles="1" noChangeArrowheads="1" noChangeShapeType="1" noTextEdit="1"/>
              </p:cNvSpPr>
              <p:nvPr/>
            </p:nvSpPr>
            <p:spPr>
              <a:xfrm>
                <a:off x="3779912" y="2175722"/>
                <a:ext cx="4248473" cy="925446"/>
              </a:xfrm>
              <a:prstGeom prst="rect">
                <a:avLst/>
              </a:prstGeom>
              <a:blipFill rotWithShape="1">
                <a:blip r:embed="rId6"/>
                <a:stretch>
                  <a:fillRect l="-9" t="-23" r="2" b="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779912" y="3302488"/>
                <a:ext cx="4176464" cy="92544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400" i="1">
                          <a:latin typeface="Cambria Math" panose="02040503050406030204" pitchFamily="18" charset="0"/>
                        </a:rPr>
                        <m:t>𝑃</m:t>
                      </m:r>
                      <m:nary>
                        <m:naryPr>
                          <m:chr m:val="⨂"/>
                          <m:subHide m:val="on"/>
                          <m:supHide m:val="on"/>
                          <m:ctrlPr>
                            <a:rPr lang="zh-CN" altLang="en-US" sz="1400" i="1">
                              <a:latin typeface="Cambria Math" panose="02040503050406030204" pitchFamily="18" charset="0"/>
                            </a:rPr>
                          </m:ctrlPr>
                        </m:naryPr>
                        <m:sub/>
                        <m:sup/>
                        <m:e>
                          <m:r>
                            <m:rPr>
                              <m:sty m:val="p"/>
                            </m:rPr>
                            <a:rPr lang="zh-CN" altLang="en-US" sz="1400" i="0">
                              <a:latin typeface="Cambria Math" panose="02040503050406030204" pitchFamily="18" charset="0"/>
                            </a:rPr>
                            <m:t>Q</m:t>
                          </m:r>
                        </m:e>
                      </m:nary>
                      <m:r>
                        <a:rPr lang="zh-CN" altLang="en-US" sz="1400" i="0">
                          <a:latin typeface="Cambria Math" panose="02040503050406030204" pitchFamily="18" charset="0"/>
                        </a:rPr>
                        <m:t>=</m:t>
                      </m:r>
                      <m:d>
                        <m:dPr>
                          <m:begChr m:val="["/>
                          <m:endChr m:val="]"/>
                          <m:ctrlPr>
                            <a:rPr lang="zh-CN" altLang="en-US" sz="1400" i="1">
                              <a:latin typeface="Cambria Math" panose="02040503050406030204" pitchFamily="18" charset="0"/>
                            </a:rPr>
                          </m:ctrlPr>
                        </m:dPr>
                        <m:e>
                          <m:m>
                            <m:mPr>
                              <m:mcs>
                                <m:mc>
                                  <m:mcPr>
                                    <m:count m:val="2"/>
                                    <m:mcJc m:val="center"/>
                                  </m:mcPr>
                                </m:mc>
                              </m:mcs>
                              <m:ctrlPr>
                                <a:rPr lang="zh-CN" altLang="en-US" sz="1400" i="1">
                                  <a:latin typeface="Cambria Math" panose="02040503050406030204" pitchFamily="18" charset="0"/>
                                </a:rPr>
                              </m:ctrlPr>
                            </m:mPr>
                            <m:mr>
                              <m:e>
                                <m:m>
                                  <m:mPr>
                                    <m:mcs>
                                      <m:mc>
                                        <m:mcPr>
                                          <m:count m:val="2"/>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𝑞</m:t>
                                      </m:r>
                                      <m:r>
                                        <a:rPr lang="zh-CN" altLang="en-US" sz="1400" i="0">
                                          <a:latin typeface="Cambria Math" panose="02040503050406030204" pitchFamily="18" charset="0"/>
                                        </a:rPr>
                                        <m:t>0</m:t>
                                      </m:r>
                                    </m:e>
                                    <m:e>
                                      <m:r>
                                        <a:rPr lang="zh-CN" altLang="en-US" sz="1400" i="0">
                                          <a:latin typeface="Cambria Math" panose="02040503050406030204" pitchFamily="18" charset="0"/>
                                        </a:rPr>
                                        <m:t>−</m:t>
                                      </m:r>
                                      <m:r>
                                        <a:rPr lang="zh-CN" altLang="en-US" sz="1400" i="1">
                                          <a:latin typeface="Cambria Math" panose="02040503050406030204" pitchFamily="18" charset="0"/>
                                        </a:rPr>
                                        <m:t>𝑞</m:t>
                                      </m:r>
                                      <m:r>
                                        <a:rPr lang="zh-CN" altLang="en-US" sz="1400" i="0">
                                          <a:latin typeface="Cambria Math" panose="02040503050406030204" pitchFamily="18" charset="0"/>
                                        </a:rPr>
                                        <m:t>1</m:t>
                                      </m:r>
                                    </m:e>
                                  </m:mr>
                                  <m:mr>
                                    <m:e>
                                      <m:r>
                                        <a:rPr lang="zh-CN" altLang="en-US" sz="1400" i="1">
                                          <a:latin typeface="Cambria Math" panose="02040503050406030204" pitchFamily="18" charset="0"/>
                                        </a:rPr>
                                        <m:t>𝑞</m:t>
                                      </m:r>
                                      <m:r>
                                        <a:rPr lang="zh-CN" altLang="en-US" sz="1400" i="0">
                                          <a:latin typeface="Cambria Math" panose="02040503050406030204" pitchFamily="18" charset="0"/>
                                        </a:rPr>
                                        <m:t>1</m:t>
                                      </m:r>
                                    </m:e>
                                    <m:e>
                                      <m:r>
                                        <a:rPr lang="zh-CN" altLang="en-US" sz="1400" i="1">
                                          <a:latin typeface="Cambria Math" panose="02040503050406030204" pitchFamily="18" charset="0"/>
                                        </a:rPr>
                                        <m:t>𝑞</m:t>
                                      </m:r>
                                      <m:r>
                                        <a:rPr lang="zh-CN" altLang="en-US" sz="1400" i="0">
                                          <a:latin typeface="Cambria Math" panose="02040503050406030204" pitchFamily="18" charset="0"/>
                                        </a:rPr>
                                        <m:t>0</m:t>
                                      </m:r>
                                    </m:e>
                                  </m:mr>
                                </m:m>
                              </m:e>
                              <m:e>
                                <m:m>
                                  <m:mPr>
                                    <m:mcs>
                                      <m:mc>
                                        <m:mcPr>
                                          <m:count m:val="2"/>
                                          <m:mcJc m:val="center"/>
                                        </m:mcPr>
                                      </m:mc>
                                    </m:mcs>
                                    <m:ctrlPr>
                                      <a:rPr lang="zh-CN" altLang="en-US" sz="1400" i="1">
                                        <a:latin typeface="Cambria Math" panose="02040503050406030204" pitchFamily="18" charset="0"/>
                                      </a:rPr>
                                    </m:ctrlPr>
                                  </m:mPr>
                                  <m:mr>
                                    <m:e>
                                      <m:r>
                                        <a:rPr lang="zh-CN" altLang="en-US" sz="1400" i="0">
                                          <a:latin typeface="Cambria Math" panose="02040503050406030204" pitchFamily="18" charset="0"/>
                                        </a:rPr>
                                        <m:t>−</m:t>
                                      </m:r>
                                      <m:r>
                                        <a:rPr lang="zh-CN" altLang="en-US" sz="1400" i="1">
                                          <a:latin typeface="Cambria Math" panose="02040503050406030204" pitchFamily="18" charset="0"/>
                                        </a:rPr>
                                        <m:t>𝑞</m:t>
                                      </m:r>
                                      <m:r>
                                        <a:rPr lang="zh-CN" altLang="en-US" sz="1400" i="0">
                                          <a:latin typeface="Cambria Math" panose="02040503050406030204" pitchFamily="18" charset="0"/>
                                        </a:rPr>
                                        <m:t>2</m:t>
                                      </m:r>
                                    </m:e>
                                    <m:e>
                                      <m:r>
                                        <a:rPr lang="zh-CN" altLang="en-US" sz="1400" i="0">
                                          <a:latin typeface="Cambria Math" panose="02040503050406030204" pitchFamily="18" charset="0"/>
                                        </a:rPr>
                                        <m:t>−</m:t>
                                      </m:r>
                                      <m:r>
                                        <a:rPr lang="zh-CN" altLang="en-US" sz="1400" i="1">
                                          <a:latin typeface="Cambria Math" panose="02040503050406030204" pitchFamily="18" charset="0"/>
                                        </a:rPr>
                                        <m:t>𝑞</m:t>
                                      </m:r>
                                      <m:r>
                                        <a:rPr lang="zh-CN" altLang="en-US" sz="1400" i="0">
                                          <a:latin typeface="Cambria Math" panose="02040503050406030204" pitchFamily="18" charset="0"/>
                                        </a:rPr>
                                        <m:t>3</m:t>
                                      </m:r>
                                    </m:e>
                                  </m:mr>
                                  <m:mr>
                                    <m:e>
                                      <m:r>
                                        <a:rPr lang="zh-CN" altLang="en-US" sz="1400" i="1">
                                          <a:latin typeface="Cambria Math" panose="02040503050406030204" pitchFamily="18" charset="0"/>
                                        </a:rPr>
                                        <m:t>𝑞</m:t>
                                      </m:r>
                                      <m:r>
                                        <a:rPr lang="zh-CN" altLang="en-US" sz="1400" i="0">
                                          <a:latin typeface="Cambria Math" panose="02040503050406030204" pitchFamily="18" charset="0"/>
                                        </a:rPr>
                                        <m:t>3</m:t>
                                      </m:r>
                                    </m:e>
                                    <m:e>
                                      <m:r>
                                        <a:rPr lang="zh-CN" altLang="en-US" sz="1400" i="0">
                                          <a:latin typeface="Cambria Math" panose="02040503050406030204" pitchFamily="18" charset="0"/>
                                        </a:rPr>
                                        <m:t>−</m:t>
                                      </m:r>
                                      <m:r>
                                        <a:rPr lang="zh-CN" altLang="en-US" sz="1400" i="1">
                                          <a:latin typeface="Cambria Math" panose="02040503050406030204" pitchFamily="18" charset="0"/>
                                        </a:rPr>
                                        <m:t>𝑞</m:t>
                                      </m:r>
                                      <m:r>
                                        <a:rPr lang="zh-CN" altLang="en-US" sz="1400" i="0">
                                          <a:latin typeface="Cambria Math" panose="02040503050406030204" pitchFamily="18" charset="0"/>
                                        </a:rPr>
                                        <m:t>2</m:t>
                                      </m:r>
                                    </m:e>
                                  </m:mr>
                                </m:m>
                              </m:e>
                            </m:mr>
                            <m:mr>
                              <m:e>
                                <m:m>
                                  <m:mPr>
                                    <m:mcs>
                                      <m:mc>
                                        <m:mcPr>
                                          <m:count m:val="2"/>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𝑞</m:t>
                                      </m:r>
                                      <m:r>
                                        <a:rPr lang="zh-CN" altLang="en-US" sz="1400" i="0">
                                          <a:latin typeface="Cambria Math" panose="02040503050406030204" pitchFamily="18" charset="0"/>
                                        </a:rPr>
                                        <m:t>2</m:t>
                                      </m:r>
                                    </m:e>
                                    <m:e>
                                      <m:r>
                                        <a:rPr lang="zh-CN" altLang="en-US" sz="1400" i="0">
                                          <a:latin typeface="Cambria Math" panose="02040503050406030204" pitchFamily="18" charset="0"/>
                                        </a:rPr>
                                        <m:t>−</m:t>
                                      </m:r>
                                      <m:r>
                                        <a:rPr lang="zh-CN" altLang="en-US" sz="1400" i="1">
                                          <a:latin typeface="Cambria Math" panose="02040503050406030204" pitchFamily="18" charset="0"/>
                                        </a:rPr>
                                        <m:t>𝑞</m:t>
                                      </m:r>
                                      <m:r>
                                        <a:rPr lang="zh-CN" altLang="en-US" sz="1400" i="0">
                                          <a:latin typeface="Cambria Math" panose="02040503050406030204" pitchFamily="18" charset="0"/>
                                        </a:rPr>
                                        <m:t>3</m:t>
                                      </m:r>
                                    </m:e>
                                  </m:mr>
                                  <m:mr>
                                    <m:e>
                                      <m:r>
                                        <a:rPr lang="zh-CN" altLang="en-US" sz="1400" i="1">
                                          <a:latin typeface="Cambria Math" panose="02040503050406030204" pitchFamily="18" charset="0"/>
                                        </a:rPr>
                                        <m:t>𝑞</m:t>
                                      </m:r>
                                      <m:r>
                                        <a:rPr lang="zh-CN" altLang="en-US" sz="1400" i="0">
                                          <a:latin typeface="Cambria Math" panose="02040503050406030204" pitchFamily="18" charset="0"/>
                                        </a:rPr>
                                        <m:t>3</m:t>
                                      </m:r>
                                    </m:e>
                                    <m:e>
                                      <m:r>
                                        <a:rPr lang="zh-CN" altLang="en-US" sz="1400" i="1">
                                          <a:latin typeface="Cambria Math" panose="02040503050406030204" pitchFamily="18" charset="0"/>
                                        </a:rPr>
                                        <m:t>𝑞</m:t>
                                      </m:r>
                                      <m:r>
                                        <a:rPr lang="zh-CN" altLang="en-US" sz="1400" i="0">
                                          <a:latin typeface="Cambria Math" panose="02040503050406030204" pitchFamily="18" charset="0"/>
                                        </a:rPr>
                                        <m:t>2</m:t>
                                      </m:r>
                                    </m:e>
                                  </m:mr>
                                </m:m>
                              </m:e>
                              <m:e>
                                <m:m>
                                  <m:mPr>
                                    <m:mcs>
                                      <m:mc>
                                        <m:mcPr>
                                          <m:count m:val="2"/>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𝑞</m:t>
                                      </m:r>
                                      <m:r>
                                        <a:rPr lang="zh-CN" altLang="en-US" sz="1400" i="0">
                                          <a:latin typeface="Cambria Math" panose="02040503050406030204" pitchFamily="18" charset="0"/>
                                        </a:rPr>
                                        <m:t>0</m:t>
                                      </m:r>
                                    </m:e>
                                    <m:e>
                                      <m:r>
                                        <a:rPr lang="zh-CN" altLang="en-US" sz="1400" i="1">
                                          <a:latin typeface="Cambria Math" panose="02040503050406030204" pitchFamily="18" charset="0"/>
                                        </a:rPr>
                                        <m:t>𝑞</m:t>
                                      </m:r>
                                      <m:r>
                                        <a:rPr lang="zh-CN" altLang="en-US" sz="1400" i="0">
                                          <a:latin typeface="Cambria Math" panose="02040503050406030204" pitchFamily="18" charset="0"/>
                                        </a:rPr>
                                        <m:t>1</m:t>
                                      </m:r>
                                    </m:e>
                                  </m:mr>
                                  <m:mr>
                                    <m:e>
                                      <m:r>
                                        <a:rPr lang="zh-CN" altLang="en-US" sz="1400" i="0">
                                          <a:latin typeface="Cambria Math" panose="02040503050406030204" pitchFamily="18" charset="0"/>
                                        </a:rPr>
                                        <m:t>−</m:t>
                                      </m:r>
                                      <m:r>
                                        <a:rPr lang="zh-CN" altLang="en-US" sz="1400" i="1">
                                          <a:latin typeface="Cambria Math" panose="02040503050406030204" pitchFamily="18" charset="0"/>
                                        </a:rPr>
                                        <m:t>𝑞</m:t>
                                      </m:r>
                                      <m:r>
                                        <a:rPr lang="zh-CN" altLang="en-US" sz="1400" i="0">
                                          <a:latin typeface="Cambria Math" panose="02040503050406030204" pitchFamily="18" charset="0"/>
                                        </a:rPr>
                                        <m:t>1</m:t>
                                      </m:r>
                                    </m:e>
                                    <m:e>
                                      <m:r>
                                        <a:rPr lang="zh-CN" altLang="en-US" sz="1400" i="1">
                                          <a:latin typeface="Cambria Math" panose="02040503050406030204" pitchFamily="18" charset="0"/>
                                        </a:rPr>
                                        <m:t>𝑞</m:t>
                                      </m:r>
                                      <m:r>
                                        <a:rPr lang="zh-CN" altLang="en-US" sz="1400" i="0">
                                          <a:latin typeface="Cambria Math" panose="02040503050406030204" pitchFamily="18" charset="0"/>
                                        </a:rPr>
                                        <m:t>0</m:t>
                                      </m:r>
                                    </m:e>
                                  </m:mr>
                                </m:m>
                              </m:e>
                            </m:mr>
                          </m:m>
                        </m:e>
                      </m:d>
                      <m:d>
                        <m:dPr>
                          <m:begChr m:val="["/>
                          <m:endChr m:val="]"/>
                          <m:ctrlPr>
                            <a:rPr lang="zh-CN" altLang="en-US" sz="1400" i="1">
                              <a:latin typeface="Cambria Math" panose="02040503050406030204" pitchFamily="18" charset="0"/>
                            </a:rPr>
                          </m:ctrlPr>
                        </m:dPr>
                        <m:e>
                          <m:m>
                            <m:mPr>
                              <m:mcs>
                                <m:mc>
                                  <m:mcPr>
                                    <m:count m:val="1"/>
                                    <m:mcJc m:val="center"/>
                                  </m:mcPr>
                                </m:mc>
                              </m:mcs>
                              <m:ctrlPr>
                                <a:rPr lang="zh-CN" altLang="en-US" sz="1400" i="1">
                                  <a:latin typeface="Cambria Math" panose="02040503050406030204" pitchFamily="18" charset="0"/>
                                </a:rPr>
                              </m:ctrlPr>
                            </m:mPr>
                            <m:mr>
                              <m:e>
                                <m:m>
                                  <m:mPr>
                                    <m:mcs>
                                      <m:mc>
                                        <m:mcPr>
                                          <m:count m:val="1"/>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𝑝</m:t>
                                      </m:r>
                                      <m:r>
                                        <a:rPr lang="zh-CN" altLang="en-US" sz="1400" i="0">
                                          <a:latin typeface="Cambria Math" panose="02040503050406030204" pitchFamily="18" charset="0"/>
                                        </a:rPr>
                                        <m:t>0</m:t>
                                      </m:r>
                                    </m:e>
                                  </m:mr>
                                  <m:mr>
                                    <m:e>
                                      <m:r>
                                        <a:rPr lang="zh-CN" altLang="en-US" sz="1400" i="1">
                                          <a:latin typeface="Cambria Math" panose="02040503050406030204" pitchFamily="18" charset="0"/>
                                        </a:rPr>
                                        <m:t>𝑝</m:t>
                                      </m:r>
                                      <m:r>
                                        <a:rPr lang="zh-CN" altLang="en-US" sz="1400" i="0">
                                          <a:latin typeface="Cambria Math" panose="02040503050406030204" pitchFamily="18" charset="0"/>
                                        </a:rPr>
                                        <m:t>1</m:t>
                                      </m:r>
                                    </m:e>
                                  </m:mr>
                                </m:m>
                              </m:e>
                            </m:mr>
                            <m:mr>
                              <m:e>
                                <m:m>
                                  <m:mPr>
                                    <m:mcs>
                                      <m:mc>
                                        <m:mcPr>
                                          <m:count m:val="1"/>
                                          <m:mcJc m:val="center"/>
                                        </m:mcPr>
                                      </m:mc>
                                    </m:mcs>
                                    <m:ctrlPr>
                                      <a:rPr lang="zh-CN" altLang="en-US" sz="1400" i="1">
                                        <a:latin typeface="Cambria Math" panose="02040503050406030204" pitchFamily="18" charset="0"/>
                                      </a:rPr>
                                    </m:ctrlPr>
                                  </m:mPr>
                                  <m:mr>
                                    <m:e>
                                      <m:r>
                                        <a:rPr lang="zh-CN" altLang="en-US" sz="1400" i="1">
                                          <a:latin typeface="Cambria Math" panose="02040503050406030204" pitchFamily="18" charset="0"/>
                                        </a:rPr>
                                        <m:t>𝑝</m:t>
                                      </m:r>
                                      <m:r>
                                        <a:rPr lang="zh-CN" altLang="en-US" sz="1400" i="0">
                                          <a:latin typeface="Cambria Math" panose="02040503050406030204" pitchFamily="18" charset="0"/>
                                        </a:rPr>
                                        <m:t>2</m:t>
                                      </m:r>
                                    </m:e>
                                  </m:mr>
                                  <m:mr>
                                    <m:e>
                                      <m:r>
                                        <a:rPr lang="zh-CN" altLang="en-US" sz="1400" i="1">
                                          <a:latin typeface="Cambria Math" panose="02040503050406030204" pitchFamily="18" charset="0"/>
                                        </a:rPr>
                                        <m:t>𝑝</m:t>
                                      </m:r>
                                      <m:r>
                                        <a:rPr lang="zh-CN" altLang="en-US" sz="1400" i="0">
                                          <a:latin typeface="Cambria Math" panose="02040503050406030204" pitchFamily="18" charset="0"/>
                                        </a:rPr>
                                        <m:t>3</m:t>
                                      </m:r>
                                    </m:e>
                                  </m:mr>
                                </m:m>
                              </m:e>
                            </m:mr>
                          </m:m>
                        </m:e>
                      </m:d>
                      <m:r>
                        <a:rPr lang="zh-CN" altLang="en-US" sz="1400" i="0">
                          <a:latin typeface="Cambria Math" panose="02040503050406030204" pitchFamily="18" charset="0"/>
                        </a:rPr>
                        <m:t>=</m:t>
                      </m:r>
                      <m:r>
                        <a:rPr lang="zh-CN" altLang="en-US" sz="1400" i="1">
                          <a:latin typeface="Cambria Math" panose="02040503050406030204" pitchFamily="18" charset="0"/>
                        </a:rPr>
                        <m:t>𝑀</m:t>
                      </m:r>
                      <m:r>
                        <a:rPr lang="zh-CN" altLang="en-US" sz="1400" i="0">
                          <a:latin typeface="Cambria Math" panose="02040503050406030204" pitchFamily="18" charset="0"/>
                        </a:rPr>
                        <m:t>′</m:t>
                      </m:r>
                      <m:d>
                        <m:dPr>
                          <m:ctrlPr>
                            <a:rPr lang="zh-CN" altLang="en-US" sz="1400" i="1">
                              <a:latin typeface="Cambria Math" panose="02040503050406030204" pitchFamily="18" charset="0"/>
                            </a:rPr>
                          </m:ctrlPr>
                        </m:dPr>
                        <m:e>
                          <m:r>
                            <a:rPr lang="zh-CN" altLang="en-US" sz="1400" i="1">
                              <a:latin typeface="Cambria Math" panose="02040503050406030204" pitchFamily="18" charset="0"/>
                            </a:rPr>
                            <m:t>𝑄</m:t>
                          </m:r>
                        </m:e>
                      </m:d>
                      <m:r>
                        <a:rPr lang="zh-CN" altLang="en-US" sz="1400" i="1">
                          <a:latin typeface="Cambria Math" panose="02040503050406030204" pitchFamily="18" charset="0"/>
                        </a:rPr>
                        <m:t>𝑃</m:t>
                      </m:r>
                    </m:oMath>
                  </m:oMathPara>
                </a14:m>
                <a:endParaRPr lang="zh-CN" altLang="en-US" sz="1400" dirty="0"/>
              </a:p>
            </p:txBody>
          </p:sp>
        </mc:Choice>
        <mc:Fallback xmlns="">
          <p:sp>
            <p:nvSpPr>
              <p:cNvPr id="13" name="矩形 12"/>
              <p:cNvSpPr>
                <a:spLocks noRot="1" noChangeAspect="1" noMove="1" noResize="1" noEditPoints="1" noAdjustHandles="1" noChangeArrowheads="1" noChangeShapeType="1" noTextEdit="1"/>
              </p:cNvSpPr>
              <p:nvPr/>
            </p:nvSpPr>
            <p:spPr>
              <a:xfrm>
                <a:off x="3779912" y="3302488"/>
                <a:ext cx="4176464" cy="925446"/>
              </a:xfrm>
              <a:prstGeom prst="rect">
                <a:avLst/>
              </a:prstGeom>
              <a:blipFill rotWithShape="1">
                <a:blip r:embed="rId7"/>
                <a:stretch>
                  <a:fillRect l="-9" t="-53" r="11" b="11"/>
                </a:stretch>
              </a:blipFill>
            </p:spPr>
            <p:txBody>
              <a:bodyPr/>
              <a:lstStyle/>
              <a:p>
                <a:r>
                  <a:rPr lang="zh-CN" altLang="en-US">
                    <a:noFill/>
                  </a:rPr>
                  <a:t> </a:t>
                </a:r>
              </a:p>
            </p:txBody>
          </p:sp>
        </mc:Fallback>
      </mc:AlternateContent>
      <p:sp>
        <p:nvSpPr>
          <p:cNvPr id="14" name="矩形 13"/>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grpSp>
        <p:nvGrpSpPr>
          <p:cNvPr id="15" name="组合 14"/>
          <p:cNvGrpSpPr/>
          <p:nvPr/>
        </p:nvGrpSpPr>
        <p:grpSpPr>
          <a:xfrm>
            <a:off x="-236220" y="219075"/>
            <a:ext cx="5153660" cy="598805"/>
            <a:chOff x="-372" y="345"/>
            <a:chExt cx="8116" cy="943"/>
          </a:xfrm>
        </p:grpSpPr>
        <p:sp>
          <p:nvSpPr>
            <p:cNvPr id="16" name="矩形 15"/>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7" name="文本框 16"/>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8" name="椭圆 1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050959" y="923290"/>
            <a:ext cx="2305118" cy="400110"/>
          </a:xfrm>
          <a:prstGeom prst="rect">
            <a:avLst/>
          </a:prstGeom>
        </p:spPr>
        <p:txBody>
          <a:bodyPr wrap="none">
            <a:spAutoFit/>
          </a:bodyPr>
          <a:lstStyle/>
          <a:p>
            <a:r>
              <a:rPr lang="zh-CN" altLang="zh-CN" sz="2000" dirty="0">
                <a:solidFill>
                  <a:srgbClr val="002060"/>
                </a:solidFill>
              </a:rPr>
              <a:t>四元数</a:t>
            </a:r>
            <a:r>
              <a:rPr lang="en-US" altLang="zh-CN" sz="2000" dirty="0">
                <a:solidFill>
                  <a:srgbClr val="002060"/>
                </a:solidFill>
              </a:rPr>
              <a:t>(Quaternion)</a:t>
            </a:r>
            <a:endParaRPr lang="zh-CN" altLang="en-US" sz="2000" dirty="0">
              <a:solidFill>
                <a:srgbClr val="002060"/>
              </a:solidFill>
            </a:endParaRPr>
          </a:p>
        </p:txBody>
      </p:sp>
      <p:graphicFrame>
        <p:nvGraphicFramePr>
          <p:cNvPr id="14" name="对象 13"/>
          <p:cNvGraphicFramePr>
            <a:graphicFrameLocks noChangeAspect="1"/>
          </p:cNvGraphicFramePr>
          <p:nvPr/>
        </p:nvGraphicFramePr>
        <p:xfrm>
          <a:off x="263606" y="1428810"/>
          <a:ext cx="4008755" cy="3041391"/>
        </p:xfrm>
        <a:graphic>
          <a:graphicData uri="http://schemas.openxmlformats.org/presentationml/2006/ole">
            <mc:AlternateContent xmlns:mc="http://schemas.openxmlformats.org/markup-compatibility/2006">
              <mc:Choice xmlns:v="urn:schemas-microsoft-com:vml" Requires="v">
                <p:oleObj spid="_x0000_s30774" name="Visio" r:id="rId4" imgW="12039600" imgH="9182100" progId="Visio.Drawing.11">
                  <p:embed/>
                </p:oleObj>
              </mc:Choice>
              <mc:Fallback>
                <p:oleObj name="Visio" r:id="rId4" imgW="12039600" imgH="9182100" progId="Visio.Drawing.11">
                  <p:embed/>
                  <p:pic>
                    <p:nvPicPr>
                      <p:cNvPr id="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606" y="1428810"/>
                        <a:ext cx="4008755" cy="3041391"/>
                      </a:xfrm>
                      <a:prstGeom prst="rect">
                        <a:avLst/>
                      </a:prstGeom>
                      <a:noFill/>
                    </p:spPr>
                  </p:pic>
                </p:oleObj>
              </mc:Fallback>
            </mc:AlternateContent>
          </a:graphicData>
        </a:graphic>
      </p:graphicFrame>
      <p:sp>
        <p:nvSpPr>
          <p:cNvPr id="2" name="矩形 1"/>
          <p:cNvSpPr/>
          <p:nvPr/>
        </p:nvSpPr>
        <p:spPr>
          <a:xfrm>
            <a:off x="5580112" y="984846"/>
            <a:ext cx="2427268" cy="338554"/>
          </a:xfrm>
          <a:prstGeom prst="rect">
            <a:avLst/>
          </a:prstGeom>
        </p:spPr>
        <p:txBody>
          <a:bodyPr wrap="none">
            <a:spAutoFit/>
          </a:bodyPr>
          <a:lstStyle/>
          <a:p>
            <a:r>
              <a:rPr lang="en-US" altLang="zh-CN" sz="1600" dirty="0">
                <a:latin typeface="Cambria Math" panose="02040503050406030204" pitchFamily="18" charset="0"/>
                <a:cs typeface="Times New Roman" panose="02020603050405020304" pitchFamily="18" charset="0"/>
              </a:rPr>
              <a:t>S=</a:t>
            </a:r>
            <a:r>
              <a:rPr lang="zh-CN" altLang="zh-CN" sz="1600" dirty="0">
                <a:latin typeface="Cambria Math" panose="02040503050406030204" pitchFamily="18" charset="0"/>
                <a:cs typeface="Times New Roman" panose="02020603050405020304" pitchFamily="18" charset="0"/>
              </a:rPr>
              <a:t>（</a:t>
            </a:r>
            <a:r>
              <a:rPr lang="en-US" altLang="zh-CN" sz="1600" dirty="0">
                <a:latin typeface="Cambria Math" panose="02040503050406030204" pitchFamily="18" charset="0"/>
                <a:cs typeface="Times New Roman" panose="02020603050405020304" pitchFamily="18" charset="0"/>
              </a:rPr>
              <a:t>1</a:t>
            </a:r>
            <a:r>
              <a:rPr lang="zh-CN" altLang="zh-CN" sz="1600" dirty="0">
                <a:latin typeface="Cambria Math" panose="02040503050406030204" pitchFamily="18" charset="0"/>
                <a:cs typeface="Times New Roman" panose="02020603050405020304" pitchFamily="18" charset="0"/>
              </a:rPr>
              <a:t>，</a:t>
            </a:r>
            <a:r>
              <a:rPr lang="en-US" altLang="zh-CN" sz="1600" dirty="0">
                <a:latin typeface="Cambria Math" panose="02040503050406030204" pitchFamily="18" charset="0"/>
                <a:cs typeface="Times New Roman" panose="02020603050405020304" pitchFamily="18" charset="0"/>
              </a:rPr>
              <a:t>0</a:t>
            </a:r>
            <a:r>
              <a:rPr lang="zh-CN" altLang="zh-CN" sz="1600" dirty="0">
                <a:latin typeface="Cambria Math" panose="02040503050406030204" pitchFamily="18" charset="0"/>
                <a:cs typeface="Times New Roman" panose="02020603050405020304" pitchFamily="18" charset="0"/>
              </a:rPr>
              <a:t>，</a:t>
            </a:r>
            <a:r>
              <a:rPr lang="en-US" altLang="zh-CN" sz="1600" dirty="0">
                <a:latin typeface="Cambria Math" panose="02040503050406030204" pitchFamily="18" charset="0"/>
                <a:cs typeface="Times New Roman" panose="02020603050405020304" pitchFamily="18" charset="0"/>
              </a:rPr>
              <a:t>0</a:t>
            </a:r>
            <a:r>
              <a:rPr lang="zh-CN" altLang="zh-CN" sz="1600" dirty="0" smtClean="0">
                <a:latin typeface="Cambria Math" panose="02040503050406030204" pitchFamily="18" charset="0"/>
                <a:cs typeface="Times New Roman" panose="02020603050405020304" pitchFamily="18" charset="0"/>
              </a:rPr>
              <a:t>）</a:t>
            </a:r>
            <a:r>
              <a:rPr lang="zh-CN" altLang="zh-CN" sz="1600" dirty="0"/>
              <a:t>旋转</a:t>
            </a:r>
            <a:r>
              <a:rPr lang="en-US" altLang="zh-CN" sz="1600" dirty="0"/>
              <a:t>90</a:t>
            </a:r>
            <a:r>
              <a:rPr lang="zh-CN" altLang="zh-CN" sz="1600" dirty="0"/>
              <a:t>度</a:t>
            </a:r>
            <a:endParaRPr lang="zh-CN" altLang="en-US" sz="1600" dirty="0"/>
          </a:p>
        </p:txBody>
      </p:sp>
      <mc:AlternateContent xmlns:mc="http://schemas.openxmlformats.org/markup-compatibility/2006" xmlns:a14="http://schemas.microsoft.com/office/drawing/2010/main">
        <mc:Choice Requires="a14">
          <p:sp>
            <p:nvSpPr>
              <p:cNvPr id="3" name="矩形 2"/>
              <p:cNvSpPr/>
              <p:nvPr/>
            </p:nvSpPr>
            <p:spPr>
              <a:xfrm>
                <a:off x="5868144" y="1346270"/>
                <a:ext cx="168296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𝑃</m:t>
                          </m:r>
                          <m:r>
                            <a:rPr lang="zh-CN" altLang="en-US" sz="1600" i="0">
                              <a:latin typeface="Cambria Math" panose="02040503050406030204" pitchFamily="18" charset="0"/>
                            </a:rPr>
                            <m:t>=(0,0,0,−10</m:t>
                          </m:r>
                        </m:e>
                      </m:d>
                    </m:oMath>
                  </m:oMathPara>
                </a14:m>
                <a:endParaRPr lang="zh-CN" altLang="en-US" sz="1600" dirty="0"/>
              </a:p>
            </p:txBody>
          </p:sp>
        </mc:Choice>
        <mc:Fallback xmlns="">
          <p:sp>
            <p:nvSpPr>
              <p:cNvPr id="3" name="矩形 2"/>
              <p:cNvSpPr>
                <a:spLocks noRot="1" noChangeAspect="1" noMove="1" noResize="1" noEditPoints="1" noAdjustHandles="1" noChangeArrowheads="1" noChangeShapeType="1" noTextEdit="1"/>
              </p:cNvSpPr>
              <p:nvPr/>
            </p:nvSpPr>
            <p:spPr>
              <a:xfrm>
                <a:off x="5868144" y="1346270"/>
                <a:ext cx="1682961" cy="338554"/>
              </a:xfrm>
              <a:prstGeom prst="rect">
                <a:avLst/>
              </a:prstGeom>
              <a:blipFill rotWithShape="1">
                <a:blip r:embed="rId6"/>
                <a:stretch>
                  <a:fillRect l="-6" t="-21" r="19" b="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4423624" y="1603428"/>
                <a:ext cx="4572000" cy="387350"/>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r>
                            <a:rPr lang="zh-CN" altLang="en-US" sz="1600" i="1">
                              <a:latin typeface="Cambria Math" panose="02040503050406030204" pitchFamily="18" charset="0"/>
                            </a:rPr>
                            <m:t>𝑞</m:t>
                          </m:r>
                          <m:r>
                            <a:rPr lang="zh-CN" altLang="en-US" sz="1600" i="0">
                              <a:latin typeface="Cambria Math" panose="02040503050406030204" pitchFamily="18" charset="0"/>
                            </a:rPr>
                            <m:t>=(</m:t>
                          </m:r>
                          <m:r>
                            <a:rPr lang="zh-CN" altLang="en-US" sz="1600" i="1">
                              <a:latin typeface="Cambria Math" panose="02040503050406030204" pitchFamily="18" charset="0"/>
                            </a:rPr>
                            <m:t>𝑐𝑜𝑠</m:t>
                          </m:r>
                          <m:r>
                            <a:rPr lang="zh-CN" altLang="en-US" sz="1600" i="0">
                              <a:latin typeface="Cambria Math" panose="02040503050406030204" pitchFamily="18" charset="0"/>
                            </a:rPr>
                            <m:t>45°,</m:t>
                          </m:r>
                          <m:r>
                            <a:rPr lang="zh-CN" altLang="en-US" sz="1600" i="1">
                              <a:latin typeface="Cambria Math" panose="02040503050406030204" pitchFamily="18" charset="0"/>
                            </a:rPr>
                            <m:t>𝑠𝑖𝑛</m:t>
                          </m:r>
                          <m:r>
                            <a:rPr lang="zh-CN" altLang="en-US" sz="1600" i="0">
                              <a:latin typeface="Cambria Math" panose="02040503050406030204" pitchFamily="18" charset="0"/>
                            </a:rPr>
                            <m:t>45°,0,0)=(</m:t>
                          </m:r>
                          <m:f>
                            <m:fPr>
                              <m:type m:val="lin"/>
                              <m:ctrlPr>
                                <a:rPr lang="zh-CN" altLang="en-US" sz="1600" i="1">
                                  <a:latin typeface="Cambria Math" panose="02040503050406030204" pitchFamily="18" charset="0"/>
                                </a:rPr>
                              </m:ctrlPr>
                            </m:fPr>
                            <m:num>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2</m:t>
                                  </m:r>
                                </m:e>
                              </m:rad>
                            </m:num>
                            <m:den>
                              <m:r>
                                <a:rPr lang="zh-CN" altLang="en-US" sz="1600" i="0">
                                  <a:latin typeface="Cambria Math" panose="02040503050406030204" pitchFamily="18" charset="0"/>
                                </a:rPr>
                                <m:t>2</m:t>
                              </m:r>
                            </m:den>
                          </m:f>
                          <m:r>
                            <a:rPr lang="zh-CN" altLang="en-US" sz="1600" i="0">
                              <a:latin typeface="Cambria Math" panose="02040503050406030204" pitchFamily="18" charset="0"/>
                            </a:rPr>
                            <m:t>,</m:t>
                          </m:r>
                          <m:f>
                            <m:fPr>
                              <m:type m:val="lin"/>
                              <m:ctrlPr>
                                <a:rPr lang="zh-CN" altLang="en-US" sz="1600" i="1">
                                  <a:latin typeface="Cambria Math" panose="02040503050406030204" pitchFamily="18" charset="0"/>
                                </a:rPr>
                              </m:ctrlPr>
                            </m:fPr>
                            <m:num>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2</m:t>
                                  </m:r>
                                </m:e>
                              </m:rad>
                            </m:num>
                            <m:den>
                              <m:r>
                                <a:rPr lang="zh-CN" altLang="en-US" sz="1600" i="0">
                                  <a:latin typeface="Cambria Math" panose="02040503050406030204" pitchFamily="18" charset="0"/>
                                </a:rPr>
                                <m:t>2,0</m:t>
                              </m:r>
                            </m:den>
                          </m:f>
                          <m:r>
                            <a:rPr lang="zh-CN" altLang="en-US" sz="1600" i="0">
                              <a:latin typeface="Cambria Math" panose="02040503050406030204" pitchFamily="18" charset="0"/>
                            </a:rPr>
                            <m:t>,0</m:t>
                          </m:r>
                        </m:e>
                      </m:d>
                    </m:oMath>
                  </m:oMathPara>
                </a14:m>
                <a:endParaRPr lang="zh-CN" altLang="en-US" sz="1600" dirty="0"/>
              </a:p>
            </p:txBody>
          </p:sp>
        </mc:Choice>
        <mc:Fallback xmlns="">
          <p:sp>
            <p:nvSpPr>
              <p:cNvPr id="15" name="矩形 14"/>
              <p:cNvSpPr>
                <a:spLocks noRot="1" noChangeAspect="1" noMove="1" noResize="1" noEditPoints="1" noAdjustHandles="1" noChangeArrowheads="1" noChangeShapeType="1" noTextEdit="1"/>
              </p:cNvSpPr>
              <p:nvPr/>
            </p:nvSpPr>
            <p:spPr>
              <a:xfrm>
                <a:off x="4423624" y="1603428"/>
                <a:ext cx="4572000" cy="387350"/>
              </a:xfrm>
              <a:prstGeom prst="rect">
                <a:avLst/>
              </a:prstGeom>
              <a:blipFill rotWithShape="1">
                <a:blip r:embed="rId7"/>
                <a:stretch>
                  <a:fillRect l="-5" t="-14" r="5" b="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4423624" y="1861792"/>
                <a:ext cx="4572000" cy="645561"/>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𝑞</m:t>
                              </m:r>
                            </m:e>
                            <m:sup>
                              <m:r>
                                <a:rPr lang="zh-CN" altLang="en-US" sz="1600" i="0">
                                  <a:latin typeface="Cambria Math" panose="02040503050406030204" pitchFamily="18" charset="0"/>
                                </a:rPr>
                                <m:t>−1</m:t>
                              </m:r>
                            </m:sup>
                          </m:sSup>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𝑞</m:t>
                                  </m:r>
                                </m:e>
                                <m:sup>
                                  <m:r>
                                    <a:rPr lang="zh-CN" altLang="en-US" sz="1600" i="0">
                                      <a:latin typeface="Cambria Math" panose="02040503050406030204" pitchFamily="18" charset="0"/>
                                    </a:rPr>
                                    <m:t>∗</m:t>
                                  </m:r>
                                </m:sup>
                              </m:sSup>
                            </m:num>
                            <m:den>
                              <m:r>
                                <a:rPr lang="zh-CN" altLang="en-US" sz="1600" i="1">
                                  <a:latin typeface="Cambria Math" panose="02040503050406030204" pitchFamily="18" charset="0"/>
                                </a:rPr>
                                <m:t>𝑞</m:t>
                              </m:r>
                              <m:r>
                                <a:rPr lang="zh-CN" altLang="en-US" sz="1600" i="0">
                                  <a:latin typeface="Cambria Math" panose="02040503050406030204" pitchFamily="18" charset="0"/>
                                </a:rPr>
                                <m:t>∗</m:t>
                              </m:r>
                              <m:r>
                                <a:rPr lang="zh-CN" altLang="en-US" sz="1600" i="1">
                                  <a:latin typeface="Cambria Math" panose="02040503050406030204" pitchFamily="18" charset="0"/>
                                </a:rPr>
                                <m:t>𝑞</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𝑞</m:t>
                                  </m:r>
                                </m:e>
                                <m:sup>
                                  <m:r>
                                    <a:rPr lang="zh-CN" altLang="en-US" sz="1600" i="0">
                                      <a:latin typeface="Cambria Math" panose="02040503050406030204" pitchFamily="18" charset="0"/>
                                    </a:rPr>
                                    <m:t>∗</m:t>
                                  </m:r>
                                </m:sup>
                              </m:sSup>
                            </m:num>
                            <m:den>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d>
                                    <m:dPr>
                                      <m:begChr m:val="|"/>
                                      <m:endChr m:val="|"/>
                                      <m:ctrlPr>
                                        <a:rPr lang="zh-CN" altLang="en-US" sz="1600" i="1">
                                          <a:latin typeface="Cambria Math" panose="02040503050406030204" pitchFamily="18" charset="0"/>
                                        </a:rPr>
                                      </m:ctrlPr>
                                    </m:dPr>
                                    <m:e>
                                      <m:r>
                                        <a:rPr lang="zh-CN" altLang="en-US" sz="1600" i="1">
                                          <a:latin typeface="Cambria Math" panose="02040503050406030204" pitchFamily="18" charset="0"/>
                                        </a:rPr>
                                        <m:t>𝑞</m:t>
                                      </m:r>
                                    </m:e>
                                  </m:d>
                                  <m:r>
                                    <a:rPr lang="zh-CN" altLang="en-US" sz="1600" i="0">
                                      <a:latin typeface="Cambria Math" panose="02040503050406030204" pitchFamily="18" charset="0"/>
                                    </a:rPr>
                                    <m:t>|</m:t>
                                  </m:r>
                                </m:e>
                                <m:sup>
                                  <m:r>
                                    <a:rPr lang="zh-CN" altLang="en-US" sz="1600" i="0">
                                      <a:latin typeface="Cambria Math" panose="02040503050406030204" pitchFamily="18" charset="0"/>
                                    </a:rPr>
                                    <m:t>2</m:t>
                                  </m:r>
                                </m:sup>
                              </m:sSup>
                            </m:den>
                          </m:f>
                          <m:r>
                            <a:rPr lang="zh-CN" altLang="en-US" sz="1600" i="0">
                              <a:latin typeface="Cambria Math" panose="02040503050406030204" pitchFamily="18" charset="0"/>
                            </a:rPr>
                            <m:t>=</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𝑞</m:t>
                              </m:r>
                            </m:e>
                            <m:sup>
                              <m:r>
                                <a:rPr lang="zh-CN" altLang="en-US" sz="1600" i="0">
                                  <a:latin typeface="Cambria Math" panose="02040503050406030204" pitchFamily="18" charset="0"/>
                                </a:rPr>
                                <m:t>∗</m:t>
                              </m:r>
                            </m:sup>
                          </m:sSup>
                          <m:r>
                            <a:rPr lang="zh-CN" altLang="en-US" sz="1600" i="0">
                              <a:latin typeface="Cambria Math" panose="02040503050406030204" pitchFamily="18" charset="0"/>
                            </a:rPr>
                            <m:t>=(</m:t>
                          </m:r>
                          <m:f>
                            <m:fPr>
                              <m:type m:val="lin"/>
                              <m:ctrlPr>
                                <a:rPr lang="zh-CN" altLang="en-US" sz="1600" i="1">
                                  <a:latin typeface="Cambria Math" panose="02040503050406030204" pitchFamily="18" charset="0"/>
                                </a:rPr>
                              </m:ctrlPr>
                            </m:fPr>
                            <m:num>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2</m:t>
                                  </m:r>
                                </m:e>
                              </m:rad>
                            </m:num>
                            <m:den>
                              <m:r>
                                <a:rPr lang="zh-CN" altLang="en-US" sz="1600" i="0">
                                  <a:latin typeface="Cambria Math" panose="02040503050406030204" pitchFamily="18" charset="0"/>
                                </a:rPr>
                                <m:t>2</m:t>
                              </m:r>
                            </m:den>
                          </m:f>
                          <m:r>
                            <a:rPr lang="zh-CN" altLang="en-US" sz="1600" i="0">
                              <a:latin typeface="Cambria Math" panose="02040503050406030204" pitchFamily="18" charset="0"/>
                            </a:rPr>
                            <m:t>,−</m:t>
                          </m:r>
                          <m:f>
                            <m:fPr>
                              <m:type m:val="lin"/>
                              <m:ctrlPr>
                                <a:rPr lang="zh-CN" altLang="en-US" sz="1600" i="1">
                                  <a:latin typeface="Cambria Math" panose="02040503050406030204" pitchFamily="18" charset="0"/>
                                </a:rPr>
                              </m:ctrlPr>
                            </m:fPr>
                            <m:num>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2</m:t>
                                  </m:r>
                                </m:e>
                              </m:rad>
                            </m:num>
                            <m:den>
                              <m:r>
                                <a:rPr lang="zh-CN" altLang="en-US" sz="1600" i="0">
                                  <a:latin typeface="Cambria Math" panose="02040503050406030204" pitchFamily="18" charset="0"/>
                                </a:rPr>
                                <m:t>2,0</m:t>
                              </m:r>
                            </m:den>
                          </m:f>
                          <m:r>
                            <a:rPr lang="zh-CN" altLang="en-US" sz="1600" i="0">
                              <a:latin typeface="Cambria Math" panose="02040503050406030204" pitchFamily="18" charset="0"/>
                            </a:rPr>
                            <m:t>,0</m:t>
                          </m:r>
                        </m:e>
                      </m:d>
                    </m:oMath>
                  </m:oMathPara>
                </a14:m>
                <a:endParaRPr lang="zh-CN" altLang="en-US" sz="1600" dirty="0"/>
              </a:p>
            </p:txBody>
          </p:sp>
        </mc:Choice>
        <mc:Fallback xmlns="">
          <p:sp>
            <p:nvSpPr>
              <p:cNvPr id="16" name="矩形 15"/>
              <p:cNvSpPr>
                <a:spLocks noRot="1" noChangeAspect="1" noMove="1" noResize="1" noEditPoints="1" noAdjustHandles="1" noChangeArrowheads="1" noChangeShapeType="1" noTextEdit="1"/>
              </p:cNvSpPr>
              <p:nvPr/>
            </p:nvSpPr>
            <p:spPr>
              <a:xfrm>
                <a:off x="4423624" y="1861792"/>
                <a:ext cx="4572000" cy="645561"/>
              </a:xfrm>
              <a:prstGeom prst="rect">
                <a:avLst/>
              </a:prstGeom>
              <a:blipFill rotWithShape="1">
                <a:blip r:embed="rId8"/>
                <a:stretch>
                  <a:fillRect l="-5" t="-94" r="5" b="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4296294" y="2507353"/>
                <a:ext cx="4572000" cy="1473545"/>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600" i="1">
                              <a:latin typeface="Cambria Math" panose="02040503050406030204" pitchFamily="18" charset="0"/>
                            </a:rPr>
                          </m:ctrlPr>
                        </m:dPr>
                        <m:e>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𝑃</m:t>
                              </m:r>
                            </m:e>
                            <m:sup>
                              <m:r>
                                <a:rPr lang="zh-CN" altLang="en-US" sz="1600" i="0">
                                  <a:latin typeface="Cambria Math" panose="02040503050406030204" pitchFamily="18" charset="0"/>
                                </a:rPr>
                                <m:t>′</m:t>
                              </m:r>
                            </m:sup>
                          </m:sSup>
                          <m:r>
                            <a:rPr lang="zh-CN" altLang="en-US" sz="1600" i="0">
                              <a:latin typeface="Cambria Math" panose="02040503050406030204" pitchFamily="18" charset="0"/>
                            </a:rPr>
                            <m:t>=</m:t>
                          </m:r>
                          <m:r>
                            <a:rPr lang="zh-CN" altLang="en-US" sz="1600" i="1">
                              <a:latin typeface="Cambria Math" panose="02040503050406030204" pitchFamily="18" charset="0"/>
                            </a:rPr>
                            <m:t>𝑞𝑃</m:t>
                          </m:r>
                          <m:sSup>
                            <m:sSupPr>
                              <m:ctrlPr>
                                <a:rPr lang="zh-CN" altLang="en-US" sz="1600" i="1">
                                  <a:latin typeface="Cambria Math" panose="02040503050406030204" pitchFamily="18" charset="0"/>
                                </a:rPr>
                              </m:ctrlPr>
                            </m:sSupPr>
                            <m:e>
                              <m:r>
                                <a:rPr lang="zh-CN" altLang="en-US" sz="1600" i="1">
                                  <a:latin typeface="Cambria Math" panose="02040503050406030204" pitchFamily="18" charset="0"/>
                                </a:rPr>
                                <m:t>𝑞</m:t>
                              </m:r>
                            </m:e>
                            <m:sup>
                              <m:r>
                                <a:rPr lang="zh-CN" altLang="en-US" sz="1600" i="0">
                                  <a:latin typeface="Cambria Math" panose="02040503050406030204" pitchFamily="18" charset="0"/>
                                </a:rPr>
                                <m:t>−1</m:t>
                              </m:r>
                            </m:sup>
                          </m:sSup>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2</m:t>
                                      </m:r>
                                    </m:e>
                                  </m:rad>
                                </m:num>
                                <m:den>
                                  <m:r>
                                    <a:rPr lang="zh-CN" altLang="en-US" sz="1600" i="0">
                                      <a:latin typeface="Cambria Math" panose="02040503050406030204" pitchFamily="18" charset="0"/>
                                    </a:rPr>
                                    <m:t>2</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2</m:t>
                                      </m:r>
                                    </m:e>
                                  </m:rad>
                                </m:num>
                                <m:den>
                                  <m:r>
                                    <a:rPr lang="zh-CN" altLang="en-US" sz="1600" i="0">
                                      <a:latin typeface="Cambria Math" panose="02040503050406030204" pitchFamily="18" charset="0"/>
                                    </a:rPr>
                                    <m:t>2</m:t>
                                  </m:r>
                                </m:den>
                              </m:f>
                              <m:r>
                                <a:rPr lang="zh-CN" altLang="en-US" sz="1600" i="0">
                                  <a:latin typeface="Cambria Math" panose="02040503050406030204" pitchFamily="18" charset="0"/>
                                </a:rPr>
                                <m:t>,0,0</m:t>
                              </m:r>
                            </m:e>
                          </m:d>
                          <m:d>
                            <m:dPr>
                              <m:ctrlPr>
                                <a:rPr lang="zh-CN" altLang="en-US" sz="1600" i="1">
                                  <a:latin typeface="Cambria Math" panose="02040503050406030204" pitchFamily="18" charset="0"/>
                                </a:rPr>
                              </m:ctrlPr>
                            </m:dPr>
                            <m:e>
                              <m:r>
                                <a:rPr lang="zh-CN" altLang="en-US" sz="1600" i="0">
                                  <a:latin typeface="Cambria Math" panose="02040503050406030204" pitchFamily="18" charset="0"/>
                                </a:rPr>
                                <m:t>0,0,0,−10</m:t>
                              </m:r>
                            </m:e>
                          </m:d>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2</m:t>
                                      </m:r>
                                    </m:e>
                                  </m:rad>
                                </m:num>
                                <m:den>
                                  <m:r>
                                    <a:rPr lang="zh-CN" altLang="en-US" sz="1600" i="0">
                                      <a:latin typeface="Cambria Math" panose="02040503050406030204" pitchFamily="18" charset="0"/>
                                    </a:rPr>
                                    <m:t>2</m:t>
                                  </m:r>
                                </m:den>
                              </m:f>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ad>
                                    <m:radPr>
                                      <m:degHide m:val="on"/>
                                      <m:ctrlPr>
                                        <a:rPr lang="zh-CN" altLang="en-US" sz="1600" i="1">
                                          <a:latin typeface="Cambria Math" panose="02040503050406030204" pitchFamily="18" charset="0"/>
                                        </a:rPr>
                                      </m:ctrlPr>
                                    </m:radPr>
                                    <m:deg/>
                                    <m:e>
                                      <m:r>
                                        <a:rPr lang="zh-CN" altLang="en-US" sz="1600" i="0">
                                          <a:latin typeface="Cambria Math" panose="02040503050406030204" pitchFamily="18" charset="0"/>
                                        </a:rPr>
                                        <m:t>2</m:t>
                                      </m:r>
                                    </m:e>
                                  </m:rad>
                                </m:num>
                                <m:den>
                                  <m:r>
                                    <a:rPr lang="zh-CN" altLang="en-US" sz="1600" i="0">
                                      <a:latin typeface="Cambria Math" panose="02040503050406030204" pitchFamily="18" charset="0"/>
                                    </a:rPr>
                                    <m:t>2</m:t>
                                  </m:r>
                                </m:den>
                              </m:f>
                              <m:r>
                                <a:rPr lang="zh-CN" altLang="en-US" sz="1600" i="0">
                                  <a:latin typeface="Cambria Math" panose="02040503050406030204" pitchFamily="18" charset="0"/>
                                </a:rPr>
                                <m:t>,0,0</m:t>
                              </m:r>
                            </m:e>
                          </m:d>
                          <m:r>
                            <a:rPr lang="zh-CN" altLang="en-US" sz="1600" i="0">
                              <a:latin typeface="Cambria Math" panose="02040503050406030204" pitchFamily="18" charset="0"/>
                            </a:rPr>
                            <m:t>=(0,0,10,0</m:t>
                          </m:r>
                        </m:e>
                      </m:d>
                    </m:oMath>
                  </m:oMathPara>
                </a14:m>
                <a:endParaRPr lang="zh-CN" altLang="en-US" sz="1600" dirty="0"/>
              </a:p>
            </p:txBody>
          </p:sp>
        </mc:Choice>
        <mc:Fallback xmlns="">
          <p:sp>
            <p:nvSpPr>
              <p:cNvPr id="17" name="矩形 16"/>
              <p:cNvSpPr>
                <a:spLocks noRot="1" noChangeAspect="1" noMove="1" noResize="1" noEditPoints="1" noAdjustHandles="1" noChangeArrowheads="1" noChangeShapeType="1" noTextEdit="1"/>
              </p:cNvSpPr>
              <p:nvPr/>
            </p:nvSpPr>
            <p:spPr>
              <a:xfrm>
                <a:off x="4296294" y="2507353"/>
                <a:ext cx="4572000" cy="1473545"/>
              </a:xfrm>
              <a:prstGeom prst="rect">
                <a:avLst/>
              </a:prstGeom>
              <a:blipFill rotWithShape="1">
                <a:blip r:embed="rId9"/>
                <a:stretch>
                  <a:fillRect l="-11" t="-25" r="11" b="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871714" y="3659867"/>
                <a:ext cx="5148064" cy="139474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𝑅</m:t>
                          </m:r>
                        </m:e>
                        <m:sub>
                          <m:r>
                            <a:rPr lang="zh-CN" altLang="en-US" sz="1600" i="1">
                              <a:latin typeface="Cambria Math" panose="02040503050406030204" pitchFamily="18" charset="0"/>
                            </a:rPr>
                            <m:t>𝑞</m:t>
                          </m:r>
                        </m:sub>
                      </m:sSub>
                      <m:r>
                        <a:rPr lang="zh-CN" altLang="en-US" sz="1600" i="0">
                          <a:latin typeface="Cambria Math" panose="02040503050406030204" pitchFamily="18" charset="0"/>
                        </a:rPr>
                        <m:t>=</m:t>
                      </m:r>
                      <m:r>
                        <a:rPr lang="zh-CN" altLang="en-US" sz="1600" i="1">
                          <a:latin typeface="Cambria Math" panose="02040503050406030204" pitchFamily="18" charset="0"/>
                        </a:rPr>
                        <m:t>𝑄𝑢𝑎𝑡</m:t>
                      </m:r>
                      <m:d>
                        <m:dPr>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r>
                            <a:rPr lang="zh-CN" altLang="en-US" sz="1600" i="0">
                              <a:latin typeface="Cambria Math" panose="02040503050406030204" pitchFamily="18" charset="0"/>
                            </a:rPr>
                            <m:t>,</m:t>
                          </m:r>
                          <m:r>
                            <a:rPr lang="zh-CN" altLang="en-US" sz="1600" i="1">
                              <a:latin typeface="Cambria Math" panose="02040503050406030204" pitchFamily="18" charset="0"/>
                            </a:rPr>
                            <m:t>𝜃</m:t>
                          </m:r>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1</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e>
                                <m:r>
                                  <a:rPr lang="zh-CN" altLang="en-US" sz="1600" i="0">
                                    <a:latin typeface="Cambria Math" panose="02040503050406030204" pitchFamily="18" charset="0"/>
                                  </a:rPr>
                                  <m:t>0</m:t>
                                </m:r>
                              </m:e>
                            </m:mr>
                          </m:m>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1</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e>
                                <m:r>
                                  <a:rPr lang="zh-CN" altLang="en-US" sz="1600" i="0">
                                    <a:latin typeface="Cambria Math" panose="02040503050406030204" pitchFamily="18" charset="0"/>
                                  </a:rPr>
                                  <m:t>0</m:t>
                                </m:r>
                              </m:e>
                            </m:mr>
                          </m:m>
                        </m:e>
                      </m:d>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1</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e>
                                <m:r>
                                  <a:rPr lang="zh-CN" altLang="en-US" sz="1600" i="0">
                                    <a:latin typeface="Cambria Math" panose="02040503050406030204" pitchFamily="18" charset="0"/>
                                  </a:rPr>
                                  <m:t>0</m:t>
                                </m:r>
                              </m:e>
                            </m:mr>
                          </m:m>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1</m:t>
                                </m:r>
                              </m:e>
                              <m:e>
                                <m:r>
                                  <a:rPr lang="zh-CN" altLang="en-US" sz="1600" i="0">
                                    <a:latin typeface="Cambria Math" panose="02040503050406030204" pitchFamily="18" charset="0"/>
                                  </a:rPr>
                                  <m:t>0</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1</m:t>
                                </m:r>
                              </m:e>
                              <m:e>
                                <m:r>
                                  <a:rPr lang="zh-CN" altLang="en-US" sz="1600" i="0">
                                    <a:latin typeface="Cambria Math" panose="02040503050406030204" pitchFamily="18" charset="0"/>
                                  </a:rPr>
                                  <m:t>0</m:t>
                                </m:r>
                              </m:e>
                            </m:mr>
                            <m:mr>
                              <m:e>
                                <m:r>
                                  <a:rPr lang="zh-CN" altLang="en-US" sz="1600" i="0">
                                    <a:latin typeface="Cambria Math" panose="02040503050406030204" pitchFamily="18" charset="0"/>
                                  </a:rPr>
                                  <m:t>0</m:t>
                                </m:r>
                              </m:e>
                              <m:e>
                                <m:r>
                                  <a:rPr lang="zh-CN" altLang="en-US" sz="1600" i="0">
                                    <a:latin typeface="Cambria Math" panose="02040503050406030204" pitchFamily="18" charset="0"/>
                                  </a:rPr>
                                  <m:t>0</m:t>
                                </m:r>
                              </m:e>
                              <m:e>
                                <m:r>
                                  <a:rPr lang="zh-CN" altLang="en-US" sz="1600" i="0">
                                    <a:latin typeface="Cambria Math" panose="02040503050406030204" pitchFamily="18" charset="0"/>
                                  </a:rPr>
                                  <m:t>1</m:t>
                                </m:r>
                              </m:e>
                            </m:mr>
                          </m:m>
                        </m:e>
                      </m:d>
                    </m:oMath>
                  </m:oMathPara>
                </a14:m>
                <a:endParaRPr lang="zh-CN" altLang="en-US" sz="1600" dirty="0"/>
              </a:p>
            </p:txBody>
          </p:sp>
        </mc:Choice>
        <mc:Fallback xmlns="">
          <p:sp>
            <p:nvSpPr>
              <p:cNvPr id="8" name="矩形 7"/>
              <p:cNvSpPr>
                <a:spLocks noRot="1" noChangeAspect="1" noMove="1" noResize="1" noEditPoints="1" noAdjustHandles="1" noChangeArrowheads="1" noChangeShapeType="1" noTextEdit="1"/>
              </p:cNvSpPr>
              <p:nvPr/>
            </p:nvSpPr>
            <p:spPr>
              <a:xfrm>
                <a:off x="3871714" y="3659867"/>
                <a:ext cx="5148064" cy="1394741"/>
              </a:xfrm>
              <a:prstGeom prst="rect">
                <a:avLst/>
              </a:prstGeom>
              <a:blipFill rotWithShape="1">
                <a:blip r:embed="rId10"/>
                <a:stretch>
                  <a:fillRect l="-2" t="-26" r="5" b="1"/>
                </a:stretch>
              </a:blipFill>
            </p:spPr>
            <p:txBody>
              <a:bodyPr/>
              <a:lstStyle/>
              <a:p>
                <a:r>
                  <a:rPr lang="zh-CN" altLang="en-US">
                    <a:noFill/>
                  </a:rPr>
                  <a:t> </a:t>
                </a:r>
              </a:p>
            </p:txBody>
          </p:sp>
        </mc:Fallback>
      </mc:AlternateContent>
      <p:sp>
        <p:nvSpPr>
          <p:cNvPr id="18" name="矩形 17"/>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grpSp>
        <p:nvGrpSpPr>
          <p:cNvPr id="19" name="组合 18"/>
          <p:cNvGrpSpPr/>
          <p:nvPr/>
        </p:nvGrpSpPr>
        <p:grpSpPr>
          <a:xfrm>
            <a:off x="-236220" y="219075"/>
            <a:ext cx="5153660" cy="598805"/>
            <a:chOff x="-372" y="345"/>
            <a:chExt cx="8116" cy="943"/>
          </a:xfrm>
        </p:grpSpPr>
        <p:sp>
          <p:nvSpPr>
            <p:cNvPr id="20" name="矩形 19"/>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21" name="文本框 20"/>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2" name="椭圆 2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050959" y="923290"/>
            <a:ext cx="2305118" cy="400110"/>
          </a:xfrm>
          <a:prstGeom prst="rect">
            <a:avLst/>
          </a:prstGeom>
        </p:spPr>
        <p:txBody>
          <a:bodyPr wrap="none">
            <a:spAutoFit/>
          </a:bodyPr>
          <a:lstStyle/>
          <a:p>
            <a:r>
              <a:rPr lang="zh-CN" altLang="zh-CN" sz="2000" dirty="0">
                <a:solidFill>
                  <a:srgbClr val="002060"/>
                </a:solidFill>
              </a:rPr>
              <a:t>四元数</a:t>
            </a:r>
            <a:r>
              <a:rPr lang="en-US" altLang="zh-CN" sz="2000" dirty="0">
                <a:solidFill>
                  <a:srgbClr val="002060"/>
                </a:solidFill>
              </a:rPr>
              <a:t>(Quaternion)</a:t>
            </a:r>
            <a:endParaRPr lang="zh-CN" altLang="en-US" sz="2000" dirty="0">
              <a:solidFill>
                <a:srgbClr val="002060"/>
              </a:solidFill>
            </a:endParaRPr>
          </a:p>
        </p:txBody>
      </p:sp>
      <mc:AlternateContent xmlns:mc="http://schemas.openxmlformats.org/markup-compatibility/2006" xmlns:a14="http://schemas.microsoft.com/office/drawing/2010/main">
        <mc:Choice Requires="a14">
          <p:sp>
            <p:nvSpPr>
              <p:cNvPr id="8" name="矩形 7"/>
              <p:cNvSpPr/>
              <p:nvPr/>
            </p:nvSpPr>
            <p:spPr>
              <a:xfrm>
                <a:off x="981414" y="1616135"/>
                <a:ext cx="6326890" cy="91435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𝑄𝑢𝑎𝑡</m:t>
                      </m:r>
                      <m:d>
                        <m:dPr>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r>
                            <a:rPr lang="zh-CN" altLang="en-US" sz="1600" i="0">
                              <a:latin typeface="Cambria Math" panose="02040503050406030204" pitchFamily="18" charset="0"/>
                            </a:rPr>
                            <m:t>,</m:t>
                          </m:r>
                          <m:r>
                            <a:rPr lang="zh-CN" altLang="en-US" sz="1600" i="1">
                              <a:latin typeface="Cambria Math" panose="02040503050406030204" pitchFamily="18" charset="0"/>
                            </a:rPr>
                            <m:t>𝜃</m:t>
                          </m:r>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m>
                                  <m:mPr>
                                    <m:mcs>
                                      <m:mc>
                                        <m:mcPr>
                                          <m:count m:val="3"/>
                                          <m:mcJc m:val="center"/>
                                        </m:mcPr>
                                      </m:mc>
                                    </m:mcs>
                                    <m:ctrlPr>
                                      <a:rPr lang="zh-CN" altLang="en-US" sz="1600" i="1">
                                        <a:latin typeface="Cambria Math" panose="02040503050406030204" pitchFamily="18" charset="0"/>
                                      </a:rPr>
                                    </m:ctrlPr>
                                  </m:mPr>
                                  <m:mr>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1−2(</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1</m:t>
                                          </m:r>
                                          <m:r>
                                            <a:rPr lang="zh-CN" altLang="en-US" sz="1600" i="1">
                                              <a:latin typeface="Cambria Math" panose="02040503050406030204" pitchFamily="18" charset="0"/>
                                            </a:rPr>
                                            <m:t>𝑞</m:t>
                                          </m:r>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3</m:t>
                                          </m:r>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1</m:t>
                                          </m:r>
                                          <m:r>
                                            <a:rPr lang="zh-CN" altLang="en-US" sz="1600" i="1">
                                              <a:latin typeface="Cambria Math" panose="02040503050406030204" pitchFamily="18" charset="0"/>
                                            </a:rPr>
                                            <m:t>𝑞</m:t>
                                          </m:r>
                                          <m:r>
                                            <a:rPr lang="zh-CN" altLang="en-US" sz="1600" i="0">
                                              <a:latin typeface="Cambria Math" panose="02040503050406030204" pitchFamily="18" charset="0"/>
                                            </a:rPr>
                                            <m:t>3+</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2</m:t>
                                          </m:r>
                                        </m:e>
                                      </m:d>
                                    </m:e>
                                  </m:mr>
                                  <m:mr>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1</m:t>
                                          </m:r>
                                          <m:r>
                                            <a:rPr lang="zh-CN" altLang="en-US" sz="1600" i="1">
                                              <a:latin typeface="Cambria Math" panose="02040503050406030204" pitchFamily="18" charset="0"/>
                                            </a:rPr>
                                            <m:t>𝑞</m:t>
                                          </m:r>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3</m:t>
                                          </m:r>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1−2(</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3−</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1</m:t>
                                          </m:r>
                                        </m:e>
                                      </m:d>
                                    </m:e>
                                  </m:mr>
                                  <m:mr>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1</m:t>
                                          </m:r>
                                          <m:r>
                                            <a:rPr lang="zh-CN" altLang="en-US" sz="1600" i="1">
                                              <a:latin typeface="Cambria Math" panose="02040503050406030204" pitchFamily="18" charset="0"/>
                                            </a:rPr>
                                            <m:t>𝑞</m:t>
                                          </m:r>
                                          <m:r>
                                            <a:rPr lang="zh-CN" altLang="en-US" sz="1600" i="0">
                                              <a:latin typeface="Cambria Math" panose="02040503050406030204" pitchFamily="18" charset="0"/>
                                            </a:rPr>
                                            <m:t>3−</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2</m:t>
                                          </m:r>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3+</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1</m:t>
                                          </m:r>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1−2(</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e>
                                      </m:d>
                                    </m:e>
                                  </m:mr>
                                </m:m>
                              </m:e>
                            </m:mr>
                          </m:m>
                        </m:e>
                      </m:d>
                    </m:oMath>
                  </m:oMathPara>
                </a14:m>
                <a:endParaRPr lang="zh-CN" altLang="en-US" sz="1600" dirty="0"/>
              </a:p>
            </p:txBody>
          </p:sp>
        </mc:Choice>
        <mc:Fallback xmlns="">
          <p:sp>
            <p:nvSpPr>
              <p:cNvPr id="8" name="矩形 7"/>
              <p:cNvSpPr>
                <a:spLocks noRot="1" noChangeAspect="1" noMove="1" noResize="1" noEditPoints="1" noAdjustHandles="1" noChangeArrowheads="1" noChangeShapeType="1" noTextEdit="1"/>
              </p:cNvSpPr>
              <p:nvPr/>
            </p:nvSpPr>
            <p:spPr>
              <a:xfrm>
                <a:off x="981414" y="1616135"/>
                <a:ext cx="6326890" cy="914353"/>
              </a:xfrm>
              <a:prstGeom prst="rect">
                <a:avLst/>
              </a:prstGeom>
              <a:blipFill rotWithShape="1">
                <a:blip r:embed="rId3"/>
                <a:stretch>
                  <a:fillRect l="-5" t="-7" r="1" b="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981414" y="2840042"/>
                <a:ext cx="6326890" cy="115698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𝑄𝑢𝑎𝑡</m:t>
                      </m:r>
                      <m:d>
                        <m:dPr>
                          <m:ctrlPr>
                            <a:rPr lang="zh-CN" altLang="en-US" sz="1600" i="1">
                              <a:latin typeface="Cambria Math" panose="02040503050406030204" pitchFamily="18" charset="0"/>
                            </a:rPr>
                          </m:ctrlPr>
                        </m:dPr>
                        <m:e>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r>
                            <a:rPr lang="zh-CN" altLang="en-US" sz="1600" i="0">
                              <a:latin typeface="Cambria Math" panose="02040503050406030204" pitchFamily="18" charset="0"/>
                            </a:rPr>
                            <m:t>,</m:t>
                          </m:r>
                          <m:r>
                            <a:rPr lang="zh-CN" altLang="en-US" sz="1600" i="1">
                              <a:latin typeface="Cambria Math" panose="02040503050406030204" pitchFamily="18" charset="0"/>
                            </a:rPr>
                            <m:t>𝜃</m:t>
                          </m:r>
                        </m:e>
                      </m:d>
                      <m:r>
                        <a:rPr lang="zh-CN" altLang="en-US" sz="1600" i="0">
                          <a:latin typeface="Cambria Math" panose="02040503050406030204" pitchFamily="18" charset="0"/>
                        </a:rPr>
                        <m:t>=</m:t>
                      </m:r>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m>
                                  <m:mPr>
                                    <m:mcs>
                                      <m:mc>
                                        <m:mcPr>
                                          <m:count m:val="3"/>
                                          <m:mcJc m:val="center"/>
                                        </m:mcPr>
                                      </m:mc>
                                    </m:mcs>
                                    <m:ctrlPr>
                                      <a:rPr lang="zh-CN" altLang="en-US" sz="1600" i="1">
                                        <a:latin typeface="Cambria Math" panose="02040503050406030204" pitchFamily="18" charset="0"/>
                                      </a:rPr>
                                    </m:ctrlPr>
                                  </m:mPr>
                                  <m:mr>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0</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1</m:t>
                                          </m:r>
                                          <m:r>
                                            <a:rPr lang="zh-CN" altLang="en-US" sz="1600" i="1">
                                              <a:latin typeface="Cambria Math" panose="02040503050406030204" pitchFamily="18" charset="0"/>
                                            </a:rPr>
                                            <m:t>𝑞</m:t>
                                          </m:r>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3</m:t>
                                          </m:r>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1</m:t>
                                          </m:r>
                                          <m:r>
                                            <a:rPr lang="zh-CN" altLang="en-US" sz="1600" i="1">
                                              <a:latin typeface="Cambria Math" panose="02040503050406030204" pitchFamily="18" charset="0"/>
                                            </a:rPr>
                                            <m:t>𝑞</m:t>
                                          </m:r>
                                          <m:r>
                                            <a:rPr lang="zh-CN" altLang="en-US" sz="1600" i="0">
                                              <a:latin typeface="Cambria Math" panose="02040503050406030204" pitchFamily="18" charset="0"/>
                                            </a:rPr>
                                            <m:t>3+</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2</m:t>
                                          </m:r>
                                        </m:e>
                                      </m:d>
                                    </m:e>
                                  </m:mr>
                                  <m:mr>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1</m:t>
                                          </m:r>
                                          <m:r>
                                            <a:rPr lang="zh-CN" altLang="en-US" sz="1600" i="1">
                                              <a:latin typeface="Cambria Math" panose="02040503050406030204" pitchFamily="18" charset="0"/>
                                            </a:rPr>
                                            <m:t>𝑞</m:t>
                                          </m:r>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3</m:t>
                                          </m:r>
                                        </m:e>
                                      </m:d>
                                    </m:e>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0</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3−</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1</m:t>
                                          </m:r>
                                        </m:e>
                                      </m:d>
                                    </m:e>
                                  </m:mr>
                                  <m:mr>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1</m:t>
                                          </m:r>
                                          <m:r>
                                            <a:rPr lang="zh-CN" altLang="en-US" sz="1600" i="1">
                                              <a:latin typeface="Cambria Math" panose="02040503050406030204" pitchFamily="18" charset="0"/>
                                            </a:rPr>
                                            <m:t>𝑞</m:t>
                                          </m:r>
                                          <m:r>
                                            <a:rPr lang="zh-CN" altLang="en-US" sz="1600" i="0">
                                              <a:latin typeface="Cambria Math" panose="02040503050406030204" pitchFamily="18" charset="0"/>
                                            </a:rPr>
                                            <m:t>3−</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2</m:t>
                                          </m:r>
                                        </m:e>
                                      </m:d>
                                    </m:e>
                                    <m:e>
                                      <m:d>
                                        <m:dPr>
                                          <m:begChr m:val=""/>
                                          <m:ctrlPr>
                                            <a:rPr lang="zh-CN" altLang="en-US" sz="1600" i="1">
                                              <a:latin typeface="Cambria Math" panose="02040503050406030204" pitchFamily="18" charset="0"/>
                                            </a:rPr>
                                          </m:ctrlPr>
                                        </m:dPr>
                                        <m:e>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2</m:t>
                                          </m:r>
                                          <m:r>
                                            <a:rPr lang="zh-CN" altLang="en-US" sz="1600" i="1">
                                              <a:latin typeface="Cambria Math" panose="02040503050406030204" pitchFamily="18" charset="0"/>
                                            </a:rPr>
                                            <m:t>𝑞</m:t>
                                          </m:r>
                                          <m:r>
                                            <a:rPr lang="zh-CN" altLang="en-US" sz="1600" i="0">
                                              <a:latin typeface="Cambria Math" panose="02040503050406030204" pitchFamily="18" charset="0"/>
                                            </a:rPr>
                                            <m:t>3+</m:t>
                                          </m:r>
                                          <m:r>
                                            <a:rPr lang="zh-CN" altLang="en-US" sz="1600" i="1">
                                              <a:latin typeface="Cambria Math" panose="02040503050406030204" pitchFamily="18" charset="0"/>
                                            </a:rPr>
                                            <m:t>𝑞</m:t>
                                          </m:r>
                                          <m:r>
                                            <a:rPr lang="zh-CN" altLang="en-US" sz="1600" i="0">
                                              <a:latin typeface="Cambria Math" panose="02040503050406030204" pitchFamily="18" charset="0"/>
                                            </a:rPr>
                                            <m:t>0</m:t>
                                          </m:r>
                                          <m:r>
                                            <a:rPr lang="zh-CN" altLang="en-US" sz="1600" i="1">
                                              <a:latin typeface="Cambria Math" panose="02040503050406030204" pitchFamily="18" charset="0"/>
                                            </a:rPr>
                                            <m:t>𝑞</m:t>
                                          </m:r>
                                          <m:r>
                                            <a:rPr lang="zh-CN" altLang="en-US" sz="1600" i="0">
                                              <a:latin typeface="Cambria Math" panose="02040503050406030204" pitchFamily="18" charset="0"/>
                                            </a:rPr>
                                            <m:t>1</m:t>
                                          </m:r>
                                        </m:e>
                                      </m:d>
                                    </m:e>
                                    <m:e>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0</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e>
                                  </m:mr>
                                </m:m>
                              </m:e>
                            </m:mr>
                          </m:m>
                        </m:e>
                      </m:d>
                    </m:oMath>
                  </m:oMathPara>
                </a14:m>
                <a:endParaRPr lang="zh-CN" altLang="en-US" sz="1600" dirty="0"/>
              </a:p>
            </p:txBody>
          </p:sp>
        </mc:Choice>
        <mc:Fallback xmlns="">
          <p:sp>
            <p:nvSpPr>
              <p:cNvPr id="9" name="矩形 8"/>
              <p:cNvSpPr>
                <a:spLocks noRot="1" noChangeAspect="1" noMove="1" noResize="1" noEditPoints="1" noAdjustHandles="1" noChangeArrowheads="1" noChangeShapeType="1" noTextEdit="1"/>
              </p:cNvSpPr>
              <p:nvPr/>
            </p:nvSpPr>
            <p:spPr>
              <a:xfrm>
                <a:off x="981414" y="2840042"/>
                <a:ext cx="6326890" cy="1156983"/>
              </a:xfrm>
              <a:prstGeom prst="rect">
                <a:avLst/>
              </a:prstGeom>
              <a:blipFill rotWithShape="1">
                <a:blip r:embed="rId4"/>
                <a:stretch>
                  <a:fillRect l="-5" t="-28" r="1" b="29"/>
                </a:stretch>
              </a:blipFill>
            </p:spPr>
            <p:txBody>
              <a:bodyPr/>
              <a:lstStyle/>
              <a:p>
                <a:r>
                  <a:rPr lang="zh-CN" altLang="en-US">
                    <a:noFill/>
                  </a:rPr>
                  <a:t> </a:t>
                </a:r>
              </a:p>
            </p:txBody>
          </p:sp>
        </mc:Fallback>
      </mc:AlternateContent>
      <p:sp>
        <p:nvSpPr>
          <p:cNvPr id="15" name="矩形 14"/>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grpSp>
        <p:nvGrpSpPr>
          <p:cNvPr id="16" name="组合 15"/>
          <p:cNvGrpSpPr/>
          <p:nvPr/>
        </p:nvGrpSpPr>
        <p:grpSpPr>
          <a:xfrm>
            <a:off x="-236220" y="219075"/>
            <a:ext cx="5153660" cy="598805"/>
            <a:chOff x="-372" y="345"/>
            <a:chExt cx="8116" cy="943"/>
          </a:xfrm>
        </p:grpSpPr>
        <p:sp>
          <p:nvSpPr>
            <p:cNvPr id="17" name="矩形 16"/>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8" name="文本框 17"/>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9" name="椭圆 18"/>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400665" y="843558"/>
            <a:ext cx="2305118" cy="400110"/>
          </a:xfrm>
          <a:prstGeom prst="rect">
            <a:avLst/>
          </a:prstGeom>
        </p:spPr>
        <p:txBody>
          <a:bodyPr wrap="none">
            <a:spAutoFit/>
          </a:bodyPr>
          <a:lstStyle/>
          <a:p>
            <a:r>
              <a:rPr lang="zh-CN" altLang="zh-CN" sz="2000" dirty="0">
                <a:solidFill>
                  <a:srgbClr val="002060"/>
                </a:solidFill>
              </a:rPr>
              <a:t>四元数</a:t>
            </a:r>
            <a:r>
              <a:rPr lang="en-US" altLang="zh-CN" sz="2000" dirty="0">
                <a:solidFill>
                  <a:srgbClr val="002060"/>
                </a:solidFill>
              </a:rPr>
              <a:t>(Quaternion)</a:t>
            </a:r>
            <a:endParaRPr lang="zh-CN" altLang="en-US" sz="2000" dirty="0">
              <a:solidFill>
                <a:srgbClr val="002060"/>
              </a:solidFill>
            </a:endParaRPr>
          </a:p>
        </p:txBody>
      </p:sp>
      <mc:AlternateContent xmlns:mc="http://schemas.openxmlformats.org/markup-compatibility/2006" xmlns:a14="http://schemas.microsoft.com/office/drawing/2010/main">
        <mc:Choice Requires="a14">
          <p:sp>
            <p:nvSpPr>
              <p:cNvPr id="2" name="矩形 1"/>
              <p:cNvSpPr/>
              <p:nvPr/>
            </p:nvSpPr>
            <p:spPr>
              <a:xfrm>
                <a:off x="1424164" y="1536403"/>
                <a:ext cx="2190664" cy="338554"/>
              </a:xfrm>
              <a:prstGeom prst="rect">
                <a:avLst/>
              </a:prstGeom>
            </p:spPr>
            <p:txBody>
              <a:bodyPr wrap="none">
                <a:spAutoFit/>
              </a:bodyPr>
              <a:lstStyle/>
              <a:p>
                <a:r>
                  <a:rPr lang="zh-CN" altLang="zh-CN" sz="1600" dirty="0" smtClean="0">
                    <a:latin typeface="Cambria Math" panose="02040503050406030204" pitchFamily="18" charset="0"/>
                    <a:cs typeface="Times New Roman" panose="02020603050405020304" pitchFamily="18" charset="0"/>
                  </a:rPr>
                  <a:t>四</a:t>
                </a:r>
                <a:r>
                  <a:rPr lang="zh-CN" altLang="en-US" sz="1600" dirty="0" smtClean="0">
                    <a:latin typeface="Cambria Math" panose="02040503050406030204" pitchFamily="18" charset="0"/>
                    <a:cs typeface="Times New Roman" panose="02020603050405020304" pitchFamily="18" charset="0"/>
                  </a:rPr>
                  <a:t>个</a:t>
                </a:r>
                <a:r>
                  <a:rPr lang="zh-CN" altLang="zh-CN" sz="1600" dirty="0" smtClean="0">
                    <a:latin typeface="Cambria Math" panose="02040503050406030204" pitchFamily="18" charset="0"/>
                    <a:cs typeface="Times New Roman" panose="02020603050405020304" pitchFamily="18" charset="0"/>
                  </a:rPr>
                  <a:t>参数</a:t>
                </a:r>
                <a:r>
                  <a:rPr lang="en-US" altLang="zh-CN" sz="1600" dirty="0" smtClean="0">
                    <a:latin typeface="Cambria Math" panose="02040503050406030204" pitchFamily="18" charset="0"/>
                    <a:cs typeface="Times New Roman" panose="02020603050405020304" pitchFamily="18" charset="0"/>
                  </a:rPr>
                  <a:t>: </a:t>
                </a:r>
                <a14:m>
                  <m:oMath xmlns:m="http://schemas.openxmlformats.org/officeDocument/2006/math">
                    <m:sSub>
                      <m:sSubPr>
                        <m:ctrlPr>
                          <a:rPr lang="en-US" altLang="zh-CN" sz="1600" i="1" smtClean="0">
                            <a:latin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cs typeface="Times New Roman" panose="02020603050405020304" pitchFamily="18" charset="0"/>
                          </a:rPr>
                          <m:t>𝑞</m:t>
                        </m:r>
                      </m:e>
                      <m:sub>
                        <m:r>
                          <a:rPr lang="en-US" altLang="zh-CN" sz="1600" b="0" i="1" smtClean="0">
                            <a:latin typeface="Cambria Math" panose="02040503050406030204" pitchFamily="18" charset="0"/>
                            <a:cs typeface="Times New Roman" panose="02020603050405020304" pitchFamily="18" charset="0"/>
                          </a:rPr>
                          <m:t>0</m:t>
                        </m:r>
                      </m:sub>
                    </m:sSub>
                    <m:r>
                      <a:rPr lang="en-US" altLang="zh-CN" sz="1600" b="0" i="1" smtClean="0">
                        <a:latin typeface="Cambria Math" panose="02040503050406030204" pitchFamily="18" charset="0"/>
                        <a:cs typeface="Times New Roman" panose="02020603050405020304" pitchFamily="18" charset="0"/>
                      </a:rPr>
                      <m:t>,</m:t>
                    </m:r>
                  </m:oMath>
                </a14:m>
                <a:r>
                  <a:rPr lang="en-US" altLang="zh-CN" sz="1600" dirty="0">
                    <a:cs typeface="Times New Roman" panose="02020603050405020304" pitchFamily="18" charset="0"/>
                  </a:rPr>
                  <a:t>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𝑞</m:t>
                        </m:r>
                      </m:e>
                      <m:sub>
                        <m:r>
                          <a:rPr lang="en-US" altLang="zh-CN" sz="1600" b="0" i="1" smtClean="0">
                            <a:latin typeface="Cambria Math" panose="02040503050406030204" pitchFamily="18" charset="0"/>
                            <a:cs typeface="Times New Roman" panose="02020603050405020304" pitchFamily="18" charset="0"/>
                          </a:rPr>
                          <m:t>1</m:t>
                        </m:r>
                      </m:sub>
                    </m:sSub>
                  </m:oMath>
                </a14:m>
                <a:r>
                  <a:rPr lang="en-US" altLang="zh-CN" sz="1600" dirty="0" smtClean="0"/>
                  <a:t>,</a:t>
                </a:r>
                <a:r>
                  <a:rPr lang="en-US" altLang="zh-CN" sz="1600" dirty="0">
                    <a:cs typeface="Times New Roman" panose="02020603050405020304" pitchFamily="18" charset="0"/>
                  </a:rPr>
                  <a:t>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𝑞</m:t>
                        </m:r>
                      </m:e>
                      <m:sub>
                        <m:r>
                          <a:rPr lang="en-US" altLang="zh-CN" sz="1600" b="0" i="1" smtClean="0">
                            <a:latin typeface="Cambria Math" panose="02040503050406030204" pitchFamily="18" charset="0"/>
                            <a:cs typeface="Times New Roman" panose="02020603050405020304" pitchFamily="18" charset="0"/>
                          </a:rPr>
                          <m:t>2</m:t>
                        </m:r>
                      </m:sub>
                    </m:sSub>
                  </m:oMath>
                </a14:m>
                <a:r>
                  <a:rPr lang="en-US" altLang="zh-CN" sz="1600" dirty="0" smtClean="0"/>
                  <a:t>,</a:t>
                </a:r>
                <a:r>
                  <a:rPr lang="en-US" altLang="zh-CN" sz="1600" dirty="0">
                    <a:cs typeface="Times New Roman" panose="02020603050405020304" pitchFamily="18" charset="0"/>
                  </a:rPr>
                  <a:t>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𝑞</m:t>
                        </m:r>
                      </m:e>
                      <m:sub>
                        <m:r>
                          <a:rPr lang="en-US" altLang="zh-CN" sz="1600" b="0" i="1" smtClean="0">
                            <a:latin typeface="Cambria Math" panose="02040503050406030204" pitchFamily="18" charset="0"/>
                            <a:cs typeface="Times New Roman" panose="02020603050405020304" pitchFamily="18" charset="0"/>
                          </a:rPr>
                          <m:t>3</m:t>
                        </m:r>
                      </m:sub>
                    </m:sSub>
                  </m:oMath>
                </a14:m>
                <a:endParaRPr lang="zh-CN" altLang="en-US" sz="1600" dirty="0"/>
              </a:p>
            </p:txBody>
          </p:sp>
        </mc:Choice>
        <mc:Fallback xmlns="">
          <p:sp>
            <p:nvSpPr>
              <p:cNvPr id="2" name="矩形 1"/>
              <p:cNvSpPr>
                <a:spLocks noRot="1" noChangeAspect="1" noMove="1" noResize="1" noEditPoints="1" noAdjustHandles="1" noChangeArrowheads="1" noChangeShapeType="1" noTextEdit="1"/>
              </p:cNvSpPr>
              <p:nvPr/>
            </p:nvSpPr>
            <p:spPr>
              <a:xfrm>
                <a:off x="1424164" y="1536403"/>
                <a:ext cx="2190664" cy="338554"/>
              </a:xfrm>
              <a:prstGeom prst="rect">
                <a:avLst/>
              </a:prstGeom>
              <a:blipFill rotWithShape="1">
                <a:blip r:embed="rId3"/>
                <a:stretch>
                  <a:fillRect l="-23" t="-100" r="19" b="129"/>
                </a:stretch>
              </a:blipFill>
            </p:spPr>
            <p:txBody>
              <a:bodyPr/>
              <a:lstStyle/>
              <a:p>
                <a:r>
                  <a:rPr lang="zh-CN" altLang="en-US">
                    <a:noFill/>
                  </a:rPr>
                  <a:t> </a:t>
                </a:r>
              </a:p>
            </p:txBody>
          </p:sp>
        </mc:Fallback>
      </mc:AlternateContent>
      <p:sp>
        <p:nvSpPr>
          <p:cNvPr id="3" name="矩形 2"/>
          <p:cNvSpPr/>
          <p:nvPr/>
        </p:nvSpPr>
        <p:spPr>
          <a:xfrm>
            <a:off x="5050171" y="874336"/>
            <a:ext cx="1991251" cy="400110"/>
          </a:xfrm>
          <a:prstGeom prst="rect">
            <a:avLst/>
          </a:prstGeom>
        </p:spPr>
        <p:txBody>
          <a:bodyPr wrap="none">
            <a:spAutoFit/>
          </a:bodyPr>
          <a:lstStyle/>
          <a:p>
            <a:r>
              <a:rPr lang="zh-CN" altLang="zh-CN" sz="2000" b="1" dirty="0" smtClean="0">
                <a:solidFill>
                  <a:srgbClr val="002060"/>
                </a:solidFill>
                <a:latin typeface="Cambria Math" panose="02040503050406030204" pitchFamily="18" charset="0"/>
                <a:cs typeface="Times New Roman" panose="02020603050405020304" pitchFamily="18" charset="0"/>
              </a:rPr>
              <a:t>罗德里格斯参数</a:t>
            </a:r>
            <a:endParaRPr lang="zh-CN" altLang="en-US" sz="2000" dirty="0">
              <a:solidFill>
                <a:srgbClr val="002060"/>
              </a:solidFill>
            </a:endParaRPr>
          </a:p>
        </p:txBody>
      </p:sp>
      <p:sp>
        <p:nvSpPr>
          <p:cNvPr id="11" name="右箭头 10"/>
          <p:cNvSpPr/>
          <p:nvPr/>
        </p:nvSpPr>
        <p:spPr>
          <a:xfrm>
            <a:off x="4071053" y="1474674"/>
            <a:ext cx="720080" cy="4620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矩形 11"/>
              <p:cNvSpPr/>
              <p:nvPr/>
            </p:nvSpPr>
            <p:spPr>
              <a:xfrm>
                <a:off x="5432839" y="1544517"/>
                <a:ext cx="1225913" cy="338554"/>
              </a:xfrm>
              <a:prstGeom prst="rect">
                <a:avLst/>
              </a:prstGeom>
            </p:spPr>
            <p:txBody>
              <a:bodyPr wrap="none">
                <a:spAutoFit/>
              </a:bodyPr>
              <a:lstStyle/>
              <a:p>
                <a14:m>
                  <m:oMath xmlns:m="http://schemas.openxmlformats.org/officeDocument/2006/math">
                    <m:r>
                      <a:rPr lang="en-US" altLang="zh-CN" sz="1600" i="1" smtClean="0">
                        <a:latin typeface="Cambria Math" panose="02040503050406030204" pitchFamily="18" charset="0"/>
                        <a:cs typeface="Times New Roman" panose="02020603050405020304" pitchFamily="18" charset="0"/>
                      </a:rPr>
                      <m:t>𝜌</m:t>
                    </m:r>
                    <m:r>
                      <a:rPr lang="en-US" altLang="zh-CN" sz="1600" b="0" i="0" smtClean="0">
                        <a:latin typeface="Cambria Math" panose="02040503050406030204" pitchFamily="18" charset="0"/>
                        <a:cs typeface="Times New Roman" panose="02020603050405020304" pitchFamily="18" charset="0"/>
                      </a:rPr>
                      <m:t>: </m:t>
                    </m:r>
                  </m:oMath>
                </a14:m>
                <a:r>
                  <a:rPr lang="zh-CN" altLang="zh-CN" sz="1600" dirty="0" smtClean="0">
                    <a:latin typeface="Cambria Math" panose="02040503050406030204" pitchFamily="18" charset="0"/>
                    <a:cs typeface="Times New Roman" panose="02020603050405020304" pitchFamily="18" charset="0"/>
                  </a:rPr>
                  <a:t>三个</a:t>
                </a:r>
                <a:r>
                  <a:rPr lang="zh-CN" altLang="zh-CN" sz="1600" b="1" dirty="0" smtClean="0">
                    <a:latin typeface="Cambria Math" panose="02040503050406030204" pitchFamily="18" charset="0"/>
                    <a:cs typeface="Times New Roman" panose="02020603050405020304" pitchFamily="18" charset="0"/>
                  </a:rPr>
                  <a:t>参数</a:t>
                </a:r>
                <a:endParaRPr lang="zh-CN" altLang="en-US" sz="1600" dirty="0"/>
              </a:p>
            </p:txBody>
          </p:sp>
        </mc:Choice>
        <mc:Fallback xmlns="">
          <p:sp>
            <p:nvSpPr>
              <p:cNvPr id="12" name="矩形 11"/>
              <p:cNvSpPr>
                <a:spLocks noRot="1" noChangeAspect="1" noMove="1" noResize="1" noEditPoints="1" noAdjustHandles="1" noChangeArrowheads="1" noChangeShapeType="1" noTextEdit="1"/>
              </p:cNvSpPr>
              <p:nvPr/>
            </p:nvSpPr>
            <p:spPr>
              <a:xfrm>
                <a:off x="5432839" y="1544517"/>
                <a:ext cx="1225913" cy="338554"/>
              </a:xfrm>
              <a:prstGeom prst="rect">
                <a:avLst/>
              </a:prstGeom>
              <a:blipFill rotWithShape="1">
                <a:blip r:embed="rId4"/>
                <a:stretch>
                  <a:fillRect l="-34" t="-58" r="12" b="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642540" y="2163583"/>
                <a:ext cx="2195729" cy="3434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0</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𝑞</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=1</m:t>
                      </m:r>
                    </m:oMath>
                  </m:oMathPara>
                </a14:m>
                <a:endParaRPr lang="zh-CN" altLang="en-US" sz="1600" dirty="0"/>
              </a:p>
            </p:txBody>
          </p:sp>
        </mc:Choice>
        <mc:Fallback xmlns="">
          <p:sp>
            <p:nvSpPr>
              <p:cNvPr id="13" name="矩形 12"/>
              <p:cNvSpPr>
                <a:spLocks noRot="1" noChangeAspect="1" noMove="1" noResize="1" noEditPoints="1" noAdjustHandles="1" noChangeArrowheads="1" noChangeShapeType="1" noTextEdit="1"/>
              </p:cNvSpPr>
              <p:nvPr/>
            </p:nvSpPr>
            <p:spPr>
              <a:xfrm>
                <a:off x="1642540" y="2163583"/>
                <a:ext cx="2195729" cy="343427"/>
              </a:xfrm>
              <a:prstGeom prst="rect">
                <a:avLst/>
              </a:prstGeom>
              <a:blipFill rotWithShape="1">
                <a:blip r:embed="rId5"/>
                <a:stretch>
                  <a:fillRect l="-20" t="-40" r="15" b="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4248472" y="2041644"/>
                <a:ext cx="4572000" cy="555473"/>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𝜌</m:t>
                      </m:r>
                      <m:r>
                        <a:rPr lang="zh-CN" altLang="en-US" sz="1600" i="0">
                          <a:latin typeface="Cambria Math" panose="02040503050406030204" pitchFamily="18" charset="0"/>
                        </a:rPr>
                        <m:t>= </m:t>
                      </m:r>
                      <m:acc>
                        <m:accPr>
                          <m:chr m:val="̂"/>
                          <m:ctrlPr>
                            <a:rPr lang="zh-CN" altLang="en-US" sz="1600" i="1">
                              <a:latin typeface="Cambria Math" panose="02040503050406030204" pitchFamily="18" charset="0"/>
                            </a:rPr>
                          </m:ctrlPr>
                        </m:accPr>
                        <m:e>
                          <m:r>
                            <a:rPr lang="zh-CN" altLang="en-US" sz="1600" i="1">
                              <a:latin typeface="Cambria Math" panose="02040503050406030204" pitchFamily="18" charset="0"/>
                            </a:rPr>
                            <m:t>𝜔</m:t>
                          </m:r>
                        </m:e>
                      </m:acc>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tan</m:t>
                          </m:r>
                        </m:fName>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𝜃</m:t>
                              </m:r>
                            </m:num>
                            <m:den>
                              <m:r>
                                <a:rPr lang="zh-CN" altLang="en-US" sz="1600" i="0">
                                  <a:latin typeface="Cambria Math" panose="02040503050406030204" pitchFamily="18" charset="0"/>
                                </a:rPr>
                                <m:t>2</m:t>
                              </m:r>
                            </m:den>
                          </m:f>
                        </m:e>
                      </m:func>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𝑥</m:t>
                          </m:r>
                        </m:sub>
                      </m:sSub>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tan</m:t>
                          </m:r>
                        </m:fName>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𝜃</m:t>
                              </m:r>
                            </m:num>
                            <m:den>
                              <m:r>
                                <a:rPr lang="zh-CN" altLang="en-US" sz="1600" i="0">
                                  <a:latin typeface="Cambria Math" panose="02040503050406030204" pitchFamily="18" charset="0"/>
                                </a:rPr>
                                <m:t>2</m:t>
                              </m:r>
                            </m:den>
                          </m:f>
                        </m:e>
                      </m:func>
                      <m:r>
                        <a:rPr lang="zh-CN" altLang="en-US" sz="1600" i="0">
                          <a:latin typeface="Cambria Math" panose="02040503050406030204" pitchFamily="18" charset="0"/>
                        </a:rPr>
                        <m:t>, </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𝑦</m:t>
                          </m:r>
                        </m:sub>
                      </m:sSub>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tan</m:t>
                          </m:r>
                        </m:fName>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𝜃</m:t>
                              </m:r>
                            </m:num>
                            <m:den>
                              <m:r>
                                <a:rPr lang="zh-CN" altLang="en-US" sz="1600" i="0">
                                  <a:latin typeface="Cambria Math" panose="02040503050406030204" pitchFamily="18" charset="0"/>
                                </a:rPr>
                                <m:t>2</m:t>
                              </m:r>
                            </m:den>
                          </m:f>
                        </m:e>
                      </m:func>
                      <m:r>
                        <a:rPr lang="zh-CN" altLang="en-US" sz="1600" i="0">
                          <a:latin typeface="Cambria Math" panose="02040503050406030204" pitchFamily="18" charset="0"/>
                        </a:rPr>
                        <m:t>, </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𝑛</m:t>
                          </m:r>
                        </m:e>
                        <m:sub>
                          <m:r>
                            <a:rPr lang="zh-CN" altLang="en-US" sz="1600" i="1">
                              <a:latin typeface="Cambria Math" panose="02040503050406030204" pitchFamily="18" charset="0"/>
                            </a:rPr>
                            <m:t>𝑧</m:t>
                          </m:r>
                        </m:sub>
                      </m:sSub>
                      <m:func>
                        <m:funcPr>
                          <m:ctrlPr>
                            <a:rPr lang="zh-CN" altLang="en-US" sz="1600" i="1">
                              <a:latin typeface="Cambria Math" panose="02040503050406030204" pitchFamily="18" charset="0"/>
                            </a:rPr>
                          </m:ctrlPr>
                        </m:funcPr>
                        <m:fName>
                          <m:r>
                            <m:rPr>
                              <m:sty m:val="p"/>
                            </m:rPr>
                            <a:rPr lang="zh-CN" altLang="en-US" sz="1600" i="0">
                              <a:latin typeface="Cambria Math" panose="02040503050406030204" pitchFamily="18" charset="0"/>
                            </a:rPr>
                            <m:t>tan</m:t>
                          </m:r>
                        </m:fName>
                        <m:e>
                          <m:f>
                            <m:fPr>
                              <m:ctrlPr>
                                <a:rPr lang="zh-CN" altLang="en-US" sz="1600" i="1">
                                  <a:latin typeface="Cambria Math" panose="02040503050406030204" pitchFamily="18" charset="0"/>
                                </a:rPr>
                              </m:ctrlPr>
                            </m:fPr>
                            <m:num>
                              <m:r>
                                <a:rPr lang="zh-CN" altLang="en-US" sz="1600" i="1">
                                  <a:latin typeface="Cambria Math" panose="02040503050406030204" pitchFamily="18" charset="0"/>
                                </a:rPr>
                                <m:t>𝜃</m:t>
                              </m:r>
                            </m:num>
                            <m:den>
                              <m:r>
                                <a:rPr lang="zh-CN" altLang="en-US" sz="1600" i="0">
                                  <a:latin typeface="Cambria Math" panose="02040503050406030204" pitchFamily="18" charset="0"/>
                                </a:rPr>
                                <m:t>2</m:t>
                              </m:r>
                            </m:den>
                          </m:f>
                        </m:e>
                      </m:func>
                      <m:r>
                        <a:rPr lang="zh-CN" altLang="en-US" sz="1600" i="0">
                          <a:latin typeface="Cambria Math" panose="02040503050406030204" pitchFamily="18" charset="0"/>
                        </a:rPr>
                        <m:t>) </m:t>
                      </m:r>
                    </m:oMath>
                  </m:oMathPara>
                </a14:m>
                <a:endParaRPr lang="zh-CN" altLang="en-US" sz="1600" dirty="0"/>
              </a:p>
            </p:txBody>
          </p:sp>
        </mc:Choice>
        <mc:Fallback xmlns="">
          <p:sp>
            <p:nvSpPr>
              <p:cNvPr id="14" name="矩形 13"/>
              <p:cNvSpPr>
                <a:spLocks noRot="1" noChangeAspect="1" noMove="1" noResize="1" noEditPoints="1" noAdjustHandles="1" noChangeArrowheads="1" noChangeShapeType="1" noTextEdit="1"/>
              </p:cNvSpPr>
              <p:nvPr/>
            </p:nvSpPr>
            <p:spPr>
              <a:xfrm>
                <a:off x="4248472" y="2041644"/>
                <a:ext cx="4572000" cy="555473"/>
              </a:xfrm>
              <a:prstGeom prst="rect">
                <a:avLst/>
              </a:prstGeom>
              <a:blipFill rotWithShape="1">
                <a:blip r:embed="rId6"/>
                <a:stretch>
                  <a:fillRect l="-7" t="-21" r="7" b="1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1166323" y="2997538"/>
                <a:ext cx="7249619" cy="115621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𝑅</m:t>
                      </m:r>
                      <m:d>
                        <m:dPr>
                          <m:ctrlPr>
                            <a:rPr lang="zh-CN" altLang="en-US" sz="1600" i="1">
                              <a:latin typeface="Cambria Math" panose="02040503050406030204" pitchFamily="18" charset="0"/>
                            </a:rPr>
                          </m:ctrlPr>
                        </m:dPr>
                        <m:e>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𝜌</m:t>
                              </m:r>
                            </m:e>
                            <m:sub>
                              <m:r>
                                <a:rPr lang="zh-CN" altLang="en-US" sz="1600" i="0">
                                  <a:latin typeface="Cambria Math" panose="02040503050406030204" pitchFamily="18" charset="0"/>
                                </a:rPr>
                                <m:t>1</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𝜌</m:t>
                              </m:r>
                            </m:e>
                            <m:sub>
                              <m:r>
                                <a:rPr lang="zh-CN" altLang="en-US" sz="1600" i="0">
                                  <a:latin typeface="Cambria Math" panose="02040503050406030204" pitchFamily="18" charset="0"/>
                                </a:rPr>
                                <m:t>2</m:t>
                              </m:r>
                            </m:sub>
                          </m:sSub>
                          <m:r>
                            <a:rPr lang="zh-CN" altLang="en-US" sz="1600" i="0">
                              <a:latin typeface="Cambria Math" panose="02040503050406030204" pitchFamily="18" charset="0"/>
                            </a:rPr>
                            <m:t>,</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𝜌</m:t>
                              </m:r>
                            </m:e>
                            <m:sub>
                              <m:r>
                                <a:rPr lang="zh-CN" altLang="en-US" sz="1600" i="0">
                                  <a:latin typeface="Cambria Math" panose="02040503050406030204" pitchFamily="18" charset="0"/>
                                </a:rPr>
                                <m:t>3</m:t>
                              </m:r>
                            </m:sub>
                          </m:sSub>
                        </m:e>
                      </m:d>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1</m:t>
                          </m:r>
                        </m:num>
                        <m:den>
                          <m:r>
                            <a:rPr lang="zh-CN" altLang="en-US" sz="1600" i="0">
                              <a:latin typeface="Cambria Math" panose="02040503050406030204" pitchFamily="18" charset="0"/>
                            </a:rPr>
                            <m:t>1+</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den>
                      </m:f>
                      <m:d>
                        <m:dPr>
                          <m:begChr m:val="["/>
                          <m:endChr m:val="]"/>
                          <m:ctrlPr>
                            <a:rPr lang="zh-CN" altLang="en-US" sz="1600" i="1">
                              <a:latin typeface="Cambria Math" panose="02040503050406030204" pitchFamily="18" charset="0"/>
                            </a:rPr>
                          </m:ctrlPr>
                        </m:dPr>
                        <m:e>
                          <m:m>
                            <m:mPr>
                              <m:mcs>
                                <m:mc>
                                  <m:mcPr>
                                    <m:count m:val="1"/>
                                    <m:mcJc m:val="center"/>
                                  </m:mcPr>
                                </m:mc>
                              </m:mcs>
                              <m:ctrlPr>
                                <a:rPr lang="zh-CN" altLang="en-US" sz="1600" i="1">
                                  <a:latin typeface="Cambria Math" panose="02040503050406030204" pitchFamily="18" charset="0"/>
                                </a:rPr>
                              </m:ctrlPr>
                            </m:mPr>
                            <m:mr>
                              <m:e>
                                <m:m>
                                  <m:mPr>
                                    <m:mcs>
                                      <m:mc>
                                        <m:mcPr>
                                          <m:count m:val="3"/>
                                          <m:mcJc m:val="center"/>
                                        </m:mcPr>
                                      </m:mc>
                                    </m:mcs>
                                    <m:ctrlPr>
                                      <a:rPr lang="zh-CN" altLang="en-US" sz="1600" i="1">
                                        <a:latin typeface="Cambria Math" panose="02040503050406030204" pitchFamily="18" charset="0"/>
                                      </a:rPr>
                                    </m:ctrlPr>
                                  </m:mPr>
                                  <m:mr>
                                    <m:e>
                                      <m:r>
                                        <a:rPr lang="zh-CN" altLang="en-US" sz="1600" i="0">
                                          <a:latin typeface="Cambria Math" panose="02040503050406030204" pitchFamily="18" charset="0"/>
                                        </a:rPr>
                                        <m:t>1+</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e>
                                    <m:e>
                                      <m:r>
                                        <a:rPr lang="zh-CN" altLang="en-US" sz="1600" i="0">
                                          <a:latin typeface="Cambria Math" panose="02040503050406030204" pitchFamily="18" charset="0"/>
                                        </a:rPr>
                                        <m:t>2</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𝜌</m:t>
                                          </m:r>
                                          <m:r>
                                            <a:rPr lang="zh-CN" altLang="en-US" sz="1600" i="0">
                                              <a:latin typeface="Cambria Math" panose="02040503050406030204" pitchFamily="18" charset="0"/>
                                            </a:rPr>
                                            <m:t>1</m:t>
                                          </m:r>
                                          <m:r>
                                            <a:rPr lang="zh-CN" altLang="en-US" sz="1600" i="1">
                                              <a:latin typeface="Cambria Math" panose="02040503050406030204" pitchFamily="18" charset="0"/>
                                            </a:rPr>
                                            <m:t>𝜌</m:t>
                                          </m:r>
                                          <m:r>
                                            <a:rPr lang="zh-CN" altLang="en-US" sz="1600" i="0">
                                              <a:latin typeface="Cambria Math" panose="02040503050406030204" pitchFamily="18" charset="0"/>
                                            </a:rPr>
                                            <m:t>2−</m:t>
                                          </m:r>
                                          <m:r>
                                            <a:rPr lang="zh-CN" altLang="en-US" sz="1600" i="1">
                                              <a:latin typeface="Cambria Math" panose="02040503050406030204" pitchFamily="18" charset="0"/>
                                            </a:rPr>
                                            <m:t>𝜌</m:t>
                                          </m:r>
                                          <m:r>
                                            <a:rPr lang="zh-CN" altLang="en-US" sz="1600" i="0">
                                              <a:latin typeface="Cambria Math" panose="02040503050406030204" pitchFamily="18" charset="0"/>
                                            </a:rPr>
                                            <m:t>3</m:t>
                                          </m:r>
                                        </m:e>
                                      </m:d>
                                    </m:e>
                                    <m:e>
                                      <m:r>
                                        <a:rPr lang="zh-CN" altLang="en-US" sz="1600" i="0">
                                          <a:latin typeface="Cambria Math" panose="02040503050406030204" pitchFamily="18" charset="0"/>
                                        </a:rPr>
                                        <m:t>2</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𝜌</m:t>
                                          </m:r>
                                          <m:r>
                                            <a:rPr lang="zh-CN" altLang="en-US" sz="1600" i="0">
                                              <a:latin typeface="Cambria Math" panose="02040503050406030204" pitchFamily="18" charset="0"/>
                                            </a:rPr>
                                            <m:t>1</m:t>
                                          </m:r>
                                          <m:r>
                                            <a:rPr lang="zh-CN" altLang="en-US" sz="1600" i="1">
                                              <a:latin typeface="Cambria Math" panose="02040503050406030204" pitchFamily="18" charset="0"/>
                                            </a:rPr>
                                            <m:t>𝜌</m:t>
                                          </m:r>
                                          <m:r>
                                            <a:rPr lang="zh-CN" altLang="en-US" sz="1600" i="0">
                                              <a:latin typeface="Cambria Math" panose="02040503050406030204" pitchFamily="18" charset="0"/>
                                            </a:rPr>
                                            <m:t>3+</m:t>
                                          </m:r>
                                          <m:r>
                                            <a:rPr lang="zh-CN" altLang="en-US" sz="1600" i="1">
                                              <a:latin typeface="Cambria Math" panose="02040503050406030204" pitchFamily="18" charset="0"/>
                                            </a:rPr>
                                            <m:t>𝜌</m:t>
                                          </m:r>
                                          <m:r>
                                            <a:rPr lang="zh-CN" altLang="en-US" sz="1600" i="0">
                                              <a:latin typeface="Cambria Math" panose="02040503050406030204" pitchFamily="18" charset="0"/>
                                            </a:rPr>
                                            <m:t>2</m:t>
                                          </m:r>
                                        </m:e>
                                      </m:d>
                                    </m:e>
                                  </m:mr>
                                  <m:mr>
                                    <m:e>
                                      <m:r>
                                        <a:rPr lang="zh-CN" altLang="en-US" sz="1600" i="0">
                                          <a:latin typeface="Cambria Math" panose="02040503050406030204" pitchFamily="18" charset="0"/>
                                        </a:rPr>
                                        <m:t>2</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𝜌</m:t>
                                          </m:r>
                                          <m:r>
                                            <a:rPr lang="zh-CN" altLang="en-US" sz="1600" i="0">
                                              <a:latin typeface="Cambria Math" panose="02040503050406030204" pitchFamily="18" charset="0"/>
                                            </a:rPr>
                                            <m:t>1</m:t>
                                          </m:r>
                                          <m:r>
                                            <a:rPr lang="zh-CN" altLang="en-US" sz="1600" i="1">
                                              <a:latin typeface="Cambria Math" panose="02040503050406030204" pitchFamily="18" charset="0"/>
                                            </a:rPr>
                                            <m:t>𝜌</m:t>
                                          </m:r>
                                          <m:r>
                                            <a:rPr lang="zh-CN" altLang="en-US" sz="1600" i="0">
                                              <a:latin typeface="Cambria Math" panose="02040503050406030204" pitchFamily="18" charset="0"/>
                                            </a:rPr>
                                            <m:t>2+</m:t>
                                          </m:r>
                                          <m:r>
                                            <a:rPr lang="zh-CN" altLang="en-US" sz="1600" i="1">
                                              <a:latin typeface="Cambria Math" panose="02040503050406030204" pitchFamily="18" charset="0"/>
                                            </a:rPr>
                                            <m:t>𝜌</m:t>
                                          </m:r>
                                          <m:r>
                                            <a:rPr lang="zh-CN" altLang="en-US" sz="1600" i="0">
                                              <a:latin typeface="Cambria Math" panose="02040503050406030204" pitchFamily="18" charset="0"/>
                                            </a:rPr>
                                            <m:t>3</m:t>
                                          </m:r>
                                        </m:e>
                                      </m:d>
                                    </m:e>
                                    <m:e>
                                      <m:r>
                                        <a:rPr lang="zh-CN" altLang="en-US" sz="1600" i="0">
                                          <a:latin typeface="Cambria Math" panose="02040503050406030204" pitchFamily="18" charset="0"/>
                                        </a:rPr>
                                        <m:t>1−</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e>
                                    <m:e>
                                      <m:r>
                                        <a:rPr lang="zh-CN" altLang="en-US" sz="1600" i="0">
                                          <a:latin typeface="Cambria Math" panose="02040503050406030204" pitchFamily="18" charset="0"/>
                                        </a:rPr>
                                        <m:t>2</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𝜌</m:t>
                                          </m:r>
                                          <m:r>
                                            <a:rPr lang="zh-CN" altLang="en-US" sz="1600" i="0">
                                              <a:latin typeface="Cambria Math" panose="02040503050406030204" pitchFamily="18" charset="0"/>
                                            </a:rPr>
                                            <m:t>2</m:t>
                                          </m:r>
                                          <m:r>
                                            <a:rPr lang="zh-CN" altLang="en-US" sz="1600" i="1">
                                              <a:latin typeface="Cambria Math" panose="02040503050406030204" pitchFamily="18" charset="0"/>
                                            </a:rPr>
                                            <m:t>𝜌</m:t>
                                          </m:r>
                                          <m:r>
                                            <a:rPr lang="zh-CN" altLang="en-US" sz="1600" i="0">
                                              <a:latin typeface="Cambria Math" panose="02040503050406030204" pitchFamily="18" charset="0"/>
                                            </a:rPr>
                                            <m:t>3−</m:t>
                                          </m:r>
                                          <m:r>
                                            <a:rPr lang="zh-CN" altLang="en-US" sz="1600" i="1">
                                              <a:latin typeface="Cambria Math" panose="02040503050406030204" pitchFamily="18" charset="0"/>
                                            </a:rPr>
                                            <m:t>𝜌</m:t>
                                          </m:r>
                                          <m:r>
                                            <a:rPr lang="zh-CN" altLang="en-US" sz="1600" i="0">
                                              <a:latin typeface="Cambria Math" panose="02040503050406030204" pitchFamily="18" charset="0"/>
                                            </a:rPr>
                                            <m:t>1</m:t>
                                          </m:r>
                                        </m:e>
                                      </m:d>
                                    </m:e>
                                  </m:mr>
                                  <m:mr>
                                    <m:e>
                                      <m:r>
                                        <a:rPr lang="zh-CN" altLang="en-US" sz="1600" i="0">
                                          <a:latin typeface="Cambria Math" panose="02040503050406030204" pitchFamily="18" charset="0"/>
                                        </a:rPr>
                                        <m:t>2</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𝜌</m:t>
                                          </m:r>
                                          <m:r>
                                            <a:rPr lang="zh-CN" altLang="en-US" sz="1600" i="0">
                                              <a:latin typeface="Cambria Math" panose="02040503050406030204" pitchFamily="18" charset="0"/>
                                            </a:rPr>
                                            <m:t>1</m:t>
                                          </m:r>
                                          <m:r>
                                            <a:rPr lang="zh-CN" altLang="en-US" sz="1600" i="1">
                                              <a:latin typeface="Cambria Math" panose="02040503050406030204" pitchFamily="18" charset="0"/>
                                            </a:rPr>
                                            <m:t>𝜌</m:t>
                                          </m:r>
                                          <m:r>
                                            <a:rPr lang="zh-CN" altLang="en-US" sz="1600" i="0">
                                              <a:latin typeface="Cambria Math" panose="02040503050406030204" pitchFamily="18" charset="0"/>
                                            </a:rPr>
                                            <m:t>3−</m:t>
                                          </m:r>
                                          <m:r>
                                            <a:rPr lang="zh-CN" altLang="en-US" sz="1600" i="1">
                                              <a:latin typeface="Cambria Math" panose="02040503050406030204" pitchFamily="18" charset="0"/>
                                            </a:rPr>
                                            <m:t>𝜌</m:t>
                                          </m:r>
                                          <m:r>
                                            <a:rPr lang="zh-CN" altLang="en-US" sz="1600" i="0">
                                              <a:latin typeface="Cambria Math" panose="02040503050406030204" pitchFamily="18" charset="0"/>
                                            </a:rPr>
                                            <m:t>2</m:t>
                                          </m:r>
                                        </m:e>
                                      </m:d>
                                    </m:e>
                                    <m:e>
                                      <m:r>
                                        <a:rPr lang="zh-CN" altLang="en-US" sz="1600" i="0">
                                          <a:latin typeface="Cambria Math" panose="02040503050406030204" pitchFamily="18" charset="0"/>
                                        </a:rPr>
                                        <m:t>2</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𝜌</m:t>
                                          </m:r>
                                          <m:r>
                                            <a:rPr lang="zh-CN" altLang="en-US" sz="1600" i="0">
                                              <a:latin typeface="Cambria Math" panose="02040503050406030204" pitchFamily="18" charset="0"/>
                                            </a:rPr>
                                            <m:t>2</m:t>
                                          </m:r>
                                          <m:r>
                                            <a:rPr lang="zh-CN" altLang="en-US" sz="1600" i="1">
                                              <a:latin typeface="Cambria Math" panose="02040503050406030204" pitchFamily="18" charset="0"/>
                                            </a:rPr>
                                            <m:t>𝜌</m:t>
                                          </m:r>
                                          <m:r>
                                            <a:rPr lang="zh-CN" altLang="en-US" sz="1600" i="0">
                                              <a:latin typeface="Cambria Math" panose="02040503050406030204" pitchFamily="18" charset="0"/>
                                            </a:rPr>
                                            <m:t>3+</m:t>
                                          </m:r>
                                          <m:r>
                                            <a:rPr lang="zh-CN" altLang="en-US" sz="1600" i="1">
                                              <a:latin typeface="Cambria Math" panose="02040503050406030204" pitchFamily="18" charset="0"/>
                                            </a:rPr>
                                            <m:t>𝜌</m:t>
                                          </m:r>
                                          <m:r>
                                            <a:rPr lang="zh-CN" altLang="en-US" sz="1600" i="0">
                                              <a:latin typeface="Cambria Math" panose="02040503050406030204" pitchFamily="18" charset="0"/>
                                            </a:rPr>
                                            <m:t>1</m:t>
                                          </m:r>
                                        </m:e>
                                      </m:d>
                                    </m:e>
                                    <m:e>
                                      <m:r>
                                        <a:rPr lang="zh-CN" altLang="en-US" sz="1600" i="0">
                                          <a:latin typeface="Cambria Math" panose="02040503050406030204" pitchFamily="18" charset="0"/>
                                        </a:rPr>
                                        <m:t>1−</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1</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2</m:t>
                                          </m:r>
                                        </m:sub>
                                        <m:sup>
                                          <m:r>
                                            <a:rPr lang="zh-CN" altLang="en-US" sz="1600" i="0">
                                              <a:latin typeface="Cambria Math" panose="02040503050406030204" pitchFamily="18" charset="0"/>
                                            </a:rPr>
                                            <m:t>2</m:t>
                                          </m:r>
                                        </m:sup>
                                      </m:sSubSup>
                                      <m:r>
                                        <a:rPr lang="zh-CN" altLang="en-US" sz="1600" i="0">
                                          <a:latin typeface="Cambria Math" panose="02040503050406030204" pitchFamily="18" charset="0"/>
                                        </a:rPr>
                                        <m:t>+</m:t>
                                      </m:r>
                                      <m:sSubSup>
                                        <m:sSubSupPr>
                                          <m:ctrlPr>
                                            <a:rPr lang="zh-CN" altLang="en-US" sz="1600" i="1">
                                              <a:latin typeface="Cambria Math" panose="02040503050406030204" pitchFamily="18" charset="0"/>
                                            </a:rPr>
                                          </m:ctrlPr>
                                        </m:sSubSupPr>
                                        <m:e>
                                          <m:r>
                                            <a:rPr lang="zh-CN" altLang="en-US" sz="1600" i="1">
                                              <a:latin typeface="Cambria Math" panose="02040503050406030204" pitchFamily="18" charset="0"/>
                                            </a:rPr>
                                            <m:t>𝜌</m:t>
                                          </m:r>
                                        </m:e>
                                        <m:sub>
                                          <m:r>
                                            <a:rPr lang="zh-CN" altLang="en-US" sz="1600" i="0">
                                              <a:latin typeface="Cambria Math" panose="02040503050406030204" pitchFamily="18" charset="0"/>
                                            </a:rPr>
                                            <m:t>3</m:t>
                                          </m:r>
                                        </m:sub>
                                        <m:sup>
                                          <m:r>
                                            <a:rPr lang="zh-CN" altLang="en-US" sz="1600" i="0">
                                              <a:latin typeface="Cambria Math" panose="02040503050406030204" pitchFamily="18" charset="0"/>
                                            </a:rPr>
                                            <m:t>2</m:t>
                                          </m:r>
                                        </m:sup>
                                      </m:sSubSup>
                                    </m:e>
                                  </m:mr>
                                </m:m>
                              </m:e>
                            </m:mr>
                          </m:m>
                        </m:e>
                      </m:d>
                    </m:oMath>
                  </m:oMathPara>
                </a14:m>
                <a:endParaRPr lang="zh-CN" altLang="en-US" sz="1600" dirty="0"/>
              </a:p>
            </p:txBody>
          </p:sp>
        </mc:Choice>
        <mc:Fallback xmlns="">
          <p:sp>
            <p:nvSpPr>
              <p:cNvPr id="15" name="矩形 14"/>
              <p:cNvSpPr>
                <a:spLocks noRot="1" noChangeAspect="1" noMove="1" noResize="1" noEditPoints="1" noAdjustHandles="1" noChangeArrowheads="1" noChangeShapeType="1" noTextEdit="1"/>
              </p:cNvSpPr>
              <p:nvPr/>
            </p:nvSpPr>
            <p:spPr>
              <a:xfrm>
                <a:off x="1166323" y="2997538"/>
                <a:ext cx="7249619" cy="1156214"/>
              </a:xfrm>
              <a:prstGeom prst="rect">
                <a:avLst/>
              </a:prstGeom>
              <a:blipFill rotWithShape="1">
                <a:blip r:embed="rId7"/>
                <a:stretch>
                  <a:fillRect l="-6" t="-29" r="4" b="19"/>
                </a:stretch>
              </a:blipFill>
            </p:spPr>
            <p:txBody>
              <a:bodyPr/>
              <a:lstStyle/>
              <a:p>
                <a:r>
                  <a:rPr lang="zh-CN" altLang="en-US">
                    <a:noFill/>
                  </a:rPr>
                  <a:t> </a:t>
                </a:r>
              </a:p>
            </p:txBody>
          </p:sp>
        </mc:Fallback>
      </mc:AlternateContent>
      <p:sp>
        <p:nvSpPr>
          <p:cNvPr id="16" name="右箭头 15"/>
          <p:cNvSpPr/>
          <p:nvPr/>
        </p:nvSpPr>
        <p:spPr>
          <a:xfrm rot="5400000">
            <a:off x="4022734" y="2347429"/>
            <a:ext cx="598321" cy="5016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矩形 16"/>
              <p:cNvSpPr/>
              <p:nvPr/>
            </p:nvSpPr>
            <p:spPr>
              <a:xfrm>
                <a:off x="3200865" y="4180452"/>
                <a:ext cx="2678618" cy="5558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𝜌</m:t>
                          </m:r>
                        </m:e>
                        <m:sub>
                          <m:r>
                            <a:rPr lang="zh-CN" altLang="en-US" sz="1600" i="1">
                              <a:latin typeface="Cambria Math" panose="02040503050406030204" pitchFamily="18" charset="0"/>
                            </a:rPr>
                            <m:t>𝑖</m:t>
                          </m:r>
                        </m:sub>
                      </m:sSub>
                      <m:r>
                        <a:rPr lang="zh-CN" altLang="en-US" sz="1600">
                          <a:latin typeface="Cambria Math" panose="02040503050406030204" pitchFamily="18" charset="0"/>
                        </a:rPr>
                        <m:t>= </m:t>
                      </m:r>
                      <m:f>
                        <m:fPr>
                          <m:ctrlPr>
                            <a:rPr lang="zh-CN" altLang="en-US" sz="1600" i="1">
                              <a:latin typeface="Cambria Math" panose="02040503050406030204" pitchFamily="18" charset="0"/>
                            </a:rPr>
                          </m:ctrlPr>
                        </m:fPr>
                        <m:num>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i="1">
                                  <a:latin typeface="Cambria Math" panose="02040503050406030204" pitchFamily="18" charset="0"/>
                                </a:rPr>
                                <m:t>𝑖</m:t>
                              </m:r>
                            </m:sub>
                          </m:sSub>
                        </m:num>
                        <m:den>
                          <m:r>
                            <a:rPr lang="zh-CN" altLang="en-US" sz="1600">
                              <a:latin typeface="Cambria Math" panose="02040503050406030204" pitchFamily="18" charset="0"/>
                            </a:rPr>
                            <m:t>1+</m:t>
                          </m:r>
                          <m:sSub>
                            <m:sSubPr>
                              <m:ctrlPr>
                                <a:rPr lang="zh-CN" altLang="en-US" sz="1600" i="1">
                                  <a:latin typeface="Cambria Math" panose="02040503050406030204" pitchFamily="18" charset="0"/>
                                </a:rPr>
                              </m:ctrlPr>
                            </m:sSubPr>
                            <m:e>
                              <m:r>
                                <a:rPr lang="zh-CN" altLang="en-US" sz="1600" i="1">
                                  <a:latin typeface="Cambria Math" panose="02040503050406030204" pitchFamily="18" charset="0"/>
                                </a:rPr>
                                <m:t>𝑞</m:t>
                              </m:r>
                            </m:e>
                            <m:sub>
                              <m:r>
                                <a:rPr lang="zh-CN" altLang="en-US" sz="1600">
                                  <a:latin typeface="Cambria Math" panose="02040503050406030204" pitchFamily="18" charset="0"/>
                                </a:rPr>
                                <m:t>0</m:t>
                              </m:r>
                            </m:sub>
                          </m:sSub>
                        </m:den>
                      </m:f>
                      <m:r>
                        <a:rPr lang="zh-CN" altLang="en-US" sz="1600">
                          <a:latin typeface="Cambria Math" panose="02040503050406030204" pitchFamily="18" charset="0"/>
                        </a:rPr>
                        <m:t> </m:t>
                      </m:r>
                      <m:r>
                        <a:rPr lang="zh-CN" altLang="en-US" sz="1600">
                          <a:latin typeface="Cambria Math" panose="02040503050406030204" pitchFamily="18" charset="0"/>
                        </a:rPr>
                        <m:t>，</m:t>
                      </m:r>
                      <m:r>
                        <a:rPr lang="zh-CN" altLang="en-US" sz="1600">
                          <a:latin typeface="Cambria Math" panose="02040503050406030204" pitchFamily="18" charset="0"/>
                        </a:rPr>
                        <m:t>    (</m:t>
                      </m:r>
                      <m:r>
                        <a:rPr lang="zh-CN" altLang="en-US" sz="1600" i="1">
                          <a:latin typeface="Cambria Math" panose="02040503050406030204" pitchFamily="18" charset="0"/>
                        </a:rPr>
                        <m:t>𝑖</m:t>
                      </m:r>
                      <m:r>
                        <a:rPr lang="zh-CN" altLang="en-US" sz="1600">
                          <a:latin typeface="Cambria Math" panose="02040503050406030204" pitchFamily="18" charset="0"/>
                        </a:rPr>
                        <m:t>=1,2,3</m:t>
                      </m:r>
                      <m:r>
                        <a:rPr lang="en-US" altLang="zh-CN" sz="1600">
                          <a:latin typeface="Cambria Math" panose="02040503050406030204" pitchFamily="18" charset="0"/>
                        </a:rPr>
                        <m:t>)</m:t>
                      </m:r>
                    </m:oMath>
                  </m:oMathPara>
                </a14:m>
                <a:endParaRPr lang="zh-CN" altLang="en-US" sz="1600" dirty="0"/>
              </a:p>
            </p:txBody>
          </p:sp>
        </mc:Choice>
        <mc:Fallback xmlns="">
          <p:sp>
            <p:nvSpPr>
              <p:cNvPr id="17" name="矩形 16"/>
              <p:cNvSpPr>
                <a:spLocks noRot="1" noChangeAspect="1" noMove="1" noResize="1" noEditPoints="1" noAdjustHandles="1" noChangeArrowheads="1" noChangeShapeType="1" noTextEdit="1"/>
              </p:cNvSpPr>
              <p:nvPr/>
            </p:nvSpPr>
            <p:spPr>
              <a:xfrm>
                <a:off x="3200865" y="4180452"/>
                <a:ext cx="2678618" cy="555858"/>
              </a:xfrm>
              <a:prstGeom prst="rect">
                <a:avLst/>
              </a:prstGeom>
              <a:blipFill rotWithShape="1">
                <a:blip r:embed="rId8"/>
                <a:stretch>
                  <a:fillRect l="-17" t="-44" r="1" b="86"/>
                </a:stretch>
              </a:blipFill>
            </p:spPr>
            <p:txBody>
              <a:bodyPr/>
              <a:lstStyle/>
              <a:p>
                <a:r>
                  <a:rPr lang="zh-CN" altLang="en-US">
                    <a:noFill/>
                  </a:rPr>
                  <a:t> </a:t>
                </a:r>
              </a:p>
            </p:txBody>
          </p:sp>
        </mc:Fallback>
      </mc:AlternateContent>
      <p:sp>
        <p:nvSpPr>
          <p:cNvPr id="18" name="矩形 17"/>
          <p:cNvSpPr/>
          <p:nvPr/>
        </p:nvSpPr>
        <p:spPr>
          <a:xfrm>
            <a:off x="370271" y="4731990"/>
            <a:ext cx="4420861" cy="307777"/>
          </a:xfrm>
          <a:prstGeom prst="rect">
            <a:avLst/>
          </a:prstGeom>
        </p:spPr>
        <p:txBody>
          <a:bodyPr wrap="square">
            <a:spAutoFit/>
          </a:bodyPr>
          <a:lstStyle/>
          <a:p>
            <a:r>
              <a:rPr lang="zh-CN" altLang="zh-CN" sz="1400" b="1" dirty="0">
                <a:solidFill>
                  <a:schemeClr val="tx1">
                    <a:lumMod val="50000"/>
                    <a:lumOff val="50000"/>
                  </a:schemeClr>
                </a:solidFill>
              </a:rPr>
              <a:t>改进的罗德里格斯参数</a:t>
            </a:r>
            <a:r>
              <a:rPr lang="en-US" altLang="zh-CN" sz="1400" dirty="0">
                <a:solidFill>
                  <a:schemeClr val="tx1">
                    <a:lumMod val="50000"/>
                    <a:lumOff val="50000"/>
                  </a:schemeClr>
                </a:solidFill>
              </a:rPr>
              <a:t>(Modified Rodrigues parameters</a:t>
            </a:r>
            <a:r>
              <a:rPr lang="en-US" altLang="zh-CN" sz="1400" dirty="0" smtClean="0">
                <a:solidFill>
                  <a:schemeClr val="tx1">
                    <a:lumMod val="50000"/>
                    <a:lumOff val="50000"/>
                  </a:schemeClr>
                </a:solidFill>
              </a:rPr>
              <a:t>):</a:t>
            </a:r>
            <a:endParaRPr lang="zh-CN" altLang="en-US" sz="1400" dirty="0">
              <a:solidFill>
                <a:schemeClr val="tx1">
                  <a:lumMod val="50000"/>
                  <a:lumOff val="50000"/>
                </a:schemeClr>
              </a:solidFill>
            </a:endParaRPr>
          </a:p>
        </p:txBody>
      </p:sp>
      <mc:AlternateContent xmlns:mc="http://schemas.openxmlformats.org/markup-compatibility/2006" xmlns:a14="http://schemas.microsoft.com/office/drawing/2010/main">
        <mc:Choice Requires="a14">
          <p:sp>
            <p:nvSpPr>
              <p:cNvPr id="19" name="矩形 18"/>
              <p:cNvSpPr/>
              <p:nvPr/>
            </p:nvSpPr>
            <p:spPr>
              <a:xfrm>
                <a:off x="3960440" y="4632556"/>
                <a:ext cx="4572000" cy="507318"/>
              </a:xfrm>
              <a:prstGeom prst="rect">
                <a:avLst/>
              </a:prstGeom>
            </p:spPr>
            <p:txBody>
              <a:bodyPr>
                <a:spAutoFit/>
              </a:bodyPr>
              <a:lstStyle/>
              <a:p>
                <a:pPr/>
                <a14:m>
                  <m:oMathPara xmlns:m="http://schemas.openxmlformats.org/officeDocument/2006/math">
                    <m:oMathParaPr>
                      <m:jc m:val="centerGroup"/>
                    </m:oMathParaPr>
                    <m:oMath xmlns:m="http://schemas.openxmlformats.org/officeDocument/2006/math">
                      <m:d>
                        <m:dPr>
                          <m:begChr m:val=""/>
                          <m:ctrlPr>
                            <a:rPr lang="zh-CN" altLang="en-US" sz="1200" i="1">
                              <a:latin typeface="Cambria Math" panose="02040503050406030204" pitchFamily="18" charset="0"/>
                            </a:rPr>
                          </m:ctrlPr>
                        </m:dPr>
                        <m:e>
                          <m:r>
                            <a:rPr lang="zh-CN" altLang="en-US" sz="1200" i="1">
                              <a:latin typeface="Cambria Math" panose="02040503050406030204" pitchFamily="18" charset="0"/>
                            </a:rPr>
                            <m:t>𝜌</m:t>
                          </m:r>
                          <m:r>
                            <a:rPr lang="zh-CN" altLang="en-US" sz="1200" i="0">
                              <a:latin typeface="Cambria Math" panose="02040503050406030204" pitchFamily="18" charset="0"/>
                            </a:rPr>
                            <m:t>= </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𝜔</m:t>
                              </m:r>
                            </m:e>
                          </m:acc>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tan</m:t>
                              </m:r>
                            </m:fNa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𝜃</m:t>
                                  </m:r>
                                </m:num>
                                <m:den>
                                  <m:r>
                                    <a:rPr lang="zh-CN" altLang="en-US" sz="1200" i="0">
                                      <a:latin typeface="Cambria Math" panose="02040503050406030204" pitchFamily="18" charset="0"/>
                                    </a:rPr>
                                    <m:t>4</m:t>
                                  </m:r>
                                </m:den>
                              </m:f>
                            </m:e>
                          </m:func>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𝑥</m:t>
                              </m:r>
                            </m:sub>
                          </m:sSub>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tan</m:t>
                              </m:r>
                            </m:fNa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𝜃</m:t>
                                  </m:r>
                                </m:num>
                                <m:den>
                                  <m:r>
                                    <a:rPr lang="zh-CN" altLang="en-US" sz="1200" i="0">
                                      <a:latin typeface="Cambria Math" panose="02040503050406030204" pitchFamily="18" charset="0"/>
                                    </a:rPr>
                                    <m:t>4</m:t>
                                  </m:r>
                                </m:den>
                              </m:f>
                            </m:e>
                          </m:func>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𝑦</m:t>
                              </m:r>
                            </m:sub>
                          </m:sSub>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tan</m:t>
                              </m:r>
                            </m:fNa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𝜃</m:t>
                                  </m:r>
                                </m:num>
                                <m:den>
                                  <m:r>
                                    <a:rPr lang="zh-CN" altLang="en-US" sz="1200" i="0">
                                      <a:latin typeface="Cambria Math" panose="02040503050406030204" pitchFamily="18" charset="0"/>
                                    </a:rPr>
                                    <m:t>4</m:t>
                                  </m:r>
                                </m:den>
                              </m:f>
                            </m:e>
                          </m:func>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𝑧</m:t>
                              </m:r>
                            </m:sub>
                          </m:sSub>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tan</m:t>
                              </m:r>
                            </m:fNa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𝜃</m:t>
                                  </m:r>
                                </m:num>
                                <m:den>
                                  <m:r>
                                    <a:rPr lang="zh-CN" altLang="en-US" sz="1200" i="0">
                                      <a:latin typeface="Cambria Math" panose="02040503050406030204" pitchFamily="18" charset="0"/>
                                    </a:rPr>
                                    <m:t>4</m:t>
                                  </m:r>
                                </m:den>
                              </m:f>
                            </m:e>
                          </m:func>
                        </m:e>
                      </m:d>
                    </m:oMath>
                  </m:oMathPara>
                </a14:m>
                <a:endParaRPr lang="zh-CN" altLang="en-US" sz="1200" dirty="0"/>
              </a:p>
            </p:txBody>
          </p:sp>
        </mc:Choice>
        <mc:Fallback xmlns="">
          <p:sp>
            <p:nvSpPr>
              <p:cNvPr id="19" name="矩形 18"/>
              <p:cNvSpPr>
                <a:spLocks noRot="1" noChangeAspect="1" noMove="1" noResize="1" noEditPoints="1" noAdjustHandles="1" noChangeArrowheads="1" noChangeShapeType="1" noTextEdit="1"/>
              </p:cNvSpPr>
              <p:nvPr/>
            </p:nvSpPr>
            <p:spPr>
              <a:xfrm>
                <a:off x="3960440" y="4632556"/>
                <a:ext cx="4572000" cy="507318"/>
              </a:xfrm>
              <a:prstGeom prst="rect">
                <a:avLst/>
              </a:prstGeom>
              <a:blipFill rotWithShape="1">
                <a:blip r:embed="rId9"/>
                <a:stretch>
                  <a:fillRect l="-13" t="-46" r="13" b="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7712220" y="4723778"/>
                <a:ext cx="110825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rPr>
                        <m:t>0≤</m:t>
                      </m:r>
                      <m:r>
                        <a:rPr lang="en-US" altLang="zh-CN" sz="1400" i="1">
                          <a:latin typeface="Cambria Math" panose="02040503050406030204" pitchFamily="18" charset="0"/>
                        </a:rPr>
                        <m:t>𝜃</m:t>
                      </m:r>
                      <m:r>
                        <a:rPr lang="en-US" altLang="zh-CN" sz="1400" i="1">
                          <a:latin typeface="Cambria Math" panose="02040503050406030204" pitchFamily="18" charset="0"/>
                        </a:rPr>
                        <m:t>&lt;2</m:t>
                      </m:r>
                      <m:r>
                        <a:rPr lang="en-US" altLang="zh-CN" sz="1400" i="1">
                          <a:latin typeface="Cambria Math" panose="02040503050406030204" pitchFamily="18" charset="0"/>
                        </a:rPr>
                        <m:t>𝜋</m:t>
                      </m:r>
                    </m:oMath>
                  </m:oMathPara>
                </a14:m>
                <a:endParaRPr lang="zh-CN" altLang="en-US" sz="1400" dirty="0"/>
              </a:p>
            </p:txBody>
          </p:sp>
        </mc:Choice>
        <mc:Fallback xmlns="">
          <p:sp>
            <p:nvSpPr>
              <p:cNvPr id="20" name="矩形 19"/>
              <p:cNvSpPr>
                <a:spLocks noRot="1" noChangeAspect="1" noMove="1" noResize="1" noEditPoints="1" noAdjustHandles="1" noChangeArrowheads="1" noChangeShapeType="1" noTextEdit="1"/>
              </p:cNvSpPr>
              <p:nvPr/>
            </p:nvSpPr>
            <p:spPr>
              <a:xfrm>
                <a:off x="7712220" y="4723778"/>
                <a:ext cx="1108252" cy="307777"/>
              </a:xfrm>
              <a:prstGeom prst="rect">
                <a:avLst/>
              </a:prstGeom>
              <a:blipFill rotWithShape="1">
                <a:blip r:embed="rId10"/>
                <a:stretch>
                  <a:fillRect l="-13" t="-4" r="29" b="146"/>
                </a:stretch>
              </a:blipFill>
            </p:spPr>
            <p:txBody>
              <a:bodyPr/>
              <a:lstStyle/>
              <a:p>
                <a:r>
                  <a:rPr lang="zh-CN" altLang="en-US">
                    <a:noFill/>
                  </a:rPr>
                  <a:t> </a:t>
                </a:r>
              </a:p>
            </p:txBody>
          </p:sp>
        </mc:Fallback>
      </mc:AlternateContent>
      <p:sp>
        <p:nvSpPr>
          <p:cNvPr id="21" name="矩形 20"/>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grpSp>
        <p:nvGrpSpPr>
          <p:cNvPr id="22" name="组合 21"/>
          <p:cNvGrpSpPr/>
          <p:nvPr/>
        </p:nvGrpSpPr>
        <p:grpSpPr>
          <a:xfrm>
            <a:off x="-236220" y="219075"/>
            <a:ext cx="5153660" cy="598805"/>
            <a:chOff x="-372" y="345"/>
            <a:chExt cx="8116" cy="943"/>
          </a:xfrm>
        </p:grpSpPr>
        <p:sp>
          <p:nvSpPr>
            <p:cNvPr id="23" name="矩形 22"/>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24" name="文本框 23"/>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5" name="椭圆 24"/>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402334" y="915566"/>
            <a:ext cx="4572000" cy="3693319"/>
          </a:xfrm>
          <a:prstGeom prst="rect">
            <a:avLst/>
          </a:prstGeom>
        </p:spPr>
        <p:txBody>
          <a:bodyPr>
            <a:spAutoFit/>
          </a:bodyPr>
          <a:lstStyle/>
          <a:p>
            <a:r>
              <a:rPr lang="zh-CN" altLang="zh-CN" dirty="0" smtClean="0"/>
              <a:t>姿态较</a:t>
            </a:r>
            <a:r>
              <a:rPr lang="zh-CN" altLang="zh-CN" dirty="0"/>
              <a:t>常用的表示方法</a:t>
            </a:r>
            <a:r>
              <a:rPr lang="zh-CN" altLang="zh-CN" dirty="0" smtClean="0"/>
              <a:t>有</a:t>
            </a:r>
            <a:r>
              <a:rPr lang="en-US" altLang="zh-CN" dirty="0" smtClean="0"/>
              <a:t>:</a:t>
            </a:r>
          </a:p>
          <a:p>
            <a:pPr marL="285750" indent="-285750">
              <a:buFont typeface="Wingdings" panose="05000000000000000000" pitchFamily="2" charset="2"/>
              <a:buChar char="Ø"/>
            </a:pPr>
            <a:r>
              <a:rPr lang="en-US" altLang="zh-CN" b="1" dirty="0" smtClean="0">
                <a:solidFill>
                  <a:srgbClr val="002060"/>
                </a:solidFill>
              </a:rPr>
              <a:t>RPY</a:t>
            </a:r>
            <a:r>
              <a:rPr lang="zh-CN" altLang="zh-CN" b="1" dirty="0">
                <a:solidFill>
                  <a:srgbClr val="002060"/>
                </a:solidFill>
              </a:rPr>
              <a:t>角法</a:t>
            </a:r>
            <a:r>
              <a:rPr lang="zh-CN" altLang="zh-CN" dirty="0">
                <a:solidFill>
                  <a:srgbClr val="002060"/>
                </a:solidFill>
              </a:rPr>
              <a:t>（滚动角、俯仰角、偏航角</a:t>
            </a:r>
            <a:r>
              <a:rPr lang="zh-CN" altLang="zh-CN" dirty="0" smtClean="0">
                <a:solidFill>
                  <a:srgbClr val="002060"/>
                </a:solidFill>
              </a:rPr>
              <a:t>）</a:t>
            </a:r>
            <a:endParaRPr lang="en-US" altLang="zh-CN" dirty="0" smtClean="0">
              <a:solidFill>
                <a:srgbClr val="002060"/>
              </a:solidFill>
            </a:endParaRPr>
          </a:p>
          <a:p>
            <a:pPr marL="285750" indent="-285750">
              <a:buFont typeface="Wingdings" panose="05000000000000000000" pitchFamily="2" charset="2"/>
              <a:buChar char="Ø"/>
            </a:pPr>
            <a:endParaRPr lang="en-US" altLang="zh-CN" dirty="0" smtClean="0">
              <a:solidFill>
                <a:srgbClr val="002060"/>
              </a:solidFill>
            </a:endParaRPr>
          </a:p>
          <a:p>
            <a:pPr marL="285750" indent="-285750">
              <a:buFont typeface="Wingdings" panose="05000000000000000000" pitchFamily="2" charset="2"/>
              <a:buChar char="Ø"/>
            </a:pPr>
            <a:r>
              <a:rPr lang="zh-CN" altLang="zh-CN" b="1" dirty="0" smtClean="0">
                <a:solidFill>
                  <a:srgbClr val="00B050"/>
                </a:solidFill>
              </a:rPr>
              <a:t>欧拉角法</a:t>
            </a:r>
            <a:endParaRPr lang="en-US" altLang="zh-CN" b="1" dirty="0" smtClean="0">
              <a:solidFill>
                <a:srgbClr val="00B050"/>
              </a:solidFill>
            </a:endParaRPr>
          </a:p>
          <a:p>
            <a:endParaRPr lang="en-US" altLang="zh-CN" dirty="0" smtClean="0"/>
          </a:p>
          <a:p>
            <a:pPr marL="285750" indent="-285750">
              <a:buFont typeface="Wingdings" panose="05000000000000000000" pitchFamily="2" charset="2"/>
              <a:buChar char="Ø"/>
            </a:pPr>
            <a:r>
              <a:rPr lang="zh-CN" altLang="zh-CN" b="1" dirty="0" smtClean="0">
                <a:solidFill>
                  <a:srgbClr val="7030A0"/>
                </a:solidFill>
              </a:rPr>
              <a:t>罗德里格斯公式</a:t>
            </a:r>
            <a:endParaRPr lang="en-US" altLang="zh-CN" b="1" dirty="0" smtClean="0">
              <a:solidFill>
                <a:srgbClr val="7030A0"/>
              </a:solidFill>
            </a:endParaRPr>
          </a:p>
          <a:p>
            <a:pPr marL="285750" indent="-285750">
              <a:buFont typeface="Wingdings" panose="05000000000000000000" pitchFamily="2" charset="2"/>
              <a:buChar char="Ø"/>
            </a:pPr>
            <a:endParaRPr lang="en-US" altLang="zh-CN" b="1" dirty="0" smtClean="0"/>
          </a:p>
          <a:p>
            <a:pPr marL="285750" indent="-285750">
              <a:buFont typeface="Wingdings" panose="05000000000000000000" pitchFamily="2" charset="2"/>
              <a:buChar char="Ø"/>
            </a:pPr>
            <a:endParaRPr lang="en-US" altLang="zh-CN" b="1" dirty="0" smtClean="0"/>
          </a:p>
          <a:p>
            <a:pPr marL="285750" indent="-285750">
              <a:buFont typeface="Wingdings" panose="05000000000000000000" pitchFamily="2" charset="2"/>
              <a:buChar char="Ø"/>
            </a:pPr>
            <a:endParaRPr lang="en-US" altLang="zh-CN" b="1" dirty="0" smtClean="0"/>
          </a:p>
          <a:p>
            <a:pPr marL="285750" indent="-285750">
              <a:buFont typeface="Wingdings" panose="05000000000000000000" pitchFamily="2" charset="2"/>
              <a:buChar char="Ø"/>
            </a:pPr>
            <a:endParaRPr lang="en-US" altLang="zh-CN" b="1" dirty="0" smtClean="0"/>
          </a:p>
          <a:p>
            <a:pPr marL="285750" indent="-285750">
              <a:buFont typeface="Wingdings" panose="05000000000000000000" pitchFamily="2" charset="2"/>
              <a:buChar char="Ø"/>
            </a:pPr>
            <a:r>
              <a:rPr lang="zh-CN" altLang="zh-CN" b="1" dirty="0" smtClean="0">
                <a:solidFill>
                  <a:srgbClr val="C00000"/>
                </a:solidFill>
              </a:rPr>
              <a:t>四</a:t>
            </a:r>
            <a:r>
              <a:rPr lang="zh-CN" altLang="zh-CN" b="1" dirty="0">
                <a:solidFill>
                  <a:srgbClr val="C00000"/>
                </a:solidFill>
              </a:rPr>
              <a:t>元素</a:t>
            </a:r>
            <a:r>
              <a:rPr lang="zh-CN" altLang="zh-CN" b="1" dirty="0" smtClean="0">
                <a:solidFill>
                  <a:srgbClr val="C00000"/>
                </a:solidFill>
              </a:rPr>
              <a:t>法</a:t>
            </a:r>
            <a:endParaRPr lang="en-US" altLang="zh-CN" b="1" dirty="0" smtClean="0">
              <a:solidFill>
                <a:srgbClr val="C00000"/>
              </a:solidFill>
            </a:endParaRPr>
          </a:p>
          <a:p>
            <a:endParaRPr lang="en-US" altLang="zh-CN" dirty="0" smtClean="0"/>
          </a:p>
          <a:p>
            <a:pPr marL="285750" indent="-285750">
              <a:buFont typeface="Wingdings" panose="05000000000000000000" pitchFamily="2" charset="2"/>
              <a:buChar char="Ø"/>
            </a:pPr>
            <a:r>
              <a:rPr lang="zh-CN" altLang="zh-CN" b="1" dirty="0" smtClean="0">
                <a:solidFill>
                  <a:srgbClr val="00A1DA"/>
                </a:solidFill>
              </a:rPr>
              <a:t>罗德里格斯</a:t>
            </a:r>
            <a:r>
              <a:rPr lang="zh-CN" altLang="zh-CN" b="1" dirty="0">
                <a:solidFill>
                  <a:srgbClr val="00A1DA"/>
                </a:solidFill>
              </a:rPr>
              <a:t>参数法</a:t>
            </a:r>
            <a:r>
              <a:rPr lang="zh-CN" altLang="zh-CN" dirty="0"/>
              <a:t>等方法</a:t>
            </a:r>
            <a:endParaRPr lang="zh-CN" altLang="en-US" dirty="0"/>
          </a:p>
        </p:txBody>
      </p:sp>
      <p:pic>
        <p:nvPicPr>
          <p:cNvPr id="12" name="图片 11"/>
          <p:cNvPicPr/>
          <p:nvPr/>
        </p:nvPicPr>
        <p:blipFill>
          <a:blip r:embed="rId3">
            <a:extLst>
              <a:ext uri="{28A0092B-C50C-407E-A947-70E740481C1C}">
                <a14:useLocalDpi xmlns:a14="http://schemas.microsoft.com/office/drawing/2010/main" val="0"/>
              </a:ext>
            </a:extLst>
          </a:blip>
          <a:srcRect/>
          <a:stretch>
            <a:fillRect/>
          </a:stretch>
        </p:blipFill>
        <p:spPr bwMode="auto">
          <a:xfrm>
            <a:off x="4578180" y="1191630"/>
            <a:ext cx="4293235" cy="198755"/>
          </a:xfrm>
          <a:prstGeom prst="rect">
            <a:avLst/>
          </a:prstGeom>
          <a:noFill/>
        </p:spPr>
      </p:pic>
      <p:pic>
        <p:nvPicPr>
          <p:cNvPr id="13" name="图片 12"/>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09538" y="1742172"/>
            <a:ext cx="4333875" cy="323850"/>
          </a:xfrm>
          <a:prstGeom prst="rect">
            <a:avLst/>
          </a:prstGeom>
          <a:noFill/>
          <a:ln>
            <a:noFill/>
          </a:ln>
        </p:spPr>
      </p:pic>
      <p:sp>
        <p:nvSpPr>
          <p:cNvPr id="2" name="矩形 1"/>
          <p:cNvSpPr/>
          <p:nvPr/>
        </p:nvSpPr>
        <p:spPr>
          <a:xfrm>
            <a:off x="3554533" y="1746409"/>
            <a:ext cx="955005" cy="338554"/>
          </a:xfrm>
          <a:prstGeom prst="rect">
            <a:avLst/>
          </a:prstGeom>
        </p:spPr>
        <p:txBody>
          <a:bodyPr wrap="none">
            <a:spAutoFit/>
          </a:bodyPr>
          <a:lstStyle/>
          <a:p>
            <a:r>
              <a:rPr lang="zh-CN" altLang="en-US" sz="1600" dirty="0"/>
              <a:t>常用</a:t>
            </a:r>
            <a:r>
              <a:rPr lang="en-US" altLang="zh-CN" sz="1600" dirty="0" smtClean="0"/>
              <a:t>ZYZ:</a:t>
            </a:r>
            <a:endParaRPr lang="zh-CN" altLang="en-US" sz="1600" dirty="0"/>
          </a:p>
        </p:txBody>
      </p:sp>
      <mc:AlternateContent xmlns:mc="http://schemas.openxmlformats.org/markup-compatibility/2006" xmlns:a14="http://schemas.microsoft.com/office/drawing/2010/main">
        <mc:Choice Requires="a14">
          <p:sp>
            <p:nvSpPr>
              <p:cNvPr id="14" name="矩形 13"/>
              <p:cNvSpPr/>
              <p:nvPr/>
            </p:nvSpPr>
            <p:spPr>
              <a:xfrm>
                <a:off x="5315823" y="2266879"/>
                <a:ext cx="2482859" cy="5852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𝑒</m:t>
                          </m:r>
                        </m:e>
                        <m:sup>
                          <m:d>
                            <m:dPr>
                              <m:begChr m:val="["/>
                              <m:endChr m:val=""/>
                              <m:ctrlPr>
                                <a:rPr lang="zh-CN" altLang="en-US" i="1">
                                  <a:latin typeface="Cambria Math" panose="02040503050406030204" pitchFamily="18" charset="0"/>
                                </a:rPr>
                              </m:ctrlPr>
                            </m:dPr>
                            <m:e>
                              <m:r>
                                <a:rPr lang="zh-CN" altLang="en-US" i="1">
                                  <a:latin typeface="Cambria Math" panose="02040503050406030204" pitchFamily="18" charset="0"/>
                                </a:rPr>
                                <m:t>𝑠</m:t>
                              </m:r>
                              <m:r>
                                <a:rPr lang="zh-CN" altLang="en-US" i="0">
                                  <a:latin typeface="Cambria Math" panose="02040503050406030204" pitchFamily="18" charset="0"/>
                                </a:rPr>
                                <m:t>]</m:t>
                              </m:r>
                              <m:r>
                                <a:rPr lang="zh-CN" altLang="en-US" i="1">
                                  <a:latin typeface="Cambria Math" panose="02040503050406030204" pitchFamily="18" charset="0"/>
                                </a:rPr>
                                <m:t>𝜃</m:t>
                              </m:r>
                            </m:e>
                          </m:d>
                        </m:sup>
                      </m:sSup>
                      <m:r>
                        <a:rPr lang="zh-CN" altLang="en-US" i="0">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2"/>
                                    <m:mcJc m:val="center"/>
                                  </m:mcPr>
                                </m:mc>
                              </m:mcs>
                              <m:ctrlPr>
                                <a:rPr lang="zh-CN" altLang="en-US" i="1">
                                  <a:latin typeface="Cambria Math" panose="02040503050406030204" pitchFamily="18" charset="0"/>
                                </a:rPr>
                              </m:ctrlPr>
                            </m:mPr>
                            <m:mr>
                              <m:e>
                                <m:d>
                                  <m:dPr>
                                    <m:begChr m:val=""/>
                                    <m:ctrlPr>
                                      <a:rPr lang="zh-CN" altLang="en-US" i="1">
                                        <a:latin typeface="Cambria Math" panose="02040503050406030204" pitchFamily="18" charset="0"/>
                                      </a:rPr>
                                    </m:ctrlPr>
                                  </m:dPr>
                                  <m:e>
                                    <m:r>
                                      <a:rPr lang="zh-CN" altLang="en-US" i="1">
                                        <a:latin typeface="Cambria Math" panose="02040503050406030204" pitchFamily="18" charset="0"/>
                                      </a:rPr>
                                      <m:t>𝑅𝑜𝑡</m:t>
                                    </m:r>
                                    <m:r>
                                      <a:rPr lang="zh-CN" altLang="en-US" i="0">
                                        <a:latin typeface="Cambria Math" panose="02040503050406030204" pitchFamily="18" charset="0"/>
                                      </a:rPr>
                                      <m:t>(</m:t>
                                    </m:r>
                                    <m:acc>
                                      <m:accPr>
                                        <m:chr m:val="̂"/>
                                        <m:ctrlPr>
                                          <a:rPr lang="zh-CN" altLang="en-US" i="1">
                                            <a:latin typeface="Cambria Math" panose="02040503050406030204" pitchFamily="18" charset="0"/>
                                          </a:rPr>
                                        </m:ctrlPr>
                                      </m:accPr>
                                      <m:e>
                                        <m:r>
                                          <a:rPr lang="zh-CN" altLang="en-US" i="1">
                                            <a:latin typeface="Cambria Math" panose="02040503050406030204" pitchFamily="18" charset="0"/>
                                          </a:rPr>
                                          <m:t>𝜔</m:t>
                                        </m:r>
                                      </m:e>
                                    </m:acc>
                                    <m:r>
                                      <a:rPr lang="zh-CN" altLang="en-US" i="0">
                                        <a:latin typeface="Cambria Math" panose="02040503050406030204" pitchFamily="18" charset="0"/>
                                      </a:rPr>
                                      <m:t>,</m:t>
                                    </m:r>
                                    <m:r>
                                      <a:rPr lang="zh-CN" altLang="en-US" i="1">
                                        <a:latin typeface="Cambria Math" panose="02040503050406030204" pitchFamily="18" charset="0"/>
                                      </a:rPr>
                                      <m:t>𝜃</m:t>
                                    </m:r>
                                  </m:e>
                                </m:d>
                              </m:e>
                              <m:e>
                                <m:r>
                                  <a:rPr lang="zh-CN" altLang="en-US" i="1">
                                    <a:latin typeface="Cambria Math" panose="02040503050406030204" pitchFamily="18" charset="0"/>
                                  </a:rPr>
                                  <m:t>𝑣</m:t>
                                </m:r>
                              </m:e>
                            </m:mr>
                            <m:mr>
                              <m:e>
                                <m:r>
                                  <a:rPr lang="zh-CN" altLang="en-US" i="0">
                                    <a:latin typeface="Cambria Math" panose="02040503050406030204" pitchFamily="18" charset="0"/>
                                  </a:rPr>
                                  <m:t>0</m:t>
                                </m:r>
                              </m:e>
                              <m:e>
                                <m:r>
                                  <a:rPr lang="zh-CN" altLang="en-US" i="0">
                                    <a:latin typeface="Cambria Math" panose="02040503050406030204" pitchFamily="18" charset="0"/>
                                  </a:rPr>
                                  <m:t>1</m:t>
                                </m:r>
                              </m:e>
                            </m:mr>
                          </m:m>
                        </m:e>
                      </m:d>
                    </m:oMath>
                  </m:oMathPara>
                </a14:m>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5315823" y="2266879"/>
                <a:ext cx="2482859" cy="585288"/>
              </a:xfrm>
              <a:prstGeom prst="rect">
                <a:avLst/>
              </a:prstGeom>
              <a:blipFill rotWithShape="1">
                <a:blip r:embed="rId5"/>
                <a:stretch>
                  <a:fillRect l="-10" t="-96" r="10" b="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3904729" y="2365368"/>
                <a:ext cx="1442254" cy="388311"/>
              </a:xfrm>
              <a:prstGeom prst="rect">
                <a:avLst/>
              </a:prstGeom>
            </p:spPr>
            <p:txBody>
              <a:bodyPr wrap="none">
                <a:spAutoFit/>
              </a:bodyPr>
              <a:lstStyle/>
              <a:p>
                <a14:m>
                  <m:oMath xmlns:m="http://schemas.openxmlformats.org/officeDocument/2006/math">
                    <m:r>
                      <a:rPr lang="en-US" altLang="zh-CN" i="1">
                        <a:latin typeface="Cambria Math" panose="02040503050406030204" pitchFamily="18" charset="0"/>
                        <a:cs typeface="Times New Roman" panose="02020603050405020304" pitchFamily="18" charset="0"/>
                      </a:rPr>
                      <m:t>𝑇</m:t>
                    </m:r>
                    <m:r>
                      <a:rPr lang="en-US" altLang="zh-CN" i="1">
                        <a:latin typeface="Cambria Math" panose="02040503050406030204" pitchFamily="18" charset="0"/>
                        <a:cs typeface="Times New Roman" panose="02020603050405020304" pitchFamily="18" charset="0"/>
                      </a:rPr>
                      <m:t>′=</m:t>
                    </m:r>
                    <m:sSup>
                      <m:sSupPr>
                        <m:ctrlPr>
                          <a:rPr lang="zh-CN"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cs typeface="Times New Roman" panose="02020603050405020304" pitchFamily="18" charset="0"/>
                          </a:rPr>
                          <m:t>𝑒</m:t>
                        </m:r>
                      </m:e>
                      <m:sup>
                        <m:d>
                          <m:dPr>
                            <m:begChr m:val="["/>
                            <m:endChr m:val="]"/>
                            <m:ctrlPr>
                              <a:rPr lang="zh-CN"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cs typeface="Times New Roman" panose="02020603050405020304" pitchFamily="18" charset="0"/>
                              </a:rPr>
                              <m:t>𝑠</m:t>
                            </m:r>
                          </m:e>
                        </m:d>
                        <m:r>
                          <a:rPr lang="en-US" altLang="zh-CN" i="1">
                            <a:latin typeface="Cambria Math" panose="02040503050406030204" pitchFamily="18" charset="0"/>
                            <a:cs typeface="Times New Roman" panose="02020603050405020304" pitchFamily="18" charset="0"/>
                          </a:rPr>
                          <m:t>𝜃</m:t>
                        </m:r>
                      </m:sup>
                    </m:sSup>
                    <m:r>
                      <a:rPr lang="en-US" altLang="zh-CN" i="1">
                        <a:latin typeface="Cambria Math" panose="02040503050406030204" pitchFamily="18" charset="0"/>
                        <a:cs typeface="Times New Roman" panose="02020603050405020304" pitchFamily="18" charset="0"/>
                      </a:rPr>
                      <m:t>𝑀</m:t>
                    </m:r>
                    <m:r>
                      <a:rPr lang="en-US" altLang="zh-CN" i="1">
                        <a:latin typeface="Cambria Math" panose="02040503050406030204" pitchFamily="18" charset="0"/>
                        <a:cs typeface="Times New Roman" panose="02020603050405020304" pitchFamily="18" charset="0"/>
                      </a:rPr>
                      <m:t>′</m:t>
                    </m:r>
                  </m:oMath>
                </a14:m>
                <a:r>
                  <a:rPr lang="en-US" altLang="zh-CN" dirty="0">
                    <a:latin typeface="Cambria Math" panose="02040503050406030204" pitchFamily="18" charset="0"/>
                    <a:cs typeface="Times New Roman" panose="02020603050405020304" pitchFamily="18" charset="0"/>
                  </a:rPr>
                  <a:t> </a:t>
                </a:r>
                <a:endParaRPr lang="zh-CN" altLang="en-US" dirty="0"/>
              </a:p>
            </p:txBody>
          </p:sp>
        </mc:Choice>
        <mc:Fallback xmlns="">
          <p:sp>
            <p:nvSpPr>
              <p:cNvPr id="15" name="矩形 14"/>
              <p:cNvSpPr>
                <a:spLocks noRot="1" noChangeAspect="1" noMove="1" noResize="1" noEditPoints="1" noAdjustHandles="1" noChangeArrowheads="1" noChangeShapeType="1" noTextEdit="1"/>
              </p:cNvSpPr>
              <p:nvPr/>
            </p:nvSpPr>
            <p:spPr>
              <a:xfrm>
                <a:off x="3904729" y="2365368"/>
                <a:ext cx="1442254" cy="388311"/>
              </a:xfrm>
              <a:prstGeom prst="rect">
                <a:avLst/>
              </a:prstGeom>
              <a:blipFill rotWithShape="1">
                <a:blip r:embed="rId6"/>
                <a:stretch>
                  <a:fillRect l="-8" t="-162" r="20" b="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p:cNvSpPr/>
              <p:nvPr/>
            </p:nvSpPr>
            <p:spPr>
              <a:xfrm>
                <a:off x="3640928" y="2724345"/>
                <a:ext cx="5832648" cy="385298"/>
              </a:xfrm>
              <a:prstGeom prst="rect">
                <a:avLst/>
              </a:prstGeom>
            </p:spPr>
            <p:txBody>
              <a:bodyPr wrap="square">
                <a:spAutoFit/>
              </a:bodyPr>
              <a:lstStyle/>
              <a:p>
                <a14:m>
                  <m:oMath xmlns:m="http://schemas.openxmlformats.org/officeDocument/2006/math">
                    <m:r>
                      <a:rPr lang="en-US" altLang="zh-CN" i="1" smtClean="0">
                        <a:solidFill>
                          <a:schemeClr val="tx1"/>
                        </a:solidFill>
                        <a:latin typeface="Cambria Math" panose="02040503050406030204" pitchFamily="18" charset="0"/>
                        <a:cs typeface="Times New Roman" panose="02020603050405020304" pitchFamily="18" charset="0"/>
                      </a:rPr>
                      <m:t>𝑅𝑜𝑡</m:t>
                    </m:r>
                    <m:d>
                      <m:dPr>
                        <m:ctrlPr>
                          <a:rPr lang="zh-CN" altLang="zh-CN" i="1">
                            <a:solidFill>
                              <a:schemeClr val="tx1"/>
                            </a:solidFill>
                            <a:effectLst/>
                            <a:latin typeface="Cambria Math" panose="02040503050406030204" pitchFamily="18" charset="0"/>
                            <a:ea typeface="Cambria Math" panose="02040503050406030204" pitchFamily="18" charset="0"/>
                          </a:rPr>
                        </m:ctrlPr>
                      </m:dPr>
                      <m:e>
                        <m:acc>
                          <m:accPr>
                            <m:chr m:val="̂"/>
                            <m:ctrlPr>
                              <a:rPr lang="zh-CN" altLang="zh-CN" i="1">
                                <a:solidFill>
                                  <a:schemeClr val="tx1"/>
                                </a:solidFill>
                                <a:effectLst/>
                                <a:latin typeface="Cambria Math" panose="02040503050406030204" pitchFamily="18" charset="0"/>
                                <a:ea typeface="Cambria Math" panose="02040503050406030204" pitchFamily="18" charset="0"/>
                              </a:rPr>
                            </m:ctrlPr>
                          </m:accPr>
                          <m:e>
                            <m:r>
                              <a:rPr lang="en-US" altLang="zh-CN" i="1">
                                <a:solidFill>
                                  <a:schemeClr val="tx1"/>
                                </a:solidFill>
                                <a:latin typeface="Cambria Math" panose="02040503050406030204" pitchFamily="18" charset="0"/>
                                <a:cs typeface="Times New Roman" panose="02020603050405020304" pitchFamily="18" charset="0"/>
                              </a:rPr>
                              <m:t>𝜔</m:t>
                            </m:r>
                          </m:e>
                        </m:acc>
                        <m:r>
                          <a:rPr lang="en-US" altLang="zh-CN" i="1">
                            <a:solidFill>
                              <a:schemeClr val="tx1"/>
                            </a:solidFill>
                            <a:latin typeface="Cambria Math" panose="02040503050406030204" pitchFamily="18" charset="0"/>
                            <a:cs typeface="Times New Roman" panose="02020603050405020304" pitchFamily="18" charset="0"/>
                          </a:rPr>
                          <m:t>,</m:t>
                        </m:r>
                        <m:r>
                          <a:rPr lang="en-US" altLang="zh-CN" i="1">
                            <a:solidFill>
                              <a:schemeClr val="tx1"/>
                            </a:solidFill>
                            <a:latin typeface="Cambria Math" panose="02040503050406030204" pitchFamily="18" charset="0"/>
                            <a:cs typeface="Times New Roman" panose="02020603050405020304" pitchFamily="18" charset="0"/>
                          </a:rPr>
                          <m:t>𝜃</m:t>
                        </m:r>
                      </m:e>
                    </m:d>
                    <m:r>
                      <a:rPr lang="en-US" altLang="zh-CN" i="1">
                        <a:solidFill>
                          <a:schemeClr val="tx1"/>
                        </a:solidFill>
                        <a:latin typeface="Cambria Math" panose="02040503050406030204" pitchFamily="18" charset="0"/>
                        <a:cs typeface="Times New Roman" panose="02020603050405020304" pitchFamily="18" charset="0"/>
                      </a:rPr>
                      <m:t>=</m:t>
                    </m:r>
                    <m:sSup>
                      <m:sSupPr>
                        <m:ctrlPr>
                          <a:rPr lang="zh-CN" altLang="zh-CN" i="1">
                            <a:solidFill>
                              <a:schemeClr val="tx1"/>
                            </a:solidFill>
                            <a:effectLst/>
                            <a:latin typeface="Cambria Math" panose="02040503050406030204" pitchFamily="18" charset="0"/>
                            <a:ea typeface="Cambria Math" panose="02040503050406030204" pitchFamily="18" charset="0"/>
                          </a:rPr>
                        </m:ctrlPr>
                      </m:sSupPr>
                      <m:e>
                        <m:r>
                          <a:rPr lang="en-US" altLang="zh-CN" i="1">
                            <a:solidFill>
                              <a:schemeClr val="tx1"/>
                            </a:solidFill>
                            <a:latin typeface="Cambria Math" panose="02040503050406030204" pitchFamily="18" charset="0"/>
                            <a:cs typeface="Times New Roman" panose="02020603050405020304" pitchFamily="18" charset="0"/>
                          </a:rPr>
                          <m:t>𝑒</m:t>
                        </m:r>
                      </m:e>
                      <m:sup>
                        <m:r>
                          <a:rPr lang="en-US" altLang="zh-CN" i="1">
                            <a:solidFill>
                              <a:schemeClr val="tx1"/>
                            </a:solidFill>
                            <a:latin typeface="Cambria Math" panose="02040503050406030204" pitchFamily="18" charset="0"/>
                            <a:cs typeface="Times New Roman" panose="02020603050405020304" pitchFamily="18" charset="0"/>
                          </a:rPr>
                          <m:t>[</m:t>
                        </m:r>
                        <m:acc>
                          <m:accPr>
                            <m:chr m:val="̂"/>
                            <m:ctrlPr>
                              <a:rPr lang="zh-CN" altLang="zh-CN" i="1">
                                <a:solidFill>
                                  <a:schemeClr val="tx1"/>
                                </a:solidFill>
                                <a:effectLst/>
                                <a:latin typeface="Cambria Math" panose="02040503050406030204" pitchFamily="18" charset="0"/>
                                <a:ea typeface="Cambria Math" panose="02040503050406030204" pitchFamily="18" charset="0"/>
                              </a:rPr>
                            </m:ctrlPr>
                          </m:accPr>
                          <m:e>
                            <m:r>
                              <a:rPr lang="en-US" altLang="zh-CN" i="1">
                                <a:solidFill>
                                  <a:schemeClr val="tx1"/>
                                </a:solidFill>
                                <a:latin typeface="Cambria Math" panose="02040503050406030204" pitchFamily="18" charset="0"/>
                                <a:cs typeface="Times New Roman" panose="02020603050405020304" pitchFamily="18" charset="0"/>
                              </a:rPr>
                              <m:t>𝜔</m:t>
                            </m:r>
                          </m:e>
                        </m:acc>
                        <m:r>
                          <a:rPr lang="en-US" altLang="zh-CN" i="1">
                            <a:solidFill>
                              <a:schemeClr val="tx1"/>
                            </a:solidFill>
                            <a:latin typeface="Cambria Math" panose="02040503050406030204" pitchFamily="18" charset="0"/>
                            <a:cs typeface="Times New Roman" panose="02020603050405020304" pitchFamily="18" charset="0"/>
                          </a:rPr>
                          <m:t>]</m:t>
                        </m:r>
                        <m:r>
                          <a:rPr lang="en-US" altLang="zh-CN" i="1">
                            <a:solidFill>
                              <a:schemeClr val="tx1"/>
                            </a:solidFill>
                            <a:latin typeface="Cambria Math" panose="02040503050406030204" pitchFamily="18" charset="0"/>
                            <a:cs typeface="Times New Roman" panose="02020603050405020304" pitchFamily="18" charset="0"/>
                          </a:rPr>
                          <m:t>𝜃</m:t>
                        </m:r>
                      </m:sup>
                    </m:sSup>
                    <m:r>
                      <a:rPr lang="en-US" altLang="zh-CN" i="1">
                        <a:solidFill>
                          <a:schemeClr val="tx1"/>
                        </a:solidFill>
                        <a:latin typeface="Cambria Math" panose="02040503050406030204" pitchFamily="18" charset="0"/>
                        <a:cs typeface="Times New Roman" panose="02020603050405020304" pitchFamily="18" charset="0"/>
                      </a:rPr>
                      <m:t>=</m:t>
                    </m:r>
                    <m:r>
                      <a:rPr lang="en-US" altLang="zh-CN" i="1">
                        <a:solidFill>
                          <a:schemeClr val="tx1"/>
                        </a:solidFill>
                        <a:latin typeface="Cambria Math" panose="02040503050406030204" pitchFamily="18" charset="0"/>
                        <a:cs typeface="Times New Roman" panose="02020603050405020304" pitchFamily="18" charset="0"/>
                      </a:rPr>
                      <m:t>𝐼</m:t>
                    </m:r>
                    <m:r>
                      <a:rPr lang="en-US" altLang="zh-CN" i="1">
                        <a:solidFill>
                          <a:schemeClr val="tx1"/>
                        </a:solidFill>
                        <a:latin typeface="Cambria Math" panose="02040503050406030204" pitchFamily="18" charset="0"/>
                        <a:cs typeface="Times New Roman" panose="02020603050405020304" pitchFamily="18" charset="0"/>
                      </a:rPr>
                      <m:t>+</m:t>
                    </m:r>
                    <m:func>
                      <m:funcPr>
                        <m:ctrlPr>
                          <a:rPr lang="zh-CN" altLang="zh-CN" i="1">
                            <a:solidFill>
                              <a:schemeClr val="tx1"/>
                            </a:solidFill>
                            <a:effectLst/>
                            <a:latin typeface="Cambria Math" panose="02040503050406030204" pitchFamily="18" charset="0"/>
                            <a:ea typeface="Cambria Math" panose="02040503050406030204" pitchFamily="18" charset="0"/>
                          </a:rPr>
                        </m:ctrlPr>
                      </m:funcPr>
                      <m:fName>
                        <m:r>
                          <m:rPr>
                            <m:sty m:val="p"/>
                          </m:rPr>
                          <a:rPr lang="en-US" altLang="zh-CN">
                            <a:solidFill>
                              <a:schemeClr val="tx1"/>
                            </a:solidFill>
                            <a:latin typeface="Cambria Math" panose="02040503050406030204" pitchFamily="18" charset="0"/>
                            <a:cs typeface="Times New Roman" panose="02020603050405020304" pitchFamily="18" charset="0"/>
                          </a:rPr>
                          <m:t>sin</m:t>
                        </m:r>
                      </m:fName>
                      <m:e>
                        <m:r>
                          <a:rPr lang="en-US" altLang="zh-CN" i="1">
                            <a:solidFill>
                              <a:schemeClr val="tx1"/>
                            </a:solidFill>
                            <a:latin typeface="Cambria Math" panose="02040503050406030204" pitchFamily="18" charset="0"/>
                            <a:cs typeface="Times New Roman" panose="02020603050405020304" pitchFamily="18" charset="0"/>
                          </a:rPr>
                          <m:t>𝜃</m:t>
                        </m:r>
                      </m:e>
                    </m:func>
                    <m:d>
                      <m:dPr>
                        <m:begChr m:val="["/>
                        <m:endChr m:val="]"/>
                        <m:ctrlPr>
                          <a:rPr lang="zh-CN" altLang="zh-CN" i="1">
                            <a:solidFill>
                              <a:schemeClr val="tx1"/>
                            </a:solidFill>
                            <a:effectLst/>
                            <a:latin typeface="Cambria Math" panose="02040503050406030204" pitchFamily="18" charset="0"/>
                            <a:ea typeface="Cambria Math" panose="02040503050406030204" pitchFamily="18" charset="0"/>
                          </a:rPr>
                        </m:ctrlPr>
                      </m:dPr>
                      <m:e>
                        <m:acc>
                          <m:accPr>
                            <m:chr m:val="̂"/>
                            <m:ctrlPr>
                              <a:rPr lang="zh-CN" altLang="zh-CN" i="1">
                                <a:solidFill>
                                  <a:schemeClr val="tx1"/>
                                </a:solidFill>
                                <a:effectLst/>
                                <a:latin typeface="Cambria Math" panose="02040503050406030204" pitchFamily="18" charset="0"/>
                                <a:ea typeface="Cambria Math" panose="02040503050406030204" pitchFamily="18" charset="0"/>
                              </a:rPr>
                            </m:ctrlPr>
                          </m:accPr>
                          <m:e>
                            <m:r>
                              <a:rPr lang="en-US" altLang="zh-CN" i="1">
                                <a:solidFill>
                                  <a:schemeClr val="tx1"/>
                                </a:solidFill>
                                <a:latin typeface="Cambria Math" panose="02040503050406030204" pitchFamily="18" charset="0"/>
                                <a:cs typeface="Times New Roman" panose="02020603050405020304" pitchFamily="18" charset="0"/>
                              </a:rPr>
                              <m:t>𝜔</m:t>
                            </m:r>
                          </m:e>
                        </m:acc>
                      </m:e>
                    </m:d>
                    <m:r>
                      <a:rPr lang="en-US" altLang="zh-CN" i="1">
                        <a:solidFill>
                          <a:schemeClr val="tx1"/>
                        </a:solidFill>
                        <a:latin typeface="Cambria Math" panose="02040503050406030204" pitchFamily="18" charset="0"/>
                        <a:cs typeface="Times New Roman" panose="02020603050405020304" pitchFamily="18" charset="0"/>
                      </a:rPr>
                      <m:t>+(1−</m:t>
                    </m:r>
                    <m:func>
                      <m:funcPr>
                        <m:ctrlPr>
                          <a:rPr lang="zh-CN" altLang="zh-CN" i="1">
                            <a:solidFill>
                              <a:schemeClr val="tx1"/>
                            </a:solidFill>
                            <a:effectLst/>
                            <a:latin typeface="Cambria Math" panose="02040503050406030204" pitchFamily="18" charset="0"/>
                            <a:ea typeface="Cambria Math" panose="02040503050406030204" pitchFamily="18" charset="0"/>
                          </a:rPr>
                        </m:ctrlPr>
                      </m:funcPr>
                      <m:fName>
                        <m:r>
                          <m:rPr>
                            <m:sty m:val="p"/>
                          </m:rPr>
                          <a:rPr lang="en-US" altLang="zh-CN">
                            <a:solidFill>
                              <a:schemeClr val="tx1"/>
                            </a:solidFill>
                            <a:latin typeface="Cambria Math" panose="02040503050406030204" pitchFamily="18" charset="0"/>
                            <a:cs typeface="Times New Roman" panose="02020603050405020304" pitchFamily="18" charset="0"/>
                          </a:rPr>
                          <m:t>cos</m:t>
                        </m:r>
                      </m:fName>
                      <m:e>
                        <m:r>
                          <a:rPr lang="en-US" altLang="zh-CN" i="1">
                            <a:solidFill>
                              <a:schemeClr val="tx1"/>
                            </a:solidFill>
                            <a:latin typeface="Cambria Math" panose="02040503050406030204" pitchFamily="18" charset="0"/>
                            <a:cs typeface="Times New Roman" panose="02020603050405020304" pitchFamily="18" charset="0"/>
                          </a:rPr>
                          <m:t>𝜃</m:t>
                        </m:r>
                        <m:r>
                          <a:rPr lang="en-US" altLang="zh-CN" i="1">
                            <a:solidFill>
                              <a:schemeClr val="tx1"/>
                            </a:solidFill>
                            <a:latin typeface="Cambria Math" panose="02040503050406030204" pitchFamily="18" charset="0"/>
                            <a:cs typeface="Times New Roman" panose="02020603050405020304" pitchFamily="18" charset="0"/>
                          </a:rPr>
                          <m:t>)</m:t>
                        </m:r>
                        <m:sSup>
                          <m:sSupPr>
                            <m:ctrlPr>
                              <a:rPr lang="zh-CN" altLang="zh-CN" i="1">
                                <a:solidFill>
                                  <a:schemeClr val="tx1"/>
                                </a:solidFill>
                                <a:effectLst/>
                                <a:latin typeface="Cambria Math" panose="02040503050406030204" pitchFamily="18" charset="0"/>
                                <a:ea typeface="Cambria Math" panose="02040503050406030204" pitchFamily="18" charset="0"/>
                              </a:rPr>
                            </m:ctrlPr>
                          </m:sSupPr>
                          <m:e>
                            <m:r>
                              <a:rPr lang="en-US" altLang="zh-CN" i="1">
                                <a:solidFill>
                                  <a:schemeClr val="tx1"/>
                                </a:solidFill>
                                <a:latin typeface="Cambria Math" panose="02040503050406030204" pitchFamily="18" charset="0"/>
                                <a:cs typeface="Times New Roman" panose="02020603050405020304" pitchFamily="18" charset="0"/>
                              </a:rPr>
                              <m:t>[</m:t>
                            </m:r>
                            <m:acc>
                              <m:accPr>
                                <m:chr m:val="̂"/>
                                <m:ctrlPr>
                                  <a:rPr lang="zh-CN" altLang="zh-CN" i="1">
                                    <a:solidFill>
                                      <a:schemeClr val="tx1"/>
                                    </a:solidFill>
                                    <a:effectLst/>
                                    <a:latin typeface="Cambria Math" panose="02040503050406030204" pitchFamily="18" charset="0"/>
                                    <a:ea typeface="Cambria Math" panose="02040503050406030204" pitchFamily="18" charset="0"/>
                                  </a:rPr>
                                </m:ctrlPr>
                              </m:accPr>
                              <m:e>
                                <m:r>
                                  <a:rPr lang="en-US" altLang="zh-CN" i="1">
                                    <a:solidFill>
                                      <a:schemeClr val="tx1"/>
                                    </a:solidFill>
                                    <a:latin typeface="Cambria Math" panose="02040503050406030204" pitchFamily="18" charset="0"/>
                                    <a:cs typeface="Times New Roman" panose="02020603050405020304" pitchFamily="18" charset="0"/>
                                  </a:rPr>
                                  <m:t>𝜔</m:t>
                                </m:r>
                              </m:e>
                            </m:acc>
                            <m:r>
                              <a:rPr lang="en-US" altLang="zh-CN" i="1">
                                <a:solidFill>
                                  <a:schemeClr val="tx1"/>
                                </a:solidFill>
                                <a:latin typeface="Cambria Math" panose="02040503050406030204" pitchFamily="18" charset="0"/>
                                <a:cs typeface="Times New Roman" panose="02020603050405020304" pitchFamily="18" charset="0"/>
                              </a:rPr>
                              <m:t>]</m:t>
                            </m:r>
                          </m:e>
                          <m:sup>
                            <m:r>
                              <a:rPr lang="en-US" altLang="zh-CN" i="1">
                                <a:solidFill>
                                  <a:schemeClr val="tx1"/>
                                </a:solidFill>
                                <a:latin typeface="Cambria Math" panose="02040503050406030204" pitchFamily="18" charset="0"/>
                                <a:cs typeface="Times New Roman" panose="02020603050405020304" pitchFamily="18" charset="0"/>
                              </a:rPr>
                              <m:t>2</m:t>
                            </m:r>
                          </m:sup>
                        </m:sSup>
                      </m:e>
                    </m:func>
                  </m:oMath>
                </a14:m>
                <a:r>
                  <a:rPr lang="en-US" altLang="zh-CN" dirty="0">
                    <a:solidFill>
                      <a:schemeClr val="tx1"/>
                    </a:solidFill>
                    <a:latin typeface="Cambria Math" panose="02040503050406030204" pitchFamily="18" charset="0"/>
                    <a:cs typeface="Times New Roman" panose="02020603050405020304" pitchFamily="18" charset="0"/>
                  </a:rPr>
                  <a:t> </a:t>
                </a:r>
                <a:endParaRPr lang="zh-CN" altLang="en-US" dirty="0">
                  <a:solidFill>
                    <a:schemeClr val="tx1"/>
                  </a:solidFill>
                </a:endParaRPr>
              </a:p>
            </p:txBody>
          </p:sp>
        </mc:Choice>
        <mc:Fallback xmlns="">
          <p:sp>
            <p:nvSpPr>
              <p:cNvPr id="16" name="矩形 15"/>
              <p:cNvSpPr>
                <a:spLocks noRot="1" noChangeAspect="1" noMove="1" noResize="1" noEditPoints="1" noAdjustHandles="1" noChangeArrowheads="1" noChangeShapeType="1" noTextEdit="1"/>
              </p:cNvSpPr>
              <p:nvPr/>
            </p:nvSpPr>
            <p:spPr>
              <a:xfrm>
                <a:off x="3640928" y="2724345"/>
                <a:ext cx="5832648" cy="385298"/>
              </a:xfrm>
              <a:prstGeom prst="rect">
                <a:avLst/>
              </a:prstGeom>
              <a:blipFill rotWithShape="1">
                <a:blip r:embed="rId7"/>
                <a:stretch>
                  <a:fillRect l="-8" t="-51" b="12"/>
                </a:stretch>
              </a:blipFill>
            </p:spPr>
            <p:txBody>
              <a:bodyPr/>
              <a:lstStyle/>
              <a:p>
                <a:r>
                  <a:rPr lang="zh-CN" altLang="en-US">
                    <a:noFill/>
                  </a:rPr>
                  <a:t> </a:t>
                </a:r>
              </a:p>
            </p:txBody>
          </p:sp>
        </mc:Fallback>
      </mc:AlternateContent>
      <p:sp>
        <p:nvSpPr>
          <p:cNvPr id="8" name="圆角矩形 7"/>
          <p:cNvSpPr/>
          <p:nvPr/>
        </p:nvSpPr>
        <p:spPr>
          <a:xfrm>
            <a:off x="4578180" y="1076851"/>
            <a:ext cx="4293235" cy="38152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3554533" y="1742172"/>
            <a:ext cx="5316882" cy="342791"/>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3419872" y="2266879"/>
            <a:ext cx="5423541" cy="970212"/>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矩形 19"/>
              <p:cNvSpPr/>
              <p:nvPr/>
            </p:nvSpPr>
            <p:spPr>
              <a:xfrm>
                <a:off x="1874799" y="3331990"/>
                <a:ext cx="4857442" cy="322652"/>
              </a:xfrm>
              <a:prstGeom prst="rect">
                <a:avLst/>
              </a:prstGeom>
            </p:spPr>
            <p:txBody>
              <a:bodyPr wrap="square">
                <a:spAutoFit/>
              </a:bodyPr>
              <a:lstStyle/>
              <a:p>
                <a14:m>
                  <m:oMath xmlns:m="http://schemas.openxmlformats.org/officeDocument/2006/math">
                    <m:r>
                      <a:rPr lang="en-US" altLang="zh-CN" sz="1000" i="1">
                        <a:latin typeface="Cambria Math" panose="02040503050406030204" pitchFamily="18" charset="0"/>
                      </a:rPr>
                      <m:t>𝑞</m:t>
                    </m:r>
                    <m:r>
                      <a:rPr lang="en-US" altLang="zh-CN" sz="1000" i="1">
                        <a:latin typeface="Cambria Math" panose="02040503050406030204" pitchFamily="18" charset="0"/>
                      </a:rPr>
                      <m:t>=(</m:t>
                    </m:r>
                    <m:func>
                      <m:funcPr>
                        <m:ctrlPr>
                          <a:rPr lang="zh-CN" altLang="zh-CN" sz="1000" i="1">
                            <a:latin typeface="Cambria Math" panose="02040503050406030204" pitchFamily="18" charset="0"/>
                          </a:rPr>
                        </m:ctrlPr>
                      </m:funcPr>
                      <m:fName>
                        <m:r>
                          <m:rPr>
                            <m:sty m:val="p"/>
                          </m:rPr>
                          <a:rPr lang="en-US" altLang="zh-CN" sz="1000">
                            <a:latin typeface="Cambria Math" panose="02040503050406030204" pitchFamily="18" charset="0"/>
                          </a:rPr>
                          <m:t>cos</m:t>
                        </m:r>
                      </m:fName>
                      <m:e>
                        <m:d>
                          <m:dPr>
                            <m:ctrlPr>
                              <a:rPr lang="zh-CN" altLang="zh-CN" sz="1000" i="1">
                                <a:latin typeface="Cambria Math" panose="02040503050406030204" pitchFamily="18" charset="0"/>
                              </a:rPr>
                            </m:ctrlPr>
                          </m:dPr>
                          <m:e>
                            <m:f>
                              <m:fPr>
                                <m:ctrlPr>
                                  <a:rPr lang="zh-CN" altLang="zh-CN" sz="1000" i="1">
                                    <a:latin typeface="Cambria Math" panose="02040503050406030204" pitchFamily="18" charset="0"/>
                                  </a:rPr>
                                </m:ctrlPr>
                              </m:fPr>
                              <m:num>
                                <m:r>
                                  <a:rPr lang="en-US" altLang="zh-CN" sz="1000" i="1">
                                    <a:latin typeface="Cambria Math" panose="02040503050406030204" pitchFamily="18" charset="0"/>
                                  </a:rPr>
                                  <m:t>𝜃</m:t>
                                </m:r>
                              </m:num>
                              <m:den>
                                <m:r>
                                  <a:rPr lang="en-US" altLang="zh-CN" sz="1000" i="1">
                                    <a:latin typeface="Cambria Math" panose="02040503050406030204" pitchFamily="18" charset="0"/>
                                  </a:rPr>
                                  <m:t>2</m:t>
                                </m:r>
                              </m:den>
                            </m:f>
                          </m:e>
                        </m:d>
                      </m:e>
                    </m:func>
                    <m:r>
                      <a:rPr lang="en-US" altLang="zh-CN" sz="1000" i="1">
                        <a:latin typeface="Cambria Math" panose="02040503050406030204" pitchFamily="18" charset="0"/>
                      </a:rPr>
                      <m:t>,</m:t>
                    </m:r>
                    <m:func>
                      <m:funcPr>
                        <m:ctrlPr>
                          <a:rPr lang="zh-CN" altLang="zh-CN" sz="1000" i="1">
                            <a:latin typeface="Cambria Math" panose="02040503050406030204" pitchFamily="18" charset="0"/>
                          </a:rPr>
                        </m:ctrlPr>
                      </m:funcPr>
                      <m:fName>
                        <m:r>
                          <m:rPr>
                            <m:sty m:val="p"/>
                          </m:rPr>
                          <a:rPr lang="en-US" altLang="zh-CN" sz="1000">
                            <a:latin typeface="Cambria Math" panose="02040503050406030204" pitchFamily="18" charset="0"/>
                          </a:rPr>
                          <m:t>sin</m:t>
                        </m:r>
                      </m:fName>
                      <m:e>
                        <m:d>
                          <m:dPr>
                            <m:ctrlPr>
                              <a:rPr lang="zh-CN" altLang="zh-CN" sz="1000" i="1">
                                <a:latin typeface="Cambria Math" panose="02040503050406030204" pitchFamily="18" charset="0"/>
                              </a:rPr>
                            </m:ctrlPr>
                          </m:dPr>
                          <m:e>
                            <m:f>
                              <m:fPr>
                                <m:ctrlPr>
                                  <a:rPr lang="zh-CN" altLang="zh-CN" sz="1000" i="1">
                                    <a:latin typeface="Cambria Math" panose="02040503050406030204" pitchFamily="18" charset="0"/>
                                  </a:rPr>
                                </m:ctrlPr>
                              </m:fPr>
                              <m:num>
                                <m:r>
                                  <a:rPr lang="en-US" altLang="zh-CN" sz="1000" i="1">
                                    <a:latin typeface="Cambria Math" panose="02040503050406030204" pitchFamily="18" charset="0"/>
                                  </a:rPr>
                                  <m:t>𝜃</m:t>
                                </m:r>
                              </m:num>
                              <m:den>
                                <m:r>
                                  <a:rPr lang="en-US" altLang="zh-CN" sz="1000" i="1">
                                    <a:latin typeface="Cambria Math" panose="02040503050406030204" pitchFamily="18" charset="0"/>
                                  </a:rPr>
                                  <m:t>2</m:t>
                                </m:r>
                              </m:den>
                            </m:f>
                          </m:e>
                        </m:d>
                      </m:e>
                    </m:func>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𝑛</m:t>
                        </m:r>
                      </m:e>
                      <m:sub>
                        <m:r>
                          <a:rPr lang="en-US" altLang="zh-CN" sz="1000" i="1">
                            <a:latin typeface="Cambria Math" panose="02040503050406030204" pitchFamily="18" charset="0"/>
                          </a:rPr>
                          <m:t>𝑥</m:t>
                        </m:r>
                      </m:sub>
                    </m:sSub>
                    <m:r>
                      <a:rPr lang="en-US" altLang="zh-CN" sz="1000" i="1">
                        <a:latin typeface="Cambria Math" panose="02040503050406030204" pitchFamily="18" charset="0"/>
                      </a:rPr>
                      <m:t>,</m:t>
                    </m:r>
                    <m:func>
                      <m:funcPr>
                        <m:ctrlPr>
                          <a:rPr lang="zh-CN" altLang="zh-CN" sz="1000" i="1">
                            <a:latin typeface="Cambria Math" panose="02040503050406030204" pitchFamily="18" charset="0"/>
                          </a:rPr>
                        </m:ctrlPr>
                      </m:funcPr>
                      <m:fName>
                        <m:r>
                          <m:rPr>
                            <m:sty m:val="p"/>
                          </m:rPr>
                          <a:rPr lang="en-US" altLang="zh-CN" sz="1000">
                            <a:latin typeface="Cambria Math" panose="02040503050406030204" pitchFamily="18" charset="0"/>
                          </a:rPr>
                          <m:t>sin</m:t>
                        </m:r>
                      </m:fName>
                      <m:e>
                        <m:d>
                          <m:dPr>
                            <m:ctrlPr>
                              <a:rPr lang="zh-CN" altLang="zh-CN" sz="1000" i="1">
                                <a:latin typeface="Cambria Math" panose="02040503050406030204" pitchFamily="18" charset="0"/>
                              </a:rPr>
                            </m:ctrlPr>
                          </m:dPr>
                          <m:e>
                            <m:f>
                              <m:fPr>
                                <m:ctrlPr>
                                  <a:rPr lang="zh-CN" altLang="zh-CN" sz="1000" i="1">
                                    <a:latin typeface="Cambria Math" panose="02040503050406030204" pitchFamily="18" charset="0"/>
                                  </a:rPr>
                                </m:ctrlPr>
                              </m:fPr>
                              <m:num>
                                <m:r>
                                  <a:rPr lang="en-US" altLang="zh-CN" sz="1000" i="1">
                                    <a:latin typeface="Cambria Math" panose="02040503050406030204" pitchFamily="18" charset="0"/>
                                  </a:rPr>
                                  <m:t>𝜃</m:t>
                                </m:r>
                              </m:num>
                              <m:den>
                                <m:r>
                                  <a:rPr lang="en-US" altLang="zh-CN" sz="1000" i="1">
                                    <a:latin typeface="Cambria Math" panose="02040503050406030204" pitchFamily="18" charset="0"/>
                                  </a:rPr>
                                  <m:t>2</m:t>
                                </m:r>
                              </m:den>
                            </m:f>
                          </m:e>
                        </m:d>
                      </m:e>
                    </m:func>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𝑛</m:t>
                        </m:r>
                      </m:e>
                      <m:sub>
                        <m:r>
                          <a:rPr lang="en-US" altLang="zh-CN" sz="1000" i="1">
                            <a:latin typeface="Cambria Math" panose="02040503050406030204" pitchFamily="18" charset="0"/>
                          </a:rPr>
                          <m:t>𝑦</m:t>
                        </m:r>
                      </m:sub>
                    </m:sSub>
                    <m:r>
                      <a:rPr lang="en-US" altLang="zh-CN" sz="1000" i="1">
                        <a:latin typeface="Cambria Math" panose="02040503050406030204" pitchFamily="18" charset="0"/>
                      </a:rPr>
                      <m:t>,</m:t>
                    </m:r>
                    <m:func>
                      <m:funcPr>
                        <m:ctrlPr>
                          <a:rPr lang="zh-CN" altLang="zh-CN" sz="1000" i="1">
                            <a:latin typeface="Cambria Math" panose="02040503050406030204" pitchFamily="18" charset="0"/>
                          </a:rPr>
                        </m:ctrlPr>
                      </m:funcPr>
                      <m:fName>
                        <m:r>
                          <m:rPr>
                            <m:sty m:val="p"/>
                          </m:rPr>
                          <a:rPr lang="en-US" altLang="zh-CN" sz="1000">
                            <a:latin typeface="Cambria Math" panose="02040503050406030204" pitchFamily="18" charset="0"/>
                          </a:rPr>
                          <m:t>sin</m:t>
                        </m:r>
                      </m:fName>
                      <m:e>
                        <m:d>
                          <m:dPr>
                            <m:ctrlPr>
                              <a:rPr lang="zh-CN" altLang="zh-CN" sz="1000" i="1">
                                <a:latin typeface="Cambria Math" panose="02040503050406030204" pitchFamily="18" charset="0"/>
                              </a:rPr>
                            </m:ctrlPr>
                          </m:dPr>
                          <m:e>
                            <m:f>
                              <m:fPr>
                                <m:ctrlPr>
                                  <a:rPr lang="zh-CN" altLang="zh-CN" sz="1000" i="1">
                                    <a:latin typeface="Cambria Math" panose="02040503050406030204" pitchFamily="18" charset="0"/>
                                  </a:rPr>
                                </m:ctrlPr>
                              </m:fPr>
                              <m:num>
                                <m:r>
                                  <a:rPr lang="en-US" altLang="zh-CN" sz="1000" i="1">
                                    <a:latin typeface="Cambria Math" panose="02040503050406030204" pitchFamily="18" charset="0"/>
                                  </a:rPr>
                                  <m:t>𝜃</m:t>
                                </m:r>
                              </m:num>
                              <m:den>
                                <m:r>
                                  <a:rPr lang="en-US" altLang="zh-CN" sz="1000" i="1">
                                    <a:latin typeface="Cambria Math" panose="02040503050406030204" pitchFamily="18" charset="0"/>
                                  </a:rPr>
                                  <m:t>2</m:t>
                                </m:r>
                              </m:den>
                            </m:f>
                          </m:e>
                        </m:d>
                      </m:e>
                    </m:func>
                    <m:sSub>
                      <m:sSubPr>
                        <m:ctrlPr>
                          <a:rPr lang="zh-CN" altLang="zh-CN" sz="1000" i="1">
                            <a:latin typeface="Cambria Math" panose="02040503050406030204" pitchFamily="18" charset="0"/>
                          </a:rPr>
                        </m:ctrlPr>
                      </m:sSubPr>
                      <m:e>
                        <m:r>
                          <a:rPr lang="en-US" altLang="zh-CN" sz="1000" i="1">
                            <a:latin typeface="Cambria Math" panose="02040503050406030204" pitchFamily="18" charset="0"/>
                          </a:rPr>
                          <m:t>𝑛</m:t>
                        </m:r>
                      </m:e>
                      <m:sub>
                        <m:r>
                          <a:rPr lang="en-US" altLang="zh-CN" sz="1000" i="1">
                            <a:latin typeface="Cambria Math" panose="02040503050406030204" pitchFamily="18" charset="0"/>
                          </a:rPr>
                          <m:t>𝑧</m:t>
                        </m:r>
                      </m:sub>
                    </m:sSub>
                    <m:r>
                      <a:rPr lang="en-US" altLang="zh-CN" sz="1000" i="1">
                        <a:latin typeface="Cambria Math" panose="02040503050406030204" pitchFamily="18" charset="0"/>
                      </a:rPr>
                      <m:t>)</m:t>
                    </m:r>
                  </m:oMath>
                </a14:m>
                <a:r>
                  <a:rPr lang="en-US" altLang="zh-CN" sz="1000" dirty="0"/>
                  <a:t> </a:t>
                </a:r>
                <a:endParaRPr lang="zh-CN" altLang="en-US" sz="1000" dirty="0"/>
              </a:p>
            </p:txBody>
          </p:sp>
        </mc:Choice>
        <mc:Fallback xmlns="">
          <p:sp>
            <p:nvSpPr>
              <p:cNvPr id="20" name="矩形 19"/>
              <p:cNvSpPr>
                <a:spLocks noRot="1" noChangeAspect="1" noMove="1" noResize="1" noEditPoints="1" noAdjustHandles="1" noChangeArrowheads="1" noChangeShapeType="1" noTextEdit="1"/>
              </p:cNvSpPr>
              <p:nvPr/>
            </p:nvSpPr>
            <p:spPr>
              <a:xfrm>
                <a:off x="1874799" y="3331990"/>
                <a:ext cx="4857442" cy="322652"/>
              </a:xfrm>
              <a:prstGeom prst="rect">
                <a:avLst/>
              </a:prstGeom>
              <a:blipFill rotWithShape="1">
                <a:blip r:embed="rId8"/>
                <a:stretch>
                  <a:fillRect l="-6" t="-45" r="12" b="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1837813" y="3821032"/>
                <a:ext cx="1454436" cy="24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zh-CN" altLang="en-US" sz="1000" i="1">
                              <a:latin typeface="Cambria Math" panose="02040503050406030204" pitchFamily="18" charset="0"/>
                            </a:rPr>
                          </m:ctrlPr>
                        </m:dPr>
                        <m:e>
                          <m:r>
                            <a:rPr lang="zh-CN" altLang="en-US" sz="1000" i="1">
                              <a:latin typeface="Cambria Math" panose="02040503050406030204" pitchFamily="18" charset="0"/>
                            </a:rPr>
                            <m:t>𝑃</m:t>
                          </m:r>
                          <m:r>
                            <a:rPr lang="zh-CN" altLang="en-US" sz="1000" i="0">
                              <a:latin typeface="Cambria Math" panose="02040503050406030204" pitchFamily="18" charset="0"/>
                            </a:rPr>
                            <m:t>=(0,</m:t>
                          </m:r>
                          <m:r>
                            <a:rPr lang="zh-CN" altLang="en-US" sz="1000" i="1">
                              <a:latin typeface="Cambria Math" panose="02040503050406030204" pitchFamily="18" charset="0"/>
                            </a:rPr>
                            <m:t>𝑥</m:t>
                          </m:r>
                          <m:r>
                            <a:rPr lang="zh-CN" altLang="en-US" sz="1000" i="0">
                              <a:latin typeface="Cambria Math" panose="02040503050406030204" pitchFamily="18" charset="0"/>
                            </a:rPr>
                            <m:t>,</m:t>
                          </m:r>
                          <m:r>
                            <a:rPr lang="zh-CN" altLang="en-US" sz="1000" i="1">
                              <a:latin typeface="Cambria Math" panose="02040503050406030204" pitchFamily="18" charset="0"/>
                            </a:rPr>
                            <m:t>𝑦</m:t>
                          </m:r>
                          <m:r>
                            <a:rPr lang="zh-CN" altLang="en-US" sz="1000" i="0">
                              <a:latin typeface="Cambria Math" panose="02040503050406030204" pitchFamily="18" charset="0"/>
                            </a:rPr>
                            <m:t>,</m:t>
                          </m:r>
                          <m:r>
                            <a:rPr lang="zh-CN" altLang="en-US" sz="1000" i="1">
                              <a:latin typeface="Cambria Math" panose="02040503050406030204" pitchFamily="18" charset="0"/>
                            </a:rPr>
                            <m:t>𝑧</m:t>
                          </m:r>
                          <m:r>
                            <a:rPr lang="zh-CN" altLang="en-US" sz="1000" i="0">
                              <a:latin typeface="Cambria Math" panose="02040503050406030204" pitchFamily="18" charset="0"/>
                            </a:rPr>
                            <m:t>)=(0,</m:t>
                          </m:r>
                          <m:r>
                            <a:rPr lang="zh-CN" altLang="en-US" sz="1000" i="1">
                              <a:latin typeface="Cambria Math" panose="02040503050406030204" pitchFamily="18" charset="0"/>
                            </a:rPr>
                            <m:t>𝑆</m:t>
                          </m:r>
                        </m:e>
                      </m:d>
                    </m:oMath>
                  </m:oMathPara>
                </a14:m>
                <a:endParaRPr lang="zh-CN" altLang="en-US" sz="1000" dirty="0"/>
              </a:p>
            </p:txBody>
          </p:sp>
        </mc:Choice>
        <mc:Fallback xmlns="">
          <p:sp>
            <p:nvSpPr>
              <p:cNvPr id="23" name="矩形 22"/>
              <p:cNvSpPr>
                <a:spLocks noRot="1" noChangeAspect="1" noMove="1" noResize="1" noEditPoints="1" noAdjustHandles="1" noChangeArrowheads="1" noChangeShapeType="1" noTextEdit="1"/>
              </p:cNvSpPr>
              <p:nvPr/>
            </p:nvSpPr>
            <p:spPr>
              <a:xfrm>
                <a:off x="1837813" y="3821032"/>
                <a:ext cx="1454436" cy="246221"/>
              </a:xfrm>
              <a:prstGeom prst="rect">
                <a:avLst/>
              </a:prstGeom>
              <a:blipFill rotWithShape="1">
                <a:blip r:embed="rId9"/>
                <a:stretch>
                  <a:fillRect l="-8" t="-96" r="28" b="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p:cNvSpPr/>
              <p:nvPr/>
            </p:nvSpPr>
            <p:spPr>
              <a:xfrm>
                <a:off x="3292249" y="3725767"/>
                <a:ext cx="1389035" cy="369332"/>
              </a:xfrm>
              <a:prstGeom prst="rect">
                <a:avLst/>
              </a:prstGeom>
            </p:spPr>
            <p:txBody>
              <a:bodyPr wrap="none">
                <a:spAutoFit/>
              </a:bodyPr>
              <a:lstStyle/>
              <a:p>
                <a14:m>
                  <m:oMath xmlns:m="http://schemas.openxmlformats.org/officeDocument/2006/math">
                    <m:sSup>
                      <m:sSupPr>
                        <m:ctrlPr>
                          <a:rPr lang="zh-CN"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cs typeface="Times New Roman" panose="02020603050405020304" pitchFamily="18" charset="0"/>
                          </a:rPr>
                          <m:t>𝑃</m:t>
                        </m:r>
                      </m:e>
                      <m:sup>
                        <m:r>
                          <a:rPr lang="en-US" altLang="zh-CN" i="1">
                            <a:latin typeface="Cambria Math" panose="02040503050406030204" pitchFamily="18" charset="0"/>
                            <a:cs typeface="Times New Roman" panose="02020603050405020304" pitchFamily="18" charset="0"/>
                          </a:rPr>
                          <m:t>′</m:t>
                        </m:r>
                      </m:sup>
                    </m:sSup>
                    <m:r>
                      <a:rPr lang="en-US" altLang="zh-CN" i="1">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𝑞𝑃</m:t>
                    </m:r>
                    <m:sSup>
                      <m:sSupPr>
                        <m:ctrlPr>
                          <a:rPr lang="zh-CN" altLang="zh-CN" i="1">
                            <a:effectLst/>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cs typeface="Times New Roman" panose="02020603050405020304" pitchFamily="18" charset="0"/>
                          </a:rPr>
                          <m:t>𝑞</m:t>
                        </m:r>
                      </m:e>
                      <m:sup>
                        <m:r>
                          <a:rPr lang="en-US" altLang="zh-CN" i="1">
                            <a:latin typeface="Cambria Math" panose="02040503050406030204" pitchFamily="18" charset="0"/>
                            <a:cs typeface="Times New Roman" panose="02020603050405020304" pitchFamily="18" charset="0"/>
                          </a:rPr>
                          <m:t>−1</m:t>
                        </m:r>
                      </m:sup>
                    </m:sSup>
                  </m:oMath>
                </a14:m>
                <a:r>
                  <a:rPr lang="en-US" altLang="zh-CN" dirty="0">
                    <a:latin typeface="Cambria Math" panose="02040503050406030204" pitchFamily="18" charset="0"/>
                    <a:cs typeface="Times New Roman" panose="02020603050405020304" pitchFamily="18" charset="0"/>
                  </a:rPr>
                  <a:t> </a:t>
                </a:r>
                <a:endParaRPr lang="zh-CN" altLang="en-US" dirty="0"/>
              </a:p>
            </p:txBody>
          </p:sp>
        </mc:Choice>
        <mc:Fallback xmlns="">
          <p:sp>
            <p:nvSpPr>
              <p:cNvPr id="24" name="矩形 23"/>
              <p:cNvSpPr>
                <a:spLocks noRot="1" noChangeAspect="1" noMove="1" noResize="1" noEditPoints="1" noAdjustHandles="1" noChangeArrowheads="1" noChangeShapeType="1" noTextEdit="1"/>
              </p:cNvSpPr>
              <p:nvPr/>
            </p:nvSpPr>
            <p:spPr>
              <a:xfrm>
                <a:off x="3292249" y="3725767"/>
                <a:ext cx="1389035" cy="369332"/>
              </a:xfrm>
              <a:prstGeom prst="rect">
                <a:avLst/>
              </a:prstGeom>
              <a:blipFill rotWithShape="1">
                <a:blip r:embed="rId10"/>
                <a:stretch>
                  <a:fillRect l="-29" t="-60" r="5" b="168"/>
                </a:stretch>
              </a:blipFill>
            </p:spPr>
            <p:txBody>
              <a:bodyPr/>
              <a:lstStyle/>
              <a:p>
                <a:r>
                  <a:rPr lang="zh-CN" altLang="en-US">
                    <a:noFill/>
                  </a:rPr>
                  <a:t> </a:t>
                </a:r>
              </a:p>
            </p:txBody>
          </p:sp>
        </mc:Fallback>
      </mc:AlternateContent>
      <p:pic>
        <p:nvPicPr>
          <p:cNvPr id="18" name="图片 17"/>
          <p:cNvPicPr>
            <a:picLocks noChangeAspect="1"/>
          </p:cNvPicPr>
          <p:nvPr/>
        </p:nvPicPr>
        <p:blipFill>
          <a:blip r:embed="rId11"/>
          <a:stretch>
            <a:fillRect/>
          </a:stretch>
        </p:blipFill>
        <p:spPr>
          <a:xfrm>
            <a:off x="4649898" y="3341757"/>
            <a:ext cx="3809741" cy="677890"/>
          </a:xfrm>
          <a:prstGeom prst="rect">
            <a:avLst/>
          </a:prstGeom>
        </p:spPr>
      </p:pic>
      <p:sp>
        <p:nvSpPr>
          <p:cNvPr id="19" name="圆角矩形 18"/>
          <p:cNvSpPr/>
          <p:nvPr/>
        </p:nvSpPr>
        <p:spPr>
          <a:xfrm>
            <a:off x="1874799" y="3341757"/>
            <a:ext cx="6657641" cy="753342"/>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6" name="矩形 25"/>
              <p:cNvSpPr/>
              <p:nvPr/>
            </p:nvSpPr>
            <p:spPr>
              <a:xfrm>
                <a:off x="3084511" y="4468896"/>
                <a:ext cx="3126353" cy="43960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1200" i="1">
                          <a:latin typeface="Cambria Math" panose="02040503050406030204" pitchFamily="18" charset="0"/>
                        </a:rPr>
                        <m:t>𝜌</m:t>
                      </m:r>
                      <m:r>
                        <a:rPr lang="zh-CN" altLang="en-US" sz="1200" i="0">
                          <a:latin typeface="Cambria Math" panose="02040503050406030204" pitchFamily="18" charset="0"/>
                        </a:rPr>
                        <m:t>= </m:t>
                      </m:r>
                      <m:acc>
                        <m:accPr>
                          <m:chr m:val="̂"/>
                          <m:ctrlPr>
                            <a:rPr lang="zh-CN" altLang="en-US" sz="1200" i="1">
                              <a:latin typeface="Cambria Math" panose="02040503050406030204" pitchFamily="18" charset="0"/>
                            </a:rPr>
                          </m:ctrlPr>
                        </m:accPr>
                        <m:e>
                          <m:r>
                            <a:rPr lang="zh-CN" altLang="en-US" sz="1200" i="1">
                              <a:latin typeface="Cambria Math" panose="02040503050406030204" pitchFamily="18" charset="0"/>
                            </a:rPr>
                            <m:t>𝜔</m:t>
                          </m:r>
                        </m:e>
                      </m:acc>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tan</m:t>
                          </m:r>
                        </m:fNa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𝜃</m:t>
                              </m:r>
                            </m:num>
                            <m:den>
                              <m:r>
                                <a:rPr lang="zh-CN" altLang="en-US" sz="1200" i="0">
                                  <a:latin typeface="Cambria Math" panose="02040503050406030204" pitchFamily="18" charset="0"/>
                                </a:rPr>
                                <m:t>2</m:t>
                              </m:r>
                            </m:den>
                          </m:f>
                        </m:e>
                      </m:func>
                      <m:r>
                        <a:rPr lang="zh-CN" altLang="en-US" sz="1200" i="0">
                          <a:latin typeface="Cambria Math" panose="02040503050406030204" pitchFamily="18" charset="0"/>
                        </a:rPr>
                        <m:t>=(</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𝑥</m:t>
                          </m:r>
                        </m:sub>
                      </m:sSub>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tan</m:t>
                          </m:r>
                        </m:fNa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𝜃</m:t>
                              </m:r>
                            </m:num>
                            <m:den>
                              <m:r>
                                <a:rPr lang="zh-CN" altLang="en-US" sz="1200" i="0">
                                  <a:latin typeface="Cambria Math" panose="02040503050406030204" pitchFamily="18" charset="0"/>
                                </a:rPr>
                                <m:t>2</m:t>
                              </m:r>
                            </m:den>
                          </m:f>
                        </m:e>
                      </m:func>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𝑦</m:t>
                          </m:r>
                        </m:sub>
                      </m:sSub>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tan</m:t>
                          </m:r>
                        </m:fNa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𝜃</m:t>
                              </m:r>
                            </m:num>
                            <m:den>
                              <m:r>
                                <a:rPr lang="zh-CN" altLang="en-US" sz="1200" i="0">
                                  <a:latin typeface="Cambria Math" panose="02040503050406030204" pitchFamily="18" charset="0"/>
                                </a:rPr>
                                <m:t>2</m:t>
                              </m:r>
                            </m:den>
                          </m:f>
                        </m:e>
                      </m:func>
                      <m:r>
                        <a:rPr lang="zh-CN" altLang="en-US" sz="1200" i="0">
                          <a:latin typeface="Cambria Math" panose="02040503050406030204" pitchFamily="18" charset="0"/>
                        </a:rPr>
                        <m:t>, </m:t>
                      </m:r>
                      <m:sSub>
                        <m:sSubPr>
                          <m:ctrlPr>
                            <a:rPr lang="zh-CN" altLang="en-US" sz="1200" i="1">
                              <a:latin typeface="Cambria Math" panose="02040503050406030204" pitchFamily="18" charset="0"/>
                            </a:rPr>
                          </m:ctrlPr>
                        </m:sSubPr>
                        <m:e>
                          <m:r>
                            <a:rPr lang="zh-CN" altLang="en-US" sz="1200" i="1">
                              <a:latin typeface="Cambria Math" panose="02040503050406030204" pitchFamily="18" charset="0"/>
                            </a:rPr>
                            <m:t>𝑛</m:t>
                          </m:r>
                        </m:e>
                        <m:sub>
                          <m:r>
                            <a:rPr lang="zh-CN" altLang="en-US" sz="1200" i="1">
                              <a:latin typeface="Cambria Math" panose="02040503050406030204" pitchFamily="18" charset="0"/>
                            </a:rPr>
                            <m:t>𝑧</m:t>
                          </m:r>
                        </m:sub>
                      </m:sSub>
                      <m:func>
                        <m:funcPr>
                          <m:ctrlPr>
                            <a:rPr lang="zh-CN" altLang="en-US" sz="1200" i="1">
                              <a:latin typeface="Cambria Math" panose="02040503050406030204" pitchFamily="18" charset="0"/>
                            </a:rPr>
                          </m:ctrlPr>
                        </m:funcPr>
                        <m:fName>
                          <m:r>
                            <m:rPr>
                              <m:sty m:val="p"/>
                            </m:rPr>
                            <a:rPr lang="zh-CN" altLang="en-US" sz="1200" i="0">
                              <a:latin typeface="Cambria Math" panose="02040503050406030204" pitchFamily="18" charset="0"/>
                            </a:rPr>
                            <m:t>tan</m:t>
                          </m:r>
                        </m:fName>
                        <m:e>
                          <m:f>
                            <m:fPr>
                              <m:ctrlPr>
                                <a:rPr lang="zh-CN" altLang="en-US" sz="1200" i="1">
                                  <a:latin typeface="Cambria Math" panose="02040503050406030204" pitchFamily="18" charset="0"/>
                                </a:rPr>
                              </m:ctrlPr>
                            </m:fPr>
                            <m:num>
                              <m:r>
                                <a:rPr lang="zh-CN" altLang="en-US" sz="1200" i="1">
                                  <a:latin typeface="Cambria Math" panose="02040503050406030204" pitchFamily="18" charset="0"/>
                                </a:rPr>
                                <m:t>𝜃</m:t>
                              </m:r>
                            </m:num>
                            <m:den>
                              <m:r>
                                <a:rPr lang="zh-CN" altLang="en-US" sz="1200" i="0">
                                  <a:latin typeface="Cambria Math" panose="02040503050406030204" pitchFamily="18" charset="0"/>
                                </a:rPr>
                                <m:t>2</m:t>
                              </m:r>
                            </m:den>
                          </m:f>
                        </m:e>
                      </m:func>
                      <m:r>
                        <a:rPr lang="zh-CN" altLang="en-US" sz="1200" i="0">
                          <a:latin typeface="Cambria Math" panose="02040503050406030204" pitchFamily="18" charset="0"/>
                        </a:rPr>
                        <m:t>) </m:t>
                      </m:r>
                    </m:oMath>
                  </m:oMathPara>
                </a14:m>
                <a:endParaRPr lang="zh-CN" altLang="en-US" sz="1200" dirty="0"/>
              </a:p>
            </p:txBody>
          </p:sp>
        </mc:Choice>
        <mc:Fallback xmlns="">
          <p:sp>
            <p:nvSpPr>
              <p:cNvPr id="26" name="矩形 25"/>
              <p:cNvSpPr>
                <a:spLocks noRot="1" noChangeAspect="1" noMove="1" noResize="1" noEditPoints="1" noAdjustHandles="1" noChangeArrowheads="1" noChangeShapeType="1" noTextEdit="1"/>
              </p:cNvSpPr>
              <p:nvPr/>
            </p:nvSpPr>
            <p:spPr>
              <a:xfrm>
                <a:off x="3084511" y="4468896"/>
                <a:ext cx="3126353" cy="439608"/>
              </a:xfrm>
              <a:prstGeom prst="rect">
                <a:avLst/>
              </a:prstGeom>
              <a:blipFill rotWithShape="1">
                <a:blip r:embed="rId12"/>
                <a:stretch>
                  <a:fillRect l="-10" t="-91" r="18" b="134"/>
                </a:stretch>
              </a:blipFill>
            </p:spPr>
            <p:txBody>
              <a:bodyPr/>
              <a:lstStyle/>
              <a:p>
                <a:r>
                  <a:rPr lang="zh-CN" altLang="en-US">
                    <a:noFill/>
                  </a:rPr>
                  <a:t> </a:t>
                </a:r>
              </a:p>
            </p:txBody>
          </p:sp>
        </mc:Fallback>
      </mc:AlternateContent>
      <p:pic>
        <p:nvPicPr>
          <p:cNvPr id="27" name="图片 26"/>
          <p:cNvPicPr>
            <a:picLocks noChangeAspect="1"/>
          </p:cNvPicPr>
          <p:nvPr/>
        </p:nvPicPr>
        <p:blipFill>
          <a:blip r:embed="rId13"/>
          <a:stretch>
            <a:fillRect/>
          </a:stretch>
        </p:blipFill>
        <p:spPr>
          <a:xfrm>
            <a:off x="6145065" y="4313833"/>
            <a:ext cx="2998935" cy="749734"/>
          </a:xfrm>
          <a:prstGeom prst="rect">
            <a:avLst/>
          </a:prstGeom>
        </p:spPr>
      </p:pic>
      <p:sp>
        <p:nvSpPr>
          <p:cNvPr id="28" name="圆角矩形 27"/>
          <p:cNvSpPr/>
          <p:nvPr/>
        </p:nvSpPr>
        <p:spPr>
          <a:xfrm>
            <a:off x="3203848" y="4313833"/>
            <a:ext cx="5940152" cy="749734"/>
          </a:xfrm>
          <a:prstGeom prst="roundRect">
            <a:avLst/>
          </a:prstGeom>
          <a:noFill/>
          <a:ln>
            <a:solidFill>
              <a:srgbClr val="00A1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grpSp>
        <p:nvGrpSpPr>
          <p:cNvPr id="29" name="组合 28"/>
          <p:cNvGrpSpPr/>
          <p:nvPr/>
        </p:nvGrpSpPr>
        <p:grpSpPr>
          <a:xfrm>
            <a:off x="-236220" y="219075"/>
            <a:ext cx="5153660" cy="598805"/>
            <a:chOff x="-372" y="345"/>
            <a:chExt cx="8116" cy="943"/>
          </a:xfrm>
        </p:grpSpPr>
        <p:sp>
          <p:nvSpPr>
            <p:cNvPr id="30" name="矩形 29"/>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31" name="文本框 30"/>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32" name="椭圆 3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755576" y="1253391"/>
            <a:ext cx="7561435" cy="3419216"/>
            <a:chOff x="281305" y="595630"/>
            <a:chExt cx="8827794" cy="4459466"/>
          </a:xfrm>
        </p:grpSpPr>
        <p:pic>
          <p:nvPicPr>
            <p:cNvPr id="25" name="图片 24"/>
            <p:cNvPicPr>
              <a:picLocks noChangeAspect="1"/>
            </p:cNvPicPr>
            <p:nvPr/>
          </p:nvPicPr>
          <p:blipFill>
            <a:blip r:embed="rId3"/>
            <a:stretch>
              <a:fillRect/>
            </a:stretch>
          </p:blipFill>
          <p:spPr>
            <a:xfrm>
              <a:off x="310607" y="2984234"/>
              <a:ext cx="3990147" cy="1969728"/>
            </a:xfrm>
            <a:prstGeom prst="rect">
              <a:avLst/>
            </a:prstGeom>
          </p:spPr>
        </p:pic>
        <p:pic>
          <p:nvPicPr>
            <p:cNvPr id="22" name="图片 21"/>
            <p:cNvPicPr>
              <a:picLocks noChangeAspect="1"/>
            </p:cNvPicPr>
            <p:nvPr/>
          </p:nvPicPr>
          <p:blipFill>
            <a:blip r:embed="rId4"/>
            <a:stretch>
              <a:fillRect/>
            </a:stretch>
          </p:blipFill>
          <p:spPr>
            <a:xfrm>
              <a:off x="281305" y="916506"/>
              <a:ext cx="4611913" cy="2067728"/>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6377" y="595630"/>
              <a:ext cx="4057650" cy="3419475"/>
            </a:xfrm>
            <a:prstGeom prst="rect">
              <a:avLst/>
            </a:prstGeom>
          </p:spPr>
        </p:pic>
        <p:pic>
          <p:nvPicPr>
            <p:cNvPr id="1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13299" y="843558"/>
              <a:ext cx="4495800" cy="2600325"/>
            </a:xfrm>
            <a:prstGeom prst="rect">
              <a:avLst/>
            </a:prstGeom>
          </p:spPr>
        </p:pic>
        <p:pic>
          <p:nvPicPr>
            <p:cNvPr id="21" name="图片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07001" y="3435846"/>
              <a:ext cx="4495800" cy="1619250"/>
            </a:xfrm>
            <a:prstGeom prst="rect">
              <a:avLst/>
            </a:prstGeom>
          </p:spPr>
        </p:pic>
      </p:grpSp>
      <p:sp>
        <p:nvSpPr>
          <p:cNvPr id="30" name="文本框 29"/>
          <p:cNvSpPr txBox="1"/>
          <p:nvPr/>
        </p:nvSpPr>
        <p:spPr>
          <a:xfrm>
            <a:off x="3439068" y="648217"/>
            <a:ext cx="1733167" cy="400110"/>
          </a:xfrm>
          <a:prstGeom prst="rect">
            <a:avLst/>
          </a:prstGeom>
          <a:noFill/>
        </p:spPr>
        <p:txBody>
          <a:bodyPr wrap="none" rtlCol="0">
            <a:spAutoFit/>
          </a:bodyPr>
          <a:lstStyle/>
          <a:p>
            <a:r>
              <a:rPr lang="zh-CN" altLang="en-US" sz="2000" b="1" dirty="0" smtClean="0">
                <a:solidFill>
                  <a:srgbClr val="002060"/>
                </a:solidFill>
              </a:rPr>
              <a:t>编程实例测试</a:t>
            </a:r>
            <a:endParaRPr lang="zh-CN" altLang="en-US" sz="2000" b="1" dirty="0">
              <a:solidFill>
                <a:srgbClr val="002060"/>
              </a:solidFill>
            </a:endParaRPr>
          </a:p>
        </p:txBody>
      </p:sp>
      <p:sp>
        <p:nvSpPr>
          <p:cNvPr id="31" name="文本框 30"/>
          <p:cNvSpPr txBox="1"/>
          <p:nvPr/>
        </p:nvSpPr>
        <p:spPr>
          <a:xfrm>
            <a:off x="5348189" y="696679"/>
            <a:ext cx="3277742" cy="461665"/>
          </a:xfrm>
          <a:prstGeom prst="rect">
            <a:avLst/>
          </a:prstGeom>
          <a:noFill/>
        </p:spPr>
        <p:txBody>
          <a:bodyPr wrap="square" rtlCol="0">
            <a:spAutoFit/>
          </a:bodyPr>
          <a:lstStyle/>
          <a:p>
            <a:r>
              <a:rPr lang="zh-CN" altLang="en-US" sz="1200" dirty="0" smtClean="0">
                <a:solidFill>
                  <a:srgbClr val="002060"/>
                </a:solidFill>
              </a:rPr>
              <a:t>相互之间的转换函数可以通过方向余弦矩阵采用齐次变换进行转换，课后请编写代码测试。</a:t>
            </a:r>
            <a:endParaRPr lang="zh-CN" altLang="en-US" sz="1200" dirty="0">
              <a:solidFill>
                <a:srgbClr val="002060"/>
              </a:solidFill>
            </a:endParaRPr>
          </a:p>
        </p:txBody>
      </p:sp>
      <p:sp>
        <p:nvSpPr>
          <p:cNvPr id="14" name="矩形 13"/>
          <p:cNvSpPr/>
          <p:nvPr/>
        </p:nvSpPr>
        <p:spPr>
          <a:xfrm>
            <a:off x="7091326" y="293171"/>
            <a:ext cx="1569660" cy="369332"/>
          </a:xfrm>
          <a:prstGeom prst="rect">
            <a:avLst/>
          </a:prstGeom>
        </p:spPr>
        <p:txBody>
          <a:bodyPr wrap="none">
            <a:spAutoFit/>
          </a:bodyPr>
          <a:lstStyle/>
          <a:p>
            <a:r>
              <a:rPr lang="zh-CN" altLang="en-US" b="1" dirty="0">
                <a:solidFill>
                  <a:srgbClr val="002060"/>
                </a:solidFill>
                <a:latin typeface="Arial" panose="020B0604020202020204" pitchFamily="34" charset="0"/>
                <a:ea typeface="微软雅黑" panose="020B0503020204020204" charset="-122"/>
                <a:sym typeface="+mn-ea"/>
              </a:rPr>
              <a:t>姿态表示方法</a:t>
            </a:r>
            <a:endParaRPr lang="zh-CN" altLang="en-US" dirty="0"/>
          </a:p>
        </p:txBody>
      </p:sp>
      <p:grpSp>
        <p:nvGrpSpPr>
          <p:cNvPr id="15" name="组合 14"/>
          <p:cNvGrpSpPr/>
          <p:nvPr/>
        </p:nvGrpSpPr>
        <p:grpSpPr>
          <a:xfrm>
            <a:off x="-236220" y="219075"/>
            <a:ext cx="5153660" cy="598805"/>
            <a:chOff x="-372" y="345"/>
            <a:chExt cx="8116" cy="943"/>
          </a:xfrm>
        </p:grpSpPr>
        <p:sp>
          <p:nvSpPr>
            <p:cNvPr id="16" name="矩形 15"/>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Configuration of Robot</a:t>
              </a:r>
              <a:endParaRPr lang="en-US" altLang="zh-CN" sz="1000" dirty="0">
                <a:latin typeface="Arial" panose="020B0604020202020204" pitchFamily="34" charset="0"/>
                <a:ea typeface="微软雅黑" panose="020B0503020204020204" charset="-122"/>
                <a:sym typeface="+mn-ea"/>
              </a:endParaRPr>
            </a:p>
          </p:txBody>
        </p:sp>
        <p:sp>
          <p:nvSpPr>
            <p:cNvPr id="17" name="文本框 16"/>
            <p:cNvSpPr txBox="1"/>
            <p:nvPr/>
          </p:nvSpPr>
          <p:spPr>
            <a:xfrm>
              <a:off x="443" y="363"/>
              <a:ext cx="7301" cy="628"/>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a:t>
              </a:r>
              <a:r>
                <a:rPr lang="zh-CN" altLang="en-US" sz="2000" b="1" dirty="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8" name="椭圆 17"/>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884992" y="4808817"/>
            <a:ext cx="8064896" cy="276999"/>
          </a:xfrm>
          <a:prstGeom prst="rect">
            <a:avLst/>
          </a:prstGeom>
        </p:spPr>
        <p:txBody>
          <a:bodyPr wrap="square">
            <a:spAutoFit/>
          </a:bodyPr>
          <a:lstStyle/>
          <a:p>
            <a:r>
              <a:rPr lang="zh-CN" altLang="en-US" sz="1200" dirty="0" smtClean="0"/>
              <a:t>参考代码：</a:t>
            </a:r>
            <a:r>
              <a:rPr lang="zh-CN" altLang="en-US" sz="1200" dirty="0" smtClean="0">
                <a:solidFill>
                  <a:srgbClr val="0070C0"/>
                </a:solidFill>
              </a:rPr>
              <a:t>https</a:t>
            </a:r>
            <a:r>
              <a:rPr lang="zh-CN" altLang="en-US" sz="1200" dirty="0">
                <a:solidFill>
                  <a:srgbClr val="0070C0"/>
                </a:solidFill>
              </a:rPr>
              <a:t>://github.com/mhuasong/Basics-of-Robotics-Theory-and-Technology/tree/main/ch2</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6220" y="219075"/>
            <a:ext cx="5153660" cy="627380"/>
            <a:chOff x="-372" y="345"/>
            <a:chExt cx="8116" cy="988"/>
          </a:xfrm>
        </p:grpSpPr>
        <p:sp>
          <p:nvSpPr>
            <p:cNvPr id="5" name="矩形 4"/>
            <p:cNvSpPr/>
            <p:nvPr/>
          </p:nvSpPr>
          <p:spPr>
            <a:xfrm>
              <a:off x="443" y="824"/>
              <a:ext cx="6313" cy="509"/>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Configure of </a:t>
              </a:r>
              <a:r>
                <a:rPr lang="en-US" altLang="zh-CN" sz="1000" dirty="0" smtClean="0">
                  <a:latin typeface="Arial" panose="020B0604020202020204" pitchFamily="34" charset="0"/>
                  <a:ea typeface="微软雅黑" panose="020B0503020204020204" charset="-122"/>
                  <a:sym typeface="+mn-ea"/>
                </a:rPr>
                <a:t>Robot</a:t>
              </a:r>
              <a:endParaRPr lang="en-US" altLang="zh-CN" sz="1000" dirty="0">
                <a:latin typeface="Arial" panose="020B0604020202020204" pitchFamily="34" charset="0"/>
                <a:ea typeface="微软雅黑" panose="020B0503020204020204" charset="-122"/>
                <a:sym typeface="+mn-ea"/>
              </a:endParaRPr>
            </a:p>
          </p:txBody>
        </p:sp>
        <p:sp>
          <p:nvSpPr>
            <p:cNvPr id="6" name="文本框 5"/>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7" name="椭圆 6"/>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8" name="对象 7"/>
          <p:cNvGraphicFramePr>
            <a:graphicFrameLocks noChangeAspect="1"/>
          </p:cNvGraphicFramePr>
          <p:nvPr/>
        </p:nvGraphicFramePr>
        <p:xfrm>
          <a:off x="611560" y="1461492"/>
          <a:ext cx="4476750" cy="2838450"/>
        </p:xfrm>
        <a:graphic>
          <a:graphicData uri="http://schemas.openxmlformats.org/presentationml/2006/ole">
            <mc:AlternateContent xmlns:mc="http://schemas.openxmlformats.org/markup-compatibility/2006">
              <mc:Choice xmlns:v="urn:schemas-microsoft-com:vml" Requires="v">
                <p:oleObj spid="_x0000_s32804" name="Visio" r:id="rId4" imgW="11074400" imgH="6959600" progId="Visio.Drawing.11">
                  <p:embed/>
                </p:oleObj>
              </mc:Choice>
              <mc:Fallback>
                <p:oleObj name="Visio" r:id="rId4" imgW="11074400" imgH="6959600" progId="Visio.Drawing.11">
                  <p:embed/>
                  <p:pic>
                    <p:nvPicPr>
                      <p:cNvPr id="0"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0" y="1461492"/>
                        <a:ext cx="4476750" cy="283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nvGraphicFramePr>
        <p:xfrm>
          <a:off x="5364088" y="1461492"/>
          <a:ext cx="3200400" cy="2647950"/>
        </p:xfrm>
        <a:graphic>
          <a:graphicData uri="http://schemas.openxmlformats.org/presentationml/2006/ole">
            <mc:AlternateContent xmlns:mc="http://schemas.openxmlformats.org/markup-compatibility/2006">
              <mc:Choice xmlns:v="urn:schemas-microsoft-com:vml" Requires="v">
                <p:oleObj spid="_x0000_s32805" name="Visio" r:id="rId6" imgW="5753100" imgH="4787900" progId="Visio.Drawing.11">
                  <p:embed/>
                </p:oleObj>
              </mc:Choice>
              <mc:Fallback>
                <p:oleObj name="Visio" r:id="rId6" imgW="5753100" imgH="4787900" progId="Visio.Drawing.11">
                  <p:embed/>
                  <p:pic>
                    <p:nvPicPr>
                      <p:cNvPr id="0" name="对象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4088" y="1461492"/>
                        <a:ext cx="3200400" cy="2647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矩形 1"/>
          <p:cNvSpPr/>
          <p:nvPr/>
        </p:nvSpPr>
        <p:spPr>
          <a:xfrm>
            <a:off x="3611332" y="623191"/>
            <a:ext cx="1800493" cy="369332"/>
          </a:xfrm>
          <a:prstGeom prst="rect">
            <a:avLst/>
          </a:prstGeom>
        </p:spPr>
        <p:txBody>
          <a:bodyPr wrap="none">
            <a:spAutoFit/>
          </a:bodyPr>
          <a:lstStyle/>
          <a:p>
            <a:r>
              <a:rPr lang="zh-CN" altLang="en-US" b="1" dirty="0">
                <a:latin typeface="Arial" panose="020B0604020202020204" pitchFamily="34" charset="0"/>
                <a:ea typeface="微软雅黑" panose="020B0503020204020204" charset="-122"/>
                <a:sym typeface="+mn-ea"/>
              </a:rPr>
              <a:t>位形及位形空间</a:t>
            </a:r>
          </a:p>
        </p:txBody>
      </p:sp>
      <p:sp>
        <p:nvSpPr>
          <p:cNvPr id="3" name="矩形 2"/>
          <p:cNvSpPr/>
          <p:nvPr/>
        </p:nvSpPr>
        <p:spPr>
          <a:xfrm>
            <a:off x="2837882" y="841835"/>
            <a:ext cx="3531736" cy="507831"/>
          </a:xfrm>
          <a:prstGeom prst="rect">
            <a:avLst/>
          </a:prstGeom>
        </p:spPr>
        <p:txBody>
          <a:bodyPr wrap="none">
            <a:spAutoFit/>
          </a:bodyPr>
          <a:lstStyle/>
          <a:p>
            <a:pPr>
              <a:lnSpc>
                <a:spcPct val="150000"/>
              </a:lnSpc>
            </a:pPr>
            <a:r>
              <a:rPr lang="en-US" altLang="zh-CN" dirty="0">
                <a:latin typeface="Arial" panose="020B0604020202020204" pitchFamily="34" charset="0"/>
                <a:ea typeface="微软雅黑" panose="020B0503020204020204" charset="-122"/>
                <a:sym typeface="+mn-ea"/>
              </a:rPr>
              <a:t>Configure of Robot and C-Space</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506184" y="1305280"/>
            <a:ext cx="2143100" cy="1543050"/>
            <a:chOff x="1043608" y="1358811"/>
            <a:chExt cx="2143100" cy="1543050"/>
          </a:xfrm>
        </p:grpSpPr>
        <p:pic>
          <p:nvPicPr>
            <p:cNvPr id="3" name="图片 2"/>
            <p:cNvPicPr>
              <a:picLocks noChangeAspect="1"/>
            </p:cNvPicPr>
            <p:nvPr/>
          </p:nvPicPr>
          <p:blipFill>
            <a:blip r:embed="rId3"/>
            <a:stretch>
              <a:fillRect/>
            </a:stretch>
          </p:blipFill>
          <p:spPr>
            <a:xfrm>
              <a:off x="1043608" y="1549311"/>
              <a:ext cx="857250" cy="1162050"/>
            </a:xfrm>
            <a:prstGeom prst="rect">
              <a:avLst/>
            </a:prstGeom>
          </p:spPr>
        </p:pic>
        <p:pic>
          <p:nvPicPr>
            <p:cNvPr id="9" name="图片 8"/>
            <p:cNvPicPr>
              <a:picLocks noChangeAspect="1"/>
            </p:cNvPicPr>
            <p:nvPr/>
          </p:nvPicPr>
          <p:blipFill>
            <a:blip r:embed="rId4"/>
            <a:stretch>
              <a:fillRect/>
            </a:stretch>
          </p:blipFill>
          <p:spPr>
            <a:xfrm>
              <a:off x="2843808" y="1358811"/>
              <a:ext cx="342900" cy="1543050"/>
            </a:xfrm>
            <a:prstGeom prst="rect">
              <a:avLst/>
            </a:prstGeom>
          </p:spPr>
        </p:pic>
        <p:sp>
          <p:nvSpPr>
            <p:cNvPr id="10" name="右箭头 9"/>
            <p:cNvSpPr/>
            <p:nvPr/>
          </p:nvSpPr>
          <p:spPr>
            <a:xfrm>
              <a:off x="2098507" y="1878308"/>
              <a:ext cx="547652"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971431" y="1318528"/>
            <a:ext cx="2460952" cy="1543050"/>
            <a:chOff x="5004048" y="1261279"/>
            <a:chExt cx="2460952" cy="1543050"/>
          </a:xfrm>
        </p:grpSpPr>
        <p:pic>
          <p:nvPicPr>
            <p:cNvPr id="13" name="图片 12"/>
            <p:cNvPicPr>
              <a:picLocks noChangeAspect="1"/>
            </p:cNvPicPr>
            <p:nvPr/>
          </p:nvPicPr>
          <p:blipFill>
            <a:blip r:embed="rId3"/>
            <a:stretch>
              <a:fillRect/>
            </a:stretch>
          </p:blipFill>
          <p:spPr>
            <a:xfrm>
              <a:off x="6607750" y="1451779"/>
              <a:ext cx="857250" cy="1162050"/>
            </a:xfrm>
            <a:prstGeom prst="rect">
              <a:avLst/>
            </a:prstGeom>
          </p:spPr>
        </p:pic>
        <p:pic>
          <p:nvPicPr>
            <p:cNvPr id="14" name="图片 13"/>
            <p:cNvPicPr>
              <a:picLocks noChangeAspect="1"/>
            </p:cNvPicPr>
            <p:nvPr/>
          </p:nvPicPr>
          <p:blipFill>
            <a:blip r:embed="rId4"/>
            <a:stretch>
              <a:fillRect/>
            </a:stretch>
          </p:blipFill>
          <p:spPr>
            <a:xfrm>
              <a:off x="5004048" y="1261279"/>
              <a:ext cx="342900" cy="1543050"/>
            </a:xfrm>
            <a:prstGeom prst="rect">
              <a:avLst/>
            </a:prstGeom>
          </p:spPr>
        </p:pic>
        <p:sp>
          <p:nvSpPr>
            <p:cNvPr id="15" name="右箭头 14"/>
            <p:cNvSpPr/>
            <p:nvPr/>
          </p:nvSpPr>
          <p:spPr>
            <a:xfrm>
              <a:off x="5716047" y="1780776"/>
              <a:ext cx="547652" cy="5040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p:nvSpPr>
        <p:spPr>
          <a:xfrm>
            <a:off x="1901745" y="977686"/>
            <a:ext cx="697627" cy="400110"/>
          </a:xfrm>
          <a:prstGeom prst="rect">
            <a:avLst/>
          </a:prstGeom>
        </p:spPr>
        <p:txBody>
          <a:bodyPr wrap="none">
            <a:spAutoFit/>
          </a:bodyPr>
          <a:lstStyle/>
          <a:p>
            <a:r>
              <a:rPr lang="zh-CN" altLang="en-US" sz="2000" dirty="0">
                <a:solidFill>
                  <a:srgbClr val="0070C0"/>
                </a:solidFill>
              </a:rPr>
              <a:t>正解</a:t>
            </a:r>
          </a:p>
        </p:txBody>
      </p:sp>
      <p:sp>
        <p:nvSpPr>
          <p:cNvPr id="16" name="矩形 15"/>
          <p:cNvSpPr/>
          <p:nvPr/>
        </p:nvSpPr>
        <p:spPr>
          <a:xfrm>
            <a:off x="6418176" y="1011493"/>
            <a:ext cx="697627" cy="400110"/>
          </a:xfrm>
          <a:prstGeom prst="rect">
            <a:avLst/>
          </a:prstGeom>
        </p:spPr>
        <p:txBody>
          <a:bodyPr wrap="none">
            <a:spAutoFit/>
          </a:bodyPr>
          <a:lstStyle/>
          <a:p>
            <a:r>
              <a:rPr lang="zh-CN" altLang="en-US" sz="2000" dirty="0">
                <a:solidFill>
                  <a:srgbClr val="0070C0"/>
                </a:solidFill>
              </a:rPr>
              <a:t>逆解</a:t>
            </a:r>
          </a:p>
        </p:txBody>
      </p:sp>
      <p:pic>
        <p:nvPicPr>
          <p:cNvPr id="23554" name="Picture 2" descr="机器人运动规划中的C space怎样理解？为什么不直接在笛卡尔坐标系下运算呢？ - 知乎"/>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65797" y="3077040"/>
            <a:ext cx="3867150" cy="170497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7" name="矩形 16"/>
              <p:cNvSpPr/>
              <p:nvPr/>
            </p:nvSpPr>
            <p:spPr>
              <a:xfrm>
                <a:off x="3347864" y="4740485"/>
                <a:ext cx="2809359" cy="3915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𝑓𝑟𝑒𝑒</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𝑠𝑝𝑎𝑐𝑒</m:t>
                          </m:r>
                        </m:sub>
                      </m:sSub>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𝐶</m:t>
                          </m:r>
                        </m:e>
                        <m:sub>
                          <m:r>
                            <a:rPr lang="zh-CN" altLang="en-US" i="1">
                              <a:latin typeface="Cambria Math" panose="02040503050406030204" pitchFamily="18" charset="0"/>
                            </a:rPr>
                            <m:t>𝑜𝑏𝑠𝑡𝑎𝑐𝑙𝑒</m:t>
                          </m:r>
                        </m:sub>
                      </m:sSub>
                      <m:r>
                        <a:rPr lang="zh-CN" altLang="en-US" i="0">
                          <a:latin typeface="Cambria Math" panose="02040503050406030204" pitchFamily="18" charset="0"/>
                        </a:rPr>
                        <m:t> </m:t>
                      </m:r>
                    </m:oMath>
                  </m:oMathPara>
                </a14:m>
                <a:endParaRPr lang="zh-CN" altLang="en-US" dirty="0"/>
              </a:p>
            </p:txBody>
          </p:sp>
        </mc:Choice>
        <mc:Fallback xmlns="">
          <p:sp>
            <p:nvSpPr>
              <p:cNvPr id="17" name="矩形 16"/>
              <p:cNvSpPr>
                <a:spLocks noRot="1" noChangeAspect="1" noMove="1" noResize="1" noEditPoints="1" noAdjustHandles="1" noChangeArrowheads="1" noChangeShapeType="1" noTextEdit="1"/>
              </p:cNvSpPr>
              <p:nvPr/>
            </p:nvSpPr>
            <p:spPr>
              <a:xfrm>
                <a:off x="3347864" y="4740485"/>
                <a:ext cx="2809359" cy="391582"/>
              </a:xfrm>
              <a:prstGeom prst="rect">
                <a:avLst/>
              </a:prstGeom>
              <a:blipFill rotWithShape="1">
                <a:blip r:embed="rId6"/>
                <a:stretch>
                  <a:fillRect l="-5" t="-54" r="9" b="161"/>
                </a:stretch>
              </a:blipFill>
            </p:spPr>
            <p:txBody>
              <a:bodyPr/>
              <a:lstStyle/>
              <a:p>
                <a:r>
                  <a:rPr lang="zh-CN" altLang="en-US">
                    <a:noFill/>
                  </a:rPr>
                  <a:t> </a:t>
                </a:r>
              </a:p>
            </p:txBody>
          </p:sp>
        </mc:Fallback>
      </mc:AlternateContent>
      <p:pic>
        <p:nvPicPr>
          <p:cNvPr id="23556" name="Picture 4" descr="机器人运动规划中的C space怎样理解？为什么不直接在笛卡尔坐标系下运算呢？ - 知乎"/>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519018" y="3059081"/>
            <a:ext cx="1958816" cy="1661153"/>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组合 18"/>
          <p:cNvGrpSpPr/>
          <p:nvPr/>
        </p:nvGrpSpPr>
        <p:grpSpPr>
          <a:xfrm>
            <a:off x="-236220" y="219075"/>
            <a:ext cx="5153660" cy="627380"/>
            <a:chOff x="-372" y="345"/>
            <a:chExt cx="8116" cy="988"/>
          </a:xfrm>
        </p:grpSpPr>
        <p:sp>
          <p:nvSpPr>
            <p:cNvPr id="20" name="矩形 19"/>
            <p:cNvSpPr/>
            <p:nvPr/>
          </p:nvSpPr>
          <p:spPr>
            <a:xfrm>
              <a:off x="443" y="824"/>
              <a:ext cx="6313" cy="509"/>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Configure of </a:t>
              </a:r>
              <a:r>
                <a:rPr lang="en-US" altLang="zh-CN" sz="1000" dirty="0" smtClean="0">
                  <a:latin typeface="Arial" panose="020B0604020202020204" pitchFamily="34" charset="0"/>
                  <a:ea typeface="微软雅黑" panose="020B0503020204020204" charset="-122"/>
                  <a:sym typeface="+mn-ea"/>
                </a:rPr>
                <a:t>Robot</a:t>
              </a:r>
              <a:endParaRPr lang="en-US" altLang="zh-CN" sz="1000" dirty="0">
                <a:latin typeface="Arial" panose="020B0604020202020204" pitchFamily="34" charset="0"/>
                <a:ea typeface="微软雅黑" panose="020B0503020204020204" charset="-122"/>
                <a:sym typeface="+mn-ea"/>
              </a:endParaRPr>
            </a:p>
          </p:txBody>
        </p:sp>
        <p:sp>
          <p:nvSpPr>
            <p:cNvPr id="21" name="文本框 20"/>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22" name="椭圆 21"/>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矩形 22"/>
          <p:cNvSpPr/>
          <p:nvPr/>
        </p:nvSpPr>
        <p:spPr>
          <a:xfrm>
            <a:off x="3611332" y="623191"/>
            <a:ext cx="1800493" cy="369332"/>
          </a:xfrm>
          <a:prstGeom prst="rect">
            <a:avLst/>
          </a:prstGeom>
        </p:spPr>
        <p:txBody>
          <a:bodyPr wrap="none">
            <a:spAutoFit/>
          </a:bodyPr>
          <a:lstStyle/>
          <a:p>
            <a:r>
              <a:rPr lang="zh-CN" altLang="en-US" b="1" dirty="0">
                <a:latin typeface="Arial" panose="020B0604020202020204" pitchFamily="34" charset="0"/>
                <a:ea typeface="微软雅黑" panose="020B0503020204020204" charset="-122"/>
                <a:sym typeface="+mn-ea"/>
              </a:rPr>
              <a:t>位形及位形空间</a:t>
            </a:r>
          </a:p>
        </p:txBody>
      </p:sp>
      <p:sp>
        <p:nvSpPr>
          <p:cNvPr id="24" name="矩形 23"/>
          <p:cNvSpPr/>
          <p:nvPr/>
        </p:nvSpPr>
        <p:spPr>
          <a:xfrm>
            <a:off x="2837882" y="841835"/>
            <a:ext cx="3531736" cy="507831"/>
          </a:xfrm>
          <a:prstGeom prst="rect">
            <a:avLst/>
          </a:prstGeom>
        </p:spPr>
        <p:txBody>
          <a:bodyPr wrap="none">
            <a:spAutoFit/>
          </a:bodyPr>
          <a:lstStyle/>
          <a:p>
            <a:pPr>
              <a:lnSpc>
                <a:spcPct val="150000"/>
              </a:lnSpc>
            </a:pPr>
            <a:r>
              <a:rPr lang="en-US" altLang="zh-CN" dirty="0">
                <a:latin typeface="Arial" panose="020B0604020202020204" pitchFamily="34" charset="0"/>
                <a:ea typeface="微软雅黑" panose="020B0503020204020204" charset="-122"/>
                <a:sym typeface="+mn-ea"/>
              </a:rPr>
              <a:t>Configure of Robot and C-Space</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187624" y="902903"/>
            <a:ext cx="4032448" cy="4061046"/>
          </a:xfrm>
          <a:prstGeom prst="rect">
            <a:avLst/>
          </a:prstGeom>
        </p:spPr>
      </p:pic>
      <p:sp>
        <p:nvSpPr>
          <p:cNvPr id="7" name="矩形 6"/>
          <p:cNvSpPr/>
          <p:nvPr/>
        </p:nvSpPr>
        <p:spPr>
          <a:xfrm>
            <a:off x="5220072" y="1851670"/>
            <a:ext cx="3312368" cy="1477328"/>
          </a:xfrm>
          <a:prstGeom prst="rect">
            <a:avLst/>
          </a:prstGeom>
        </p:spPr>
        <p:txBody>
          <a:bodyPr wrap="square">
            <a:spAutoFit/>
          </a:bodyPr>
          <a:lstStyle/>
          <a:p>
            <a:pPr marL="285750" indent="-285750">
              <a:buFont typeface="Wingdings" panose="05000000000000000000" pitchFamily="2" charset="2"/>
              <a:buChar char="Ø"/>
            </a:pPr>
            <a:r>
              <a:rPr lang="zh-CN" altLang="en-US" dirty="0"/>
              <a:t>Holonomic constraint</a:t>
            </a:r>
          </a:p>
          <a:p>
            <a:pPr marL="742950" lvl="1" indent="-285750">
              <a:buFont typeface="Wingdings" panose="05000000000000000000" pitchFamily="2" charset="2"/>
              <a:buChar char="Ø"/>
            </a:pPr>
            <a:r>
              <a:rPr lang="zh-CN" altLang="en-US" dirty="0"/>
              <a:t>Pfaffian约束</a:t>
            </a:r>
          </a:p>
          <a:p>
            <a:pPr marL="742950" lvl="1" indent="-285750">
              <a:buFont typeface="Wingdings" panose="05000000000000000000" pitchFamily="2" charset="2"/>
              <a:buChar char="Ø"/>
            </a:pPr>
            <a:r>
              <a:rPr lang="zh-CN" altLang="en-US" dirty="0"/>
              <a:t>可积约束(Integrable constraint)</a:t>
            </a:r>
          </a:p>
          <a:p>
            <a:pPr marL="285750" indent="-285750">
              <a:buFont typeface="Wingdings" panose="05000000000000000000" pitchFamily="2" charset="2"/>
              <a:buChar char="Ø"/>
            </a:pPr>
            <a:r>
              <a:rPr lang="en-US" altLang="zh-CN" dirty="0" smtClean="0"/>
              <a:t>N</a:t>
            </a:r>
            <a:r>
              <a:rPr lang="zh-CN" altLang="en-US" dirty="0" smtClean="0"/>
              <a:t>on</a:t>
            </a:r>
            <a:r>
              <a:rPr lang="en-US" altLang="zh-CN" dirty="0" smtClean="0"/>
              <a:t>h</a:t>
            </a:r>
            <a:r>
              <a:rPr lang="zh-CN" altLang="en-US" dirty="0" smtClean="0"/>
              <a:t>olonomic </a:t>
            </a:r>
            <a:r>
              <a:rPr lang="zh-CN" altLang="en-US" dirty="0"/>
              <a:t>constraint</a:t>
            </a:r>
          </a:p>
        </p:txBody>
      </p:sp>
      <p:grpSp>
        <p:nvGrpSpPr>
          <p:cNvPr id="8" name="组合 7"/>
          <p:cNvGrpSpPr/>
          <p:nvPr/>
        </p:nvGrpSpPr>
        <p:grpSpPr>
          <a:xfrm>
            <a:off x="-236220" y="219075"/>
            <a:ext cx="5153660" cy="627380"/>
            <a:chOff x="-372" y="345"/>
            <a:chExt cx="8116" cy="988"/>
          </a:xfrm>
        </p:grpSpPr>
        <p:sp>
          <p:nvSpPr>
            <p:cNvPr id="9" name="矩形 8"/>
            <p:cNvSpPr/>
            <p:nvPr/>
          </p:nvSpPr>
          <p:spPr>
            <a:xfrm>
              <a:off x="443" y="824"/>
              <a:ext cx="6313" cy="509"/>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Configure of </a:t>
              </a:r>
              <a:r>
                <a:rPr lang="en-US" altLang="zh-CN" sz="1000" dirty="0" smtClean="0">
                  <a:latin typeface="Arial" panose="020B0604020202020204" pitchFamily="34" charset="0"/>
                  <a:ea typeface="微软雅黑" panose="020B0503020204020204" charset="-122"/>
                  <a:sym typeface="+mn-ea"/>
                </a:rPr>
                <a:t>Robot</a:t>
              </a:r>
              <a:endParaRPr lang="en-US" altLang="zh-CN" sz="1000" dirty="0">
                <a:latin typeface="Arial" panose="020B0604020202020204" pitchFamily="34" charset="0"/>
                <a:ea typeface="微软雅黑" panose="020B0503020204020204" charset="-122"/>
                <a:sym typeface="+mn-ea"/>
              </a:endParaRPr>
            </a:p>
          </p:txBody>
        </p:sp>
        <p:sp>
          <p:nvSpPr>
            <p:cNvPr id="10" name="文本框 9"/>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a:t>
              </a:r>
              <a:r>
                <a:rPr lang="zh-CN" altLang="en-US" sz="2000" b="1" dirty="0" smtClean="0">
                  <a:latin typeface="Arial" panose="020B0604020202020204" pitchFamily="34" charset="0"/>
                  <a:ea typeface="微软雅黑" panose="020B0503020204020204" charset="-122"/>
                  <a:sym typeface="+mn-ea"/>
                </a:rPr>
                <a:t>位形</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1" name="椭圆 10"/>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646331"/>
          </a:xfrm>
          <a:prstGeom prst="rect">
            <a:avLst/>
          </a:prstGeom>
        </p:spPr>
        <p:txBody>
          <a:bodyPr wrap="square">
            <a:spAutoFit/>
          </a:bodyPr>
          <a:lstStyle/>
          <a:p>
            <a:pPr>
              <a:lnSpc>
                <a:spcPct val="150000"/>
              </a:lnSpc>
            </a:pPr>
            <a:r>
              <a:rPr lang="zh-CN" altLang="en-US" sz="1200" dirty="0" smtClean="0">
                <a:latin typeface="Arial" panose="020B0604020202020204" pitchFamily="34" charset="0"/>
                <a:ea typeface="微软雅黑" panose="020B0503020204020204" charset="-122"/>
                <a:sym typeface="+mn-ea"/>
              </a:rPr>
              <a:t>了解机器人常用关节类型，针对</a:t>
            </a:r>
            <a:r>
              <a:rPr lang="zh-CN" altLang="en-US" sz="1200" dirty="0">
                <a:latin typeface="Arial" panose="020B0604020202020204" pitchFamily="34" charset="0"/>
                <a:ea typeface="微软雅黑" panose="020B0503020204020204" charset="-122"/>
                <a:sym typeface="+mn-ea"/>
              </a:rPr>
              <a:t>理论计算对机器人自由度进行分析。</a:t>
            </a:r>
          </a:p>
        </p:txBody>
      </p:sp>
      <p:sp>
        <p:nvSpPr>
          <p:cNvPr id="7" name="文本框 6"/>
          <p:cNvSpPr txBox="1"/>
          <p:nvPr/>
        </p:nvSpPr>
        <p:spPr>
          <a:xfrm>
            <a:off x="4319270" y="1757690"/>
            <a:ext cx="4213170"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机器人关节类型与自由度</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05</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051720" y="1457941"/>
            <a:ext cx="4934639" cy="2543530"/>
          </a:xfrm>
          <a:prstGeom prst="rect">
            <a:avLst/>
          </a:prstGeom>
        </p:spPr>
      </p:pic>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Type</a:t>
              </a:r>
              <a:r>
                <a:rPr lang="en-US" altLang="zh-CN" sz="1000" dirty="0" smtClean="0">
                  <a:latin typeface="Arial" panose="020B0604020202020204" pitchFamily="34" charset="0"/>
                  <a:ea typeface="微软雅黑" panose="020B0503020204020204" charset="-122"/>
                  <a:sym typeface="+mn-ea"/>
                </a:rPr>
                <a:t> </a:t>
              </a:r>
              <a:r>
                <a:rPr lang="en-US" altLang="zh-CN" sz="1000" dirty="0">
                  <a:latin typeface="Arial" panose="020B0604020202020204" pitchFamily="34" charset="0"/>
                  <a:ea typeface="微软雅黑" panose="020B0503020204020204" charset="-122"/>
                  <a:sym typeface="+mn-ea"/>
                </a:rPr>
                <a:t>of Robot J</a:t>
              </a:r>
              <a:r>
                <a:rPr lang="en-US" altLang="zh-CN" sz="1000" dirty="0" smtClean="0">
                  <a:latin typeface="Arial" panose="020B0604020202020204" pitchFamily="34" charset="0"/>
                  <a:ea typeface="微软雅黑" panose="020B0503020204020204" charset="-122"/>
                  <a:sym typeface="+mn-ea"/>
                </a:rPr>
                <a:t>oint and Freedom</a:t>
              </a:r>
              <a:endParaRPr lang="en-US" altLang="zh-CN" sz="1000" dirty="0">
                <a:latin typeface="Arial" panose="020B0604020202020204" pitchFamily="34" charset="0"/>
                <a:ea typeface="微软雅黑" panose="020B0503020204020204" charset="-122"/>
                <a:sym typeface="+mn-ea"/>
              </a:endParaRPr>
            </a:p>
          </p:txBody>
        </p:sp>
        <p:sp>
          <p:nvSpPr>
            <p:cNvPr id="5" name="文本框 4"/>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机器人关节类型与自由度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Rectangle 1027"/>
          <p:cNvSpPr>
            <a:spLocks noChangeArrowheads="1"/>
          </p:cNvSpPr>
          <p:nvPr/>
        </p:nvSpPr>
        <p:spPr bwMode="auto">
          <a:xfrm>
            <a:off x="2993916" y="843558"/>
            <a:ext cx="25922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000" dirty="0">
                <a:solidFill>
                  <a:schemeClr val="tx2"/>
                </a:solidFill>
                <a:latin typeface="Arial" panose="020B0604020202020204" pitchFamily="34" charset="0"/>
                <a:cs typeface="Arial" panose="020B0604020202020204" pitchFamily="34" charset="0"/>
              </a:rPr>
              <a:t>Types of Joints</a:t>
            </a:r>
            <a:endParaRPr lang="en-US" altLang="zh-CN" sz="2000" dirty="0"/>
          </a:p>
        </p:txBody>
      </p:sp>
      <p:sp>
        <p:nvSpPr>
          <p:cNvPr id="8" name="文本框 7"/>
          <p:cNvSpPr txBox="1"/>
          <p:nvPr/>
        </p:nvSpPr>
        <p:spPr>
          <a:xfrm>
            <a:off x="3505741" y="1551793"/>
            <a:ext cx="800219" cy="338554"/>
          </a:xfrm>
          <a:prstGeom prst="rect">
            <a:avLst/>
          </a:prstGeom>
          <a:noFill/>
        </p:spPr>
        <p:txBody>
          <a:bodyPr wrap="none" rtlCol="0">
            <a:spAutoFit/>
          </a:bodyPr>
          <a:lstStyle/>
          <a:p>
            <a:r>
              <a:rPr lang="zh-CN" altLang="en-US" sz="1600" dirty="0" smtClean="0">
                <a:solidFill>
                  <a:srgbClr val="002060"/>
                </a:solidFill>
              </a:rPr>
              <a:t>旋转副</a:t>
            </a:r>
            <a:endParaRPr lang="zh-CN" altLang="en-US" sz="1600" dirty="0">
              <a:solidFill>
                <a:srgbClr val="002060"/>
              </a:solidFill>
            </a:endParaRPr>
          </a:p>
        </p:txBody>
      </p:sp>
      <p:sp>
        <p:nvSpPr>
          <p:cNvPr id="9" name="文本框 8"/>
          <p:cNvSpPr txBox="1"/>
          <p:nvPr/>
        </p:nvSpPr>
        <p:spPr>
          <a:xfrm>
            <a:off x="3505741" y="2187321"/>
            <a:ext cx="800219" cy="338554"/>
          </a:xfrm>
          <a:prstGeom prst="rect">
            <a:avLst/>
          </a:prstGeom>
          <a:noFill/>
        </p:spPr>
        <p:txBody>
          <a:bodyPr wrap="none" rtlCol="0">
            <a:spAutoFit/>
          </a:bodyPr>
          <a:lstStyle/>
          <a:p>
            <a:r>
              <a:rPr lang="zh-CN" altLang="en-US" sz="1600" dirty="0" smtClean="0">
                <a:solidFill>
                  <a:srgbClr val="002060"/>
                </a:solidFill>
              </a:rPr>
              <a:t>移动副</a:t>
            </a:r>
            <a:endParaRPr lang="zh-CN" altLang="en-US" sz="1600" dirty="0">
              <a:solidFill>
                <a:srgbClr val="002060"/>
              </a:solidFill>
            </a:endParaRPr>
          </a:p>
        </p:txBody>
      </p:sp>
      <p:sp>
        <p:nvSpPr>
          <p:cNvPr id="10" name="文本框 9"/>
          <p:cNvSpPr txBox="1"/>
          <p:nvPr/>
        </p:nvSpPr>
        <p:spPr>
          <a:xfrm>
            <a:off x="3489841" y="2925119"/>
            <a:ext cx="800219" cy="338554"/>
          </a:xfrm>
          <a:prstGeom prst="rect">
            <a:avLst/>
          </a:prstGeom>
          <a:noFill/>
        </p:spPr>
        <p:txBody>
          <a:bodyPr wrap="none" rtlCol="0">
            <a:spAutoFit/>
          </a:bodyPr>
          <a:lstStyle/>
          <a:p>
            <a:r>
              <a:rPr lang="zh-CN" altLang="en-US" sz="1600" dirty="0">
                <a:solidFill>
                  <a:srgbClr val="002060"/>
                </a:solidFill>
              </a:rPr>
              <a:t>螺旋</a:t>
            </a:r>
            <a:r>
              <a:rPr lang="zh-CN" altLang="en-US" sz="1600" dirty="0" smtClean="0">
                <a:solidFill>
                  <a:srgbClr val="002060"/>
                </a:solidFill>
              </a:rPr>
              <a:t>副</a:t>
            </a:r>
            <a:endParaRPr lang="zh-CN" altLang="en-US" sz="1600" dirty="0">
              <a:solidFill>
                <a:srgbClr val="002060"/>
              </a:solidFill>
            </a:endParaRPr>
          </a:p>
        </p:txBody>
      </p:sp>
      <p:sp>
        <p:nvSpPr>
          <p:cNvPr id="11" name="文本框 10"/>
          <p:cNvSpPr txBox="1"/>
          <p:nvPr/>
        </p:nvSpPr>
        <p:spPr>
          <a:xfrm>
            <a:off x="6084168" y="1551793"/>
            <a:ext cx="800219" cy="338554"/>
          </a:xfrm>
          <a:prstGeom prst="rect">
            <a:avLst/>
          </a:prstGeom>
          <a:noFill/>
        </p:spPr>
        <p:txBody>
          <a:bodyPr wrap="none" rtlCol="0">
            <a:spAutoFit/>
          </a:bodyPr>
          <a:lstStyle/>
          <a:p>
            <a:r>
              <a:rPr lang="zh-CN" altLang="en-US" sz="1600" dirty="0">
                <a:solidFill>
                  <a:srgbClr val="002060"/>
                </a:solidFill>
              </a:rPr>
              <a:t>圆柱</a:t>
            </a:r>
            <a:r>
              <a:rPr lang="zh-CN" altLang="en-US" sz="1600" dirty="0" smtClean="0">
                <a:solidFill>
                  <a:srgbClr val="002060"/>
                </a:solidFill>
              </a:rPr>
              <a:t>副</a:t>
            </a:r>
            <a:endParaRPr lang="zh-CN" altLang="en-US" sz="1600" dirty="0">
              <a:solidFill>
                <a:srgbClr val="002060"/>
              </a:solidFill>
            </a:endParaRPr>
          </a:p>
        </p:txBody>
      </p:sp>
      <p:sp>
        <p:nvSpPr>
          <p:cNvPr id="12" name="文本框 11"/>
          <p:cNvSpPr txBox="1"/>
          <p:nvPr/>
        </p:nvSpPr>
        <p:spPr>
          <a:xfrm>
            <a:off x="6084168" y="2347220"/>
            <a:ext cx="800219" cy="338554"/>
          </a:xfrm>
          <a:prstGeom prst="rect">
            <a:avLst/>
          </a:prstGeom>
          <a:noFill/>
        </p:spPr>
        <p:txBody>
          <a:bodyPr wrap="none" rtlCol="0">
            <a:spAutoFit/>
          </a:bodyPr>
          <a:lstStyle/>
          <a:p>
            <a:r>
              <a:rPr lang="zh-CN" altLang="en-US" sz="1600" dirty="0" smtClean="0">
                <a:solidFill>
                  <a:srgbClr val="002060"/>
                </a:solidFill>
              </a:rPr>
              <a:t>虎克铰</a:t>
            </a:r>
            <a:endParaRPr lang="zh-CN" altLang="en-US" sz="1600" dirty="0">
              <a:solidFill>
                <a:srgbClr val="002060"/>
              </a:solidFill>
            </a:endParaRPr>
          </a:p>
        </p:txBody>
      </p:sp>
      <p:sp>
        <p:nvSpPr>
          <p:cNvPr id="13" name="文本框 12"/>
          <p:cNvSpPr txBox="1"/>
          <p:nvPr/>
        </p:nvSpPr>
        <p:spPr>
          <a:xfrm>
            <a:off x="6281221" y="3005068"/>
            <a:ext cx="595035" cy="338554"/>
          </a:xfrm>
          <a:prstGeom prst="rect">
            <a:avLst/>
          </a:prstGeom>
          <a:noFill/>
        </p:spPr>
        <p:txBody>
          <a:bodyPr wrap="none" rtlCol="0">
            <a:spAutoFit/>
          </a:bodyPr>
          <a:lstStyle/>
          <a:p>
            <a:r>
              <a:rPr lang="zh-CN" altLang="en-US" sz="1600" dirty="0">
                <a:solidFill>
                  <a:srgbClr val="002060"/>
                </a:solidFill>
              </a:rPr>
              <a:t>球</a:t>
            </a:r>
            <a:r>
              <a:rPr lang="zh-CN" altLang="en-US" sz="1600" dirty="0" smtClean="0">
                <a:solidFill>
                  <a:srgbClr val="002060"/>
                </a:solidFill>
              </a:rPr>
              <a:t>铰</a:t>
            </a:r>
            <a:endParaRPr lang="zh-CN" altLang="en-US" sz="1600"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27"/>
          <p:cNvSpPr>
            <a:spLocks noChangeArrowheads="1"/>
          </p:cNvSpPr>
          <p:nvPr/>
        </p:nvSpPr>
        <p:spPr bwMode="auto">
          <a:xfrm>
            <a:off x="2993916" y="843558"/>
            <a:ext cx="25922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2000" dirty="0">
                <a:solidFill>
                  <a:schemeClr val="tx2"/>
                </a:solidFill>
                <a:latin typeface="Arial" panose="020B0604020202020204" pitchFamily="34" charset="0"/>
                <a:cs typeface="Arial" panose="020B0604020202020204" pitchFamily="34" charset="0"/>
              </a:rPr>
              <a:t>Types of Joints</a:t>
            </a:r>
            <a:endParaRPr lang="en-US" altLang="zh-CN" sz="2000" dirty="0"/>
          </a:p>
        </p:txBody>
      </p:sp>
      <p:grpSp>
        <p:nvGrpSpPr>
          <p:cNvPr id="28" name="组合 27"/>
          <p:cNvGrpSpPr/>
          <p:nvPr/>
        </p:nvGrpSpPr>
        <p:grpSpPr>
          <a:xfrm>
            <a:off x="-236220" y="219075"/>
            <a:ext cx="5153660" cy="598805"/>
            <a:chOff x="-372" y="345"/>
            <a:chExt cx="8116" cy="943"/>
          </a:xfrm>
        </p:grpSpPr>
        <p:sp>
          <p:nvSpPr>
            <p:cNvPr id="29" name="矩形 28"/>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Type</a:t>
              </a:r>
              <a:r>
                <a:rPr lang="en-US" altLang="zh-CN" sz="1000" dirty="0" smtClean="0">
                  <a:latin typeface="Arial" panose="020B0604020202020204" pitchFamily="34" charset="0"/>
                  <a:ea typeface="微软雅黑" panose="020B0503020204020204" charset="-122"/>
                  <a:sym typeface="+mn-ea"/>
                </a:rPr>
                <a:t> </a:t>
              </a:r>
              <a:r>
                <a:rPr lang="en-US" altLang="zh-CN" sz="1000" dirty="0">
                  <a:latin typeface="Arial" panose="020B0604020202020204" pitchFamily="34" charset="0"/>
                  <a:ea typeface="微软雅黑" panose="020B0503020204020204" charset="-122"/>
                  <a:sym typeface="+mn-ea"/>
                </a:rPr>
                <a:t>of Robot J</a:t>
              </a:r>
              <a:r>
                <a:rPr lang="en-US" altLang="zh-CN" sz="1000" dirty="0" smtClean="0">
                  <a:latin typeface="Arial" panose="020B0604020202020204" pitchFamily="34" charset="0"/>
                  <a:ea typeface="微软雅黑" panose="020B0503020204020204" charset="-122"/>
                  <a:sym typeface="+mn-ea"/>
                </a:rPr>
                <a:t>oint and Freedom</a:t>
              </a:r>
              <a:endParaRPr lang="en-US" altLang="zh-CN" sz="1000" dirty="0">
                <a:latin typeface="Arial" panose="020B0604020202020204" pitchFamily="34" charset="0"/>
                <a:ea typeface="微软雅黑" panose="020B0503020204020204" charset="-122"/>
                <a:sym typeface="+mn-ea"/>
              </a:endParaRPr>
            </a:p>
          </p:txBody>
        </p:sp>
        <p:sp>
          <p:nvSpPr>
            <p:cNvPr id="49" name="文本框 48"/>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机器人关节类型与自由度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50" name="椭圆 4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r="949"/>
          <a:stretch>
            <a:fillRect/>
          </a:stretch>
        </p:blipFill>
        <p:spPr>
          <a:xfrm>
            <a:off x="2051721" y="1480701"/>
            <a:ext cx="4896544" cy="28098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79512" y="1987564"/>
            <a:ext cx="4020111" cy="1933845"/>
          </a:xfrm>
          <a:prstGeom prst="rect">
            <a:avLst/>
          </a:prstGeom>
        </p:spPr>
      </p:pic>
      <p:pic>
        <p:nvPicPr>
          <p:cNvPr id="3" name="图片 2"/>
          <p:cNvPicPr>
            <a:picLocks noChangeAspect="1"/>
          </p:cNvPicPr>
          <p:nvPr/>
        </p:nvPicPr>
        <p:blipFill>
          <a:blip r:embed="rId4"/>
          <a:stretch>
            <a:fillRect/>
          </a:stretch>
        </p:blipFill>
        <p:spPr>
          <a:xfrm>
            <a:off x="4283968" y="1897065"/>
            <a:ext cx="4610743" cy="2114845"/>
          </a:xfrm>
          <a:prstGeom prst="rect">
            <a:avLst/>
          </a:prstGeom>
        </p:spPr>
      </p:pic>
      <mc:AlternateContent xmlns:mc="http://schemas.openxmlformats.org/markup-compatibility/2006" xmlns:a14="http://schemas.microsoft.com/office/drawing/2010/main">
        <mc:Choice Requires="a14">
          <p:sp>
            <p:nvSpPr>
              <p:cNvPr id="8" name="矩形 7"/>
              <p:cNvSpPr/>
              <p:nvPr/>
            </p:nvSpPr>
            <p:spPr>
              <a:xfrm>
                <a:off x="2478461" y="1137440"/>
                <a:ext cx="4368504" cy="400110"/>
              </a:xfrm>
              <a:prstGeom prst="rect">
                <a:avLst/>
              </a:prstGeom>
            </p:spPr>
            <p:txBody>
              <a:bodyPr wrap="none">
                <a:spAutoFit/>
              </a:bodyPr>
              <a:lstStyle/>
              <a:p>
                <a14:m>
                  <m:oMath xmlns:m="http://schemas.openxmlformats.org/officeDocument/2006/math">
                    <m:r>
                      <a:rPr lang="en-US" altLang="zh-CN" b="1" i="1" smtClean="0">
                        <a:solidFill>
                          <a:srgbClr val="0070C0"/>
                        </a:solidFill>
                        <a:latin typeface="Cambria Math" panose="02040503050406030204" pitchFamily="18" charset="0"/>
                      </a:rPr>
                      <m:t>𝑮𝒓</m:t>
                    </m:r>
                    <m:r>
                      <a:rPr lang="en-US" altLang="zh-CN" b="1">
                        <a:solidFill>
                          <a:srgbClr val="0070C0"/>
                        </a:solidFill>
                        <a:latin typeface="Cambria Math" panose="02040503050406030204" pitchFamily="18" charset="0"/>
                      </a:rPr>
                      <m:t>ü</m:t>
                    </m:r>
                    <m:r>
                      <a:rPr lang="en-US" altLang="zh-CN" b="1" i="1">
                        <a:solidFill>
                          <a:srgbClr val="0070C0"/>
                        </a:solidFill>
                        <a:latin typeface="Cambria Math" panose="02040503050406030204" pitchFamily="18" charset="0"/>
                      </a:rPr>
                      <m:t>𝒃𝒍𝒆𝒓</m:t>
                    </m:r>
                  </m:oMath>
                </a14:m>
                <a:r>
                  <a:rPr lang="zh-CN" altLang="en-US" sz="2000" dirty="0">
                    <a:solidFill>
                      <a:srgbClr val="0070C0"/>
                    </a:solidFill>
                  </a:rPr>
                  <a:t>'s formula for the DOFs of robot</a:t>
                </a:r>
              </a:p>
            </p:txBody>
          </p:sp>
        </mc:Choice>
        <mc:Fallback xmlns="">
          <p:sp>
            <p:nvSpPr>
              <p:cNvPr id="8" name="矩形 7"/>
              <p:cNvSpPr>
                <a:spLocks noRot="1" noChangeAspect="1" noMove="1" noResize="1" noEditPoints="1" noAdjustHandles="1" noChangeArrowheads="1" noChangeShapeType="1" noTextEdit="1"/>
              </p:cNvSpPr>
              <p:nvPr/>
            </p:nvSpPr>
            <p:spPr>
              <a:xfrm>
                <a:off x="2478461" y="1137440"/>
                <a:ext cx="4368504" cy="400110"/>
              </a:xfrm>
              <a:prstGeom prst="rect">
                <a:avLst/>
              </a:prstGeom>
              <a:blipFill rotWithShape="1">
                <a:blip r:embed="rId5"/>
                <a:stretch>
                  <a:fillRect l="-1" t="-39" r="9" b="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55576" y="4053986"/>
                <a:ext cx="7344816" cy="855427"/>
              </a:xfrm>
              <a:prstGeom prst="rect">
                <a:avLst/>
              </a:prstGeom>
            </p:spPr>
            <p:txBody>
              <a:bodyPr wrap="square">
                <a:spAutoFit/>
              </a:bodyPr>
              <a:lstStyle/>
              <a:p>
                <a14:m>
                  <m:oMath xmlns:m="http://schemas.openxmlformats.org/officeDocument/2006/math">
                    <m:r>
                      <a:rPr lang="en-US" altLang="zh-CN" sz="1600" b="1" i="1">
                        <a:solidFill>
                          <a:srgbClr val="0070C0"/>
                        </a:solidFill>
                        <a:latin typeface="Cambria Math" panose="02040503050406030204" pitchFamily="18" charset="0"/>
                      </a:rPr>
                      <m:t>𝑮𝒓</m:t>
                    </m:r>
                    <m:r>
                      <a:rPr lang="en-US" altLang="zh-CN" sz="1600" b="1">
                        <a:solidFill>
                          <a:srgbClr val="0070C0"/>
                        </a:solidFill>
                        <a:latin typeface="Cambria Math" panose="02040503050406030204" pitchFamily="18" charset="0"/>
                      </a:rPr>
                      <m:t>ü</m:t>
                    </m:r>
                    <m:r>
                      <a:rPr lang="en-US" altLang="zh-CN" sz="1600" b="1" i="1">
                        <a:solidFill>
                          <a:srgbClr val="0070C0"/>
                        </a:solidFill>
                        <a:latin typeface="Cambria Math" panose="02040503050406030204" pitchFamily="18" charset="0"/>
                      </a:rPr>
                      <m:t>𝒃𝒍𝒆𝒓</m:t>
                    </m:r>
                  </m:oMath>
                </a14:m>
                <a:r>
                  <a:rPr lang="zh-CN" altLang="en-US" sz="1600" dirty="0" smtClean="0">
                    <a:solidFill>
                      <a:srgbClr val="0070C0"/>
                    </a:solidFill>
                  </a:rPr>
                  <a:t>公式只有在所有关节约束都是独立的情况下才能成立。否则，该公式只能用于判断自由度的下限值。有关位形空间的约束与奇异相关内容将在运动学相关章节进行分析。</a:t>
                </a:r>
                <a:endParaRPr lang="zh-CN" altLang="en-US" sz="1600" dirty="0">
                  <a:solidFill>
                    <a:srgbClr val="0070C0"/>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755576" y="4053986"/>
                <a:ext cx="7344816" cy="855427"/>
              </a:xfrm>
              <a:prstGeom prst="rect">
                <a:avLst/>
              </a:prstGeom>
              <a:blipFill rotWithShape="1">
                <a:blip r:embed="rId6"/>
                <a:stretch>
                  <a:fillRect l="-8" t="-17" r="5" b="27"/>
                </a:stretch>
              </a:blipFill>
            </p:spPr>
            <p:txBody>
              <a:bodyPr/>
              <a:lstStyle/>
              <a:p>
                <a:r>
                  <a:rPr lang="zh-CN" altLang="en-US">
                    <a:noFill/>
                  </a:rPr>
                  <a:t> </a:t>
                </a:r>
              </a:p>
            </p:txBody>
          </p:sp>
        </mc:Fallback>
      </mc:AlternateContent>
      <p:grpSp>
        <p:nvGrpSpPr>
          <p:cNvPr id="10" name="组合 9"/>
          <p:cNvGrpSpPr/>
          <p:nvPr/>
        </p:nvGrpSpPr>
        <p:grpSpPr>
          <a:xfrm>
            <a:off x="-236220" y="219075"/>
            <a:ext cx="5153660" cy="598805"/>
            <a:chOff x="-372" y="345"/>
            <a:chExt cx="8116" cy="943"/>
          </a:xfrm>
        </p:grpSpPr>
        <p:sp>
          <p:nvSpPr>
            <p:cNvPr id="11" name="矩形 10"/>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Type</a:t>
              </a:r>
              <a:r>
                <a:rPr lang="en-US" altLang="zh-CN" sz="1000" dirty="0" smtClean="0">
                  <a:latin typeface="Arial" panose="020B0604020202020204" pitchFamily="34" charset="0"/>
                  <a:ea typeface="微软雅黑" panose="020B0503020204020204" charset="-122"/>
                  <a:sym typeface="+mn-ea"/>
                </a:rPr>
                <a:t> </a:t>
              </a:r>
              <a:r>
                <a:rPr lang="en-US" altLang="zh-CN" sz="1000" dirty="0">
                  <a:latin typeface="Arial" panose="020B0604020202020204" pitchFamily="34" charset="0"/>
                  <a:ea typeface="微软雅黑" panose="020B0503020204020204" charset="-122"/>
                  <a:sym typeface="+mn-ea"/>
                </a:rPr>
                <a:t>of Robot J</a:t>
              </a:r>
              <a:r>
                <a:rPr lang="en-US" altLang="zh-CN" sz="1000" dirty="0" smtClean="0">
                  <a:latin typeface="Arial" panose="020B0604020202020204" pitchFamily="34" charset="0"/>
                  <a:ea typeface="微软雅黑" panose="020B0503020204020204" charset="-122"/>
                  <a:sym typeface="+mn-ea"/>
                </a:rPr>
                <a:t>oint and Freedom</a:t>
              </a:r>
              <a:endParaRPr lang="en-US" altLang="zh-CN" sz="1000" dirty="0">
                <a:latin typeface="Arial" panose="020B0604020202020204" pitchFamily="34" charset="0"/>
                <a:ea typeface="微软雅黑" panose="020B0503020204020204" charset="-122"/>
                <a:sym typeface="+mn-ea"/>
              </a:endParaRPr>
            </a:p>
          </p:txBody>
        </p:sp>
        <p:sp>
          <p:nvSpPr>
            <p:cNvPr id="12" name="文本框 11"/>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机器人关节类型与自由度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3" name="椭圆 12"/>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236220" y="219075"/>
            <a:ext cx="5153660" cy="598805"/>
            <a:chOff x="-372" y="345"/>
            <a:chExt cx="8116" cy="943"/>
          </a:xfrm>
        </p:grpSpPr>
        <p:sp>
          <p:nvSpPr>
            <p:cNvPr id="11" name="矩形 10"/>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Type</a:t>
              </a:r>
              <a:r>
                <a:rPr lang="en-US" altLang="zh-CN" sz="1000" dirty="0" smtClean="0">
                  <a:latin typeface="Arial" panose="020B0604020202020204" pitchFamily="34" charset="0"/>
                  <a:ea typeface="微软雅黑" panose="020B0503020204020204" charset="-122"/>
                  <a:sym typeface="+mn-ea"/>
                </a:rPr>
                <a:t> </a:t>
              </a:r>
              <a:r>
                <a:rPr lang="en-US" altLang="zh-CN" sz="1000" dirty="0">
                  <a:latin typeface="Arial" panose="020B0604020202020204" pitchFamily="34" charset="0"/>
                  <a:ea typeface="微软雅黑" panose="020B0503020204020204" charset="-122"/>
                  <a:sym typeface="+mn-ea"/>
                </a:rPr>
                <a:t>of Robot J</a:t>
              </a:r>
              <a:r>
                <a:rPr lang="en-US" altLang="zh-CN" sz="1000" dirty="0" smtClean="0">
                  <a:latin typeface="Arial" panose="020B0604020202020204" pitchFamily="34" charset="0"/>
                  <a:ea typeface="微软雅黑" panose="020B0503020204020204" charset="-122"/>
                  <a:sym typeface="+mn-ea"/>
                </a:rPr>
                <a:t>oint and Freedom</a:t>
              </a:r>
              <a:endParaRPr lang="en-US" altLang="zh-CN" sz="1000" dirty="0">
                <a:latin typeface="Arial" panose="020B0604020202020204" pitchFamily="34" charset="0"/>
                <a:ea typeface="微软雅黑" panose="020B0503020204020204" charset="-122"/>
                <a:sym typeface="+mn-ea"/>
              </a:endParaRPr>
            </a:p>
          </p:txBody>
        </p:sp>
        <p:sp>
          <p:nvSpPr>
            <p:cNvPr id="12" name="文本框 11"/>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机器人关节类型与自由度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3" name="椭圆 12"/>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5" name="对象 4"/>
          <p:cNvGraphicFramePr>
            <a:graphicFrameLocks noChangeAspect="1"/>
          </p:cNvGraphicFramePr>
          <p:nvPr/>
        </p:nvGraphicFramePr>
        <p:xfrm>
          <a:off x="827584" y="1059582"/>
          <a:ext cx="2590800" cy="1219200"/>
        </p:xfrm>
        <a:graphic>
          <a:graphicData uri="http://schemas.openxmlformats.org/presentationml/2006/ole">
            <mc:AlternateContent xmlns:mc="http://schemas.openxmlformats.org/markup-compatibility/2006">
              <mc:Choice xmlns:v="urn:schemas-microsoft-com:vml" Requires="v">
                <p:oleObj spid="_x0000_s35870" name="Visio" r:id="rId4" imgW="1921510" imgH="907415" progId="Visio.Drawing.15">
                  <p:embed/>
                </p:oleObj>
              </mc:Choice>
              <mc:Fallback>
                <p:oleObj name="Visio" r:id="rId4" imgW="1921510" imgH="907415"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584" y="1059582"/>
                        <a:ext cx="25908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 name="图片 14" descr="图片包含 图形用户界面&#10;&#10;描述已自动生成"/>
          <p:cNvPicPr/>
          <p:nvPr/>
        </p:nvPicPr>
        <p:blipFill rotWithShape="1">
          <a:blip r:embed="rId6" cstate="print">
            <a:extLst>
              <a:ext uri="{28A0092B-C50C-407E-A947-70E740481C1C}">
                <a14:useLocalDpi xmlns:a14="http://schemas.microsoft.com/office/drawing/2010/main" val="0"/>
              </a:ext>
            </a:extLst>
          </a:blip>
          <a:srcRect l="11025" r="8805" b="8364"/>
          <a:stretch>
            <a:fillRect/>
          </a:stretch>
        </p:blipFill>
        <p:spPr bwMode="auto">
          <a:xfrm>
            <a:off x="827584" y="2499742"/>
            <a:ext cx="3096895" cy="1901190"/>
          </a:xfrm>
          <a:prstGeom prst="rect">
            <a:avLst/>
          </a:prstGeom>
          <a:noFill/>
          <a:ln>
            <a:noFill/>
          </a:ln>
        </p:spPr>
      </p:pic>
      <mc:AlternateContent xmlns:mc="http://schemas.openxmlformats.org/markup-compatibility/2006" xmlns:a14="http://schemas.microsoft.com/office/drawing/2010/main">
        <mc:Choice Requires="a14">
          <p:sp>
            <p:nvSpPr>
              <p:cNvPr id="6" name="矩形 5"/>
              <p:cNvSpPr/>
              <p:nvPr/>
            </p:nvSpPr>
            <p:spPr>
              <a:xfrm>
                <a:off x="776518" y="4400932"/>
                <a:ext cx="301832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𝑑𝑜𝑓</m:t>
                      </m:r>
                      <m:r>
                        <a:rPr lang="zh-CN" altLang="en-US" i="0">
                          <a:latin typeface="Cambria Math" panose="02040503050406030204" pitchFamily="18" charset="0"/>
                        </a:rPr>
                        <m:t>=3</m:t>
                      </m:r>
                      <m:d>
                        <m:dPr>
                          <m:ctrlPr>
                            <a:rPr lang="zh-CN" altLang="en-US" i="1">
                              <a:latin typeface="Cambria Math" panose="02040503050406030204" pitchFamily="18" charset="0"/>
                            </a:rPr>
                          </m:ctrlPr>
                        </m:dPr>
                        <m:e>
                          <m:r>
                            <a:rPr lang="zh-CN" altLang="en-US" i="0">
                              <a:latin typeface="Cambria Math" panose="02040503050406030204" pitchFamily="18" charset="0"/>
                            </a:rPr>
                            <m:t>4−1−4</m:t>
                          </m:r>
                        </m:e>
                      </m:d>
                      <m:r>
                        <a:rPr lang="zh-CN" altLang="en-US" i="0">
                          <a:latin typeface="Cambria Math" panose="02040503050406030204" pitchFamily="18" charset="0"/>
                        </a:rPr>
                        <m:t>+4=1</m:t>
                      </m:r>
                    </m:oMath>
                  </m:oMathPara>
                </a14:m>
                <a:endParaRPr lang="zh-CN" altLang="en-US" dirty="0"/>
              </a:p>
            </p:txBody>
          </p:sp>
        </mc:Choice>
        <mc:Fallback xmlns="">
          <p:sp>
            <p:nvSpPr>
              <p:cNvPr id="6" name="矩形 5"/>
              <p:cNvSpPr>
                <a:spLocks noRot="1" noChangeAspect="1" noMove="1" noResize="1" noEditPoints="1" noAdjustHandles="1" noChangeArrowheads="1" noChangeShapeType="1" noTextEdit="1"/>
              </p:cNvSpPr>
              <p:nvPr/>
            </p:nvSpPr>
            <p:spPr>
              <a:xfrm>
                <a:off x="776518" y="4400932"/>
                <a:ext cx="3018327" cy="369332"/>
              </a:xfrm>
              <a:prstGeom prst="rect">
                <a:avLst/>
              </a:prstGeom>
              <a:blipFill rotWithShape="1">
                <a:blip r:embed="rId7"/>
                <a:stretch>
                  <a:fillRect l="-18" t="-103" r="3" b="39"/>
                </a:stretch>
              </a:blipFill>
            </p:spPr>
            <p:txBody>
              <a:bodyPr/>
              <a:lstStyle/>
              <a:p>
                <a:r>
                  <a:rPr lang="zh-CN" altLang="en-US">
                    <a:noFill/>
                  </a:rPr>
                  <a:t> </a:t>
                </a:r>
              </a:p>
            </p:txBody>
          </p:sp>
        </mc:Fallback>
      </mc:AlternateContent>
      <p:graphicFrame>
        <p:nvGraphicFramePr>
          <p:cNvPr id="16" name="对象 15"/>
          <p:cNvGraphicFramePr>
            <a:graphicFrameLocks noChangeAspect="1"/>
          </p:cNvGraphicFramePr>
          <p:nvPr/>
        </p:nvGraphicFramePr>
        <p:xfrm>
          <a:off x="4644008" y="1059582"/>
          <a:ext cx="3962400" cy="1885950"/>
        </p:xfrm>
        <a:graphic>
          <a:graphicData uri="http://schemas.openxmlformats.org/presentationml/2006/ole">
            <mc:AlternateContent xmlns:mc="http://schemas.openxmlformats.org/markup-compatibility/2006">
              <mc:Choice xmlns:v="urn:schemas-microsoft-com:vml" Requires="v">
                <p:oleObj spid="_x0000_s35871" name="Visio" r:id="rId8" imgW="8711565" imgH="4159250" progId="Visio.Drawing.15">
                  <p:embed/>
                </p:oleObj>
              </mc:Choice>
              <mc:Fallback>
                <p:oleObj name="Visio" r:id="rId8" imgW="8711565" imgH="4159250" progId="Visio.Drawing.15">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4008" y="1059582"/>
                        <a:ext cx="3962400" cy="1885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5292080" y="2945532"/>
            <a:ext cx="453970" cy="369332"/>
          </a:xfrm>
          <a:prstGeom prst="rect">
            <a:avLst/>
          </a:prstGeom>
        </p:spPr>
        <p:txBody>
          <a:bodyPr wrap="none">
            <a:spAutoFit/>
          </a:bodyPr>
          <a:lstStyle/>
          <a:p>
            <a:r>
              <a:rPr lang="en-US" altLang="zh-CN" dirty="0">
                <a:latin typeface="Times New Roman" panose="02020603050405020304" pitchFamily="18" charset="0"/>
              </a:rPr>
              <a:t>3R</a:t>
            </a:r>
            <a:endParaRPr lang="zh-CN" altLang="en-US" dirty="0"/>
          </a:p>
        </p:txBody>
      </p:sp>
      <p:sp>
        <p:nvSpPr>
          <p:cNvPr id="18" name="矩形 17"/>
          <p:cNvSpPr/>
          <p:nvPr/>
        </p:nvSpPr>
        <p:spPr>
          <a:xfrm>
            <a:off x="7308304" y="2945532"/>
            <a:ext cx="620683" cy="369332"/>
          </a:xfrm>
          <a:prstGeom prst="rect">
            <a:avLst/>
          </a:prstGeom>
        </p:spPr>
        <p:txBody>
          <a:bodyPr wrap="none">
            <a:spAutoFit/>
          </a:bodyPr>
          <a:lstStyle/>
          <a:p>
            <a:r>
              <a:rPr lang="en-US" altLang="zh-CN" dirty="0">
                <a:latin typeface="Times New Roman" panose="02020603050405020304" pitchFamily="18" charset="0"/>
              </a:rPr>
              <a:t>RPR</a:t>
            </a:r>
            <a:endParaRPr lang="zh-CN" altLang="en-US" dirty="0"/>
          </a:p>
        </p:txBody>
      </p:sp>
      <mc:AlternateContent xmlns:mc="http://schemas.openxmlformats.org/markup-compatibility/2006" xmlns:a14="http://schemas.microsoft.com/office/drawing/2010/main">
        <mc:Choice Requires="a14">
          <p:sp>
            <p:nvSpPr>
              <p:cNvPr id="19" name="矩形 18"/>
              <p:cNvSpPr/>
              <p:nvPr/>
            </p:nvSpPr>
            <p:spPr>
              <a:xfrm>
                <a:off x="5998666" y="3314864"/>
                <a:ext cx="105702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𝑑𝑜𝑓</m:t>
                      </m:r>
                      <m:r>
                        <a:rPr lang="zh-CN" altLang="en-US" i="0">
                          <a:latin typeface="Cambria Math" panose="02040503050406030204" pitchFamily="18" charset="0"/>
                        </a:rPr>
                        <m:t>=3</m:t>
                      </m:r>
                    </m:oMath>
                  </m:oMathPara>
                </a14:m>
                <a:endParaRPr lang="zh-CN" altLang="en-US" dirty="0"/>
              </a:p>
            </p:txBody>
          </p:sp>
        </mc:Choice>
        <mc:Fallback xmlns="">
          <p:sp>
            <p:nvSpPr>
              <p:cNvPr id="19" name="矩形 18"/>
              <p:cNvSpPr>
                <a:spLocks noRot="1" noChangeAspect="1" noMove="1" noResize="1" noEditPoints="1" noAdjustHandles="1" noChangeArrowheads="1" noChangeShapeType="1" noTextEdit="1"/>
              </p:cNvSpPr>
              <p:nvPr/>
            </p:nvSpPr>
            <p:spPr>
              <a:xfrm>
                <a:off x="5998666" y="3314864"/>
                <a:ext cx="1057021" cy="369332"/>
              </a:xfrm>
              <a:prstGeom prst="rect">
                <a:avLst/>
              </a:prstGeom>
              <a:blipFill rotWithShape="1">
                <a:blip r:embed="rId10"/>
                <a:stretch>
                  <a:fillRect l="-43" t="-44" r="19" b="1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p:cNvSpPr/>
              <p:nvPr/>
            </p:nvSpPr>
            <p:spPr>
              <a:xfrm>
                <a:off x="4268181" y="3759371"/>
                <a:ext cx="4572000" cy="307777"/>
              </a:xfrm>
              <a:prstGeom prst="rect">
                <a:avLst/>
              </a:prstGeom>
            </p:spPr>
            <p:txBody>
              <a:bodyPr>
                <a:spAutoFit/>
              </a:bodyPr>
              <a:lstStyle/>
              <a:p>
                <a:r>
                  <a:rPr lang="zh-CN" altLang="zh-CN" sz="1400" dirty="0">
                    <a:latin typeface="Times New Roman" panose="02020603050405020304" pitchFamily="18" charset="0"/>
                    <a:cs typeface="Times New Roman" panose="02020603050405020304" pitchFamily="18" charset="0"/>
                  </a:rPr>
                  <a:t>如果是空间机构，</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𝑚</m:t>
                    </m:r>
                    <m:r>
                      <a:rPr lang="en-US" altLang="zh-CN" sz="1400" i="1">
                        <a:latin typeface="Cambria Math" panose="02040503050406030204" pitchFamily="18" charset="0"/>
                        <a:cs typeface="Times New Roman" panose="02020603050405020304" pitchFamily="18" charset="0"/>
                      </a:rPr>
                      <m:t>=6</m:t>
                    </m:r>
                  </m:oMath>
                </a14:m>
                <a:r>
                  <a:rPr lang="zh-CN" altLang="zh-CN" sz="14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400" i="1">
                        <a:latin typeface="Cambria Math" panose="02040503050406030204" pitchFamily="18" charset="0"/>
                        <a:cs typeface="Times New Roman" panose="02020603050405020304" pitchFamily="18" charset="0"/>
                      </a:rPr>
                      <m:t>𝑑𝑜𝑓</m:t>
                    </m:r>
                    <m:r>
                      <a:rPr lang="en-US" altLang="zh-CN" sz="1400" i="1">
                        <a:latin typeface="Cambria Math" panose="02040503050406030204" pitchFamily="18" charset="0"/>
                        <a:cs typeface="Times New Roman" panose="02020603050405020304" pitchFamily="18" charset="0"/>
                      </a:rPr>
                      <m:t>=6</m:t>
                    </m:r>
                    <m:d>
                      <m:dPr>
                        <m:ctrlPr>
                          <a:rPr lang="zh-CN" altLang="zh-CN" sz="14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400">
                            <a:latin typeface="Cambria Math" panose="02040503050406030204" pitchFamily="18" charset="0"/>
                            <a:cs typeface="Times New Roman" panose="02020603050405020304" pitchFamily="18" charset="0"/>
                          </a:rPr>
                          <m:t>4</m:t>
                        </m:r>
                        <m:r>
                          <a:rPr lang="en-US" altLang="zh-CN" sz="1400" i="1">
                            <a:latin typeface="Cambria Math" panose="02040503050406030204" pitchFamily="18" charset="0"/>
                            <a:cs typeface="Times New Roman" panose="02020603050405020304" pitchFamily="18" charset="0"/>
                          </a:rPr>
                          <m:t>−</m:t>
                        </m:r>
                        <m:r>
                          <a:rPr lang="en-US" altLang="zh-CN" sz="1400">
                            <a:latin typeface="Cambria Math" panose="02040503050406030204" pitchFamily="18" charset="0"/>
                            <a:cs typeface="Times New Roman" panose="02020603050405020304" pitchFamily="18" charset="0"/>
                          </a:rPr>
                          <m:t>1</m:t>
                        </m:r>
                        <m:r>
                          <a:rPr lang="en-US" altLang="zh-CN" sz="1400" i="1">
                            <a:latin typeface="Cambria Math" panose="02040503050406030204" pitchFamily="18" charset="0"/>
                            <a:cs typeface="Times New Roman" panose="02020603050405020304" pitchFamily="18" charset="0"/>
                          </a:rPr>
                          <m:t>−</m:t>
                        </m:r>
                        <m:r>
                          <a:rPr lang="en-US" altLang="zh-CN" sz="1400">
                            <a:latin typeface="Cambria Math" panose="02040503050406030204" pitchFamily="18" charset="0"/>
                            <a:cs typeface="Times New Roman" panose="02020603050405020304" pitchFamily="18" charset="0"/>
                          </a:rPr>
                          <m:t>3</m:t>
                        </m:r>
                      </m:e>
                    </m:d>
                    <m:r>
                      <a:rPr lang="en-US" altLang="zh-CN" sz="1400">
                        <a:latin typeface="Cambria Math" panose="02040503050406030204" pitchFamily="18" charset="0"/>
                        <a:cs typeface="Times New Roman" panose="02020603050405020304" pitchFamily="18" charset="0"/>
                      </a:rPr>
                      <m:t>+3=3</m:t>
                    </m:r>
                  </m:oMath>
                </a14:m>
                <a:endParaRPr lang="zh-CN" altLang="en-US" sz="1400" dirty="0"/>
              </a:p>
            </p:txBody>
          </p:sp>
        </mc:Choice>
        <mc:Fallback xmlns="">
          <p:sp>
            <p:nvSpPr>
              <p:cNvPr id="20" name="矩形 19"/>
              <p:cNvSpPr>
                <a:spLocks noRot="1" noChangeAspect="1" noMove="1" noResize="1" noEditPoints="1" noAdjustHandles="1" noChangeArrowheads="1" noChangeShapeType="1" noTextEdit="1"/>
              </p:cNvSpPr>
              <p:nvPr/>
            </p:nvSpPr>
            <p:spPr>
              <a:xfrm>
                <a:off x="4268181" y="3759371"/>
                <a:ext cx="4572000" cy="307777"/>
              </a:xfrm>
              <a:prstGeom prst="rect">
                <a:avLst/>
              </a:prstGeom>
              <a:blipFill rotWithShape="1">
                <a:blip r:embed="rId11"/>
                <a:stretch>
                  <a:fillRect l="-8" t="-56" r="8" b="1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p:cNvSpPr/>
              <p:nvPr/>
            </p:nvSpPr>
            <p:spPr>
              <a:xfrm>
                <a:off x="4109439" y="4070534"/>
                <a:ext cx="4572000" cy="707886"/>
              </a:xfrm>
              <a:prstGeom prst="rect">
                <a:avLst/>
              </a:prstGeom>
            </p:spPr>
            <p:txBody>
              <a:bodyPr>
                <a:spAutoFit/>
              </a:bodyPr>
              <a:lstStyle/>
              <a:p>
                <a:pPr indent="266700" algn="just">
                  <a:lnSpc>
                    <a:spcPct val="150000"/>
                  </a:lnSpc>
                  <a:spcAft>
                    <a:spcPts val="0"/>
                  </a:spcAft>
                </a:pPr>
                <a14:m>
                  <m:oMath xmlns:m="http://schemas.openxmlformats.org/officeDocument/2006/math">
                    <m:r>
                      <a:rPr lang="en-US" altLang="zh-CN" sz="1600" i="1">
                        <a:latin typeface="Cambria Math" panose="02040503050406030204" pitchFamily="18" charset="0"/>
                        <a:cs typeface="Times New Roman" panose="02020603050405020304" pitchFamily="18" charset="0"/>
                      </a:rPr>
                      <m:t>𝑛</m:t>
                    </m:r>
                  </m:oMath>
                </a14:m>
                <a:r>
                  <a:rPr lang="zh-CN" altLang="zh-CN" sz="1600" dirty="0">
                    <a:latin typeface="Times New Roman" panose="02020603050405020304" pitchFamily="18" charset="0"/>
                    <a:cs typeface="Times New Roman" panose="02020603050405020304" pitchFamily="18" charset="0"/>
                  </a:rPr>
                  <a:t>轴串联机械臂的自由度计算结果为</a:t>
                </a:r>
                <a14:m>
                  <m:oMath xmlns:m="http://schemas.openxmlformats.org/officeDocument/2006/math">
                    <m:r>
                      <a:rPr lang="en-US" altLang="zh-CN" sz="1600" i="1">
                        <a:latin typeface="Cambria Math" panose="02040503050406030204" pitchFamily="18" charset="0"/>
                        <a:cs typeface="Times New Roman" panose="02020603050405020304" pitchFamily="18" charset="0"/>
                      </a:rPr>
                      <m:t>𝑛</m:t>
                    </m:r>
                  </m:oMath>
                </a14:m>
                <a:r>
                  <a:rPr lang="zh-CN" altLang="zh-CN" sz="1600" dirty="0">
                    <a:latin typeface="Times New Roman" panose="02020603050405020304" pitchFamily="18" charset="0"/>
                    <a:cs typeface="Times New Roman" panose="02020603050405020304" pitchFamily="18" charset="0"/>
                  </a:rPr>
                  <a:t>：</a:t>
                </a:r>
                <a:endParaRPr lang="zh-CN" altLang="zh-CN" sz="1600" dirty="0">
                  <a:latin typeface="宋体" panose="02010600030101010101" pitchFamily="2" charset="-122"/>
                  <a:cs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cs typeface="Times New Roman" panose="02020603050405020304" pitchFamily="18" charset="0"/>
                        </a:rPr>
                        <m:t>𝑑𝑜𝑓</m:t>
                      </m:r>
                      <m:r>
                        <a:rPr lang="en-US" altLang="zh-CN" sz="1600" i="1">
                          <a:latin typeface="Cambria Math" panose="02040503050406030204" pitchFamily="18" charset="0"/>
                          <a:cs typeface="Times New Roman" panose="02020603050405020304" pitchFamily="18" charset="0"/>
                        </a:rPr>
                        <m:t>=6</m:t>
                      </m:r>
                      <m:d>
                        <m:dPr>
                          <m:ctrlPr>
                            <a:rPr lang="zh-CN" altLang="zh-CN" sz="16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𝑛</m:t>
                          </m:r>
                          <m:r>
                            <a:rPr lang="en-US" altLang="zh-CN" sz="1600" i="1">
                              <a:latin typeface="Cambria Math" panose="02040503050406030204" pitchFamily="18" charset="0"/>
                              <a:cs typeface="Times New Roman" panose="02020603050405020304" pitchFamily="18" charset="0"/>
                            </a:rPr>
                            <m:t>+1)−</m:t>
                          </m:r>
                          <m:r>
                            <a:rPr lang="en-US" altLang="zh-CN" sz="1600">
                              <a:latin typeface="Cambria Math" panose="02040503050406030204" pitchFamily="18" charset="0"/>
                              <a:cs typeface="Times New Roman" panose="02020603050405020304" pitchFamily="18" charset="0"/>
                            </a:rPr>
                            <m:t>1</m:t>
                          </m:r>
                          <m:r>
                            <a:rPr lang="en-US" altLang="zh-CN" sz="1600" i="1">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𝑛</m:t>
                          </m:r>
                        </m:e>
                      </m:d>
                      <m:r>
                        <a:rPr lang="en-US" altLang="zh-CN" sz="1600">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𝑛</m:t>
                      </m:r>
                      <m:r>
                        <a:rPr lang="en-US" altLang="zh-CN" sz="1600">
                          <a:latin typeface="Cambria Math" panose="02040503050406030204" pitchFamily="18" charset="0"/>
                          <a:cs typeface="Times New Roman" panose="02020603050405020304" pitchFamily="18" charset="0"/>
                        </a:rPr>
                        <m:t>=</m:t>
                      </m:r>
                      <m:r>
                        <a:rPr lang="en-US" altLang="zh-CN" sz="1600" i="1">
                          <a:latin typeface="Cambria Math" panose="02040503050406030204" pitchFamily="18" charset="0"/>
                          <a:cs typeface="Times New Roman" panose="02020603050405020304" pitchFamily="18" charset="0"/>
                        </a:rPr>
                        <m:t>𝑛</m:t>
                      </m:r>
                    </m:oMath>
                  </m:oMathPara>
                </a14:m>
                <a:endParaRPr lang="zh-CN" altLang="en-US" sz="1600" dirty="0"/>
              </a:p>
            </p:txBody>
          </p:sp>
        </mc:Choice>
        <mc:Fallback xmlns="">
          <p:sp>
            <p:nvSpPr>
              <p:cNvPr id="21" name="矩形 20"/>
              <p:cNvSpPr>
                <a:spLocks noRot="1" noChangeAspect="1" noMove="1" noResize="1" noEditPoints="1" noAdjustHandles="1" noChangeArrowheads="1" noChangeShapeType="1" noTextEdit="1"/>
              </p:cNvSpPr>
              <p:nvPr/>
            </p:nvSpPr>
            <p:spPr>
              <a:xfrm>
                <a:off x="4109439" y="4070534"/>
                <a:ext cx="4572000" cy="707886"/>
              </a:xfrm>
              <a:prstGeom prst="rect">
                <a:avLst/>
              </a:prstGeom>
              <a:blipFill rotWithShape="1">
                <a:blip r:embed="rId12"/>
                <a:stretch>
                  <a:fillRect l="-8" t="-26" r="8" b="6"/>
                </a:stretch>
              </a:blipFill>
            </p:spPr>
            <p:txBody>
              <a:bodyPr/>
              <a:lstStyle/>
              <a:p>
                <a:r>
                  <a:rPr lang="zh-CN" altLang="en-US">
                    <a:noFill/>
                  </a:rPr>
                  <a:t> </a:t>
                </a:r>
              </a:p>
            </p:txBody>
          </p:sp>
        </mc:Fallback>
      </mc:AlternateContent>
      <p:sp>
        <p:nvSpPr>
          <p:cNvPr id="22" name="圆角矩形 21"/>
          <p:cNvSpPr/>
          <p:nvPr/>
        </p:nvSpPr>
        <p:spPr>
          <a:xfrm>
            <a:off x="4268181" y="4067148"/>
            <a:ext cx="4192251" cy="86032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236220" y="219075"/>
            <a:ext cx="5153660" cy="598805"/>
            <a:chOff x="-372" y="345"/>
            <a:chExt cx="8116" cy="943"/>
          </a:xfrm>
        </p:grpSpPr>
        <p:sp>
          <p:nvSpPr>
            <p:cNvPr id="11" name="矩形 10"/>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Type</a:t>
              </a:r>
              <a:r>
                <a:rPr lang="en-US" altLang="zh-CN" sz="1000" dirty="0" smtClean="0">
                  <a:latin typeface="Arial" panose="020B0604020202020204" pitchFamily="34" charset="0"/>
                  <a:ea typeface="微软雅黑" panose="020B0503020204020204" charset="-122"/>
                  <a:sym typeface="+mn-ea"/>
                </a:rPr>
                <a:t> </a:t>
              </a:r>
              <a:r>
                <a:rPr lang="en-US" altLang="zh-CN" sz="1000" dirty="0">
                  <a:latin typeface="Arial" panose="020B0604020202020204" pitchFamily="34" charset="0"/>
                  <a:ea typeface="微软雅黑" panose="020B0503020204020204" charset="-122"/>
                  <a:sym typeface="+mn-ea"/>
                </a:rPr>
                <a:t>of Robot J</a:t>
              </a:r>
              <a:r>
                <a:rPr lang="en-US" altLang="zh-CN" sz="1000" dirty="0" smtClean="0">
                  <a:latin typeface="Arial" panose="020B0604020202020204" pitchFamily="34" charset="0"/>
                  <a:ea typeface="微软雅黑" panose="020B0503020204020204" charset="-122"/>
                  <a:sym typeface="+mn-ea"/>
                </a:rPr>
                <a:t>oint and Freedom</a:t>
              </a:r>
              <a:endParaRPr lang="en-US" altLang="zh-CN" sz="1000" dirty="0">
                <a:latin typeface="Arial" panose="020B0604020202020204" pitchFamily="34" charset="0"/>
                <a:ea typeface="微软雅黑" panose="020B0503020204020204" charset="-122"/>
                <a:sym typeface="+mn-ea"/>
              </a:endParaRPr>
            </a:p>
          </p:txBody>
        </p:sp>
        <p:sp>
          <p:nvSpPr>
            <p:cNvPr id="12" name="文本框 11"/>
            <p:cNvSpPr txBox="1"/>
            <p:nvPr/>
          </p:nvSpPr>
          <p:spPr>
            <a:xfrm>
              <a:off x="443" y="363"/>
              <a:ext cx="7301" cy="628"/>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机器人关节类型与自由度</a:t>
              </a:r>
              <a:endParaRPr lang="zh-CN" altLang="en-US" sz="2000" b="1" dirty="0">
                <a:solidFill>
                  <a:schemeClr val="tx1"/>
                </a:solidFill>
                <a:latin typeface="Arial" panose="020B0604020202020204" pitchFamily="34" charset="0"/>
                <a:ea typeface="微软雅黑" panose="020B0503020204020204" charset="-122"/>
                <a:sym typeface="+mn-ea"/>
              </a:endParaRPr>
            </a:p>
          </p:txBody>
        </p:sp>
        <p:sp>
          <p:nvSpPr>
            <p:cNvPr id="13" name="椭圆 12"/>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3" name="图片 22"/>
          <p:cNvPicPr/>
          <p:nvPr/>
        </p:nvPicPr>
        <p:blipFill>
          <a:blip r:embed="rId3"/>
          <a:stretch>
            <a:fillRect/>
          </a:stretch>
        </p:blipFill>
        <p:spPr>
          <a:xfrm>
            <a:off x="1115616" y="1110615"/>
            <a:ext cx="2639695" cy="3086100"/>
          </a:xfrm>
          <a:prstGeom prst="rect">
            <a:avLst/>
          </a:prstGeom>
        </p:spPr>
      </p:pic>
      <p:sp>
        <p:nvSpPr>
          <p:cNvPr id="2" name="矩形 1"/>
          <p:cNvSpPr/>
          <p:nvPr/>
        </p:nvSpPr>
        <p:spPr>
          <a:xfrm>
            <a:off x="1333641" y="4304784"/>
            <a:ext cx="2531462"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图</a:t>
            </a:r>
            <a:r>
              <a:rPr lang="en-US" altLang="zh-CN" dirty="0">
                <a:latin typeface="Times New Roman" panose="02020603050405020304" pitchFamily="18" charset="0"/>
              </a:rPr>
              <a:t>2.26 Delta</a:t>
            </a:r>
            <a:r>
              <a:rPr lang="zh-CN" altLang="zh-CN" dirty="0">
                <a:latin typeface="Times New Roman" panose="02020603050405020304" pitchFamily="18" charset="0"/>
                <a:cs typeface="Times New Roman" panose="02020603050405020304" pitchFamily="18" charset="0"/>
              </a:rPr>
              <a:t>并联机器人</a:t>
            </a:r>
            <a:endParaRPr lang="zh-CN" altLang="en-US" dirty="0"/>
          </a:p>
        </p:txBody>
      </p:sp>
      <mc:AlternateContent xmlns:mc="http://schemas.openxmlformats.org/markup-compatibility/2006" xmlns:a14="http://schemas.microsoft.com/office/drawing/2010/main">
        <mc:Choice Requires="a14">
          <p:sp>
            <p:nvSpPr>
              <p:cNvPr id="3" name="矩形 2"/>
              <p:cNvSpPr/>
              <p:nvPr/>
            </p:nvSpPr>
            <p:spPr>
              <a:xfrm>
                <a:off x="3944110" y="1419622"/>
                <a:ext cx="457567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𝑑𝑜𝑓</m:t>
                      </m:r>
                      <m:r>
                        <a:rPr lang="zh-CN" altLang="en-US" i="0">
                          <a:latin typeface="Cambria Math" panose="02040503050406030204" pitchFamily="18" charset="0"/>
                        </a:rPr>
                        <m:t>=6</m:t>
                      </m:r>
                      <m:d>
                        <m:dPr>
                          <m:ctrlPr>
                            <a:rPr lang="zh-CN" altLang="en-US" i="1">
                              <a:latin typeface="Cambria Math" panose="02040503050406030204" pitchFamily="18" charset="0"/>
                            </a:rPr>
                          </m:ctrlPr>
                        </m:dPr>
                        <m:e>
                          <m:r>
                            <a:rPr lang="zh-CN" altLang="en-US" i="0">
                              <a:latin typeface="Cambria Math" panose="02040503050406030204" pitchFamily="18" charset="0"/>
                            </a:rPr>
                            <m:t>17−1−21</m:t>
                          </m:r>
                        </m:e>
                      </m:d>
                      <m:r>
                        <a:rPr lang="zh-CN" altLang="en-US" i="0">
                          <a:latin typeface="Cambria Math" panose="02040503050406030204" pitchFamily="18" charset="0"/>
                        </a:rPr>
                        <m:t>+9</m:t>
                      </m:r>
                      <m:d>
                        <m:dPr>
                          <m:ctrlPr>
                            <a:rPr lang="zh-CN" altLang="en-US" i="1">
                              <a:latin typeface="Cambria Math" panose="02040503050406030204" pitchFamily="18" charset="0"/>
                            </a:rPr>
                          </m:ctrlPr>
                        </m:dPr>
                        <m:e>
                          <m:r>
                            <a:rPr lang="zh-CN" altLang="en-US" i="0">
                              <a:latin typeface="Cambria Math" panose="02040503050406030204" pitchFamily="18" charset="0"/>
                            </a:rPr>
                            <m:t>1</m:t>
                          </m:r>
                        </m:e>
                      </m:d>
                      <m:r>
                        <a:rPr lang="zh-CN" altLang="en-US" i="0">
                          <a:latin typeface="Cambria Math" panose="02040503050406030204" pitchFamily="18" charset="0"/>
                        </a:rPr>
                        <m:t>+12(3)=15</m:t>
                      </m:r>
                    </m:oMath>
                  </m:oMathPara>
                </a14:m>
                <a:endParaRPr lang="zh-CN" altLang="en-US" dirty="0"/>
              </a:p>
            </p:txBody>
          </p:sp>
        </mc:Choice>
        <mc:Fallback xmlns="">
          <p:sp>
            <p:nvSpPr>
              <p:cNvPr id="3" name="矩形 2"/>
              <p:cNvSpPr>
                <a:spLocks noRot="1" noChangeAspect="1" noMove="1" noResize="1" noEditPoints="1" noAdjustHandles="1" noChangeArrowheads="1" noChangeShapeType="1" noTextEdit="1"/>
              </p:cNvSpPr>
              <p:nvPr/>
            </p:nvSpPr>
            <p:spPr>
              <a:xfrm>
                <a:off x="3944110" y="1419622"/>
                <a:ext cx="4575676" cy="369332"/>
              </a:xfrm>
              <a:prstGeom prst="rect">
                <a:avLst/>
              </a:prstGeom>
              <a:blipFill rotWithShape="1">
                <a:blip r:embed="rId4"/>
                <a:stretch>
                  <a:fillRect l="-3" t="-107" r="14" b="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5508104" y="1034670"/>
                <a:ext cx="104573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𝐺𝑟</m:t>
                      </m:r>
                      <m:r>
                        <a:rPr lang="zh-CN" altLang="en-US" i="0">
                          <a:latin typeface="Cambria Math" panose="02040503050406030204" pitchFamily="18" charset="0"/>
                        </a:rPr>
                        <m:t>ü</m:t>
                      </m:r>
                      <m:r>
                        <a:rPr lang="zh-CN" altLang="en-US" i="1">
                          <a:latin typeface="Cambria Math" panose="02040503050406030204" pitchFamily="18" charset="0"/>
                        </a:rPr>
                        <m:t>𝑏𝑙𝑒𝑟</m:t>
                      </m:r>
                    </m:oMath>
                  </m:oMathPara>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5508104" y="1034670"/>
                <a:ext cx="1045735" cy="369332"/>
              </a:xfrm>
              <a:prstGeom prst="rect">
                <a:avLst/>
              </a:prstGeom>
              <a:blipFill rotWithShape="1">
                <a:blip r:embed="rId5"/>
                <a:stretch>
                  <a:fillRect l="-11" t="-69" b="5"/>
                </a:stretch>
              </a:blipFill>
            </p:spPr>
            <p:txBody>
              <a:bodyPr/>
              <a:lstStyle/>
              <a:p>
                <a:r>
                  <a:rPr lang="zh-CN" altLang="en-US">
                    <a:noFill/>
                  </a:rPr>
                  <a:t> </a:t>
                </a:r>
              </a:p>
            </p:txBody>
          </p:sp>
        </mc:Fallback>
      </mc:AlternateContent>
      <p:sp>
        <p:nvSpPr>
          <p:cNvPr id="7" name="矩形 6"/>
          <p:cNvSpPr/>
          <p:nvPr/>
        </p:nvSpPr>
        <p:spPr>
          <a:xfrm>
            <a:off x="4067944" y="1886793"/>
            <a:ext cx="4572000" cy="1384995"/>
          </a:xfrm>
          <a:prstGeom prst="rect">
            <a:avLst/>
          </a:prstGeom>
        </p:spPr>
        <p:txBody>
          <a:bodyPr>
            <a:spAutoFit/>
          </a:bodyPr>
          <a:lstStyle/>
          <a:p>
            <a:r>
              <a:rPr lang="zh-CN" altLang="zh-CN" sz="1400" dirty="0">
                <a:latin typeface="Times New Roman" panose="02020603050405020304" pitchFamily="18" charset="0"/>
                <a:cs typeface="Times New Roman" panose="02020603050405020304" pitchFamily="18" charset="0"/>
              </a:rPr>
              <a:t>实际上，这</a:t>
            </a:r>
            <a:r>
              <a:rPr lang="en-US" altLang="zh-CN" sz="1400" dirty="0">
                <a:latin typeface="Times New Roman" panose="02020603050405020304" pitchFamily="18" charset="0"/>
              </a:rPr>
              <a:t>3</a:t>
            </a:r>
            <a:r>
              <a:rPr lang="zh-CN" altLang="zh-CN" sz="1400" dirty="0">
                <a:latin typeface="Times New Roman" panose="02020603050405020304" pitchFamily="18" charset="0"/>
                <a:cs typeface="Times New Roman" panose="02020603050405020304" pitchFamily="18" charset="0"/>
              </a:rPr>
              <a:t>个空间平行四边形闭链机构是为了确保动静平台始终保持平行设置的，计算出的</a:t>
            </a:r>
            <a:r>
              <a:rPr lang="en-US" altLang="zh-CN" sz="1400" dirty="0">
                <a:latin typeface="Times New Roman" panose="02020603050405020304" pitchFamily="18" charset="0"/>
              </a:rPr>
              <a:t>15</a:t>
            </a:r>
            <a:r>
              <a:rPr lang="zh-CN" altLang="zh-CN" sz="1400" dirty="0">
                <a:latin typeface="Times New Roman" panose="02020603050405020304" pitchFamily="18" charset="0"/>
                <a:cs typeface="Times New Roman" panose="02020603050405020304" pitchFamily="18" charset="0"/>
              </a:rPr>
              <a:t>个自由度中，实际上末端执行器的运动只有</a:t>
            </a:r>
            <a:r>
              <a:rPr lang="en-US" altLang="zh-CN" sz="1400" dirty="0">
                <a:latin typeface="Times New Roman" panose="02020603050405020304" pitchFamily="18" charset="0"/>
              </a:rPr>
              <a:t>3</a:t>
            </a:r>
            <a:r>
              <a:rPr lang="zh-CN" altLang="zh-CN" sz="1400" dirty="0">
                <a:latin typeface="Times New Roman" panose="02020603050405020304" pitchFamily="18" charset="0"/>
                <a:cs typeface="Times New Roman" panose="02020603050405020304" pitchFamily="18" charset="0"/>
              </a:rPr>
              <a:t>个直角坐标系下的平移自由度，其他的</a:t>
            </a:r>
            <a:r>
              <a:rPr lang="en-US" altLang="zh-CN" sz="1400" dirty="0">
                <a:latin typeface="Times New Roman" panose="02020603050405020304" pitchFamily="18" charset="0"/>
              </a:rPr>
              <a:t>12</a:t>
            </a:r>
            <a:r>
              <a:rPr lang="zh-CN" altLang="zh-CN" sz="1400" dirty="0">
                <a:latin typeface="Times New Roman" panose="02020603050405020304" pitchFamily="18" charset="0"/>
                <a:cs typeface="Times New Roman" panose="02020603050405020304" pitchFamily="18" charset="0"/>
              </a:rPr>
              <a:t>个实际为局部自由度，这</a:t>
            </a:r>
            <a:r>
              <a:rPr lang="en-US" altLang="zh-CN" sz="1400" dirty="0">
                <a:latin typeface="Times New Roman" panose="02020603050405020304" pitchFamily="18" charset="0"/>
              </a:rPr>
              <a:t>12</a:t>
            </a:r>
            <a:r>
              <a:rPr lang="zh-CN" altLang="zh-CN" sz="1400" dirty="0">
                <a:latin typeface="Times New Roman" panose="02020603050405020304" pitchFamily="18" charset="0"/>
                <a:cs typeface="Times New Roman" panose="02020603050405020304" pitchFamily="18" charset="0"/>
              </a:rPr>
              <a:t>个自由度反映了空间平行四边形结构中的</a:t>
            </a:r>
            <a:r>
              <a:rPr lang="en-US" altLang="zh-CN" sz="1400" dirty="0">
                <a:latin typeface="Times New Roman" panose="02020603050405020304" pitchFamily="18" charset="0"/>
              </a:rPr>
              <a:t>12</a:t>
            </a:r>
            <a:r>
              <a:rPr lang="zh-CN" altLang="zh-CN" sz="1400" dirty="0">
                <a:latin typeface="Times New Roman" panose="02020603050405020304" pitchFamily="18" charset="0"/>
                <a:cs typeface="Times New Roman" panose="02020603050405020304" pitchFamily="18" charset="0"/>
              </a:rPr>
              <a:t>根杆（</a:t>
            </a:r>
            <a:r>
              <a:rPr lang="en-US" altLang="zh-CN" sz="1400" dirty="0">
                <a:latin typeface="Times New Roman" panose="02020603050405020304" pitchFamily="18" charset="0"/>
              </a:rPr>
              <a:t>3</a:t>
            </a:r>
            <a:r>
              <a:rPr lang="zh-CN" altLang="zh-CN" sz="1400" dirty="0">
                <a:latin typeface="Times New Roman" panose="02020603050405020304" pitchFamily="18" charset="0"/>
                <a:cs typeface="Times New Roman" panose="02020603050405020304" pitchFamily="18" charset="0"/>
              </a:rPr>
              <a:t>个平行四边形）绕其长轴的扭转。</a:t>
            </a:r>
            <a:endParaRPr lang="zh-CN" altLang="en-US" sz="1400" dirty="0"/>
          </a:p>
        </p:txBody>
      </p:sp>
      <p:sp>
        <p:nvSpPr>
          <p:cNvPr id="8" name="圆角矩形 7"/>
          <p:cNvSpPr/>
          <p:nvPr/>
        </p:nvSpPr>
        <p:spPr>
          <a:xfrm>
            <a:off x="3944110" y="1886793"/>
            <a:ext cx="4695834" cy="13849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矩形 8"/>
              <p:cNvSpPr/>
              <p:nvPr/>
            </p:nvSpPr>
            <p:spPr>
              <a:xfrm>
                <a:off x="4537229" y="3802852"/>
                <a:ext cx="3852850" cy="8712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𝑑𝑜𝑓</m:t>
                      </m:r>
                      <m:r>
                        <a:rPr lang="zh-CN" altLang="en-US" i="0">
                          <a:latin typeface="Cambria Math" panose="02040503050406030204" pitchFamily="18" charset="0"/>
                        </a:rPr>
                        <m:t>=</m:t>
                      </m:r>
                      <m:r>
                        <a:rPr lang="zh-CN" altLang="en-US" i="1">
                          <a:latin typeface="Cambria Math" panose="02040503050406030204" pitchFamily="18" charset="0"/>
                        </a:rPr>
                        <m:t>𝑚</m:t>
                      </m:r>
                      <m:d>
                        <m:dPr>
                          <m:ctrlPr>
                            <a:rPr lang="zh-CN" altLang="en-US" i="1">
                              <a:latin typeface="Cambria Math" panose="02040503050406030204" pitchFamily="18" charset="0"/>
                            </a:rPr>
                          </m:ctrlPr>
                        </m:dPr>
                        <m:e>
                          <m:r>
                            <a:rPr lang="zh-CN" altLang="en-US" i="1">
                              <a:latin typeface="Cambria Math" panose="02040503050406030204" pitchFamily="18" charset="0"/>
                            </a:rPr>
                            <m:t>𝑁</m:t>
                          </m:r>
                          <m:r>
                            <a:rPr lang="zh-CN" altLang="en-US" i="0">
                              <a:latin typeface="Cambria Math" panose="02040503050406030204" pitchFamily="18" charset="0"/>
                            </a:rPr>
                            <m:t>−1−</m:t>
                          </m:r>
                          <m:r>
                            <a:rPr lang="zh-CN" altLang="en-US" i="1">
                              <a:latin typeface="Cambria Math" panose="02040503050406030204" pitchFamily="18" charset="0"/>
                            </a:rPr>
                            <m:t>𝐽</m:t>
                          </m:r>
                        </m:e>
                      </m:d>
                      <m:r>
                        <a:rPr lang="zh-CN" altLang="en-US" i="0">
                          <a:latin typeface="Cambria Math" panose="02040503050406030204" pitchFamily="18" charset="0"/>
                        </a:rPr>
                        <m:t>+</m:t>
                      </m:r>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=1</m:t>
                          </m:r>
                        </m:sub>
                        <m:sup>
                          <m:r>
                            <a:rPr lang="zh-CN" altLang="en-US" i="1">
                              <a:latin typeface="Cambria Math" panose="02040503050406030204" pitchFamily="18" charset="0"/>
                            </a:rPr>
                            <m:t>𝐽</m:t>
                          </m:r>
                        </m:sup>
                        <m:e>
                          <m:sSub>
                            <m:sSubPr>
                              <m:ctrlPr>
                                <a:rPr lang="zh-CN" altLang="en-US" i="1">
                                  <a:latin typeface="Cambria Math" panose="02040503050406030204" pitchFamily="18" charset="0"/>
                                </a:rPr>
                              </m:ctrlPr>
                            </m:sSubPr>
                            <m:e>
                              <m:r>
                                <a:rPr lang="zh-CN" altLang="en-US" i="1">
                                  <a:latin typeface="Cambria Math" panose="02040503050406030204" pitchFamily="18" charset="0"/>
                                </a:rPr>
                                <m:t>𝑓</m:t>
                              </m:r>
                            </m:e>
                            <m:sub>
                              <m:r>
                                <a:rPr lang="zh-CN" altLang="en-US" i="1">
                                  <a:latin typeface="Cambria Math" panose="02040503050406030204" pitchFamily="18" charset="0"/>
                                </a:rPr>
                                <m:t>𝑖</m:t>
                              </m:r>
                            </m:sub>
                          </m:sSub>
                        </m:e>
                      </m:nary>
                      <m:r>
                        <a:rPr lang="zh-CN" altLang="en-US" i="0">
                          <a:latin typeface="Cambria Math" panose="02040503050406030204" pitchFamily="18" charset="0"/>
                        </a:rPr>
                        <m:t>+</m:t>
                      </m:r>
                      <m:r>
                        <a:rPr lang="zh-CN" altLang="en-US" i="1">
                          <a:latin typeface="Cambria Math" panose="02040503050406030204" pitchFamily="18" charset="0"/>
                        </a:rPr>
                        <m:t>𝑣</m:t>
                      </m:r>
                      <m:r>
                        <a:rPr lang="zh-CN" altLang="en-US" i="0">
                          <a:latin typeface="Cambria Math" panose="02040503050406030204" pitchFamily="18" charset="0"/>
                        </a:rPr>
                        <m:t>−</m:t>
                      </m:r>
                      <m:r>
                        <a:rPr lang="zh-CN" altLang="en-US" i="1">
                          <a:latin typeface="Cambria Math" panose="02040503050406030204" pitchFamily="18" charset="0"/>
                        </a:rPr>
                        <m:t>𝜉</m:t>
                      </m:r>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4537229" y="3802852"/>
                <a:ext cx="3852850" cy="871264"/>
              </a:xfrm>
              <a:prstGeom prst="rect">
                <a:avLst/>
              </a:prstGeom>
              <a:blipFill rotWithShape="1">
                <a:blip r:embed="rId6"/>
                <a:stretch>
                  <a:fillRect l="-4" t="-54" r="12" b="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508104" y="3433520"/>
                <a:ext cx="1911101" cy="369332"/>
              </a:xfrm>
              <a:prstGeom prst="rect">
                <a:avLst/>
              </a:prstGeom>
            </p:spPr>
            <p:txBody>
              <a:bodyPr wrap="none">
                <a:spAutoFit/>
              </a:bodyPr>
              <a:lstStyle/>
              <a:p>
                <a14:m>
                  <m:oMath xmlns:m="http://schemas.openxmlformats.org/officeDocument/2006/math">
                    <m:r>
                      <a:rPr lang="en-US" altLang="zh-CN" i="1">
                        <a:latin typeface="Cambria Math" panose="02040503050406030204" pitchFamily="18" charset="0"/>
                        <a:cs typeface="Times New Roman" panose="02020603050405020304" pitchFamily="18" charset="0"/>
                      </a:rPr>
                      <m:t>𝐺𝑟</m:t>
                    </m:r>
                    <m:r>
                      <a:rPr lang="en-US" altLang="zh-CN">
                        <a:latin typeface="Cambria Math" panose="02040503050406030204" pitchFamily="18" charset="0"/>
                        <a:cs typeface="Times New Roman" panose="02020603050405020304" pitchFamily="18" charset="0"/>
                      </a:rPr>
                      <m:t>ü</m:t>
                    </m:r>
                    <m:r>
                      <a:rPr lang="en-US" altLang="zh-CN" i="1">
                        <a:latin typeface="Cambria Math" panose="02040503050406030204" pitchFamily="18" charset="0"/>
                        <a:cs typeface="Times New Roman" panose="02020603050405020304" pitchFamily="18" charset="0"/>
                      </a:rPr>
                      <m:t>𝑏𝑙𝑒𝑟</m:t>
                    </m:r>
                    <m:r>
                      <a:rPr lang="zh-CN" altLang="en-US" i="1" smtClean="0">
                        <a:latin typeface="Cambria Math" panose="02040503050406030204" pitchFamily="18" charset="0"/>
                        <a:cs typeface="Times New Roman" panose="02020603050405020304" pitchFamily="18" charset="0"/>
                      </a:rPr>
                      <m:t>修正</m:t>
                    </m:r>
                  </m:oMath>
                </a14:m>
                <a:r>
                  <a:rPr lang="zh-CN" altLang="zh-CN" dirty="0">
                    <a:latin typeface="Times New Roman" panose="02020603050405020304" pitchFamily="18" charset="0"/>
                    <a:cs typeface="Times New Roman" panose="02020603050405020304" pitchFamily="18" charset="0"/>
                  </a:rPr>
                  <a:t>公式</a:t>
                </a:r>
                <a:endParaRPr lang="zh-CN" altLang="en-US" dirty="0"/>
              </a:p>
            </p:txBody>
          </p:sp>
        </mc:Choice>
        <mc:Fallback xmlns="">
          <p:sp>
            <p:nvSpPr>
              <p:cNvPr id="14" name="矩形 13"/>
              <p:cNvSpPr>
                <a:spLocks noRot="1" noChangeAspect="1" noMove="1" noResize="1" noEditPoints="1" noAdjustHandles="1" noChangeArrowheads="1" noChangeShapeType="1" noTextEdit="1"/>
              </p:cNvSpPr>
              <p:nvPr/>
            </p:nvSpPr>
            <p:spPr>
              <a:xfrm>
                <a:off x="5508104" y="3433520"/>
                <a:ext cx="1911101" cy="369332"/>
              </a:xfrm>
              <a:prstGeom prst="rect">
                <a:avLst/>
              </a:prstGeom>
              <a:blipFill rotWithShape="1">
                <a:blip r:embed="rId7"/>
                <a:stretch>
                  <a:fillRect l="-6" t="-20" r="26" b="128"/>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998368"/>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机器人的形式多种多样，但如果按照刚体的运动进行抽象，我们可以把机器人简化成刚体树</a:t>
            </a:r>
            <a:r>
              <a:rPr lang="en-US" altLang="zh-CN" sz="1200" dirty="0">
                <a:latin typeface="Arial" panose="020B0604020202020204" pitchFamily="34" charset="0"/>
                <a:ea typeface="微软雅黑" panose="020B0503020204020204" charset="-122"/>
                <a:sym typeface="+mn-ea"/>
              </a:rPr>
              <a:t>(Rigid Body Tree)</a:t>
            </a:r>
            <a:r>
              <a:rPr lang="zh-CN" altLang="en-US" sz="1200" dirty="0">
                <a:latin typeface="Arial" panose="020B0604020202020204" pitchFamily="34" charset="0"/>
                <a:ea typeface="微软雅黑" panose="020B0503020204020204" charset="-122"/>
                <a:sym typeface="+mn-ea"/>
              </a:rPr>
              <a:t>，刚体树由通过关节（</a:t>
            </a:r>
            <a:r>
              <a:rPr lang="en-US" altLang="zh-CN" sz="1200" dirty="0">
                <a:latin typeface="Arial" panose="020B0604020202020204" pitchFamily="34" charset="0"/>
                <a:ea typeface="微软雅黑" panose="020B0503020204020204" charset="-122"/>
                <a:sym typeface="+mn-ea"/>
              </a:rPr>
              <a:t>Joint</a:t>
            </a:r>
            <a:r>
              <a:rPr lang="zh-CN" altLang="en-US" sz="1200" dirty="0">
                <a:latin typeface="Arial" panose="020B0604020202020204" pitchFamily="34" charset="0"/>
                <a:ea typeface="微软雅黑" panose="020B0503020204020204" charset="-122"/>
                <a:sym typeface="+mn-ea"/>
              </a:rPr>
              <a:t>）连接的刚体（</a:t>
            </a:r>
            <a:r>
              <a:rPr lang="en-US" altLang="zh-CN" sz="1200" dirty="0">
                <a:latin typeface="Arial" panose="020B0604020202020204" pitchFamily="34" charset="0"/>
                <a:ea typeface="微软雅黑" panose="020B0503020204020204" charset="-122"/>
                <a:sym typeface="+mn-ea"/>
              </a:rPr>
              <a:t>Body</a:t>
            </a:r>
            <a:r>
              <a:rPr lang="zh-CN" altLang="en-US" sz="1200" dirty="0">
                <a:latin typeface="Arial" panose="020B0604020202020204" pitchFamily="34" charset="0"/>
                <a:ea typeface="微软雅黑" panose="020B0503020204020204" charset="-122"/>
                <a:sym typeface="+mn-ea"/>
              </a:rPr>
              <a:t>）组成。采用刚体树结构进行简化描述的机器人模型，我们称为刚体树机器人模型</a:t>
            </a:r>
            <a:r>
              <a:rPr lang="en-US" altLang="zh-CN" sz="1200" dirty="0">
                <a:latin typeface="Arial" panose="020B0604020202020204" pitchFamily="34" charset="0"/>
                <a:ea typeface="微软雅黑" panose="020B0503020204020204" charset="-122"/>
                <a:sym typeface="+mn-ea"/>
              </a:rPr>
              <a:t>(Rigid Body Tree Robot Model)</a:t>
            </a:r>
            <a:r>
              <a:rPr lang="zh-CN" altLang="en-US" sz="1200" dirty="0">
                <a:latin typeface="Arial" panose="020B0604020202020204" pitchFamily="34" charset="0"/>
                <a:ea typeface="微软雅黑" panose="020B0503020204020204" charset="-122"/>
                <a:sym typeface="+mn-ea"/>
              </a:rPr>
              <a:t>，目前有几种常用的机器人通用描述语言：</a:t>
            </a:r>
            <a:r>
              <a:rPr lang="en-US" altLang="zh-CN" sz="1200" dirty="0">
                <a:latin typeface="Arial" panose="020B0604020202020204" pitchFamily="34" charset="0"/>
                <a:ea typeface="微软雅黑" panose="020B0503020204020204" charset="-122"/>
                <a:sym typeface="+mn-ea"/>
              </a:rPr>
              <a:t>URDF</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SDF</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MJCF</a:t>
            </a:r>
            <a:r>
              <a:rPr lang="zh-CN" altLang="en-US" sz="1200" dirty="0">
                <a:latin typeface="Arial" panose="020B0604020202020204" pitchFamily="34" charset="0"/>
                <a:ea typeface="微软雅黑" panose="020B0503020204020204" charset="-122"/>
                <a:sym typeface="+mn-ea"/>
              </a:rPr>
              <a:t>等文件格式。</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4645218"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机器人建模描述文件与仿真</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06</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318529"/>
            <a:ext cx="5274310" cy="3058160"/>
          </a:xfrm>
          <a:prstGeom prst="rect">
            <a:avLst/>
          </a:prstGeom>
          <a:noFill/>
          <a:ln>
            <a:noFill/>
          </a:ln>
        </p:spPr>
      </p:pic>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 Description and Simulation</a:t>
              </a: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机器人建模描述文件与仿真</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899592" y="4503854"/>
            <a:ext cx="5205095" cy="338554"/>
          </a:xfrm>
          <a:prstGeom prst="rect">
            <a:avLst/>
          </a:prstGeom>
        </p:spPr>
        <p:txBody>
          <a:bodyPr wrap="square">
            <a:spAutoFit/>
          </a:bodyPr>
          <a:lstStyle/>
          <a:p>
            <a:r>
              <a:rPr lang="zh-CN" altLang="zh-CN" sz="1600" dirty="0"/>
              <a:t>刚体树由基座</a:t>
            </a:r>
            <a:r>
              <a:rPr lang="en-US" altLang="zh-CN" sz="1600" dirty="0"/>
              <a:t>(base)</a:t>
            </a:r>
            <a:r>
              <a:rPr lang="zh-CN" altLang="zh-CN" sz="1600" dirty="0"/>
              <a:t>、刚体</a:t>
            </a:r>
            <a:r>
              <a:rPr lang="en-US" altLang="zh-CN" sz="1600" dirty="0"/>
              <a:t>(rigid)</a:t>
            </a:r>
            <a:r>
              <a:rPr lang="zh-CN" altLang="zh-CN" sz="1600" dirty="0"/>
              <a:t>、关节</a:t>
            </a:r>
            <a:r>
              <a:rPr lang="en-US" altLang="zh-CN" sz="1600" dirty="0"/>
              <a:t>(joint)</a:t>
            </a:r>
            <a:r>
              <a:rPr lang="zh-CN" altLang="zh-CN" sz="1600" dirty="0"/>
              <a:t>等组件组成</a:t>
            </a:r>
            <a:endParaRPr lang="zh-CN" altLang="en-US" sz="1600" dirty="0"/>
          </a:p>
        </p:txBody>
      </p:sp>
      <p:sp>
        <p:nvSpPr>
          <p:cNvPr id="8" name="矩形 7"/>
          <p:cNvSpPr/>
          <p:nvPr/>
        </p:nvSpPr>
        <p:spPr>
          <a:xfrm>
            <a:off x="1691680" y="829664"/>
            <a:ext cx="5526360" cy="400110"/>
          </a:xfrm>
          <a:prstGeom prst="rect">
            <a:avLst/>
          </a:prstGeom>
        </p:spPr>
        <p:txBody>
          <a:bodyPr wrap="square">
            <a:spAutoFit/>
          </a:bodyPr>
          <a:lstStyle/>
          <a:p>
            <a:r>
              <a:rPr lang="zh-CN" altLang="zh-CN" sz="2000" b="1" dirty="0">
                <a:solidFill>
                  <a:srgbClr val="002060"/>
                </a:solidFill>
              </a:rPr>
              <a:t>刚体树机器人模型</a:t>
            </a:r>
            <a:r>
              <a:rPr lang="en-US" altLang="zh-CN" sz="2000" dirty="0">
                <a:solidFill>
                  <a:srgbClr val="002060"/>
                </a:solidFill>
              </a:rPr>
              <a:t>(Rigid Body Tree Robot Model)</a:t>
            </a:r>
            <a:endParaRPr lang="zh-CN" altLang="en-US" sz="2000" dirty="0">
              <a:solidFill>
                <a:srgbClr val="002060"/>
              </a:solidFill>
            </a:endParaRPr>
          </a:p>
        </p:txBody>
      </p:sp>
      <p:sp>
        <p:nvSpPr>
          <p:cNvPr id="9" name="矩形 8"/>
          <p:cNvSpPr/>
          <p:nvPr/>
        </p:nvSpPr>
        <p:spPr>
          <a:xfrm>
            <a:off x="5508104" y="1635646"/>
            <a:ext cx="3384376" cy="2554545"/>
          </a:xfrm>
          <a:prstGeom prst="rect">
            <a:avLst/>
          </a:prstGeom>
        </p:spPr>
        <p:txBody>
          <a:bodyPr wrap="square">
            <a:spAutoFit/>
          </a:bodyPr>
          <a:lstStyle/>
          <a:p>
            <a:r>
              <a:rPr lang="zh-CN" altLang="zh-CN" sz="1600" b="1" dirty="0"/>
              <a:t>关节</a:t>
            </a:r>
            <a:r>
              <a:rPr lang="en-US" altLang="zh-CN" sz="1600" b="1" dirty="0"/>
              <a:t>(joint</a:t>
            </a:r>
            <a:r>
              <a:rPr lang="en-US" altLang="zh-CN" sz="1600" b="1" dirty="0" smtClean="0"/>
              <a:t>):</a:t>
            </a:r>
          </a:p>
          <a:p>
            <a:pPr marL="285750" indent="-285750">
              <a:buFont typeface="Wingdings" panose="05000000000000000000" pitchFamily="2" charset="2"/>
              <a:buChar char="Ø"/>
            </a:pPr>
            <a:r>
              <a:rPr lang="zh-CN" altLang="zh-CN" sz="1600" dirty="0" smtClean="0"/>
              <a:t>固定</a:t>
            </a:r>
            <a:r>
              <a:rPr lang="zh-CN" altLang="zh-CN" sz="1600" dirty="0"/>
              <a:t>关节</a:t>
            </a:r>
            <a:r>
              <a:rPr lang="en-US" altLang="zh-CN" sz="1600" dirty="0"/>
              <a:t>(fixed joint,</a:t>
            </a:r>
            <a:r>
              <a:rPr lang="zh-CN" altLang="zh-CN" sz="1600" dirty="0"/>
              <a:t>表示对应的刚体固定连接到父节点上，无法运动</a:t>
            </a:r>
            <a:r>
              <a:rPr lang="en-US" altLang="zh-CN" sz="1600" dirty="0" smtClean="0"/>
              <a:t>)</a:t>
            </a:r>
          </a:p>
          <a:p>
            <a:pPr marL="285750" indent="-285750">
              <a:buFont typeface="Wingdings" panose="05000000000000000000" pitchFamily="2" charset="2"/>
              <a:buChar char="Ø"/>
            </a:pPr>
            <a:r>
              <a:rPr lang="zh-CN" altLang="zh-CN" sz="1600" dirty="0" smtClean="0"/>
              <a:t>旋转关节</a:t>
            </a:r>
            <a:r>
              <a:rPr lang="en-US" altLang="zh-CN" sz="1600" dirty="0"/>
              <a:t>(revolute joint, </a:t>
            </a:r>
            <a:r>
              <a:rPr lang="zh-CN" altLang="zh-CN" sz="1600" dirty="0"/>
              <a:t>表示对应的刚体相对于父节点进行旋转运动</a:t>
            </a:r>
            <a:r>
              <a:rPr lang="en-US" altLang="zh-CN" sz="1600" dirty="0" smtClean="0"/>
              <a:t>)</a:t>
            </a:r>
          </a:p>
          <a:p>
            <a:pPr marL="285750" indent="-285750">
              <a:buFont typeface="Wingdings" panose="05000000000000000000" pitchFamily="2" charset="2"/>
              <a:buChar char="Ø"/>
            </a:pPr>
            <a:r>
              <a:rPr lang="zh-CN" altLang="zh-CN" sz="1600" dirty="0" smtClean="0"/>
              <a:t>平移</a:t>
            </a:r>
            <a:r>
              <a:rPr lang="zh-CN" altLang="zh-CN" sz="1600" dirty="0"/>
              <a:t>关节（</a:t>
            </a:r>
            <a:r>
              <a:rPr lang="en-US" altLang="zh-CN" sz="1600" dirty="0"/>
              <a:t>prismatic joint, </a:t>
            </a:r>
            <a:r>
              <a:rPr lang="zh-CN" altLang="zh-CN" sz="1600" dirty="0"/>
              <a:t>表示对应的刚体相对于父节点只能进行线性平移运动）</a:t>
            </a:r>
            <a:endParaRPr lang="zh-CN" altLang="en-US" sz="160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 Description and Simulation</a:t>
              </a: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机器人建模描述文件与仿真</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 name="图片 9"/>
          <p:cNvPicPr/>
          <p:nvPr/>
        </p:nvPicPr>
        <p:blipFill>
          <a:blip r:embed="rId3"/>
          <a:stretch>
            <a:fillRect/>
          </a:stretch>
        </p:blipFill>
        <p:spPr>
          <a:xfrm>
            <a:off x="1418708" y="1695122"/>
            <a:ext cx="6249635" cy="2964859"/>
          </a:xfrm>
          <a:prstGeom prst="rect">
            <a:avLst/>
          </a:prstGeom>
        </p:spPr>
      </p:pic>
      <p:sp>
        <p:nvSpPr>
          <p:cNvPr id="11" name="矩形 10"/>
          <p:cNvSpPr/>
          <p:nvPr/>
        </p:nvSpPr>
        <p:spPr>
          <a:xfrm>
            <a:off x="3779912" y="1100903"/>
            <a:ext cx="1277914" cy="400110"/>
          </a:xfrm>
          <a:prstGeom prst="rect">
            <a:avLst/>
          </a:prstGeom>
        </p:spPr>
        <p:txBody>
          <a:bodyPr wrap="none">
            <a:spAutoFit/>
          </a:bodyPr>
          <a:lstStyle/>
          <a:p>
            <a:r>
              <a:rPr lang="en-US" altLang="zh-CN" sz="2000" dirty="0">
                <a:solidFill>
                  <a:srgbClr val="002060"/>
                </a:solidFill>
                <a:latin typeface="Calibri" panose="020F0502020204030204" charset="0"/>
                <a:cs typeface="Times New Roman" panose="02020603050405020304" pitchFamily="18" charset="0"/>
              </a:rPr>
              <a:t>URDF</a:t>
            </a:r>
            <a:r>
              <a:rPr lang="zh-CN" altLang="zh-CN" sz="2000" dirty="0">
                <a:solidFill>
                  <a:srgbClr val="002060"/>
                </a:solidFill>
                <a:latin typeface="Calibri" panose="020F0502020204030204" charset="0"/>
                <a:cs typeface="Times New Roman" panose="02020603050405020304" pitchFamily="18" charset="0"/>
              </a:rPr>
              <a:t>模型</a:t>
            </a:r>
            <a:endParaRPr lang="zh-CN" altLang="en-US" sz="2000" dirty="0">
              <a:solidFill>
                <a:srgbClr val="002060"/>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 Description and Simulation</a:t>
              </a: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机器人建模描述文件与仿真</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p:nvSpPr>
        <p:spPr>
          <a:xfrm>
            <a:off x="899592" y="2416134"/>
            <a:ext cx="2388283" cy="400110"/>
          </a:xfrm>
          <a:prstGeom prst="rect">
            <a:avLst/>
          </a:prstGeom>
        </p:spPr>
        <p:txBody>
          <a:bodyPr wrap="none">
            <a:spAutoFit/>
          </a:bodyPr>
          <a:lstStyle/>
          <a:p>
            <a:r>
              <a:rPr lang="en-US" altLang="zh-CN" sz="2000" dirty="0">
                <a:solidFill>
                  <a:srgbClr val="002060"/>
                </a:solidFill>
                <a:latin typeface="Calibri" panose="020F0502020204030204" charset="0"/>
                <a:cs typeface="Times New Roman" panose="02020603050405020304" pitchFamily="18" charset="0"/>
              </a:rPr>
              <a:t>URDF</a:t>
            </a:r>
            <a:r>
              <a:rPr lang="zh-CN" altLang="zh-CN" sz="2000" dirty="0" smtClean="0">
                <a:solidFill>
                  <a:srgbClr val="002060"/>
                </a:solidFill>
                <a:latin typeface="Calibri" panose="020F0502020204030204" charset="0"/>
                <a:cs typeface="Times New Roman" panose="02020603050405020304" pitchFamily="18" charset="0"/>
              </a:rPr>
              <a:t>模型</a:t>
            </a:r>
            <a:r>
              <a:rPr lang="zh-CN" altLang="en-US" sz="2000" dirty="0" smtClean="0">
                <a:solidFill>
                  <a:srgbClr val="002060"/>
                </a:solidFill>
                <a:latin typeface="Calibri" panose="020F0502020204030204" charset="0"/>
                <a:cs typeface="Times New Roman" panose="02020603050405020304" pitchFamily="18" charset="0"/>
              </a:rPr>
              <a:t>基本格式</a:t>
            </a:r>
            <a:endParaRPr lang="zh-CN" altLang="en-US" sz="2000" dirty="0">
              <a:solidFill>
                <a:srgbClr val="002060"/>
              </a:solidFill>
            </a:endParaRPr>
          </a:p>
        </p:txBody>
      </p:sp>
      <p:pic>
        <p:nvPicPr>
          <p:cNvPr id="2" name="图片 1"/>
          <p:cNvPicPr>
            <a:picLocks noChangeAspect="1"/>
          </p:cNvPicPr>
          <p:nvPr/>
        </p:nvPicPr>
        <p:blipFill>
          <a:blip r:embed="rId3"/>
          <a:stretch>
            <a:fillRect/>
          </a:stretch>
        </p:blipFill>
        <p:spPr>
          <a:xfrm>
            <a:off x="3491880" y="230505"/>
            <a:ext cx="5447619" cy="477142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 Description and Simulation</a:t>
              </a: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机器人建模描述文件与仿真</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 name="图片 6"/>
          <p:cNvPicPr>
            <a:picLocks noChangeAspect="1"/>
          </p:cNvPicPr>
          <p:nvPr/>
        </p:nvPicPr>
        <p:blipFill>
          <a:blip r:embed="rId3"/>
          <a:stretch>
            <a:fillRect/>
          </a:stretch>
        </p:blipFill>
        <p:spPr>
          <a:xfrm>
            <a:off x="1331640" y="952562"/>
            <a:ext cx="5038095" cy="2380952"/>
          </a:xfrm>
          <a:prstGeom prst="rect">
            <a:avLst/>
          </a:prstGeom>
        </p:spPr>
      </p:pic>
      <p:pic>
        <p:nvPicPr>
          <p:cNvPr id="8" name="图片 7"/>
          <p:cNvPicPr>
            <a:picLocks noChangeAspect="1"/>
          </p:cNvPicPr>
          <p:nvPr/>
        </p:nvPicPr>
        <p:blipFill>
          <a:blip r:embed="rId4"/>
          <a:stretch>
            <a:fillRect/>
          </a:stretch>
        </p:blipFill>
        <p:spPr>
          <a:xfrm>
            <a:off x="1331640" y="3219822"/>
            <a:ext cx="5361905" cy="1676190"/>
          </a:xfrm>
          <a:prstGeom prst="rect">
            <a:avLst/>
          </a:prstGeom>
        </p:spPr>
      </p:pic>
      <p:sp>
        <p:nvSpPr>
          <p:cNvPr id="9" name="矩形 8"/>
          <p:cNvSpPr/>
          <p:nvPr/>
        </p:nvSpPr>
        <p:spPr>
          <a:xfrm>
            <a:off x="3275856" y="606893"/>
            <a:ext cx="2882969" cy="369332"/>
          </a:xfrm>
          <a:prstGeom prst="rect">
            <a:avLst/>
          </a:prstGeom>
        </p:spPr>
        <p:txBody>
          <a:bodyPr wrap="none">
            <a:spAutoFit/>
          </a:bodyPr>
          <a:lstStyle/>
          <a:p>
            <a:r>
              <a:rPr lang="en-US" altLang="zh-CN" dirty="0"/>
              <a:t>&lt;visual&gt;</a:t>
            </a:r>
            <a:r>
              <a:rPr lang="zh-CN" altLang="zh-CN" dirty="0"/>
              <a:t>以及</a:t>
            </a:r>
            <a:r>
              <a:rPr lang="en-US" altLang="zh-CN" b="1" dirty="0"/>
              <a:t>&lt;collision&gt;</a:t>
            </a:r>
            <a:r>
              <a:rPr lang="zh-CN" altLang="zh-CN" dirty="0"/>
              <a:t>标签</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 Description and Simulation</a:t>
              </a: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机器人建模描述文件与仿真</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 name="图片 9"/>
          <p:cNvPicPr/>
          <p:nvPr/>
        </p:nvPicPr>
        <p:blipFill>
          <a:blip r:embed="rId3">
            <a:extLst>
              <a:ext uri="{28A0092B-C50C-407E-A947-70E740481C1C}">
                <a14:useLocalDpi xmlns:a14="http://schemas.microsoft.com/office/drawing/2010/main" val="0"/>
              </a:ext>
            </a:extLst>
          </a:blip>
          <a:srcRect/>
          <a:stretch>
            <a:fillRect/>
          </a:stretch>
        </p:blipFill>
        <p:spPr bwMode="auto">
          <a:xfrm>
            <a:off x="2123728" y="923290"/>
            <a:ext cx="4591050" cy="354711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p:nvPr/>
        </p:nvPicPr>
        <p:blipFill>
          <a:blip r:embed="rId3"/>
          <a:stretch>
            <a:fillRect/>
          </a:stretch>
        </p:blipFill>
        <p:spPr>
          <a:xfrm>
            <a:off x="1738070" y="787068"/>
            <a:ext cx="1630486" cy="3667239"/>
          </a:xfrm>
          <a:prstGeom prst="rect">
            <a:avLst/>
          </a:prstGeom>
        </p:spPr>
      </p:pic>
      <p:pic>
        <p:nvPicPr>
          <p:cNvPr id="4" name="图片 3"/>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51920" y="759821"/>
            <a:ext cx="4176464" cy="3667239"/>
          </a:xfrm>
          <a:prstGeom prst="rect">
            <a:avLst/>
          </a:prstGeom>
          <a:noFill/>
          <a:ln>
            <a:noFill/>
          </a:ln>
        </p:spPr>
      </p:pic>
      <p:sp>
        <p:nvSpPr>
          <p:cNvPr id="5" name="矩形 4"/>
          <p:cNvSpPr/>
          <p:nvPr/>
        </p:nvSpPr>
        <p:spPr>
          <a:xfrm>
            <a:off x="2051720" y="4443958"/>
            <a:ext cx="5544616" cy="338554"/>
          </a:xfrm>
          <a:prstGeom prst="rect">
            <a:avLst/>
          </a:prstGeom>
        </p:spPr>
        <p:txBody>
          <a:bodyPr wrap="square">
            <a:spAutoFit/>
          </a:bodyPr>
          <a:lstStyle/>
          <a:p>
            <a:r>
              <a:rPr lang="zh-CN" altLang="en-US" sz="1600" dirty="0">
                <a:solidFill>
                  <a:srgbClr val="002060"/>
                </a:solidFill>
              </a:rPr>
              <a:t>https://gitee.com/minhuasong/AUBO-Robot-on-ROS</a:t>
            </a:r>
          </a:p>
        </p:txBody>
      </p:sp>
      <p:sp>
        <p:nvSpPr>
          <p:cNvPr id="6" name="矩形 5"/>
          <p:cNvSpPr/>
          <p:nvPr/>
        </p:nvSpPr>
        <p:spPr>
          <a:xfrm>
            <a:off x="2051720" y="4762420"/>
            <a:ext cx="4572000" cy="338554"/>
          </a:xfrm>
          <a:prstGeom prst="rect">
            <a:avLst/>
          </a:prstGeom>
        </p:spPr>
        <p:txBody>
          <a:bodyPr>
            <a:spAutoFit/>
          </a:bodyPr>
          <a:lstStyle/>
          <a:p>
            <a:r>
              <a:rPr lang="zh-CN" altLang="en-US" sz="1600" dirty="0">
                <a:solidFill>
                  <a:srgbClr val="002060"/>
                </a:solidFill>
              </a:rPr>
              <a:t>https://github.com/mhuasong/AUBO-Robot-on-ROS</a:t>
            </a:r>
          </a:p>
        </p:txBody>
      </p:sp>
      <p:grpSp>
        <p:nvGrpSpPr>
          <p:cNvPr id="7" name="组合 6"/>
          <p:cNvGrpSpPr/>
          <p:nvPr/>
        </p:nvGrpSpPr>
        <p:grpSpPr>
          <a:xfrm>
            <a:off x="-236220" y="219075"/>
            <a:ext cx="5153660" cy="598805"/>
            <a:chOff x="-372" y="345"/>
            <a:chExt cx="8116" cy="943"/>
          </a:xfrm>
        </p:grpSpPr>
        <p:sp>
          <p:nvSpPr>
            <p:cNvPr id="8" name="矩形 7"/>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 Description and Simulation</a:t>
              </a:r>
            </a:p>
          </p:txBody>
        </p:sp>
        <p:sp>
          <p:nvSpPr>
            <p:cNvPr id="9" name="文本框 8"/>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机器人建模描述文件与仿真</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10" name="椭圆 9"/>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a:latin typeface="Arial" panose="020B0604020202020204" pitchFamily="34" charset="0"/>
                  <a:ea typeface="微软雅黑" panose="020B0503020204020204" charset="-122"/>
                  <a:sym typeface="+mn-ea"/>
                </a:rPr>
                <a:t>Robot Description and Simulation</a:t>
              </a: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a:latin typeface="Arial" panose="020B0604020202020204" pitchFamily="34" charset="0"/>
                  <a:ea typeface="微软雅黑" panose="020B0503020204020204" charset="-122"/>
                  <a:sym typeface="+mn-ea"/>
                </a:rPr>
                <a:t>机器人建模描述文件与仿真</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1949800" y="1923678"/>
            <a:ext cx="5070472" cy="1754326"/>
          </a:xfrm>
          <a:prstGeom prst="rect">
            <a:avLst/>
          </a:prstGeom>
        </p:spPr>
        <p:txBody>
          <a:bodyPr wrap="square">
            <a:spAutoFit/>
          </a:bodyPr>
          <a:lstStyle/>
          <a:p>
            <a:pPr marL="285750" indent="-285750">
              <a:buFont typeface="Wingdings" panose="05000000000000000000" pitchFamily="2" charset="2"/>
              <a:buChar char="Ø"/>
            </a:pPr>
            <a:r>
              <a:rPr lang="zh-CN" altLang="en-US" dirty="0"/>
              <a:t>URDF（Unified Robot Description Format，统一机器人描述格式</a:t>
            </a:r>
            <a:r>
              <a:rPr lang="zh-CN" altLang="en-US" dirty="0" smtClean="0"/>
              <a:t>）</a:t>
            </a:r>
            <a:r>
              <a:rPr lang="en-US" altLang="zh-CN" dirty="0" smtClean="0"/>
              <a:t>-ROS</a:t>
            </a:r>
            <a:endParaRPr lang="zh-CN" altLang="en-US" dirty="0"/>
          </a:p>
          <a:p>
            <a:pPr marL="285750" indent="-285750">
              <a:buFont typeface="Wingdings" panose="05000000000000000000" pitchFamily="2" charset="2"/>
              <a:buChar char="Ø"/>
            </a:pPr>
            <a:r>
              <a:rPr lang="zh-CN" altLang="en-US" dirty="0"/>
              <a:t>SDF（Simulation Description Format）</a:t>
            </a:r>
            <a:r>
              <a:rPr lang="zh-CN" altLang="en-US" dirty="0" smtClean="0"/>
              <a:t>-</a:t>
            </a:r>
            <a:r>
              <a:rPr lang="en-US" altLang="zh-CN" dirty="0" smtClean="0"/>
              <a:t>Gazebo-</a:t>
            </a:r>
            <a:r>
              <a:rPr lang="zh-CN" altLang="en-US" dirty="0" smtClean="0"/>
              <a:t>着重于</a:t>
            </a:r>
            <a:r>
              <a:rPr lang="zh-CN" altLang="en-US" dirty="0"/>
              <a:t>物理模拟</a:t>
            </a:r>
          </a:p>
          <a:p>
            <a:pPr marL="285750" indent="-285750">
              <a:buFont typeface="Wingdings" panose="05000000000000000000" pitchFamily="2" charset="2"/>
              <a:buChar char="Ø"/>
            </a:pPr>
            <a:r>
              <a:rPr lang="zh-CN" altLang="en-US" dirty="0"/>
              <a:t>MJCF (Multi-Joint Configuration Files /Contact Forces?)-多关节动力学</a:t>
            </a:r>
            <a:r>
              <a:rPr lang="zh-CN" altLang="en-US" dirty="0" smtClean="0"/>
              <a:t>仿真</a:t>
            </a:r>
            <a:r>
              <a:rPr lang="en-US" altLang="zh-CN" dirty="0" smtClean="0"/>
              <a:t>-</a:t>
            </a:r>
            <a:r>
              <a:rPr lang="en-US" altLang="zh-CN" dirty="0" err="1" smtClean="0"/>
              <a:t>MuJoCo</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721369"/>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随着机器人学的发展，特别是在模块化、通用性、协作性以及人工智能等方面的发展，机器人技术有望从根本上改变人类文明在工业、农业、医疗、交通、通信等领域的运行方式。在设计机器人系统的时候，需要考虑系统性能、成本、可靠性、可维护性以及可扩展与升级等方面的</a:t>
            </a:r>
            <a:r>
              <a:rPr lang="zh-CN" altLang="en-US" sz="1200" dirty="0" smtClean="0">
                <a:latin typeface="Arial" panose="020B0604020202020204" pitchFamily="34" charset="0"/>
                <a:ea typeface="微软雅黑" panose="020B0503020204020204" charset="-122"/>
                <a:sym typeface="+mn-ea"/>
              </a:rPr>
              <a:t>因素。</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4645218"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机器人系统的设计方法</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07</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Design Method of Robot System</a:t>
              </a:r>
              <a:endParaRPr lang="en-US" altLang="zh-CN" sz="1000" dirty="0">
                <a:latin typeface="Arial" panose="020B0604020202020204" pitchFamily="34" charset="0"/>
                <a:ea typeface="微软雅黑" panose="020B0503020204020204" charset="-122"/>
                <a:sym typeface="+mn-ea"/>
              </a:endParaRP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机器人系统设计方法</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899592" y="2139702"/>
            <a:ext cx="4572000" cy="923330"/>
          </a:xfrm>
          <a:prstGeom prst="rect">
            <a:avLst/>
          </a:prstGeom>
        </p:spPr>
        <p:txBody>
          <a:bodyPr>
            <a:spAutoFit/>
          </a:bodyPr>
          <a:lstStyle/>
          <a:p>
            <a:pPr marL="285750" indent="-285750">
              <a:buFont typeface="Wingdings" panose="05000000000000000000" pitchFamily="2" charset="2"/>
              <a:buChar char="Ø"/>
            </a:pPr>
            <a:r>
              <a:rPr lang="zh-CN" altLang="en-US" dirty="0"/>
              <a:t>整体性原则。</a:t>
            </a:r>
          </a:p>
          <a:p>
            <a:pPr marL="285750" indent="-285750">
              <a:buFont typeface="Wingdings" panose="05000000000000000000" pitchFamily="2" charset="2"/>
              <a:buChar char="Ø"/>
            </a:pPr>
            <a:r>
              <a:rPr lang="zh-CN" altLang="en-US" dirty="0"/>
              <a:t>通用性原则。</a:t>
            </a:r>
          </a:p>
          <a:p>
            <a:pPr marL="285750" indent="-285750">
              <a:buFont typeface="Wingdings" panose="05000000000000000000" pitchFamily="2" charset="2"/>
              <a:buChar char="Ø"/>
            </a:pPr>
            <a:r>
              <a:rPr lang="zh-CN" altLang="en-US" dirty="0"/>
              <a:t>实物设计与仿真并行性原则</a:t>
            </a:r>
          </a:p>
        </p:txBody>
      </p:sp>
      <p:sp>
        <p:nvSpPr>
          <p:cNvPr id="8" name="文本框 7"/>
          <p:cNvSpPr txBox="1"/>
          <p:nvPr/>
        </p:nvSpPr>
        <p:spPr>
          <a:xfrm>
            <a:off x="1547664" y="1707654"/>
            <a:ext cx="1107996" cy="369332"/>
          </a:xfrm>
          <a:prstGeom prst="rect">
            <a:avLst/>
          </a:prstGeom>
          <a:noFill/>
        </p:spPr>
        <p:txBody>
          <a:bodyPr wrap="none" rtlCol="0">
            <a:spAutoFit/>
          </a:bodyPr>
          <a:lstStyle/>
          <a:p>
            <a:r>
              <a:rPr lang="zh-CN" altLang="en-US" dirty="0" smtClean="0">
                <a:solidFill>
                  <a:srgbClr val="0070C0"/>
                </a:solidFill>
              </a:rPr>
              <a:t>设计原则</a:t>
            </a:r>
            <a:endParaRPr lang="zh-CN" altLang="en-US" dirty="0">
              <a:solidFill>
                <a:srgbClr val="0070C0"/>
              </a:solidFill>
            </a:endParaRPr>
          </a:p>
        </p:txBody>
      </p:sp>
      <p:sp>
        <p:nvSpPr>
          <p:cNvPr id="9" name="文本框 8"/>
          <p:cNvSpPr txBox="1"/>
          <p:nvPr/>
        </p:nvSpPr>
        <p:spPr>
          <a:xfrm>
            <a:off x="5767968" y="1354847"/>
            <a:ext cx="1107996" cy="369332"/>
          </a:xfrm>
          <a:prstGeom prst="rect">
            <a:avLst/>
          </a:prstGeom>
          <a:noFill/>
        </p:spPr>
        <p:txBody>
          <a:bodyPr wrap="none" rtlCol="0">
            <a:spAutoFit/>
          </a:bodyPr>
          <a:lstStyle/>
          <a:p>
            <a:r>
              <a:rPr lang="zh-CN" altLang="en-US" dirty="0" smtClean="0">
                <a:solidFill>
                  <a:srgbClr val="0070C0"/>
                </a:solidFill>
              </a:rPr>
              <a:t>设计步骤</a:t>
            </a:r>
            <a:endParaRPr lang="zh-CN" altLang="en-US" dirty="0">
              <a:solidFill>
                <a:srgbClr val="0070C0"/>
              </a:solidFill>
            </a:endParaRPr>
          </a:p>
        </p:txBody>
      </p:sp>
      <p:sp>
        <p:nvSpPr>
          <p:cNvPr id="10" name="矩形 9"/>
          <p:cNvSpPr/>
          <p:nvPr/>
        </p:nvSpPr>
        <p:spPr>
          <a:xfrm>
            <a:off x="4813700" y="1770869"/>
            <a:ext cx="4150788" cy="1477328"/>
          </a:xfrm>
          <a:prstGeom prst="rect">
            <a:avLst/>
          </a:prstGeom>
        </p:spPr>
        <p:txBody>
          <a:bodyPr wrap="square">
            <a:spAutoFit/>
          </a:bodyPr>
          <a:lstStyle/>
          <a:p>
            <a:pPr marL="285750" indent="-285750">
              <a:buFont typeface="Wingdings" panose="05000000000000000000" pitchFamily="2" charset="2"/>
              <a:buChar char="Ø"/>
            </a:pPr>
            <a:r>
              <a:rPr lang="zh-CN" altLang="en-US" dirty="0"/>
              <a:t>需求分析</a:t>
            </a:r>
          </a:p>
          <a:p>
            <a:pPr marL="285750" indent="-285750">
              <a:buFont typeface="Wingdings" panose="05000000000000000000" pitchFamily="2" charset="2"/>
              <a:buChar char="Ø"/>
            </a:pPr>
            <a:r>
              <a:rPr lang="zh-CN" altLang="en-US" dirty="0"/>
              <a:t>概念设计</a:t>
            </a:r>
          </a:p>
          <a:p>
            <a:pPr marL="285750" indent="-285750">
              <a:buFont typeface="Wingdings" panose="05000000000000000000" pitchFamily="2" charset="2"/>
              <a:buChar char="Ø"/>
            </a:pPr>
            <a:r>
              <a:rPr lang="zh-CN" altLang="en-US" dirty="0"/>
              <a:t>实施方案设计</a:t>
            </a:r>
          </a:p>
          <a:p>
            <a:pPr marL="285750" indent="-285750">
              <a:buFont typeface="Wingdings" panose="05000000000000000000" pitchFamily="2" charset="2"/>
              <a:buChar char="Ø"/>
            </a:pPr>
            <a:r>
              <a:rPr lang="zh-CN" altLang="en-US" dirty="0"/>
              <a:t>详细设计</a:t>
            </a:r>
          </a:p>
          <a:p>
            <a:pPr marL="285750" indent="-285750">
              <a:buFont typeface="Wingdings" panose="05000000000000000000" pitchFamily="2" charset="2"/>
              <a:buChar char="Ø"/>
            </a:pPr>
            <a:r>
              <a:rPr lang="zh-CN" altLang="en-US" dirty="0"/>
              <a:t>制造、安装、软硬件联调</a:t>
            </a:r>
          </a:p>
        </p:txBody>
      </p:sp>
      <p:sp>
        <p:nvSpPr>
          <p:cNvPr id="11" name="圆角矩形 10"/>
          <p:cNvSpPr/>
          <p:nvPr/>
        </p:nvSpPr>
        <p:spPr>
          <a:xfrm>
            <a:off x="755576" y="2139702"/>
            <a:ext cx="3456384" cy="110849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4716016" y="1770869"/>
            <a:ext cx="3240360" cy="173698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721369"/>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近几年，随着机器人操作系统</a:t>
            </a:r>
            <a:r>
              <a:rPr lang="en-US" altLang="zh-CN" sz="1200" dirty="0">
                <a:latin typeface="Arial" panose="020B0604020202020204" pitchFamily="34" charset="0"/>
                <a:ea typeface="微软雅黑" panose="020B0503020204020204" charset="-122"/>
                <a:sym typeface="+mn-ea"/>
              </a:rPr>
              <a:t>ROS</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Robot Operating System</a:t>
            </a:r>
            <a:r>
              <a:rPr lang="zh-CN" altLang="en-US" sz="1200" dirty="0">
                <a:latin typeface="Arial" panose="020B0604020202020204" pitchFamily="34" charset="0"/>
                <a:ea typeface="微软雅黑" panose="020B0503020204020204" charset="-122"/>
                <a:sym typeface="+mn-ea"/>
              </a:rPr>
              <a:t>）的普及，各种基于</a:t>
            </a:r>
            <a:r>
              <a:rPr lang="en-US" altLang="zh-CN" sz="1200" dirty="0">
                <a:latin typeface="Arial" panose="020B0604020202020204" pitchFamily="34" charset="0"/>
                <a:ea typeface="微软雅黑" panose="020B0503020204020204" charset="-122"/>
                <a:sym typeface="+mn-ea"/>
              </a:rPr>
              <a:t>ROS</a:t>
            </a:r>
            <a:r>
              <a:rPr lang="zh-CN" altLang="en-US" sz="1200" dirty="0">
                <a:latin typeface="Arial" panose="020B0604020202020204" pitchFamily="34" charset="0"/>
                <a:ea typeface="微软雅黑" panose="020B0503020204020204" charset="-122"/>
                <a:sym typeface="+mn-ea"/>
              </a:rPr>
              <a:t>的机器人系统、应用和软件成为主流。</a:t>
            </a:r>
            <a:r>
              <a:rPr lang="en-US" altLang="zh-CN" sz="1200" dirty="0">
                <a:latin typeface="Arial" panose="020B0604020202020204" pitchFamily="34" charset="0"/>
                <a:ea typeface="微软雅黑" panose="020B0503020204020204" charset="-122"/>
                <a:sym typeface="+mn-ea"/>
              </a:rPr>
              <a:t>ROS</a:t>
            </a:r>
            <a:r>
              <a:rPr lang="zh-CN" altLang="en-US" sz="1200" dirty="0">
                <a:latin typeface="Arial" panose="020B0604020202020204" pitchFamily="34" charset="0"/>
                <a:ea typeface="微软雅黑" panose="020B0503020204020204" charset="-122"/>
                <a:sym typeface="+mn-ea"/>
              </a:rPr>
              <a:t>平台使得机器人应用开发者无需关注机器人操作系统和底层硬件平台的具体实现细节，而把研究重点放到应用功能开发方面，从而极大加快了机器人系统的设计和开发的效率和水平。</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4645218"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基于</a:t>
            </a:r>
            <a:r>
              <a:rPr lang="en-US" altLang="zh-CN" sz="2800" b="1" dirty="0">
                <a:latin typeface="Arial" panose="020B0604020202020204" pitchFamily="34" charset="0"/>
                <a:ea typeface="微软雅黑" panose="020B0503020204020204" charset="-122"/>
                <a:sym typeface="+mn-ea"/>
              </a:rPr>
              <a:t>ROS</a:t>
            </a:r>
            <a:r>
              <a:rPr lang="zh-CN" altLang="en-US" sz="2800" b="1" dirty="0">
                <a:latin typeface="Arial" panose="020B0604020202020204" pitchFamily="34" charset="0"/>
                <a:ea typeface="微软雅黑" panose="020B0503020204020204" charset="-122"/>
                <a:sym typeface="+mn-ea"/>
              </a:rPr>
              <a:t>的机器人系统设计</a:t>
            </a: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08</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Robot System Design On ROS</a:t>
              </a:r>
              <a:endParaRPr lang="en-US" altLang="zh-CN" sz="1000" dirty="0">
                <a:latin typeface="Arial" panose="020B0604020202020204" pitchFamily="34" charset="0"/>
                <a:ea typeface="微软雅黑" panose="020B0503020204020204" charset="-122"/>
                <a:sym typeface="+mn-ea"/>
              </a:endParaRP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基于</a:t>
              </a:r>
              <a:r>
                <a:rPr lang="en-US" altLang="zh-CN" sz="2000" b="1" dirty="0" smtClean="0">
                  <a:latin typeface="Arial" panose="020B0604020202020204" pitchFamily="34" charset="0"/>
                  <a:ea typeface="微软雅黑" panose="020B0503020204020204" charset="-122"/>
                  <a:sym typeface="+mn-ea"/>
                </a:rPr>
                <a:t>ROS</a:t>
              </a:r>
              <a:r>
                <a:rPr lang="zh-CN" altLang="en-US" sz="2000" b="1" dirty="0" smtClean="0">
                  <a:latin typeface="Arial" panose="020B0604020202020204" pitchFamily="34" charset="0"/>
                  <a:ea typeface="微软雅黑" panose="020B0503020204020204" charset="-122"/>
                  <a:sym typeface="+mn-ea"/>
                </a:rPr>
                <a:t>的机器人系统设计</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 name="图片 12" descr="手机屏幕的截图&#10;&#10;描述已自动生成"/>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79712" y="1110615"/>
            <a:ext cx="5054600" cy="850900"/>
          </a:xfrm>
          <a:prstGeom prst="rect">
            <a:avLst/>
          </a:prstGeom>
          <a:noFill/>
          <a:ln>
            <a:noFill/>
          </a:ln>
        </p:spPr>
      </p:pic>
      <p:graphicFrame>
        <p:nvGraphicFramePr>
          <p:cNvPr id="14" name="对象 13"/>
          <p:cNvGraphicFramePr>
            <a:graphicFrameLocks noChangeAspect="1"/>
          </p:cNvGraphicFramePr>
          <p:nvPr/>
        </p:nvGraphicFramePr>
        <p:xfrm>
          <a:off x="1979712" y="2273004"/>
          <a:ext cx="4857750" cy="2362200"/>
        </p:xfrm>
        <a:graphic>
          <a:graphicData uri="http://schemas.openxmlformats.org/presentationml/2006/ole">
            <mc:AlternateContent xmlns:mc="http://schemas.openxmlformats.org/markup-compatibility/2006">
              <mc:Choice xmlns:v="urn:schemas-microsoft-com:vml" Requires="v">
                <p:oleObj spid="_x0000_s45068" name="Visio" r:id="rId5" imgW="7499985" imgH="3637915" progId="Visio.Drawing.15">
                  <p:embed/>
                </p:oleObj>
              </mc:Choice>
              <mc:Fallback>
                <p:oleObj name="Visio" r:id="rId5" imgW="7499985" imgH="3637915" progId="Visio.Drawing.15">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2273004"/>
                        <a:ext cx="4857750" cy="236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Robot System Design On ROS</a:t>
              </a:r>
              <a:endParaRPr lang="en-US" altLang="zh-CN" sz="1000" dirty="0">
                <a:latin typeface="Arial" panose="020B0604020202020204" pitchFamily="34" charset="0"/>
                <a:ea typeface="微软雅黑" panose="020B0503020204020204" charset="-122"/>
                <a:sym typeface="+mn-ea"/>
              </a:endParaRP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基于</a:t>
              </a:r>
              <a:r>
                <a:rPr lang="en-US" altLang="zh-CN" sz="2000" b="1" dirty="0" smtClean="0">
                  <a:latin typeface="Arial" panose="020B0604020202020204" pitchFamily="34" charset="0"/>
                  <a:ea typeface="微软雅黑" panose="020B0503020204020204" charset="-122"/>
                  <a:sym typeface="+mn-ea"/>
                </a:rPr>
                <a:t>ROS</a:t>
              </a:r>
              <a:r>
                <a:rPr lang="zh-CN" altLang="en-US" sz="2000" b="1" dirty="0" smtClean="0">
                  <a:latin typeface="Arial" panose="020B0604020202020204" pitchFamily="34" charset="0"/>
                  <a:ea typeface="微软雅黑" panose="020B0503020204020204" charset="-122"/>
                  <a:sym typeface="+mn-ea"/>
                </a:rPr>
                <a:t>的机器人系统设计</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7" name="对象 6"/>
          <p:cNvGraphicFramePr>
            <a:graphicFrameLocks noChangeAspect="1"/>
          </p:cNvGraphicFramePr>
          <p:nvPr/>
        </p:nvGraphicFramePr>
        <p:xfrm>
          <a:off x="309361" y="1491630"/>
          <a:ext cx="3932312" cy="2703465"/>
        </p:xfrm>
        <a:graphic>
          <a:graphicData uri="http://schemas.openxmlformats.org/presentationml/2006/ole">
            <mc:AlternateContent xmlns:mc="http://schemas.openxmlformats.org/markup-compatibility/2006">
              <mc:Choice xmlns:v="urn:schemas-microsoft-com:vml" Requires="v">
                <p:oleObj spid="_x0000_s48149" name="Visio" r:id="rId4" imgW="5292090" imgH="3633470" progId="Visio.Drawing.15">
                  <p:embed/>
                </p:oleObj>
              </mc:Choice>
              <mc:Fallback>
                <p:oleObj name="Visio" r:id="rId4" imgW="5292090" imgH="363347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361" y="1491630"/>
                        <a:ext cx="3932312" cy="2703465"/>
                      </a:xfrm>
                      <a:prstGeom prst="rect">
                        <a:avLst/>
                      </a:prstGeom>
                      <a:noFill/>
                    </p:spPr>
                  </p:pic>
                </p:oleObj>
              </mc:Fallback>
            </mc:AlternateContent>
          </a:graphicData>
        </a:graphic>
      </p:graphicFrame>
      <p:graphicFrame>
        <p:nvGraphicFramePr>
          <p:cNvPr id="9" name="对象 8"/>
          <p:cNvGraphicFramePr>
            <a:graphicFrameLocks noChangeAspect="1"/>
          </p:cNvGraphicFramePr>
          <p:nvPr/>
        </p:nvGraphicFramePr>
        <p:xfrm>
          <a:off x="4236229" y="2067694"/>
          <a:ext cx="4916810" cy="1854898"/>
        </p:xfrm>
        <a:graphic>
          <a:graphicData uri="http://schemas.openxmlformats.org/presentationml/2006/ole">
            <mc:AlternateContent xmlns:mc="http://schemas.openxmlformats.org/markup-compatibility/2006">
              <mc:Choice xmlns:v="urn:schemas-microsoft-com:vml" Requires="v">
                <p:oleObj spid="_x0000_s48150" name="Visio" r:id="rId6" imgW="6658610" imgH="2519680" progId="Visio.Drawing.15">
                  <p:embed/>
                </p:oleObj>
              </mc:Choice>
              <mc:Fallback>
                <p:oleObj name="Visio" r:id="rId6" imgW="6658610" imgH="2519680" progId="Visio.Drawing.15">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36229" y="2067694"/>
                        <a:ext cx="4916810" cy="1854898"/>
                      </a:xfrm>
                      <a:prstGeom prst="rect">
                        <a:avLst/>
                      </a:prstGeom>
                      <a:noFill/>
                    </p:spPr>
                  </p:pic>
                </p:oleObj>
              </mc:Fallback>
            </mc:AlternateContent>
          </a:graphicData>
        </a:graphic>
      </p:graphicFrame>
      <p:sp>
        <p:nvSpPr>
          <p:cNvPr id="10" name="矩形 9"/>
          <p:cNvSpPr/>
          <p:nvPr/>
        </p:nvSpPr>
        <p:spPr>
          <a:xfrm>
            <a:off x="1503559" y="4371950"/>
            <a:ext cx="2191626" cy="369332"/>
          </a:xfrm>
          <a:prstGeom prst="rect">
            <a:avLst/>
          </a:prstGeom>
        </p:spPr>
        <p:txBody>
          <a:bodyPr wrap="none">
            <a:spAutoFit/>
          </a:bodyPr>
          <a:lstStyle/>
          <a:p>
            <a:r>
              <a:rPr lang="en-US" altLang="zh-CN" dirty="0">
                <a:latin typeface="Times New Roman" panose="02020603050405020304" pitchFamily="18" charset="0"/>
              </a:rPr>
              <a:t>ROS 2</a:t>
            </a:r>
            <a:r>
              <a:rPr lang="zh-CN" altLang="zh-CN" dirty="0">
                <a:latin typeface="Times New Roman" panose="02020603050405020304" pitchFamily="18" charset="0"/>
                <a:cs typeface="Times New Roman" panose="02020603050405020304" pitchFamily="18" charset="0"/>
              </a:rPr>
              <a:t>内部通信架构</a:t>
            </a:r>
            <a:endParaRPr lang="zh-CN" altLang="en-US" dirty="0"/>
          </a:p>
        </p:txBody>
      </p:sp>
      <p:sp>
        <p:nvSpPr>
          <p:cNvPr id="11" name="矩形 10"/>
          <p:cNvSpPr/>
          <p:nvPr/>
        </p:nvSpPr>
        <p:spPr>
          <a:xfrm>
            <a:off x="5367989" y="4368024"/>
            <a:ext cx="2653290" cy="369332"/>
          </a:xfrm>
          <a:prstGeom prst="rect">
            <a:avLst/>
          </a:prstGeom>
        </p:spPr>
        <p:txBody>
          <a:bodyPr wrap="none">
            <a:spAutoFit/>
          </a:bodyPr>
          <a:lstStyle/>
          <a:p>
            <a:r>
              <a:rPr lang="en-US" altLang="zh-CN" dirty="0">
                <a:latin typeface="Times New Roman" panose="02020603050405020304" pitchFamily="18" charset="0"/>
              </a:rPr>
              <a:t>ROS 2</a:t>
            </a:r>
            <a:r>
              <a:rPr lang="zh-CN" altLang="zh-CN" dirty="0">
                <a:latin typeface="Times New Roman" panose="02020603050405020304" pitchFamily="18" charset="0"/>
                <a:cs typeface="Times New Roman" panose="02020603050405020304" pitchFamily="18" charset="0"/>
              </a:rPr>
              <a:t>节点间的通信方式</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Robot System Design On ROS</a:t>
              </a:r>
              <a:endParaRPr lang="en-US" altLang="zh-CN" sz="1000" dirty="0">
                <a:latin typeface="Arial" panose="020B0604020202020204" pitchFamily="34" charset="0"/>
                <a:ea typeface="微软雅黑" panose="020B0503020204020204" charset="-122"/>
                <a:sym typeface="+mn-ea"/>
              </a:endParaRP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基于</a:t>
              </a:r>
              <a:r>
                <a:rPr lang="en-US" altLang="zh-CN" sz="2000" b="1" dirty="0" smtClean="0">
                  <a:latin typeface="Arial" panose="020B0604020202020204" pitchFamily="34" charset="0"/>
                  <a:ea typeface="微软雅黑" panose="020B0503020204020204" charset="-122"/>
                  <a:sym typeface="+mn-ea"/>
                </a:rPr>
                <a:t>ROS</a:t>
              </a:r>
              <a:r>
                <a:rPr lang="zh-CN" altLang="en-US" sz="2000" b="1" dirty="0" smtClean="0">
                  <a:latin typeface="Arial" panose="020B0604020202020204" pitchFamily="34" charset="0"/>
                  <a:ea typeface="微软雅黑" panose="020B0503020204020204" charset="-122"/>
                  <a:sym typeface="+mn-ea"/>
                </a:rPr>
                <a:t>的机器人系统设计</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 name="图片 6" descr="图示&#10;&#10;描述已自动生成"/>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1584" y="863600"/>
            <a:ext cx="2068195" cy="4279900"/>
          </a:xfrm>
          <a:prstGeom prst="rect">
            <a:avLst/>
          </a:prstGeom>
          <a:noFill/>
          <a:ln>
            <a:noFill/>
          </a:ln>
        </p:spPr>
      </p:pic>
      <p:sp>
        <p:nvSpPr>
          <p:cNvPr id="2" name="矩形 1"/>
          <p:cNvSpPr/>
          <p:nvPr/>
        </p:nvSpPr>
        <p:spPr>
          <a:xfrm>
            <a:off x="3319779" y="704010"/>
            <a:ext cx="3403496"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基于</a:t>
            </a:r>
            <a:r>
              <a:rPr lang="en-US" altLang="zh-CN" dirty="0">
                <a:latin typeface="Times New Roman" panose="02020603050405020304" pitchFamily="18" charset="0"/>
              </a:rPr>
              <a:t>ROS</a:t>
            </a:r>
            <a:r>
              <a:rPr lang="zh-CN" altLang="zh-CN" dirty="0">
                <a:latin typeface="Times New Roman" panose="02020603050405020304" pitchFamily="18" charset="0"/>
                <a:cs typeface="Times New Roman" panose="02020603050405020304" pitchFamily="18" charset="0"/>
              </a:rPr>
              <a:t>的机械臂仿真设计实例</a:t>
            </a:r>
            <a:endParaRPr lang="zh-CN" altLang="en-US" dirty="0"/>
          </a:p>
        </p:txBody>
      </p:sp>
      <p:pic>
        <p:nvPicPr>
          <p:cNvPr id="8" name="图片 7" descr="图形用户界面, 文本, 应用程序&#10;&#10;描述已自动生成"/>
          <p:cNvPicPr/>
          <p:nvPr/>
        </p:nvPicPr>
        <p:blipFill>
          <a:blip r:embed="rId4">
            <a:extLst>
              <a:ext uri="{28A0092B-C50C-407E-A947-70E740481C1C}">
                <a14:useLocalDpi xmlns:a14="http://schemas.microsoft.com/office/drawing/2010/main" val="0"/>
              </a:ext>
            </a:extLst>
          </a:blip>
          <a:srcRect/>
          <a:stretch>
            <a:fillRect/>
          </a:stretch>
        </p:blipFill>
        <p:spPr bwMode="auto">
          <a:xfrm>
            <a:off x="3563888" y="1249045"/>
            <a:ext cx="4743450" cy="1754505"/>
          </a:xfrm>
          <a:prstGeom prst="rect">
            <a:avLst/>
          </a:prstGeom>
          <a:noFill/>
          <a:ln>
            <a:noFill/>
          </a:ln>
        </p:spPr>
      </p:pic>
      <p:sp>
        <p:nvSpPr>
          <p:cNvPr id="9" name="矩形 8"/>
          <p:cNvSpPr/>
          <p:nvPr/>
        </p:nvSpPr>
        <p:spPr>
          <a:xfrm>
            <a:off x="5558034" y="962131"/>
            <a:ext cx="800219" cy="369332"/>
          </a:xfrm>
          <a:prstGeom prst="rect">
            <a:avLst/>
          </a:prstGeom>
        </p:spPr>
        <p:txBody>
          <a:bodyPr wrap="none">
            <a:spAutoFit/>
          </a:bodyPr>
          <a:lstStyle/>
          <a:p>
            <a:r>
              <a:rPr lang="en-US" altLang="zh-CN" dirty="0">
                <a:latin typeface="Times New Roman" panose="02020603050405020304" pitchFamily="18" charset="0"/>
              </a:rPr>
              <a:t>URDF</a:t>
            </a:r>
            <a:endParaRPr lang="zh-CN" altLang="en-US" dirty="0"/>
          </a:p>
        </p:txBody>
      </p:sp>
      <p:pic>
        <p:nvPicPr>
          <p:cNvPr id="10" name="图片 9"/>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08730" y="1879090"/>
            <a:ext cx="3453765" cy="2600325"/>
          </a:xfrm>
          <a:prstGeom prst="rect">
            <a:avLst/>
          </a:prstGeom>
          <a:noFill/>
          <a:ln>
            <a:noFill/>
          </a:ln>
        </p:spPr>
      </p:pic>
      <p:sp>
        <p:nvSpPr>
          <p:cNvPr id="11" name="矩形 10"/>
          <p:cNvSpPr/>
          <p:nvPr/>
        </p:nvSpPr>
        <p:spPr>
          <a:xfrm>
            <a:off x="3672142" y="4479415"/>
            <a:ext cx="5471857" cy="584775"/>
          </a:xfrm>
          <a:prstGeom prst="rect">
            <a:avLst/>
          </a:prstGeom>
        </p:spPr>
        <p:txBody>
          <a:bodyPr wrap="square">
            <a:spAutoFit/>
          </a:bodyPr>
          <a:lstStyle/>
          <a:p>
            <a:r>
              <a:rPr lang="zh-CN" altLang="en-US" sz="1600" dirty="0">
                <a:solidFill>
                  <a:srgbClr val="0070C0"/>
                </a:solidFill>
              </a:rPr>
              <a:t>https://github.com/mhuasong/Basics-of-Robotics-Theory-and-Technology/tree/main/ch2/ex2_7</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220" y="219075"/>
            <a:ext cx="5153660" cy="598805"/>
            <a:chOff x="-372" y="345"/>
            <a:chExt cx="8116" cy="943"/>
          </a:xfrm>
        </p:grpSpPr>
        <p:sp>
          <p:nvSpPr>
            <p:cNvPr id="4" name="矩形 3"/>
            <p:cNvSpPr/>
            <p:nvPr/>
          </p:nvSpPr>
          <p:spPr>
            <a:xfrm>
              <a:off x="443" y="824"/>
              <a:ext cx="6313" cy="464"/>
            </a:xfrm>
            <a:prstGeom prst="rect">
              <a:avLst/>
            </a:prstGeom>
          </p:spPr>
          <p:txBody>
            <a:bodyPr wrap="square">
              <a:spAutoFit/>
            </a:bodyPr>
            <a:lstStyle/>
            <a:p>
              <a:pPr>
                <a:lnSpc>
                  <a:spcPct val="150000"/>
                </a:lnSpc>
              </a:pPr>
              <a:r>
                <a:rPr lang="en-US" altLang="zh-CN" sz="1000" dirty="0" smtClean="0">
                  <a:latin typeface="Arial" panose="020B0604020202020204" pitchFamily="34" charset="0"/>
                  <a:ea typeface="微软雅黑" panose="020B0503020204020204" charset="-122"/>
                  <a:sym typeface="+mn-ea"/>
                </a:rPr>
                <a:t>Robot System Design On ROS</a:t>
              </a:r>
              <a:endParaRPr lang="en-US" altLang="zh-CN" sz="1000" dirty="0">
                <a:latin typeface="Arial" panose="020B0604020202020204" pitchFamily="34" charset="0"/>
                <a:ea typeface="微软雅黑" panose="020B0503020204020204" charset="-122"/>
                <a:sym typeface="+mn-ea"/>
              </a:endParaRPr>
            </a:p>
          </p:txBody>
        </p:sp>
        <p:sp>
          <p:nvSpPr>
            <p:cNvPr id="5" name="文本框 4"/>
            <p:cNvSpPr txBox="1"/>
            <p:nvPr/>
          </p:nvSpPr>
          <p:spPr>
            <a:xfrm>
              <a:off x="443" y="363"/>
              <a:ext cx="7301" cy="630"/>
            </a:xfrm>
            <a:prstGeom prst="rect">
              <a:avLst/>
            </a:prstGeom>
            <a:noFill/>
          </p:spPr>
          <p:txBody>
            <a:bodyPr wrap="square" rtlCol="0" anchor="t">
              <a:spAutoFit/>
            </a:bodyPr>
            <a:lstStyle/>
            <a:p>
              <a:r>
                <a:rPr lang="zh-CN" altLang="en-US" sz="2000" b="1" dirty="0" smtClean="0">
                  <a:latin typeface="Arial" panose="020B0604020202020204" pitchFamily="34" charset="0"/>
                  <a:ea typeface="微软雅黑" panose="020B0503020204020204" charset="-122"/>
                  <a:sym typeface="+mn-ea"/>
                </a:rPr>
                <a:t>基于</a:t>
              </a:r>
              <a:r>
                <a:rPr lang="en-US" altLang="zh-CN" sz="2000" b="1" dirty="0" smtClean="0">
                  <a:latin typeface="Arial" panose="020B0604020202020204" pitchFamily="34" charset="0"/>
                  <a:ea typeface="微软雅黑" panose="020B0503020204020204" charset="-122"/>
                  <a:sym typeface="+mn-ea"/>
                </a:rPr>
                <a:t>ROS</a:t>
              </a:r>
              <a:r>
                <a:rPr lang="zh-CN" altLang="en-US" sz="2000" b="1" dirty="0" smtClean="0">
                  <a:latin typeface="Arial" panose="020B0604020202020204" pitchFamily="34" charset="0"/>
                  <a:ea typeface="微软雅黑" panose="020B0503020204020204" charset="-122"/>
                  <a:sym typeface="+mn-ea"/>
                </a:rPr>
                <a:t>的机器人系统设计</a:t>
              </a:r>
              <a:endParaRPr lang="zh-CN" altLang="en-US" sz="2000" b="1" dirty="0">
                <a:solidFill>
                  <a:srgbClr val="002060"/>
                </a:solidFill>
                <a:latin typeface="Arial" panose="020B0604020202020204" pitchFamily="34" charset="0"/>
                <a:ea typeface="微软雅黑" panose="020B0503020204020204" charset="-122"/>
                <a:sym typeface="+mn-ea"/>
              </a:endParaRPr>
            </a:p>
          </p:txBody>
        </p:sp>
        <p:sp>
          <p:nvSpPr>
            <p:cNvPr id="6" name="椭圆 5"/>
            <p:cNvSpPr/>
            <p:nvPr/>
          </p:nvSpPr>
          <p:spPr>
            <a:xfrm>
              <a:off x="-372" y="345"/>
              <a:ext cx="815" cy="81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2699792" y="917781"/>
            <a:ext cx="3865161" cy="369332"/>
          </a:xfrm>
          <a:prstGeom prst="rect">
            <a:avLst/>
          </a:prstGeom>
        </p:spPr>
        <p:txBody>
          <a:bodyPr wrap="none">
            <a:spAutoFit/>
          </a:bodyPr>
          <a:lstStyle/>
          <a:p>
            <a:r>
              <a:rPr lang="zh-CN" altLang="zh-CN">
                <a:latin typeface="Times New Roman" panose="02020603050405020304" pitchFamily="18" charset="0"/>
                <a:cs typeface="Times New Roman" panose="02020603050405020304" pitchFamily="18" charset="0"/>
              </a:rPr>
              <a:t>基于</a:t>
            </a:r>
            <a:r>
              <a:rPr lang="en-US" altLang="zh-CN" dirty="0">
                <a:latin typeface="Times New Roman" panose="02020603050405020304" pitchFamily="18" charset="0"/>
              </a:rPr>
              <a:t>ROS</a:t>
            </a:r>
            <a:r>
              <a:rPr lang="zh-CN" altLang="zh-CN" dirty="0">
                <a:latin typeface="Times New Roman" panose="02020603050405020304" pitchFamily="18" charset="0"/>
                <a:cs typeface="Times New Roman" panose="02020603050405020304" pitchFamily="18" charset="0"/>
              </a:rPr>
              <a:t>的移动机器人仿真设计实例</a:t>
            </a:r>
            <a:endParaRPr lang="zh-CN" altLang="en-US" dirty="0"/>
          </a:p>
        </p:txBody>
      </p:sp>
      <p:pic>
        <p:nvPicPr>
          <p:cNvPr id="9" name="图片 8"/>
          <p:cNvPicPr/>
          <p:nvPr/>
        </p:nvPicPr>
        <p:blipFill>
          <a:blip r:embed="rId3"/>
          <a:stretch>
            <a:fillRect/>
          </a:stretch>
        </p:blipFill>
        <p:spPr>
          <a:xfrm>
            <a:off x="292990" y="1574339"/>
            <a:ext cx="3918970" cy="2673350"/>
          </a:xfrm>
          <a:prstGeom prst="rect">
            <a:avLst/>
          </a:prstGeom>
        </p:spPr>
      </p:pic>
      <p:pic>
        <p:nvPicPr>
          <p:cNvPr id="10" name="图片 9" descr="图形用户界面&#10;&#10;低可信度描述已自动生成"/>
          <p:cNvPicPr/>
          <p:nvPr/>
        </p:nvPicPr>
        <p:blipFill>
          <a:blip r:embed="rId4"/>
          <a:stretch>
            <a:fillRect/>
          </a:stretch>
        </p:blipFill>
        <p:spPr>
          <a:xfrm>
            <a:off x="4324563" y="1574339"/>
            <a:ext cx="4572635" cy="26733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093351" y="1876914"/>
            <a:ext cx="3849370" cy="2585323"/>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altLang="zh-CN" dirty="0"/>
              <a:t>SPA</a:t>
            </a:r>
            <a:r>
              <a:rPr lang="zh-CN" altLang="zh-CN" dirty="0"/>
              <a:t>（</a:t>
            </a:r>
            <a:r>
              <a:rPr lang="en-US" altLang="zh-CN" dirty="0"/>
              <a:t>Sense-Plan-Act</a:t>
            </a:r>
            <a:r>
              <a:rPr lang="zh-CN" altLang="zh-CN" dirty="0"/>
              <a:t>）</a:t>
            </a:r>
            <a:r>
              <a:rPr lang="zh-CN" altLang="zh-CN" dirty="0" smtClean="0"/>
              <a:t>范式</a:t>
            </a:r>
            <a:endParaRPr lang="en-US" altLang="zh-CN" dirty="0" smtClean="0"/>
          </a:p>
          <a:p>
            <a:pPr marL="285750" indent="-285750">
              <a:lnSpc>
                <a:spcPct val="150000"/>
              </a:lnSpc>
              <a:buFont typeface="Wingdings" panose="05000000000000000000" pitchFamily="2" charset="2"/>
              <a:buChar char="Ø"/>
            </a:pPr>
            <a:r>
              <a:rPr lang="en-US" altLang="zh-CN" dirty="0" err="1"/>
              <a:t>Subsumption</a:t>
            </a:r>
            <a:r>
              <a:rPr lang="en-US" altLang="zh-CN" dirty="0"/>
              <a:t> </a:t>
            </a:r>
            <a:r>
              <a:rPr lang="en-US" altLang="zh-CN" dirty="0" smtClean="0"/>
              <a:t>Architecture</a:t>
            </a:r>
          </a:p>
          <a:p>
            <a:pPr marL="285750" indent="-285750">
              <a:lnSpc>
                <a:spcPct val="150000"/>
              </a:lnSpc>
              <a:buFont typeface="Wingdings" panose="05000000000000000000" pitchFamily="2" charset="2"/>
              <a:buChar char="Ø"/>
            </a:pPr>
            <a:r>
              <a:rPr lang="en-US" altLang="zh-CN" dirty="0"/>
              <a:t>Hybrid </a:t>
            </a:r>
            <a:r>
              <a:rPr lang="en-US" altLang="zh-CN" dirty="0" smtClean="0"/>
              <a:t>Architecture</a:t>
            </a:r>
          </a:p>
          <a:p>
            <a:pPr marL="285750" indent="-285750">
              <a:lnSpc>
                <a:spcPct val="150000"/>
              </a:lnSpc>
              <a:buFont typeface="Wingdings" panose="05000000000000000000" pitchFamily="2" charset="2"/>
              <a:buChar char="Ø"/>
            </a:pPr>
            <a:r>
              <a:rPr lang="en-US" altLang="zh-CN" dirty="0"/>
              <a:t>PDDL(Planning Domain Description Language</a:t>
            </a:r>
            <a:r>
              <a:rPr lang="en-US" altLang="zh-CN" dirty="0" smtClean="0"/>
              <a:t>)</a:t>
            </a:r>
          </a:p>
          <a:p>
            <a:pPr marL="285750" indent="-285750">
              <a:lnSpc>
                <a:spcPct val="150000"/>
              </a:lnSpc>
              <a:buFont typeface="Wingdings" panose="05000000000000000000" pitchFamily="2" charset="2"/>
              <a:buChar char="Ø"/>
            </a:pPr>
            <a:r>
              <a:rPr lang="en-US" altLang="zh-CN" dirty="0"/>
              <a:t>ASP(Answer Set Programming </a:t>
            </a:r>
            <a:r>
              <a:rPr lang="en-US" altLang="zh-CN" dirty="0" smtClean="0"/>
              <a:t>)</a:t>
            </a:r>
          </a:p>
        </p:txBody>
      </p:sp>
      <p:sp>
        <p:nvSpPr>
          <p:cNvPr id="7" name="文本框 6"/>
          <p:cNvSpPr txBox="1"/>
          <p:nvPr/>
        </p:nvSpPr>
        <p:spPr>
          <a:xfrm>
            <a:off x="4289555" y="1353694"/>
            <a:ext cx="4645218"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扩展阅读</a:t>
            </a:r>
            <a:endParaRPr lang="zh-CN" altLang="en-US" sz="2800" b="1" dirty="0">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09</a:t>
            </a:r>
            <a:endParaRPr lang="en-US" altLang="zh-CN" sz="6600" b="1" dirty="0">
              <a:solidFill>
                <a:schemeClr val="bg1"/>
              </a:solidFill>
              <a:latin typeface="微软雅黑" panose="020B0503020204020204" charset="-122"/>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4" name="双波形 113"/>
          <p:cNvSpPr/>
          <p:nvPr/>
        </p:nvSpPr>
        <p:spPr>
          <a:xfrm>
            <a:off x="975114" y="2825042"/>
            <a:ext cx="2862765" cy="1433540"/>
          </a:xfrm>
          <a:prstGeom prst="doubleWave">
            <a:avLst/>
          </a:prstGeom>
          <a:blipFill dpi="0" rotWithShape="1">
            <a:blip r:embed="rId3" cstate="print">
              <a:extLst>
                <a:ext uri="{28A0092B-C50C-407E-A947-70E740481C1C}">
                  <a14:useLocalDpi xmlns:a14="http://schemas.microsoft.com/office/drawing/2010/main" val="0"/>
                </a:ext>
              </a:extLst>
            </a:blip>
            <a:srcRect/>
            <a:stretch>
              <a:fillRect/>
            </a:stretch>
          </a:blipFill>
          <a:ln w="28575">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0" name="双波形 109"/>
          <p:cNvSpPr/>
          <p:nvPr/>
        </p:nvSpPr>
        <p:spPr>
          <a:xfrm>
            <a:off x="975081" y="1258624"/>
            <a:ext cx="2754736" cy="1433540"/>
          </a:xfrm>
          <a:prstGeom prst="doubleWave">
            <a:avLst/>
          </a:prstGeom>
          <a:blipFill dpi="0" rotWithShape="1">
            <a:blip r:embed="rId4" cstate="print">
              <a:extLst>
                <a:ext uri="{28A0092B-C50C-407E-A947-70E740481C1C}">
                  <a14:useLocalDpi xmlns:a14="http://schemas.microsoft.com/office/drawing/2010/main" val="0"/>
                </a:ext>
              </a:extLst>
            </a:blip>
            <a:srcRect/>
            <a:stretch>
              <a:fillRect/>
            </a:stretch>
          </a:blipFill>
          <a:ln w="28575">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12" name="图片 111"/>
          <p:cNvPicPr>
            <a:picLocks noChangeAspect="1"/>
          </p:cNvPicPr>
          <p:nvPr/>
        </p:nvPicPr>
        <p:blipFill rotWithShape="1">
          <a:blip r:embed="rId5">
            <a:grayscl/>
            <a:extLst>
              <a:ext uri="{BEBA8EAE-BF5A-486C-A8C5-ECC9F3942E4B}">
                <a14:imgProps xmlns:a14="http://schemas.microsoft.com/office/drawing/2010/main">
                  <a14:imgLayer r:embed="rId6">
                    <a14:imgEffect>
                      <a14:colorTemperature colorTemp="2000"/>
                    </a14:imgEffect>
                    <a14:imgEffect>
                      <a14:saturation sat="66000"/>
                    </a14:imgEffect>
                  </a14:imgLayer>
                </a14:imgProps>
              </a:ext>
            </a:extLst>
          </a:blip>
          <a:srcRect b="72279"/>
          <a:stretch>
            <a:fillRect/>
          </a:stretch>
        </p:blipFill>
        <p:spPr>
          <a:xfrm rot="5400000" flipV="1">
            <a:off x="1889315" y="2737759"/>
            <a:ext cx="4555391" cy="378101"/>
          </a:xfrm>
          <a:prstGeom prst="rect">
            <a:avLst/>
          </a:prstGeom>
        </p:spPr>
      </p:pic>
      <p:sp>
        <p:nvSpPr>
          <p:cNvPr id="8" name="矩形 7"/>
          <p:cNvSpPr/>
          <p:nvPr/>
        </p:nvSpPr>
        <p:spPr>
          <a:xfrm>
            <a:off x="4765123" y="1953277"/>
            <a:ext cx="3698875" cy="2677656"/>
          </a:xfrm>
          <a:prstGeom prst="rect">
            <a:avLst/>
          </a:prstGeom>
        </p:spPr>
        <p:txBody>
          <a:bodyPr wrap="square">
            <a:spAutoFit/>
          </a:bodyPr>
          <a:lstStyle/>
          <a:p>
            <a:r>
              <a:rPr lang="en-US" altLang="zh-CN" sz="1400" b="1" dirty="0"/>
              <a:t> </a:t>
            </a:r>
            <a:endParaRPr lang="zh-CN" altLang="zh-CN" sz="1400" b="1" dirty="0"/>
          </a:p>
          <a:p>
            <a:pPr marL="342900" lvl="0" indent="-342900">
              <a:buFont typeface="+mj-ea"/>
              <a:buAutoNum type="circleNumDbPlain"/>
            </a:pPr>
            <a:r>
              <a:rPr lang="zh-CN" altLang="zh-CN" sz="1400" dirty="0"/>
              <a:t>尝试编写不同体系架构的示范代码（可以考虑用</a:t>
            </a:r>
            <a:r>
              <a:rPr lang="en-US" altLang="zh-CN" sz="1400" dirty="0"/>
              <a:t>C++</a:t>
            </a:r>
            <a:r>
              <a:rPr lang="zh-CN" altLang="zh-CN" sz="1400" dirty="0"/>
              <a:t>或</a:t>
            </a:r>
            <a:r>
              <a:rPr lang="en-US" altLang="zh-CN" sz="1400" dirty="0" err="1"/>
              <a:t>matlab</a:t>
            </a:r>
            <a:r>
              <a:rPr lang="zh-CN" altLang="zh-CN" sz="1400" dirty="0"/>
              <a:t>的</a:t>
            </a:r>
            <a:r>
              <a:rPr lang="en-US" altLang="zh-CN" sz="1400" dirty="0"/>
              <a:t>m</a:t>
            </a:r>
            <a:r>
              <a:rPr lang="zh-CN" altLang="zh-CN" sz="1400" dirty="0"/>
              <a:t>语言进行编写，只需编写系统主题框架示范代码，并运行测试）。</a:t>
            </a:r>
          </a:p>
          <a:p>
            <a:pPr marL="342900" lvl="0" indent="-342900">
              <a:buFont typeface="+mj-ea"/>
              <a:buAutoNum type="circleNumDbPlain"/>
            </a:pPr>
            <a:r>
              <a:rPr lang="zh-CN" altLang="zh-CN" sz="1400" dirty="0"/>
              <a:t>编写</a:t>
            </a:r>
            <a:r>
              <a:rPr lang="en-US" altLang="zh-CN" sz="1400" dirty="0"/>
              <a:t>RPY</a:t>
            </a:r>
            <a:r>
              <a:rPr lang="zh-CN" altLang="zh-CN" sz="1400" dirty="0"/>
              <a:t>角法（滚动角、俯仰角、偏航角）、欧拉角法、罗德里格斯公式、四元数法以及罗德里格斯参数法相互之间的转换函数（</a:t>
            </a:r>
            <a:r>
              <a:rPr lang="en-US" altLang="zh-CN" sz="1400" dirty="0"/>
              <a:t>C++/</a:t>
            </a:r>
            <a:r>
              <a:rPr lang="en-US" altLang="zh-CN" sz="1400" dirty="0" err="1"/>
              <a:t>matlab</a:t>
            </a:r>
            <a:r>
              <a:rPr lang="zh-CN" altLang="zh-CN" sz="1400" dirty="0"/>
              <a:t>），并测试验证。</a:t>
            </a:r>
          </a:p>
          <a:p>
            <a:pPr marL="342900" indent="-342900">
              <a:buFont typeface="+mj-ea"/>
              <a:buAutoNum type="circleNumDbPlain"/>
            </a:pPr>
            <a:r>
              <a:rPr lang="zh-CN" altLang="zh-CN" sz="1400" dirty="0"/>
              <a:t>编写一个典型机器人的</a:t>
            </a:r>
            <a:r>
              <a:rPr lang="en-US" altLang="zh-CN" sz="1400" dirty="0" err="1"/>
              <a:t>urdf</a:t>
            </a:r>
            <a:r>
              <a:rPr lang="zh-CN" altLang="zh-CN" sz="1400" dirty="0"/>
              <a:t>文件，并在最新版的</a:t>
            </a:r>
            <a:r>
              <a:rPr lang="en-US" altLang="zh-CN" sz="1400" dirty="0" err="1"/>
              <a:t>matlab</a:t>
            </a:r>
            <a:r>
              <a:rPr lang="zh-CN" altLang="zh-CN" sz="1400" dirty="0"/>
              <a:t>、</a:t>
            </a:r>
            <a:r>
              <a:rPr lang="en-US" altLang="zh-CN" sz="1400" dirty="0" err="1"/>
              <a:t>CoppeliaSim</a:t>
            </a:r>
            <a:r>
              <a:rPr lang="en-US" altLang="zh-CN" sz="1400" dirty="0"/>
              <a:t>(V-rep)</a:t>
            </a:r>
            <a:r>
              <a:rPr lang="zh-CN" altLang="zh-CN" sz="1400" dirty="0"/>
              <a:t>、</a:t>
            </a:r>
            <a:r>
              <a:rPr lang="en-US" altLang="zh-CN" sz="1400" dirty="0"/>
              <a:t>ROS</a:t>
            </a:r>
            <a:r>
              <a:rPr lang="zh-CN" altLang="zh-CN" sz="1400" dirty="0"/>
              <a:t>、</a:t>
            </a:r>
            <a:r>
              <a:rPr lang="en-US" altLang="zh-CN" sz="1400" dirty="0" err="1"/>
              <a:t>MuJoCo</a:t>
            </a:r>
            <a:r>
              <a:rPr lang="zh-CN" altLang="zh-CN" sz="1400" dirty="0"/>
              <a:t>下加载测试。</a:t>
            </a:r>
            <a:endParaRPr lang="zh-CN" altLang="en-US" sz="1400" dirty="0">
              <a:solidFill>
                <a:schemeClr val="tx1">
                  <a:lumMod val="75000"/>
                  <a:lumOff val="25000"/>
                </a:schemeClr>
              </a:solidFill>
              <a:latin typeface="Arial" panose="020B0604020202020204" pitchFamily="34" charset="0"/>
              <a:ea typeface="微软雅黑" panose="020B0503020204020204" charset="-122"/>
              <a:sym typeface="+mn-ea"/>
            </a:endParaRPr>
          </a:p>
        </p:txBody>
      </p:sp>
      <p:sp>
        <p:nvSpPr>
          <p:cNvPr id="2" name="文本框 1"/>
          <p:cNvSpPr txBox="1"/>
          <p:nvPr/>
        </p:nvSpPr>
        <p:spPr>
          <a:xfrm>
            <a:off x="4774375" y="1347614"/>
            <a:ext cx="4070985" cy="460375"/>
          </a:xfrm>
          <a:prstGeom prst="rect">
            <a:avLst/>
          </a:prstGeom>
          <a:noFill/>
        </p:spPr>
        <p:txBody>
          <a:bodyPr wrap="square" rtlCol="0" anchor="t">
            <a:spAutoFit/>
          </a:bodyPr>
          <a:lstStyle/>
          <a:p>
            <a:pPr algn="l"/>
            <a:r>
              <a:rPr lang="zh-CN" altLang="en-US" sz="2400" b="1" dirty="0" smtClean="0">
                <a:solidFill>
                  <a:schemeClr val="tx1">
                    <a:lumMod val="75000"/>
                    <a:lumOff val="25000"/>
                  </a:schemeClr>
                </a:solidFill>
                <a:latin typeface="Arial" panose="020B0604020202020204" pitchFamily="34" charset="0"/>
                <a:ea typeface="微软雅黑" panose="020B0503020204020204" charset="-122"/>
                <a:sym typeface="+mn-ea"/>
              </a:rPr>
              <a:t>课后练习</a:t>
            </a:r>
            <a:endParaRPr lang="zh-CN" altLang="en-US" sz="2400" b="1" dirty="0">
              <a:solidFill>
                <a:schemeClr val="tx1">
                  <a:lumMod val="75000"/>
                  <a:lumOff val="25000"/>
                </a:schemeClr>
              </a:solidFill>
              <a:latin typeface="Arial" panose="020B0604020202020204" pitchFamily="34" charset="0"/>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barn(outHorizontal)">
                                      <p:cBhvr>
                                        <p:cTn id="7" dur="500"/>
                                        <p:tgtEl>
                                          <p:spTgt spid="112"/>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14"/>
                                        </p:tgtEl>
                                        <p:attrNameLst>
                                          <p:attrName>style.visibility</p:attrName>
                                        </p:attrNameLst>
                                      </p:cBhvr>
                                      <p:to>
                                        <p:strVal val="visible"/>
                                      </p:to>
                                    </p:set>
                                    <p:animEffect transition="in" filter="wipe(right)">
                                      <p:cBhvr>
                                        <p:cTn id="11" dur="1000"/>
                                        <p:tgtEl>
                                          <p:spTgt spid="114"/>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110"/>
                                        </p:tgtEl>
                                        <p:attrNameLst>
                                          <p:attrName>style.visibility</p:attrName>
                                        </p:attrNameLst>
                                      </p:cBhvr>
                                      <p:to>
                                        <p:strVal val="visible"/>
                                      </p:to>
                                    </p:set>
                                    <p:animEffect transition="in" filter="wipe(left)">
                                      <p:cBhvr>
                                        <p:cTn id="15" dur="10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bldLvl="0" animBg="1"/>
      <p:bldP spid="110"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52550" y="2116587"/>
            <a:ext cx="6821170" cy="829945"/>
          </a:xfrm>
          <a:prstGeom prst="rect">
            <a:avLst/>
          </a:prstGeom>
          <a:noFill/>
          <a:effectLst/>
        </p:spPr>
        <p:txBody>
          <a:bodyPr wrap="square" rtlCol="0">
            <a:spAutoFit/>
          </a:bodyPr>
          <a:lstStyle/>
          <a:p>
            <a:pPr algn="ctr"/>
            <a:r>
              <a:rPr 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THANK YOU</a:t>
            </a:r>
          </a:p>
        </p:txBody>
      </p:sp>
      <p:sp>
        <p:nvSpPr>
          <p:cNvPr id="5" name="矩形 4"/>
          <p:cNvSpPr/>
          <p:nvPr/>
        </p:nvSpPr>
        <p:spPr>
          <a:xfrm>
            <a:off x="1155383" y="2946400"/>
            <a:ext cx="7215505" cy="246221"/>
          </a:xfrm>
          <a:prstGeom prst="rect">
            <a:avLst/>
          </a:prstGeom>
        </p:spPr>
        <p:txBody>
          <a:bodyPr wrap="square">
            <a:spAutoFit/>
          </a:bodyPr>
          <a:lstStyle/>
          <a:p>
            <a:pPr algn="ctr">
              <a:lnSpc>
                <a:spcPct val="100000"/>
              </a:lnSpc>
            </a:pPr>
            <a:r>
              <a:rPr lang="zh-CN" altLang="en-US" sz="1000" dirty="0" smtClean="0">
                <a:solidFill>
                  <a:schemeClr val="tx1"/>
                </a:solidFill>
                <a:latin typeface="Arial" panose="020B0604020202020204" pitchFamily="34" charset="0"/>
                <a:ea typeface="微软雅黑" panose="020B0503020204020204" charset="-122"/>
              </a:rPr>
              <a:t>机器人学</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289425" y="3444240"/>
            <a:ext cx="948055" cy="215900"/>
          </a:xfrm>
          <a:prstGeom prst="roundRect">
            <a:avLst/>
          </a:prstGeom>
          <a:noFill/>
          <a:ln>
            <a:solidFill>
              <a:srgbClr val="558E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17695" y="3429635"/>
            <a:ext cx="718466" cy="246221"/>
          </a:xfrm>
          <a:prstGeom prst="rect">
            <a:avLst/>
          </a:prstGeom>
          <a:noFill/>
        </p:spPr>
        <p:txBody>
          <a:bodyPr wrap="none" rtlCol="0">
            <a:spAutoFit/>
          </a:bodyPr>
          <a:lstStyle/>
          <a:p>
            <a:r>
              <a:rPr lang="en-US" altLang="zh-CN" sz="1000" dirty="0" smtClean="0">
                <a:latin typeface="微软雅黑" panose="020B0503020204020204" charset="-122"/>
                <a:ea typeface="微软雅黑" panose="020B0503020204020204" charset="-122"/>
              </a:rPr>
              <a:t>Robotics</a:t>
            </a:r>
            <a:endParaRPr lang="zh-CN" altLang="en-US" sz="1000"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新"/>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64_4*l_h_i*1_1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64_4*l_h_f*1_1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160464_4*l_h_a*1_1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64_4*l_h_i*1_2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64_4*l_h_f*1_2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160464_4*l_h_a*1_2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64_4*l_h_i*1_3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64_4*l_h_f*1_3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160464_4*l_h_a*1_3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0119_4*m_h_i*1_2_3"/>
  <p:tag name="KSO_WM_TEMPLATE_CATEGORY" val="diagram"/>
  <p:tag name="KSO_WM_TEMPLATE_INDEX" val="20200119"/>
  <p:tag name="KSO_WM_UNIT_LAYERLEVEL" val="1_1_1"/>
  <p:tag name="KSO_WM_TAG_VERSION" val="1.0"/>
  <p:tag name="KSO_WM_BEAUTIFY_FLAG" val="#wm#"/>
  <p:tag name="KSO_WM_UNIT_FILL_FORE_SCHEMECOLOR_INDEX" val="6"/>
  <p:tag name="KSO_WM_UNI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0119_4*m_h_i*1_2_3"/>
  <p:tag name="KSO_WM_TEMPLATE_CATEGORY" val="diagram"/>
  <p:tag name="KSO_WM_TEMPLATE_INDEX" val="20200119"/>
  <p:tag name="KSO_WM_UNIT_LAYERLEVEL" val="1_1_1"/>
  <p:tag name="KSO_WM_TAG_VERSION" val="1.0"/>
  <p:tag name="KSO_WM_BEAUTIFY_FLAG" val="#wm#"/>
  <p:tag name="KSO_WM_UNIT_FILL_FORE_SCHEMECOLOR_INDEX" val="6"/>
  <p:tag name="KSO_WM_UNI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0119_4*m_h_i*1_2_3"/>
  <p:tag name="KSO_WM_TEMPLATE_CATEGORY" val="diagram"/>
  <p:tag name="KSO_WM_TEMPLATE_INDEX" val="20200119"/>
  <p:tag name="KSO_WM_UNIT_LAYERLEVEL" val="1_1_1"/>
  <p:tag name="KSO_WM_TAG_VERSION" val="1.0"/>
  <p:tag name="KSO_WM_BEAUTIFY_FLAG" val="#wm#"/>
  <p:tag name="KSO_WM_UNIT_FILL_FORE_SCHEMECOLOR_INDEX" val="6"/>
  <p:tag name="KSO_WM_UNI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21108</Words>
  <Application>Microsoft Office PowerPoint</Application>
  <PresentationFormat>全屏显示(16:9)</PresentationFormat>
  <Paragraphs>866</Paragraphs>
  <Slides>69</Slides>
  <Notes>69</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2</vt:i4>
      </vt:variant>
      <vt:variant>
        <vt:lpstr>幻灯片标题</vt:lpstr>
      </vt:variant>
      <vt:variant>
        <vt:i4>69</vt:i4>
      </vt:variant>
    </vt:vector>
  </HeadingPairs>
  <TitlesOfParts>
    <vt:vector size="88" baseType="lpstr">
      <vt:lpstr>Arial Unicode MS</vt:lpstr>
      <vt:lpstr>MS PGothic</vt:lpstr>
      <vt:lpstr>楷体</vt:lpstr>
      <vt:lpstr>楷体_GB2312</vt:lpstr>
      <vt:lpstr>宋体</vt:lpstr>
      <vt:lpstr>宋体-简</vt:lpstr>
      <vt:lpstr>微软雅黑</vt:lpstr>
      <vt:lpstr>Arial</vt:lpstr>
      <vt:lpstr>Calibri</vt:lpstr>
      <vt:lpstr>Cambria Math</vt:lpstr>
      <vt:lpstr>Impact</vt:lpstr>
      <vt:lpstr>Symbol</vt:lpstr>
      <vt:lpstr>Tahoma</vt:lpstr>
      <vt:lpstr>Times New Roman</vt:lpstr>
      <vt:lpstr>Wingdings</vt:lpstr>
      <vt:lpstr>Office 主题​​</vt:lpstr>
      <vt:lpstr>自定义设计方案</vt:lpstr>
      <vt:lpstr>Visio</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分类角度? </vt:lpstr>
      <vt:lpstr>层次结构（Hierarchical Architecture）</vt:lpstr>
      <vt:lpstr>包容体系结构（Subsumption Architecture）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cp:revision>
  <dcterms:created xsi:type="dcterms:W3CDTF">2017-03-24T14:39:00Z</dcterms:created>
  <dcterms:modified xsi:type="dcterms:W3CDTF">2026-05-11T12:51:58Z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6BC3529E3B6A41F19B11F4F61BFA4592_12</vt:lpwstr>
  </property>
</Properties>
</file>