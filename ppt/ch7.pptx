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4" r:id="rId2"/>
  </p:sldMasterIdLst>
  <p:notesMasterIdLst>
    <p:notesMasterId r:id="rId44"/>
  </p:notesMasterIdLst>
  <p:handoutMasterIdLst>
    <p:handoutMasterId r:id="rId45"/>
  </p:handoutMasterIdLst>
  <p:sldIdLst>
    <p:sldId id="283" r:id="rId3"/>
    <p:sldId id="401" r:id="rId4"/>
    <p:sldId id="422" r:id="rId5"/>
    <p:sldId id="284" r:id="rId6"/>
    <p:sldId id="403" r:id="rId7"/>
    <p:sldId id="404" r:id="rId8"/>
    <p:sldId id="406" r:id="rId9"/>
    <p:sldId id="405" r:id="rId10"/>
    <p:sldId id="408" r:id="rId11"/>
    <p:sldId id="409" r:id="rId12"/>
    <p:sldId id="410" r:id="rId13"/>
    <p:sldId id="411" r:id="rId14"/>
    <p:sldId id="412" r:id="rId15"/>
    <p:sldId id="413" r:id="rId16"/>
    <p:sldId id="414" r:id="rId17"/>
    <p:sldId id="415" r:id="rId18"/>
    <p:sldId id="407" r:id="rId19"/>
    <p:sldId id="325" r:id="rId20"/>
    <p:sldId id="416" r:id="rId21"/>
    <p:sldId id="417" r:id="rId22"/>
    <p:sldId id="418" r:id="rId23"/>
    <p:sldId id="419" r:id="rId24"/>
    <p:sldId id="423" r:id="rId25"/>
    <p:sldId id="424" r:id="rId26"/>
    <p:sldId id="425" r:id="rId27"/>
    <p:sldId id="426" r:id="rId28"/>
    <p:sldId id="427" r:id="rId29"/>
    <p:sldId id="428" r:id="rId30"/>
    <p:sldId id="429" r:id="rId31"/>
    <p:sldId id="430" r:id="rId32"/>
    <p:sldId id="431" r:id="rId33"/>
    <p:sldId id="432" r:id="rId34"/>
    <p:sldId id="433" r:id="rId35"/>
    <p:sldId id="434" r:id="rId36"/>
    <p:sldId id="435" r:id="rId37"/>
    <p:sldId id="436" r:id="rId38"/>
    <p:sldId id="437" r:id="rId39"/>
    <p:sldId id="439" r:id="rId40"/>
    <p:sldId id="420" r:id="rId41"/>
    <p:sldId id="440" r:id="rId42"/>
    <p:sldId id="399" r:id="rId43"/>
  </p:sldIdLst>
  <p:sldSz cx="9144000" cy="5143500" type="screen16x9"/>
  <p:notesSz cx="6858000" cy="9144000"/>
  <p:custDataLst>
    <p:tags r:id="rId4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4">
          <p15:clr>
            <a:srgbClr val="A4A3A4"/>
          </p15:clr>
        </p15:guide>
        <p15:guide id="2" pos="281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58ED5"/>
    <a:srgbClr val="FFFFFF"/>
    <a:srgbClr val="0065B0"/>
    <a:srgbClr val="268099"/>
    <a:srgbClr val="005CA8"/>
    <a:srgbClr val="4EE5FA"/>
    <a:srgbClr val="0060A8"/>
    <a:srgbClr val="19C3FF"/>
    <a:srgbClr val="00C0A9"/>
    <a:srgbClr val="00A1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69" autoAdjust="0"/>
    <p:restoredTop sz="73746" autoAdjust="0"/>
  </p:normalViewPr>
  <p:slideViewPr>
    <p:cSldViewPr>
      <p:cViewPr varScale="1">
        <p:scale>
          <a:sx n="107" d="100"/>
          <a:sy n="107" d="100"/>
        </p:scale>
        <p:origin x="942" y="90"/>
      </p:cViewPr>
      <p:guideLst>
        <p:guide orient="horz" pos="1594"/>
        <p:guide pos="2815"/>
      </p:guideLst>
    </p:cSldViewPr>
  </p:slid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image" Target="../media/image36.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image" Target="../media/image42.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7.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8.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9.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image" Target="../media/image50.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F1FAED0-7D10-4239-9B56-C55805060B86}" type="datetimeFigureOut">
              <a:rPr lang="zh-CN" altLang="en-US" smtClean="0"/>
              <a:t>2026/6/17</a:t>
            </a:fld>
            <a:endParaRPr lang="zh-CN" altLang="en-US"/>
          </a:p>
        </p:txBody>
      </p:sp>
      <p:sp>
        <p:nvSpPr>
          <p:cNvPr id="4" name="幻灯片图像占位符 3"/>
          <p:cNvSpPr>
            <a:spLocks noGrp="1" noRot="1" noChangeAspect="1"/>
          </p:cNvSpPr>
          <p:nvPr>
            <p:ph type="sldImg" idx="2"/>
          </p:nvPr>
        </p:nvSpPr>
        <p:spPr>
          <a:xfrm>
            <a:off x="381534" y="685800"/>
            <a:ext cx="6094934"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147A23-5BA8-44CE-9215-79B767159C41}"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This is an introductory of robotics course, containing both fundamental as well as some more advanced concepts. It presents a broad overview of robotics with focus on manipulators and mobile robots, and includes robot kinematics, dynamics, planning and control, programming language.</a:t>
            </a:r>
            <a:endParaRPr lang="zh-CN" altLang="zh-CN" dirty="0" smtClean="0"/>
          </a:p>
          <a:p>
            <a:r>
              <a:rPr lang="en-US" altLang="zh-CN" dirty="0" smtClean="0"/>
              <a:t>The course is divided between the following areas:</a:t>
            </a:r>
            <a:endParaRPr lang="zh-CN" altLang="zh-CN" dirty="0" smtClean="0"/>
          </a:p>
          <a:p>
            <a:r>
              <a:rPr lang="en-US" altLang="zh-CN" dirty="0" smtClean="0"/>
              <a:t>Robotics Introduction</a:t>
            </a:r>
          </a:p>
          <a:p>
            <a:r>
              <a:rPr lang="en-US" altLang="zh-CN" dirty="0" smtClean="0"/>
              <a:t>System Model of Robot</a:t>
            </a:r>
            <a:endParaRPr lang="zh-CN" altLang="zh-CN" dirty="0" smtClean="0"/>
          </a:p>
          <a:p>
            <a:r>
              <a:rPr lang="en-US" altLang="zh-CN" dirty="0" smtClean="0"/>
              <a:t>Robot kinematics</a:t>
            </a:r>
            <a:endParaRPr lang="zh-CN" altLang="zh-CN" dirty="0" smtClean="0"/>
          </a:p>
          <a:p>
            <a:r>
              <a:rPr lang="en-US" altLang="zh-CN" dirty="0" smtClean="0"/>
              <a:t>Robot dynamics</a:t>
            </a:r>
            <a:endParaRPr lang="zh-CN" altLang="zh-CN" dirty="0" smtClean="0"/>
          </a:p>
          <a:p>
            <a:r>
              <a:rPr lang="en-US" altLang="zh-CN" dirty="0" smtClean="0"/>
              <a:t>Robot control</a:t>
            </a:r>
            <a:endParaRPr lang="zh-CN" altLang="zh-CN" dirty="0" smtClean="0"/>
          </a:p>
          <a:p>
            <a:r>
              <a:rPr lang="en-US" altLang="zh-CN" dirty="0" smtClean="0"/>
              <a:t>Robot motion planning</a:t>
            </a:r>
          </a:p>
          <a:p>
            <a:r>
              <a:rPr lang="en-US" altLang="zh-CN" dirty="0" smtClean="0"/>
              <a:t>…</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a:t>
            </a:fld>
            <a:endParaRPr lang="zh-CN" altLang="en-US"/>
          </a:p>
        </p:txBody>
      </p:sp>
    </p:spTree>
    <p:extLst>
      <p:ext uri="{BB962C8B-B14F-4D97-AF65-F5344CB8AC3E}">
        <p14:creationId xmlns:p14="http://schemas.microsoft.com/office/powerpoint/2010/main" val="17694737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George </a:t>
            </a:r>
            <a:r>
              <a:rPr lang="en-US" altLang="zh-CN" sz="1200" kern="1200" dirty="0" err="1" smtClean="0">
                <a:solidFill>
                  <a:schemeClr val="tx1"/>
                </a:solidFill>
                <a:effectLst/>
                <a:latin typeface="+mn-lt"/>
                <a:ea typeface="+mn-ea"/>
                <a:cs typeface="+mn-cs"/>
              </a:rPr>
              <a:t>Devol</a:t>
            </a:r>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于</a:t>
            </a:r>
            <a:r>
              <a:rPr lang="en-US" altLang="zh-CN" sz="1200" kern="1200" dirty="0" smtClean="0">
                <a:solidFill>
                  <a:schemeClr val="tx1"/>
                </a:solidFill>
                <a:effectLst/>
                <a:latin typeface="+mn-lt"/>
                <a:ea typeface="+mn-ea"/>
                <a:cs typeface="+mn-cs"/>
              </a:rPr>
              <a:t> 1954 </a:t>
            </a:r>
            <a:r>
              <a:rPr lang="zh-CN" altLang="zh-CN" sz="1200" kern="1200" dirty="0" smtClean="0">
                <a:solidFill>
                  <a:schemeClr val="tx1"/>
                </a:solidFill>
                <a:effectLst/>
                <a:latin typeface="+mn-lt"/>
                <a:ea typeface="+mn-ea"/>
                <a:cs typeface="+mn-cs"/>
              </a:rPr>
              <a:t>年发明了第一台工业机器人</a:t>
            </a:r>
            <a:r>
              <a:rPr lang="en-US" altLang="zh-CN" sz="1200" kern="1200" dirty="0" err="1" smtClean="0">
                <a:solidFill>
                  <a:schemeClr val="tx1"/>
                </a:solidFill>
                <a:effectLst/>
                <a:latin typeface="+mn-lt"/>
                <a:ea typeface="+mn-ea"/>
                <a:cs typeface="+mn-cs"/>
              </a:rPr>
              <a:t>Unimate</a:t>
            </a:r>
            <a:r>
              <a:rPr lang="zh-CN" altLang="zh-CN" sz="1200" kern="1200" dirty="0" smtClean="0">
                <a:solidFill>
                  <a:schemeClr val="tx1"/>
                </a:solidFill>
                <a:effectLst/>
                <a:latin typeface="+mn-lt"/>
                <a:ea typeface="+mn-ea"/>
                <a:cs typeface="+mn-cs"/>
              </a:rPr>
              <a:t>，该机器人使用了较为低级的再编程概念，采用一种较为原始的示教方式：用户命令机器人到一个位置，然后存储所有关节的位置。示教完成后，再现程序时，关节从初始位置移动到示教位置。</a:t>
            </a:r>
            <a:r>
              <a:rPr lang="en-US" altLang="zh-CN" sz="1200" kern="1200" dirty="0" smtClean="0">
                <a:solidFill>
                  <a:schemeClr val="tx1"/>
                </a:solidFill>
                <a:effectLst/>
                <a:latin typeface="+mn-lt"/>
                <a:ea typeface="+mn-ea"/>
                <a:cs typeface="+mn-cs"/>
              </a:rPr>
              <a:t>1960</a:t>
            </a:r>
            <a:r>
              <a:rPr lang="zh-CN" altLang="zh-CN" sz="1200" kern="1200" dirty="0" smtClean="0">
                <a:solidFill>
                  <a:schemeClr val="tx1"/>
                </a:solidFill>
                <a:effectLst/>
                <a:latin typeface="+mn-lt"/>
                <a:ea typeface="+mn-ea"/>
                <a:cs typeface="+mn-cs"/>
              </a:rPr>
              <a:t>年，麻省理工学院为其机械手</a:t>
            </a:r>
            <a:r>
              <a:rPr lang="en-US" altLang="zh-CN" sz="1200" kern="1200" dirty="0" smtClean="0">
                <a:solidFill>
                  <a:schemeClr val="tx1"/>
                </a:solidFill>
                <a:effectLst/>
                <a:latin typeface="+mn-lt"/>
                <a:ea typeface="+mn-ea"/>
                <a:cs typeface="+mn-cs"/>
              </a:rPr>
              <a:t>MH-I</a:t>
            </a:r>
            <a:r>
              <a:rPr lang="zh-CN" altLang="zh-CN" sz="1200" kern="1200" dirty="0" smtClean="0">
                <a:solidFill>
                  <a:schemeClr val="tx1"/>
                </a:solidFill>
                <a:effectLst/>
                <a:latin typeface="+mn-lt"/>
                <a:ea typeface="+mn-ea"/>
                <a:cs typeface="+mn-cs"/>
              </a:rPr>
              <a:t>开发的</a:t>
            </a:r>
            <a:r>
              <a:rPr lang="en-US" altLang="zh-CN" sz="1200" kern="1200" dirty="0" smtClean="0">
                <a:solidFill>
                  <a:schemeClr val="tx1"/>
                </a:solidFill>
                <a:effectLst/>
                <a:latin typeface="+mn-lt"/>
                <a:ea typeface="+mn-ea"/>
                <a:cs typeface="+mn-cs"/>
              </a:rPr>
              <a:t>MHI (Mechanical Hand Interpreter</a:t>
            </a:r>
            <a:r>
              <a:rPr lang="zh-CN" altLang="zh-CN" sz="1200" kern="1200" dirty="0" smtClean="0">
                <a:solidFill>
                  <a:schemeClr val="tx1"/>
                </a:solidFill>
                <a:effectLst/>
                <a:latin typeface="+mn-lt"/>
                <a:ea typeface="+mn-ea"/>
                <a:cs typeface="+mn-cs"/>
              </a:rPr>
              <a:t>，机械手解析器</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可称为第一个机器人语言。</a:t>
            </a:r>
            <a:r>
              <a:rPr lang="en-US" altLang="zh-CN" sz="1200" kern="1200" dirty="0" smtClean="0">
                <a:solidFill>
                  <a:schemeClr val="tx1"/>
                </a:solidFill>
                <a:effectLst/>
                <a:latin typeface="+mn-lt"/>
                <a:ea typeface="+mn-ea"/>
                <a:cs typeface="+mn-cs"/>
              </a:rPr>
              <a:t>MH-I </a:t>
            </a:r>
            <a:r>
              <a:rPr lang="zh-CN" altLang="zh-CN" sz="1200" kern="1200" dirty="0" smtClean="0">
                <a:solidFill>
                  <a:schemeClr val="tx1"/>
                </a:solidFill>
                <a:effectLst/>
                <a:latin typeface="+mn-lt"/>
                <a:ea typeface="+mn-ea"/>
                <a:cs typeface="+mn-cs"/>
              </a:rPr>
              <a:t>的整个手部配备了多个二进制触摸传感器、手指之间的压力传感器阵列以及手指底部的光电二极管，</a:t>
            </a:r>
            <a:r>
              <a:rPr lang="en-US" altLang="zh-CN" sz="1200" kern="1200" dirty="0" smtClean="0">
                <a:solidFill>
                  <a:schemeClr val="tx1"/>
                </a:solidFill>
                <a:effectLst/>
                <a:latin typeface="+mn-lt"/>
                <a:ea typeface="+mn-ea"/>
                <a:cs typeface="+mn-cs"/>
              </a:rPr>
              <a:t>MHI</a:t>
            </a:r>
            <a:r>
              <a:rPr lang="zh-CN" altLang="zh-CN" sz="1200" kern="1200" dirty="0" smtClean="0">
                <a:solidFill>
                  <a:schemeClr val="tx1"/>
                </a:solidFill>
                <a:effectLst/>
                <a:latin typeface="+mn-lt"/>
                <a:ea typeface="+mn-ea"/>
                <a:cs typeface="+mn-cs"/>
              </a:rPr>
              <a:t>程序在</a:t>
            </a:r>
            <a:r>
              <a:rPr lang="en-US" altLang="zh-CN" sz="1200" kern="1200" dirty="0" smtClean="0">
                <a:solidFill>
                  <a:schemeClr val="tx1"/>
                </a:solidFill>
                <a:effectLst/>
                <a:latin typeface="+mn-lt"/>
                <a:ea typeface="+mn-ea"/>
                <a:cs typeface="+mn-cs"/>
              </a:rPr>
              <a:t> TX-0 </a:t>
            </a:r>
            <a:r>
              <a:rPr lang="zh-CN" altLang="zh-CN" sz="1200" kern="1200" dirty="0" smtClean="0">
                <a:solidFill>
                  <a:schemeClr val="tx1"/>
                </a:solidFill>
                <a:effectLst/>
                <a:latin typeface="+mn-lt"/>
                <a:ea typeface="+mn-ea"/>
                <a:cs typeface="+mn-cs"/>
              </a:rPr>
              <a:t>计算机上解析执行。</a:t>
            </a:r>
            <a:r>
              <a:rPr lang="en-US" altLang="zh-CN" sz="1200" kern="1200" dirty="0" smtClean="0">
                <a:solidFill>
                  <a:schemeClr val="tx1"/>
                </a:solidFill>
                <a:effectLst/>
                <a:latin typeface="+mn-lt"/>
                <a:ea typeface="+mn-ea"/>
                <a:cs typeface="+mn-cs"/>
              </a:rPr>
              <a:t> MHI</a:t>
            </a:r>
            <a:r>
              <a:rPr lang="zh-CN" altLang="zh-CN" sz="1200" kern="1200" dirty="0" smtClean="0">
                <a:solidFill>
                  <a:schemeClr val="tx1"/>
                </a:solidFill>
                <a:effectLst/>
                <a:latin typeface="+mn-lt"/>
                <a:ea typeface="+mn-ea"/>
                <a:cs typeface="+mn-cs"/>
              </a:rPr>
              <a:t>编程语言基本指令为移动指令“</a:t>
            </a:r>
            <a:r>
              <a:rPr lang="en-US" altLang="zh-CN" sz="1200" kern="1200" dirty="0" smtClean="0">
                <a:solidFill>
                  <a:schemeClr val="tx1"/>
                </a:solidFill>
                <a:effectLst/>
                <a:latin typeface="+mn-lt"/>
                <a:ea typeface="+mn-ea"/>
                <a:cs typeface="+mn-cs"/>
              </a:rPr>
              <a:t>move”</a:t>
            </a:r>
            <a:r>
              <a:rPr lang="zh-CN" altLang="zh-CN" sz="1200" kern="1200" dirty="0" smtClean="0">
                <a:solidFill>
                  <a:schemeClr val="tx1"/>
                </a:solidFill>
                <a:effectLst/>
                <a:latin typeface="+mn-lt"/>
                <a:ea typeface="+mn-ea"/>
                <a:cs typeface="+mn-cs"/>
              </a:rPr>
              <a:t>，即移动直到检测到传感器条件成立。</a:t>
            </a:r>
            <a:r>
              <a:rPr lang="en-US" altLang="zh-CN" sz="1200" kern="1200" dirty="0" smtClean="0">
                <a:solidFill>
                  <a:schemeClr val="tx1"/>
                </a:solidFill>
                <a:effectLst/>
                <a:latin typeface="+mn-lt"/>
                <a:ea typeface="+mn-ea"/>
                <a:cs typeface="+mn-cs"/>
              </a:rPr>
              <a:t>MHI</a:t>
            </a:r>
            <a:r>
              <a:rPr lang="zh-CN" altLang="zh-CN" sz="1200" kern="1200" dirty="0" smtClean="0">
                <a:solidFill>
                  <a:schemeClr val="tx1"/>
                </a:solidFill>
                <a:effectLst/>
                <a:latin typeface="+mn-lt"/>
                <a:ea typeface="+mn-ea"/>
                <a:cs typeface="+mn-cs"/>
              </a:rPr>
              <a:t>基本语句如下：</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move</a:t>
            </a:r>
            <a:r>
              <a:rPr lang="zh-CN" altLang="zh-CN" sz="1200" kern="1200" dirty="0" smtClean="0">
                <a:solidFill>
                  <a:schemeClr val="tx1"/>
                </a:solidFill>
                <a:effectLst/>
                <a:latin typeface="+mn-lt"/>
                <a:ea typeface="+mn-ea"/>
                <a:cs typeface="+mn-cs"/>
              </a:rPr>
              <a:t>”：表示方向和速度；</a:t>
            </a: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until</a:t>
            </a:r>
            <a:r>
              <a:rPr lang="zh-CN" altLang="zh-CN" sz="1200" kern="1200" dirty="0" smtClean="0">
                <a:solidFill>
                  <a:schemeClr val="tx1"/>
                </a:solidFill>
                <a:effectLst/>
                <a:latin typeface="+mn-lt"/>
                <a:ea typeface="+mn-ea"/>
                <a:cs typeface="+mn-cs"/>
              </a:rPr>
              <a:t>”：在某个指定条件下测试传感器；</a:t>
            </a:r>
          </a:p>
          <a:p>
            <a:r>
              <a:rPr lang="en-US" altLang="zh-CN" sz="1200" kern="1200" dirty="0" smtClean="0">
                <a:solidFill>
                  <a:schemeClr val="tx1"/>
                </a:solidFill>
                <a:effectLst/>
                <a:latin typeface="+mn-lt"/>
                <a:ea typeface="+mn-ea"/>
                <a:cs typeface="+mn-cs"/>
              </a:rPr>
              <a:t>3) </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ifgoto</a:t>
            </a:r>
            <a:r>
              <a:rPr lang="zh-CN" altLang="zh-CN" sz="1200" kern="1200" dirty="0" smtClean="0">
                <a:solidFill>
                  <a:schemeClr val="tx1"/>
                </a:solidFill>
                <a:effectLst/>
                <a:latin typeface="+mn-lt"/>
                <a:ea typeface="+mn-ea"/>
                <a:cs typeface="+mn-cs"/>
              </a:rPr>
              <a:t>”：如果检测到某个条件，则跳转到程序标签；</a:t>
            </a:r>
          </a:p>
          <a:p>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ifcontinue</a:t>
            </a:r>
            <a:r>
              <a:rPr lang="zh-CN" altLang="zh-CN" sz="1200" kern="1200" dirty="0" smtClean="0">
                <a:solidFill>
                  <a:schemeClr val="tx1"/>
                </a:solidFill>
                <a:effectLst/>
                <a:latin typeface="+mn-lt"/>
                <a:ea typeface="+mn-ea"/>
                <a:cs typeface="+mn-cs"/>
              </a:rPr>
              <a:t>”：如果某些条件成立，则分支以继续操作。</a:t>
            </a:r>
          </a:p>
          <a:p>
            <a:r>
              <a:rPr lang="en-US" altLang="zh-CN" sz="1200" kern="1200" dirty="0" smtClean="0">
                <a:solidFill>
                  <a:schemeClr val="tx1"/>
                </a:solidFill>
                <a:effectLst/>
                <a:latin typeface="+mn-lt"/>
                <a:ea typeface="+mn-ea"/>
                <a:cs typeface="+mn-cs"/>
              </a:rPr>
              <a:t>1973</a:t>
            </a:r>
            <a:r>
              <a:rPr lang="zh-CN" altLang="zh-CN" sz="1200" kern="1200" dirty="0" smtClean="0">
                <a:solidFill>
                  <a:schemeClr val="tx1"/>
                </a:solidFill>
                <a:effectLst/>
                <a:latin typeface="+mn-lt"/>
                <a:ea typeface="+mn-ea"/>
                <a:cs typeface="+mn-cs"/>
              </a:rPr>
              <a:t>年，美国斯坦福大学研制出了世界上第一种通用机器人语言</a:t>
            </a:r>
            <a:r>
              <a:rPr lang="en-US" altLang="zh-CN" sz="1200" kern="1200" dirty="0" smtClean="0">
                <a:solidFill>
                  <a:schemeClr val="tx1"/>
                </a:solidFill>
                <a:effectLst/>
                <a:latin typeface="+mn-lt"/>
                <a:ea typeface="+mn-ea"/>
                <a:cs typeface="+mn-cs"/>
              </a:rPr>
              <a:t>WAVE</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WAVE</a:t>
            </a:r>
            <a:r>
              <a:rPr lang="zh-CN" altLang="zh-CN" sz="1200" kern="1200" dirty="0" smtClean="0">
                <a:solidFill>
                  <a:schemeClr val="tx1"/>
                </a:solidFill>
                <a:effectLst/>
                <a:latin typeface="+mn-lt"/>
                <a:ea typeface="+mn-ea"/>
                <a:cs typeface="+mn-cs"/>
              </a:rPr>
              <a:t>是一种机器人动作语言，其语言功能以描述机器人的动作为主，包含力和接触的控制，且能配合视觉传感器进行机器人的手、眼协调控制。</a:t>
            </a:r>
          </a:p>
          <a:p>
            <a:r>
              <a:rPr lang="en-US" altLang="zh-CN" sz="1200" kern="1200" dirty="0" smtClean="0">
                <a:solidFill>
                  <a:schemeClr val="tx1"/>
                </a:solidFill>
                <a:effectLst/>
                <a:latin typeface="+mn-lt"/>
                <a:ea typeface="+mn-ea"/>
                <a:cs typeface="+mn-cs"/>
              </a:rPr>
              <a:t>1974</a:t>
            </a:r>
            <a:r>
              <a:rPr lang="zh-CN" altLang="zh-CN" sz="1200" kern="1200" dirty="0" smtClean="0">
                <a:solidFill>
                  <a:schemeClr val="tx1"/>
                </a:solidFill>
                <a:effectLst/>
                <a:latin typeface="+mn-lt"/>
                <a:ea typeface="+mn-ea"/>
                <a:cs typeface="+mn-cs"/>
              </a:rPr>
              <a:t>年，斯坦福大学人工智能实验室在</a:t>
            </a:r>
            <a:r>
              <a:rPr lang="en-US" altLang="zh-CN" sz="1200" kern="1200" dirty="0" smtClean="0">
                <a:solidFill>
                  <a:schemeClr val="tx1"/>
                </a:solidFill>
                <a:effectLst/>
                <a:latin typeface="+mn-lt"/>
                <a:ea typeface="+mn-ea"/>
                <a:cs typeface="+mn-cs"/>
              </a:rPr>
              <a:t>WAVE</a:t>
            </a:r>
            <a:r>
              <a:rPr lang="zh-CN" altLang="zh-CN" sz="1200" kern="1200" dirty="0" smtClean="0">
                <a:solidFill>
                  <a:schemeClr val="tx1"/>
                </a:solidFill>
                <a:effectLst/>
                <a:latin typeface="+mn-lt"/>
                <a:ea typeface="+mn-ea"/>
                <a:cs typeface="+mn-cs"/>
              </a:rPr>
              <a:t>语言的基础上开发出了</a:t>
            </a:r>
            <a:r>
              <a:rPr lang="en-US" altLang="zh-CN" sz="1200" kern="1200" dirty="0" smtClean="0">
                <a:solidFill>
                  <a:schemeClr val="tx1"/>
                </a:solidFill>
                <a:effectLst/>
                <a:latin typeface="+mn-lt"/>
                <a:ea typeface="+mn-ea"/>
                <a:cs typeface="+mn-cs"/>
              </a:rPr>
              <a:t>AL</a:t>
            </a:r>
            <a:r>
              <a:rPr lang="zh-CN" altLang="zh-CN" sz="1200" kern="1200" dirty="0" smtClean="0">
                <a:solidFill>
                  <a:schemeClr val="tx1"/>
                </a:solidFill>
                <a:effectLst/>
                <a:latin typeface="+mn-lt"/>
                <a:ea typeface="+mn-ea"/>
                <a:cs typeface="+mn-cs"/>
              </a:rPr>
              <a:t>语言。</a:t>
            </a:r>
            <a:r>
              <a:rPr lang="en-US" altLang="zh-CN" sz="1200" kern="1200" dirty="0" smtClean="0">
                <a:solidFill>
                  <a:schemeClr val="tx1"/>
                </a:solidFill>
                <a:effectLst/>
                <a:latin typeface="+mn-lt"/>
                <a:ea typeface="+mn-ea"/>
                <a:cs typeface="+mn-cs"/>
              </a:rPr>
              <a:t>AL</a:t>
            </a:r>
            <a:r>
              <a:rPr lang="zh-CN" altLang="zh-CN" sz="1200" kern="1200" dirty="0" smtClean="0">
                <a:solidFill>
                  <a:schemeClr val="tx1"/>
                </a:solidFill>
                <a:effectLst/>
                <a:latin typeface="+mn-lt"/>
                <a:ea typeface="+mn-ea"/>
                <a:cs typeface="+mn-cs"/>
              </a:rPr>
              <a:t>语言与高级计算机语言</a:t>
            </a:r>
            <a:r>
              <a:rPr lang="en-US" altLang="zh-CN" sz="1200" kern="1200" dirty="0" smtClean="0">
                <a:solidFill>
                  <a:schemeClr val="tx1"/>
                </a:solidFill>
                <a:effectLst/>
                <a:latin typeface="+mn-lt"/>
                <a:ea typeface="+mn-ea"/>
                <a:cs typeface="+mn-cs"/>
              </a:rPr>
              <a:t>ALGOL</a:t>
            </a:r>
            <a:r>
              <a:rPr lang="zh-CN" altLang="zh-CN" sz="1200" kern="1200" dirty="0" smtClean="0">
                <a:solidFill>
                  <a:schemeClr val="tx1"/>
                </a:solidFill>
                <a:effectLst/>
                <a:latin typeface="+mn-lt"/>
                <a:ea typeface="+mn-ea"/>
                <a:cs typeface="+mn-cs"/>
              </a:rPr>
              <a:t>结构相似，是一种编译形式的语言，带有一个指令编译器，能在实时机上控制，用户编写好的机器人语言源程序经编译器编译后对机器人进行任务分配和作业命令控制。</a:t>
            </a:r>
            <a:r>
              <a:rPr lang="en-US" altLang="zh-CN" sz="1200" kern="1200" dirty="0" smtClean="0">
                <a:solidFill>
                  <a:schemeClr val="tx1"/>
                </a:solidFill>
                <a:effectLst/>
                <a:latin typeface="+mn-lt"/>
                <a:ea typeface="+mn-ea"/>
                <a:cs typeface="+mn-cs"/>
              </a:rPr>
              <a:t>AL</a:t>
            </a:r>
            <a:r>
              <a:rPr lang="zh-CN" altLang="zh-CN" sz="1200" kern="1200" dirty="0" smtClean="0">
                <a:solidFill>
                  <a:schemeClr val="tx1"/>
                </a:solidFill>
                <a:effectLst/>
                <a:latin typeface="+mn-lt"/>
                <a:ea typeface="+mn-ea"/>
                <a:cs typeface="+mn-cs"/>
              </a:rPr>
              <a:t>语言不仅能描述手爪的动作，而且可以记忆作业环境和该环境内物体与物体之间的相对位置，实现对多台机器人的协调控制。</a:t>
            </a:r>
          </a:p>
          <a:p>
            <a:r>
              <a:rPr lang="en-US" altLang="zh-CN" sz="1200" kern="1200" dirty="0" smtClean="0">
                <a:solidFill>
                  <a:schemeClr val="tx1"/>
                </a:solidFill>
                <a:effectLst/>
                <a:latin typeface="+mn-lt"/>
                <a:ea typeface="+mn-ea"/>
                <a:cs typeface="+mn-cs"/>
              </a:rPr>
              <a:t>1975</a:t>
            </a:r>
            <a:r>
              <a:rPr lang="zh-CN" altLang="zh-CN" sz="1200" kern="1200" dirty="0" smtClean="0">
                <a:solidFill>
                  <a:schemeClr val="tx1"/>
                </a:solidFill>
                <a:effectLst/>
                <a:latin typeface="+mn-lt"/>
                <a:ea typeface="+mn-ea"/>
                <a:cs typeface="+mn-cs"/>
              </a:rPr>
              <a:t>年，</a:t>
            </a:r>
            <a:r>
              <a:rPr lang="en-US" altLang="zh-CN" sz="1200" kern="1200" dirty="0" smtClean="0">
                <a:solidFill>
                  <a:schemeClr val="tx1"/>
                </a:solidFill>
                <a:effectLst/>
                <a:latin typeface="+mn-lt"/>
                <a:ea typeface="+mn-ea"/>
                <a:cs typeface="+mn-cs"/>
              </a:rPr>
              <a:t>IBM</a:t>
            </a:r>
            <a:r>
              <a:rPr lang="zh-CN" altLang="zh-CN" sz="1200" kern="1200" dirty="0" smtClean="0">
                <a:solidFill>
                  <a:schemeClr val="tx1"/>
                </a:solidFill>
                <a:effectLst/>
                <a:latin typeface="+mn-lt"/>
                <a:ea typeface="+mn-ea"/>
                <a:cs typeface="+mn-cs"/>
              </a:rPr>
              <a:t>公司推出了用于机器人装配作业的</a:t>
            </a:r>
            <a:r>
              <a:rPr lang="en-US" altLang="zh-CN" sz="1200" kern="1200" dirty="0" smtClean="0">
                <a:solidFill>
                  <a:schemeClr val="tx1"/>
                </a:solidFill>
                <a:effectLst/>
                <a:latin typeface="+mn-lt"/>
                <a:ea typeface="+mn-ea"/>
                <a:cs typeface="+mn-cs"/>
              </a:rPr>
              <a:t>AML(A Manufacturing Language)</a:t>
            </a:r>
            <a:r>
              <a:rPr lang="zh-CN" altLang="zh-CN" sz="1200" kern="1200" dirty="0" smtClean="0">
                <a:solidFill>
                  <a:schemeClr val="tx1"/>
                </a:solidFill>
                <a:effectLst/>
                <a:latin typeface="+mn-lt"/>
                <a:ea typeface="+mn-ea"/>
                <a:cs typeface="+mn-cs"/>
              </a:rPr>
              <a:t>语言，随后该公司又研制出另一种语言</a:t>
            </a:r>
            <a:r>
              <a:rPr lang="en-US" altLang="zh-CN" sz="1200" kern="1200" dirty="0" smtClean="0">
                <a:solidFill>
                  <a:schemeClr val="tx1"/>
                </a:solidFill>
                <a:effectLst/>
                <a:latin typeface="+mn-lt"/>
                <a:ea typeface="+mn-ea"/>
                <a:cs typeface="+mn-cs"/>
              </a:rPr>
              <a:t>-AUTOPASS</a:t>
            </a:r>
            <a:r>
              <a:rPr lang="zh-CN" altLang="zh-CN" sz="1200" kern="1200" dirty="0" smtClean="0">
                <a:solidFill>
                  <a:schemeClr val="tx1"/>
                </a:solidFill>
                <a:effectLst/>
                <a:latin typeface="+mn-lt"/>
                <a:ea typeface="+mn-ea"/>
                <a:cs typeface="+mn-cs"/>
              </a:rPr>
              <a:t>语言，这是一类用于装配的高级语言，它可以对几何模型类任务进行半自动编程。</a:t>
            </a:r>
          </a:p>
          <a:p>
            <a:r>
              <a:rPr lang="en-US" altLang="zh-CN" sz="1200" kern="1200" dirty="0" smtClean="0">
                <a:solidFill>
                  <a:schemeClr val="tx1"/>
                </a:solidFill>
                <a:effectLst/>
                <a:latin typeface="+mn-lt"/>
                <a:ea typeface="+mn-ea"/>
                <a:cs typeface="+mn-cs"/>
              </a:rPr>
              <a:t>1979</a:t>
            </a:r>
            <a:r>
              <a:rPr lang="zh-CN" altLang="zh-CN" sz="1200" kern="1200" dirty="0" smtClean="0">
                <a:solidFill>
                  <a:schemeClr val="tx1"/>
                </a:solidFill>
                <a:effectLst/>
                <a:latin typeface="+mn-lt"/>
                <a:ea typeface="+mn-ea"/>
                <a:cs typeface="+mn-cs"/>
              </a:rPr>
              <a:t>年，美国</a:t>
            </a:r>
            <a:r>
              <a:rPr lang="en-US" altLang="zh-CN" sz="1200" kern="1200" dirty="0" err="1" smtClean="0">
                <a:solidFill>
                  <a:schemeClr val="tx1"/>
                </a:solidFill>
                <a:effectLst/>
                <a:latin typeface="+mn-lt"/>
                <a:ea typeface="+mn-ea"/>
                <a:cs typeface="+mn-cs"/>
              </a:rPr>
              <a:t>Unimation</a:t>
            </a:r>
            <a:r>
              <a:rPr lang="zh-CN" altLang="zh-CN" sz="1200" kern="1200" dirty="0" smtClean="0">
                <a:solidFill>
                  <a:schemeClr val="tx1"/>
                </a:solidFill>
                <a:effectLst/>
                <a:latin typeface="+mn-lt"/>
                <a:ea typeface="+mn-ea"/>
                <a:cs typeface="+mn-cs"/>
              </a:rPr>
              <a:t>公司推出了</a:t>
            </a:r>
            <a:r>
              <a:rPr lang="en-US" altLang="zh-CN" sz="1200" kern="1200" dirty="0" smtClean="0">
                <a:solidFill>
                  <a:schemeClr val="tx1"/>
                </a:solidFill>
                <a:effectLst/>
                <a:latin typeface="+mn-lt"/>
                <a:ea typeface="+mn-ea"/>
                <a:cs typeface="+mn-cs"/>
              </a:rPr>
              <a:t>VAL</a:t>
            </a:r>
            <a:r>
              <a:rPr lang="zh-CN" altLang="zh-CN" sz="1200" kern="1200" dirty="0" smtClean="0">
                <a:solidFill>
                  <a:schemeClr val="tx1"/>
                </a:solidFill>
                <a:effectLst/>
                <a:latin typeface="+mn-lt"/>
                <a:ea typeface="+mn-ea"/>
                <a:cs typeface="+mn-cs"/>
              </a:rPr>
              <a:t>语言。它是在</a:t>
            </a:r>
            <a:r>
              <a:rPr lang="en-US" altLang="zh-CN" sz="1200" kern="1200" dirty="0" smtClean="0">
                <a:solidFill>
                  <a:schemeClr val="tx1"/>
                </a:solidFill>
                <a:effectLst/>
                <a:latin typeface="+mn-lt"/>
                <a:ea typeface="+mn-ea"/>
                <a:cs typeface="+mn-cs"/>
              </a:rPr>
              <a:t>BASIC</a:t>
            </a:r>
            <a:r>
              <a:rPr lang="zh-CN" altLang="zh-CN" sz="1200" kern="1200" dirty="0" smtClean="0">
                <a:solidFill>
                  <a:schemeClr val="tx1"/>
                </a:solidFill>
                <a:effectLst/>
                <a:latin typeface="+mn-lt"/>
                <a:ea typeface="+mn-ea"/>
                <a:cs typeface="+mn-cs"/>
              </a:rPr>
              <a:t>语言基础上扩展的一种机器人语言，具有</a:t>
            </a:r>
            <a:r>
              <a:rPr lang="en-US" altLang="zh-CN" sz="1200" kern="1200" dirty="0" smtClean="0">
                <a:solidFill>
                  <a:schemeClr val="tx1"/>
                </a:solidFill>
                <a:effectLst/>
                <a:latin typeface="+mn-lt"/>
                <a:ea typeface="+mn-ea"/>
                <a:cs typeface="+mn-cs"/>
              </a:rPr>
              <a:t>BASIC</a:t>
            </a:r>
            <a:r>
              <a:rPr lang="zh-CN" altLang="zh-CN" sz="1200" kern="1200" dirty="0" smtClean="0">
                <a:solidFill>
                  <a:schemeClr val="tx1"/>
                </a:solidFill>
                <a:effectLst/>
                <a:latin typeface="+mn-lt"/>
                <a:ea typeface="+mn-ea"/>
                <a:cs typeface="+mn-cs"/>
              </a:rPr>
              <a:t>的内核与结构，编程简单，语句简练。</a:t>
            </a:r>
            <a:r>
              <a:rPr lang="en-US" altLang="zh-CN" sz="1200" kern="1200" dirty="0" smtClean="0">
                <a:solidFill>
                  <a:schemeClr val="tx1"/>
                </a:solidFill>
                <a:effectLst/>
                <a:latin typeface="+mn-lt"/>
                <a:ea typeface="+mn-ea"/>
                <a:cs typeface="+mn-cs"/>
              </a:rPr>
              <a:t>VAL</a:t>
            </a:r>
            <a:r>
              <a:rPr lang="zh-CN" altLang="zh-CN" sz="1200" kern="1200" dirty="0" smtClean="0">
                <a:solidFill>
                  <a:schemeClr val="tx1"/>
                </a:solidFill>
                <a:effectLst/>
                <a:latin typeface="+mn-lt"/>
                <a:ea typeface="+mn-ea"/>
                <a:cs typeface="+mn-cs"/>
              </a:rPr>
              <a:t>语言成功地应用于</a:t>
            </a:r>
            <a:r>
              <a:rPr lang="en-US" altLang="zh-CN" sz="1200" kern="1200" dirty="0" smtClean="0">
                <a:solidFill>
                  <a:schemeClr val="tx1"/>
                </a:solidFill>
                <a:effectLst/>
                <a:latin typeface="+mn-lt"/>
                <a:ea typeface="+mn-ea"/>
                <a:cs typeface="+mn-cs"/>
              </a:rPr>
              <a:t>PUMA</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UNIMATE</a:t>
            </a:r>
            <a:r>
              <a:rPr lang="zh-CN" altLang="zh-CN" sz="1200" kern="1200" dirty="0" smtClean="0">
                <a:solidFill>
                  <a:schemeClr val="tx1"/>
                </a:solidFill>
                <a:effectLst/>
                <a:latin typeface="+mn-lt"/>
                <a:ea typeface="+mn-ea"/>
                <a:cs typeface="+mn-cs"/>
              </a:rPr>
              <a:t>型机器人。</a:t>
            </a:r>
            <a:r>
              <a:rPr lang="en-US" altLang="zh-CN" sz="1200" kern="1200" dirty="0" smtClean="0">
                <a:solidFill>
                  <a:schemeClr val="tx1"/>
                </a:solidFill>
                <a:effectLst/>
                <a:latin typeface="+mn-lt"/>
                <a:ea typeface="+mn-ea"/>
                <a:cs typeface="+mn-cs"/>
              </a:rPr>
              <a:t>1984</a:t>
            </a:r>
            <a:r>
              <a:rPr lang="zh-CN" altLang="zh-CN" sz="1200" kern="1200" dirty="0" smtClean="0">
                <a:solidFill>
                  <a:schemeClr val="tx1"/>
                </a:solidFill>
                <a:effectLst/>
                <a:latin typeface="+mn-lt"/>
                <a:ea typeface="+mn-ea"/>
                <a:cs typeface="+mn-cs"/>
              </a:rPr>
              <a:t>年，</a:t>
            </a:r>
            <a:r>
              <a:rPr lang="en-US" altLang="zh-CN" sz="1200" kern="1200" dirty="0" err="1" smtClean="0">
                <a:solidFill>
                  <a:schemeClr val="tx1"/>
                </a:solidFill>
                <a:effectLst/>
                <a:latin typeface="+mn-lt"/>
                <a:ea typeface="+mn-ea"/>
                <a:cs typeface="+mn-cs"/>
              </a:rPr>
              <a:t>Unimation</a:t>
            </a:r>
            <a:r>
              <a:rPr lang="zh-CN" altLang="zh-CN" sz="1200" kern="1200" dirty="0" smtClean="0">
                <a:solidFill>
                  <a:schemeClr val="tx1"/>
                </a:solidFill>
                <a:effectLst/>
                <a:latin typeface="+mn-lt"/>
                <a:ea typeface="+mn-ea"/>
                <a:cs typeface="+mn-cs"/>
              </a:rPr>
              <a:t>公司在</a:t>
            </a:r>
            <a:r>
              <a:rPr lang="en-US" altLang="zh-CN" sz="1200" kern="1200" dirty="0" smtClean="0">
                <a:solidFill>
                  <a:schemeClr val="tx1"/>
                </a:solidFill>
                <a:effectLst/>
                <a:latin typeface="+mn-lt"/>
                <a:ea typeface="+mn-ea"/>
                <a:cs typeface="+mn-cs"/>
              </a:rPr>
              <a:t>VAL</a:t>
            </a:r>
            <a:r>
              <a:rPr lang="zh-CN" altLang="zh-CN" sz="1200" kern="1200" dirty="0" smtClean="0">
                <a:solidFill>
                  <a:schemeClr val="tx1"/>
                </a:solidFill>
                <a:effectLst/>
                <a:latin typeface="+mn-lt"/>
                <a:ea typeface="+mn-ea"/>
                <a:cs typeface="+mn-cs"/>
              </a:rPr>
              <a:t>基础上，推出了改进的机器人语言</a:t>
            </a:r>
            <a:r>
              <a:rPr lang="en-US" altLang="zh-CN" sz="1200" kern="1200" dirty="0" smtClean="0">
                <a:solidFill>
                  <a:schemeClr val="tx1"/>
                </a:solidFill>
                <a:effectLst/>
                <a:latin typeface="+mn-lt"/>
                <a:ea typeface="+mn-ea"/>
                <a:cs typeface="+mn-cs"/>
              </a:rPr>
              <a:t>-VAL </a:t>
            </a:r>
            <a:r>
              <a:rPr lang="zh-CN" altLang="zh-CN" sz="1200" kern="1200" dirty="0" smtClean="0">
                <a:solidFill>
                  <a:schemeClr val="tx1"/>
                </a:solidFill>
                <a:effectLst/>
                <a:latin typeface="+mn-lt"/>
                <a:ea typeface="+mn-ea"/>
                <a:cs typeface="+mn-cs"/>
              </a:rPr>
              <a:t>Ⅱ语言。</a:t>
            </a:r>
            <a:r>
              <a:rPr lang="en-US" altLang="zh-CN" sz="1200" kern="1200" dirty="0" smtClean="0">
                <a:solidFill>
                  <a:schemeClr val="tx1"/>
                </a:solidFill>
                <a:effectLst/>
                <a:latin typeface="+mn-lt"/>
                <a:ea typeface="+mn-ea"/>
                <a:cs typeface="+mn-cs"/>
              </a:rPr>
              <a:t>VAL</a:t>
            </a:r>
            <a:r>
              <a:rPr lang="zh-CN" altLang="zh-CN" sz="1200" kern="1200" dirty="0" smtClean="0">
                <a:solidFill>
                  <a:schemeClr val="tx1"/>
                </a:solidFill>
                <a:effectLst/>
                <a:latin typeface="+mn-lt"/>
                <a:ea typeface="+mn-ea"/>
                <a:cs typeface="+mn-cs"/>
              </a:rPr>
              <a:t>Ⅱ语言除了含有</a:t>
            </a:r>
            <a:r>
              <a:rPr lang="en-US" altLang="zh-CN" sz="1200" kern="1200" dirty="0" smtClean="0">
                <a:solidFill>
                  <a:schemeClr val="tx1"/>
                </a:solidFill>
                <a:effectLst/>
                <a:latin typeface="+mn-lt"/>
                <a:ea typeface="+mn-ea"/>
                <a:cs typeface="+mn-cs"/>
              </a:rPr>
              <a:t>VAL</a:t>
            </a:r>
            <a:r>
              <a:rPr lang="zh-CN" altLang="zh-CN" sz="1200" kern="1200" dirty="0" smtClean="0">
                <a:solidFill>
                  <a:schemeClr val="tx1"/>
                </a:solidFill>
                <a:effectLst/>
                <a:latin typeface="+mn-lt"/>
                <a:ea typeface="+mn-ea"/>
                <a:cs typeface="+mn-cs"/>
              </a:rPr>
              <a:t>语言的全部功能外，还增加了对传感器信息的读取，使得机器人可以利用传感器信息进行运动控制。</a:t>
            </a:r>
          </a:p>
          <a:p>
            <a:r>
              <a:rPr lang="en-US" altLang="zh-CN" sz="1200" kern="1200" dirty="0" smtClean="0">
                <a:solidFill>
                  <a:schemeClr val="tx1"/>
                </a:solidFill>
                <a:effectLst/>
                <a:latin typeface="+mn-lt"/>
                <a:ea typeface="+mn-ea"/>
                <a:cs typeface="+mn-cs"/>
              </a:rPr>
              <a:t>20</a:t>
            </a:r>
            <a:r>
              <a:rPr lang="zh-CN" altLang="zh-CN" sz="1200" kern="1200" dirty="0" smtClean="0">
                <a:solidFill>
                  <a:schemeClr val="tx1"/>
                </a:solidFill>
                <a:effectLst/>
                <a:latin typeface="+mn-lt"/>
                <a:ea typeface="+mn-ea"/>
                <a:cs typeface="+mn-cs"/>
              </a:rPr>
              <a:t>世纪</a:t>
            </a:r>
            <a:r>
              <a:rPr lang="en-US" altLang="zh-CN" sz="1200" kern="1200" dirty="0" smtClean="0">
                <a:solidFill>
                  <a:schemeClr val="tx1"/>
                </a:solidFill>
                <a:effectLst/>
                <a:latin typeface="+mn-lt"/>
                <a:ea typeface="+mn-ea"/>
                <a:cs typeface="+mn-cs"/>
              </a:rPr>
              <a:t>80</a:t>
            </a:r>
            <a:r>
              <a:rPr lang="zh-CN" altLang="zh-CN" sz="1200" kern="1200" dirty="0" smtClean="0">
                <a:solidFill>
                  <a:schemeClr val="tx1"/>
                </a:solidFill>
                <a:effectLst/>
                <a:latin typeface="+mn-lt"/>
                <a:ea typeface="+mn-ea"/>
                <a:cs typeface="+mn-cs"/>
              </a:rPr>
              <a:t>年代初，美国</a:t>
            </a:r>
            <a:r>
              <a:rPr lang="en-US" altLang="zh-CN" sz="1200" kern="1200" dirty="0" err="1" smtClean="0">
                <a:solidFill>
                  <a:schemeClr val="tx1"/>
                </a:solidFill>
                <a:effectLst/>
                <a:latin typeface="+mn-lt"/>
                <a:ea typeface="+mn-ea"/>
                <a:cs typeface="+mn-cs"/>
              </a:rPr>
              <a:t>Automatix</a:t>
            </a:r>
            <a:r>
              <a:rPr lang="zh-CN" altLang="zh-CN" sz="1200" kern="1200" dirty="0" smtClean="0">
                <a:solidFill>
                  <a:schemeClr val="tx1"/>
                </a:solidFill>
                <a:effectLst/>
                <a:latin typeface="+mn-lt"/>
                <a:ea typeface="+mn-ea"/>
                <a:cs typeface="+mn-cs"/>
              </a:rPr>
              <a:t>公司开发了</a:t>
            </a:r>
            <a:r>
              <a:rPr lang="en-US" altLang="zh-CN" sz="1200" kern="1200" dirty="0" smtClean="0">
                <a:solidFill>
                  <a:schemeClr val="tx1"/>
                </a:solidFill>
                <a:effectLst/>
                <a:latin typeface="+mn-lt"/>
                <a:ea typeface="+mn-ea"/>
                <a:cs typeface="+mn-cs"/>
              </a:rPr>
              <a:t>RAIL</a:t>
            </a:r>
            <a:r>
              <a:rPr lang="zh-CN" altLang="zh-CN" sz="1200" kern="1200" dirty="0" smtClean="0">
                <a:solidFill>
                  <a:schemeClr val="tx1"/>
                </a:solidFill>
                <a:effectLst/>
                <a:latin typeface="+mn-lt"/>
                <a:ea typeface="+mn-ea"/>
                <a:cs typeface="+mn-cs"/>
              </a:rPr>
              <a:t>语言，该语言可以利用传感器的信息进行零件作业的检测。同时，麦道公司研制了</a:t>
            </a:r>
            <a:r>
              <a:rPr lang="en-US" altLang="zh-CN" sz="1200" kern="1200" dirty="0" smtClean="0">
                <a:solidFill>
                  <a:schemeClr val="tx1"/>
                </a:solidFill>
                <a:effectLst/>
                <a:latin typeface="+mn-lt"/>
                <a:ea typeface="+mn-ea"/>
                <a:cs typeface="+mn-cs"/>
              </a:rPr>
              <a:t>MCL</a:t>
            </a:r>
            <a:r>
              <a:rPr lang="zh-CN" altLang="zh-CN" sz="1200" kern="1200" dirty="0" smtClean="0">
                <a:solidFill>
                  <a:schemeClr val="tx1"/>
                </a:solidFill>
                <a:effectLst/>
                <a:latin typeface="+mn-lt"/>
                <a:ea typeface="+mn-ea"/>
                <a:cs typeface="+mn-cs"/>
              </a:rPr>
              <a:t>语言，这是一种在数控自动编程语言</a:t>
            </a:r>
            <a:r>
              <a:rPr lang="en-US" altLang="zh-CN" sz="1200" kern="1200" dirty="0" smtClean="0">
                <a:solidFill>
                  <a:schemeClr val="tx1"/>
                </a:solidFill>
                <a:effectLst/>
                <a:latin typeface="+mn-lt"/>
                <a:ea typeface="+mn-ea"/>
                <a:cs typeface="+mn-cs"/>
              </a:rPr>
              <a:t>-APT</a:t>
            </a:r>
            <a:r>
              <a:rPr lang="zh-CN" altLang="zh-CN" sz="1200" kern="1200" dirty="0" smtClean="0">
                <a:solidFill>
                  <a:schemeClr val="tx1"/>
                </a:solidFill>
                <a:effectLst/>
                <a:latin typeface="+mn-lt"/>
                <a:ea typeface="+mn-ea"/>
                <a:cs typeface="+mn-cs"/>
              </a:rPr>
              <a:t>语言基础上发展起来的一种机器人语言。</a:t>
            </a:r>
            <a:r>
              <a:rPr lang="en-US" altLang="zh-CN" sz="1200" kern="1200" dirty="0" smtClean="0">
                <a:solidFill>
                  <a:schemeClr val="tx1"/>
                </a:solidFill>
                <a:effectLst/>
                <a:latin typeface="+mn-lt"/>
                <a:ea typeface="+mn-ea"/>
                <a:cs typeface="+mn-cs"/>
              </a:rPr>
              <a:t>MCL</a:t>
            </a:r>
            <a:r>
              <a:rPr lang="zh-CN" altLang="zh-CN" sz="1200" kern="1200" dirty="0" smtClean="0">
                <a:solidFill>
                  <a:schemeClr val="tx1"/>
                </a:solidFill>
                <a:effectLst/>
                <a:latin typeface="+mn-lt"/>
                <a:ea typeface="+mn-ea"/>
                <a:cs typeface="+mn-cs"/>
              </a:rPr>
              <a:t>特别适用于由数控机床、机器人等组成的柔性加工单元的编程。</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5</a:t>
            </a:fld>
            <a:endParaRPr lang="zh-CN" altLang="en-US"/>
          </a:p>
        </p:txBody>
      </p:sp>
    </p:spTree>
    <p:extLst>
      <p:ext uri="{BB962C8B-B14F-4D97-AF65-F5344CB8AC3E}">
        <p14:creationId xmlns:p14="http://schemas.microsoft.com/office/powerpoint/2010/main" val="3966018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dirty="0" smtClean="0">
                <a:latin typeface="Calibri" panose="020F0502020204030204" pitchFamily="34" charset="0"/>
                <a:cs typeface="Times New Roman" panose="02020603050405020304" pitchFamily="18" charset="0"/>
              </a:rPr>
              <a:t>随着机器人技术与应用的广泛发展，各家公司均推出了具有自己特色的机器人语言，表</a:t>
            </a:r>
            <a:r>
              <a:rPr lang="en-US" altLang="zh-CN" sz="1200" dirty="0" smtClean="0">
                <a:latin typeface="Calibri" panose="020F0502020204030204" pitchFamily="34" charset="0"/>
                <a:cs typeface="Times New Roman" panose="02020603050405020304" pitchFamily="18" charset="0"/>
              </a:rPr>
              <a:t>7.1</a:t>
            </a:r>
            <a:r>
              <a:rPr lang="zh-CN" altLang="zh-CN" sz="1200" dirty="0" smtClean="0">
                <a:latin typeface="Calibri" panose="020F0502020204030204" pitchFamily="34" charset="0"/>
                <a:cs typeface="Times New Roman" panose="02020603050405020304" pitchFamily="18" charset="0"/>
              </a:rPr>
              <a:t>列出了大部分的工业机器人编程语言。目前在全球占据最大市场份额的机器人“四大家族”，包括</a:t>
            </a:r>
            <a:r>
              <a:rPr lang="en-US" altLang="zh-CN" sz="1200" dirty="0" smtClean="0">
                <a:latin typeface="Calibri" panose="020F0502020204030204" pitchFamily="34" charset="0"/>
                <a:cs typeface="Times New Roman" panose="02020603050405020304" pitchFamily="18" charset="0"/>
              </a:rPr>
              <a:t>ABB</a:t>
            </a:r>
            <a:r>
              <a:rPr lang="zh-CN" altLang="zh-CN" sz="1200" dirty="0" smtClean="0">
                <a:latin typeface="Calibri" panose="020F0502020204030204" pitchFamily="34" charset="0"/>
                <a:cs typeface="Times New Roman" panose="02020603050405020304" pitchFamily="18" charset="0"/>
              </a:rPr>
              <a:t>（瑞士）、</a:t>
            </a:r>
            <a:r>
              <a:rPr lang="en-US" altLang="zh-CN" sz="1200" dirty="0" smtClean="0">
                <a:latin typeface="Calibri" panose="020F0502020204030204" pitchFamily="34" charset="0"/>
                <a:cs typeface="Times New Roman" panose="02020603050405020304" pitchFamily="18" charset="0"/>
              </a:rPr>
              <a:t>YASKAWA</a:t>
            </a:r>
            <a:r>
              <a:rPr lang="zh-CN" altLang="zh-CN" sz="1200" dirty="0" smtClean="0">
                <a:latin typeface="Calibri" panose="020F0502020204030204" pitchFamily="34" charset="0"/>
                <a:cs typeface="Times New Roman" panose="02020603050405020304" pitchFamily="18" charset="0"/>
              </a:rPr>
              <a:t>（安川、日本）、</a:t>
            </a:r>
            <a:r>
              <a:rPr lang="en-US" altLang="zh-CN" sz="1200" dirty="0" smtClean="0">
                <a:latin typeface="Calibri" panose="020F0502020204030204" pitchFamily="34" charset="0"/>
                <a:cs typeface="Times New Roman" panose="02020603050405020304" pitchFamily="18" charset="0"/>
              </a:rPr>
              <a:t>KUKA</a:t>
            </a:r>
            <a:r>
              <a:rPr lang="zh-CN" altLang="zh-CN" sz="1200" dirty="0" smtClean="0">
                <a:latin typeface="Calibri" panose="020F0502020204030204" pitchFamily="34" charset="0"/>
                <a:cs typeface="Times New Roman" panose="02020603050405020304" pitchFamily="18" charset="0"/>
              </a:rPr>
              <a:t>（德国）、</a:t>
            </a:r>
            <a:r>
              <a:rPr lang="en-US" altLang="zh-CN" sz="1200" dirty="0" smtClean="0">
                <a:latin typeface="Calibri" panose="020F0502020204030204" pitchFamily="34" charset="0"/>
                <a:cs typeface="Times New Roman" panose="02020603050405020304" pitchFamily="18" charset="0"/>
              </a:rPr>
              <a:t>FANUC</a:t>
            </a:r>
            <a:r>
              <a:rPr lang="zh-CN" altLang="zh-CN" sz="1200" dirty="0" smtClean="0">
                <a:latin typeface="Calibri" panose="020F0502020204030204" pitchFamily="34" charset="0"/>
                <a:cs typeface="Times New Roman" panose="02020603050405020304" pitchFamily="18" charset="0"/>
              </a:rPr>
              <a:t>（发那科、日本），它们以及一些主流机器人公司都已经发展出了各自相对成熟的机器人编程语言、控制命令，其语法规则也已经相对完善。即使是一些新型机器人公司，例如丹麦的</a:t>
            </a:r>
            <a:r>
              <a:rPr lang="en-US" altLang="zh-CN" sz="1200" dirty="0" smtClean="0">
                <a:latin typeface="Calibri" panose="020F0502020204030204" pitchFamily="34" charset="0"/>
                <a:cs typeface="Times New Roman" panose="02020603050405020304" pitchFamily="18" charset="0"/>
              </a:rPr>
              <a:t>UR</a:t>
            </a:r>
            <a:r>
              <a:rPr lang="zh-CN" altLang="zh-CN" sz="1200" dirty="0" smtClean="0">
                <a:latin typeface="Calibri" panose="020F0502020204030204" pitchFamily="34" charset="0"/>
                <a:cs typeface="Times New Roman" panose="02020603050405020304" pitchFamily="18" charset="0"/>
              </a:rPr>
              <a:t>机器人和意大利的</a:t>
            </a:r>
            <a:r>
              <a:rPr lang="en-US" altLang="zh-CN" sz="1200" dirty="0" smtClean="0">
                <a:latin typeface="Calibri" panose="020F0502020204030204" pitchFamily="34" charset="0"/>
                <a:cs typeface="Times New Roman" panose="02020603050405020304" pitchFamily="18" charset="0"/>
              </a:rPr>
              <a:t>COMAU</a:t>
            </a:r>
            <a:r>
              <a:rPr lang="zh-CN" altLang="zh-CN" sz="1200" dirty="0" smtClean="0">
                <a:latin typeface="Calibri" panose="020F0502020204030204" pitchFamily="34" charset="0"/>
                <a:cs typeface="Times New Roman" panose="02020603050405020304" pitchFamily="18" charset="0"/>
              </a:rPr>
              <a:t>机器人等，也已经开发出了对应于自家机器人的独特机器人编程语言。</a:t>
            </a:r>
            <a:endParaRPr lang="zh-CN" altLang="en-US" sz="1200" dirty="0" smtClean="0"/>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6</a:t>
            </a:fld>
            <a:endParaRPr lang="zh-CN" altLang="en-US"/>
          </a:p>
        </p:txBody>
      </p:sp>
    </p:spTree>
    <p:extLst>
      <p:ext uri="{BB962C8B-B14F-4D97-AF65-F5344CB8AC3E}">
        <p14:creationId xmlns:p14="http://schemas.microsoft.com/office/powerpoint/2010/main" val="2006272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7.1</a:t>
            </a:r>
            <a:r>
              <a:rPr lang="zh-CN" altLang="zh-CN" sz="1200" kern="1200" dirty="0" smtClean="0">
                <a:solidFill>
                  <a:schemeClr val="tx1"/>
                </a:solidFill>
                <a:effectLst/>
                <a:latin typeface="+mn-lt"/>
                <a:ea typeface="+mn-ea"/>
                <a:cs typeface="+mn-cs"/>
              </a:rPr>
              <a:t>所示的机器人编程控制结构中，机器人编程可以在专用的示教器</a:t>
            </a:r>
            <a:r>
              <a:rPr lang="en-US" altLang="zh-CN" sz="1200" kern="1200" dirty="0" smtClean="0">
                <a:solidFill>
                  <a:schemeClr val="tx1"/>
                </a:solidFill>
                <a:effectLst/>
                <a:latin typeface="+mn-lt"/>
                <a:ea typeface="+mn-ea"/>
                <a:cs typeface="+mn-cs"/>
              </a:rPr>
              <a:t>(teach pendant)</a:t>
            </a:r>
            <a:r>
              <a:rPr lang="zh-CN" altLang="zh-CN" sz="1200" kern="1200" dirty="0" smtClean="0">
                <a:solidFill>
                  <a:schemeClr val="tx1"/>
                </a:solidFill>
                <a:effectLst/>
                <a:latin typeface="+mn-lt"/>
                <a:ea typeface="+mn-ea"/>
                <a:cs typeface="+mn-cs"/>
              </a:rPr>
              <a:t>上进行，也可能是在电脑上离线完成编程。由机器人语言编写的专用程序通过控制器里面特定的解析器，解析执行，并控制机器人本体运动。控制器和机器人本体之间的控制接口，按照机器人本体构成类型，可分成集中控制型与总线控制型。所谓集中控制型，即由控制器提供各关节伺服控制接口，传统的工业机器人大都是这种结构；而新型的协作机器人、模块化轻型机器人，则采用总线控制型，机器人的每个关节都有单独的控制与伺服接口，总控制器通过总线（</a:t>
            </a:r>
            <a:r>
              <a:rPr lang="en-US" altLang="zh-CN" sz="1200" kern="1200" dirty="0" smtClean="0">
                <a:solidFill>
                  <a:schemeClr val="tx1"/>
                </a:solidFill>
                <a:effectLst/>
                <a:latin typeface="+mn-lt"/>
                <a:ea typeface="+mn-ea"/>
                <a:cs typeface="+mn-cs"/>
              </a:rPr>
              <a:t>RS485</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CAN</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Ethercat</a:t>
            </a:r>
            <a:r>
              <a:rPr lang="zh-CN" altLang="zh-CN" sz="1200" kern="1200" dirty="0" smtClean="0">
                <a:solidFill>
                  <a:schemeClr val="tx1"/>
                </a:solidFill>
                <a:effectLst/>
                <a:latin typeface="+mn-lt"/>
                <a:ea typeface="+mn-ea"/>
                <a:cs typeface="+mn-cs"/>
              </a:rPr>
              <a:t>等）和关节控制器通信，控制机器人本体运动。</a:t>
            </a: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7</a:t>
            </a:fld>
            <a:endParaRPr lang="zh-CN" altLang="en-US"/>
          </a:p>
        </p:txBody>
      </p:sp>
    </p:spTree>
    <p:extLst>
      <p:ext uri="{BB962C8B-B14F-4D97-AF65-F5344CB8AC3E}">
        <p14:creationId xmlns:p14="http://schemas.microsoft.com/office/powerpoint/2010/main" val="4158480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147A23-5BA8-44CE-9215-79B767159C41}" type="slidenum">
              <a:rPr lang="zh-CN" altLang="en-US" smtClean="0"/>
              <a:t>8</a:t>
            </a:fld>
            <a:endParaRPr lang="zh-CN" altLang="en-US"/>
          </a:p>
        </p:txBody>
      </p:sp>
    </p:spTree>
    <p:extLst>
      <p:ext uri="{BB962C8B-B14F-4D97-AF65-F5344CB8AC3E}">
        <p14:creationId xmlns:p14="http://schemas.microsoft.com/office/powerpoint/2010/main" val="238387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INFORM</a:t>
            </a:r>
            <a:r>
              <a:rPr lang="zh-CN" altLang="zh-CN" sz="1200" kern="1200" dirty="0" smtClean="0">
                <a:solidFill>
                  <a:schemeClr val="tx1"/>
                </a:solidFill>
                <a:effectLst/>
                <a:latin typeface="+mn-lt"/>
                <a:ea typeface="+mn-ea"/>
                <a:cs typeface="+mn-cs"/>
              </a:rPr>
              <a:t>：日本安川机器人采用的机器人编程语言，该语言的机器人命令由指令和附加项构成，其中附加项包括标记符和数据。图</a:t>
            </a:r>
            <a:r>
              <a:rPr lang="en-US" altLang="zh-CN" sz="1200" kern="1200" dirty="0" smtClean="0">
                <a:solidFill>
                  <a:schemeClr val="tx1"/>
                </a:solidFill>
                <a:effectLst/>
                <a:latin typeface="+mn-lt"/>
                <a:ea typeface="+mn-ea"/>
                <a:cs typeface="+mn-cs"/>
              </a:rPr>
              <a:t>7.2</a:t>
            </a:r>
            <a:r>
              <a:rPr lang="zh-CN" altLang="zh-CN"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INFORM</a:t>
            </a:r>
            <a:r>
              <a:rPr lang="zh-CN" altLang="zh-CN" sz="1200" kern="1200" dirty="0" smtClean="0">
                <a:solidFill>
                  <a:schemeClr val="tx1"/>
                </a:solidFill>
                <a:effectLst/>
                <a:latin typeface="+mn-lt"/>
                <a:ea typeface="+mn-ea"/>
                <a:cs typeface="+mn-cs"/>
              </a:rPr>
              <a:t>语言的一个基本例子。</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9</a:t>
            </a:fld>
            <a:endParaRPr lang="zh-CN" altLang="en-US"/>
          </a:p>
        </p:txBody>
      </p:sp>
    </p:spTree>
    <p:extLst>
      <p:ext uri="{BB962C8B-B14F-4D97-AF65-F5344CB8AC3E}">
        <p14:creationId xmlns:p14="http://schemas.microsoft.com/office/powerpoint/2010/main" val="1822765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10</a:t>
            </a:fld>
            <a:endParaRPr lang="zh-CN" altLang="en-US"/>
          </a:p>
        </p:txBody>
      </p:sp>
    </p:spTree>
    <p:extLst>
      <p:ext uri="{BB962C8B-B14F-4D97-AF65-F5344CB8AC3E}">
        <p14:creationId xmlns:p14="http://schemas.microsoft.com/office/powerpoint/2010/main" val="9336590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是一种</a:t>
            </a:r>
            <a:r>
              <a:rPr lang="en-US" altLang="zh-CN" sz="1200" kern="1200" dirty="0" smtClean="0">
                <a:solidFill>
                  <a:schemeClr val="tx1"/>
                </a:solidFill>
                <a:effectLst/>
                <a:latin typeface="+mn-lt"/>
                <a:ea typeface="+mn-ea"/>
                <a:cs typeface="+mn-cs"/>
              </a:rPr>
              <a:t>ABB</a:t>
            </a:r>
            <a:r>
              <a:rPr lang="zh-CN" altLang="zh-CN" sz="1200" kern="1200" dirty="0" smtClean="0">
                <a:solidFill>
                  <a:schemeClr val="tx1"/>
                </a:solidFill>
                <a:effectLst/>
                <a:latin typeface="+mn-lt"/>
                <a:ea typeface="+mn-ea"/>
                <a:cs typeface="+mn-cs"/>
              </a:rPr>
              <a:t>公司机器人使用的高级编程语言，支持分层编程方案，可为特定机器人系统安装新程序、数据对象和数据类型，能对编程环境进行自定义（扩展编程环境的功能），并获得</a:t>
            </a:r>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编程语言的充分支持。该语言可以很好的运行在</a:t>
            </a:r>
            <a:r>
              <a:rPr lang="en-US" altLang="zh-CN" sz="1200" kern="1200" dirty="0" smtClean="0">
                <a:solidFill>
                  <a:schemeClr val="tx1"/>
                </a:solidFill>
                <a:effectLst/>
                <a:latin typeface="+mn-lt"/>
                <a:ea typeface="+mn-ea"/>
                <a:cs typeface="+mn-cs"/>
              </a:rPr>
              <a:t>Robot Studio</a:t>
            </a:r>
            <a:r>
              <a:rPr lang="zh-CN" altLang="zh-CN" sz="1200" kern="1200" dirty="0" smtClean="0">
                <a:solidFill>
                  <a:schemeClr val="tx1"/>
                </a:solidFill>
                <a:effectLst/>
                <a:latin typeface="+mn-lt"/>
                <a:ea typeface="+mn-ea"/>
                <a:cs typeface="+mn-cs"/>
              </a:rPr>
              <a:t>开发环境中，就像</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语言在</a:t>
            </a:r>
            <a:r>
              <a:rPr lang="en-US" altLang="zh-CN" sz="1200" kern="1200" dirty="0" smtClean="0">
                <a:solidFill>
                  <a:schemeClr val="tx1"/>
                </a:solidFill>
                <a:effectLst/>
                <a:latin typeface="+mn-lt"/>
                <a:ea typeface="+mn-ea"/>
                <a:cs typeface="+mn-cs"/>
              </a:rPr>
              <a:t>Visual Studio</a:t>
            </a:r>
            <a:r>
              <a:rPr lang="zh-CN" altLang="zh-CN" sz="1200" kern="1200" dirty="0" smtClean="0">
                <a:solidFill>
                  <a:schemeClr val="tx1"/>
                </a:solidFill>
                <a:effectLst/>
                <a:latin typeface="+mn-lt"/>
                <a:ea typeface="+mn-ea"/>
                <a:cs typeface="+mn-cs"/>
              </a:rPr>
              <a:t>中调试运行一样。基本的</a:t>
            </a:r>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编程语言有自己的程序结构、程序数据和表达式。</a:t>
            </a:r>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编程语言内容较为繁多，下面只对该语言进行简单描述。</a:t>
            </a:r>
          </a:p>
          <a:p>
            <a:r>
              <a:rPr lang="zh-CN" altLang="zh-CN" sz="1200" kern="1200" dirty="0" smtClean="0">
                <a:solidFill>
                  <a:schemeClr val="tx1"/>
                </a:solidFill>
                <a:effectLst/>
                <a:latin typeface="+mn-lt"/>
                <a:ea typeface="+mn-ea"/>
                <a:cs typeface="+mn-cs"/>
              </a:rPr>
              <a:t>一个</a:t>
            </a:r>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语言的简化语法示例如下：</a:t>
            </a:r>
          </a:p>
          <a:p>
            <a:r>
              <a:rPr lang="en-US" altLang="zh-CN" sz="1200" b="1" kern="1200" dirty="0" err="1" smtClean="0">
                <a:solidFill>
                  <a:schemeClr val="tx1"/>
                </a:solidFill>
                <a:effectLst/>
                <a:latin typeface="+mn-lt"/>
                <a:ea typeface="+mn-ea"/>
                <a:cs typeface="+mn-cs"/>
              </a:rPr>
              <a:t>TPWrite</a:t>
            </a:r>
            <a:r>
              <a:rPr lang="en-US" altLang="zh-CN" sz="1200" b="1" kern="1200" dirty="0" smtClean="0">
                <a:solidFill>
                  <a:schemeClr val="tx1"/>
                </a:solidFill>
                <a:effectLst/>
                <a:latin typeface="+mn-lt"/>
                <a:ea typeface="+mn-ea"/>
                <a:cs typeface="+mn-cs"/>
              </a:rPr>
              <a:t> String [\</a:t>
            </a:r>
            <a:r>
              <a:rPr lang="en-US" altLang="zh-CN" sz="1200" b="1" kern="1200" dirty="0" err="1" smtClean="0">
                <a:solidFill>
                  <a:schemeClr val="tx1"/>
                </a:solidFill>
                <a:effectLst/>
                <a:latin typeface="+mn-lt"/>
                <a:ea typeface="+mn-ea"/>
                <a:cs typeface="+mn-cs"/>
              </a:rPr>
              <a:t>Num</a:t>
            </a:r>
            <a:r>
              <a:rPr lang="en-US" altLang="zh-CN" sz="1200" b="1" kern="1200" dirty="0" smtClean="0">
                <a:solidFill>
                  <a:schemeClr val="tx1"/>
                </a:solidFill>
                <a:effectLst/>
                <a:latin typeface="+mn-lt"/>
                <a:ea typeface="+mn-ea"/>
                <a:cs typeface="+mn-cs"/>
              </a:rPr>
              <a:t>] | [\Bool] | [\</a:t>
            </a:r>
            <a:r>
              <a:rPr lang="en-US" altLang="zh-CN" sz="1200" b="1" kern="1200" dirty="0" err="1" smtClean="0">
                <a:solidFill>
                  <a:schemeClr val="tx1"/>
                </a:solidFill>
                <a:effectLst/>
                <a:latin typeface="+mn-lt"/>
                <a:ea typeface="+mn-ea"/>
                <a:cs typeface="+mn-cs"/>
              </a:rPr>
              <a:t>Pos</a:t>
            </a:r>
            <a:r>
              <a:rPr lang="en-US" altLang="zh-CN" sz="1200" b="1" kern="1200" dirty="0" smtClean="0">
                <a:solidFill>
                  <a:schemeClr val="tx1"/>
                </a:solidFill>
                <a:effectLst/>
                <a:latin typeface="+mn-lt"/>
                <a:ea typeface="+mn-ea"/>
                <a:cs typeface="+mn-cs"/>
              </a:rPr>
              <a:t>] | [\Orient] [\</a:t>
            </a:r>
            <a:r>
              <a:rPr lang="en-US" altLang="zh-CN" sz="1200" b="1" kern="1200" dirty="0" err="1" smtClean="0">
                <a:solidFill>
                  <a:schemeClr val="tx1"/>
                </a:solidFill>
                <a:effectLst/>
                <a:latin typeface="+mn-lt"/>
                <a:ea typeface="+mn-ea"/>
                <a:cs typeface="+mn-cs"/>
              </a:rPr>
              <a:t>Dnum</a:t>
            </a:r>
            <a:r>
              <a:rPr lang="en-US" altLang="zh-CN" sz="1200" b="1"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在上面的示例中，括号里不含强制性参数，用方括号将可选参数括起来，但可忽略这些参数。互相排斥的参数不能同时存在于同一指令中，在同一指令中就要用竖线隔开。用波形括号将可重复任意次的参数括起来。</a:t>
            </a:r>
          </a:p>
          <a:p>
            <a:r>
              <a:rPr lang="zh-CN" altLang="zh-CN" sz="1200" kern="1200" dirty="0" smtClean="0">
                <a:solidFill>
                  <a:schemeClr val="tx1"/>
                </a:solidFill>
                <a:effectLst/>
                <a:latin typeface="+mn-lt"/>
                <a:ea typeface="+mn-ea"/>
                <a:cs typeface="+mn-cs"/>
              </a:rPr>
              <a:t>上述的示例采用了如下参数：</a:t>
            </a:r>
            <a:r>
              <a:rPr lang="en-US" altLang="zh-CN" sz="1200" kern="1200" dirty="0" smtClean="0">
                <a:solidFill>
                  <a:schemeClr val="tx1"/>
                </a:solidFill>
                <a:effectLst/>
                <a:latin typeface="+mn-lt"/>
                <a:ea typeface="+mn-ea"/>
                <a:cs typeface="+mn-cs"/>
              </a:rPr>
              <a:t>String</a:t>
            </a:r>
            <a:r>
              <a:rPr lang="zh-CN" altLang="zh-CN" sz="1200" kern="1200" dirty="0" smtClean="0">
                <a:solidFill>
                  <a:schemeClr val="tx1"/>
                </a:solidFill>
                <a:effectLst/>
                <a:latin typeface="+mn-lt"/>
                <a:ea typeface="+mn-ea"/>
                <a:cs typeface="+mn-cs"/>
              </a:rPr>
              <a:t>为强制性参数；</a:t>
            </a:r>
            <a:r>
              <a:rPr lang="en-US" altLang="zh-CN" sz="1200" kern="1200" dirty="0" err="1" smtClean="0">
                <a:solidFill>
                  <a:schemeClr val="tx1"/>
                </a:solidFill>
                <a:effectLst/>
                <a:latin typeface="+mn-lt"/>
                <a:ea typeface="+mn-ea"/>
                <a:cs typeface="+mn-cs"/>
              </a:rPr>
              <a:t>Num</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Bool</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Pos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Orient</a:t>
            </a:r>
            <a:r>
              <a:rPr lang="zh-CN" altLang="zh-CN" sz="1200" kern="1200" dirty="0" smtClean="0">
                <a:solidFill>
                  <a:schemeClr val="tx1"/>
                </a:solidFill>
                <a:effectLst/>
                <a:latin typeface="+mn-lt"/>
                <a:ea typeface="+mn-ea"/>
                <a:cs typeface="+mn-cs"/>
              </a:rPr>
              <a:t>和</a:t>
            </a:r>
            <a:r>
              <a:rPr lang="en-US" altLang="zh-CN" sz="1200" kern="1200" dirty="0" err="1" smtClean="0">
                <a:solidFill>
                  <a:schemeClr val="tx1"/>
                </a:solidFill>
                <a:effectLst/>
                <a:latin typeface="+mn-lt"/>
                <a:ea typeface="+mn-ea"/>
                <a:cs typeface="+mn-cs"/>
              </a:rPr>
              <a:t>Dnum</a:t>
            </a:r>
            <a:r>
              <a:rPr lang="zh-CN" altLang="zh-CN" sz="1200" kern="1200" dirty="0" smtClean="0">
                <a:solidFill>
                  <a:schemeClr val="tx1"/>
                </a:solidFill>
                <a:effectLst/>
                <a:latin typeface="+mn-lt"/>
                <a:ea typeface="+mn-ea"/>
                <a:cs typeface="+mn-cs"/>
              </a:rPr>
              <a:t>为可选参数；</a:t>
            </a:r>
            <a:r>
              <a:rPr lang="en-US" altLang="zh-CN" sz="1200" kern="1200" dirty="0" err="1" smtClean="0">
                <a:solidFill>
                  <a:schemeClr val="tx1"/>
                </a:solidFill>
                <a:effectLst/>
                <a:latin typeface="+mn-lt"/>
                <a:ea typeface="+mn-ea"/>
                <a:cs typeface="+mn-cs"/>
              </a:rPr>
              <a:t>Num</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Bool</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Pos</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Orient</a:t>
            </a:r>
            <a:r>
              <a:rPr lang="zh-CN" altLang="zh-CN" sz="1200" kern="1200" dirty="0" smtClean="0">
                <a:solidFill>
                  <a:schemeClr val="tx1"/>
                </a:solidFill>
                <a:effectLst/>
                <a:latin typeface="+mn-lt"/>
                <a:ea typeface="+mn-ea"/>
                <a:cs typeface="+mn-cs"/>
              </a:rPr>
              <a:t>和</a:t>
            </a:r>
            <a:r>
              <a:rPr lang="en-US" altLang="zh-CN" sz="1200" kern="1200" dirty="0" err="1" smtClean="0">
                <a:solidFill>
                  <a:schemeClr val="tx1"/>
                </a:solidFill>
                <a:effectLst/>
                <a:latin typeface="+mn-lt"/>
                <a:ea typeface="+mn-ea"/>
                <a:cs typeface="+mn-cs"/>
              </a:rPr>
              <a:t>Dnum</a:t>
            </a:r>
            <a:r>
              <a:rPr lang="zh-CN" altLang="zh-CN" sz="1200" kern="1200" dirty="0" smtClean="0">
                <a:solidFill>
                  <a:schemeClr val="tx1"/>
                </a:solidFill>
                <a:effectLst/>
                <a:latin typeface="+mn-lt"/>
                <a:ea typeface="+mn-ea"/>
                <a:cs typeface="+mn-cs"/>
              </a:rPr>
              <a:t>互相排斥。</a:t>
            </a:r>
          </a:p>
          <a:p>
            <a:r>
              <a:rPr lang="zh-CN" altLang="zh-CN" sz="1200" kern="1200" dirty="0" smtClean="0">
                <a:solidFill>
                  <a:schemeClr val="tx1"/>
                </a:solidFill>
                <a:effectLst/>
                <a:latin typeface="+mn-lt"/>
                <a:ea typeface="+mn-ea"/>
                <a:cs typeface="+mn-cs"/>
              </a:rPr>
              <a:t>表</a:t>
            </a:r>
            <a:r>
              <a:rPr lang="en-US" altLang="zh-CN" sz="1200" kern="1200" dirty="0" smtClean="0">
                <a:solidFill>
                  <a:schemeClr val="tx1"/>
                </a:solidFill>
                <a:effectLst/>
                <a:latin typeface="+mn-lt"/>
                <a:ea typeface="+mn-ea"/>
                <a:cs typeface="+mn-cs"/>
              </a:rPr>
              <a:t>7.4</a:t>
            </a:r>
            <a:r>
              <a:rPr lang="zh-CN" altLang="zh-CN"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编程语言部分基本元素列表。</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11</a:t>
            </a:fld>
            <a:endParaRPr lang="zh-CN" altLang="en-US"/>
          </a:p>
        </p:txBody>
      </p:sp>
    </p:spTree>
    <p:extLst>
      <p:ext uri="{BB962C8B-B14F-4D97-AF65-F5344CB8AC3E}">
        <p14:creationId xmlns:p14="http://schemas.microsoft.com/office/powerpoint/2010/main" val="314721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RAPID</a:t>
            </a:r>
            <a:r>
              <a:rPr lang="zh-CN" altLang="zh-CN" sz="1200" kern="1200" dirty="0" smtClean="0">
                <a:solidFill>
                  <a:schemeClr val="tx1"/>
                </a:solidFill>
                <a:effectLst/>
                <a:latin typeface="+mn-lt"/>
                <a:ea typeface="+mn-ea"/>
                <a:cs typeface="+mn-cs"/>
              </a:rPr>
              <a:t>语言用！代表注释行。表</a:t>
            </a:r>
            <a:r>
              <a:rPr lang="en-US" altLang="zh-CN" sz="1200" kern="1200" dirty="0" smtClean="0">
                <a:solidFill>
                  <a:schemeClr val="tx1"/>
                </a:solidFill>
                <a:effectLst/>
                <a:latin typeface="+mn-lt"/>
                <a:ea typeface="+mn-ea"/>
                <a:cs typeface="+mn-cs"/>
              </a:rPr>
              <a:t>7.5</a:t>
            </a:r>
            <a:r>
              <a:rPr lang="zh-CN" altLang="zh-CN" sz="1200" kern="1200" dirty="0" smtClean="0">
                <a:solidFill>
                  <a:schemeClr val="tx1"/>
                </a:solidFill>
                <a:effectLst/>
                <a:latin typeface="+mn-lt"/>
                <a:ea typeface="+mn-ea"/>
                <a:cs typeface="+mn-cs"/>
              </a:rPr>
              <a:t>中的程序定义了一个程序块</a:t>
            </a:r>
            <a:r>
              <a:rPr lang="en-US" altLang="zh-CN" sz="1200" kern="1200" dirty="0" smtClean="0">
                <a:solidFill>
                  <a:schemeClr val="tx1"/>
                </a:solidFill>
                <a:effectLst/>
                <a:latin typeface="+mn-lt"/>
                <a:ea typeface="+mn-ea"/>
                <a:cs typeface="+mn-cs"/>
              </a:rPr>
              <a:t>“Module1”</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“Module1”</a:t>
            </a:r>
            <a:r>
              <a:rPr lang="zh-CN" altLang="zh-CN" sz="1200" kern="1200" dirty="0" smtClean="0">
                <a:solidFill>
                  <a:schemeClr val="tx1"/>
                </a:solidFill>
                <a:effectLst/>
                <a:latin typeface="+mn-lt"/>
                <a:ea typeface="+mn-ea"/>
                <a:cs typeface="+mn-cs"/>
              </a:rPr>
              <a:t>中定义了一个主函数</a:t>
            </a:r>
            <a:r>
              <a:rPr lang="en-US" altLang="zh-CN" sz="1200" kern="1200" dirty="0" smtClean="0">
                <a:solidFill>
                  <a:schemeClr val="tx1"/>
                </a:solidFill>
                <a:effectLst/>
                <a:latin typeface="+mn-lt"/>
                <a:ea typeface="+mn-ea"/>
                <a:cs typeface="+mn-cs"/>
              </a:rPr>
              <a:t>main()</a:t>
            </a:r>
            <a:r>
              <a:rPr lang="zh-CN" altLang="zh-CN" sz="1200" kern="1200" dirty="0" smtClean="0">
                <a:solidFill>
                  <a:schemeClr val="tx1"/>
                </a:solidFill>
                <a:effectLst/>
                <a:latin typeface="+mn-lt"/>
                <a:ea typeface="+mn-ea"/>
                <a:cs typeface="+mn-cs"/>
              </a:rPr>
              <a:t>。程序首先定义了手腕坐标系</a:t>
            </a:r>
            <a:r>
              <a:rPr lang="en-US" altLang="zh-CN" sz="1200" kern="1200" dirty="0" smtClean="0">
                <a:solidFill>
                  <a:schemeClr val="tx1"/>
                </a:solidFill>
                <a:effectLst/>
                <a:latin typeface="+mn-lt"/>
                <a:ea typeface="+mn-ea"/>
                <a:cs typeface="+mn-cs"/>
              </a:rPr>
              <a:t>tool0</a:t>
            </a:r>
            <a:r>
              <a:rPr lang="zh-CN" altLang="zh-CN" sz="1200" kern="1200" dirty="0" smtClean="0">
                <a:solidFill>
                  <a:schemeClr val="tx1"/>
                </a:solidFill>
                <a:effectLst/>
                <a:latin typeface="+mn-lt"/>
                <a:ea typeface="+mn-ea"/>
                <a:cs typeface="+mn-cs"/>
              </a:rPr>
              <a:t>，其原点为机器人末端安装法兰的中心。接下来定义了</a:t>
            </a:r>
            <a:r>
              <a:rPr lang="en-US" altLang="zh-CN" sz="1200" kern="1200" dirty="0" smtClean="0">
                <a:solidFill>
                  <a:schemeClr val="tx1"/>
                </a:solidFill>
                <a:effectLst/>
                <a:latin typeface="+mn-lt"/>
                <a:ea typeface="+mn-ea"/>
                <a:cs typeface="+mn-cs"/>
              </a:rPr>
              <a:t>6</a:t>
            </a:r>
            <a:r>
              <a:rPr lang="zh-CN" altLang="zh-CN" sz="1200" kern="1200" dirty="0" smtClean="0">
                <a:solidFill>
                  <a:schemeClr val="tx1"/>
                </a:solidFill>
                <a:effectLst/>
                <a:latin typeface="+mn-lt"/>
                <a:ea typeface="+mn-ea"/>
                <a:cs typeface="+mn-cs"/>
              </a:rPr>
              <a:t>个作业点</a:t>
            </a:r>
            <a:r>
              <a:rPr lang="en-US" altLang="zh-CN" sz="1200" kern="1200" dirty="0" smtClean="0">
                <a:solidFill>
                  <a:schemeClr val="tx1"/>
                </a:solidFill>
                <a:effectLst/>
                <a:latin typeface="+mn-lt"/>
                <a:ea typeface="+mn-ea"/>
                <a:cs typeface="+mn-cs"/>
              </a:rPr>
              <a:t>P1-P6</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MOVEL</a:t>
            </a:r>
            <a:r>
              <a:rPr lang="zh-CN" altLang="zh-CN" sz="1200" kern="1200" dirty="0" smtClean="0">
                <a:solidFill>
                  <a:schemeClr val="tx1"/>
                </a:solidFill>
                <a:effectLst/>
                <a:latin typeface="+mn-lt"/>
                <a:ea typeface="+mn-ea"/>
                <a:cs typeface="+mn-cs"/>
              </a:rPr>
              <a:t>为直线插补运动指令，</a:t>
            </a:r>
            <a:r>
              <a:rPr lang="en-US" altLang="zh-CN" sz="1200" kern="1200" dirty="0" smtClean="0">
                <a:solidFill>
                  <a:schemeClr val="tx1"/>
                </a:solidFill>
                <a:effectLst/>
                <a:latin typeface="+mn-lt"/>
                <a:ea typeface="+mn-ea"/>
                <a:cs typeface="+mn-cs"/>
              </a:rPr>
              <a:t>MOVEJ</a:t>
            </a:r>
            <a:r>
              <a:rPr lang="zh-CN" altLang="zh-CN" sz="1200" kern="1200" dirty="0" smtClean="0">
                <a:solidFill>
                  <a:schemeClr val="tx1"/>
                </a:solidFill>
                <a:effectLst/>
                <a:latin typeface="+mn-lt"/>
                <a:ea typeface="+mn-ea"/>
                <a:cs typeface="+mn-cs"/>
              </a:rPr>
              <a:t>为关节插补运动指令，运动指令中</a:t>
            </a:r>
            <a:r>
              <a:rPr lang="en-US" altLang="zh-CN" sz="1200" kern="1200" dirty="0" smtClean="0">
                <a:solidFill>
                  <a:schemeClr val="tx1"/>
                </a:solidFill>
                <a:effectLst/>
                <a:latin typeface="+mn-lt"/>
                <a:ea typeface="+mn-ea"/>
                <a:cs typeface="+mn-cs"/>
              </a:rPr>
              <a:t>“v1000”</a:t>
            </a:r>
            <a:r>
              <a:rPr lang="zh-CN" altLang="zh-CN" sz="1200" kern="1200" dirty="0" smtClean="0">
                <a:solidFill>
                  <a:schemeClr val="tx1"/>
                </a:solidFill>
                <a:effectLst/>
                <a:latin typeface="+mn-lt"/>
                <a:ea typeface="+mn-ea"/>
                <a:cs typeface="+mn-cs"/>
              </a:rPr>
              <a:t>代表</a:t>
            </a:r>
            <a:r>
              <a:rPr lang="en-US" altLang="zh-CN" sz="1200" kern="1200" dirty="0" smtClean="0">
                <a:solidFill>
                  <a:schemeClr val="tx1"/>
                </a:solidFill>
                <a:effectLst/>
                <a:latin typeface="+mn-lt"/>
                <a:ea typeface="+mn-ea"/>
                <a:cs typeface="+mn-cs"/>
              </a:rPr>
              <a:t>TCP</a:t>
            </a:r>
            <a:r>
              <a:rPr lang="zh-CN" altLang="zh-CN" sz="1200" kern="1200" dirty="0" smtClean="0">
                <a:solidFill>
                  <a:schemeClr val="tx1"/>
                </a:solidFill>
                <a:effectLst/>
                <a:latin typeface="+mn-lt"/>
                <a:ea typeface="+mn-ea"/>
                <a:cs typeface="+mn-cs"/>
              </a:rPr>
              <a:t>速度为</a:t>
            </a:r>
            <a:r>
              <a:rPr lang="en-US" altLang="zh-CN" sz="1200" kern="1200" dirty="0" smtClean="0">
                <a:solidFill>
                  <a:schemeClr val="tx1"/>
                </a:solidFill>
                <a:effectLst/>
                <a:latin typeface="+mn-lt"/>
                <a:ea typeface="+mn-ea"/>
                <a:cs typeface="+mn-cs"/>
              </a:rPr>
              <a:t>1000mm/</a:t>
            </a:r>
            <a:r>
              <a:rPr lang="en-US" altLang="zh-CN" sz="1200" kern="1200" dirty="0" err="1" smtClean="0">
                <a:solidFill>
                  <a:schemeClr val="tx1"/>
                </a:solidFill>
                <a:effectLst/>
                <a:latin typeface="+mn-lt"/>
                <a:ea typeface="+mn-ea"/>
                <a:cs typeface="+mn-cs"/>
              </a:rPr>
              <a:t>s,“fine</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参数代表机器人直接运动到指定点，不进行转角的圆弧过渡（不指定交融半径）。</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12</a:t>
            </a:fld>
            <a:endParaRPr lang="zh-CN" altLang="en-US"/>
          </a:p>
        </p:txBody>
      </p:sp>
    </p:spTree>
    <p:extLst>
      <p:ext uri="{BB962C8B-B14F-4D97-AF65-F5344CB8AC3E}">
        <p14:creationId xmlns:p14="http://schemas.microsoft.com/office/powerpoint/2010/main" val="26908043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在移动到</a:t>
            </a:r>
            <a:r>
              <a:rPr lang="en-US" altLang="zh-CN" sz="1200" kern="1200" dirty="0" smtClean="0">
                <a:solidFill>
                  <a:schemeClr val="tx1"/>
                </a:solidFill>
                <a:effectLst/>
                <a:latin typeface="+mn-lt"/>
                <a:ea typeface="+mn-ea"/>
                <a:cs typeface="+mn-cs"/>
              </a:rPr>
              <a:t>P10</a:t>
            </a:r>
            <a:r>
              <a:rPr lang="zh-CN" altLang="zh-CN" sz="1200" kern="1200" dirty="0" smtClean="0">
                <a:solidFill>
                  <a:schemeClr val="tx1"/>
                </a:solidFill>
                <a:effectLst/>
                <a:latin typeface="+mn-lt"/>
                <a:ea typeface="+mn-ea"/>
                <a:cs typeface="+mn-cs"/>
              </a:rPr>
              <a:t>作业点的运动指令中，指明了转角切除半径为</a:t>
            </a:r>
            <a:r>
              <a:rPr lang="en-US" altLang="zh-CN" sz="1200" kern="1200" dirty="0" smtClean="0">
                <a:solidFill>
                  <a:schemeClr val="tx1"/>
                </a:solidFill>
                <a:effectLst/>
                <a:latin typeface="+mn-lt"/>
                <a:ea typeface="+mn-ea"/>
                <a:cs typeface="+mn-cs"/>
              </a:rPr>
              <a:t>50mm</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13</a:t>
            </a:fld>
            <a:endParaRPr lang="zh-CN" altLang="en-US"/>
          </a:p>
        </p:txBody>
      </p:sp>
    </p:spTree>
    <p:extLst>
      <p:ext uri="{BB962C8B-B14F-4D97-AF65-F5344CB8AC3E}">
        <p14:creationId xmlns:p14="http://schemas.microsoft.com/office/powerpoint/2010/main" val="776286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KRL</a:t>
            </a:r>
            <a:r>
              <a:rPr lang="zh-CN" altLang="zh-CN" sz="1200" kern="1200" dirty="0" smtClean="0">
                <a:solidFill>
                  <a:schemeClr val="tx1"/>
                </a:solidFill>
                <a:effectLst/>
                <a:latin typeface="+mn-lt"/>
                <a:ea typeface="+mn-ea"/>
                <a:cs typeface="+mn-cs"/>
              </a:rPr>
              <a:t>为德国</a:t>
            </a:r>
            <a:r>
              <a:rPr lang="en-US" altLang="zh-CN" sz="1200" kern="1200" dirty="0" smtClean="0">
                <a:solidFill>
                  <a:schemeClr val="tx1"/>
                </a:solidFill>
                <a:effectLst/>
                <a:latin typeface="+mn-lt"/>
                <a:ea typeface="+mn-ea"/>
                <a:cs typeface="+mn-cs"/>
              </a:rPr>
              <a:t>KUKA</a:t>
            </a:r>
            <a:r>
              <a:rPr lang="zh-CN" altLang="zh-CN" sz="1200" kern="1200" dirty="0" smtClean="0">
                <a:solidFill>
                  <a:schemeClr val="tx1"/>
                </a:solidFill>
                <a:effectLst/>
                <a:latin typeface="+mn-lt"/>
                <a:ea typeface="+mn-ea"/>
                <a:cs typeface="+mn-cs"/>
              </a:rPr>
              <a:t>机器人公司的编程语言，为</a:t>
            </a:r>
            <a:r>
              <a:rPr lang="en-US" altLang="zh-CN" sz="1200" kern="1200" dirty="0" err="1" smtClean="0">
                <a:solidFill>
                  <a:schemeClr val="tx1"/>
                </a:solidFill>
                <a:effectLst/>
                <a:latin typeface="+mn-lt"/>
                <a:ea typeface="+mn-ea"/>
                <a:cs typeface="+mn-cs"/>
              </a:rPr>
              <a:t>Kuka</a:t>
            </a:r>
            <a:r>
              <a:rPr lang="en-US" altLang="zh-CN" sz="1200" kern="1200" dirty="0" smtClean="0">
                <a:solidFill>
                  <a:schemeClr val="tx1"/>
                </a:solidFill>
                <a:effectLst/>
                <a:latin typeface="+mn-lt"/>
                <a:ea typeface="+mn-ea"/>
                <a:cs typeface="+mn-cs"/>
              </a:rPr>
              <a:t> Robot Language</a:t>
            </a:r>
            <a:r>
              <a:rPr lang="zh-CN" altLang="zh-CN" sz="1200" kern="1200" dirty="0" smtClean="0">
                <a:solidFill>
                  <a:schemeClr val="tx1"/>
                </a:solidFill>
                <a:effectLst/>
                <a:latin typeface="+mn-lt"/>
                <a:ea typeface="+mn-ea"/>
                <a:cs typeface="+mn-cs"/>
              </a:rPr>
              <a:t>三个英文单词的首字母缩写而成，这是一种与</a:t>
            </a:r>
            <a:r>
              <a:rPr lang="en-US" altLang="zh-CN" sz="1200" kern="1200" dirty="0" smtClean="0">
                <a:solidFill>
                  <a:schemeClr val="tx1"/>
                </a:solidFill>
                <a:effectLst/>
                <a:latin typeface="+mn-lt"/>
                <a:ea typeface="+mn-ea"/>
                <a:cs typeface="+mn-cs"/>
              </a:rPr>
              <a:t>Pascal</a:t>
            </a:r>
            <a:r>
              <a:rPr lang="zh-CN" altLang="zh-CN" sz="1200" kern="1200" dirty="0" smtClean="0">
                <a:solidFill>
                  <a:schemeClr val="tx1"/>
                </a:solidFill>
                <a:effectLst/>
                <a:latin typeface="+mn-lt"/>
                <a:ea typeface="+mn-ea"/>
                <a:cs typeface="+mn-cs"/>
              </a:rPr>
              <a:t>类似的专有编程语言。</a:t>
            </a:r>
          </a:p>
          <a:p>
            <a:r>
              <a:rPr lang="zh-CN" altLang="zh-CN" sz="1200" kern="1200" dirty="0" smtClean="0">
                <a:solidFill>
                  <a:schemeClr val="tx1"/>
                </a:solidFill>
                <a:effectLst/>
                <a:latin typeface="+mn-lt"/>
                <a:ea typeface="+mn-ea"/>
                <a:cs typeface="+mn-cs"/>
              </a:rPr>
              <a:t>任何的</a:t>
            </a:r>
            <a:r>
              <a:rPr lang="en-US" altLang="zh-CN" sz="1200" kern="1200" dirty="0" smtClean="0">
                <a:solidFill>
                  <a:schemeClr val="tx1"/>
                </a:solidFill>
                <a:effectLst/>
                <a:latin typeface="+mn-lt"/>
                <a:ea typeface="+mn-ea"/>
                <a:cs typeface="+mn-cs"/>
              </a:rPr>
              <a:t>KRL</a:t>
            </a:r>
            <a:r>
              <a:rPr lang="zh-CN" altLang="zh-CN" sz="1200" kern="1200" dirty="0" smtClean="0">
                <a:solidFill>
                  <a:schemeClr val="tx1"/>
                </a:solidFill>
                <a:effectLst/>
                <a:latin typeface="+mn-lt"/>
                <a:ea typeface="+mn-ea"/>
                <a:cs typeface="+mn-cs"/>
              </a:rPr>
              <a:t>代码由两个不同的文件组成，一个是永久数据文件，拓展名为</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dat</a:t>
            </a:r>
            <a:r>
              <a:rPr lang="zh-CN" altLang="zh-CN" sz="1200" kern="1200" dirty="0" smtClean="0">
                <a:solidFill>
                  <a:schemeClr val="tx1"/>
                </a:solidFill>
                <a:effectLst/>
                <a:latin typeface="+mn-lt"/>
                <a:ea typeface="+mn-ea"/>
                <a:cs typeface="+mn-cs"/>
              </a:rPr>
              <a:t>，另一个是移动命令文件，拓展名为</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src</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KRL</a:t>
            </a:r>
            <a:r>
              <a:rPr lang="zh-CN" altLang="zh-CN" sz="1200" kern="1200" dirty="0" smtClean="0">
                <a:solidFill>
                  <a:schemeClr val="tx1"/>
                </a:solidFill>
                <a:effectLst/>
                <a:latin typeface="+mn-lt"/>
                <a:ea typeface="+mn-ea"/>
                <a:cs typeface="+mn-cs"/>
              </a:rPr>
              <a:t>有四种常见的数据类型，如表</a:t>
            </a:r>
            <a:r>
              <a:rPr lang="en-US" altLang="zh-CN" sz="1200" kern="1200" dirty="0" smtClean="0">
                <a:solidFill>
                  <a:schemeClr val="tx1"/>
                </a:solidFill>
                <a:effectLst/>
                <a:latin typeface="+mn-lt"/>
                <a:ea typeface="+mn-ea"/>
                <a:cs typeface="+mn-cs"/>
              </a:rPr>
              <a:t>7.6</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KRL</a:t>
            </a:r>
            <a:r>
              <a:rPr lang="zh-CN" altLang="zh-CN" sz="1200" kern="1200" dirty="0" smtClean="0">
                <a:solidFill>
                  <a:schemeClr val="tx1"/>
                </a:solidFill>
                <a:effectLst/>
                <a:latin typeface="+mn-lt"/>
                <a:ea typeface="+mn-ea"/>
                <a:cs typeface="+mn-cs"/>
              </a:rPr>
              <a:t>语言有很多种方法给机器人下达操作命令，其语言的编程方式是基于</a:t>
            </a:r>
            <a:r>
              <a:rPr lang="en-US" altLang="zh-CN" sz="1200" kern="1200" dirty="0" smtClean="0">
                <a:solidFill>
                  <a:schemeClr val="tx1"/>
                </a:solidFill>
                <a:effectLst/>
                <a:latin typeface="+mn-lt"/>
                <a:ea typeface="+mn-ea"/>
                <a:cs typeface="+mn-cs"/>
              </a:rPr>
              <a:t>Topic</a:t>
            </a:r>
            <a:r>
              <a:rPr lang="zh-CN" altLang="zh-CN" sz="1200" kern="1200" dirty="0" smtClean="0">
                <a:solidFill>
                  <a:schemeClr val="tx1"/>
                </a:solidFill>
                <a:effectLst/>
                <a:latin typeface="+mn-lt"/>
                <a:ea typeface="+mn-ea"/>
                <a:cs typeface="+mn-cs"/>
              </a:rPr>
              <a:t>主题的编程方式。</a:t>
            </a:r>
            <a:r>
              <a:rPr lang="en-US" altLang="zh-CN" sz="1200" kern="1200" dirty="0" smtClean="0">
                <a:solidFill>
                  <a:schemeClr val="tx1"/>
                </a:solidFill>
                <a:effectLst/>
                <a:latin typeface="+mn-lt"/>
                <a:ea typeface="+mn-ea"/>
                <a:cs typeface="+mn-cs"/>
              </a:rPr>
              <a:t>KRL</a:t>
            </a:r>
            <a:r>
              <a:rPr lang="zh-CN" altLang="zh-CN" sz="1200" kern="1200" dirty="0" smtClean="0">
                <a:solidFill>
                  <a:schemeClr val="tx1"/>
                </a:solidFill>
                <a:effectLst/>
                <a:latin typeface="+mn-lt"/>
                <a:ea typeface="+mn-ea"/>
                <a:cs typeface="+mn-cs"/>
              </a:rPr>
              <a:t>具有五个主题，每个主题里面都包括了相应的机器人指令集以及语法规则，表</a:t>
            </a:r>
            <a:r>
              <a:rPr lang="en-US" altLang="zh-CN" sz="1200" kern="1200" dirty="0" smtClean="0">
                <a:solidFill>
                  <a:schemeClr val="tx1"/>
                </a:solidFill>
                <a:effectLst/>
                <a:latin typeface="+mn-lt"/>
                <a:ea typeface="+mn-ea"/>
                <a:cs typeface="+mn-cs"/>
              </a:rPr>
              <a:t>7.7</a:t>
            </a:r>
            <a:r>
              <a:rPr lang="zh-CN" altLang="zh-CN" sz="1200" kern="1200" dirty="0" smtClean="0">
                <a:solidFill>
                  <a:schemeClr val="tx1"/>
                </a:solidFill>
                <a:effectLst/>
                <a:latin typeface="+mn-lt"/>
                <a:ea typeface="+mn-ea"/>
                <a:cs typeface="+mn-cs"/>
              </a:rPr>
              <a:t>只叙述了</a:t>
            </a:r>
            <a:r>
              <a:rPr lang="en-US" altLang="zh-CN" sz="1200" kern="1200" dirty="0" smtClean="0">
                <a:solidFill>
                  <a:schemeClr val="tx1"/>
                </a:solidFill>
                <a:effectLst/>
                <a:latin typeface="+mn-lt"/>
                <a:ea typeface="+mn-ea"/>
                <a:cs typeface="+mn-cs"/>
              </a:rPr>
              <a:t>KRL</a:t>
            </a:r>
            <a:r>
              <a:rPr lang="zh-CN" altLang="zh-CN" sz="1200" kern="1200" dirty="0" smtClean="0">
                <a:solidFill>
                  <a:schemeClr val="tx1"/>
                </a:solidFill>
                <a:effectLst/>
                <a:latin typeface="+mn-lt"/>
                <a:ea typeface="+mn-ea"/>
                <a:cs typeface="+mn-cs"/>
              </a:rPr>
              <a:t>编程语言的一部分主题类型和说明。</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14</a:t>
            </a:fld>
            <a:endParaRPr lang="zh-CN" altLang="en-US"/>
          </a:p>
        </p:txBody>
      </p:sp>
    </p:spTree>
    <p:extLst>
      <p:ext uri="{BB962C8B-B14F-4D97-AF65-F5344CB8AC3E}">
        <p14:creationId xmlns:p14="http://schemas.microsoft.com/office/powerpoint/2010/main" val="14956354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KAREL</a:t>
            </a:r>
            <a:r>
              <a:rPr lang="zh-CN" altLang="zh-CN" sz="1200" kern="1200" dirty="0" smtClean="0">
                <a:solidFill>
                  <a:schemeClr val="tx1"/>
                </a:solidFill>
                <a:effectLst/>
                <a:latin typeface="+mn-lt"/>
                <a:ea typeface="+mn-ea"/>
                <a:cs typeface="+mn-cs"/>
              </a:rPr>
              <a:t>语言由</a:t>
            </a:r>
            <a:r>
              <a:rPr lang="en-US" altLang="zh-CN" sz="1200" kern="1200" dirty="0" smtClean="0">
                <a:solidFill>
                  <a:schemeClr val="tx1"/>
                </a:solidFill>
                <a:effectLst/>
                <a:latin typeface="+mn-lt"/>
                <a:ea typeface="+mn-ea"/>
                <a:cs typeface="+mn-cs"/>
              </a:rPr>
              <a:t>Richard E. </a:t>
            </a:r>
            <a:r>
              <a:rPr lang="en-US" altLang="zh-CN" sz="1200" kern="1200" dirty="0" err="1" smtClean="0">
                <a:solidFill>
                  <a:schemeClr val="tx1"/>
                </a:solidFill>
                <a:effectLst/>
                <a:latin typeface="+mn-lt"/>
                <a:ea typeface="+mn-ea"/>
                <a:cs typeface="+mn-cs"/>
              </a:rPr>
              <a:t>Pattis</a:t>
            </a:r>
            <a:r>
              <a:rPr lang="zh-CN" altLang="zh-CN" sz="1200" kern="1200" dirty="0" smtClean="0">
                <a:solidFill>
                  <a:schemeClr val="tx1"/>
                </a:solidFill>
                <a:effectLst/>
                <a:latin typeface="+mn-lt"/>
                <a:ea typeface="+mn-ea"/>
                <a:cs typeface="+mn-cs"/>
              </a:rPr>
              <a:t>在他的一本书《</a:t>
            </a:r>
            <a:r>
              <a:rPr lang="en-US" altLang="zh-CN" sz="1200" kern="1200" dirty="0" smtClean="0">
                <a:solidFill>
                  <a:schemeClr val="tx1"/>
                </a:solidFill>
                <a:effectLst/>
                <a:latin typeface="+mn-lt"/>
                <a:ea typeface="+mn-ea"/>
                <a:cs typeface="+mn-cs"/>
              </a:rPr>
              <a:t>Karel The Robot: A Gentle Introduction to the Art of Programming</a:t>
            </a:r>
            <a:r>
              <a:rPr lang="zh-CN" altLang="zh-CN" sz="1200" kern="1200" dirty="0" smtClean="0">
                <a:solidFill>
                  <a:schemeClr val="tx1"/>
                </a:solidFill>
                <a:effectLst/>
                <a:latin typeface="+mn-lt"/>
                <a:ea typeface="+mn-ea"/>
                <a:cs typeface="+mn-cs"/>
              </a:rPr>
              <a:t>》中提出。</a:t>
            </a:r>
            <a:r>
              <a:rPr lang="en-US" altLang="zh-CN" sz="1200" kern="1200" dirty="0" err="1" smtClean="0">
                <a:solidFill>
                  <a:schemeClr val="tx1"/>
                </a:solidFill>
                <a:effectLst/>
                <a:latin typeface="+mn-lt"/>
                <a:ea typeface="+mn-ea"/>
                <a:cs typeface="+mn-cs"/>
              </a:rPr>
              <a:t>Pattis</a:t>
            </a:r>
            <a:r>
              <a:rPr lang="zh-CN" altLang="zh-CN" sz="1200" kern="1200" dirty="0" smtClean="0">
                <a:solidFill>
                  <a:schemeClr val="tx1"/>
                </a:solidFill>
                <a:effectLst/>
                <a:latin typeface="+mn-lt"/>
                <a:ea typeface="+mn-ea"/>
                <a:cs typeface="+mn-cs"/>
              </a:rPr>
              <a:t>在其斯坦福大学的课堂上使用这门语言向学习机器人学的学生讲解机器人编程。</a:t>
            </a:r>
            <a:r>
              <a:rPr lang="en-US" altLang="zh-CN" sz="1200" kern="1200" dirty="0" smtClean="0">
                <a:solidFill>
                  <a:schemeClr val="tx1"/>
                </a:solidFill>
                <a:effectLst/>
                <a:latin typeface="+mn-lt"/>
                <a:ea typeface="+mn-ea"/>
                <a:cs typeface="+mn-cs"/>
              </a:rPr>
              <a:t>KAREL</a:t>
            </a:r>
            <a:r>
              <a:rPr lang="zh-CN" altLang="zh-CN" sz="1200" kern="1200" dirty="0" smtClean="0">
                <a:solidFill>
                  <a:schemeClr val="tx1"/>
                </a:solidFill>
                <a:effectLst/>
                <a:latin typeface="+mn-lt"/>
                <a:ea typeface="+mn-ea"/>
                <a:cs typeface="+mn-cs"/>
              </a:rPr>
              <a:t>是以提出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机器人</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一词的捷克作家卡雷尔</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卡佩克的名字命名的一种机器人语言，后来发展成为用于</a:t>
            </a:r>
            <a:r>
              <a:rPr lang="en-US" altLang="zh-CN" sz="1200" kern="1200" dirty="0" smtClean="0">
                <a:solidFill>
                  <a:schemeClr val="tx1"/>
                </a:solidFill>
                <a:effectLst/>
                <a:latin typeface="+mn-lt"/>
                <a:ea typeface="+mn-ea"/>
                <a:cs typeface="+mn-cs"/>
              </a:rPr>
              <a:t>FANUC</a:t>
            </a:r>
            <a:r>
              <a:rPr lang="zh-CN" altLang="zh-CN" sz="1200" kern="1200" dirty="0" smtClean="0">
                <a:solidFill>
                  <a:schemeClr val="tx1"/>
                </a:solidFill>
                <a:effectLst/>
                <a:latin typeface="+mn-lt"/>
                <a:ea typeface="+mn-ea"/>
                <a:cs typeface="+mn-cs"/>
              </a:rPr>
              <a:t>机器人的一种主要编程语言。</a:t>
            </a:r>
            <a:r>
              <a:rPr lang="en-US" altLang="zh-CN" sz="1200" kern="1200" dirty="0" smtClean="0">
                <a:solidFill>
                  <a:schemeClr val="tx1"/>
                </a:solidFill>
                <a:effectLst/>
                <a:latin typeface="+mn-lt"/>
                <a:ea typeface="+mn-ea"/>
                <a:cs typeface="+mn-cs"/>
              </a:rPr>
              <a:t>KAREL</a:t>
            </a:r>
            <a:r>
              <a:rPr lang="zh-CN" altLang="zh-CN" sz="1200" kern="1200" dirty="0" smtClean="0">
                <a:solidFill>
                  <a:schemeClr val="tx1"/>
                </a:solidFill>
                <a:effectLst/>
                <a:latin typeface="+mn-lt"/>
                <a:ea typeface="+mn-ea"/>
                <a:cs typeface="+mn-cs"/>
              </a:rPr>
              <a:t>语言是一种离线编程语言，融合了类</a:t>
            </a:r>
            <a:r>
              <a:rPr lang="en-US" altLang="zh-CN" sz="1200" kern="1200" dirty="0" smtClean="0">
                <a:solidFill>
                  <a:schemeClr val="tx1"/>
                </a:solidFill>
                <a:effectLst/>
                <a:latin typeface="+mn-lt"/>
                <a:ea typeface="+mn-ea"/>
                <a:cs typeface="+mn-cs"/>
              </a:rPr>
              <a:t>Pascal</a:t>
            </a:r>
            <a:r>
              <a:rPr lang="zh-CN" altLang="zh-CN" sz="1200" kern="1200" dirty="0" smtClean="0">
                <a:solidFill>
                  <a:schemeClr val="tx1"/>
                </a:solidFill>
                <a:effectLst/>
                <a:latin typeface="+mn-lt"/>
                <a:ea typeface="+mn-ea"/>
                <a:cs typeface="+mn-cs"/>
              </a:rPr>
              <a:t>和</a:t>
            </a:r>
            <a:r>
              <a:rPr lang="en-US" altLang="zh-CN" sz="1200" kern="1200" dirty="0" smtClean="0">
                <a:solidFill>
                  <a:schemeClr val="tx1"/>
                </a:solidFill>
                <a:effectLst/>
                <a:latin typeface="+mn-lt"/>
                <a:ea typeface="+mn-ea"/>
                <a:cs typeface="+mn-cs"/>
              </a:rPr>
              <a:t>PL/1</a:t>
            </a:r>
            <a:r>
              <a:rPr lang="zh-CN" altLang="zh-CN" sz="1200" kern="1200" dirty="0" smtClean="0">
                <a:solidFill>
                  <a:schemeClr val="tx1"/>
                </a:solidFill>
                <a:effectLst/>
                <a:latin typeface="+mn-lt"/>
                <a:ea typeface="+mn-ea"/>
                <a:cs typeface="+mn-cs"/>
              </a:rPr>
              <a:t>的高级编程语言逻辑，采用了通常的程序结构以及机器人专用功能。</a:t>
            </a:r>
            <a:r>
              <a:rPr lang="en-US" altLang="zh-CN" sz="1200" kern="1200" dirty="0" smtClean="0">
                <a:solidFill>
                  <a:schemeClr val="tx1"/>
                </a:solidFill>
                <a:effectLst/>
                <a:latin typeface="+mn-lt"/>
                <a:ea typeface="+mn-ea"/>
                <a:cs typeface="+mn-cs"/>
              </a:rPr>
              <a:t>KAREL</a:t>
            </a:r>
            <a:r>
              <a:rPr lang="zh-CN" altLang="zh-CN" sz="1200" kern="1200" dirty="0" smtClean="0">
                <a:solidFill>
                  <a:schemeClr val="tx1"/>
                </a:solidFill>
                <a:effectLst/>
                <a:latin typeface="+mn-lt"/>
                <a:ea typeface="+mn-ea"/>
                <a:cs typeface="+mn-cs"/>
              </a:rPr>
              <a:t>编程语言的特征包括：</a:t>
            </a:r>
          </a:p>
          <a:p>
            <a:pPr lvl="0"/>
            <a:r>
              <a:rPr lang="zh-CN" altLang="zh-CN" sz="1200" kern="1200" dirty="0" smtClean="0">
                <a:solidFill>
                  <a:schemeClr val="tx1"/>
                </a:solidFill>
                <a:effectLst/>
                <a:latin typeface="+mn-lt"/>
                <a:ea typeface="+mn-ea"/>
                <a:cs typeface="+mn-cs"/>
              </a:rPr>
              <a:t>简单和结构化的数据类型</a:t>
            </a:r>
          </a:p>
          <a:p>
            <a:pPr lvl="0"/>
            <a:r>
              <a:rPr lang="zh-CN" altLang="zh-CN" sz="1200" kern="1200" dirty="0" smtClean="0">
                <a:solidFill>
                  <a:schemeClr val="tx1"/>
                </a:solidFill>
                <a:effectLst/>
                <a:latin typeface="+mn-lt"/>
                <a:ea typeface="+mn-ea"/>
                <a:cs typeface="+mn-cs"/>
              </a:rPr>
              <a:t>算术、关系以及布尔运算符</a:t>
            </a:r>
          </a:p>
          <a:p>
            <a:pPr lvl="0"/>
            <a:r>
              <a:rPr lang="zh-CN" altLang="zh-CN" sz="1200" kern="1200" dirty="0" smtClean="0">
                <a:solidFill>
                  <a:schemeClr val="tx1"/>
                </a:solidFill>
                <a:effectLst/>
                <a:latin typeface="+mn-lt"/>
                <a:ea typeface="+mn-ea"/>
                <a:cs typeface="+mn-cs"/>
              </a:rPr>
              <a:t>循环结构、选择结构</a:t>
            </a:r>
          </a:p>
          <a:p>
            <a:pPr lvl="0"/>
            <a:r>
              <a:rPr lang="zh-CN" altLang="zh-CN" sz="1200" kern="1200" dirty="0" smtClean="0">
                <a:solidFill>
                  <a:schemeClr val="tx1"/>
                </a:solidFill>
                <a:effectLst/>
                <a:latin typeface="+mn-lt"/>
                <a:ea typeface="+mn-ea"/>
                <a:cs typeface="+mn-cs"/>
              </a:rPr>
              <a:t>条件处理</a:t>
            </a:r>
          </a:p>
          <a:p>
            <a:pPr lvl="0"/>
            <a:r>
              <a:rPr lang="zh-CN" altLang="zh-CN" sz="1200" kern="1200" dirty="0" smtClean="0">
                <a:solidFill>
                  <a:schemeClr val="tx1"/>
                </a:solidFill>
                <a:effectLst/>
                <a:latin typeface="+mn-lt"/>
                <a:ea typeface="+mn-ea"/>
                <a:cs typeface="+mn-cs"/>
              </a:rPr>
              <a:t>过程和函数</a:t>
            </a:r>
          </a:p>
          <a:p>
            <a:pPr lvl="0"/>
            <a:r>
              <a:rPr lang="zh-CN" altLang="zh-CN" sz="1200" kern="1200" dirty="0" smtClean="0">
                <a:solidFill>
                  <a:schemeClr val="tx1"/>
                </a:solidFill>
                <a:effectLst/>
                <a:latin typeface="+mn-lt"/>
                <a:ea typeface="+mn-ea"/>
                <a:cs typeface="+mn-cs"/>
              </a:rPr>
              <a:t>输入输出</a:t>
            </a:r>
          </a:p>
          <a:p>
            <a:r>
              <a:rPr lang="zh-CN" altLang="zh-CN" sz="1200" kern="1200" dirty="0" smtClean="0">
                <a:solidFill>
                  <a:schemeClr val="tx1"/>
                </a:solidFill>
                <a:effectLst/>
                <a:latin typeface="+mn-lt"/>
                <a:ea typeface="+mn-ea"/>
                <a:cs typeface="+mn-cs"/>
              </a:rPr>
              <a:t>多编程支持</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采用</a:t>
            </a:r>
            <a:r>
              <a:rPr lang="en-US" altLang="zh-CN" sz="1200" kern="1200" dirty="0" smtClean="0">
                <a:solidFill>
                  <a:schemeClr val="tx1"/>
                </a:solidFill>
                <a:effectLst/>
                <a:latin typeface="+mn-lt"/>
                <a:ea typeface="+mn-ea"/>
                <a:cs typeface="+mn-cs"/>
              </a:rPr>
              <a:t>KAREL</a:t>
            </a:r>
            <a:r>
              <a:rPr lang="zh-CN" altLang="zh-CN" sz="1200" kern="1200" dirty="0" smtClean="0">
                <a:solidFill>
                  <a:schemeClr val="tx1"/>
                </a:solidFill>
                <a:effectLst/>
                <a:latin typeface="+mn-lt"/>
                <a:ea typeface="+mn-ea"/>
                <a:cs typeface="+mn-cs"/>
              </a:rPr>
              <a:t>编程，程序申明和执行部分代码存放在源代码文件中，而变量数据存放在另外的变量文件</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vr</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中。源代码必须通过编译成内部代码</a:t>
            </a:r>
            <a:r>
              <a:rPr lang="en-US" altLang="zh-CN" sz="1200" kern="1200" dirty="0" smtClean="0">
                <a:solidFill>
                  <a:schemeClr val="tx1"/>
                </a:solidFill>
                <a:effectLst/>
                <a:latin typeface="+mn-lt"/>
                <a:ea typeface="+mn-ea"/>
                <a:cs typeface="+mn-cs"/>
              </a:rPr>
              <a:t>(.pc)</a:t>
            </a:r>
            <a:r>
              <a:rPr lang="zh-CN" altLang="zh-CN" sz="1200" kern="1200" dirty="0" smtClean="0">
                <a:solidFill>
                  <a:schemeClr val="tx1"/>
                </a:solidFill>
                <a:effectLst/>
                <a:latin typeface="+mn-lt"/>
                <a:ea typeface="+mn-ea"/>
                <a:cs typeface="+mn-cs"/>
              </a:rPr>
              <a:t>，被称为</a:t>
            </a:r>
            <a:r>
              <a:rPr lang="en-US" altLang="zh-CN" sz="1200" i="1" kern="1200" dirty="0" smtClean="0">
                <a:solidFill>
                  <a:schemeClr val="tx1"/>
                </a:solidFill>
                <a:effectLst/>
                <a:latin typeface="+mn-lt"/>
                <a:ea typeface="+mn-ea"/>
                <a:cs typeface="+mn-cs"/>
              </a:rPr>
              <a:t>p-code</a:t>
            </a:r>
            <a:r>
              <a:rPr lang="zh-CN" altLang="zh-CN" sz="1200" kern="1200" dirty="0" smtClean="0">
                <a:solidFill>
                  <a:schemeClr val="tx1"/>
                </a:solidFill>
                <a:effectLst/>
                <a:latin typeface="+mn-lt"/>
                <a:ea typeface="+mn-ea"/>
                <a:cs typeface="+mn-cs"/>
              </a:rPr>
              <a:t>，才能被执行。</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FANUC</a:t>
            </a:r>
            <a:r>
              <a:rPr lang="zh-CN" altLang="zh-CN" sz="1200" kern="1200" dirty="0" smtClean="0">
                <a:solidFill>
                  <a:schemeClr val="tx1"/>
                </a:solidFill>
                <a:effectLst/>
                <a:latin typeface="+mn-lt"/>
                <a:ea typeface="+mn-ea"/>
                <a:cs typeface="+mn-cs"/>
              </a:rPr>
              <a:t>的</a:t>
            </a:r>
            <a:r>
              <a:rPr lang="en-US" altLang="zh-CN" sz="1200" kern="1200" dirty="0" smtClean="0">
                <a:solidFill>
                  <a:schemeClr val="tx1"/>
                </a:solidFill>
                <a:effectLst/>
                <a:latin typeface="+mn-lt"/>
                <a:ea typeface="+mn-ea"/>
                <a:cs typeface="+mn-cs"/>
              </a:rPr>
              <a:t>KAREL</a:t>
            </a:r>
            <a:r>
              <a:rPr lang="zh-CN" altLang="zh-CN" sz="1200" kern="1200" dirty="0" smtClean="0">
                <a:solidFill>
                  <a:schemeClr val="tx1"/>
                </a:solidFill>
                <a:effectLst/>
                <a:latin typeface="+mn-lt"/>
                <a:ea typeface="+mn-ea"/>
                <a:cs typeface="+mn-cs"/>
              </a:rPr>
              <a:t>程序，其执行体以关键词</a:t>
            </a:r>
            <a:r>
              <a:rPr lang="en-US" altLang="zh-CN" sz="1200" kern="1200" dirty="0" smtClean="0">
                <a:solidFill>
                  <a:schemeClr val="tx1"/>
                </a:solidFill>
                <a:effectLst/>
                <a:latin typeface="+mn-lt"/>
                <a:ea typeface="+mn-ea"/>
                <a:cs typeface="+mn-cs"/>
              </a:rPr>
              <a:t>BEGIN</a:t>
            </a:r>
            <a:r>
              <a:rPr lang="zh-CN" altLang="zh-CN" sz="1200" kern="1200" dirty="0" smtClean="0">
                <a:solidFill>
                  <a:schemeClr val="tx1"/>
                </a:solidFill>
                <a:effectLst/>
                <a:latin typeface="+mn-lt"/>
                <a:ea typeface="+mn-ea"/>
                <a:cs typeface="+mn-cs"/>
              </a:rPr>
              <a:t>开始，以</a:t>
            </a:r>
            <a:r>
              <a:rPr lang="en-US" altLang="zh-CN" sz="1200" kern="1200" dirty="0" smtClean="0">
                <a:solidFill>
                  <a:schemeClr val="tx1"/>
                </a:solidFill>
                <a:effectLst/>
                <a:latin typeface="+mn-lt"/>
                <a:ea typeface="+mn-ea"/>
                <a:cs typeface="+mn-cs"/>
              </a:rPr>
              <a:t>END</a:t>
            </a:r>
            <a:r>
              <a:rPr lang="zh-CN" altLang="zh-CN" sz="1200" kern="1200" dirty="0" smtClean="0">
                <a:solidFill>
                  <a:schemeClr val="tx1"/>
                </a:solidFill>
                <a:effectLst/>
                <a:latin typeface="+mn-lt"/>
                <a:ea typeface="+mn-ea"/>
                <a:cs typeface="+mn-cs"/>
              </a:rPr>
              <a:t>结束。</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15</a:t>
            </a:fld>
            <a:endParaRPr lang="zh-CN" altLang="en-US"/>
          </a:p>
        </p:txBody>
      </p:sp>
    </p:spTree>
    <p:extLst>
      <p:ext uri="{BB962C8B-B14F-4D97-AF65-F5344CB8AC3E}">
        <p14:creationId xmlns:p14="http://schemas.microsoft.com/office/powerpoint/2010/main" val="31952297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URScript</a:t>
            </a:r>
            <a:r>
              <a:rPr lang="zh-CN" altLang="zh-CN" sz="1200" kern="1200" dirty="0" smtClean="0">
                <a:solidFill>
                  <a:schemeClr val="tx1"/>
                </a:solidFill>
                <a:effectLst/>
                <a:latin typeface="+mn-lt"/>
                <a:ea typeface="+mn-ea"/>
                <a:cs typeface="+mn-cs"/>
              </a:rPr>
              <a:t>：丹麦的</a:t>
            </a:r>
            <a:r>
              <a:rPr lang="en-US" altLang="zh-CN" sz="1200" kern="1200" dirty="0" smtClean="0">
                <a:solidFill>
                  <a:schemeClr val="tx1"/>
                </a:solidFill>
                <a:effectLst/>
                <a:latin typeface="+mn-lt"/>
                <a:ea typeface="+mn-ea"/>
                <a:cs typeface="+mn-cs"/>
              </a:rPr>
              <a:t>Universal Robot</a:t>
            </a:r>
            <a:r>
              <a:rPr lang="zh-CN" altLang="zh-CN" sz="1200" kern="1200" dirty="0" smtClean="0">
                <a:solidFill>
                  <a:schemeClr val="tx1"/>
                </a:solidFill>
                <a:effectLst/>
                <a:latin typeface="+mn-lt"/>
                <a:ea typeface="+mn-ea"/>
                <a:cs typeface="+mn-cs"/>
              </a:rPr>
              <a:t>公司开发的新型协作机器人</a:t>
            </a:r>
            <a:r>
              <a:rPr lang="en-US" altLang="zh-CN" sz="1200" kern="1200" dirty="0" smtClean="0">
                <a:solidFill>
                  <a:schemeClr val="tx1"/>
                </a:solidFill>
                <a:effectLst/>
                <a:latin typeface="+mn-lt"/>
                <a:ea typeface="+mn-ea"/>
                <a:cs typeface="+mn-cs"/>
              </a:rPr>
              <a:t>-UR</a:t>
            </a:r>
            <a:r>
              <a:rPr lang="zh-CN" altLang="zh-CN" sz="1200" kern="1200" dirty="0" smtClean="0">
                <a:solidFill>
                  <a:schemeClr val="tx1"/>
                </a:solidFill>
                <a:effectLst/>
                <a:latin typeface="+mn-lt"/>
                <a:ea typeface="+mn-ea"/>
                <a:cs typeface="+mn-cs"/>
              </a:rPr>
              <a:t>系列机器人使用的编程语言，这是一个在脚本层上控制机器人的编程语言，该语言是</a:t>
            </a:r>
            <a:r>
              <a:rPr lang="en-US" altLang="zh-CN" sz="1200" kern="1200" dirty="0" smtClean="0">
                <a:solidFill>
                  <a:schemeClr val="tx1"/>
                </a:solidFill>
                <a:effectLst/>
                <a:latin typeface="+mn-lt"/>
                <a:ea typeface="+mn-ea"/>
                <a:cs typeface="+mn-cs"/>
              </a:rPr>
              <a:t>UR</a:t>
            </a:r>
            <a:r>
              <a:rPr lang="zh-CN" altLang="zh-CN" sz="1200" kern="1200" dirty="0" smtClean="0">
                <a:solidFill>
                  <a:schemeClr val="tx1"/>
                </a:solidFill>
                <a:effectLst/>
                <a:latin typeface="+mn-lt"/>
                <a:ea typeface="+mn-ea"/>
                <a:cs typeface="+mn-cs"/>
              </a:rPr>
              <a:t>公司在</a:t>
            </a:r>
            <a:r>
              <a:rPr lang="en-US" altLang="zh-CN" sz="1200" kern="1200" dirty="0" smtClean="0">
                <a:solidFill>
                  <a:schemeClr val="tx1"/>
                </a:solidFill>
                <a:effectLst/>
                <a:latin typeface="+mn-lt"/>
                <a:ea typeface="+mn-ea"/>
                <a:cs typeface="+mn-cs"/>
              </a:rPr>
              <a:t>Python</a:t>
            </a:r>
            <a:r>
              <a:rPr lang="zh-CN" altLang="zh-CN" sz="1200" kern="1200" dirty="0" smtClean="0">
                <a:solidFill>
                  <a:schemeClr val="tx1"/>
                </a:solidFill>
                <a:effectLst/>
                <a:latin typeface="+mn-lt"/>
                <a:ea typeface="+mn-ea"/>
                <a:cs typeface="+mn-cs"/>
              </a:rPr>
              <a:t>语言基础上独立研发的。</a:t>
            </a:r>
            <a:r>
              <a:rPr lang="en-US" altLang="zh-CN" sz="1200" kern="1200" dirty="0" err="1" smtClean="0">
                <a:solidFill>
                  <a:schemeClr val="tx1"/>
                </a:solidFill>
                <a:effectLst/>
                <a:latin typeface="+mn-lt"/>
                <a:ea typeface="+mn-ea"/>
                <a:cs typeface="+mn-cs"/>
              </a:rPr>
              <a:t>URScript</a:t>
            </a:r>
            <a:r>
              <a:rPr lang="zh-CN" altLang="zh-CN" sz="1200" kern="1200" dirty="0" smtClean="0">
                <a:solidFill>
                  <a:schemeClr val="tx1"/>
                </a:solidFill>
                <a:effectLst/>
                <a:latin typeface="+mn-lt"/>
                <a:ea typeface="+mn-ea"/>
                <a:cs typeface="+mn-cs"/>
              </a:rPr>
              <a:t>编程语言就像其他编程语言一样，它有变量类型，语法结构、方法等。另外，它还有一系列的专用方法来控制机器人运动以及</a:t>
            </a:r>
            <a:r>
              <a:rPr lang="en-US" altLang="zh-CN" sz="1200" kern="1200" dirty="0" smtClean="0">
                <a:solidFill>
                  <a:schemeClr val="tx1"/>
                </a:solidFill>
                <a:effectLst/>
                <a:latin typeface="+mn-lt"/>
                <a:ea typeface="+mn-ea"/>
                <a:cs typeface="+mn-cs"/>
              </a:rPr>
              <a:t>IO</a:t>
            </a:r>
            <a:r>
              <a:rPr lang="zh-CN" altLang="zh-CN" sz="1200" kern="1200" dirty="0" smtClean="0">
                <a:solidFill>
                  <a:schemeClr val="tx1"/>
                </a:solidFill>
                <a:effectLst/>
                <a:latin typeface="+mn-lt"/>
                <a:ea typeface="+mn-ea"/>
                <a:cs typeface="+mn-cs"/>
              </a:rPr>
              <a:t>状态。</a:t>
            </a:r>
          </a:p>
          <a:p>
            <a:r>
              <a:rPr lang="en-US" altLang="zh-CN" sz="1200" kern="1200" dirty="0" err="1" smtClean="0">
                <a:solidFill>
                  <a:schemeClr val="tx1"/>
                </a:solidFill>
                <a:effectLst/>
                <a:latin typeface="+mn-lt"/>
                <a:ea typeface="+mn-ea"/>
                <a:cs typeface="+mn-cs"/>
              </a:rPr>
              <a:t>URScript</a:t>
            </a:r>
            <a:r>
              <a:rPr lang="zh-CN" altLang="zh-CN" sz="1200" kern="1200" dirty="0" smtClean="0">
                <a:solidFill>
                  <a:schemeClr val="tx1"/>
                </a:solidFill>
                <a:effectLst/>
                <a:latin typeface="+mn-lt"/>
                <a:ea typeface="+mn-ea"/>
                <a:cs typeface="+mn-cs"/>
              </a:rPr>
              <a:t>编程语言与大多数的计算机语言类似，也有数字、变量、类型、控制流、函数、进程等。</a:t>
            </a:r>
            <a:r>
              <a:rPr lang="zh-CN" altLang="zh-CN" sz="1200" u="sng" kern="1200" dirty="0" smtClean="0">
                <a:solidFill>
                  <a:schemeClr val="tx1"/>
                </a:solidFill>
                <a:effectLst/>
                <a:latin typeface="+mn-lt"/>
                <a:ea typeface="+mn-ea"/>
                <a:cs typeface="+mn-cs"/>
              </a:rPr>
              <a:t>该语言将机器人控制划分为运动模块、内部模块、数学模块和界面模块。</a:t>
            </a:r>
            <a:r>
              <a:rPr lang="zh-CN" altLang="zh-CN" sz="1200" strike="sngStrike" kern="1200" dirty="0" smtClean="0">
                <a:solidFill>
                  <a:schemeClr val="tx1"/>
                </a:solidFill>
                <a:effectLst/>
                <a:latin typeface="+mn-lt"/>
                <a:ea typeface="+mn-ea"/>
                <a:cs typeface="+mn-cs"/>
              </a:rPr>
              <a:t>该语言控制机器人采用模块化的命令，即该语言将机器人控制划分为运动模块、终端模块、运算模块、接口模块。</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16</a:t>
            </a:fld>
            <a:endParaRPr lang="zh-CN" altLang="en-US"/>
          </a:p>
        </p:txBody>
      </p:sp>
    </p:spTree>
    <p:extLst>
      <p:ext uri="{BB962C8B-B14F-4D97-AF65-F5344CB8AC3E}">
        <p14:creationId xmlns:p14="http://schemas.microsoft.com/office/powerpoint/2010/main" val="17057316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17</a:t>
            </a:fld>
            <a:endParaRPr lang="zh-CN" altLang="en-US"/>
          </a:p>
        </p:txBody>
      </p:sp>
    </p:spTree>
    <p:extLst>
      <p:ext uri="{BB962C8B-B14F-4D97-AF65-F5344CB8AC3E}">
        <p14:creationId xmlns:p14="http://schemas.microsoft.com/office/powerpoint/2010/main" val="1597053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sz="1200" b="1" kern="1200" dirty="0" smtClean="0">
                <a:solidFill>
                  <a:schemeClr val="tx1"/>
                </a:solidFill>
                <a:effectLst/>
                <a:latin typeface="+mn-lt"/>
                <a:ea typeface="+mn-ea"/>
                <a:cs typeface="+mn-cs"/>
              </a:rPr>
              <a:t>7.3.1 </a:t>
            </a:r>
            <a:r>
              <a:rPr lang="zh-CN" altLang="zh-CN" sz="1200" b="1" kern="1200" dirty="0" smtClean="0">
                <a:solidFill>
                  <a:schemeClr val="tx1"/>
                </a:solidFill>
                <a:effectLst/>
                <a:latin typeface="+mn-lt"/>
                <a:ea typeface="+mn-ea"/>
                <a:cs typeface="+mn-cs"/>
              </a:rPr>
              <a:t>动作级编程语言</a:t>
            </a:r>
          </a:p>
          <a:p>
            <a:r>
              <a:rPr lang="zh-CN" altLang="zh-CN" sz="1200" kern="1200" dirty="0" smtClean="0">
                <a:solidFill>
                  <a:schemeClr val="tx1"/>
                </a:solidFill>
                <a:effectLst/>
                <a:latin typeface="+mn-lt"/>
                <a:ea typeface="+mn-ea"/>
                <a:cs typeface="+mn-cs"/>
              </a:rPr>
              <a:t>最初的工业机器人编程语言基本都是面向作业动作进行描述的。动作级编程语言以机器人的运动描述为主，通常一条指令对应机器人的一个动作，表示从机器人从一个位姿运动到另一个位姿（按照现代机器人学的描述习惯，可改为位形进行描述）。</a:t>
            </a:r>
          </a:p>
          <a:p>
            <a:r>
              <a:rPr lang="zh-CN" altLang="zh-CN" sz="1200" kern="1200" dirty="0" smtClean="0">
                <a:solidFill>
                  <a:schemeClr val="tx1"/>
                </a:solidFill>
                <a:effectLst/>
                <a:latin typeface="+mn-lt"/>
                <a:ea typeface="+mn-ea"/>
                <a:cs typeface="+mn-cs"/>
              </a:rPr>
              <a:t>早期的机器人语言基本为动作级编程语言，例如</a:t>
            </a:r>
            <a:r>
              <a:rPr lang="en-US" altLang="zh-CN" sz="1200" kern="1200" dirty="0" smtClean="0">
                <a:solidFill>
                  <a:schemeClr val="tx1"/>
                </a:solidFill>
                <a:effectLst/>
                <a:latin typeface="+mn-lt"/>
                <a:ea typeface="+mn-ea"/>
                <a:cs typeface="+mn-cs"/>
              </a:rPr>
              <a:t>VAL</a:t>
            </a:r>
            <a:r>
              <a:rPr lang="zh-CN" altLang="zh-CN" sz="1200" kern="1200" dirty="0" smtClean="0">
                <a:solidFill>
                  <a:schemeClr val="tx1"/>
                </a:solidFill>
                <a:effectLst/>
                <a:latin typeface="+mn-lt"/>
                <a:ea typeface="+mn-ea"/>
                <a:cs typeface="+mn-cs"/>
              </a:rPr>
              <a:t>语言语句中“</a:t>
            </a:r>
            <a:r>
              <a:rPr lang="en-US" altLang="zh-CN" sz="1200" kern="1200" dirty="0" smtClean="0">
                <a:solidFill>
                  <a:schemeClr val="tx1"/>
                </a:solidFill>
                <a:effectLst/>
                <a:latin typeface="+mn-lt"/>
                <a:ea typeface="+mn-ea"/>
                <a:cs typeface="+mn-cs"/>
              </a:rPr>
              <a:t>MOVE TO (destination)</a:t>
            </a:r>
            <a:r>
              <a:rPr lang="zh-CN" altLang="zh-CN" sz="1200" kern="1200" dirty="0" smtClean="0">
                <a:solidFill>
                  <a:schemeClr val="tx1"/>
                </a:solidFill>
                <a:effectLst/>
                <a:latin typeface="+mn-lt"/>
                <a:ea typeface="+mn-ea"/>
                <a:cs typeface="+mn-cs"/>
              </a:rPr>
              <a:t>”的含义为：将机器人从当前位姿运动到目的位姿。动作级编程语言比较直观且容易编程，缺点就是功能受限。一般无法进行复杂的数学运算，也不能处理浮点数和字符串，子程序不能含有自变量，除了开关信息之外，无法处理复杂的传感器信息，与计算机通信的能力较差。</a:t>
            </a:r>
          </a:p>
          <a:p>
            <a:r>
              <a:rPr lang="zh-CN" altLang="zh-CN" sz="1200" kern="1200" dirty="0" smtClean="0">
                <a:solidFill>
                  <a:schemeClr val="tx1"/>
                </a:solidFill>
                <a:effectLst/>
                <a:latin typeface="+mn-lt"/>
                <a:ea typeface="+mn-ea"/>
                <a:cs typeface="+mn-cs"/>
              </a:rPr>
              <a:t>采用动作级编程语言编程时，需要注意参考坐标系的设立。其编程可分为关节级</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采用相对坐标系</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关节坐标系</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编程和末端执行器级</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采用绝对坐标系</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笛卡尔坐标系</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编程两种。</a:t>
            </a:r>
          </a:p>
          <a:p>
            <a:r>
              <a:rPr lang="zh-CN" altLang="zh-CN" sz="1200" b="1" kern="1200" dirty="0" smtClean="0">
                <a:solidFill>
                  <a:schemeClr val="tx1"/>
                </a:solidFill>
                <a:effectLst/>
                <a:latin typeface="+mn-lt"/>
                <a:ea typeface="+mn-ea"/>
                <a:cs typeface="+mn-cs"/>
              </a:rPr>
              <a:t>关节级编程</a:t>
            </a:r>
            <a:r>
              <a:rPr lang="zh-CN" altLang="zh-CN" sz="1200" kern="1200" dirty="0" smtClean="0">
                <a:solidFill>
                  <a:schemeClr val="tx1"/>
                </a:solidFill>
                <a:effectLst/>
                <a:latin typeface="+mn-lt"/>
                <a:ea typeface="+mn-ea"/>
                <a:cs typeface="+mn-cs"/>
              </a:rPr>
              <a:t>以机器人的关节为对象，编程时给出机器人一系列关节位置的时间序列，在关节坐标系中进行编程。对于直角坐标型机器人和圆柱坐标型机器人，由于直角关节和圆柱关节的表示比较简单，这种方法编程较为适用；而对于具有旋转关节的关节型机器人来说，由于关节位置的时间序列表示困难，即使一个简单的动作也要经过许多复杂的运算，故采用关节级编程，计算就会较为复杂。</a:t>
            </a:r>
          </a:p>
          <a:p>
            <a:r>
              <a:rPr lang="zh-CN" altLang="zh-CN" sz="1200" kern="1200" dirty="0" smtClean="0">
                <a:solidFill>
                  <a:schemeClr val="tx1"/>
                </a:solidFill>
                <a:effectLst/>
                <a:latin typeface="+mn-lt"/>
                <a:ea typeface="+mn-ea"/>
                <a:cs typeface="+mn-cs"/>
              </a:rPr>
              <a:t>关节级编程可通过简单的编程指令来实现，也可以通过示教器示教和键入示教实现。</a:t>
            </a:r>
          </a:p>
          <a:p>
            <a:r>
              <a:rPr lang="zh-CN" altLang="zh-CN" sz="1200" b="1" kern="1200" dirty="0" smtClean="0">
                <a:solidFill>
                  <a:schemeClr val="tx1"/>
                </a:solidFill>
                <a:effectLst/>
                <a:latin typeface="+mn-lt"/>
                <a:ea typeface="+mn-ea"/>
                <a:cs typeface="+mn-cs"/>
              </a:rPr>
              <a:t>末端执行器级编程</a:t>
            </a:r>
            <a:r>
              <a:rPr lang="zh-CN" altLang="zh-CN" sz="1200" kern="1200" dirty="0" smtClean="0">
                <a:solidFill>
                  <a:schemeClr val="tx1"/>
                </a:solidFill>
                <a:effectLst/>
                <a:latin typeface="+mn-lt"/>
                <a:ea typeface="+mn-ea"/>
                <a:cs typeface="+mn-cs"/>
              </a:rPr>
              <a:t>指在绝对坐标系下进行的编程，即参考坐标系为机器人作业空间的笛卡尔坐标系（直角坐标系）。在此直角坐标系中给出机器人末端执行器一系列位姿组成的位姿时间序列，连同其他一些辅助功能如力觉、触觉、视觉等时间序列，同时确定作业量、作业工具等，协调地进行机器人动作的控制。</a:t>
            </a:r>
          </a:p>
          <a:p>
            <a:r>
              <a:rPr lang="zh-CN" altLang="zh-CN" sz="1200" kern="1200" dirty="0" smtClean="0">
                <a:solidFill>
                  <a:schemeClr val="tx1"/>
                </a:solidFill>
                <a:effectLst/>
                <a:latin typeface="+mn-lt"/>
                <a:ea typeface="+mn-ea"/>
                <a:cs typeface="+mn-cs"/>
              </a:rPr>
              <a:t>这种编程方法允许有简单的条件分支，可以有感知功能，可以选择和设定工具，有时还可进行并行处理，数据实时处理能力比关节级编程模式强。</a:t>
            </a:r>
          </a:p>
          <a:p>
            <a:r>
              <a:rPr lang="zh-CN" altLang="zh-CN" sz="1200" kern="1200" dirty="0" smtClean="0">
                <a:solidFill>
                  <a:schemeClr val="tx1"/>
                </a:solidFill>
                <a:effectLst/>
                <a:latin typeface="+mn-lt"/>
                <a:ea typeface="+mn-ea"/>
                <a:cs typeface="+mn-cs"/>
              </a:rPr>
              <a:t>随着机器人语言解析技术的发展，在很多的工业机器人厂家推出的编程系统中，用户可以在关节坐标系和末端执行器坐标系等参考坐标系之间进行切换编程。</a:t>
            </a:r>
          </a:p>
          <a:p>
            <a:r>
              <a:rPr lang="en-US" altLang="zh-CN" sz="1200" b="1" kern="1200" dirty="0" smtClean="0">
                <a:solidFill>
                  <a:schemeClr val="tx1"/>
                </a:solidFill>
                <a:effectLst/>
                <a:latin typeface="+mn-lt"/>
                <a:ea typeface="+mn-ea"/>
                <a:cs typeface="+mn-cs"/>
              </a:rPr>
              <a:t>7.3.2 </a:t>
            </a:r>
            <a:r>
              <a:rPr lang="zh-CN" altLang="zh-CN" sz="1200" b="1" kern="1200" dirty="0" smtClean="0">
                <a:solidFill>
                  <a:schemeClr val="tx1"/>
                </a:solidFill>
                <a:effectLst/>
                <a:latin typeface="+mn-lt"/>
                <a:ea typeface="+mn-ea"/>
                <a:cs typeface="+mn-cs"/>
              </a:rPr>
              <a:t>对象级编程语言</a:t>
            </a:r>
          </a:p>
          <a:p>
            <a:r>
              <a:rPr lang="zh-CN" altLang="zh-CN" sz="1200" kern="1200" dirty="0" smtClean="0">
                <a:solidFill>
                  <a:schemeClr val="tx1"/>
                </a:solidFill>
                <a:effectLst/>
                <a:latin typeface="+mn-lt"/>
                <a:ea typeface="+mn-ea"/>
                <a:cs typeface="+mn-cs"/>
              </a:rPr>
              <a:t>对象级编程语言将作业及作业物体本身作为对象进行描述，采用一种类似于面向对象的编程思想进行编程。对象级编程语言不需要描述机器人具体操作动作，只需由编程人员用程序语句给出作业过程顺序的描述以及环境模型描述，也就是机器人与操作对象之间的关系描述，通过编译程序，机器人就能知道如何动作。</a:t>
            </a:r>
          </a:p>
          <a:p>
            <a:r>
              <a:rPr lang="en-US" altLang="zh-CN" sz="1200" kern="1200" dirty="0" smtClean="0">
                <a:solidFill>
                  <a:schemeClr val="tx1"/>
                </a:solidFill>
                <a:effectLst/>
                <a:latin typeface="+mn-lt"/>
                <a:ea typeface="+mn-ea"/>
                <a:cs typeface="+mn-cs"/>
              </a:rPr>
              <a:t>AML</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AUTOPASS</a:t>
            </a:r>
            <a:r>
              <a:rPr lang="zh-CN" altLang="zh-CN" sz="1200" kern="1200" dirty="0" smtClean="0">
                <a:solidFill>
                  <a:schemeClr val="tx1"/>
                </a:solidFill>
                <a:effectLst/>
                <a:latin typeface="+mn-lt"/>
                <a:ea typeface="+mn-ea"/>
                <a:cs typeface="+mn-cs"/>
              </a:rPr>
              <a:t>等语言属于对象级编程语言，其特点有：</a:t>
            </a:r>
          </a:p>
          <a:p>
            <a:r>
              <a:rPr lang="en-US" altLang="zh-CN" sz="1200" kern="1200" dirty="0" smtClean="0">
                <a:solidFill>
                  <a:schemeClr val="tx1"/>
                </a:solidFill>
                <a:effectLst/>
                <a:latin typeface="+mn-lt"/>
                <a:ea typeface="+mn-ea"/>
                <a:cs typeface="+mn-cs"/>
              </a:rPr>
              <a:t>(1) </a:t>
            </a:r>
            <a:r>
              <a:rPr lang="zh-CN" altLang="zh-CN" sz="1200" kern="1200" dirty="0" smtClean="0">
                <a:solidFill>
                  <a:schemeClr val="tx1"/>
                </a:solidFill>
                <a:effectLst/>
                <a:latin typeface="+mn-lt"/>
                <a:ea typeface="+mn-ea"/>
                <a:cs typeface="+mn-cs"/>
              </a:rPr>
              <a:t>具备动作级编程语言的全部功能；</a:t>
            </a:r>
          </a:p>
          <a:p>
            <a:r>
              <a:rPr lang="en-US" altLang="zh-CN" sz="1200" kern="1200" dirty="0" smtClean="0">
                <a:solidFill>
                  <a:schemeClr val="tx1"/>
                </a:solidFill>
                <a:effectLst/>
                <a:latin typeface="+mn-lt"/>
                <a:ea typeface="+mn-ea"/>
                <a:cs typeface="+mn-cs"/>
              </a:rPr>
              <a:t>(2) </a:t>
            </a:r>
            <a:r>
              <a:rPr lang="zh-CN" altLang="zh-CN" sz="1200" kern="1200" dirty="0" smtClean="0">
                <a:solidFill>
                  <a:schemeClr val="tx1"/>
                </a:solidFill>
                <a:effectLst/>
                <a:latin typeface="+mn-lt"/>
                <a:ea typeface="+mn-ea"/>
                <a:cs typeface="+mn-cs"/>
              </a:rPr>
              <a:t>有较强的感知能力，能处理复杂的传感器信息，可以利用传感器信息来修改、更新作业状态，也可以利用传感器信息进行控制、测试与监督；</a:t>
            </a:r>
          </a:p>
          <a:p>
            <a:r>
              <a:rPr lang="en-US" altLang="zh-CN" sz="1200" kern="1200" dirty="0" smtClean="0">
                <a:solidFill>
                  <a:schemeClr val="tx1"/>
                </a:solidFill>
                <a:effectLst/>
                <a:latin typeface="+mn-lt"/>
                <a:ea typeface="+mn-ea"/>
                <a:cs typeface="+mn-cs"/>
              </a:rPr>
              <a:t>(3) </a:t>
            </a:r>
            <a:r>
              <a:rPr lang="zh-CN" altLang="zh-CN" sz="1200" kern="1200" dirty="0" smtClean="0">
                <a:solidFill>
                  <a:schemeClr val="tx1"/>
                </a:solidFill>
                <a:effectLst/>
                <a:latin typeface="+mn-lt"/>
                <a:ea typeface="+mn-ea"/>
                <a:cs typeface="+mn-cs"/>
              </a:rPr>
              <a:t>开放性较好，系统一般提供二次开发平台，用户可以根据需要进行指令增加，扩展系统功能；</a:t>
            </a:r>
          </a:p>
          <a:p>
            <a:r>
              <a:rPr lang="en-US" altLang="zh-CN" sz="1200" kern="1200" dirty="0" smtClean="0">
                <a:solidFill>
                  <a:schemeClr val="tx1"/>
                </a:solidFill>
                <a:effectLst/>
                <a:latin typeface="+mn-lt"/>
                <a:ea typeface="+mn-ea"/>
                <a:cs typeface="+mn-cs"/>
              </a:rPr>
              <a:t>(4) </a:t>
            </a:r>
            <a:r>
              <a:rPr lang="zh-CN" altLang="zh-CN" sz="1200" kern="1200" dirty="0" smtClean="0">
                <a:solidFill>
                  <a:schemeClr val="tx1"/>
                </a:solidFill>
                <a:effectLst/>
                <a:latin typeface="+mn-lt"/>
                <a:ea typeface="+mn-ea"/>
                <a:cs typeface="+mn-cs"/>
              </a:rPr>
              <a:t>数字计算和数据处理能力强，可以处理浮点数，能与计算机之间进行实时通信。</a:t>
            </a:r>
          </a:p>
          <a:p>
            <a:r>
              <a:rPr lang="zh-CN" altLang="zh-CN" sz="1200" kern="1200" dirty="0" smtClean="0">
                <a:solidFill>
                  <a:schemeClr val="tx1"/>
                </a:solidFill>
                <a:effectLst/>
                <a:latin typeface="+mn-lt"/>
                <a:ea typeface="+mn-ea"/>
                <a:cs typeface="+mn-cs"/>
              </a:rPr>
              <a:t>对象级编程语言采用接近自然语言的方法描述对象变化。对象级编程语言的运算功能、作业对象的位姿时序、作业量、作业对象承受的力和力矩等都可以表达式的形式出现。系统中机器人尺寸参数、作业对象以及工具等参数等，一般以知识库或数据库的形式存在。系统编译程序时获取这些信息，并可对机器人动作过程进行仿真，实现对作业对象的位姿控制、避障以及与其他设备通信等工作。</a:t>
            </a:r>
          </a:p>
          <a:p>
            <a:r>
              <a:rPr lang="en-US" altLang="zh-CN" sz="1200" b="1" kern="1200" dirty="0" smtClean="0">
                <a:solidFill>
                  <a:schemeClr val="tx1"/>
                </a:solidFill>
                <a:effectLst/>
                <a:latin typeface="+mn-lt"/>
                <a:ea typeface="+mn-ea"/>
                <a:cs typeface="+mn-cs"/>
              </a:rPr>
              <a:t>7.2.3 </a:t>
            </a:r>
            <a:r>
              <a:rPr lang="zh-CN" altLang="zh-CN" sz="1200" b="1" kern="1200" dirty="0" smtClean="0">
                <a:solidFill>
                  <a:schemeClr val="tx1"/>
                </a:solidFill>
                <a:effectLst/>
                <a:latin typeface="+mn-lt"/>
                <a:ea typeface="+mn-ea"/>
                <a:cs typeface="+mn-cs"/>
              </a:rPr>
              <a:t>任务级编程语言</a:t>
            </a:r>
          </a:p>
          <a:p>
            <a:r>
              <a:rPr lang="zh-CN" altLang="zh-CN" sz="1200" kern="1200" dirty="0" smtClean="0">
                <a:solidFill>
                  <a:schemeClr val="tx1"/>
                </a:solidFill>
                <a:effectLst/>
                <a:latin typeface="+mn-lt"/>
                <a:ea typeface="+mn-ea"/>
                <a:cs typeface="+mn-cs"/>
              </a:rPr>
              <a:t>任务级编程语言不需要用机器人的动作来描述作业任务，也不需要描述机器人对象的中间状态过程，只需要按照某种规则描述机器人对象的初始状态和最终目标状态，机器人语言系统即可利用已有的环境信息和知识库、数据库自动进行推理、计算，从而自动生成机器人详细的动作、顺序和数据。</a:t>
            </a:r>
          </a:p>
          <a:p>
            <a:r>
              <a:rPr lang="zh-CN" altLang="zh-CN" sz="1200" kern="1200" dirty="0" smtClean="0">
                <a:solidFill>
                  <a:schemeClr val="tx1"/>
                </a:solidFill>
                <a:effectLst/>
                <a:latin typeface="+mn-lt"/>
                <a:ea typeface="+mn-ea"/>
                <a:cs typeface="+mn-cs"/>
              </a:rPr>
              <a:t>以机器人进行螺丝装配为例，螺丝的初始位置和装配后的目标位置已知，当发出装配螺丝的命令后，语言系统从初始位置到目标位置之间自动规划路径，在复杂的作业环境中找出一条不会与周围障碍物产生碰撞的合适路径，在初始位置处选择恰当的姿态抓取螺钉，并沿此路径运动到装配位置，然后进行力矩交互控制，最终将螺丝准确地拧紧到目标位置。在此过程中，作业中间状态、作业方案的设计、工序的选择、动作的前后安排等一系列问题都由计算机自动完成。</a:t>
            </a:r>
          </a:p>
          <a:p>
            <a:r>
              <a:rPr lang="zh-CN" altLang="zh-CN" sz="1200" kern="1200" dirty="0" smtClean="0">
                <a:solidFill>
                  <a:schemeClr val="tx1"/>
                </a:solidFill>
                <a:effectLst/>
                <a:latin typeface="+mn-lt"/>
                <a:ea typeface="+mn-ea"/>
                <a:cs typeface="+mn-cs"/>
              </a:rPr>
              <a:t>任务级编程语言的结构较为复杂，需要人工智能的理论基础和大型知识库、数据库的支持，目前还没有完善，是一种较为理想状态下的机器人编程语言，有待于进一步的研究。</a:t>
            </a:r>
          </a:p>
          <a:p>
            <a:r>
              <a:rPr lang="zh-CN" altLang="zh-CN" sz="1200" kern="1200" dirty="0" smtClean="0">
                <a:solidFill>
                  <a:schemeClr val="tx1"/>
                </a:solidFill>
                <a:effectLst/>
                <a:latin typeface="+mn-lt"/>
                <a:ea typeface="+mn-ea"/>
                <a:cs typeface="+mn-cs"/>
              </a:rPr>
              <a:t>随着人工智能技术的不断发展，人机交互技术</a:t>
            </a:r>
            <a:r>
              <a:rPr lang="en-US" altLang="zh-CN" sz="1200" kern="1200" dirty="0" smtClean="0">
                <a:solidFill>
                  <a:schemeClr val="tx1"/>
                </a:solidFill>
                <a:effectLst/>
                <a:latin typeface="+mn-lt"/>
                <a:ea typeface="+mn-ea"/>
                <a:cs typeface="+mn-cs"/>
              </a:rPr>
              <a:t>(HMI)</a:t>
            </a:r>
            <a:r>
              <a:rPr lang="zh-CN" altLang="zh-CN" sz="1200" kern="1200" dirty="0" smtClean="0">
                <a:solidFill>
                  <a:schemeClr val="tx1"/>
                </a:solidFill>
                <a:effectLst/>
                <a:latin typeface="+mn-lt"/>
                <a:ea typeface="+mn-ea"/>
                <a:cs typeface="+mn-cs"/>
              </a:rPr>
              <a:t>也在不断进步。等到基于自然语言的语义理解等理论与技术的发展成熟之后，机器人与人之间将来可能会出现无障碍的交流，机器人可能无需编程即可自动完成人类交付的作业任务。</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19</a:t>
            </a:fld>
            <a:endParaRPr lang="zh-CN" altLang="en-US"/>
          </a:p>
        </p:txBody>
      </p:sp>
    </p:spTree>
    <p:extLst>
      <p:ext uri="{BB962C8B-B14F-4D97-AF65-F5344CB8AC3E}">
        <p14:creationId xmlns:p14="http://schemas.microsoft.com/office/powerpoint/2010/main" val="2209661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先进的机器人编程语言需要达到如下要求：</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）支持多种坐标系编程</a:t>
            </a:r>
          </a:p>
          <a:p>
            <a:r>
              <a:rPr lang="zh-CN" altLang="zh-CN" sz="1200" kern="1200" dirty="0" smtClean="0">
                <a:solidFill>
                  <a:schemeClr val="tx1"/>
                </a:solidFill>
                <a:effectLst/>
                <a:latin typeface="+mn-lt"/>
                <a:ea typeface="+mn-ea"/>
                <a:cs typeface="+mn-cs"/>
              </a:rPr>
              <a:t>在进行机器人编程时，除了建立绝对坐标系（世界坐标系）之外，为了方便机器人工作，还应支持建立其他坐标系，如关节坐标系、末端执行器坐标系、作业对象坐标系等参考坐标系，同时建立这些坐标系之间的转换关系。</a:t>
            </a: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）支持基本的程序设计常用结构</a:t>
            </a:r>
          </a:p>
          <a:p>
            <a:r>
              <a:rPr lang="zh-CN" altLang="zh-CN" sz="1200" kern="1200" dirty="0" smtClean="0">
                <a:solidFill>
                  <a:schemeClr val="tx1"/>
                </a:solidFill>
                <a:effectLst/>
                <a:latin typeface="+mn-lt"/>
                <a:ea typeface="+mn-ea"/>
                <a:cs typeface="+mn-cs"/>
              </a:rPr>
              <a:t>机器人编程系统应该支持基本的程序控制结构，包括简单程序、等待程序、分支程序、循环程序、子程序以至中断程序等结构化编程方法。</a:t>
            </a:r>
          </a:p>
          <a:p>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）支持机器人作业描述</a:t>
            </a:r>
          </a:p>
          <a:p>
            <a:r>
              <a:rPr lang="zh-CN" altLang="zh-CN" sz="1200" kern="1200" dirty="0" smtClean="0">
                <a:solidFill>
                  <a:schemeClr val="tx1"/>
                </a:solidFill>
                <a:effectLst/>
                <a:latin typeface="+mn-lt"/>
                <a:ea typeface="+mn-ea"/>
                <a:cs typeface="+mn-cs"/>
              </a:rPr>
              <a:t>机器人作业的描述与其环境模型密切相关，编程语言水平决定了描述水平。现有的机器人语言需要给出作业顺序，由语法和词法定义输入语句，并由它描述整个作业过程。先进的机器人编程语言可以支持任务级的作业描述，只需要按照某种规则描述机器人对象的初始状态和最终目标状态，机器人语言系统即可利用已有的环境信息和知识库、数据库自动进行推理、计算，从而自动生成机器人详细的动作、顺序和数据。</a:t>
            </a:r>
          </a:p>
          <a:p>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）支持多种运动规划</a:t>
            </a:r>
          </a:p>
          <a:p>
            <a:r>
              <a:rPr lang="zh-CN" altLang="zh-CN" sz="1200" kern="1200" dirty="0" smtClean="0">
                <a:solidFill>
                  <a:schemeClr val="tx1"/>
                </a:solidFill>
                <a:effectLst/>
                <a:latin typeface="+mn-lt"/>
                <a:ea typeface="+mn-ea"/>
                <a:cs typeface="+mn-cs"/>
              </a:rPr>
              <a:t>描述机器人需要进行的运动是机器人编程语言的基本功能之一。用户能够运用语言中的运动语句，可选择与多种路径规划器连接，允许用户规定路径上的点及目标点，决定采用何种规划算法以及避障算法。</a:t>
            </a:r>
          </a:p>
          <a:p>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）具有良好的编程环境</a:t>
            </a:r>
          </a:p>
          <a:p>
            <a:r>
              <a:rPr lang="zh-CN" altLang="zh-CN" sz="1200" kern="1200" dirty="0" smtClean="0">
                <a:solidFill>
                  <a:schemeClr val="tx1"/>
                </a:solidFill>
                <a:effectLst/>
                <a:latin typeface="+mn-lt"/>
                <a:ea typeface="+mn-ea"/>
                <a:cs typeface="+mn-cs"/>
              </a:rPr>
              <a:t>如同任何计算机系统一样，一个好的编程环境有助于提高程序员的工作效率。好的编程系统应具有下列功能：</a:t>
            </a:r>
          </a:p>
          <a:p>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）在线修改和重启功能</a:t>
            </a:r>
          </a:p>
          <a:p>
            <a:r>
              <a:rPr lang="zh-CN" altLang="zh-CN" sz="1200" kern="1200" dirty="0" smtClean="0">
                <a:solidFill>
                  <a:schemeClr val="tx1"/>
                </a:solidFill>
                <a:effectLst/>
                <a:latin typeface="+mn-lt"/>
                <a:ea typeface="+mn-ea"/>
                <a:cs typeface="+mn-cs"/>
              </a:rPr>
              <a:t>机器人在作业时需要执行复杂的动作和花费较长的执行时间，当任务在某一阶段失败后，从头开始运行程序并不总是可行，因此需要编程软件或系统必须有在线修改程序和随时重新启动的功能。</a:t>
            </a:r>
          </a:p>
          <a:p>
            <a:r>
              <a:rPr lang="en-US" altLang="zh-CN" sz="1200" kern="1200" dirty="0" smtClean="0">
                <a:solidFill>
                  <a:schemeClr val="tx1"/>
                </a:solidFill>
                <a:effectLst/>
                <a:latin typeface="+mn-lt"/>
                <a:ea typeface="+mn-ea"/>
                <a:cs typeface="+mn-cs"/>
              </a:rPr>
              <a:t>2</a:t>
            </a:r>
            <a:r>
              <a:rPr lang="zh-CN" altLang="zh-CN" sz="1200" kern="1200" dirty="0" smtClean="0">
                <a:solidFill>
                  <a:schemeClr val="tx1"/>
                </a:solidFill>
                <a:effectLst/>
                <a:latin typeface="+mn-lt"/>
                <a:ea typeface="+mn-ea"/>
                <a:cs typeface="+mn-cs"/>
              </a:rPr>
              <a:t>）传感器输出和程序追踪功能</a:t>
            </a:r>
          </a:p>
          <a:p>
            <a:r>
              <a:rPr lang="zh-CN" altLang="zh-CN" sz="1200" kern="1200" dirty="0" smtClean="0">
                <a:solidFill>
                  <a:schemeClr val="tx1"/>
                </a:solidFill>
                <a:effectLst/>
                <a:latin typeface="+mn-lt"/>
                <a:ea typeface="+mn-ea"/>
                <a:cs typeface="+mn-cs"/>
              </a:rPr>
              <a:t>因为机器人和环境之间的实时相互作用常常不能重复，因此编程系统应能随着程序追踪记录传感器的输入输出值。</a:t>
            </a:r>
          </a:p>
          <a:p>
            <a:r>
              <a:rPr lang="en-US" altLang="zh-CN" sz="1200" kern="1200" dirty="0" smtClean="0">
                <a:solidFill>
                  <a:schemeClr val="tx1"/>
                </a:solidFill>
                <a:effectLst/>
                <a:latin typeface="+mn-lt"/>
                <a:ea typeface="+mn-ea"/>
                <a:cs typeface="+mn-cs"/>
              </a:rPr>
              <a:t>3</a:t>
            </a:r>
            <a:r>
              <a:rPr lang="zh-CN" altLang="zh-CN" sz="1200" kern="1200" dirty="0" smtClean="0">
                <a:solidFill>
                  <a:schemeClr val="tx1"/>
                </a:solidFill>
                <a:effectLst/>
                <a:latin typeface="+mn-lt"/>
                <a:ea typeface="+mn-ea"/>
                <a:cs typeface="+mn-cs"/>
              </a:rPr>
              <a:t>） 仿真功能</a:t>
            </a:r>
          </a:p>
          <a:p>
            <a:r>
              <a:rPr lang="zh-CN" altLang="zh-CN" sz="1200" kern="1200" dirty="0" smtClean="0">
                <a:solidFill>
                  <a:schemeClr val="tx1"/>
                </a:solidFill>
                <a:effectLst/>
                <a:latin typeface="+mn-lt"/>
                <a:ea typeface="+mn-ea"/>
                <a:cs typeface="+mn-cs"/>
              </a:rPr>
              <a:t>可以在没有机器人实体和工作环境的情况下进行不同任务程序的模拟调试。</a:t>
            </a:r>
          </a:p>
          <a:p>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）人机接口和综合传感信号</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20</a:t>
            </a:fld>
            <a:endParaRPr lang="zh-CN" altLang="en-US"/>
          </a:p>
        </p:txBody>
      </p:sp>
    </p:spTree>
    <p:extLst>
      <p:ext uri="{BB962C8B-B14F-4D97-AF65-F5344CB8AC3E}">
        <p14:creationId xmlns:p14="http://schemas.microsoft.com/office/powerpoint/2010/main" val="21706378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21</a:t>
            </a:fld>
            <a:endParaRPr lang="zh-CN" altLang="en-US"/>
          </a:p>
        </p:txBody>
      </p:sp>
    </p:spTree>
    <p:extLst>
      <p:ext uri="{BB962C8B-B14F-4D97-AF65-F5344CB8AC3E}">
        <p14:creationId xmlns:p14="http://schemas.microsoft.com/office/powerpoint/2010/main" val="1304348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在图</a:t>
            </a:r>
            <a:r>
              <a:rPr lang="en-US" altLang="zh-CN" sz="1200" kern="1200" dirty="0" smtClean="0">
                <a:solidFill>
                  <a:schemeClr val="tx1"/>
                </a:solidFill>
                <a:effectLst/>
                <a:latin typeface="+mn-lt"/>
                <a:ea typeface="+mn-ea"/>
                <a:cs typeface="+mn-cs"/>
              </a:rPr>
              <a:t>7.6</a:t>
            </a:r>
            <a:r>
              <a:rPr lang="zh-CN" altLang="zh-CN" sz="1200" kern="1200" dirty="0" smtClean="0">
                <a:solidFill>
                  <a:schemeClr val="tx1"/>
                </a:solidFill>
                <a:effectLst/>
                <a:latin typeface="+mn-lt"/>
                <a:ea typeface="+mn-ea"/>
                <a:cs typeface="+mn-cs"/>
              </a:rPr>
              <a:t>中，机器人解析器的实现被分为三个主要的步骤，包括机器人语言的解析过程、编译过程和执行过程，其中机器人语言解析过程中会利用到词法分析、语法分析等处理。</a:t>
            </a:r>
          </a:p>
          <a:p>
            <a:r>
              <a:rPr lang="zh-CN" altLang="zh-CN" sz="1200" kern="1200" dirty="0" smtClean="0">
                <a:solidFill>
                  <a:schemeClr val="tx1"/>
                </a:solidFill>
                <a:effectLst/>
                <a:latin typeface="+mn-lt"/>
                <a:ea typeface="+mn-ea"/>
                <a:cs typeface="+mn-cs"/>
              </a:rPr>
              <a:t>该解析器首先获取一行机器人指令（</a:t>
            </a:r>
            <a:r>
              <a:rPr lang="en-US" altLang="zh-CN" sz="1200" kern="1200" dirty="0" err="1" smtClean="0">
                <a:solidFill>
                  <a:schemeClr val="tx1"/>
                </a:solidFill>
                <a:effectLst/>
                <a:latin typeface="+mn-lt"/>
                <a:ea typeface="+mn-ea"/>
                <a:cs typeface="+mn-cs"/>
              </a:rPr>
              <a:t>getTextLine</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函数）。之后开始解析指令（</a:t>
            </a:r>
            <a:r>
              <a:rPr lang="en-US" altLang="zh-CN" sz="1200" kern="1200" dirty="0" err="1" smtClean="0">
                <a:solidFill>
                  <a:schemeClr val="tx1"/>
                </a:solidFill>
                <a:effectLst/>
                <a:latin typeface="+mn-lt"/>
                <a:ea typeface="+mn-ea"/>
                <a:cs typeface="+mn-cs"/>
              </a:rPr>
              <a:t>parserCmd</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函数，完整的解析过程包括词法分析</a:t>
            </a:r>
            <a:r>
              <a:rPr lang="en-US" altLang="zh-CN" sz="1200" kern="1200" dirty="0" smtClean="0">
                <a:solidFill>
                  <a:schemeClr val="tx1"/>
                </a:solidFill>
                <a:effectLst/>
                <a:latin typeface="+mn-lt"/>
                <a:ea typeface="+mn-ea"/>
                <a:cs typeface="+mn-cs"/>
              </a:rPr>
              <a:t>tokenizer()</a:t>
            </a:r>
            <a:r>
              <a:rPr lang="zh-CN" altLang="zh-CN" sz="1200" kern="1200" dirty="0" smtClean="0">
                <a:solidFill>
                  <a:schemeClr val="tx1"/>
                </a:solidFill>
                <a:effectLst/>
                <a:latin typeface="+mn-lt"/>
                <a:ea typeface="+mn-ea"/>
                <a:cs typeface="+mn-cs"/>
              </a:rPr>
              <a:t>、语法分析</a:t>
            </a:r>
            <a:r>
              <a:rPr lang="en-US" altLang="zh-CN" sz="1200" kern="1200" dirty="0" smtClean="0">
                <a:solidFill>
                  <a:schemeClr val="tx1"/>
                </a:solidFill>
                <a:effectLst/>
                <a:latin typeface="+mn-lt"/>
                <a:ea typeface="+mn-ea"/>
                <a:cs typeface="+mn-cs"/>
              </a:rPr>
              <a:t>parser()</a:t>
            </a:r>
            <a:r>
              <a:rPr lang="zh-CN" altLang="zh-CN" sz="1200" kern="1200" dirty="0" smtClean="0">
                <a:solidFill>
                  <a:schemeClr val="tx1"/>
                </a:solidFill>
                <a:effectLst/>
                <a:latin typeface="+mn-lt"/>
                <a:ea typeface="+mn-ea"/>
                <a:cs typeface="+mn-cs"/>
              </a:rPr>
              <a:t>，如果需要完成语义理解的功能，可以加入语义分析）。在指令解析完成后，可以生成一个编译矩阵。随后编译函数将获取的编译矩阵按行编译成可执行的指令矩阵</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或模块化关节通信指令</a:t>
            </a:r>
            <a:r>
              <a:rPr lang="en-US" altLang="zh-CN" sz="1200" kern="1200" dirty="0" smtClean="0">
                <a:solidFill>
                  <a:schemeClr val="tx1"/>
                </a:solidFill>
                <a:effectLst/>
                <a:latin typeface="+mn-lt"/>
                <a:ea typeface="+mn-ea"/>
                <a:cs typeface="+mn-cs"/>
              </a:rPr>
              <a:t>)</a:t>
            </a:r>
            <a:r>
              <a:rPr lang="zh-CN" altLang="zh-CN" sz="1200" kern="1200" dirty="0" smtClean="0">
                <a:solidFill>
                  <a:schemeClr val="tx1"/>
                </a:solidFill>
                <a:effectLst/>
                <a:latin typeface="+mn-lt"/>
                <a:ea typeface="+mn-ea"/>
                <a:cs typeface="+mn-cs"/>
              </a:rPr>
              <a:t>。由此，程序控制主流程一直循环获取机器人指令文件直到结束。最终执行函数调用生成的指令矩阵，按行执行驱动机械臂，即可控制机械臂完成作业任务。</a:t>
            </a:r>
          </a:p>
          <a:p>
            <a:r>
              <a:rPr lang="zh-CN" altLang="zh-CN" sz="1200" kern="1200" dirty="0" smtClean="0">
                <a:solidFill>
                  <a:schemeClr val="tx1"/>
                </a:solidFill>
                <a:effectLst/>
                <a:latin typeface="+mn-lt"/>
                <a:ea typeface="+mn-ea"/>
                <a:cs typeface="+mn-cs"/>
              </a:rPr>
              <a:t>综合了解前面介绍过的典型工业机器人语言可以总结出：每一种机器人语言基本都包含了变量定义指令、算术指令、控制指令、状态指令以及移动指令等基本指令。</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22</a:t>
            </a:fld>
            <a:endParaRPr lang="zh-CN" altLang="en-US"/>
          </a:p>
        </p:txBody>
      </p:sp>
    </p:spTree>
    <p:extLst>
      <p:ext uri="{BB962C8B-B14F-4D97-AF65-F5344CB8AC3E}">
        <p14:creationId xmlns:p14="http://schemas.microsoft.com/office/powerpoint/2010/main" val="32216069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综合了解前面介绍过的典型工业机器人语言可以总结出：每一种机器人语言基本都包含了变量定义指令、算术指令、控制指令、状态指令以及移动指令等基本指令。接下来，本节以一个实例讲解机器人语言解析器的实现。</a:t>
            </a:r>
          </a:p>
          <a:p>
            <a:r>
              <a:rPr lang="zh-CN" altLang="zh-CN" sz="1200" kern="1200" dirty="0" smtClean="0">
                <a:solidFill>
                  <a:schemeClr val="tx1"/>
                </a:solidFill>
                <a:effectLst/>
                <a:latin typeface="+mn-lt"/>
                <a:ea typeface="+mn-ea"/>
                <a:cs typeface="+mn-cs"/>
              </a:rPr>
              <a:t>为了方便起见，本教材仅介绍包含两条变量定义指令（</a:t>
            </a:r>
            <a:r>
              <a:rPr lang="en-US" altLang="zh-CN" sz="1200" kern="1200" dirty="0" smtClean="0">
                <a:solidFill>
                  <a:schemeClr val="tx1"/>
                </a:solidFill>
                <a:effectLst/>
                <a:latin typeface="+mn-lt"/>
                <a:ea typeface="+mn-ea"/>
                <a:cs typeface="+mn-cs"/>
              </a:rPr>
              <a:t>DEFN</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DEFX</a:t>
            </a:r>
            <a:r>
              <a:rPr lang="zh-CN" altLang="zh-CN" sz="1200" kern="1200" dirty="0" smtClean="0">
                <a:solidFill>
                  <a:schemeClr val="tx1"/>
                </a:solidFill>
                <a:effectLst/>
                <a:latin typeface="+mn-lt"/>
                <a:ea typeface="+mn-ea"/>
                <a:cs typeface="+mn-cs"/>
              </a:rPr>
              <a:t>）、三条状态指令</a:t>
            </a:r>
            <a:r>
              <a:rPr lang="en-US" altLang="zh-CN" sz="1200" kern="1200" dirty="0" smtClean="0">
                <a:solidFill>
                  <a:schemeClr val="tx1"/>
                </a:solidFill>
                <a:effectLst/>
                <a:latin typeface="+mn-lt"/>
                <a:ea typeface="+mn-ea"/>
                <a:cs typeface="+mn-cs"/>
              </a:rPr>
              <a:t>(INIT</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BEGIN</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END)</a:t>
            </a:r>
            <a:r>
              <a:rPr lang="zh-CN" altLang="zh-CN" sz="1200" kern="1200" dirty="0" smtClean="0">
                <a:solidFill>
                  <a:schemeClr val="tx1"/>
                </a:solidFill>
                <a:effectLst/>
                <a:latin typeface="+mn-lt"/>
                <a:ea typeface="+mn-ea"/>
                <a:cs typeface="+mn-cs"/>
              </a:rPr>
              <a:t>、三条移动指令</a:t>
            </a:r>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MOVEL</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MOVEJ)</a:t>
            </a:r>
            <a:r>
              <a:rPr lang="zh-CN" altLang="zh-CN" sz="1200" kern="1200" dirty="0" smtClean="0">
                <a:solidFill>
                  <a:schemeClr val="tx1"/>
                </a:solidFill>
                <a:effectLst/>
                <a:latin typeface="+mn-lt"/>
                <a:ea typeface="+mn-ea"/>
                <a:cs typeface="+mn-cs"/>
              </a:rPr>
              <a:t>的最小指令集解析器的设计。</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23</a:t>
            </a:fld>
            <a:endParaRPr lang="zh-CN" altLang="en-US"/>
          </a:p>
        </p:txBody>
      </p:sp>
    </p:spTree>
    <p:extLst>
      <p:ext uri="{BB962C8B-B14F-4D97-AF65-F5344CB8AC3E}">
        <p14:creationId xmlns:p14="http://schemas.microsoft.com/office/powerpoint/2010/main" val="30394498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机器人状态指令包括初始化状态命令</a:t>
            </a:r>
            <a:r>
              <a:rPr lang="en-US" altLang="zh-CN" sz="1200" kern="1200" dirty="0" smtClean="0">
                <a:solidFill>
                  <a:schemeClr val="tx1"/>
                </a:solidFill>
                <a:effectLst/>
                <a:latin typeface="+mn-lt"/>
                <a:ea typeface="+mn-ea"/>
                <a:cs typeface="+mn-cs"/>
              </a:rPr>
              <a:t>(INIT)</a:t>
            </a:r>
            <a:r>
              <a:rPr lang="zh-CN" altLang="zh-CN" sz="1200" kern="1200" dirty="0" smtClean="0">
                <a:solidFill>
                  <a:schemeClr val="tx1"/>
                </a:solidFill>
                <a:effectLst/>
                <a:latin typeface="+mn-lt"/>
                <a:ea typeface="+mn-ea"/>
                <a:cs typeface="+mn-cs"/>
              </a:rPr>
              <a:t>、准备状态命令</a:t>
            </a:r>
            <a:r>
              <a:rPr lang="en-US" altLang="zh-CN" sz="1200" kern="1200" dirty="0" smtClean="0">
                <a:solidFill>
                  <a:schemeClr val="tx1"/>
                </a:solidFill>
                <a:effectLst/>
                <a:latin typeface="+mn-lt"/>
                <a:ea typeface="+mn-ea"/>
                <a:cs typeface="+mn-cs"/>
              </a:rPr>
              <a:t>(BEGIN)</a:t>
            </a:r>
            <a:r>
              <a:rPr lang="zh-CN" altLang="zh-CN" sz="1200" kern="1200" dirty="0" smtClean="0">
                <a:solidFill>
                  <a:schemeClr val="tx1"/>
                </a:solidFill>
                <a:effectLst/>
                <a:latin typeface="+mn-lt"/>
                <a:ea typeface="+mn-ea"/>
                <a:cs typeface="+mn-cs"/>
              </a:rPr>
              <a:t>以及程序结束指令</a:t>
            </a:r>
            <a:r>
              <a:rPr lang="en-US" altLang="zh-CN" sz="1200" kern="1200" dirty="0" smtClean="0">
                <a:solidFill>
                  <a:schemeClr val="tx1"/>
                </a:solidFill>
                <a:effectLst/>
                <a:latin typeface="+mn-lt"/>
                <a:ea typeface="+mn-ea"/>
                <a:cs typeface="+mn-cs"/>
              </a:rPr>
              <a:t>(END)</a:t>
            </a:r>
            <a:r>
              <a:rPr lang="zh-CN" altLang="zh-CN" sz="1200" kern="1200" dirty="0" smtClean="0">
                <a:solidFill>
                  <a:schemeClr val="tx1"/>
                </a:solidFill>
                <a:effectLst/>
                <a:latin typeface="+mn-lt"/>
                <a:ea typeface="+mn-ea"/>
                <a:cs typeface="+mn-cs"/>
              </a:rPr>
              <a:t>，初始化状态命令结构图如图</a:t>
            </a:r>
            <a:r>
              <a:rPr lang="en-US" altLang="zh-CN" sz="1200" kern="1200" dirty="0" smtClean="0">
                <a:solidFill>
                  <a:schemeClr val="tx1"/>
                </a:solidFill>
                <a:effectLst/>
                <a:latin typeface="+mn-lt"/>
                <a:ea typeface="+mn-ea"/>
                <a:cs typeface="+mn-cs"/>
              </a:rPr>
              <a:t>7.7</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初始化状态命令名称：</a:t>
            </a:r>
            <a:r>
              <a:rPr lang="en-US" altLang="zh-CN" sz="1200" kern="1200" dirty="0" smtClean="0">
                <a:solidFill>
                  <a:schemeClr val="tx1"/>
                </a:solidFill>
                <a:effectLst/>
                <a:latin typeface="+mn-lt"/>
                <a:ea typeface="+mn-ea"/>
                <a:cs typeface="+mn-cs"/>
              </a:rPr>
              <a:t>INIT</a:t>
            </a:r>
            <a:r>
              <a:rPr lang="zh-CN" altLang="zh-CN" sz="1200" kern="1200" dirty="0" smtClean="0">
                <a:solidFill>
                  <a:schemeClr val="tx1"/>
                </a:solidFill>
                <a:effectLst/>
                <a:latin typeface="+mn-lt"/>
                <a:ea typeface="+mn-ea"/>
                <a:cs typeface="+mn-cs"/>
              </a:rPr>
              <a:t>。功能：初始化机械臂状态（变量，关节，位置）。 举例如下： </a:t>
            </a:r>
          </a:p>
          <a:p>
            <a:r>
              <a:rPr lang="en-US" altLang="zh-CN" sz="1200" kern="1200" dirty="0" smtClean="0">
                <a:solidFill>
                  <a:schemeClr val="tx1"/>
                </a:solidFill>
                <a:effectLst/>
                <a:latin typeface="+mn-lt"/>
                <a:ea typeface="+mn-ea"/>
                <a:cs typeface="+mn-cs"/>
              </a:rPr>
              <a:t>INIT</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说明：初始化机械臂状态。</a:t>
            </a:r>
          </a:p>
          <a:p>
            <a:r>
              <a:rPr lang="zh-CN" altLang="zh-CN" sz="1200" kern="1200" dirty="0" smtClean="0">
                <a:solidFill>
                  <a:schemeClr val="tx1"/>
                </a:solidFill>
                <a:effectLst/>
                <a:latin typeface="+mn-lt"/>
                <a:ea typeface="+mn-ea"/>
                <a:cs typeface="+mn-cs"/>
              </a:rPr>
              <a:t>准备状态命令</a:t>
            </a:r>
            <a:r>
              <a:rPr lang="en-US" altLang="zh-CN" sz="1200" kern="1200" dirty="0" smtClean="0">
                <a:solidFill>
                  <a:schemeClr val="tx1"/>
                </a:solidFill>
                <a:effectLst/>
                <a:latin typeface="+mn-lt"/>
                <a:ea typeface="+mn-ea"/>
                <a:cs typeface="+mn-cs"/>
              </a:rPr>
              <a:t>(BEGIN) </a:t>
            </a:r>
            <a:r>
              <a:rPr lang="zh-CN" altLang="zh-CN" sz="1200" kern="1200" dirty="0" smtClean="0">
                <a:solidFill>
                  <a:schemeClr val="tx1"/>
                </a:solidFill>
                <a:effectLst/>
                <a:latin typeface="+mn-lt"/>
                <a:ea typeface="+mn-ea"/>
                <a:cs typeface="+mn-cs"/>
              </a:rPr>
              <a:t>用法示意图如图</a:t>
            </a:r>
            <a:r>
              <a:rPr lang="en-US" altLang="zh-CN" sz="1200" kern="1200" dirty="0" smtClean="0">
                <a:solidFill>
                  <a:schemeClr val="tx1"/>
                </a:solidFill>
                <a:effectLst/>
                <a:latin typeface="+mn-lt"/>
                <a:ea typeface="+mn-ea"/>
                <a:cs typeface="+mn-cs"/>
              </a:rPr>
              <a:t>7.8</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准备状态命令名称：</a:t>
            </a:r>
            <a:r>
              <a:rPr lang="en-US" altLang="zh-CN" sz="1200" kern="1200" dirty="0" smtClean="0">
                <a:solidFill>
                  <a:schemeClr val="tx1"/>
                </a:solidFill>
                <a:effectLst/>
                <a:latin typeface="+mn-lt"/>
                <a:ea typeface="+mn-ea"/>
                <a:cs typeface="+mn-cs"/>
              </a:rPr>
              <a:t>BEGIN</a:t>
            </a:r>
            <a:r>
              <a:rPr lang="zh-CN" altLang="zh-CN" sz="1200" kern="1200" dirty="0" smtClean="0">
                <a:solidFill>
                  <a:schemeClr val="tx1"/>
                </a:solidFill>
                <a:effectLst/>
                <a:latin typeface="+mn-lt"/>
                <a:ea typeface="+mn-ea"/>
                <a:cs typeface="+mn-cs"/>
              </a:rPr>
              <a:t>，功能：将机械臂移动至准备状态。举例如下：</a:t>
            </a:r>
          </a:p>
          <a:p>
            <a:r>
              <a:rPr lang="en-US" altLang="zh-CN" sz="1200" kern="1200" dirty="0" smtClean="0">
                <a:solidFill>
                  <a:schemeClr val="tx1"/>
                </a:solidFill>
                <a:effectLst/>
                <a:latin typeface="+mn-lt"/>
                <a:ea typeface="+mn-ea"/>
                <a:cs typeface="+mn-cs"/>
              </a:rPr>
              <a:t>BEGIN</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说明：将机械臂移动至准备状态。</a:t>
            </a:r>
          </a:p>
          <a:p>
            <a:r>
              <a:rPr lang="en-US" altLang="zh-CN" sz="1200" kern="1200" dirty="0" smtClean="0">
                <a:solidFill>
                  <a:schemeClr val="tx1"/>
                </a:solidFill>
                <a:effectLst/>
                <a:latin typeface="+mn-lt"/>
                <a:ea typeface="+mn-ea"/>
                <a:cs typeface="+mn-cs"/>
              </a:rPr>
              <a:t>BEGIN   J1</a:t>
            </a:r>
          </a:p>
          <a:p>
            <a:r>
              <a:rPr lang="zh-CN" altLang="zh-CN" sz="1200" kern="1200" dirty="0" smtClean="0">
                <a:solidFill>
                  <a:schemeClr val="tx1"/>
                </a:solidFill>
                <a:effectLst/>
                <a:latin typeface="+mn-lt"/>
                <a:ea typeface="+mn-ea"/>
                <a:cs typeface="+mn-cs"/>
              </a:rPr>
              <a:t>说明：将</a:t>
            </a:r>
            <a:r>
              <a:rPr lang="en-US" altLang="zh-CN" sz="1200" kern="1200" dirty="0" smtClean="0">
                <a:solidFill>
                  <a:schemeClr val="tx1"/>
                </a:solidFill>
                <a:effectLst/>
                <a:latin typeface="+mn-lt"/>
                <a:ea typeface="+mn-ea"/>
                <a:cs typeface="+mn-cs"/>
              </a:rPr>
              <a:t>J1(</a:t>
            </a:r>
            <a:r>
              <a:rPr lang="zh-CN" altLang="zh-CN" sz="1200" kern="1200" dirty="0" smtClean="0">
                <a:solidFill>
                  <a:schemeClr val="tx1"/>
                </a:solidFill>
                <a:effectLst/>
                <a:latin typeface="+mn-lt"/>
                <a:ea typeface="+mn-ea"/>
                <a:cs typeface="+mn-cs"/>
              </a:rPr>
              <a:t>这里代指机械臂关节</a:t>
            </a:r>
            <a:r>
              <a:rPr lang="en-US" altLang="zh-CN" sz="1200" kern="1200" dirty="0" smtClean="0">
                <a:solidFill>
                  <a:schemeClr val="tx1"/>
                </a:solidFill>
                <a:effectLst/>
                <a:latin typeface="+mn-lt"/>
                <a:ea typeface="+mn-ea"/>
                <a:cs typeface="+mn-cs"/>
              </a:rPr>
              <a:t>1)</a:t>
            </a:r>
            <a:r>
              <a:rPr lang="zh-CN" altLang="zh-CN" sz="1200" kern="1200" dirty="0" smtClean="0">
                <a:solidFill>
                  <a:schemeClr val="tx1"/>
                </a:solidFill>
                <a:effectLst/>
                <a:latin typeface="+mn-lt"/>
                <a:ea typeface="+mn-ea"/>
                <a:cs typeface="+mn-cs"/>
              </a:rPr>
              <a:t>状态设为准备状态并移动至此。</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24</a:t>
            </a:fld>
            <a:endParaRPr lang="zh-CN" altLang="en-US"/>
          </a:p>
        </p:txBody>
      </p:sp>
    </p:spTree>
    <p:extLst>
      <p:ext uri="{BB962C8B-B14F-4D97-AF65-F5344CB8AC3E}">
        <p14:creationId xmlns:p14="http://schemas.microsoft.com/office/powerpoint/2010/main" val="30270576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一般工业机器人移动指令包括</a:t>
            </a:r>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MOVEL</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MOVEJ</a:t>
            </a:r>
            <a:r>
              <a:rPr lang="zh-CN" altLang="zh-CN" sz="1200" kern="1200" dirty="0" smtClean="0">
                <a:solidFill>
                  <a:schemeClr val="tx1"/>
                </a:solidFill>
                <a:effectLst/>
                <a:latin typeface="+mn-lt"/>
                <a:ea typeface="+mn-ea"/>
                <a:cs typeface="+mn-cs"/>
              </a:rPr>
              <a:t>三种移动指令，移动指令的总体结构图如图</a:t>
            </a:r>
            <a:r>
              <a:rPr lang="en-US" altLang="zh-CN" sz="1200" kern="1200" dirty="0" smtClean="0">
                <a:solidFill>
                  <a:schemeClr val="tx1"/>
                </a:solidFill>
                <a:effectLst/>
                <a:latin typeface="+mn-lt"/>
                <a:ea typeface="+mn-ea"/>
                <a:cs typeface="+mn-cs"/>
              </a:rPr>
              <a:t>7.9</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移动指令名称：</a:t>
            </a:r>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，功能：在关节坐标系中进行点到点的轨迹规划（关节空间插补），然后控制机械臂按规划轨迹进行移动。举例如下： </a:t>
            </a:r>
          </a:p>
          <a:p>
            <a:r>
              <a:rPr lang="en-US" altLang="zh-CN" sz="1200" kern="1200" dirty="0" smtClean="0">
                <a:solidFill>
                  <a:schemeClr val="tx1"/>
                </a:solidFill>
                <a:effectLst/>
                <a:latin typeface="+mn-lt"/>
                <a:ea typeface="+mn-ea"/>
                <a:cs typeface="+mn-cs"/>
              </a:rPr>
              <a:t>MOVEP  555  23  583</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说明：以关节空间插补的方式控制机械臂末端从当前点移动到坐标为</a:t>
            </a:r>
            <a:r>
              <a:rPr lang="en-US" altLang="zh-CN" sz="1200" kern="1200" dirty="0" smtClean="0">
                <a:solidFill>
                  <a:schemeClr val="tx1"/>
                </a:solidFill>
                <a:effectLst/>
                <a:latin typeface="+mn-lt"/>
                <a:ea typeface="+mn-ea"/>
                <a:cs typeface="+mn-cs"/>
              </a:rPr>
              <a:t>(555</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23</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583)</a:t>
            </a:r>
            <a:r>
              <a:rPr lang="zh-CN" altLang="zh-CN" sz="1200" kern="1200" dirty="0" smtClean="0">
                <a:solidFill>
                  <a:schemeClr val="tx1"/>
                </a:solidFill>
                <a:effectLst/>
                <a:latin typeface="+mn-lt"/>
                <a:ea typeface="+mn-ea"/>
                <a:cs typeface="+mn-cs"/>
              </a:rPr>
              <a:t>的点，坐标单位一般为毫米。</a:t>
            </a:r>
          </a:p>
          <a:p>
            <a:r>
              <a:rPr lang="en-US" altLang="zh-CN" sz="1200" kern="1200" dirty="0" smtClean="0">
                <a:solidFill>
                  <a:schemeClr val="tx1"/>
                </a:solidFill>
                <a:effectLst/>
                <a:latin typeface="+mn-lt"/>
                <a:ea typeface="+mn-ea"/>
                <a:cs typeface="+mn-cs"/>
              </a:rPr>
              <a:t>MOVEP  P1</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说明：以关节空间插补的方式移动到</a:t>
            </a:r>
            <a:r>
              <a:rPr lang="en-US" altLang="zh-CN" sz="1200" kern="1200" dirty="0" smtClean="0">
                <a:solidFill>
                  <a:schemeClr val="tx1"/>
                </a:solidFill>
                <a:effectLst/>
                <a:latin typeface="+mn-lt"/>
                <a:ea typeface="+mn-ea"/>
                <a:cs typeface="+mn-cs"/>
              </a:rPr>
              <a:t>P1</a:t>
            </a:r>
            <a:r>
              <a:rPr lang="zh-CN" altLang="zh-CN" sz="1200" kern="1200" dirty="0" smtClean="0">
                <a:solidFill>
                  <a:schemeClr val="tx1"/>
                </a:solidFill>
                <a:effectLst/>
                <a:latin typeface="+mn-lt"/>
                <a:ea typeface="+mn-ea"/>
                <a:cs typeface="+mn-cs"/>
              </a:rPr>
              <a:t>点。</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移动指令名称：</a:t>
            </a:r>
            <a:r>
              <a:rPr lang="en-US" altLang="zh-CN" sz="1200" kern="1200" dirty="0" smtClean="0">
                <a:solidFill>
                  <a:schemeClr val="tx1"/>
                </a:solidFill>
                <a:effectLst/>
                <a:latin typeface="+mn-lt"/>
                <a:ea typeface="+mn-ea"/>
                <a:cs typeface="+mn-cs"/>
              </a:rPr>
              <a:t>MOVEL</a:t>
            </a:r>
            <a:r>
              <a:rPr lang="zh-CN" altLang="zh-CN" sz="1200" kern="1200" dirty="0" smtClean="0">
                <a:solidFill>
                  <a:schemeClr val="tx1"/>
                </a:solidFill>
                <a:effectLst/>
                <a:latin typeface="+mn-lt"/>
                <a:ea typeface="+mn-ea"/>
                <a:cs typeface="+mn-cs"/>
              </a:rPr>
              <a:t>，功能：在笛卡尔坐标系中进行直线插补，控制机械臂移动；用法示意图如图</a:t>
            </a:r>
            <a:r>
              <a:rPr lang="en-US" altLang="zh-CN" sz="1200" kern="1200" dirty="0" smtClean="0">
                <a:solidFill>
                  <a:schemeClr val="tx1"/>
                </a:solidFill>
                <a:effectLst/>
                <a:latin typeface="+mn-lt"/>
                <a:ea typeface="+mn-ea"/>
                <a:cs typeface="+mn-cs"/>
              </a:rPr>
              <a:t>7.10</a:t>
            </a:r>
            <a:r>
              <a:rPr lang="zh-CN" altLang="zh-CN" sz="1200" kern="1200" dirty="0" smtClean="0">
                <a:solidFill>
                  <a:schemeClr val="tx1"/>
                </a:solidFill>
                <a:effectLst/>
                <a:latin typeface="+mn-lt"/>
                <a:ea typeface="+mn-ea"/>
                <a:cs typeface="+mn-cs"/>
              </a:rPr>
              <a:t>所示。举例如下： </a:t>
            </a:r>
          </a:p>
          <a:p>
            <a:r>
              <a:rPr lang="en-US" altLang="zh-CN" sz="1200" kern="1200" dirty="0" smtClean="0">
                <a:solidFill>
                  <a:schemeClr val="tx1"/>
                </a:solidFill>
                <a:effectLst/>
                <a:latin typeface="+mn-lt"/>
                <a:ea typeface="+mn-ea"/>
                <a:cs typeface="+mn-cs"/>
              </a:rPr>
              <a:t>MOVEL  555  23  583</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说明：以直线插补的方式移动到坐标为（</a:t>
            </a:r>
            <a:r>
              <a:rPr lang="en-US" altLang="zh-CN" sz="1200" kern="1200" dirty="0" smtClean="0">
                <a:solidFill>
                  <a:schemeClr val="tx1"/>
                </a:solidFill>
                <a:effectLst/>
                <a:latin typeface="+mn-lt"/>
                <a:ea typeface="+mn-ea"/>
                <a:cs typeface="+mn-cs"/>
              </a:rPr>
              <a:t>555</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23</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583</a:t>
            </a:r>
            <a:r>
              <a:rPr lang="zh-CN" altLang="zh-CN" sz="1200" kern="1200" dirty="0" smtClean="0">
                <a:solidFill>
                  <a:schemeClr val="tx1"/>
                </a:solidFill>
                <a:effectLst/>
                <a:latin typeface="+mn-lt"/>
                <a:ea typeface="+mn-ea"/>
                <a:cs typeface="+mn-cs"/>
              </a:rPr>
              <a:t>）的点，坐标单位一般为毫米。 </a:t>
            </a:r>
          </a:p>
          <a:p>
            <a:r>
              <a:rPr lang="en-US" altLang="zh-CN" sz="1200" kern="1200" dirty="0" smtClean="0">
                <a:solidFill>
                  <a:schemeClr val="tx1"/>
                </a:solidFill>
                <a:effectLst/>
                <a:latin typeface="+mn-lt"/>
                <a:ea typeface="+mn-ea"/>
                <a:cs typeface="+mn-cs"/>
              </a:rPr>
              <a:t>MOVEL  P1</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说明：以直线插补的方式移动到</a:t>
            </a:r>
            <a:r>
              <a:rPr lang="en-US" altLang="zh-CN" sz="1200" kern="1200" dirty="0" smtClean="0">
                <a:solidFill>
                  <a:schemeClr val="tx1"/>
                </a:solidFill>
                <a:effectLst/>
                <a:latin typeface="+mn-lt"/>
                <a:ea typeface="+mn-ea"/>
                <a:cs typeface="+mn-cs"/>
              </a:rPr>
              <a:t>P1</a:t>
            </a:r>
            <a:r>
              <a:rPr lang="zh-CN" altLang="zh-CN" sz="1200" kern="1200" dirty="0" smtClean="0">
                <a:solidFill>
                  <a:schemeClr val="tx1"/>
                </a:solidFill>
                <a:effectLst/>
                <a:latin typeface="+mn-lt"/>
                <a:ea typeface="+mn-ea"/>
                <a:cs typeface="+mn-cs"/>
              </a:rPr>
              <a:t>点。</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移动指令名称：</a:t>
            </a:r>
            <a:r>
              <a:rPr lang="en-US" altLang="zh-CN" sz="1200" kern="1200" dirty="0" smtClean="0">
                <a:solidFill>
                  <a:schemeClr val="tx1"/>
                </a:solidFill>
                <a:effectLst/>
                <a:latin typeface="+mn-lt"/>
                <a:ea typeface="+mn-ea"/>
                <a:cs typeface="+mn-cs"/>
              </a:rPr>
              <a:t>MOVEJ</a:t>
            </a:r>
            <a:r>
              <a:rPr lang="zh-CN" altLang="zh-CN" sz="1200" kern="1200" dirty="0" smtClean="0">
                <a:solidFill>
                  <a:schemeClr val="tx1"/>
                </a:solidFill>
                <a:effectLst/>
                <a:latin typeface="+mn-lt"/>
                <a:ea typeface="+mn-ea"/>
                <a:cs typeface="+mn-cs"/>
              </a:rPr>
              <a:t>，功能：直接控制机械臂的关节进行转动，用法示意图如图</a:t>
            </a:r>
            <a:r>
              <a:rPr lang="en-US" altLang="zh-CN" sz="1200" kern="1200" dirty="0" smtClean="0">
                <a:solidFill>
                  <a:schemeClr val="tx1"/>
                </a:solidFill>
                <a:effectLst/>
                <a:latin typeface="+mn-lt"/>
                <a:ea typeface="+mn-ea"/>
                <a:cs typeface="+mn-cs"/>
              </a:rPr>
              <a:t>7.11</a:t>
            </a:r>
            <a:r>
              <a:rPr lang="zh-CN" altLang="zh-CN" sz="1200" kern="1200" dirty="0" smtClean="0">
                <a:solidFill>
                  <a:schemeClr val="tx1"/>
                </a:solidFill>
                <a:effectLst/>
                <a:latin typeface="+mn-lt"/>
                <a:ea typeface="+mn-ea"/>
                <a:cs typeface="+mn-cs"/>
              </a:rPr>
              <a:t>所示。举例如下：</a:t>
            </a:r>
          </a:p>
          <a:p>
            <a:r>
              <a:rPr lang="en-US" altLang="zh-CN" sz="1200" kern="1200" dirty="0" smtClean="0">
                <a:solidFill>
                  <a:schemeClr val="tx1"/>
                </a:solidFill>
                <a:effectLst/>
                <a:latin typeface="+mn-lt"/>
                <a:ea typeface="+mn-ea"/>
                <a:cs typeface="+mn-cs"/>
              </a:rPr>
              <a:t>MOVEJ   4  45</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说明：控制机械臂</a:t>
            </a:r>
            <a:r>
              <a:rPr lang="en-US" altLang="zh-CN" sz="1200" kern="1200" dirty="0" smtClean="0">
                <a:solidFill>
                  <a:schemeClr val="tx1"/>
                </a:solidFill>
                <a:effectLst/>
                <a:latin typeface="+mn-lt"/>
                <a:ea typeface="+mn-ea"/>
                <a:cs typeface="+mn-cs"/>
              </a:rPr>
              <a:t>4</a:t>
            </a:r>
            <a:r>
              <a:rPr lang="zh-CN" altLang="zh-CN" sz="1200" kern="1200" dirty="0" smtClean="0">
                <a:solidFill>
                  <a:schemeClr val="tx1"/>
                </a:solidFill>
                <a:effectLst/>
                <a:latin typeface="+mn-lt"/>
                <a:ea typeface="+mn-ea"/>
                <a:cs typeface="+mn-cs"/>
              </a:rPr>
              <a:t>号关节转至</a:t>
            </a:r>
            <a:r>
              <a:rPr lang="en-US" altLang="zh-CN" sz="1200" kern="1200" dirty="0" smtClean="0">
                <a:solidFill>
                  <a:schemeClr val="tx1"/>
                </a:solidFill>
                <a:effectLst/>
                <a:latin typeface="+mn-lt"/>
                <a:ea typeface="+mn-ea"/>
                <a:cs typeface="+mn-cs"/>
              </a:rPr>
              <a:t>45</a:t>
            </a:r>
            <a:r>
              <a:rPr lang="zh-CN" altLang="zh-CN" sz="1200" kern="1200" dirty="0" smtClean="0">
                <a:solidFill>
                  <a:schemeClr val="tx1"/>
                </a:solidFill>
                <a:effectLst/>
                <a:latin typeface="+mn-lt"/>
                <a:ea typeface="+mn-ea"/>
                <a:cs typeface="+mn-cs"/>
              </a:rPr>
              <a:t>度位置。</a:t>
            </a:r>
          </a:p>
          <a:p>
            <a:r>
              <a:rPr lang="en-US" altLang="zh-CN" sz="1200" kern="1200" dirty="0" smtClean="0">
                <a:solidFill>
                  <a:schemeClr val="tx1"/>
                </a:solidFill>
                <a:effectLst/>
                <a:latin typeface="+mn-lt"/>
                <a:ea typeface="+mn-ea"/>
                <a:cs typeface="+mn-cs"/>
              </a:rPr>
              <a:t>MOVEJ  J1</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说明：直接控制所有关节转动到</a:t>
            </a:r>
            <a:r>
              <a:rPr lang="en-US" altLang="zh-CN" sz="1200" kern="1200" dirty="0" smtClean="0">
                <a:solidFill>
                  <a:schemeClr val="tx1"/>
                </a:solidFill>
                <a:effectLst/>
                <a:latin typeface="+mn-lt"/>
                <a:ea typeface="+mn-ea"/>
                <a:cs typeface="+mn-cs"/>
              </a:rPr>
              <a:t>J1</a:t>
            </a:r>
            <a:r>
              <a:rPr lang="zh-CN" altLang="zh-CN" sz="1200" kern="1200" dirty="0" smtClean="0">
                <a:solidFill>
                  <a:schemeClr val="tx1"/>
                </a:solidFill>
                <a:effectLst/>
                <a:latin typeface="+mn-lt"/>
                <a:ea typeface="+mn-ea"/>
                <a:cs typeface="+mn-cs"/>
              </a:rPr>
              <a:t>状态。</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25</a:t>
            </a:fld>
            <a:endParaRPr lang="zh-CN" altLang="en-US"/>
          </a:p>
        </p:txBody>
      </p:sp>
    </p:spTree>
    <p:extLst>
      <p:ext uri="{BB962C8B-B14F-4D97-AF65-F5344CB8AC3E}">
        <p14:creationId xmlns:p14="http://schemas.microsoft.com/office/powerpoint/2010/main" val="14221604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由于前面介绍的机器人指令内容涉及到了变量，所以这里也简单设计了两种必要的变量指令，四种变量内容如表</a:t>
            </a:r>
            <a:r>
              <a:rPr lang="en-US" altLang="zh-CN" sz="1200" kern="1200" dirty="0" smtClean="0">
                <a:solidFill>
                  <a:schemeClr val="tx1"/>
                </a:solidFill>
                <a:effectLst/>
                <a:latin typeface="+mn-lt"/>
                <a:ea typeface="+mn-ea"/>
                <a:cs typeface="+mn-cs"/>
              </a:rPr>
              <a:t>7.10</a:t>
            </a:r>
            <a:r>
              <a:rPr lang="zh-CN" altLang="zh-CN" sz="1200" kern="1200" dirty="0" smtClean="0">
                <a:solidFill>
                  <a:schemeClr val="tx1"/>
                </a:solidFill>
                <a:effectLst/>
                <a:latin typeface="+mn-lt"/>
                <a:ea typeface="+mn-ea"/>
                <a:cs typeface="+mn-cs"/>
              </a:rPr>
              <a:t>所述。</a:t>
            </a:r>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26</a:t>
            </a:fld>
            <a:endParaRPr lang="zh-CN" altLang="en-US"/>
          </a:p>
        </p:txBody>
      </p:sp>
    </p:spTree>
    <p:extLst>
      <p:ext uri="{BB962C8B-B14F-4D97-AF65-F5344CB8AC3E}">
        <p14:creationId xmlns:p14="http://schemas.microsoft.com/office/powerpoint/2010/main" val="3069260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这里仅实现字节型变量与整形变量的定义命令</a:t>
            </a:r>
            <a:r>
              <a:rPr lang="en-US" altLang="zh-CN" sz="1200" kern="1200" dirty="0" smtClean="0">
                <a:solidFill>
                  <a:schemeClr val="tx1"/>
                </a:solidFill>
                <a:effectLst/>
                <a:latin typeface="+mn-lt"/>
                <a:ea typeface="+mn-ea"/>
                <a:cs typeface="+mn-cs"/>
              </a:rPr>
              <a:t>(DEFN)</a:t>
            </a:r>
            <a:r>
              <a:rPr lang="zh-CN" altLang="zh-CN" sz="1200" kern="1200" dirty="0" smtClean="0">
                <a:solidFill>
                  <a:schemeClr val="tx1"/>
                </a:solidFill>
                <a:effectLst/>
                <a:latin typeface="+mn-lt"/>
                <a:ea typeface="+mn-ea"/>
                <a:cs typeface="+mn-cs"/>
              </a:rPr>
              <a:t>以及空间点与关节位置变量的定义命令</a:t>
            </a:r>
            <a:r>
              <a:rPr lang="en-US" altLang="zh-CN" sz="1200" kern="1200" dirty="0" smtClean="0">
                <a:solidFill>
                  <a:schemeClr val="tx1"/>
                </a:solidFill>
                <a:effectLst/>
                <a:latin typeface="+mn-lt"/>
                <a:ea typeface="+mn-ea"/>
                <a:cs typeface="+mn-cs"/>
              </a:rPr>
              <a:t>(DEFX)</a:t>
            </a:r>
            <a:r>
              <a:rPr lang="zh-CN" altLang="zh-CN" sz="1200"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DEFN</a:t>
            </a:r>
            <a:r>
              <a:rPr lang="zh-CN" altLang="zh-CN" sz="1200" kern="1200" dirty="0" smtClean="0">
                <a:solidFill>
                  <a:schemeClr val="tx1"/>
                </a:solidFill>
                <a:effectLst/>
                <a:latin typeface="+mn-lt"/>
                <a:ea typeface="+mn-ea"/>
                <a:cs typeface="+mn-cs"/>
              </a:rPr>
              <a:t>命令结构图如图</a:t>
            </a:r>
            <a:r>
              <a:rPr lang="en-US" altLang="zh-CN" sz="1200" kern="1200" dirty="0" smtClean="0">
                <a:solidFill>
                  <a:schemeClr val="tx1"/>
                </a:solidFill>
                <a:effectLst/>
                <a:latin typeface="+mn-lt"/>
                <a:ea typeface="+mn-ea"/>
                <a:cs typeface="+mn-cs"/>
              </a:rPr>
              <a:t>7.12</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endParaRPr lang="en-US" altLang="zh-CN" dirty="0" smtClean="0"/>
          </a:p>
          <a:p>
            <a:r>
              <a:rPr lang="zh-CN" altLang="zh-CN" sz="1200" kern="1200" dirty="0" smtClean="0">
                <a:solidFill>
                  <a:schemeClr val="tx1"/>
                </a:solidFill>
                <a:effectLst/>
                <a:latin typeface="+mn-lt"/>
                <a:ea typeface="+mn-ea"/>
                <a:cs typeface="+mn-cs"/>
              </a:rPr>
              <a:t>字节型变量与整形变量定义命令名称：</a:t>
            </a:r>
            <a:r>
              <a:rPr lang="en-US" altLang="zh-CN" sz="1200" kern="1200" dirty="0" smtClean="0">
                <a:solidFill>
                  <a:schemeClr val="tx1"/>
                </a:solidFill>
                <a:effectLst/>
                <a:latin typeface="+mn-lt"/>
                <a:ea typeface="+mn-ea"/>
                <a:cs typeface="+mn-cs"/>
              </a:rPr>
              <a:t>DEFN</a:t>
            </a:r>
            <a:r>
              <a:rPr lang="zh-CN" altLang="zh-CN" sz="1200" kern="1200" dirty="0" smtClean="0">
                <a:solidFill>
                  <a:schemeClr val="tx1"/>
                </a:solidFill>
                <a:effectLst/>
                <a:latin typeface="+mn-lt"/>
                <a:ea typeface="+mn-ea"/>
                <a:cs typeface="+mn-cs"/>
              </a:rPr>
              <a:t>；功能：设置</a:t>
            </a:r>
            <a:r>
              <a:rPr lang="en-US" altLang="zh-CN" sz="1200" kern="1200" dirty="0" smtClean="0">
                <a:solidFill>
                  <a:schemeClr val="tx1"/>
                </a:solidFill>
                <a:effectLst/>
                <a:latin typeface="+mn-lt"/>
                <a:ea typeface="+mn-ea"/>
                <a:cs typeface="+mn-cs"/>
              </a:rPr>
              <a:t>B/I</a:t>
            </a:r>
            <a:r>
              <a:rPr lang="zh-CN" altLang="zh-CN" sz="1200" kern="1200" dirty="0" smtClean="0">
                <a:solidFill>
                  <a:schemeClr val="tx1"/>
                </a:solidFill>
                <a:effectLst/>
                <a:latin typeface="+mn-lt"/>
                <a:ea typeface="+mn-ea"/>
                <a:cs typeface="+mn-cs"/>
              </a:rPr>
              <a:t>变量，并对</a:t>
            </a:r>
            <a:r>
              <a:rPr lang="en-US" altLang="zh-CN" sz="1200" kern="1200" dirty="0" smtClean="0">
                <a:solidFill>
                  <a:schemeClr val="tx1"/>
                </a:solidFill>
                <a:effectLst/>
                <a:latin typeface="+mn-lt"/>
                <a:ea typeface="+mn-ea"/>
                <a:cs typeface="+mn-cs"/>
              </a:rPr>
              <a:t>B/I</a:t>
            </a:r>
            <a:r>
              <a:rPr lang="zh-CN" altLang="zh-CN" sz="1200" kern="1200" dirty="0" smtClean="0">
                <a:solidFill>
                  <a:schemeClr val="tx1"/>
                </a:solidFill>
                <a:effectLst/>
                <a:latin typeface="+mn-lt"/>
                <a:ea typeface="+mn-ea"/>
                <a:cs typeface="+mn-cs"/>
              </a:rPr>
              <a:t>变量赋值；用法示意参见图</a:t>
            </a:r>
            <a:r>
              <a:rPr lang="en-US" altLang="zh-CN" sz="1200" kern="1200" dirty="0" smtClean="0">
                <a:solidFill>
                  <a:schemeClr val="tx1"/>
                </a:solidFill>
                <a:effectLst/>
                <a:latin typeface="+mn-lt"/>
                <a:ea typeface="+mn-ea"/>
                <a:cs typeface="+mn-cs"/>
              </a:rPr>
              <a:t>7.12</a:t>
            </a:r>
            <a:r>
              <a:rPr lang="zh-CN" altLang="zh-CN" sz="1200" kern="1200" dirty="0" smtClean="0">
                <a:solidFill>
                  <a:schemeClr val="tx1"/>
                </a:solidFill>
                <a:effectLst/>
                <a:latin typeface="+mn-lt"/>
                <a:ea typeface="+mn-ea"/>
                <a:cs typeface="+mn-cs"/>
              </a:rPr>
              <a:t>所示两种语法。</a:t>
            </a:r>
          </a:p>
          <a:p>
            <a:r>
              <a:rPr lang="zh-CN" altLang="zh-CN" sz="1200" kern="1200" dirty="0" smtClean="0">
                <a:solidFill>
                  <a:schemeClr val="tx1"/>
                </a:solidFill>
                <a:effectLst/>
                <a:latin typeface="+mn-lt"/>
                <a:ea typeface="+mn-ea"/>
                <a:cs typeface="+mn-cs"/>
              </a:rPr>
              <a:t>举例如下： </a:t>
            </a:r>
          </a:p>
          <a:p>
            <a:r>
              <a:rPr lang="en-US" altLang="zh-CN" sz="1200" kern="1200" dirty="0" smtClean="0">
                <a:solidFill>
                  <a:schemeClr val="tx1"/>
                </a:solidFill>
                <a:effectLst/>
                <a:latin typeface="+mn-lt"/>
                <a:ea typeface="+mn-ea"/>
                <a:cs typeface="+mn-cs"/>
              </a:rPr>
              <a:t>DEFN   I10    5</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DEFN   B0    c</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说明：将</a:t>
            </a:r>
            <a:r>
              <a:rPr lang="en-US" altLang="zh-CN" sz="1200" kern="1200" dirty="0" smtClean="0">
                <a:solidFill>
                  <a:schemeClr val="tx1"/>
                </a:solidFill>
                <a:effectLst/>
                <a:latin typeface="+mn-lt"/>
                <a:ea typeface="+mn-ea"/>
                <a:cs typeface="+mn-cs"/>
              </a:rPr>
              <a:t>I10</a:t>
            </a:r>
            <a:r>
              <a:rPr lang="zh-CN" altLang="zh-CN" sz="1200" kern="1200" dirty="0" smtClean="0">
                <a:solidFill>
                  <a:schemeClr val="tx1"/>
                </a:solidFill>
                <a:effectLst/>
                <a:latin typeface="+mn-lt"/>
                <a:ea typeface="+mn-ea"/>
                <a:cs typeface="+mn-cs"/>
              </a:rPr>
              <a:t>值设为</a:t>
            </a:r>
            <a:r>
              <a:rPr lang="en-US" altLang="zh-CN" sz="1200" kern="1200" dirty="0" smtClean="0">
                <a:solidFill>
                  <a:schemeClr val="tx1"/>
                </a:solidFill>
                <a:effectLst/>
                <a:latin typeface="+mn-lt"/>
                <a:ea typeface="+mn-ea"/>
                <a:cs typeface="+mn-cs"/>
              </a:rPr>
              <a:t>5 </a:t>
            </a:r>
            <a:r>
              <a:rPr lang="zh-CN" altLang="zh-CN" sz="1200" kern="1200" dirty="0" smtClean="0">
                <a:solidFill>
                  <a:schemeClr val="tx1"/>
                </a:solidFill>
                <a:effectLst/>
                <a:latin typeface="+mn-lt"/>
                <a:ea typeface="+mn-ea"/>
                <a:cs typeface="+mn-cs"/>
              </a:rPr>
              <a:t>，将</a:t>
            </a:r>
            <a:r>
              <a:rPr lang="en-US" altLang="zh-CN" sz="1200" kern="1200" dirty="0" smtClean="0">
                <a:solidFill>
                  <a:schemeClr val="tx1"/>
                </a:solidFill>
                <a:effectLst/>
                <a:latin typeface="+mn-lt"/>
                <a:ea typeface="+mn-ea"/>
                <a:cs typeface="+mn-cs"/>
              </a:rPr>
              <a:t>B0</a:t>
            </a:r>
            <a:r>
              <a:rPr lang="zh-CN" altLang="zh-CN" sz="1200" kern="1200" dirty="0" smtClean="0">
                <a:solidFill>
                  <a:schemeClr val="tx1"/>
                </a:solidFill>
                <a:effectLst/>
                <a:latin typeface="+mn-lt"/>
                <a:ea typeface="+mn-ea"/>
                <a:cs typeface="+mn-cs"/>
              </a:rPr>
              <a:t>值设为</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末端位置与关节变量定义命令名称：</a:t>
            </a:r>
            <a:r>
              <a:rPr lang="en-US" altLang="zh-CN" sz="1200" kern="1200" dirty="0" smtClean="0">
                <a:solidFill>
                  <a:schemeClr val="tx1"/>
                </a:solidFill>
                <a:effectLst/>
                <a:latin typeface="+mn-lt"/>
                <a:ea typeface="+mn-ea"/>
                <a:cs typeface="+mn-cs"/>
              </a:rPr>
              <a:t>DEFX</a:t>
            </a:r>
            <a:r>
              <a:rPr lang="zh-CN" altLang="zh-CN" sz="1200" kern="1200" dirty="0" smtClean="0">
                <a:solidFill>
                  <a:schemeClr val="tx1"/>
                </a:solidFill>
                <a:effectLst/>
                <a:latin typeface="+mn-lt"/>
                <a:ea typeface="+mn-ea"/>
                <a:cs typeface="+mn-cs"/>
              </a:rPr>
              <a:t>；功能：创建末端空间点</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变量，并对</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变量赋值；创建关节</a:t>
            </a:r>
            <a:r>
              <a:rPr lang="en-US" altLang="zh-CN" sz="1200" kern="1200" dirty="0" smtClean="0">
                <a:solidFill>
                  <a:schemeClr val="tx1"/>
                </a:solidFill>
                <a:effectLst/>
                <a:latin typeface="+mn-lt"/>
                <a:ea typeface="+mn-ea"/>
                <a:cs typeface="+mn-cs"/>
              </a:rPr>
              <a:t>J</a:t>
            </a:r>
            <a:r>
              <a:rPr lang="zh-CN" altLang="zh-CN" sz="1200" kern="1200" dirty="0" smtClean="0">
                <a:solidFill>
                  <a:schemeClr val="tx1"/>
                </a:solidFill>
                <a:effectLst/>
                <a:latin typeface="+mn-lt"/>
                <a:ea typeface="+mn-ea"/>
                <a:cs typeface="+mn-cs"/>
              </a:rPr>
              <a:t>变量，并对</a:t>
            </a:r>
            <a:r>
              <a:rPr lang="en-US" altLang="zh-CN" sz="1200" kern="1200" dirty="0" smtClean="0">
                <a:solidFill>
                  <a:schemeClr val="tx1"/>
                </a:solidFill>
                <a:effectLst/>
                <a:latin typeface="+mn-lt"/>
                <a:ea typeface="+mn-ea"/>
                <a:cs typeface="+mn-cs"/>
              </a:rPr>
              <a:t>J</a:t>
            </a:r>
            <a:r>
              <a:rPr lang="zh-CN" altLang="zh-CN" sz="1200" kern="1200" dirty="0" smtClean="0">
                <a:solidFill>
                  <a:schemeClr val="tx1"/>
                </a:solidFill>
                <a:effectLst/>
                <a:latin typeface="+mn-lt"/>
                <a:ea typeface="+mn-ea"/>
                <a:cs typeface="+mn-cs"/>
              </a:rPr>
              <a:t>变量赋值，用法示意图如图</a:t>
            </a:r>
            <a:r>
              <a:rPr lang="en-US" altLang="zh-CN" sz="1200" kern="1200" dirty="0" smtClean="0">
                <a:solidFill>
                  <a:schemeClr val="tx1"/>
                </a:solidFill>
                <a:effectLst/>
                <a:latin typeface="+mn-lt"/>
                <a:ea typeface="+mn-ea"/>
                <a:cs typeface="+mn-cs"/>
              </a:rPr>
              <a:t>7.13</a:t>
            </a:r>
            <a:r>
              <a:rPr lang="zh-CN" altLang="zh-CN" sz="1200" kern="1200" dirty="0" smtClean="0">
                <a:solidFill>
                  <a:schemeClr val="tx1"/>
                </a:solidFill>
                <a:effectLst/>
                <a:latin typeface="+mn-lt"/>
                <a:ea typeface="+mn-ea"/>
                <a:cs typeface="+mn-cs"/>
              </a:rPr>
              <a:t>所示。</a:t>
            </a:r>
          </a:p>
          <a:p>
            <a:r>
              <a:rPr lang="zh-CN" altLang="zh-CN" sz="1200" kern="1200" dirty="0" smtClean="0">
                <a:solidFill>
                  <a:schemeClr val="tx1"/>
                </a:solidFill>
                <a:effectLst/>
                <a:latin typeface="+mn-lt"/>
                <a:ea typeface="+mn-ea"/>
                <a:cs typeface="+mn-cs"/>
              </a:rPr>
              <a:t>举例如下： </a:t>
            </a:r>
          </a:p>
          <a:p>
            <a:r>
              <a:rPr lang="en-US" altLang="zh-CN" sz="1200" kern="1200" dirty="0" smtClean="0">
                <a:solidFill>
                  <a:schemeClr val="tx1"/>
                </a:solidFill>
                <a:effectLst/>
                <a:latin typeface="+mn-lt"/>
                <a:ea typeface="+mn-ea"/>
                <a:cs typeface="+mn-cs"/>
              </a:rPr>
              <a:t>DEFX   P1  555  23  583</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说明：创建</a:t>
            </a:r>
            <a:r>
              <a:rPr lang="en-US" altLang="zh-CN" sz="1200" kern="1200" dirty="0" smtClean="0">
                <a:solidFill>
                  <a:schemeClr val="tx1"/>
                </a:solidFill>
                <a:effectLst/>
                <a:latin typeface="+mn-lt"/>
                <a:ea typeface="+mn-ea"/>
                <a:cs typeface="+mn-cs"/>
              </a:rPr>
              <a:t>P1</a:t>
            </a:r>
            <a:r>
              <a:rPr lang="zh-CN" altLang="zh-CN" sz="1200" kern="1200" dirty="0" smtClean="0">
                <a:solidFill>
                  <a:schemeClr val="tx1"/>
                </a:solidFill>
                <a:effectLst/>
                <a:latin typeface="+mn-lt"/>
                <a:ea typeface="+mn-ea"/>
                <a:cs typeface="+mn-cs"/>
              </a:rPr>
              <a:t>点，并为该点的坐标赋值，坐标值单位一般为</a:t>
            </a:r>
            <a:r>
              <a:rPr lang="en-US" altLang="zh-CN" sz="1200" kern="1200" dirty="0" smtClean="0">
                <a:solidFill>
                  <a:schemeClr val="tx1"/>
                </a:solidFill>
                <a:effectLst/>
                <a:latin typeface="+mn-lt"/>
                <a:ea typeface="+mn-ea"/>
                <a:cs typeface="+mn-cs"/>
              </a:rPr>
              <a:t>mm</a:t>
            </a:r>
            <a:r>
              <a:rPr lang="zh-CN" altLang="zh-CN" sz="1200"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DEFX   J1  0</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0</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0</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45</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30</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90</a:t>
            </a:r>
            <a:endParaRPr lang="zh-CN"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说明：创建关节坐标变量</a:t>
            </a:r>
            <a:r>
              <a:rPr lang="en-US" altLang="zh-CN" sz="1200" kern="1200" dirty="0" smtClean="0">
                <a:solidFill>
                  <a:schemeClr val="tx1"/>
                </a:solidFill>
                <a:effectLst/>
                <a:latin typeface="+mn-lt"/>
                <a:ea typeface="+mn-ea"/>
                <a:cs typeface="+mn-cs"/>
              </a:rPr>
              <a:t>J1</a:t>
            </a:r>
            <a:r>
              <a:rPr lang="zh-CN" altLang="zh-CN" sz="1200" kern="1200" dirty="0" smtClean="0">
                <a:solidFill>
                  <a:schemeClr val="tx1"/>
                </a:solidFill>
                <a:effectLst/>
                <a:latin typeface="+mn-lt"/>
                <a:ea typeface="+mn-ea"/>
                <a:cs typeface="+mn-cs"/>
              </a:rPr>
              <a:t>，并为每个关节角度进行赋值（这里缺省为六个旋转关节）。</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27</a:t>
            </a:fld>
            <a:endParaRPr lang="zh-CN" altLang="en-US"/>
          </a:p>
        </p:txBody>
      </p:sp>
    </p:spTree>
    <p:extLst>
      <p:ext uri="{BB962C8B-B14F-4D97-AF65-F5344CB8AC3E}">
        <p14:creationId xmlns:p14="http://schemas.microsoft.com/office/powerpoint/2010/main" val="18076973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设计了指令集语法结构及用途之后，首先需要为解析器设计一个词库。前面设计的机器人语言指令集的指令单元为英文单词，按照英文语法，一个完整的机器人语句涵盖多个单词，这些单词被空格划分。因此首先定义一个必要的词库，该词库涵盖之前所有机器人命令关键词。该词库定义成一个枚举型数据结构，</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示例代码如表</a:t>
            </a:r>
            <a:r>
              <a:rPr lang="en-US" altLang="zh-CN" sz="1200" kern="1200" dirty="0" smtClean="0">
                <a:solidFill>
                  <a:schemeClr val="tx1"/>
                </a:solidFill>
                <a:effectLst/>
                <a:latin typeface="+mn-lt"/>
                <a:ea typeface="+mn-ea"/>
                <a:cs typeface="+mn-cs"/>
              </a:rPr>
              <a:t>7.11</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a:t>
            </a:r>
            <a:r>
              <a:rPr lang="en-US" altLang="zh-CN" sz="1200" kern="1200" dirty="0" smtClean="0">
                <a:solidFill>
                  <a:schemeClr val="tx1"/>
                </a:solidFill>
                <a:effectLst/>
                <a:latin typeface="+mn-lt"/>
                <a:ea typeface="+mn-ea"/>
                <a:cs typeface="+mn-cs"/>
              </a:rPr>
              <a:t>ENDFILE</a:t>
            </a:r>
            <a:r>
              <a:rPr lang="zh-CN" altLang="zh-CN" sz="1200" kern="1200" dirty="0" smtClean="0">
                <a:solidFill>
                  <a:schemeClr val="tx1"/>
                </a:solidFill>
                <a:effectLst/>
                <a:latin typeface="+mn-lt"/>
                <a:ea typeface="+mn-ea"/>
                <a:cs typeface="+mn-cs"/>
              </a:rPr>
              <a:t>表示指令文件结束，</a:t>
            </a:r>
            <a:r>
              <a:rPr lang="en-US" altLang="zh-CN" sz="1200" kern="1200" dirty="0" smtClean="0">
                <a:solidFill>
                  <a:schemeClr val="tx1"/>
                </a:solidFill>
                <a:effectLst/>
                <a:latin typeface="+mn-lt"/>
                <a:ea typeface="+mn-ea"/>
                <a:cs typeface="+mn-cs"/>
              </a:rPr>
              <a:t>ENDLINE</a:t>
            </a:r>
            <a:r>
              <a:rPr lang="zh-CN" altLang="zh-CN" sz="1200" kern="1200" dirty="0" smtClean="0">
                <a:solidFill>
                  <a:schemeClr val="tx1"/>
                </a:solidFill>
                <a:effectLst/>
                <a:latin typeface="+mn-lt"/>
                <a:ea typeface="+mn-ea"/>
                <a:cs typeface="+mn-cs"/>
              </a:rPr>
              <a:t>表示一行命令结束，</a:t>
            </a:r>
            <a:r>
              <a:rPr lang="en-US" altLang="zh-CN" sz="1200" kern="1200" dirty="0" smtClean="0">
                <a:solidFill>
                  <a:schemeClr val="tx1"/>
                </a:solidFill>
                <a:effectLst/>
                <a:latin typeface="+mn-lt"/>
                <a:ea typeface="+mn-ea"/>
                <a:cs typeface="+mn-cs"/>
              </a:rPr>
              <a:t>INVALID</a:t>
            </a:r>
            <a:r>
              <a:rPr lang="zh-CN" altLang="zh-CN" sz="1200" kern="1200" dirty="0" smtClean="0">
                <a:solidFill>
                  <a:schemeClr val="tx1"/>
                </a:solidFill>
                <a:effectLst/>
                <a:latin typeface="+mn-lt"/>
                <a:ea typeface="+mn-ea"/>
                <a:cs typeface="+mn-cs"/>
              </a:rPr>
              <a:t>表示非法未定义指令，</a:t>
            </a:r>
            <a:r>
              <a:rPr lang="en-US" altLang="zh-CN" sz="1200" kern="1200" dirty="0" smtClean="0">
                <a:solidFill>
                  <a:schemeClr val="tx1"/>
                </a:solidFill>
                <a:effectLst/>
                <a:latin typeface="+mn-lt"/>
                <a:ea typeface="+mn-ea"/>
                <a:cs typeface="+mn-cs"/>
              </a:rPr>
              <a:t>ID</a:t>
            </a:r>
            <a:r>
              <a:rPr lang="zh-CN" altLang="zh-CN" sz="1200" kern="1200" dirty="0" smtClean="0">
                <a:solidFill>
                  <a:schemeClr val="tx1"/>
                </a:solidFill>
                <a:effectLst/>
                <a:latin typeface="+mn-lt"/>
                <a:ea typeface="+mn-ea"/>
                <a:cs typeface="+mn-cs"/>
              </a:rPr>
              <a:t>代表正在识别指令，</a:t>
            </a:r>
            <a:r>
              <a:rPr lang="en-US" altLang="zh-CN" sz="1200" kern="1200" dirty="0" smtClean="0">
                <a:solidFill>
                  <a:schemeClr val="tx1"/>
                </a:solidFill>
                <a:effectLst/>
                <a:latin typeface="+mn-lt"/>
                <a:ea typeface="+mn-ea"/>
                <a:cs typeface="+mn-cs"/>
              </a:rPr>
              <a:t>NUM</a:t>
            </a:r>
            <a:r>
              <a:rPr lang="zh-CN" altLang="zh-CN" sz="1200" kern="1200" dirty="0" smtClean="0">
                <a:solidFill>
                  <a:schemeClr val="tx1"/>
                </a:solidFill>
                <a:effectLst/>
                <a:latin typeface="+mn-lt"/>
                <a:ea typeface="+mn-ea"/>
                <a:cs typeface="+mn-cs"/>
              </a:rPr>
              <a:t>表示获取的分词为数字，其余</a:t>
            </a:r>
            <a:r>
              <a:rPr lang="en-US" altLang="zh-CN" sz="1200" kern="1200" dirty="0" smtClean="0">
                <a:solidFill>
                  <a:schemeClr val="tx1"/>
                </a:solidFill>
                <a:effectLst/>
                <a:latin typeface="+mn-lt"/>
                <a:ea typeface="+mn-ea"/>
                <a:cs typeface="+mn-cs"/>
              </a:rPr>
              <a:t>token</a:t>
            </a:r>
            <a:r>
              <a:rPr lang="zh-CN" altLang="zh-CN" sz="1200" kern="1200" dirty="0" smtClean="0">
                <a:solidFill>
                  <a:schemeClr val="tx1"/>
                </a:solidFill>
                <a:effectLst/>
                <a:latin typeface="+mn-lt"/>
                <a:ea typeface="+mn-ea"/>
                <a:cs typeface="+mn-cs"/>
              </a:rPr>
              <a:t>类型为前面定义的指令集中的关键词。</a:t>
            </a:r>
          </a:p>
          <a:p>
            <a:r>
              <a:rPr lang="zh-CN" altLang="zh-CN" sz="1200" kern="1200" dirty="0" smtClean="0">
                <a:solidFill>
                  <a:schemeClr val="tx1"/>
                </a:solidFill>
                <a:effectLst/>
                <a:latin typeface="+mn-lt"/>
                <a:ea typeface="+mn-ea"/>
                <a:cs typeface="+mn-cs"/>
              </a:rPr>
              <a:t>为了在词法分析中方便进行分词匹配，定义一个结构体，将</a:t>
            </a:r>
            <a:r>
              <a:rPr lang="en-US" altLang="zh-CN" sz="1200" kern="1200" dirty="0" smtClean="0">
                <a:solidFill>
                  <a:schemeClr val="tx1"/>
                </a:solidFill>
                <a:effectLst/>
                <a:latin typeface="+mn-lt"/>
                <a:ea typeface="+mn-ea"/>
                <a:cs typeface="+mn-cs"/>
              </a:rPr>
              <a:t>token</a:t>
            </a:r>
            <a:r>
              <a:rPr lang="zh-CN" altLang="zh-CN" sz="1200" kern="1200" dirty="0" smtClean="0">
                <a:solidFill>
                  <a:schemeClr val="tx1"/>
                </a:solidFill>
                <a:effectLst/>
                <a:latin typeface="+mn-lt"/>
                <a:ea typeface="+mn-ea"/>
                <a:cs typeface="+mn-cs"/>
              </a:rPr>
              <a:t>类型一一对应到代表文本指令的字符串。</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其中，</a:t>
            </a:r>
            <a:r>
              <a:rPr lang="en-US" altLang="zh-CN" sz="1200" kern="1200" dirty="0" smtClean="0">
                <a:solidFill>
                  <a:schemeClr val="tx1"/>
                </a:solidFill>
                <a:effectLst/>
                <a:latin typeface="+mn-lt"/>
                <a:ea typeface="+mn-ea"/>
                <a:cs typeface="+mn-cs"/>
              </a:rPr>
              <a:t>WORDNUM</a:t>
            </a:r>
            <a:r>
              <a:rPr lang="zh-CN" altLang="zh-CN" sz="1200" kern="1200" dirty="0" smtClean="0">
                <a:solidFill>
                  <a:schemeClr val="tx1"/>
                </a:solidFill>
                <a:effectLst/>
                <a:latin typeface="+mn-lt"/>
                <a:ea typeface="+mn-ea"/>
                <a:cs typeface="+mn-cs"/>
              </a:rPr>
              <a:t>为所有分词库的总数，这里经统计，设为</a:t>
            </a:r>
            <a:r>
              <a:rPr lang="en-US" altLang="zh-CN" sz="1200" kern="1200" dirty="0" smtClean="0">
                <a:solidFill>
                  <a:schemeClr val="tx1"/>
                </a:solidFill>
                <a:effectLst/>
                <a:latin typeface="+mn-lt"/>
                <a:ea typeface="+mn-ea"/>
                <a:cs typeface="+mn-cs"/>
              </a:rPr>
              <a:t>16</a:t>
            </a:r>
            <a:r>
              <a:rPr lang="zh-CN" altLang="zh-CN" sz="1200" kern="1200" dirty="0" smtClean="0">
                <a:solidFill>
                  <a:schemeClr val="tx1"/>
                </a:solidFill>
                <a:effectLst/>
                <a:latin typeface="+mn-lt"/>
                <a:ea typeface="+mn-ea"/>
                <a:cs typeface="+mn-cs"/>
              </a:rPr>
              <a:t>。</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28</a:t>
            </a:fld>
            <a:endParaRPr lang="zh-CN" altLang="en-US"/>
          </a:p>
        </p:txBody>
      </p:sp>
    </p:spTree>
    <p:extLst>
      <p:ext uri="{BB962C8B-B14F-4D97-AF65-F5344CB8AC3E}">
        <p14:creationId xmlns:p14="http://schemas.microsoft.com/office/powerpoint/2010/main" val="35927019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读入一行程序代码后，需要进行词法分析。词法分析将读入的一行字符型源程序，将其组织成有意义的词素</a:t>
            </a:r>
            <a:r>
              <a:rPr lang="en-US" altLang="zh-CN" sz="1200" kern="1200" dirty="0" smtClean="0">
                <a:solidFill>
                  <a:schemeClr val="tx1"/>
                </a:solidFill>
                <a:effectLst/>
                <a:latin typeface="+mn-lt"/>
                <a:ea typeface="+mn-ea"/>
                <a:cs typeface="+mn-cs"/>
              </a:rPr>
              <a:t> (lexeme)</a:t>
            </a:r>
            <a:r>
              <a:rPr lang="zh-CN" altLang="zh-CN" sz="1200" kern="1200" dirty="0" smtClean="0">
                <a:solidFill>
                  <a:schemeClr val="tx1"/>
                </a:solidFill>
                <a:effectLst/>
                <a:latin typeface="+mn-lt"/>
                <a:ea typeface="+mn-ea"/>
                <a:cs typeface="+mn-cs"/>
              </a:rPr>
              <a:t>，并对于每个词素，产生词法单元</a:t>
            </a:r>
            <a:r>
              <a:rPr lang="en-US" altLang="zh-CN" sz="1200" kern="1200" dirty="0" smtClean="0">
                <a:solidFill>
                  <a:schemeClr val="tx1"/>
                </a:solidFill>
                <a:effectLst/>
                <a:latin typeface="+mn-lt"/>
                <a:ea typeface="+mn-ea"/>
                <a:cs typeface="+mn-cs"/>
              </a:rPr>
              <a:t> (token)</a:t>
            </a:r>
            <a:r>
              <a:rPr lang="zh-CN" altLang="zh-CN" sz="1200" kern="1200" dirty="0" smtClean="0">
                <a:solidFill>
                  <a:schemeClr val="tx1"/>
                </a:solidFill>
                <a:effectLst/>
                <a:latin typeface="+mn-lt"/>
                <a:ea typeface="+mn-ea"/>
                <a:cs typeface="+mn-cs"/>
              </a:rPr>
              <a:t>作为输出，其形式如：</a:t>
            </a:r>
            <a:r>
              <a:rPr lang="en-US" altLang="zh-CN" sz="1200" kern="1200" dirty="0" smtClean="0">
                <a:solidFill>
                  <a:schemeClr val="tx1"/>
                </a:solidFill>
                <a:effectLst/>
                <a:latin typeface="+mn-lt"/>
                <a:ea typeface="+mn-ea"/>
                <a:cs typeface="+mn-cs"/>
              </a:rPr>
              <a:t>&lt;token-type, attribute-value&gt;</a:t>
            </a:r>
            <a:r>
              <a:rPr lang="zh-CN" altLang="zh-CN" sz="1200" kern="1200" dirty="0" smtClean="0">
                <a:solidFill>
                  <a:schemeClr val="tx1"/>
                </a:solidFill>
                <a:effectLst/>
                <a:latin typeface="+mn-lt"/>
                <a:ea typeface="+mn-ea"/>
                <a:cs typeface="+mn-cs"/>
              </a:rPr>
              <a:t>，其中</a:t>
            </a:r>
            <a:r>
              <a:rPr lang="en-US" altLang="zh-CN" sz="1200" kern="1200" dirty="0" smtClean="0">
                <a:solidFill>
                  <a:schemeClr val="tx1"/>
                </a:solidFill>
                <a:effectLst/>
                <a:latin typeface="+mn-lt"/>
                <a:ea typeface="+mn-ea"/>
                <a:cs typeface="+mn-cs"/>
              </a:rPr>
              <a:t>token-type</a:t>
            </a:r>
            <a:r>
              <a:rPr lang="zh-CN" altLang="zh-CN" sz="1200" kern="1200" dirty="0" smtClean="0">
                <a:solidFill>
                  <a:schemeClr val="tx1"/>
                </a:solidFill>
                <a:effectLst/>
                <a:latin typeface="+mn-lt"/>
                <a:ea typeface="+mn-ea"/>
                <a:cs typeface="+mn-cs"/>
              </a:rPr>
              <a:t>表示该词法单元的类型名称，</a:t>
            </a:r>
            <a:r>
              <a:rPr lang="en-US" altLang="zh-CN" sz="1200" kern="1200" dirty="0" smtClean="0">
                <a:solidFill>
                  <a:schemeClr val="tx1"/>
                </a:solidFill>
                <a:effectLst/>
                <a:latin typeface="+mn-lt"/>
                <a:ea typeface="+mn-ea"/>
                <a:cs typeface="+mn-cs"/>
              </a:rPr>
              <a:t>attribute-value</a:t>
            </a:r>
            <a:r>
              <a:rPr lang="zh-CN" altLang="zh-CN" sz="1200" kern="1200" dirty="0" smtClean="0">
                <a:solidFill>
                  <a:schemeClr val="tx1"/>
                </a:solidFill>
                <a:effectLst/>
                <a:latin typeface="+mn-lt"/>
                <a:ea typeface="+mn-ea"/>
                <a:cs typeface="+mn-cs"/>
              </a:rPr>
              <a:t>是可选项，表示该词法单元的附加属性，词法单元下一步将被传送给语法分析器。当然，词法分析一般还将过滤掉代码中的空白和可忽略的字符，例如换行、注释等。</a:t>
            </a:r>
          </a:p>
          <a:p>
            <a:r>
              <a:rPr lang="zh-CN" altLang="zh-CN" sz="1200" kern="1200" dirty="0" smtClean="0">
                <a:solidFill>
                  <a:schemeClr val="tx1"/>
                </a:solidFill>
                <a:effectLst/>
                <a:latin typeface="+mn-lt"/>
                <a:ea typeface="+mn-ea"/>
                <a:cs typeface="+mn-cs"/>
              </a:rPr>
              <a:t>词法分析一般采用有限状态自动机</a:t>
            </a:r>
            <a:r>
              <a:rPr lang="en-US" altLang="zh-CN" sz="1200" kern="1200" dirty="0" smtClean="0">
                <a:solidFill>
                  <a:schemeClr val="tx1"/>
                </a:solidFill>
                <a:effectLst/>
                <a:latin typeface="+mn-lt"/>
                <a:ea typeface="+mn-ea"/>
                <a:cs typeface="+mn-cs"/>
              </a:rPr>
              <a:t>(Finite Automata, FA)</a:t>
            </a:r>
            <a:r>
              <a:rPr lang="zh-CN" altLang="zh-CN" sz="1200" kern="1200" dirty="0" smtClean="0">
                <a:solidFill>
                  <a:schemeClr val="tx1"/>
                </a:solidFill>
                <a:effectLst/>
                <a:latin typeface="+mn-lt"/>
                <a:ea typeface="+mn-ea"/>
                <a:cs typeface="+mn-cs"/>
              </a:rPr>
              <a:t>来实现。</a:t>
            </a:r>
          </a:p>
          <a:p>
            <a:r>
              <a:rPr lang="zh-CN" altLang="zh-CN" sz="1200" kern="1200" dirty="0" smtClean="0">
                <a:solidFill>
                  <a:schemeClr val="tx1"/>
                </a:solidFill>
                <a:effectLst/>
                <a:latin typeface="+mn-lt"/>
                <a:ea typeface="+mn-ea"/>
                <a:cs typeface="+mn-cs"/>
              </a:rPr>
              <a:t>在这个词法分析</a:t>
            </a:r>
            <a:r>
              <a:rPr lang="en-US" altLang="zh-CN" sz="1200" kern="1200" dirty="0" smtClean="0">
                <a:solidFill>
                  <a:schemeClr val="tx1"/>
                </a:solidFill>
                <a:effectLst/>
                <a:latin typeface="+mn-lt"/>
                <a:ea typeface="+mn-ea"/>
                <a:cs typeface="+mn-cs"/>
              </a:rPr>
              <a:t>FA</a:t>
            </a:r>
            <a:r>
              <a:rPr lang="zh-CN" altLang="zh-CN" sz="1200" kern="1200" dirty="0" smtClean="0">
                <a:solidFill>
                  <a:schemeClr val="tx1"/>
                </a:solidFill>
                <a:effectLst/>
                <a:latin typeface="+mn-lt"/>
                <a:ea typeface="+mn-ea"/>
                <a:cs typeface="+mn-cs"/>
              </a:rPr>
              <a:t>中，简单设计了</a:t>
            </a:r>
            <a:r>
              <a:rPr lang="en-US" altLang="zh-CN" sz="1200" kern="1200" dirty="0" smtClean="0">
                <a:solidFill>
                  <a:schemeClr val="tx1"/>
                </a:solidFill>
                <a:effectLst/>
                <a:latin typeface="+mn-lt"/>
                <a:ea typeface="+mn-ea"/>
                <a:cs typeface="+mn-cs"/>
              </a:rPr>
              <a:t>5</a:t>
            </a:r>
            <a:r>
              <a:rPr lang="zh-CN" altLang="zh-CN" sz="1200" kern="1200" dirty="0" smtClean="0">
                <a:solidFill>
                  <a:schemeClr val="tx1"/>
                </a:solidFill>
                <a:effectLst/>
                <a:latin typeface="+mn-lt"/>
                <a:ea typeface="+mn-ea"/>
                <a:cs typeface="+mn-cs"/>
              </a:rPr>
              <a:t>种转换状态，分别为：</a:t>
            </a:r>
          </a:p>
          <a:p>
            <a:r>
              <a:rPr lang="en-US" altLang="zh-CN" sz="1200" kern="1200" dirty="0" smtClean="0">
                <a:solidFill>
                  <a:schemeClr val="tx1"/>
                </a:solidFill>
                <a:effectLst/>
                <a:latin typeface="+mn-lt"/>
                <a:ea typeface="+mn-ea"/>
                <a:cs typeface="+mn-cs"/>
              </a:rPr>
              <a:t>START: </a:t>
            </a:r>
            <a:r>
              <a:rPr lang="zh-CN" altLang="zh-CN" sz="1200" kern="1200" dirty="0" smtClean="0">
                <a:solidFill>
                  <a:schemeClr val="tx1"/>
                </a:solidFill>
                <a:effectLst/>
                <a:latin typeface="+mn-lt"/>
                <a:ea typeface="+mn-ea"/>
                <a:cs typeface="+mn-cs"/>
              </a:rPr>
              <a:t>初始状态；</a:t>
            </a:r>
          </a:p>
          <a:p>
            <a:r>
              <a:rPr lang="en-US" altLang="zh-CN" sz="1200" kern="1200" dirty="0" smtClean="0">
                <a:solidFill>
                  <a:schemeClr val="tx1"/>
                </a:solidFill>
                <a:effectLst/>
                <a:latin typeface="+mn-lt"/>
                <a:ea typeface="+mn-ea"/>
                <a:cs typeface="+mn-cs"/>
              </a:rPr>
              <a:t>DONE</a:t>
            </a:r>
            <a:r>
              <a:rPr lang="zh-CN" altLang="zh-CN" sz="1200" kern="1200" dirty="0" smtClean="0">
                <a:solidFill>
                  <a:schemeClr val="tx1"/>
                </a:solidFill>
                <a:effectLst/>
                <a:latin typeface="+mn-lt"/>
                <a:ea typeface="+mn-ea"/>
                <a:cs typeface="+mn-cs"/>
              </a:rPr>
              <a:t>： 终止状态；</a:t>
            </a:r>
          </a:p>
          <a:p>
            <a:r>
              <a:rPr lang="en-US" altLang="zh-CN" sz="1200" kern="1200" dirty="0" smtClean="0">
                <a:solidFill>
                  <a:schemeClr val="tx1"/>
                </a:solidFill>
                <a:effectLst/>
                <a:latin typeface="+mn-lt"/>
                <a:ea typeface="+mn-ea"/>
                <a:cs typeface="+mn-cs"/>
              </a:rPr>
              <a:t>INID</a:t>
            </a:r>
            <a:r>
              <a:rPr lang="zh-CN" altLang="zh-CN" sz="1200" kern="1200" dirty="0" smtClean="0">
                <a:solidFill>
                  <a:schemeClr val="tx1"/>
                </a:solidFill>
                <a:effectLst/>
                <a:latin typeface="+mn-lt"/>
                <a:ea typeface="+mn-ea"/>
                <a:cs typeface="+mn-cs"/>
              </a:rPr>
              <a:t>：当前读入字符为字母，正在识别命令字状态；</a:t>
            </a:r>
          </a:p>
          <a:p>
            <a:r>
              <a:rPr lang="en-US" altLang="zh-CN" sz="1200" kern="1200" dirty="0" smtClean="0">
                <a:solidFill>
                  <a:schemeClr val="tx1"/>
                </a:solidFill>
                <a:effectLst/>
                <a:latin typeface="+mn-lt"/>
                <a:ea typeface="+mn-ea"/>
                <a:cs typeface="+mn-cs"/>
              </a:rPr>
              <a:t>INNUM</a:t>
            </a:r>
            <a:r>
              <a:rPr lang="zh-CN" altLang="zh-CN" sz="1200" kern="1200" dirty="0" smtClean="0">
                <a:solidFill>
                  <a:schemeClr val="tx1"/>
                </a:solidFill>
                <a:effectLst/>
                <a:latin typeface="+mn-lt"/>
                <a:ea typeface="+mn-ea"/>
                <a:cs typeface="+mn-cs"/>
              </a:rPr>
              <a:t>：当前读入字符为数字；</a:t>
            </a:r>
          </a:p>
          <a:p>
            <a:r>
              <a:rPr lang="en-US" altLang="zh-CN" sz="1200" kern="1200" dirty="0" smtClean="0">
                <a:solidFill>
                  <a:schemeClr val="tx1"/>
                </a:solidFill>
                <a:effectLst/>
                <a:latin typeface="+mn-lt"/>
                <a:ea typeface="+mn-ea"/>
                <a:cs typeface="+mn-cs"/>
              </a:rPr>
              <a:t>INPOINT</a:t>
            </a:r>
            <a:r>
              <a:rPr lang="zh-CN" altLang="zh-CN" sz="1200" kern="1200" dirty="0" smtClean="0">
                <a:solidFill>
                  <a:schemeClr val="tx1"/>
                </a:solidFill>
                <a:effectLst/>
                <a:latin typeface="+mn-lt"/>
                <a:ea typeface="+mn-ea"/>
                <a:cs typeface="+mn-cs"/>
              </a:rPr>
              <a:t>： 当前读入了小数点。</a:t>
            </a:r>
          </a:p>
          <a:p>
            <a:r>
              <a:rPr lang="zh-CN" altLang="zh-CN" sz="1200" kern="1200" dirty="0" smtClean="0">
                <a:solidFill>
                  <a:schemeClr val="tx1"/>
                </a:solidFill>
                <a:effectLst/>
                <a:latin typeface="+mn-lt"/>
                <a:ea typeface="+mn-ea"/>
                <a:cs typeface="+mn-cs"/>
              </a:rPr>
              <a:t>词法分析</a:t>
            </a:r>
            <a:r>
              <a:rPr lang="en-US" altLang="zh-CN" sz="1200" kern="1200" dirty="0" smtClean="0">
                <a:solidFill>
                  <a:schemeClr val="tx1"/>
                </a:solidFill>
                <a:effectLst/>
                <a:latin typeface="+mn-lt"/>
                <a:ea typeface="+mn-ea"/>
                <a:cs typeface="+mn-cs"/>
              </a:rPr>
              <a:t>FA</a:t>
            </a:r>
            <a:r>
              <a:rPr lang="zh-CN" altLang="zh-CN" sz="1200" kern="1200" dirty="0" smtClean="0">
                <a:solidFill>
                  <a:schemeClr val="tx1"/>
                </a:solidFill>
                <a:effectLst/>
                <a:latin typeface="+mn-lt"/>
                <a:ea typeface="+mn-ea"/>
                <a:cs typeface="+mn-cs"/>
              </a:rPr>
              <a:t>的转换图</a:t>
            </a:r>
            <a:r>
              <a:rPr lang="en-US" altLang="zh-CN" sz="1200" kern="1200" dirty="0" smtClean="0">
                <a:solidFill>
                  <a:schemeClr val="tx1"/>
                </a:solidFill>
                <a:effectLst/>
                <a:latin typeface="+mn-lt"/>
                <a:ea typeface="+mn-ea"/>
                <a:cs typeface="+mn-cs"/>
              </a:rPr>
              <a:t>(Transition Graph)</a:t>
            </a:r>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7.14</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29</a:t>
            </a:fld>
            <a:endParaRPr lang="zh-CN" altLang="en-US"/>
          </a:p>
        </p:txBody>
      </p:sp>
    </p:spTree>
    <p:extLst>
      <p:ext uri="{BB962C8B-B14F-4D97-AF65-F5344CB8AC3E}">
        <p14:creationId xmlns:p14="http://schemas.microsoft.com/office/powerpoint/2010/main" val="200924366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将转换图细化，可以设计出该词法分析器的代码，代码设计可以参考图</a:t>
            </a:r>
            <a:r>
              <a:rPr lang="en-US" altLang="zh-CN" sz="1200" kern="1200" dirty="0" smtClean="0">
                <a:solidFill>
                  <a:schemeClr val="tx1"/>
                </a:solidFill>
                <a:effectLst/>
                <a:latin typeface="+mn-lt"/>
                <a:ea typeface="+mn-ea"/>
                <a:cs typeface="+mn-cs"/>
              </a:rPr>
              <a:t>7.15</a:t>
            </a:r>
            <a:r>
              <a:rPr lang="zh-CN" altLang="zh-CN" sz="1200" kern="1200" dirty="0" smtClean="0">
                <a:solidFill>
                  <a:schemeClr val="tx1"/>
                </a:solidFill>
                <a:effectLst/>
                <a:latin typeface="+mn-lt"/>
                <a:ea typeface="+mn-ea"/>
                <a:cs typeface="+mn-cs"/>
              </a:rPr>
              <a:t>所示的流程图。</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30</a:t>
            </a:fld>
            <a:endParaRPr lang="zh-CN" altLang="en-US"/>
          </a:p>
        </p:txBody>
      </p:sp>
    </p:spTree>
    <p:extLst>
      <p:ext uri="{BB962C8B-B14F-4D97-AF65-F5344CB8AC3E}">
        <p14:creationId xmlns:p14="http://schemas.microsoft.com/office/powerpoint/2010/main" val="37571268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上述流程图中，</a:t>
            </a:r>
            <a:r>
              <a:rPr lang="en-US" altLang="zh-CN" sz="1200" kern="1200" dirty="0" smtClean="0">
                <a:solidFill>
                  <a:schemeClr val="tx1"/>
                </a:solidFill>
                <a:effectLst/>
                <a:latin typeface="+mn-lt"/>
                <a:ea typeface="+mn-ea"/>
                <a:cs typeface="+mn-cs"/>
              </a:rPr>
              <a:t>state</a:t>
            </a:r>
            <a:r>
              <a:rPr lang="zh-CN" altLang="zh-CN"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START</a:t>
            </a:r>
            <a:r>
              <a:rPr lang="zh-CN" altLang="zh-CN" sz="1200" kern="1200" dirty="0" smtClean="0">
                <a:solidFill>
                  <a:schemeClr val="tx1"/>
                </a:solidFill>
                <a:effectLst/>
                <a:latin typeface="+mn-lt"/>
                <a:ea typeface="+mn-ea"/>
                <a:cs typeface="+mn-cs"/>
              </a:rPr>
              <a:t>的处理流程如图</a:t>
            </a:r>
            <a:r>
              <a:rPr lang="en-US" altLang="zh-CN" sz="1200" kern="1200" dirty="0" smtClean="0">
                <a:solidFill>
                  <a:schemeClr val="tx1"/>
                </a:solidFill>
                <a:effectLst/>
                <a:latin typeface="+mn-lt"/>
                <a:ea typeface="+mn-ea"/>
                <a:cs typeface="+mn-cs"/>
              </a:rPr>
              <a:t>7.16</a:t>
            </a:r>
            <a:r>
              <a:rPr lang="zh-CN" altLang="zh-CN" sz="1200" kern="1200" dirty="0" smtClean="0">
                <a:solidFill>
                  <a:schemeClr val="tx1"/>
                </a:solidFill>
                <a:effectLst/>
                <a:latin typeface="+mn-lt"/>
                <a:ea typeface="+mn-ea"/>
                <a:cs typeface="+mn-cs"/>
              </a:rPr>
              <a:t>所示。该流程根据后续是否是字母或数字将状态机分别转入</a:t>
            </a:r>
            <a:r>
              <a:rPr lang="en-US" altLang="zh-CN" sz="1200" kern="1200" dirty="0" smtClean="0">
                <a:solidFill>
                  <a:schemeClr val="tx1"/>
                </a:solidFill>
                <a:effectLst/>
                <a:latin typeface="+mn-lt"/>
                <a:ea typeface="+mn-ea"/>
                <a:cs typeface="+mn-cs"/>
              </a:rPr>
              <a:t>INID</a:t>
            </a:r>
            <a:r>
              <a:rPr lang="zh-CN" altLang="zh-CN" sz="1200" kern="1200" dirty="0" smtClean="0">
                <a:solidFill>
                  <a:schemeClr val="tx1"/>
                </a:solidFill>
                <a:effectLst/>
                <a:latin typeface="+mn-lt"/>
                <a:ea typeface="+mn-ea"/>
                <a:cs typeface="+mn-cs"/>
              </a:rPr>
              <a:t>或</a:t>
            </a:r>
            <a:r>
              <a:rPr lang="en-US" altLang="zh-CN" sz="1200" kern="1200" dirty="0" smtClean="0">
                <a:solidFill>
                  <a:schemeClr val="tx1"/>
                </a:solidFill>
                <a:effectLst/>
                <a:latin typeface="+mn-lt"/>
                <a:ea typeface="+mn-ea"/>
                <a:cs typeface="+mn-cs"/>
              </a:rPr>
              <a:t>INNUM</a:t>
            </a:r>
            <a:r>
              <a:rPr lang="zh-CN" altLang="zh-CN" sz="1200" kern="1200" dirty="0" smtClean="0">
                <a:solidFill>
                  <a:schemeClr val="tx1"/>
                </a:solidFill>
                <a:effectLst/>
                <a:latin typeface="+mn-lt"/>
                <a:ea typeface="+mn-ea"/>
                <a:cs typeface="+mn-cs"/>
              </a:rPr>
              <a:t>状态，另外还根据布尔标记</a:t>
            </a:r>
            <a:r>
              <a:rPr lang="en-US" altLang="zh-CN" sz="1200" kern="1200" dirty="0" err="1" smtClean="0">
                <a:solidFill>
                  <a:schemeClr val="tx1"/>
                </a:solidFill>
                <a:effectLst/>
                <a:latin typeface="+mn-lt"/>
                <a:ea typeface="+mn-ea"/>
                <a:cs typeface="+mn-cs"/>
              </a:rPr>
              <a:t>bSave</a:t>
            </a:r>
            <a:r>
              <a:rPr lang="zh-CN" altLang="zh-CN" sz="1200" kern="1200" dirty="0" smtClean="0">
                <a:solidFill>
                  <a:schemeClr val="tx1"/>
                </a:solidFill>
                <a:effectLst/>
                <a:latin typeface="+mn-lt"/>
                <a:ea typeface="+mn-ea"/>
                <a:cs typeface="+mn-cs"/>
              </a:rPr>
              <a:t>设置，将空格、注释以及回车换行符等去除，将命令行有效内容分词之后按顺序存入</a:t>
            </a:r>
            <a:r>
              <a:rPr lang="en-US" altLang="zh-CN" sz="1200" kern="1200" dirty="0" err="1" smtClean="0">
                <a:solidFill>
                  <a:schemeClr val="tx1"/>
                </a:solidFill>
                <a:effectLst/>
                <a:latin typeface="+mn-lt"/>
                <a:ea typeface="+mn-ea"/>
                <a:cs typeface="+mn-cs"/>
              </a:rPr>
              <a:t>tokenStr</a:t>
            </a:r>
            <a:r>
              <a:rPr lang="zh-CN" altLang="zh-CN" sz="1200" kern="1200" dirty="0" smtClean="0">
                <a:solidFill>
                  <a:schemeClr val="tx1"/>
                </a:solidFill>
                <a:effectLst/>
                <a:latin typeface="+mn-lt"/>
                <a:ea typeface="+mn-ea"/>
                <a:cs typeface="+mn-cs"/>
              </a:rPr>
              <a:t>数组。</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31</a:t>
            </a:fld>
            <a:endParaRPr lang="zh-CN" altLang="en-US"/>
          </a:p>
        </p:txBody>
      </p:sp>
    </p:spTree>
    <p:extLst>
      <p:ext uri="{BB962C8B-B14F-4D97-AF65-F5344CB8AC3E}">
        <p14:creationId xmlns:p14="http://schemas.microsoft.com/office/powerpoint/2010/main" val="35662019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如图</a:t>
            </a:r>
            <a:r>
              <a:rPr lang="en-US" altLang="zh-CN" sz="1200" kern="1200" dirty="0" smtClean="0">
                <a:solidFill>
                  <a:schemeClr val="tx1"/>
                </a:solidFill>
                <a:effectLst/>
                <a:latin typeface="+mn-lt"/>
                <a:ea typeface="+mn-ea"/>
                <a:cs typeface="+mn-cs"/>
              </a:rPr>
              <a:t>7.17</a:t>
            </a:r>
            <a:r>
              <a:rPr lang="zh-CN" altLang="zh-CN" sz="1200" kern="1200" dirty="0" smtClean="0">
                <a:solidFill>
                  <a:schemeClr val="tx1"/>
                </a:solidFill>
                <a:effectLst/>
                <a:latin typeface="+mn-lt"/>
                <a:ea typeface="+mn-ea"/>
                <a:cs typeface="+mn-cs"/>
              </a:rPr>
              <a:t>所示，</a:t>
            </a:r>
            <a:r>
              <a:rPr lang="en-US" altLang="zh-CN" sz="1200" kern="1200" dirty="0" smtClean="0">
                <a:solidFill>
                  <a:schemeClr val="tx1"/>
                </a:solidFill>
                <a:effectLst/>
                <a:latin typeface="+mn-lt"/>
                <a:ea typeface="+mn-ea"/>
                <a:cs typeface="+mn-cs"/>
              </a:rPr>
              <a:t>state</a:t>
            </a:r>
            <a:r>
              <a:rPr lang="zh-CN" altLang="zh-CN"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INID</a:t>
            </a:r>
            <a:r>
              <a:rPr lang="zh-CN" altLang="zh-CN" sz="1200" kern="1200" dirty="0" smtClean="0">
                <a:solidFill>
                  <a:schemeClr val="tx1"/>
                </a:solidFill>
                <a:effectLst/>
                <a:latin typeface="+mn-lt"/>
                <a:ea typeface="+mn-ea"/>
                <a:cs typeface="+mn-cs"/>
              </a:rPr>
              <a:t>的流程处理较为简单，只需判别当前输入字符是否还是字母，如还是字母，则表明还需继续循环；如不是字母，说明命令关键词已读完，需要将命令行字符位置标识</a:t>
            </a:r>
            <a:r>
              <a:rPr lang="en-US" altLang="zh-CN" sz="1200" kern="1200" dirty="0" err="1" smtClean="0">
                <a:solidFill>
                  <a:schemeClr val="tx1"/>
                </a:solidFill>
                <a:effectLst/>
                <a:latin typeface="+mn-lt"/>
                <a:ea typeface="+mn-ea"/>
                <a:cs typeface="+mn-cs"/>
              </a:rPr>
              <a:t>linepos</a:t>
            </a:r>
            <a:r>
              <a:rPr lang="zh-CN" altLang="zh-CN" sz="1200" kern="1200" dirty="0" smtClean="0">
                <a:solidFill>
                  <a:schemeClr val="tx1"/>
                </a:solidFill>
                <a:effectLst/>
                <a:latin typeface="+mn-lt"/>
                <a:ea typeface="+mn-ea"/>
                <a:cs typeface="+mn-cs"/>
              </a:rPr>
              <a:t>回退一个字符位置，将状态设为终止状态</a:t>
            </a:r>
            <a:r>
              <a:rPr lang="en-US" altLang="zh-CN" sz="1200" kern="1200" dirty="0" smtClean="0">
                <a:solidFill>
                  <a:schemeClr val="tx1"/>
                </a:solidFill>
                <a:effectLst/>
                <a:latin typeface="+mn-lt"/>
                <a:ea typeface="+mn-ea"/>
                <a:cs typeface="+mn-cs"/>
              </a:rPr>
              <a:t>(state=DONE)</a:t>
            </a:r>
            <a:r>
              <a:rPr lang="zh-CN" altLang="zh-CN" sz="1200" kern="1200" dirty="0" smtClean="0">
                <a:solidFill>
                  <a:schemeClr val="tx1"/>
                </a:solidFill>
                <a:effectLst/>
                <a:latin typeface="+mn-lt"/>
                <a:ea typeface="+mn-ea"/>
                <a:cs typeface="+mn-cs"/>
              </a:rPr>
              <a:t>，并将需要返回输出的</a:t>
            </a:r>
            <a:r>
              <a:rPr lang="en-US" altLang="zh-CN" sz="1200" kern="1200" dirty="0" err="1" smtClean="0">
                <a:solidFill>
                  <a:schemeClr val="tx1"/>
                </a:solidFill>
                <a:effectLst/>
                <a:latin typeface="+mn-lt"/>
                <a:ea typeface="+mn-ea"/>
                <a:cs typeface="+mn-cs"/>
              </a:rPr>
              <a:t>curToken</a:t>
            </a:r>
            <a:r>
              <a:rPr lang="zh-CN" altLang="zh-CN" sz="1200" kern="1200" dirty="0" smtClean="0">
                <a:solidFill>
                  <a:schemeClr val="tx1"/>
                </a:solidFill>
                <a:effectLst/>
                <a:latin typeface="+mn-lt"/>
                <a:ea typeface="+mn-ea"/>
                <a:cs typeface="+mn-cs"/>
              </a:rPr>
              <a:t>设为</a:t>
            </a:r>
            <a:r>
              <a:rPr lang="en-US" altLang="zh-CN" sz="1200" kern="1200" dirty="0" smtClean="0">
                <a:solidFill>
                  <a:schemeClr val="tx1"/>
                </a:solidFill>
                <a:effectLst/>
                <a:latin typeface="+mn-lt"/>
                <a:ea typeface="+mn-ea"/>
                <a:cs typeface="+mn-cs"/>
              </a:rPr>
              <a:t>ID</a:t>
            </a:r>
            <a:r>
              <a:rPr lang="zh-CN"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curToken</a:t>
            </a:r>
            <a:r>
              <a:rPr lang="zh-CN" altLang="zh-CN" sz="1200" kern="1200" dirty="0" smtClean="0">
                <a:solidFill>
                  <a:schemeClr val="tx1"/>
                </a:solidFill>
                <a:effectLst/>
                <a:latin typeface="+mn-lt"/>
                <a:ea typeface="+mn-ea"/>
                <a:cs typeface="+mn-cs"/>
              </a:rPr>
              <a:t>设为</a:t>
            </a:r>
            <a:r>
              <a:rPr lang="en-US" altLang="zh-CN" sz="1200" kern="1200" dirty="0" smtClean="0">
                <a:solidFill>
                  <a:schemeClr val="tx1"/>
                </a:solidFill>
                <a:effectLst/>
                <a:latin typeface="+mn-lt"/>
                <a:ea typeface="+mn-ea"/>
                <a:cs typeface="+mn-cs"/>
              </a:rPr>
              <a:t>ID</a:t>
            </a:r>
            <a:r>
              <a:rPr lang="zh-CN" altLang="zh-CN" sz="1200" kern="1200" dirty="0" smtClean="0">
                <a:solidFill>
                  <a:schemeClr val="tx1"/>
                </a:solidFill>
                <a:effectLst/>
                <a:latin typeface="+mn-lt"/>
                <a:ea typeface="+mn-ea"/>
                <a:cs typeface="+mn-cs"/>
              </a:rPr>
              <a:t>表明该词素为一个命令符，在词法分析主流程中，设计了一个</a:t>
            </a:r>
            <a:r>
              <a:rPr lang="en-US" altLang="zh-CN" sz="1200" kern="1200" dirty="0" err="1" smtClean="0">
                <a:solidFill>
                  <a:schemeClr val="tx1"/>
                </a:solidFill>
                <a:effectLst/>
                <a:latin typeface="+mn-lt"/>
                <a:ea typeface="+mn-ea"/>
                <a:cs typeface="+mn-cs"/>
              </a:rPr>
              <a:t>Wordslookup</a:t>
            </a:r>
            <a:r>
              <a:rPr lang="zh-CN" altLang="zh-CN" sz="1200" kern="1200" dirty="0" smtClean="0">
                <a:solidFill>
                  <a:schemeClr val="tx1"/>
                </a:solidFill>
                <a:effectLst/>
                <a:latin typeface="+mn-lt"/>
                <a:ea typeface="+mn-ea"/>
                <a:cs typeface="+mn-cs"/>
              </a:rPr>
              <a:t>函数，根据存入</a:t>
            </a:r>
            <a:r>
              <a:rPr lang="en-US" altLang="zh-CN" sz="1200" kern="1200" dirty="0" err="1" smtClean="0">
                <a:solidFill>
                  <a:schemeClr val="tx1"/>
                </a:solidFill>
                <a:effectLst/>
                <a:latin typeface="+mn-lt"/>
                <a:ea typeface="+mn-ea"/>
                <a:cs typeface="+mn-cs"/>
              </a:rPr>
              <a:t>tokenStr</a:t>
            </a:r>
            <a:r>
              <a:rPr lang="zh-CN" altLang="zh-CN" sz="1200" kern="1200" dirty="0" smtClean="0">
                <a:solidFill>
                  <a:schemeClr val="tx1"/>
                </a:solidFill>
                <a:effectLst/>
                <a:latin typeface="+mn-lt"/>
                <a:ea typeface="+mn-ea"/>
                <a:cs typeface="+mn-cs"/>
              </a:rPr>
              <a:t>数组中的字符串，在前面定义的词库中查找对应的</a:t>
            </a:r>
            <a:r>
              <a:rPr lang="en-US" altLang="zh-CN" sz="1200" kern="1200" dirty="0" smtClean="0">
                <a:solidFill>
                  <a:schemeClr val="tx1"/>
                </a:solidFill>
                <a:effectLst/>
                <a:latin typeface="+mn-lt"/>
                <a:ea typeface="+mn-ea"/>
                <a:cs typeface="+mn-cs"/>
              </a:rPr>
              <a:t>token</a:t>
            </a:r>
            <a:r>
              <a:rPr lang="zh-CN" altLang="zh-CN" sz="1200" kern="1200" dirty="0" smtClean="0">
                <a:solidFill>
                  <a:schemeClr val="tx1"/>
                </a:solidFill>
                <a:effectLst/>
                <a:latin typeface="+mn-lt"/>
                <a:ea typeface="+mn-ea"/>
                <a:cs typeface="+mn-cs"/>
              </a:rPr>
              <a:t>类型。</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32</a:t>
            </a:fld>
            <a:endParaRPr lang="zh-CN" altLang="en-US"/>
          </a:p>
        </p:txBody>
      </p:sp>
    </p:spTree>
    <p:extLst>
      <p:ext uri="{BB962C8B-B14F-4D97-AF65-F5344CB8AC3E}">
        <p14:creationId xmlns:p14="http://schemas.microsoft.com/office/powerpoint/2010/main" val="8927317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同理，对于</a:t>
            </a:r>
            <a:r>
              <a:rPr lang="en-US" altLang="zh-CN" sz="1200" kern="1200" dirty="0" smtClean="0">
                <a:solidFill>
                  <a:schemeClr val="tx1"/>
                </a:solidFill>
                <a:effectLst/>
                <a:latin typeface="+mn-lt"/>
                <a:ea typeface="+mn-ea"/>
                <a:cs typeface="+mn-cs"/>
              </a:rPr>
              <a:t>state</a:t>
            </a:r>
            <a:r>
              <a:rPr lang="zh-CN" altLang="zh-CN"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INNUM</a:t>
            </a:r>
            <a:r>
              <a:rPr lang="zh-CN" altLang="zh-CN" sz="1200" kern="1200" dirty="0" smtClean="0">
                <a:solidFill>
                  <a:schemeClr val="tx1"/>
                </a:solidFill>
                <a:effectLst/>
                <a:latin typeface="+mn-lt"/>
                <a:ea typeface="+mn-ea"/>
                <a:cs typeface="+mn-cs"/>
              </a:rPr>
              <a:t>状态，说明当前读入字符为数字，需要将该数据位数全部读完（包括小数点后面数据，在本实例中小数点由</a:t>
            </a:r>
            <a:r>
              <a:rPr lang="en-US" altLang="zh-CN" sz="1200" kern="1200" dirty="0" smtClean="0">
                <a:solidFill>
                  <a:schemeClr val="tx1"/>
                </a:solidFill>
                <a:effectLst/>
                <a:latin typeface="+mn-lt"/>
                <a:ea typeface="+mn-ea"/>
                <a:cs typeface="+mn-cs"/>
              </a:rPr>
              <a:t>INPOINT</a:t>
            </a:r>
            <a:r>
              <a:rPr lang="zh-CN" altLang="zh-CN" sz="1200" kern="1200" dirty="0" smtClean="0">
                <a:solidFill>
                  <a:schemeClr val="tx1"/>
                </a:solidFill>
                <a:effectLst/>
                <a:latin typeface="+mn-lt"/>
                <a:ea typeface="+mn-ea"/>
                <a:cs typeface="+mn-cs"/>
              </a:rPr>
              <a:t>状态处理），</a:t>
            </a:r>
            <a:r>
              <a:rPr lang="en-US" altLang="zh-CN" sz="1200" kern="1200" dirty="0" smtClean="0">
                <a:solidFill>
                  <a:schemeClr val="tx1"/>
                </a:solidFill>
                <a:effectLst/>
                <a:latin typeface="+mn-lt"/>
                <a:ea typeface="+mn-ea"/>
                <a:cs typeface="+mn-cs"/>
              </a:rPr>
              <a:t>INNUM</a:t>
            </a:r>
            <a:r>
              <a:rPr lang="zh-CN" altLang="zh-CN" sz="1200" kern="1200" dirty="0" smtClean="0">
                <a:solidFill>
                  <a:schemeClr val="tx1"/>
                </a:solidFill>
                <a:effectLst/>
                <a:latin typeface="+mn-lt"/>
                <a:ea typeface="+mn-ea"/>
                <a:cs typeface="+mn-cs"/>
              </a:rPr>
              <a:t>状态处理流程如图</a:t>
            </a:r>
            <a:r>
              <a:rPr lang="en-US" altLang="zh-CN" sz="1200" kern="1200" dirty="0" smtClean="0">
                <a:solidFill>
                  <a:schemeClr val="tx1"/>
                </a:solidFill>
                <a:effectLst/>
                <a:latin typeface="+mn-lt"/>
                <a:ea typeface="+mn-ea"/>
                <a:cs typeface="+mn-cs"/>
              </a:rPr>
              <a:t>7.18</a:t>
            </a:r>
            <a:r>
              <a:rPr lang="zh-CN" altLang="zh-CN" sz="1200" kern="1200" dirty="0" smtClean="0">
                <a:solidFill>
                  <a:schemeClr val="tx1"/>
                </a:solidFill>
                <a:effectLst/>
                <a:latin typeface="+mn-lt"/>
                <a:ea typeface="+mn-ea"/>
                <a:cs typeface="+mn-cs"/>
              </a:rPr>
              <a:t>所示，</a:t>
            </a:r>
            <a:r>
              <a:rPr lang="en-US" altLang="zh-CN" sz="1200" kern="1200" dirty="0" smtClean="0">
                <a:solidFill>
                  <a:schemeClr val="tx1"/>
                </a:solidFill>
                <a:effectLst/>
                <a:latin typeface="+mn-lt"/>
                <a:ea typeface="+mn-ea"/>
                <a:cs typeface="+mn-cs"/>
              </a:rPr>
              <a:t>INPOINT</a:t>
            </a:r>
            <a:r>
              <a:rPr lang="zh-CN" altLang="zh-CN" sz="1200" kern="1200" dirty="0" smtClean="0">
                <a:solidFill>
                  <a:schemeClr val="tx1"/>
                </a:solidFill>
                <a:effectLst/>
                <a:latin typeface="+mn-lt"/>
                <a:ea typeface="+mn-ea"/>
                <a:cs typeface="+mn-cs"/>
              </a:rPr>
              <a:t>状态处理流程如图</a:t>
            </a:r>
            <a:r>
              <a:rPr lang="en-US" altLang="zh-CN" sz="1200" kern="1200" dirty="0" smtClean="0">
                <a:solidFill>
                  <a:schemeClr val="tx1"/>
                </a:solidFill>
                <a:effectLst/>
                <a:latin typeface="+mn-lt"/>
                <a:ea typeface="+mn-ea"/>
                <a:cs typeface="+mn-cs"/>
              </a:rPr>
              <a:t>7.19</a:t>
            </a:r>
            <a:r>
              <a:rPr lang="zh-CN" altLang="zh-CN" sz="1200" kern="1200" dirty="0" smtClean="0">
                <a:solidFill>
                  <a:schemeClr val="tx1"/>
                </a:solidFill>
                <a:effectLst/>
                <a:latin typeface="+mn-lt"/>
                <a:ea typeface="+mn-ea"/>
                <a:cs typeface="+mn-cs"/>
              </a:rPr>
              <a:t>所示。</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33</a:t>
            </a:fld>
            <a:endParaRPr lang="zh-CN" altLang="en-US"/>
          </a:p>
        </p:txBody>
      </p:sp>
    </p:spTree>
    <p:extLst>
      <p:ext uri="{BB962C8B-B14F-4D97-AF65-F5344CB8AC3E}">
        <p14:creationId xmlns:p14="http://schemas.microsoft.com/office/powerpoint/2010/main" val="42043265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这里采用</a:t>
            </a:r>
            <a:r>
              <a:rPr lang="en-US" altLang="zh-CN" sz="1200" kern="1200" dirty="0" smtClean="0">
                <a:solidFill>
                  <a:schemeClr val="tx1"/>
                </a:solidFill>
                <a:effectLst/>
                <a:latin typeface="+mn-lt"/>
                <a:ea typeface="+mn-ea"/>
                <a:cs typeface="+mn-cs"/>
              </a:rPr>
              <a:t>C++</a:t>
            </a:r>
            <a:r>
              <a:rPr lang="zh-CN" altLang="zh-CN" sz="1200" kern="1200" dirty="0" smtClean="0">
                <a:solidFill>
                  <a:schemeClr val="tx1"/>
                </a:solidFill>
                <a:effectLst/>
                <a:latin typeface="+mn-lt"/>
                <a:ea typeface="+mn-ea"/>
                <a:cs typeface="+mn-cs"/>
              </a:rPr>
              <a:t>编写一个简易的词法分析函数</a:t>
            </a:r>
            <a:r>
              <a:rPr lang="en-US" altLang="zh-CN" sz="1200" kern="1200" dirty="0" smtClean="0">
                <a:solidFill>
                  <a:schemeClr val="tx1"/>
                </a:solidFill>
                <a:effectLst/>
                <a:latin typeface="+mn-lt"/>
                <a:ea typeface="+mn-ea"/>
                <a:cs typeface="+mn-cs"/>
              </a:rPr>
              <a:t>lex2token()</a:t>
            </a:r>
            <a:r>
              <a:rPr lang="zh-CN" altLang="zh-CN" sz="1200" kern="1200" dirty="0" smtClean="0">
                <a:solidFill>
                  <a:schemeClr val="tx1"/>
                </a:solidFill>
                <a:effectLst/>
                <a:latin typeface="+mn-lt"/>
                <a:ea typeface="+mn-ea"/>
                <a:cs typeface="+mn-cs"/>
              </a:rPr>
              <a:t>，其示例代码见表</a:t>
            </a:r>
            <a:r>
              <a:rPr lang="en-US" altLang="zh-CN" sz="1200" kern="1200" dirty="0" smtClean="0">
                <a:solidFill>
                  <a:schemeClr val="tx1"/>
                </a:solidFill>
                <a:effectLst/>
                <a:latin typeface="+mn-lt"/>
                <a:ea typeface="+mn-ea"/>
                <a:cs typeface="+mn-cs"/>
              </a:rPr>
              <a:t>7.13</a:t>
            </a:r>
            <a:r>
              <a:rPr lang="zh-CN" altLang="zh-CN" sz="120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34</a:t>
            </a:fld>
            <a:endParaRPr lang="zh-CN" altLang="en-US"/>
          </a:p>
        </p:txBody>
      </p:sp>
    </p:spTree>
    <p:extLst>
      <p:ext uri="{BB962C8B-B14F-4D97-AF65-F5344CB8AC3E}">
        <p14:creationId xmlns:p14="http://schemas.microsoft.com/office/powerpoint/2010/main" val="16028576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一般来说，语法分析</a:t>
            </a:r>
            <a:r>
              <a:rPr lang="en-US" altLang="zh-CN" sz="1200" kern="1200" dirty="0" smtClean="0">
                <a:solidFill>
                  <a:schemeClr val="tx1"/>
                </a:solidFill>
                <a:effectLst/>
                <a:latin typeface="+mn-lt"/>
                <a:ea typeface="+mn-ea"/>
                <a:cs typeface="+mn-cs"/>
              </a:rPr>
              <a:t> (Syntax Analysis)</a:t>
            </a:r>
            <a:r>
              <a:rPr lang="zh-CN" altLang="zh-CN" sz="1200" kern="1200" dirty="0" smtClean="0">
                <a:solidFill>
                  <a:schemeClr val="tx1"/>
                </a:solidFill>
                <a:effectLst/>
                <a:latin typeface="+mn-lt"/>
                <a:ea typeface="+mn-ea"/>
                <a:cs typeface="+mn-cs"/>
              </a:rPr>
              <a:t>是构建编译器的第二个步骤，语法分析器对上一步词法分析输出的词法单元</a:t>
            </a:r>
            <a:r>
              <a:rPr lang="en-US" altLang="zh-CN" sz="1200" kern="1200" dirty="0" smtClean="0">
                <a:solidFill>
                  <a:schemeClr val="tx1"/>
                </a:solidFill>
                <a:effectLst/>
                <a:latin typeface="+mn-lt"/>
                <a:ea typeface="+mn-ea"/>
                <a:cs typeface="+mn-cs"/>
              </a:rPr>
              <a:t>(Token)</a:t>
            </a:r>
            <a:r>
              <a:rPr lang="zh-CN" altLang="zh-CN" sz="1200" kern="1200" dirty="0" smtClean="0">
                <a:solidFill>
                  <a:schemeClr val="tx1"/>
                </a:solidFill>
                <a:effectLst/>
                <a:latin typeface="+mn-lt"/>
                <a:ea typeface="+mn-ea"/>
                <a:cs typeface="+mn-cs"/>
              </a:rPr>
              <a:t>进行判别，创建各类语句对应的语法树形结构（语法树</a:t>
            </a:r>
            <a:r>
              <a:rPr lang="en-US" altLang="zh-CN" sz="1200" kern="1200" dirty="0" smtClean="0">
                <a:solidFill>
                  <a:schemeClr val="tx1"/>
                </a:solidFill>
                <a:effectLst/>
                <a:latin typeface="+mn-lt"/>
                <a:ea typeface="+mn-ea"/>
                <a:cs typeface="+mn-cs"/>
              </a:rPr>
              <a:t>Syntax Tree</a:t>
            </a:r>
            <a:r>
              <a:rPr lang="zh-CN" altLang="zh-CN" sz="1200" kern="1200" dirty="0" smtClean="0">
                <a:solidFill>
                  <a:schemeClr val="tx1"/>
                </a:solidFill>
                <a:effectLst/>
                <a:latin typeface="+mn-lt"/>
                <a:ea typeface="+mn-ea"/>
                <a:cs typeface="+mn-cs"/>
              </a:rPr>
              <a:t>）。</a:t>
            </a:r>
          </a:p>
          <a:p>
            <a:r>
              <a:rPr lang="zh-CN" altLang="zh-CN" sz="1200" kern="1200" dirty="0" smtClean="0">
                <a:solidFill>
                  <a:schemeClr val="tx1"/>
                </a:solidFill>
                <a:effectLst/>
                <a:latin typeface="+mn-lt"/>
                <a:ea typeface="+mn-ea"/>
                <a:cs typeface="+mn-cs"/>
              </a:rPr>
              <a:t>本例中的语法分析处理流程图如图</a:t>
            </a:r>
            <a:r>
              <a:rPr lang="en-US" altLang="zh-CN" sz="1200" kern="1200" dirty="0" smtClean="0">
                <a:solidFill>
                  <a:schemeClr val="tx1"/>
                </a:solidFill>
                <a:effectLst/>
                <a:latin typeface="+mn-lt"/>
                <a:ea typeface="+mn-ea"/>
                <a:cs typeface="+mn-cs"/>
              </a:rPr>
              <a:t>7.20</a:t>
            </a:r>
            <a:r>
              <a:rPr lang="zh-CN" altLang="zh-CN" sz="1200" kern="1200" dirty="0" smtClean="0">
                <a:solidFill>
                  <a:schemeClr val="tx1"/>
                </a:solidFill>
                <a:effectLst/>
                <a:latin typeface="+mn-lt"/>
                <a:ea typeface="+mn-ea"/>
                <a:cs typeface="+mn-cs"/>
              </a:rPr>
              <a:t>所示。</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35</a:t>
            </a:fld>
            <a:endParaRPr lang="zh-CN" altLang="en-US"/>
          </a:p>
        </p:txBody>
      </p:sp>
    </p:spTree>
    <p:extLst>
      <p:ext uri="{BB962C8B-B14F-4D97-AF65-F5344CB8AC3E}">
        <p14:creationId xmlns:p14="http://schemas.microsoft.com/office/powerpoint/2010/main" val="28844416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以</a:t>
            </a:r>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语句为例，参照图</a:t>
            </a:r>
            <a:r>
              <a:rPr lang="en-US" altLang="zh-CN" sz="1200" kern="1200" dirty="0" smtClean="0">
                <a:solidFill>
                  <a:schemeClr val="tx1"/>
                </a:solidFill>
                <a:effectLst/>
                <a:latin typeface="+mn-lt"/>
                <a:ea typeface="+mn-ea"/>
                <a:cs typeface="+mn-cs"/>
              </a:rPr>
              <a:t>7.9</a:t>
            </a:r>
            <a:r>
              <a:rPr lang="zh-CN" altLang="zh-CN" sz="1200" kern="1200" dirty="0" smtClean="0">
                <a:solidFill>
                  <a:schemeClr val="tx1"/>
                </a:solidFill>
                <a:effectLst/>
                <a:latin typeface="+mn-lt"/>
                <a:ea typeface="+mn-ea"/>
                <a:cs typeface="+mn-cs"/>
              </a:rPr>
              <a:t>所示的语法结构图，</a:t>
            </a:r>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语句语法分析流程图如图</a:t>
            </a:r>
            <a:r>
              <a:rPr lang="en-US" altLang="zh-CN" sz="1200" kern="1200" dirty="0" smtClean="0">
                <a:solidFill>
                  <a:schemeClr val="tx1"/>
                </a:solidFill>
                <a:effectLst/>
                <a:latin typeface="+mn-lt"/>
                <a:ea typeface="+mn-ea"/>
                <a:cs typeface="+mn-cs"/>
              </a:rPr>
              <a:t>7.21</a:t>
            </a:r>
            <a:r>
              <a:rPr lang="zh-CN" altLang="zh-CN" sz="1200" kern="1200" dirty="0" smtClean="0">
                <a:solidFill>
                  <a:schemeClr val="tx1"/>
                </a:solidFill>
                <a:effectLst/>
                <a:latin typeface="+mn-lt"/>
                <a:ea typeface="+mn-ea"/>
                <a:cs typeface="+mn-cs"/>
              </a:rPr>
              <a:t>所示。</a:t>
            </a:r>
          </a:p>
          <a:p>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语法分析流程对</a:t>
            </a:r>
            <a:r>
              <a:rPr lang="en-US" altLang="zh-CN" sz="1200" kern="1200" dirty="0" smtClean="0">
                <a:solidFill>
                  <a:schemeClr val="tx1"/>
                </a:solidFill>
                <a:effectLst/>
                <a:latin typeface="+mn-lt"/>
                <a:ea typeface="+mn-ea"/>
                <a:cs typeface="+mn-cs"/>
              </a:rPr>
              <a:t>MOVEP</a:t>
            </a:r>
            <a:r>
              <a:rPr lang="zh-CN" altLang="zh-CN" sz="1200" kern="1200" dirty="0" smtClean="0">
                <a:solidFill>
                  <a:schemeClr val="tx1"/>
                </a:solidFill>
                <a:effectLst/>
                <a:latin typeface="+mn-lt"/>
                <a:ea typeface="+mn-ea"/>
                <a:cs typeface="+mn-cs"/>
              </a:rPr>
              <a:t>后面的词素进行分析，判别是</a:t>
            </a:r>
            <a:r>
              <a:rPr lang="en-US" altLang="zh-CN" sz="1200" kern="1200" dirty="0" smtClean="0">
                <a:solidFill>
                  <a:schemeClr val="tx1"/>
                </a:solidFill>
                <a:effectLst/>
                <a:latin typeface="+mn-lt"/>
                <a:ea typeface="+mn-ea"/>
                <a:cs typeface="+mn-cs"/>
              </a:rPr>
              <a:t>NUM</a:t>
            </a:r>
            <a:r>
              <a:rPr lang="zh-CN" altLang="zh-CN" sz="1200" kern="1200" dirty="0" smtClean="0">
                <a:solidFill>
                  <a:schemeClr val="tx1"/>
                </a:solidFill>
                <a:effectLst/>
                <a:latin typeface="+mn-lt"/>
                <a:ea typeface="+mn-ea"/>
                <a:cs typeface="+mn-cs"/>
              </a:rPr>
              <a:t>还是</a:t>
            </a:r>
            <a:r>
              <a:rPr lang="en-US" altLang="zh-CN" sz="1200" kern="1200" dirty="0" smtClean="0">
                <a:solidFill>
                  <a:schemeClr val="tx1"/>
                </a:solidFill>
                <a:effectLst/>
                <a:latin typeface="+mn-lt"/>
                <a:ea typeface="+mn-ea"/>
                <a:cs typeface="+mn-cs"/>
              </a:rPr>
              <a:t>P</a:t>
            </a:r>
            <a:r>
              <a:rPr lang="zh-CN" altLang="zh-CN" sz="1200" kern="1200" dirty="0" smtClean="0">
                <a:solidFill>
                  <a:schemeClr val="tx1"/>
                </a:solidFill>
                <a:effectLst/>
                <a:latin typeface="+mn-lt"/>
                <a:ea typeface="+mn-ea"/>
                <a:cs typeface="+mn-cs"/>
              </a:rPr>
              <a:t>，然后进行相应的参数读入处理，并按照在第五章运动规划中介绍的关节空间插补轨迹规划算法，计算出所有轨迹点的关节角序列。</a:t>
            </a:r>
            <a:r>
              <a:rPr lang="en-US" altLang="zh-CN" sz="1200" kern="1200" dirty="0" smtClean="0">
                <a:solidFill>
                  <a:schemeClr val="tx1"/>
                </a:solidFill>
                <a:effectLst/>
                <a:latin typeface="+mn-lt"/>
                <a:ea typeface="+mn-ea"/>
                <a:cs typeface="+mn-cs"/>
              </a:rPr>
              <a:t>MOVEL</a:t>
            </a:r>
            <a:r>
              <a:rPr lang="zh-CN" altLang="zh-CN" sz="1200" kern="1200" dirty="0" smtClean="0">
                <a:solidFill>
                  <a:schemeClr val="tx1"/>
                </a:solidFill>
                <a:effectLst/>
                <a:latin typeface="+mn-lt"/>
                <a:ea typeface="+mn-ea"/>
                <a:cs typeface="+mn-cs"/>
              </a:rPr>
              <a:t>对应笛卡尔空间插补轨迹规划算法，而</a:t>
            </a:r>
            <a:r>
              <a:rPr lang="en-US" altLang="zh-CN" sz="1200" kern="1200" dirty="0" smtClean="0">
                <a:solidFill>
                  <a:schemeClr val="tx1"/>
                </a:solidFill>
                <a:effectLst/>
                <a:latin typeface="+mn-lt"/>
                <a:ea typeface="+mn-ea"/>
                <a:cs typeface="+mn-cs"/>
              </a:rPr>
              <a:t>MOVEJ</a:t>
            </a:r>
            <a:r>
              <a:rPr lang="zh-CN" altLang="zh-CN" sz="1200" kern="1200" dirty="0" smtClean="0">
                <a:solidFill>
                  <a:schemeClr val="tx1"/>
                </a:solidFill>
                <a:effectLst/>
                <a:latin typeface="+mn-lt"/>
                <a:ea typeface="+mn-ea"/>
                <a:cs typeface="+mn-cs"/>
              </a:rPr>
              <a:t>则直接给出机械臂所有轴的关节角。其余指令语法树的实现也较为简单，可参照实现。</a:t>
            </a:r>
          </a:p>
          <a:p>
            <a:r>
              <a:rPr lang="zh-CN" altLang="zh-CN" sz="1200" kern="1200" dirty="0" smtClean="0">
                <a:solidFill>
                  <a:schemeClr val="tx1"/>
                </a:solidFill>
                <a:effectLst/>
                <a:latin typeface="+mn-lt"/>
                <a:ea typeface="+mn-ea"/>
                <a:cs typeface="+mn-cs"/>
              </a:rPr>
              <a:t>一般编程语言其编译器的开发，在进行语法分析后，还会进行语义分析</a:t>
            </a:r>
            <a:r>
              <a:rPr lang="en-US" altLang="zh-CN" sz="1200" kern="1200" dirty="0" smtClean="0">
                <a:solidFill>
                  <a:schemeClr val="tx1"/>
                </a:solidFill>
                <a:effectLst/>
                <a:latin typeface="+mn-lt"/>
                <a:ea typeface="+mn-ea"/>
                <a:cs typeface="+mn-cs"/>
              </a:rPr>
              <a:t>(Semantic Analyzer)</a:t>
            </a:r>
            <a:r>
              <a:rPr lang="zh-CN" altLang="zh-CN" sz="1200" kern="1200" dirty="0" smtClean="0">
                <a:solidFill>
                  <a:schemeClr val="tx1"/>
                </a:solidFill>
                <a:effectLst/>
                <a:latin typeface="+mn-lt"/>
                <a:ea typeface="+mn-ea"/>
                <a:cs typeface="+mn-cs"/>
              </a:rPr>
              <a:t>。语义分析使用语法树和符号表中的信息来检查源程序和语言定义的语义是否一致，同时收集类型信息，并将这些信息存放在语法树或符号表中，供后续的中间代码生成使用。由于本章只介绍机器人语言解析器的基本原理，所以该过程在本章中被忽略，有兴趣的读者可以参阅编译器原理的相关课程章节内容。</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36</a:t>
            </a:fld>
            <a:endParaRPr lang="zh-CN" altLang="en-US"/>
          </a:p>
        </p:txBody>
      </p:sp>
    </p:spTree>
    <p:extLst>
      <p:ext uri="{BB962C8B-B14F-4D97-AF65-F5344CB8AC3E}">
        <p14:creationId xmlns:p14="http://schemas.microsoft.com/office/powerpoint/2010/main" val="19366438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zh-CN" sz="1200" kern="1200" dirty="0" smtClean="0">
                <a:solidFill>
                  <a:schemeClr val="tx1"/>
                </a:solidFill>
                <a:effectLst/>
                <a:latin typeface="+mn-lt"/>
                <a:ea typeface="+mn-ea"/>
                <a:cs typeface="+mn-cs"/>
              </a:rPr>
              <a:t>一般的计算机编译器，在对源程序完成语义分析之后，需要将源程序生成可执行的目标代码。有些编译器还会生成中间代码，将中间代码优化后，再翻译成目标机器代码。</a:t>
            </a:r>
          </a:p>
          <a:p>
            <a:r>
              <a:rPr lang="zh-CN" altLang="zh-CN" sz="1200" kern="1200" dirty="0" smtClean="0">
                <a:solidFill>
                  <a:schemeClr val="tx1"/>
                </a:solidFill>
                <a:effectLst/>
                <a:latin typeface="+mn-lt"/>
                <a:ea typeface="+mn-ea"/>
                <a:cs typeface="+mn-cs"/>
              </a:rPr>
              <a:t>机器人控制器一般采取解析执行的方式运行，控制程序读入经过语法分析后的合法语句，按照构建的语法树，生成可供控制的关节角序列，控制机器人完成相应运动。如果机器人采用总线控制，各关节为独立关节，则主控制器按照通信协议将相应的关节命令（编译器生成的关节角序列矩阵）发送给相应关节执行。</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37</a:t>
            </a:fld>
            <a:endParaRPr lang="zh-CN" altLang="en-US"/>
          </a:p>
        </p:txBody>
      </p:sp>
    </p:spTree>
    <p:extLst>
      <p:ext uri="{BB962C8B-B14F-4D97-AF65-F5344CB8AC3E}">
        <p14:creationId xmlns:p14="http://schemas.microsoft.com/office/powerpoint/2010/main" val="109821903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38</a:t>
            </a:fld>
            <a:endParaRPr lang="zh-CN" altLang="en-US"/>
          </a:p>
        </p:txBody>
      </p:sp>
    </p:spTree>
    <p:extLst>
      <p:ext uri="{BB962C8B-B14F-4D97-AF65-F5344CB8AC3E}">
        <p14:creationId xmlns:p14="http://schemas.microsoft.com/office/powerpoint/2010/main" val="339116642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39</a:t>
            </a:fld>
            <a:endParaRPr lang="zh-CN" altLang="en-US"/>
          </a:p>
        </p:txBody>
      </p:sp>
    </p:spTree>
    <p:extLst>
      <p:ext uri="{BB962C8B-B14F-4D97-AF65-F5344CB8AC3E}">
        <p14:creationId xmlns:p14="http://schemas.microsoft.com/office/powerpoint/2010/main" val="33746683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z="1200" kern="1200" dirty="0" smtClean="0">
                <a:solidFill>
                  <a:schemeClr val="tx1"/>
                </a:solidFill>
                <a:effectLst/>
                <a:latin typeface="+mn-lt"/>
                <a:ea typeface="+mn-ea"/>
                <a:cs typeface="+mn-cs"/>
              </a:rPr>
              <a:t>通过本章的学习，希望大家能对机器人编程语言一级编程语言解析器的开发有专业的了解，有兴趣的读者可以结合机器人编程语言解析器的特点，结合现有的高级脚本语言的解析器去设计机器人的高级编程脚本语言，比如在</a:t>
            </a:r>
            <a:r>
              <a:rPr lang="en-US" altLang="zh-CN" sz="1200" kern="1200" dirty="0" smtClean="0">
                <a:solidFill>
                  <a:schemeClr val="tx1"/>
                </a:solidFill>
                <a:effectLst/>
                <a:latin typeface="+mn-lt"/>
                <a:ea typeface="+mn-ea"/>
                <a:cs typeface="+mn-cs"/>
              </a:rPr>
              <a:t>python</a:t>
            </a:r>
            <a:r>
              <a:rPr lang="zh-CN" altLang="en-US" sz="1200" kern="1200" dirty="0" smtClean="0">
                <a:solidFill>
                  <a:schemeClr val="tx1"/>
                </a:solidFill>
                <a:effectLst/>
                <a:latin typeface="+mn-lt"/>
                <a:ea typeface="+mn-ea"/>
                <a:cs typeface="+mn-cs"/>
              </a:rPr>
              <a:t>或者</a:t>
            </a:r>
            <a:r>
              <a:rPr lang="en-US" altLang="zh-CN" sz="1200" kern="1200" dirty="0" err="1" smtClean="0">
                <a:solidFill>
                  <a:schemeClr val="tx1"/>
                </a:solidFill>
                <a:effectLst/>
                <a:latin typeface="+mn-lt"/>
                <a:ea typeface="+mn-ea"/>
                <a:cs typeface="+mn-cs"/>
              </a:rPr>
              <a:t>lua</a:t>
            </a:r>
            <a:r>
              <a:rPr lang="zh-CN" altLang="en-US" sz="1200" kern="1200" dirty="0" smtClean="0">
                <a:solidFill>
                  <a:schemeClr val="tx1"/>
                </a:solidFill>
                <a:effectLst/>
                <a:latin typeface="+mn-lt"/>
                <a:ea typeface="+mn-ea"/>
                <a:cs typeface="+mn-cs"/>
              </a:rPr>
              <a:t>等脚本语言上增加自己的机器人专用指令的支持。</a:t>
            </a:r>
            <a:endParaRPr lang="en-US" altLang="zh-CN" sz="1200" kern="1200" dirty="0" smtClean="0">
              <a:solidFill>
                <a:schemeClr val="tx1"/>
              </a:solidFill>
              <a:effectLst/>
              <a:latin typeface="+mn-lt"/>
              <a:ea typeface="+mn-ea"/>
              <a:cs typeface="+mn-cs"/>
            </a:endParaRPr>
          </a:p>
          <a:p>
            <a:r>
              <a:rPr lang="zh-CN" altLang="zh-CN" sz="1200" kern="1200" dirty="0" smtClean="0">
                <a:solidFill>
                  <a:schemeClr val="tx1"/>
                </a:solidFill>
                <a:effectLst/>
                <a:latin typeface="+mn-lt"/>
                <a:ea typeface="+mn-ea"/>
                <a:cs typeface="+mn-cs"/>
              </a:rPr>
              <a:t>面向非专业用户的可视化机器人编程将大大降低用户的学习事件和部署成本。如</a:t>
            </a:r>
            <a:r>
              <a:rPr lang="en-US" altLang="zh-CN" sz="1200" kern="1200" dirty="0" smtClean="0">
                <a:solidFill>
                  <a:schemeClr val="tx1"/>
                </a:solidFill>
                <a:effectLst/>
                <a:latin typeface="+mn-lt"/>
                <a:ea typeface="+mn-ea"/>
                <a:cs typeface="+mn-cs"/>
              </a:rPr>
              <a:t>Rethink Robotics</a:t>
            </a:r>
            <a:r>
              <a:rPr lang="zh-CN" altLang="zh-CN" sz="1200" kern="1200" dirty="0" smtClean="0">
                <a:solidFill>
                  <a:schemeClr val="tx1"/>
                </a:solidFill>
                <a:effectLst/>
                <a:latin typeface="+mn-lt"/>
                <a:ea typeface="+mn-ea"/>
                <a:cs typeface="+mn-cs"/>
              </a:rPr>
              <a:t>公司开发的可视化机器人软件平台</a:t>
            </a:r>
            <a:r>
              <a:rPr lang="en-US" altLang="zh-CN" sz="1200" kern="1200" dirty="0" err="1" smtClean="0">
                <a:solidFill>
                  <a:schemeClr val="tx1"/>
                </a:solidFill>
                <a:effectLst/>
                <a:latin typeface="+mn-lt"/>
                <a:ea typeface="+mn-ea"/>
                <a:cs typeface="+mn-cs"/>
              </a:rPr>
              <a:t>Intera</a:t>
            </a:r>
            <a:r>
              <a:rPr lang="zh-CN" altLang="zh-CN" sz="1200" kern="1200" dirty="0" smtClean="0">
                <a:solidFill>
                  <a:schemeClr val="tx1"/>
                </a:solidFill>
                <a:effectLst/>
                <a:latin typeface="+mn-lt"/>
                <a:ea typeface="+mn-ea"/>
                <a:cs typeface="+mn-cs"/>
              </a:rPr>
              <a:t>，将所有的任务都以图形的方式排列成行为树，从而更加容易想象、理解和调整机器人做的每一步工作。通过基于行为树开发的中间件，</a:t>
            </a:r>
            <a:r>
              <a:rPr lang="en-US" altLang="zh-CN" sz="1200" kern="1200" dirty="0" err="1" smtClean="0">
                <a:solidFill>
                  <a:schemeClr val="tx1"/>
                </a:solidFill>
                <a:effectLst/>
                <a:latin typeface="+mn-lt"/>
                <a:ea typeface="+mn-ea"/>
                <a:cs typeface="+mn-cs"/>
              </a:rPr>
              <a:t>Intera</a:t>
            </a:r>
            <a:r>
              <a:rPr lang="zh-CN" altLang="zh-CN" sz="1200" kern="1200" dirty="0" smtClean="0">
                <a:solidFill>
                  <a:schemeClr val="tx1"/>
                </a:solidFill>
                <a:effectLst/>
                <a:latin typeface="+mn-lt"/>
                <a:ea typeface="+mn-ea"/>
                <a:cs typeface="+mn-cs"/>
              </a:rPr>
              <a:t>能够协调其他装配线组件、传送带、分类零件、钻头等设备，从而快速的让机器人完成复杂费任务。通过不到一天的培训，一名工程师就能在短短一个多小时内部署及训练机器人；</a:t>
            </a:r>
            <a:r>
              <a:rPr lang="en-US" altLang="zh-CN" sz="1200" kern="1200" dirty="0" smtClean="0">
                <a:solidFill>
                  <a:schemeClr val="tx1"/>
                </a:solidFill>
                <a:effectLst/>
                <a:latin typeface="+mn-lt"/>
                <a:ea typeface="+mn-ea"/>
                <a:cs typeface="+mn-cs"/>
              </a:rPr>
              <a:t>Paxton C</a:t>
            </a:r>
            <a:r>
              <a:rPr lang="zh-CN" altLang="zh-CN" sz="1200" kern="1200" dirty="0" smtClean="0">
                <a:solidFill>
                  <a:schemeClr val="tx1"/>
                </a:solidFill>
                <a:effectLst/>
                <a:latin typeface="+mn-lt"/>
                <a:ea typeface="+mn-ea"/>
                <a:cs typeface="+mn-cs"/>
              </a:rPr>
              <a:t>等人推出了一种面向非专业用户的可视化机器人操作编程系统</a:t>
            </a:r>
            <a:r>
              <a:rPr lang="en-US" altLang="zh-CN" sz="1200" kern="1200" dirty="0" smtClean="0">
                <a:solidFill>
                  <a:schemeClr val="tx1"/>
                </a:solidFill>
                <a:effectLst/>
                <a:latin typeface="+mn-lt"/>
                <a:ea typeface="+mn-ea"/>
                <a:cs typeface="+mn-cs"/>
              </a:rPr>
              <a:t>Costar</a:t>
            </a:r>
            <a:r>
              <a:rPr lang="zh-CN" altLang="zh-CN" sz="1200" kern="1200" dirty="0" smtClean="0">
                <a:solidFill>
                  <a:schemeClr val="tx1"/>
                </a:solidFill>
                <a:effectLst/>
                <a:latin typeface="+mn-lt"/>
                <a:ea typeface="+mn-ea"/>
                <a:cs typeface="+mn-cs"/>
              </a:rPr>
              <a:t>。如同乐高机器人编程一样，在</a:t>
            </a:r>
            <a:r>
              <a:rPr lang="en-US" altLang="zh-CN" sz="1200" kern="1200" dirty="0" smtClean="0">
                <a:solidFill>
                  <a:schemeClr val="tx1"/>
                </a:solidFill>
                <a:effectLst/>
                <a:latin typeface="+mn-lt"/>
                <a:ea typeface="+mn-ea"/>
                <a:cs typeface="+mn-cs"/>
              </a:rPr>
              <a:t>Costar</a:t>
            </a:r>
            <a:r>
              <a:rPr lang="zh-CN" altLang="zh-CN" sz="1200" kern="1200" dirty="0" smtClean="0">
                <a:solidFill>
                  <a:schemeClr val="tx1"/>
                </a:solidFill>
                <a:effectLst/>
                <a:latin typeface="+mn-lt"/>
                <a:ea typeface="+mn-ea"/>
                <a:cs typeface="+mn-cs"/>
              </a:rPr>
              <a:t>中通过拖动模块控件和连接模块控件的方式即可完成机器人的任务编程。该系统中各类模块控件集成了不同的传感器、执行器或规划器及对应的智能算法，通过简单的学习，普通用户就可以编写程序让机器人完成自动化操作任务；</a:t>
            </a:r>
            <a:r>
              <a:rPr lang="en-US" altLang="zh-CN" sz="1200" kern="1200" dirty="0" err="1" smtClean="0">
                <a:solidFill>
                  <a:schemeClr val="tx1"/>
                </a:solidFill>
                <a:effectLst/>
                <a:latin typeface="+mn-lt"/>
                <a:ea typeface="+mn-ea"/>
                <a:cs typeface="+mn-cs"/>
              </a:rPr>
              <a:t>Berenz</a:t>
            </a:r>
            <a:r>
              <a:rPr lang="en-US" altLang="zh-CN" sz="1200" kern="1200" dirty="0" smtClean="0">
                <a:solidFill>
                  <a:schemeClr val="tx1"/>
                </a:solidFill>
                <a:effectLst/>
                <a:latin typeface="+mn-lt"/>
                <a:ea typeface="+mn-ea"/>
                <a:cs typeface="+mn-cs"/>
              </a:rPr>
              <a:t> V</a:t>
            </a:r>
            <a:r>
              <a:rPr lang="zh-CN" altLang="zh-CN" sz="1200" kern="1200" dirty="0" smtClean="0">
                <a:solidFill>
                  <a:schemeClr val="tx1"/>
                </a:solidFill>
                <a:effectLst/>
                <a:latin typeface="+mn-lt"/>
                <a:ea typeface="+mn-ea"/>
                <a:cs typeface="+mn-cs"/>
              </a:rPr>
              <a:t>等人推出的</a:t>
            </a:r>
            <a:r>
              <a:rPr lang="en-US" altLang="zh-CN" sz="1200" kern="1200" dirty="0" smtClean="0">
                <a:solidFill>
                  <a:schemeClr val="tx1"/>
                </a:solidFill>
                <a:effectLst/>
                <a:latin typeface="+mn-lt"/>
                <a:ea typeface="+mn-ea"/>
                <a:cs typeface="+mn-cs"/>
              </a:rPr>
              <a:t>Playful</a:t>
            </a:r>
            <a:r>
              <a:rPr lang="zh-CN" altLang="zh-CN" sz="1200" kern="1200" dirty="0" smtClean="0">
                <a:solidFill>
                  <a:schemeClr val="tx1"/>
                </a:solidFill>
                <a:effectLst/>
                <a:latin typeface="+mn-lt"/>
                <a:ea typeface="+mn-ea"/>
                <a:cs typeface="+mn-cs"/>
              </a:rPr>
              <a:t>平台也是也是一种可视化的机器人编程系统，也是通过行为树模型来描述不同抽象层行为，再由底层引擎来实现机器人的操作。相比于</a:t>
            </a:r>
            <a:r>
              <a:rPr lang="en-US" altLang="zh-CN" sz="1200" kern="1200" dirty="0" smtClean="0">
                <a:solidFill>
                  <a:schemeClr val="tx1"/>
                </a:solidFill>
                <a:effectLst/>
                <a:latin typeface="+mn-lt"/>
                <a:ea typeface="+mn-ea"/>
                <a:cs typeface="+mn-cs"/>
              </a:rPr>
              <a:t>Costar</a:t>
            </a:r>
            <a:r>
              <a:rPr lang="zh-CN" altLang="zh-CN" sz="1200" kern="1200" dirty="0" smtClean="0">
                <a:solidFill>
                  <a:schemeClr val="tx1"/>
                </a:solidFill>
                <a:effectLst/>
                <a:latin typeface="+mn-lt"/>
                <a:ea typeface="+mn-ea"/>
                <a:cs typeface="+mn-cs"/>
              </a:rPr>
              <a:t>，</a:t>
            </a:r>
            <a:r>
              <a:rPr lang="en-US" altLang="zh-CN" sz="1200" kern="1200" dirty="0" smtClean="0">
                <a:solidFill>
                  <a:schemeClr val="tx1"/>
                </a:solidFill>
                <a:effectLst/>
                <a:latin typeface="+mn-lt"/>
                <a:ea typeface="+mn-ea"/>
                <a:cs typeface="+mn-cs"/>
              </a:rPr>
              <a:t>Playful</a:t>
            </a:r>
            <a:r>
              <a:rPr lang="zh-CN" altLang="zh-CN" sz="1200" kern="1200" dirty="0" smtClean="0">
                <a:solidFill>
                  <a:schemeClr val="tx1"/>
                </a:solidFill>
                <a:effectLst/>
                <a:latin typeface="+mn-lt"/>
                <a:ea typeface="+mn-ea"/>
                <a:cs typeface="+mn-cs"/>
              </a:rPr>
              <a:t>系统还能够自定义行为树模块的结构修改规则，使得机器人能够根据环境变化自主更新任务的规划方案，从而进一步提高了机器人编程的智能化程度。</a:t>
            </a:r>
          </a:p>
          <a:p>
            <a:r>
              <a:rPr lang="en-US" altLang="zh-CN" sz="1200" kern="1200" dirty="0" smtClean="0">
                <a:solidFill>
                  <a:schemeClr val="tx1"/>
                </a:solidFill>
                <a:effectLst/>
                <a:latin typeface="+mn-lt"/>
                <a:ea typeface="+mn-ea"/>
                <a:cs typeface="+mn-cs"/>
              </a:rPr>
              <a:t>	</a:t>
            </a:r>
            <a:r>
              <a:rPr lang="zh-CN" altLang="zh-CN" sz="1200" kern="1200" dirty="0" smtClean="0">
                <a:solidFill>
                  <a:schemeClr val="tx1"/>
                </a:solidFill>
                <a:effectLst/>
                <a:latin typeface="+mn-lt"/>
                <a:ea typeface="+mn-ea"/>
                <a:cs typeface="+mn-cs"/>
              </a:rPr>
              <a:t>随着智能机器人逐步进入到人类的生活中，机器人的发展趋势是通过语言识别、语义理解、语音合成等技术与人之间进行无障碍的交流，无需编程即可完成人类指定的任务。由</a:t>
            </a:r>
            <a:r>
              <a:rPr lang="en-US" altLang="zh-CN" sz="1200" b="1" kern="1200" dirty="0" err="1" smtClean="0">
                <a:solidFill>
                  <a:schemeClr val="tx1"/>
                </a:solidFill>
                <a:effectLst/>
                <a:latin typeface="+mn-lt"/>
                <a:ea typeface="+mn-ea"/>
                <a:cs typeface="+mn-cs"/>
              </a:rPr>
              <a:t>OpenAI</a:t>
            </a:r>
            <a:r>
              <a:rPr lang="zh-CN" altLang="zh-CN" sz="1200" b="1" kern="1200" dirty="0" smtClean="0">
                <a:solidFill>
                  <a:schemeClr val="tx1"/>
                </a:solidFill>
                <a:effectLst/>
                <a:latin typeface="+mn-lt"/>
                <a:ea typeface="+mn-ea"/>
                <a:cs typeface="+mn-cs"/>
              </a:rPr>
              <a:t>发布的对话式大型语言模型</a:t>
            </a:r>
            <a:r>
              <a:rPr lang="en-US" altLang="zh-CN" sz="1200" b="1" kern="1200" dirty="0" err="1" smtClean="0">
                <a:solidFill>
                  <a:schemeClr val="tx1"/>
                </a:solidFill>
                <a:effectLst/>
                <a:latin typeface="+mn-lt"/>
                <a:ea typeface="+mn-ea"/>
                <a:cs typeface="+mn-cs"/>
              </a:rPr>
              <a:t>ChatGPT</a:t>
            </a:r>
            <a:r>
              <a:rPr lang="zh-CN" altLang="zh-CN" sz="1200" b="1" kern="1200" dirty="0" smtClean="0">
                <a:solidFill>
                  <a:schemeClr val="tx1"/>
                </a:solidFill>
                <a:effectLst/>
                <a:latin typeface="+mn-lt"/>
                <a:ea typeface="+mn-ea"/>
                <a:cs typeface="+mn-cs"/>
              </a:rPr>
              <a:t>在发布之处就</a:t>
            </a:r>
            <a:r>
              <a:rPr lang="zh-CN" altLang="zh-CN" sz="1200" kern="1200" dirty="0" smtClean="0">
                <a:solidFill>
                  <a:schemeClr val="tx1"/>
                </a:solidFill>
                <a:effectLst/>
                <a:latin typeface="+mn-lt"/>
                <a:ea typeface="+mn-ea"/>
                <a:cs typeface="+mn-cs"/>
              </a:rPr>
              <a:t>在各大中外媒体平台掀起了一阵狂热之风。</a:t>
            </a:r>
            <a:r>
              <a:rPr lang="en-US" altLang="zh-CN" sz="1200" kern="1200" dirty="0" err="1" smtClean="0">
                <a:solidFill>
                  <a:schemeClr val="tx1"/>
                </a:solidFill>
                <a:effectLst/>
                <a:latin typeface="+mn-lt"/>
                <a:ea typeface="+mn-ea"/>
                <a:cs typeface="+mn-cs"/>
              </a:rPr>
              <a:t>ChatGPT</a:t>
            </a:r>
            <a:r>
              <a:rPr lang="zh-CN" altLang="zh-CN" sz="1200" kern="1200" dirty="0" smtClean="0">
                <a:solidFill>
                  <a:schemeClr val="tx1"/>
                </a:solidFill>
                <a:effectLst/>
                <a:latin typeface="+mn-lt"/>
                <a:ea typeface="+mn-ea"/>
                <a:cs typeface="+mn-cs"/>
              </a:rPr>
              <a:t>在机器人编程中就可以应用于多个方面。首先，</a:t>
            </a:r>
            <a:r>
              <a:rPr lang="en-US" altLang="zh-CN" sz="1200" kern="1200" dirty="0" err="1" smtClean="0">
                <a:solidFill>
                  <a:schemeClr val="tx1"/>
                </a:solidFill>
                <a:effectLst/>
                <a:latin typeface="+mn-lt"/>
                <a:ea typeface="+mn-ea"/>
                <a:cs typeface="+mn-cs"/>
              </a:rPr>
              <a:t>ChatGPT</a:t>
            </a:r>
            <a:r>
              <a:rPr lang="zh-CN" altLang="zh-CN" sz="1200" kern="1200" dirty="0" smtClean="0">
                <a:solidFill>
                  <a:schemeClr val="tx1"/>
                </a:solidFill>
                <a:effectLst/>
                <a:latin typeface="+mn-lt"/>
                <a:ea typeface="+mn-ea"/>
                <a:cs typeface="+mn-cs"/>
              </a:rPr>
              <a:t>作为一个强大的自然语言处理模型，可以被用于识别用户的意图、解析用户的语义、提取关键信息等。其次，</a:t>
            </a:r>
            <a:r>
              <a:rPr lang="en-US" altLang="zh-CN" sz="1200" kern="1200" dirty="0" err="1" smtClean="0">
                <a:solidFill>
                  <a:schemeClr val="tx1"/>
                </a:solidFill>
                <a:effectLst/>
                <a:latin typeface="+mn-lt"/>
                <a:ea typeface="+mn-ea"/>
                <a:cs typeface="+mn-cs"/>
              </a:rPr>
              <a:t>ChatGPT</a:t>
            </a:r>
            <a:r>
              <a:rPr lang="zh-CN" altLang="zh-CN" sz="1200" kern="1200" dirty="0" smtClean="0">
                <a:solidFill>
                  <a:schemeClr val="tx1"/>
                </a:solidFill>
                <a:effectLst/>
                <a:latin typeface="+mn-lt"/>
                <a:ea typeface="+mn-ea"/>
                <a:cs typeface="+mn-cs"/>
              </a:rPr>
              <a:t>可以被用于对话意图的识别、对话情境的理解、对话流程的设计等。在机器人编程中，对话管理可以帮助机器人管理用户和机器人之间的对话，使得机器人能够更好地理解用户的需求并作出恰当的回应。另外，在工业制造中可以使用</a:t>
            </a:r>
            <a:r>
              <a:rPr lang="en-US" altLang="zh-CN" sz="1200" kern="1200" dirty="0" err="1" smtClean="0">
                <a:solidFill>
                  <a:schemeClr val="tx1"/>
                </a:solidFill>
                <a:effectLst/>
                <a:latin typeface="+mn-lt"/>
                <a:ea typeface="+mn-ea"/>
                <a:cs typeface="+mn-cs"/>
              </a:rPr>
              <a:t>ChatGPT</a:t>
            </a:r>
            <a:r>
              <a:rPr lang="zh-CN" altLang="zh-CN" sz="1200" kern="1200" dirty="0" smtClean="0">
                <a:solidFill>
                  <a:schemeClr val="tx1"/>
                </a:solidFill>
                <a:effectLst/>
                <a:latin typeface="+mn-lt"/>
                <a:ea typeface="+mn-ea"/>
                <a:cs typeface="+mn-cs"/>
              </a:rPr>
              <a:t>实现机器人编程。在传统的工业制造中，机器人编程通常需要专业技能和经验。但是，现代的机器人编程工具可以使非专业人员也能够进行机器人编程。这些工具通常包括可视化编程界面、自然语言处理接口、云端存储和分享等功能，使得机器人编程变得更加容易和普及化。</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Chat Generative Pre-trained Transformer</a:t>
            </a:r>
            <a:endParaRPr lang="zh-CN" altLang="en-US" dirty="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40</a:t>
            </a:fld>
            <a:endParaRPr lang="zh-CN" altLang="en-US"/>
          </a:p>
        </p:txBody>
      </p:sp>
    </p:spTree>
    <p:extLst>
      <p:ext uri="{BB962C8B-B14F-4D97-AF65-F5344CB8AC3E}">
        <p14:creationId xmlns:p14="http://schemas.microsoft.com/office/powerpoint/2010/main" val="8551941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1C147A23-5BA8-44CE-9215-79B767159C41}" type="slidenum">
              <a:rPr lang="zh-CN" altLang="en-US" smtClean="0"/>
              <a:t>41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5.jpeg"/><Relationship Id="rId5" Type="http://schemas.openxmlformats.org/officeDocument/2006/relationships/image" Target="../media/image1.svg"/><Relationship Id="rId4"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5.jpe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5.jpe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18" y="1598181"/>
            <a:ext cx="7772603"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36" y="2915310"/>
            <a:ext cx="6400967"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12" y="1200422"/>
            <a:ext cx="8229815" cy="3395241"/>
          </a:xfrm>
          <a:prstGeom prst="rect">
            <a:avLst/>
          </a:prstGeom>
        </p:spPr>
        <p:txBody>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32" y="3305924"/>
            <a:ext cx="777260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32" y="2180528"/>
            <a:ext cx="777260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17" y="1200422"/>
            <a:ext cx="540875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0774" y="1200422"/>
            <a:ext cx="5410341"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12" y="1151595"/>
            <a:ext cx="404029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12" y="1631526"/>
            <a:ext cx="404029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147" y="1151595"/>
            <a:ext cx="4041881"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147" y="1631526"/>
            <a:ext cx="4041881"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8" name="页脚占位符 7"/>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4" name="页脚占位符 3"/>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3" name="页脚占位符 2"/>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12" y="204834"/>
            <a:ext cx="3008392"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143" y="204835"/>
            <a:ext cx="5111883"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12" y="1076569"/>
            <a:ext cx="3008392"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335" y="3601265"/>
            <a:ext cx="5486543"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335" y="459685"/>
            <a:ext cx="5486543"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335" y="4026415"/>
            <a:ext cx="5486543"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6" name="页脚占位符 5"/>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12" y="206025"/>
            <a:ext cx="8229815"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12" y="1200422"/>
            <a:ext cx="8229815"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431" y="206026"/>
            <a:ext cx="2741684"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16" y="206026"/>
            <a:ext cx="8077411"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12" y="4768343"/>
            <a:ext cx="2133656" cy="273906"/>
          </a:xfrm>
          <a:prstGeom prst="rect">
            <a:avLst/>
          </a:prstGeom>
        </p:spPr>
        <p:txBody>
          <a:bodyPr/>
          <a:lstStyle/>
          <a:p>
            <a:fld id="{A61B1FD8-8752-40A4-8FD5-E89685AB56BD}" type="datetimeFigureOut">
              <a:rPr lang="zh-CN" altLang="en-US" smtClean="0"/>
              <a:t>2026/6/17</a:t>
            </a:fld>
            <a:endParaRPr lang="zh-CN" altLang="en-US"/>
          </a:p>
        </p:txBody>
      </p:sp>
      <p:sp>
        <p:nvSpPr>
          <p:cNvPr id="5" name="页脚占位符 4"/>
          <p:cNvSpPr>
            <a:spLocks noGrp="1"/>
          </p:cNvSpPr>
          <p:nvPr>
            <p:ph type="ftr" sz="quarter" idx="11"/>
          </p:nvPr>
        </p:nvSpPr>
        <p:spPr>
          <a:xfrm>
            <a:off x="3124282" y="4768343"/>
            <a:ext cx="2895675"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371" y="4768343"/>
            <a:ext cx="2133656" cy="273906"/>
          </a:xfrm>
          <a:prstGeom prst="rect">
            <a:avLst/>
          </a:prstGeom>
        </p:spPr>
        <p:txBody>
          <a:bodyPr/>
          <a:lstStyle/>
          <a:p>
            <a:fld id="{52DCD716-44A1-4A3E-9A48-2DB906ECEF8F}"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设计准则">
    <p:spTree>
      <p:nvGrpSpPr>
        <p:cNvPr id="1" name=""/>
        <p:cNvGrpSpPr/>
        <p:nvPr/>
      </p:nvGrpSpPr>
      <p:grpSpPr>
        <a:xfrm>
          <a:off x="0" y="0"/>
          <a:ext cx="0" cy="0"/>
          <a:chOff x="0" y="0"/>
          <a:chExt cx="0" cy="0"/>
        </a:xfrm>
      </p:grpSpPr>
      <p:pic>
        <p:nvPicPr>
          <p:cNvPr id="11" name="图片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71" name="矩形 70"/>
          <p:cNvSpPr/>
          <p:nvPr userDrawn="1"/>
        </p:nvSpPr>
        <p:spPr>
          <a:xfrm>
            <a:off x="1143000" y="1762828"/>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72" name="矩形 71"/>
          <p:cNvSpPr/>
          <p:nvPr userDrawn="1"/>
        </p:nvSpPr>
        <p:spPr>
          <a:xfrm>
            <a:off x="1143000" y="1350917"/>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803905" y="2092604"/>
            <a:ext cx="438031" cy="438221"/>
          </a:xfrm>
          <a:prstGeom prst="rect">
            <a:avLst/>
          </a:prstGeom>
        </p:spPr>
      </p:pic>
      <p:sp>
        <p:nvSpPr>
          <p:cNvPr id="13" name="文本框 12"/>
          <p:cNvSpPr txBox="1"/>
          <p:nvPr userDrawn="1"/>
        </p:nvSpPr>
        <p:spPr>
          <a:xfrm>
            <a:off x="1576216" y="2623188"/>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字体设置</a:t>
            </a:r>
          </a:p>
        </p:txBody>
      </p: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1803905" y="3469411"/>
            <a:ext cx="521818" cy="522044"/>
          </a:xfrm>
          <a:prstGeom prst="rect">
            <a:avLst/>
          </a:prstGeom>
        </p:spPr>
      </p:pic>
      <p:sp>
        <p:nvSpPr>
          <p:cNvPr id="21" name="文本框 20"/>
          <p:cNvSpPr txBox="1"/>
          <p:nvPr userDrawn="1"/>
        </p:nvSpPr>
        <p:spPr>
          <a:xfrm>
            <a:off x="1598139" y="3991453"/>
            <a:ext cx="893407" cy="299085"/>
          </a:xfrm>
          <a:prstGeom prst="rect">
            <a:avLst/>
          </a:prstGeom>
          <a:noFill/>
        </p:spPr>
        <p:txBody>
          <a:bodyPr wrap="square" rtlCol="0">
            <a:spAutoFit/>
          </a:bodyPr>
          <a:lstStyle/>
          <a:p>
            <a:pPr algn="ctr"/>
            <a:r>
              <a:rPr lang="zh-CN" altLang="en-US" sz="1350" dirty="0">
                <a:latin typeface="宋体-简" panose="02010800040101010101" charset="-122"/>
                <a:ea typeface="宋体-简" panose="02010800040101010101" charset="-122"/>
              </a:rPr>
              <a:t>大小设置</a:t>
            </a:r>
          </a:p>
        </p:txBody>
      </p:sp>
      <p:cxnSp>
        <p:nvCxnSpPr>
          <p:cNvPr id="5" name="直接连接符 4"/>
          <p:cNvCxnSpPr/>
          <p:nvPr userDrawn="1"/>
        </p:nvCxnSpPr>
        <p:spPr>
          <a:xfrm>
            <a:off x="1689755" y="3187828"/>
            <a:ext cx="5747994" cy="0"/>
          </a:xfrm>
          <a:prstGeom prst="line">
            <a:avLst/>
          </a:prstGeom>
          <a:ln w="9525" cap="flat" cmpd="sng" algn="ctr">
            <a:solidFill>
              <a:schemeClr val="accent3"/>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 name="文本框 5"/>
          <p:cNvSpPr txBox="1"/>
          <p:nvPr userDrawn="1"/>
        </p:nvSpPr>
        <p:spPr>
          <a:xfrm>
            <a:off x="3964141" y="1999881"/>
            <a:ext cx="16789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中文字体：微软雅黑</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英文字体：</a:t>
            </a:r>
            <a:r>
              <a:rPr lang="en-US" altLang="zh-CN" sz="1350" dirty="0">
                <a:latin typeface="宋体-简" panose="02010800040101010101" charset="-122"/>
                <a:ea typeface="宋体-简" panose="02010800040101010101" charset="-122"/>
              </a:rPr>
              <a:t>Arial</a:t>
            </a:r>
            <a:endParaRPr lang="zh-CN" altLang="en-US" sz="1350" dirty="0">
              <a:latin typeface="宋体-简" panose="02010800040101010101" charset="-122"/>
              <a:ea typeface="宋体-简" panose="02010800040101010101" charset="-122"/>
            </a:endParaRPr>
          </a:p>
        </p:txBody>
      </p:sp>
      <p:sp>
        <p:nvSpPr>
          <p:cNvPr id="24" name="文本框 23"/>
          <p:cNvSpPr txBox="1"/>
          <p:nvPr userDrawn="1"/>
        </p:nvSpPr>
        <p:spPr>
          <a:xfrm>
            <a:off x="3964141" y="3400823"/>
            <a:ext cx="1336040" cy="897890"/>
          </a:xfrm>
          <a:prstGeom prst="rect">
            <a:avLst/>
          </a:prstGeom>
        </p:spPr>
        <p:txBody>
          <a:bodyPr vert="horz" wrap="none" lIns="68549" tIns="34272" rIns="68549" bIns="34272" rtlCol="0" anchor="ctr">
            <a:spAutoFit/>
          </a:bodyPr>
          <a:lstStyle/>
          <a:p>
            <a:pPr algn="l">
              <a:lnSpc>
                <a:spcPct val="200000"/>
              </a:lnSpc>
            </a:pPr>
            <a:r>
              <a:rPr lang="zh-CN" altLang="en-US" sz="1350" dirty="0">
                <a:latin typeface="宋体-简" panose="02010800040101010101" charset="-122"/>
                <a:ea typeface="宋体-简" panose="02010800040101010101" charset="-122"/>
              </a:rPr>
              <a:t>标题字号：</a:t>
            </a:r>
            <a:r>
              <a:rPr lang="en-US" altLang="zh-CN" sz="1350" dirty="0">
                <a:latin typeface="宋体-简" panose="02010800040101010101" charset="-122"/>
                <a:ea typeface="宋体-简" panose="02010800040101010101" charset="-122"/>
              </a:rPr>
              <a:t>18</a:t>
            </a:r>
            <a:r>
              <a:rPr lang="zh-CN" altLang="en-US" sz="1350" dirty="0">
                <a:latin typeface="宋体-简" panose="02010800040101010101" charset="-122"/>
                <a:ea typeface="宋体-简" panose="02010800040101010101" charset="-122"/>
              </a:rPr>
              <a:t>号</a:t>
            </a:r>
            <a:endParaRPr lang="en-US" altLang="zh-CN" sz="1350" dirty="0">
              <a:latin typeface="宋体-简" panose="02010800040101010101" charset="-122"/>
              <a:ea typeface="宋体-简" panose="02010800040101010101" charset="-122"/>
            </a:endParaRPr>
          </a:p>
          <a:p>
            <a:pPr algn="l">
              <a:lnSpc>
                <a:spcPct val="200000"/>
              </a:lnSpc>
            </a:pPr>
            <a:r>
              <a:rPr lang="zh-CN" altLang="en-US" sz="1350" dirty="0">
                <a:latin typeface="宋体-简" panose="02010800040101010101" charset="-122"/>
                <a:ea typeface="宋体-简" panose="02010800040101010101" charset="-122"/>
              </a:rPr>
              <a:t>正文字号：</a:t>
            </a:r>
            <a:r>
              <a:rPr lang="en-US" altLang="zh-CN" sz="1350" dirty="0">
                <a:latin typeface="宋体-简" panose="02010800040101010101" charset="-122"/>
                <a:ea typeface="宋体-简" panose="02010800040101010101" charset="-122"/>
              </a:rPr>
              <a:t>14</a:t>
            </a:r>
            <a:r>
              <a:rPr lang="zh-CN" altLang="en-US" sz="1350" dirty="0">
                <a:latin typeface="宋体-简" panose="02010800040101010101" charset="-122"/>
                <a:ea typeface="宋体-简" panose="02010800040101010101" charset="-122"/>
              </a:rPr>
              <a:t>号</a:t>
            </a:r>
          </a:p>
        </p:txBody>
      </p:sp>
      <p:cxnSp>
        <p:nvCxnSpPr>
          <p:cNvPr id="79" name="直接连接符 78"/>
          <p:cNvCxnSpPr/>
          <p:nvPr userDrawn="1"/>
        </p:nvCxnSpPr>
        <p:spPr>
          <a:xfrm>
            <a:off x="1143000" y="1765418"/>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设计准则</a:t>
            </a:r>
          </a:p>
        </p:txBody>
      </p:sp>
      <p:sp>
        <p:nvSpPr>
          <p:cNvPr id="236" name="矩形 235"/>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238" name="图片 23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239" name="文本框 238"/>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240" name="文本框 239"/>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41" name="文本框 240"/>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7"/>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宣传页3">
    <p:spTree>
      <p:nvGrpSpPr>
        <p:cNvPr id="1" name=""/>
        <p:cNvGrpSpPr/>
        <p:nvPr/>
      </p:nvGrpSpPr>
      <p:grpSpPr>
        <a:xfrm>
          <a:off x="0" y="0"/>
          <a:ext cx="0" cy="0"/>
          <a:chOff x="0" y="0"/>
          <a:chExt cx="0" cy="0"/>
        </a:xfrm>
      </p:grpSpPr>
      <p:pic>
        <p:nvPicPr>
          <p:cNvPr id="15" name="图片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3" name="矩形 2"/>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sp>
        <p:nvSpPr>
          <p:cNvPr id="10" name="矩形 9"/>
          <p:cNvSpPr/>
          <p:nvPr userDrawn="1"/>
        </p:nvSpPr>
        <p:spPr>
          <a:xfrm>
            <a:off x="1143000" y="1772490"/>
            <a:ext cx="6858000" cy="2801194"/>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772490"/>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16" name="文本框 15"/>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17" name="文本框 16"/>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2" name="文本框 1"/>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sp>
        <p:nvSpPr>
          <p:cNvPr id="14" name="矩形 13"/>
          <p:cNvSpPr/>
          <p:nvPr userDrawn="1"/>
        </p:nvSpPr>
        <p:spPr>
          <a:xfrm>
            <a:off x="1143000" y="1360579"/>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4" name="文本框 3"/>
          <p:cNvSpPr txBox="1"/>
          <p:nvPr userDrawn="1"/>
        </p:nvSpPr>
        <p:spPr>
          <a:xfrm>
            <a:off x="4156502" y="1429059"/>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版权声明</a:t>
            </a:r>
          </a:p>
        </p:txBody>
      </p:sp>
      <p:sp>
        <p:nvSpPr>
          <p:cNvPr id="6" name="文本框 5"/>
          <p:cNvSpPr txBox="1"/>
          <p:nvPr userDrawn="1"/>
        </p:nvSpPr>
        <p:spPr>
          <a:xfrm>
            <a:off x="1291281" y="2004371"/>
            <a:ext cx="6549081" cy="2337435"/>
          </a:xfrm>
          <a:prstGeom prst="rect">
            <a:avLst/>
          </a:prstGeom>
        </p:spPr>
        <p:txBody>
          <a:bodyPr vert="horz" wrap="square" lIns="68549" tIns="34272" rIns="68549" bIns="34272" rtlCol="0" anchor="ctr">
            <a:spAutoFit/>
          </a:bodyPr>
          <a:lstStyle/>
          <a:p>
            <a:pPr>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本素材中涉及到的所有的内容的所有权、知识产权等归原始权利人或者合法的受让人所有，您购买</a:t>
            </a:r>
            <a:r>
              <a:rPr lang="en-US" altLang="zh-CN" sz="900" dirty="0">
                <a:latin typeface="宋体-简" panose="02010800040101010101" charset="-122"/>
                <a:ea typeface="宋体-简" panose="02010800040101010101" charset="-122"/>
                <a:cs typeface="宋体-简" panose="02010800040101010101" charset="-122"/>
                <a:sym typeface="+mn-lt"/>
              </a:rPr>
              <a:t>/</a:t>
            </a:r>
            <a:r>
              <a:rPr lang="zh-CN" altLang="zh-CN" sz="900" dirty="0">
                <a:latin typeface="宋体-简" panose="02010800040101010101" charset="-122"/>
                <a:ea typeface="宋体-简" panose="02010800040101010101" charset="-122"/>
                <a:cs typeface="宋体-简" panose="02010800040101010101" charset="-122"/>
                <a:sym typeface="+mn-lt"/>
              </a:rPr>
              <a:t>免费或通过其他合法方式获得的本信息的使用权，并受到以下条款约束：</a:t>
            </a:r>
          </a:p>
          <a:p>
            <a:pPr lvl="0">
              <a:lnSpc>
                <a:spcPct val="220000"/>
              </a:lnSpc>
            </a:pPr>
            <a:r>
              <a:rPr lang="zh-CN" altLang="zh-CN" sz="900" dirty="0">
                <a:latin typeface="宋体-简" panose="02010800040101010101" charset="-122"/>
                <a:ea typeface="宋体-简" panose="02010800040101010101" charset="-122"/>
                <a:cs typeface="宋体-简" panose="02010800040101010101" charset="-122"/>
                <a:sym typeface="+mn-lt"/>
              </a:rPr>
              <a:t>您仅可以个人非商业用途使用该等信息内容，不得将其全部或部分内容用于出售、或出租、出借、转让、分销、发布等其他方任何式供他人使用；</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禁止在任何网站、平台、应用程序上以任何方式为他人提供本素材所有内容的下载、转载等；</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对于不当下载、转载或引用本信息内容而引起的民事纷争、行政处理或其他损失，声明方不承担责任；</a:t>
            </a:r>
            <a:endParaRPr lang="en-US" altLang="zh-CN" sz="900" dirty="0">
              <a:latin typeface="宋体-简" panose="02010800040101010101" charset="-122"/>
              <a:ea typeface="宋体-简" panose="02010800040101010101" charset="-122"/>
              <a:cs typeface="宋体-简" panose="02010800040101010101" charset="-122"/>
              <a:sym typeface="+mn-lt"/>
            </a:endParaRPr>
          </a:p>
          <a:p>
            <a:pPr marL="171450" lvl="0" indent="-171450">
              <a:lnSpc>
                <a:spcPct val="220000"/>
              </a:lnSpc>
              <a:buFont typeface="Wingdings" panose="05000000000000000000" pitchFamily="2" charset="2"/>
              <a:buChar char="l"/>
            </a:pPr>
            <a:r>
              <a:rPr lang="en-US" altLang="zh-CN" sz="900" dirty="0">
                <a:latin typeface="宋体-简" panose="02010800040101010101" charset="-122"/>
                <a:ea typeface="宋体-简" panose="02010800040101010101" charset="-122"/>
                <a:cs typeface="宋体-简" panose="02010800040101010101" charset="-122"/>
                <a:sym typeface="+mn-lt"/>
              </a:rPr>
              <a:t> </a:t>
            </a:r>
            <a:r>
              <a:rPr lang="zh-CN" altLang="zh-CN" sz="900" dirty="0">
                <a:latin typeface="宋体-简" panose="02010800040101010101" charset="-122"/>
                <a:ea typeface="宋体-简" panose="02010800040101010101" charset="-122"/>
                <a:cs typeface="宋体-简" panose="02010800040101010101" charset="-122"/>
                <a:sym typeface="+mn-lt"/>
              </a:rPr>
              <a:t>对不遵守本声明或其他违法、恶意使用本信息内容者，声明方保留追究其法律责任的权利。</a:t>
            </a:r>
          </a:p>
          <a:p>
            <a:pPr algn="l"/>
            <a:endParaRPr lang="zh-CN" altLang="en-US" sz="900" dirty="0">
              <a:latin typeface="宋体-简" panose="02010800040101010101" charset="-122"/>
              <a:ea typeface="宋体-简" panose="02010800040101010101" charset="-122"/>
            </a:endParaRPr>
          </a:p>
        </p:txBody>
      </p:sp>
      <p:pic>
        <p:nvPicPr>
          <p:cNvPr id="5" name="图片 4"/>
          <p:cNvPicPr>
            <a:picLocks noChangeAspect="1"/>
          </p:cNvPicPr>
          <p:nvPr userDrawn="1"/>
        </p:nvPicPr>
        <p:blipFill>
          <a:blip r:embed="rId4"/>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宣传页1">
    <p:spTree>
      <p:nvGrpSpPr>
        <p:cNvPr id="1" name=""/>
        <p:cNvGrpSpPr/>
        <p:nvPr/>
      </p:nvGrpSpPr>
      <p:grpSpPr>
        <a:xfrm>
          <a:off x="0" y="0"/>
          <a:ext cx="0" cy="0"/>
          <a:chOff x="0" y="0"/>
          <a:chExt cx="0" cy="0"/>
        </a:xfrm>
      </p:grpSpPr>
      <p:pic>
        <p:nvPicPr>
          <p:cNvPr id="31" name="图片 3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10" name="矩形 9"/>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269" name="直接连接符 268"/>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 name="文本框 4"/>
          <p:cNvSpPr txBox="1"/>
          <p:nvPr userDrawn="1"/>
        </p:nvSpPr>
        <p:spPr>
          <a:xfrm>
            <a:off x="2858069" y="1261833"/>
            <a:ext cx="339344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智能的设计工具，让你告别繁琐的设计流程</a:t>
            </a:r>
          </a:p>
        </p:txBody>
      </p:sp>
      <p:sp>
        <p:nvSpPr>
          <p:cNvPr id="8" name="文本框 7"/>
          <p:cNvSpPr txBox="1"/>
          <p:nvPr userDrawn="1"/>
        </p:nvSpPr>
        <p:spPr>
          <a:xfrm>
            <a:off x="1715210" y="2467668"/>
            <a:ext cx="821690" cy="274955"/>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350" dirty="0">
                <a:latin typeface="宋体-简" panose="02010800040101010101" charset="-122"/>
                <a:ea typeface="宋体-简" panose="02010800040101010101" charset="-122"/>
              </a:rPr>
              <a:t>段落统一</a:t>
            </a:r>
          </a:p>
        </p:txBody>
      </p:sp>
      <p:sp>
        <p:nvSpPr>
          <p:cNvPr id="27" name="文本框 26"/>
          <p:cNvSpPr txBox="1"/>
          <p:nvPr userDrawn="1"/>
        </p:nvSpPr>
        <p:spPr>
          <a:xfrm>
            <a:off x="3344862" y="2467668"/>
            <a:ext cx="830997" cy="274955"/>
          </a:xfrm>
          <a:prstGeom prst="rect">
            <a:avLst/>
          </a:prstGeom>
        </p:spPr>
        <p:txBody>
          <a:bodyPr vert="horz" wrap="square" lIns="68549" tIns="34272" rIns="68549" bIns="34272" rtlCol="0" anchor="ctr">
            <a:spAutoFit/>
          </a:bodyPr>
          <a:lstStyle/>
          <a:p>
            <a:pPr algn="ctr"/>
            <a:r>
              <a:rPr lang="zh-CN" altLang="en-US" sz="1350" dirty="0">
                <a:latin typeface="宋体-简" panose="02010800040101010101" charset="-122"/>
                <a:ea typeface="宋体-简" panose="02010800040101010101" charset="-122"/>
                <a:cs typeface="宋体-简" panose="02010800040101010101" charset="-122"/>
                <a:sym typeface="+mn-lt"/>
              </a:rPr>
              <a:t>画中画</a:t>
            </a:r>
          </a:p>
        </p:txBody>
      </p:sp>
      <p:sp>
        <p:nvSpPr>
          <p:cNvPr id="46" name="文本框 45"/>
          <p:cNvSpPr txBox="1"/>
          <p:nvPr userDrawn="1"/>
        </p:nvSpPr>
        <p:spPr>
          <a:xfrm>
            <a:off x="5057022" y="2467666"/>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三维折图</a:t>
            </a:r>
          </a:p>
        </p:txBody>
      </p:sp>
      <p:sp>
        <p:nvSpPr>
          <p:cNvPr id="47" name="文本框 46"/>
          <p:cNvSpPr txBox="1"/>
          <p:nvPr userDrawn="1"/>
        </p:nvSpPr>
        <p:spPr>
          <a:xfrm>
            <a:off x="6727574" y="2469211"/>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色彩统一</a:t>
            </a:r>
          </a:p>
        </p:txBody>
      </p:sp>
      <p:sp>
        <p:nvSpPr>
          <p:cNvPr id="63" name="文本框 62"/>
          <p:cNvSpPr txBox="1"/>
          <p:nvPr userDrawn="1"/>
        </p:nvSpPr>
        <p:spPr>
          <a:xfrm>
            <a:off x="1730654"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图形裁图</a:t>
            </a:r>
          </a:p>
        </p:txBody>
      </p:sp>
      <p:sp>
        <p:nvSpPr>
          <p:cNvPr id="64" name="文本框 63"/>
          <p:cNvSpPr txBox="1"/>
          <p:nvPr userDrawn="1"/>
        </p:nvSpPr>
        <p:spPr>
          <a:xfrm>
            <a:off x="336030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背景虚化</a:t>
            </a:r>
          </a:p>
        </p:txBody>
      </p:sp>
      <p:sp>
        <p:nvSpPr>
          <p:cNvPr id="65" name="文本框 64"/>
          <p:cNvSpPr txBox="1"/>
          <p:nvPr userDrawn="1"/>
        </p:nvSpPr>
        <p:spPr>
          <a:xfrm>
            <a:off x="5072466"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字体统一</a:t>
            </a:r>
          </a:p>
        </p:txBody>
      </p:sp>
      <p:sp>
        <p:nvSpPr>
          <p:cNvPr id="66" name="文本框 65"/>
          <p:cNvSpPr txBox="1"/>
          <p:nvPr userDrawn="1"/>
        </p:nvSpPr>
        <p:spPr>
          <a:xfrm>
            <a:off x="6743018" y="3593705"/>
            <a:ext cx="735965" cy="274955"/>
          </a:xfrm>
          <a:prstGeom prst="rect">
            <a:avLst/>
          </a:prstGeom>
        </p:spPr>
        <p:txBody>
          <a:bodyPr vert="horz" wrap="none" lIns="68549" tIns="34272" rIns="68549" bIns="34272" rtlCol="0" anchor="ctr">
            <a:spAutoFit/>
          </a:bodyPr>
          <a:lstStyle/>
          <a:p>
            <a:r>
              <a:rPr lang="en-US" altLang="zh-CN" sz="1350" dirty="0">
                <a:latin typeface="宋体-简" panose="02010800040101010101" charset="-122"/>
                <a:ea typeface="宋体-简" panose="02010800040101010101" charset="-122"/>
                <a:cs typeface="宋体-简" panose="02010800040101010101" charset="-122"/>
                <a:sym typeface="+mn-lt"/>
              </a:rPr>
              <a:t>PPT</a:t>
            </a:r>
            <a:r>
              <a:rPr lang="zh-CN" altLang="en-US" sz="1350" dirty="0">
                <a:latin typeface="宋体-简" panose="02010800040101010101" charset="-122"/>
                <a:ea typeface="宋体-简" panose="02010800040101010101" charset="-122"/>
                <a:cs typeface="宋体-简" panose="02010800040101010101" charset="-122"/>
                <a:sym typeface="+mn-lt"/>
              </a:rPr>
              <a:t>瘦身</a:t>
            </a:r>
          </a:p>
        </p:txBody>
      </p:sp>
      <p:sp>
        <p:nvSpPr>
          <p:cNvPr id="11" name="文本框 10"/>
          <p:cNvSpPr txBox="1"/>
          <p:nvPr userDrawn="1"/>
        </p:nvSpPr>
        <p:spPr>
          <a:xfrm>
            <a:off x="1395827" y="2773994"/>
            <a:ext cx="1450340" cy="205740"/>
          </a:xfrm>
          <a:prstGeom prst="rect">
            <a:avLst/>
          </a:prstGeom>
        </p:spPr>
        <p:txBody>
          <a:bodyPr vert="horz" wrap="none" lIns="68549" tIns="34272" rIns="68549" bIns="34272"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所有页面字体</a:t>
            </a:r>
          </a:p>
        </p:txBody>
      </p:sp>
      <p:sp>
        <p:nvSpPr>
          <p:cNvPr id="71" name="文本框 70"/>
          <p:cNvSpPr txBox="1"/>
          <p:nvPr userDrawn="1"/>
        </p:nvSpPr>
        <p:spPr>
          <a:xfrm>
            <a:off x="3287154" y="2773994"/>
            <a:ext cx="9359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让图片更加高级</a:t>
            </a:r>
          </a:p>
        </p:txBody>
      </p:sp>
      <p:sp>
        <p:nvSpPr>
          <p:cNvPr id="72" name="文本框 71"/>
          <p:cNvSpPr txBox="1"/>
          <p:nvPr userDrawn="1"/>
        </p:nvSpPr>
        <p:spPr>
          <a:xfrm>
            <a:off x="4869357" y="2773994"/>
            <a:ext cx="12788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快速让图片具有立体感</a:t>
            </a:r>
          </a:p>
        </p:txBody>
      </p:sp>
      <p:sp>
        <p:nvSpPr>
          <p:cNvPr id="74" name="文本框 73"/>
          <p:cNvSpPr txBox="1"/>
          <p:nvPr userDrawn="1"/>
        </p:nvSpPr>
        <p:spPr>
          <a:xfrm>
            <a:off x="6399774" y="2773994"/>
            <a:ext cx="14503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所有页面色彩</a:t>
            </a:r>
          </a:p>
        </p:txBody>
      </p:sp>
      <p:sp>
        <p:nvSpPr>
          <p:cNvPr id="91" name="文本框 90"/>
          <p:cNvSpPr txBox="1"/>
          <p:nvPr userDrawn="1"/>
        </p:nvSpPr>
        <p:spPr>
          <a:xfrm>
            <a:off x="1615238" y="3921438"/>
            <a:ext cx="1050290" cy="205740"/>
          </a:xfrm>
          <a:prstGeom prst="rect">
            <a:avLst/>
          </a:prstGeom>
        </p:spPr>
        <p:txBody>
          <a:bodyPr vert="horz" wrap="none" lIns="68549" tIns="34272" rIns="68549" bIns="34272" rtlCol="0" anchor="ctr">
            <a:spAutoFit/>
          </a:bodyPr>
          <a:lstStyle/>
          <a:p>
            <a:pPr algn="l"/>
            <a:r>
              <a:rPr lang="zh-CN" altLang="zh-CN" sz="900" dirty="0">
                <a:solidFill>
                  <a:srgbClr val="999999"/>
                </a:solidFill>
                <a:latin typeface="宋体-简" panose="02010800040101010101" charset="-122"/>
                <a:ea typeface="宋体-简" panose="02010800040101010101" charset="-122"/>
                <a:cs typeface="宋体-简" panose="02010800040101010101" charset="-122"/>
                <a:sym typeface="+mn-lt"/>
              </a:rPr>
              <a:t>极速裁剪图片大小</a:t>
            </a:r>
          </a:p>
        </p:txBody>
      </p:sp>
      <p:sp>
        <p:nvSpPr>
          <p:cNvPr id="92" name="文本框 91"/>
          <p:cNvSpPr txBox="1"/>
          <p:nvPr userDrawn="1"/>
        </p:nvSpPr>
        <p:spPr>
          <a:xfrm>
            <a:off x="3148709" y="3921438"/>
            <a:ext cx="139319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让图片具有</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大片</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特质</a:t>
            </a:r>
          </a:p>
        </p:txBody>
      </p:sp>
      <p:sp>
        <p:nvSpPr>
          <p:cNvPr id="93" name="文本框 92"/>
          <p:cNvSpPr txBox="1"/>
          <p:nvPr userDrawn="1"/>
        </p:nvSpPr>
        <p:spPr>
          <a:xfrm>
            <a:off x="4814654" y="3921438"/>
            <a:ext cx="13360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一键统一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所有页字体</a:t>
            </a:r>
          </a:p>
        </p:txBody>
      </p:sp>
      <p:sp>
        <p:nvSpPr>
          <p:cNvPr id="94" name="文本框 93"/>
          <p:cNvSpPr txBox="1"/>
          <p:nvPr userDrawn="1"/>
        </p:nvSpPr>
        <p:spPr>
          <a:xfrm>
            <a:off x="6628475" y="3921438"/>
            <a:ext cx="993140" cy="205740"/>
          </a:xfrm>
          <a:prstGeom prst="rect">
            <a:avLst/>
          </a:prstGeom>
        </p:spPr>
        <p:txBody>
          <a:bodyPr vert="horz" wrap="none" lIns="68549" tIns="34272" rIns="68549" bIns="34272" rtlCol="0" anchor="ctr">
            <a:spAutoFit/>
          </a:bodyPr>
          <a:lstStyle/>
          <a:p>
            <a:pPr algn="l"/>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快速精简</a:t>
            </a:r>
            <a:r>
              <a:rPr lang="en-US" altLang="zh-CN" sz="900" dirty="0">
                <a:solidFill>
                  <a:srgbClr val="999999"/>
                </a:solidFill>
                <a:latin typeface="宋体-简" panose="02010800040101010101" charset="-122"/>
                <a:ea typeface="宋体-简" panose="02010800040101010101" charset="-122"/>
                <a:cs typeface="宋体-简" panose="02010800040101010101" charset="-122"/>
                <a:sym typeface="+mn-lt"/>
              </a:rPr>
              <a:t>PPT</a:t>
            </a:r>
            <a:r>
              <a:rPr lang="zh-CN" altLang="en-US" sz="900" dirty="0">
                <a:solidFill>
                  <a:srgbClr val="999999"/>
                </a:solidFill>
                <a:latin typeface="宋体-简" panose="02010800040101010101" charset="-122"/>
                <a:ea typeface="宋体-简" panose="02010800040101010101" charset="-122"/>
                <a:cs typeface="宋体-简" panose="02010800040101010101" charset="-122"/>
                <a:sym typeface="+mn-lt"/>
              </a:rPr>
              <a:t>空间</a:t>
            </a:r>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87087" y="3072651"/>
            <a:ext cx="457200" cy="457399"/>
          </a:xfrm>
          <a:prstGeom prst="rect">
            <a:avLst/>
          </a:prstGeom>
        </p:spPr>
      </p:pic>
      <p:pic>
        <p:nvPicPr>
          <p:cNvPr id="14" name="图片 13"/>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27785" y="3072651"/>
            <a:ext cx="457200" cy="457399"/>
          </a:xfrm>
          <a:prstGeom prst="rect">
            <a:avLst/>
          </a:prstGeom>
        </p:spPr>
      </p:pic>
      <p:pic>
        <p:nvPicPr>
          <p:cNvPr id="18" name="图片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35" y="3072651"/>
            <a:ext cx="457200" cy="457399"/>
          </a:xfrm>
          <a:prstGeom prst="rect">
            <a:avLst/>
          </a:prstGeom>
        </p:spPr>
      </p:pic>
      <p:pic>
        <p:nvPicPr>
          <p:cNvPr id="22" name="图片 2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2868" y="3072651"/>
            <a:ext cx="457200" cy="457399"/>
          </a:xfrm>
          <a:prstGeom prst="rect">
            <a:avLst/>
          </a:prstGeom>
        </p:spPr>
      </p:pic>
      <p:pic>
        <p:nvPicPr>
          <p:cNvPr id="26" name="图片 2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885488" y="1915178"/>
            <a:ext cx="457200" cy="457399"/>
          </a:xfrm>
          <a:prstGeom prst="rect">
            <a:avLst/>
          </a:prstGeom>
        </p:spPr>
      </p:pic>
      <p:pic>
        <p:nvPicPr>
          <p:cNvPr id="29" name="图片 2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43921" y="1915178"/>
            <a:ext cx="457200" cy="457399"/>
          </a:xfrm>
          <a:prstGeom prst="rect">
            <a:avLst/>
          </a:prstGeom>
        </p:spPr>
      </p:pic>
      <p:pic>
        <p:nvPicPr>
          <p:cNvPr id="256" name="图片 25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3543298" y="1915178"/>
            <a:ext cx="457200" cy="457399"/>
          </a:xfrm>
          <a:prstGeom prst="rect">
            <a:avLst/>
          </a:prstGeom>
        </p:spPr>
      </p:pic>
      <p:pic>
        <p:nvPicPr>
          <p:cNvPr id="258" name="图片 257"/>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917552" y="1948156"/>
            <a:ext cx="457200" cy="457399"/>
          </a:xfrm>
          <a:prstGeom prst="rect">
            <a:avLst/>
          </a:prstGeom>
        </p:spPr>
      </p:pic>
      <p:sp>
        <p:nvSpPr>
          <p:cNvPr id="50" name="矩形 49"/>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52" name="图片 51"/>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53" name="文本框 52"/>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54" name="文本框 53"/>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55" name="文本框 54"/>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宣传页2">
    <p:spTree>
      <p:nvGrpSpPr>
        <p:cNvPr id="1" name=""/>
        <p:cNvGrpSpPr/>
        <p:nvPr/>
      </p:nvGrpSpPr>
      <p:grpSpPr>
        <a:xfrm>
          <a:off x="0" y="0"/>
          <a:ext cx="0" cy="0"/>
          <a:chOff x="0" y="0"/>
          <a:chExt cx="0" cy="0"/>
        </a:xfrm>
      </p:grpSpPr>
      <p:pic>
        <p:nvPicPr>
          <p:cNvPr id="23" name="图片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5726"/>
          </a:xfrm>
          <a:prstGeom prst="rect">
            <a:avLst/>
          </a:prstGeom>
        </p:spPr>
      </p:pic>
      <p:sp>
        <p:nvSpPr>
          <p:cNvPr id="49" name="矩形 48"/>
          <p:cNvSpPr/>
          <p:nvPr userDrawn="1"/>
        </p:nvSpPr>
        <p:spPr>
          <a:xfrm>
            <a:off x="1143000" y="1190167"/>
            <a:ext cx="6858000" cy="3528499"/>
          </a:xfrm>
          <a:prstGeom prst="rect">
            <a:avLst/>
          </a:prstGeom>
          <a:solidFill>
            <a:schemeClr val="bg1"/>
          </a:solidFill>
          <a:ln>
            <a:noFill/>
          </a:ln>
          <a:effectLst>
            <a:outerShdw blurRad="50800" dist="50800" dir="54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cxnSp>
        <p:nvCxnSpPr>
          <p:cNvPr id="50" name="直接连接符 49"/>
          <p:cNvCxnSpPr/>
          <p:nvPr userDrawn="1"/>
        </p:nvCxnSpPr>
        <p:spPr>
          <a:xfrm>
            <a:off x="1143000" y="1615042"/>
            <a:ext cx="6858000" cy="0"/>
          </a:xfrm>
          <a:prstGeom prst="line">
            <a:avLst/>
          </a:prstGeom>
          <a:ln>
            <a:solidFill>
              <a:srgbClr val="D7D7D7"/>
            </a:solidFill>
          </a:ln>
        </p:spPr>
        <p:style>
          <a:lnRef idx="1">
            <a:schemeClr val="accent1"/>
          </a:lnRef>
          <a:fillRef idx="0">
            <a:schemeClr val="accent1"/>
          </a:fillRef>
          <a:effectRef idx="0">
            <a:schemeClr val="accent1"/>
          </a:effectRef>
          <a:fontRef idx="minor">
            <a:schemeClr val="tx1"/>
          </a:fontRef>
        </p:style>
      </p:cxnSp>
      <p:sp>
        <p:nvSpPr>
          <p:cNvPr id="52" name="矩形 51"/>
          <p:cNvSpPr/>
          <p:nvPr userDrawn="1"/>
        </p:nvSpPr>
        <p:spPr>
          <a:xfrm>
            <a:off x="1143000" y="1202663"/>
            <a:ext cx="6858000" cy="412379"/>
          </a:xfrm>
          <a:prstGeom prst="rect">
            <a:avLst/>
          </a:prstGeom>
          <a:solidFill>
            <a:srgbClr val="FAFAF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aseline="-25000" dirty="0">
              <a:latin typeface="宋体-简" panose="02010800040101010101" charset="-122"/>
              <a:ea typeface="宋体-简" panose="02010800040101010101" charset="-122"/>
            </a:endParaRPr>
          </a:p>
        </p:txBody>
      </p:sp>
      <p:sp>
        <p:nvSpPr>
          <p:cNvPr id="53" name="文本框 52"/>
          <p:cNvSpPr txBox="1"/>
          <p:nvPr userDrawn="1"/>
        </p:nvSpPr>
        <p:spPr>
          <a:xfrm>
            <a:off x="3117755" y="1261833"/>
            <a:ext cx="2879090" cy="274955"/>
          </a:xfrm>
          <a:prstGeom prst="rect">
            <a:avLst/>
          </a:prstGeom>
        </p:spPr>
        <p:txBody>
          <a:bodyPr vert="horz" wrap="none" lIns="68549" tIns="34272" rIns="68549" bIns="34272" rtlCol="0" anchor="ctr">
            <a:spAutoFit/>
          </a:bodyPr>
          <a:lstStyle/>
          <a:p>
            <a:r>
              <a:rPr lang="zh-CN" altLang="en-US" sz="1350" dirty="0">
                <a:solidFill>
                  <a:srgbClr val="666666"/>
                </a:solidFill>
                <a:latin typeface="宋体-简" panose="02010800040101010101" charset="-122"/>
                <a:ea typeface="宋体-简" panose="02010800040101010101" charset="-122"/>
                <a:cs typeface="宋体-简" panose="02010800040101010101" charset="-122"/>
                <a:sym typeface="+mn-lt"/>
              </a:rPr>
              <a:t>丰富的内容库，让你随时迸发灵感！</a:t>
            </a:r>
          </a:p>
        </p:txBody>
      </p:sp>
      <p:sp>
        <p:nvSpPr>
          <p:cNvPr id="54" name="文本框 53"/>
          <p:cNvSpPr txBox="1"/>
          <p:nvPr userDrawn="1"/>
        </p:nvSpPr>
        <p:spPr>
          <a:xfrm>
            <a:off x="1740069" y="2467668"/>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案例库</a:t>
            </a:r>
          </a:p>
        </p:txBody>
      </p:sp>
      <p:sp>
        <p:nvSpPr>
          <p:cNvPr id="55" name="文本框 54"/>
          <p:cNvSpPr txBox="1"/>
          <p:nvPr userDrawn="1"/>
        </p:nvSpPr>
        <p:spPr>
          <a:xfrm>
            <a:off x="3434430" y="2467668"/>
            <a:ext cx="657872" cy="274955"/>
          </a:xfrm>
          <a:prstGeom prst="rect">
            <a:avLst/>
          </a:prstGeom>
        </p:spPr>
        <p:txBody>
          <a:bodyPr vert="horz" wrap="squar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插图库</a:t>
            </a:r>
          </a:p>
        </p:txBody>
      </p:sp>
      <p:sp>
        <p:nvSpPr>
          <p:cNvPr id="56" name="文本框 55"/>
          <p:cNvSpPr txBox="1"/>
          <p:nvPr userDrawn="1"/>
        </p:nvSpPr>
        <p:spPr>
          <a:xfrm>
            <a:off x="5159028" y="2467666"/>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色彩库</a:t>
            </a:r>
          </a:p>
        </p:txBody>
      </p:sp>
      <p:sp>
        <p:nvSpPr>
          <p:cNvPr id="57" name="文本框 56"/>
          <p:cNvSpPr txBox="1"/>
          <p:nvPr userDrawn="1"/>
        </p:nvSpPr>
        <p:spPr>
          <a:xfrm>
            <a:off x="6814136" y="2469211"/>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图标库</a:t>
            </a:r>
          </a:p>
        </p:txBody>
      </p:sp>
      <p:sp>
        <p:nvSpPr>
          <p:cNvPr id="58" name="文本框 57"/>
          <p:cNvSpPr txBox="1"/>
          <p:nvPr userDrawn="1"/>
        </p:nvSpPr>
        <p:spPr>
          <a:xfrm>
            <a:off x="1746667" y="3592162"/>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图片库</a:t>
            </a:r>
          </a:p>
        </p:txBody>
      </p:sp>
      <p:sp>
        <p:nvSpPr>
          <p:cNvPr id="59" name="文本框 58"/>
          <p:cNvSpPr txBox="1"/>
          <p:nvPr userDrawn="1"/>
        </p:nvSpPr>
        <p:spPr>
          <a:xfrm>
            <a:off x="3378287"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逻辑图表</a:t>
            </a:r>
          </a:p>
        </p:txBody>
      </p:sp>
      <p:sp>
        <p:nvSpPr>
          <p:cNvPr id="60" name="文本框 59"/>
          <p:cNvSpPr txBox="1"/>
          <p:nvPr userDrawn="1"/>
        </p:nvSpPr>
        <p:spPr>
          <a:xfrm>
            <a:off x="5100188" y="3592162"/>
            <a:ext cx="82169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数据图表</a:t>
            </a:r>
          </a:p>
        </p:txBody>
      </p:sp>
      <p:sp>
        <p:nvSpPr>
          <p:cNvPr id="61" name="文本框 60"/>
          <p:cNvSpPr txBox="1"/>
          <p:nvPr userDrawn="1"/>
        </p:nvSpPr>
        <p:spPr>
          <a:xfrm>
            <a:off x="6827448" y="3593705"/>
            <a:ext cx="650240" cy="274955"/>
          </a:xfrm>
          <a:prstGeom prst="rect">
            <a:avLst/>
          </a:prstGeom>
        </p:spPr>
        <p:txBody>
          <a:bodyPr vert="horz" wrap="none" lIns="68549" tIns="34272" rIns="68549" bIns="34272" rtlCol="0" anchor="ctr">
            <a:spAutoFit/>
          </a:bodyPr>
          <a:lstStyle/>
          <a:p>
            <a:r>
              <a:rPr lang="zh-CN" altLang="en-US" sz="1350" dirty="0">
                <a:latin typeface="宋体-简" panose="02010800040101010101" charset="-122"/>
                <a:ea typeface="宋体-简" panose="02010800040101010101" charset="-122"/>
                <a:cs typeface="宋体-简" panose="02010800040101010101" charset="-122"/>
                <a:sym typeface="+mn-lt"/>
              </a:rPr>
              <a:t>主题库</a:t>
            </a:r>
          </a:p>
        </p:txBody>
      </p:sp>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72731" y="1935879"/>
            <a:ext cx="457200" cy="457399"/>
          </a:xfrm>
          <a:prstGeom prst="rect">
            <a:avLst/>
          </a:prstGeom>
        </p:spPr>
      </p:pic>
      <p:pic>
        <p:nvPicPr>
          <p:cNvPr id="5" name="图片 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516860" y="1927846"/>
            <a:ext cx="457200" cy="457399"/>
          </a:xfrm>
          <a:prstGeom prst="rect">
            <a:avLst/>
          </a:prstGeom>
        </p:spPr>
      </p:pic>
      <p:pic>
        <p:nvPicPr>
          <p:cNvPr id="41" name="111_3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27784" y="1935879"/>
            <a:ext cx="457200" cy="457399"/>
          </a:xfrm>
          <a:prstGeom prst="rect">
            <a:avLst/>
          </a:prstGeom>
        </p:spPr>
      </p:pic>
      <p:pic>
        <p:nvPicPr>
          <p:cNvPr id="42" name="111_34"/>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847003" y="3073287"/>
            <a:ext cx="457200" cy="457399"/>
          </a:xfrm>
          <a:prstGeom prst="rect">
            <a:avLst/>
          </a:prstGeom>
        </p:spPr>
      </p:pic>
      <p:pic>
        <p:nvPicPr>
          <p:cNvPr id="43" name="111_35"/>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3547203" y="3073287"/>
            <a:ext cx="457200" cy="457399"/>
          </a:xfrm>
          <a:prstGeom prst="rect">
            <a:avLst/>
          </a:prstGeom>
        </p:spPr>
      </p:pic>
      <p:pic>
        <p:nvPicPr>
          <p:cNvPr id="45" name="111_32"/>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5288596" y="1935879"/>
            <a:ext cx="457200" cy="457399"/>
          </a:xfrm>
          <a:prstGeom prst="rect">
            <a:avLst/>
          </a:prstGeom>
        </p:spPr>
      </p:pic>
      <p:pic>
        <p:nvPicPr>
          <p:cNvPr id="46" name="图片 4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927784" y="3073287"/>
            <a:ext cx="457200" cy="457399"/>
          </a:xfrm>
          <a:prstGeom prst="rect">
            <a:avLst/>
          </a:prstGeom>
        </p:spPr>
      </p:pic>
      <p:pic>
        <p:nvPicPr>
          <p:cNvPr id="24" name="图片 23"/>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5287087" y="3073287"/>
            <a:ext cx="457200" cy="457399"/>
          </a:xfrm>
          <a:prstGeom prst="rect">
            <a:avLst/>
          </a:prstGeom>
        </p:spPr>
      </p:pic>
      <p:sp>
        <p:nvSpPr>
          <p:cNvPr id="62" name="矩形 61"/>
          <p:cNvSpPr/>
          <p:nvPr userDrawn="1"/>
        </p:nvSpPr>
        <p:spPr>
          <a:xfrm>
            <a:off x="6598142" y="319662"/>
            <a:ext cx="1402859" cy="631842"/>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宋体-简" panose="02010800040101010101" charset="-122"/>
              <a:ea typeface="宋体-简" panose="02010800040101010101" charset="-122"/>
            </a:endParaRPr>
          </a:p>
        </p:txBody>
      </p:sp>
      <p:pic>
        <p:nvPicPr>
          <p:cNvPr id="64" name="图片 6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5997834" y="319662"/>
            <a:ext cx="631566" cy="631842"/>
          </a:xfrm>
          <a:prstGeom prst="rect">
            <a:avLst/>
          </a:prstGeom>
        </p:spPr>
      </p:pic>
      <p:sp>
        <p:nvSpPr>
          <p:cNvPr id="65" name="文本框 64"/>
          <p:cNvSpPr txBox="1"/>
          <p:nvPr userDrawn="1"/>
        </p:nvSpPr>
        <p:spPr>
          <a:xfrm>
            <a:off x="1767699" y="342182"/>
            <a:ext cx="1655178" cy="389890"/>
          </a:xfrm>
          <a:prstGeom prst="rect">
            <a:avLst/>
          </a:prstGeom>
        </p:spPr>
        <p:txBody>
          <a:bodyPr vert="horz" wrap="square" lIns="68549" tIns="34272" rIns="68549" bIns="34272" rtlCol="0" anchor="ctr">
            <a:spAutoFit/>
          </a:bodyPr>
          <a:lstStyle/>
          <a:p>
            <a:pPr algn="l"/>
            <a:r>
              <a:rPr lang="en-US" altLang="zh-CN" sz="2100" dirty="0">
                <a:latin typeface="宋体-简" panose="02010800040101010101" charset="-122"/>
                <a:ea typeface="宋体-简" panose="02010800040101010101" charset="-122"/>
              </a:rPr>
              <a:t>Office</a:t>
            </a:r>
            <a:r>
              <a:rPr lang="zh-CN" altLang="en-US" sz="2100" dirty="0">
                <a:latin typeface="宋体-简" panose="02010800040101010101" charset="-122"/>
                <a:ea typeface="宋体-简" panose="02010800040101010101" charset="-122"/>
              </a:rPr>
              <a:t>助手</a:t>
            </a:r>
          </a:p>
        </p:txBody>
      </p:sp>
      <p:sp>
        <p:nvSpPr>
          <p:cNvPr id="66" name="文本框 65"/>
          <p:cNvSpPr txBox="1"/>
          <p:nvPr userDrawn="1"/>
        </p:nvSpPr>
        <p:spPr>
          <a:xfrm>
            <a:off x="1795692" y="721736"/>
            <a:ext cx="1269365" cy="228600"/>
          </a:xfrm>
          <a:prstGeom prst="rect">
            <a:avLst/>
          </a:prstGeom>
        </p:spPr>
        <p:txBody>
          <a:bodyPr vert="horz" wrap="none" lIns="68549" tIns="34272" rIns="68549" bIns="34272" rtlCol="0" anchor="ctr">
            <a:spAutoFit/>
          </a:bodyPr>
          <a:lstStyle/>
          <a:p>
            <a:pPr algn="l"/>
            <a:r>
              <a:rPr lang="zh-CN" altLang="en-US" sz="1050" dirty="0">
                <a:solidFill>
                  <a:srgbClr val="666666"/>
                </a:solidFill>
                <a:latin typeface="宋体-简" panose="02010800040101010101" charset="-122"/>
                <a:ea typeface="宋体-简" panose="02010800040101010101" charset="-122"/>
              </a:rPr>
              <a:t>强大的</a:t>
            </a:r>
            <a:r>
              <a:rPr lang="en-US" altLang="zh-CN" sz="1050" dirty="0">
                <a:solidFill>
                  <a:srgbClr val="666666"/>
                </a:solidFill>
                <a:latin typeface="宋体-简" panose="02010800040101010101" charset="-122"/>
                <a:ea typeface="宋体-简" panose="02010800040101010101" charset="-122"/>
              </a:rPr>
              <a:t>PPT</a:t>
            </a:r>
            <a:r>
              <a:rPr lang="zh-CN" altLang="en-US" sz="1050" dirty="0">
                <a:solidFill>
                  <a:srgbClr val="666666"/>
                </a:solidFill>
                <a:latin typeface="宋体-简" panose="02010800040101010101" charset="-122"/>
                <a:ea typeface="宋体-简" panose="02010800040101010101" charset="-122"/>
              </a:rPr>
              <a:t>设计工具</a:t>
            </a:r>
          </a:p>
        </p:txBody>
      </p:sp>
      <p:sp>
        <p:nvSpPr>
          <p:cNvPr id="67" name="文本框 66"/>
          <p:cNvSpPr txBox="1"/>
          <p:nvPr userDrawn="1"/>
        </p:nvSpPr>
        <p:spPr>
          <a:xfrm>
            <a:off x="6598142" y="350301"/>
            <a:ext cx="1402859" cy="551815"/>
          </a:xfrm>
          <a:prstGeom prst="rect">
            <a:avLst/>
          </a:prstGeom>
          <a:solidFill>
            <a:schemeClr val="bg1"/>
          </a:solidFill>
        </p:spPr>
        <p:txBody>
          <a:bodyPr vert="horz" wrap="square" lIns="68549" tIns="34272" rIns="68549" bIns="34272" rtlCol="0" anchor="t">
            <a:spAutoFit/>
          </a:bodyPr>
          <a:lstStyle/>
          <a:p>
            <a:pPr lvl="0" algn="ctr">
              <a:lnSpc>
                <a:spcPct val="150000"/>
              </a:lnSpc>
            </a:pPr>
            <a:r>
              <a:rPr lang="zh-CN" altLang="en-US" sz="1050" dirty="0">
                <a:solidFill>
                  <a:srgbClr val="999999"/>
                </a:solidFill>
                <a:latin typeface="宋体-简" panose="02010800040101010101" charset="-122"/>
                <a:ea typeface="宋体-简" panose="02010800040101010101" charset="-122"/>
              </a:rPr>
              <a:t>关注官方公众号</a:t>
            </a:r>
            <a:endParaRPr lang="en-US" altLang="zh-CN" sz="1050" dirty="0">
              <a:solidFill>
                <a:srgbClr val="999999"/>
              </a:solidFill>
              <a:latin typeface="宋体-简" panose="02010800040101010101" charset="-122"/>
              <a:ea typeface="宋体-简" panose="02010800040101010101" charset="-122"/>
            </a:endParaRPr>
          </a:p>
          <a:p>
            <a:pPr lvl="0" algn="ctr">
              <a:lnSpc>
                <a:spcPct val="150000"/>
              </a:lnSpc>
            </a:pPr>
            <a:r>
              <a:rPr lang="zh-CN" altLang="en-US" sz="1050" dirty="0">
                <a:solidFill>
                  <a:srgbClr val="999999"/>
                </a:solidFill>
                <a:latin typeface="宋体-简" panose="02010800040101010101" charset="-122"/>
                <a:ea typeface="宋体-简" panose="02010800040101010101" charset="-122"/>
              </a:rPr>
              <a:t>解锁更多办公技能</a:t>
            </a:r>
          </a:p>
        </p:txBody>
      </p:sp>
      <p:pic>
        <p:nvPicPr>
          <p:cNvPr id="2" name="图片 1"/>
          <p:cNvPicPr>
            <a:picLocks noChangeAspect="1"/>
          </p:cNvPicPr>
          <p:nvPr userDrawn="1"/>
        </p:nvPicPr>
        <p:blipFill>
          <a:blip r:embed="rId12"/>
          <a:stretch>
            <a:fillRect/>
          </a:stretch>
        </p:blipFill>
        <p:spPr>
          <a:xfrm>
            <a:off x="1136333" y="356864"/>
            <a:ext cx="594360" cy="594619"/>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907" y="1598181"/>
            <a:ext cx="7772424" cy="1102768"/>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814" y="2915310"/>
            <a:ext cx="6400610" cy="1314748"/>
          </a:xfrm>
          <a:prstGeom prst="rect">
            <a:avLst/>
          </a:prstGeo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8035" indent="0" algn="ctr">
              <a:buNone/>
              <a:defRPr>
                <a:solidFill>
                  <a:schemeClr val="tx1">
                    <a:tint val="75000"/>
                  </a:schemeClr>
                </a:solidFill>
              </a:defRPr>
            </a:lvl7pPr>
            <a:lvl8pPr marL="2400935" indent="0" algn="ctr">
              <a:buNone/>
              <a:defRPr>
                <a:solidFill>
                  <a:schemeClr val="tx1">
                    <a:tint val="75000"/>
                  </a:schemeClr>
                </a:solidFill>
              </a:defRPr>
            </a:lvl8pPr>
            <a:lvl9pPr marL="2743835"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71" y="1200422"/>
            <a:ext cx="8229696" cy="3395241"/>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823" y="3305923"/>
            <a:ext cx="7772423" cy="1021788"/>
          </a:xfrm>
          <a:prstGeom prst="rect">
            <a:avLst/>
          </a:prstGeom>
        </p:spPr>
        <p:txBody>
          <a:bodyPr anchor="t"/>
          <a:lstStyle>
            <a:lvl1pPr algn="l">
              <a:defRPr sz="3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823" y="2180528"/>
            <a:ext cx="7772423" cy="1125395"/>
          </a:xfrm>
          <a:prstGeom prst="rect">
            <a:avLst/>
          </a:prstGeo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8035" indent="0">
              <a:buNone/>
              <a:defRPr sz="1050">
                <a:solidFill>
                  <a:schemeClr val="tx1">
                    <a:tint val="75000"/>
                  </a:schemeClr>
                </a:solidFill>
              </a:defRPr>
            </a:lvl7pPr>
            <a:lvl8pPr marL="2400935" indent="0">
              <a:buNone/>
              <a:defRPr sz="1050">
                <a:solidFill>
                  <a:schemeClr val="tx1">
                    <a:tint val="75000"/>
                  </a:schemeClr>
                </a:solidFill>
              </a:defRPr>
            </a:lvl8pPr>
            <a:lvl9pPr marL="2743835" indent="0">
              <a:buNone/>
              <a:defRPr sz="105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71" y="1200422"/>
            <a:ext cx="405709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8683" y="1200422"/>
            <a:ext cx="4058284" cy="3395241"/>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71" y="1151595"/>
            <a:ext cx="4040422"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457271" y="1631526"/>
            <a:ext cx="4040422"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354" y="1151595"/>
            <a:ext cx="4041613" cy="479930"/>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8035" indent="0">
              <a:buNone/>
              <a:defRPr sz="1200" b="1"/>
            </a:lvl7pPr>
            <a:lvl8pPr marL="2400935" indent="0">
              <a:buNone/>
              <a:defRPr sz="1200" b="1"/>
            </a:lvl8pPr>
            <a:lvl9pPr marL="2743835"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45354" y="1631526"/>
            <a:ext cx="4041613" cy="2964137"/>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8" name="页脚占位符 7"/>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4" name="页脚占位符 3"/>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3" name="页脚占位符 2"/>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71" y="204834"/>
            <a:ext cx="3007989" cy="871735"/>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4815" y="204834"/>
            <a:ext cx="5112152" cy="4390829"/>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71" y="1076569"/>
            <a:ext cx="3007989" cy="3519094"/>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171" y="3601265"/>
            <a:ext cx="5487257" cy="425150"/>
          </a:xfrm>
          <a:prstGeom prst="rect">
            <a:avLst/>
          </a:prstGeom>
        </p:spPr>
        <p:txBody>
          <a:bodyPr anchor="b"/>
          <a:lstStyle>
            <a:lvl1pPr algn="l">
              <a:defRPr sz="15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171" y="459685"/>
            <a:ext cx="5487257" cy="308679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8035" indent="0">
              <a:buNone/>
              <a:defRPr sz="1500"/>
            </a:lvl7pPr>
            <a:lvl8pPr marL="2400935" indent="0">
              <a:buNone/>
              <a:defRPr sz="1500"/>
            </a:lvl8pPr>
            <a:lvl9pPr marL="2743835" indent="0">
              <a:buNone/>
              <a:defRPr sz="1500"/>
            </a:lvl9pPr>
          </a:lstStyle>
          <a:p>
            <a:endParaRPr lang="zh-CN" altLang="en-US"/>
          </a:p>
        </p:txBody>
      </p:sp>
      <p:sp>
        <p:nvSpPr>
          <p:cNvPr id="4" name="文本占位符 3"/>
          <p:cNvSpPr>
            <a:spLocks noGrp="1"/>
          </p:cNvSpPr>
          <p:nvPr>
            <p:ph type="body" sz="half" idx="2"/>
          </p:nvPr>
        </p:nvSpPr>
        <p:spPr>
          <a:xfrm>
            <a:off x="1792171" y="4026415"/>
            <a:ext cx="5487257" cy="603783"/>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8035" indent="0">
              <a:buNone/>
              <a:defRPr sz="675"/>
            </a:lvl7pPr>
            <a:lvl8pPr marL="2400935" indent="0">
              <a:buNone/>
              <a:defRPr sz="675"/>
            </a:lvl8pPr>
            <a:lvl9pPr marL="2743835" indent="0">
              <a:buNone/>
              <a:defRPr sz="675"/>
            </a:lvl9pPr>
          </a:lstStyle>
          <a:p>
            <a:pPr lvl="0"/>
            <a:r>
              <a:rPr lang="zh-CN" altLang="en-US" smtClean="0"/>
              <a:t>单击此处编辑母版文本样式</a:t>
            </a:r>
          </a:p>
        </p:txBody>
      </p:sp>
      <p:sp>
        <p:nvSpPr>
          <p:cNvPr id="5" name="日期占位符 4"/>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6" name="页脚占位符 5"/>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71" y="206025"/>
            <a:ext cx="8229696" cy="857444"/>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1200422"/>
            <a:ext cx="8229696" cy="3395241"/>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0436" y="206025"/>
            <a:ext cx="2056531" cy="4389637"/>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71" y="206025"/>
            <a:ext cx="6058847" cy="4389637"/>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71" y="4768342"/>
            <a:ext cx="2133933" cy="273906"/>
          </a:xfrm>
          <a:prstGeom prst="rect">
            <a:avLst/>
          </a:prstGeom>
        </p:spPr>
        <p:txBody>
          <a:bodyPr/>
          <a:lstStyle/>
          <a:p>
            <a:fld id="{36EC894D-09CB-4DE7-A121-44A8E704B94B}" type="datetimeFigureOut">
              <a:rPr lang="zh-CN" altLang="en-US" smtClean="0"/>
              <a:t>2026/6/17</a:t>
            </a:fld>
            <a:endParaRPr lang="zh-CN" altLang="en-US"/>
          </a:p>
        </p:txBody>
      </p:sp>
      <p:sp>
        <p:nvSpPr>
          <p:cNvPr id="5" name="页脚占位符 4"/>
          <p:cNvSpPr>
            <a:spLocks noGrp="1"/>
          </p:cNvSpPr>
          <p:nvPr>
            <p:ph type="ftr" sz="quarter" idx="11"/>
          </p:nvPr>
        </p:nvSpPr>
        <p:spPr>
          <a:xfrm>
            <a:off x="3124688" y="4768342"/>
            <a:ext cx="2894862" cy="273906"/>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034" y="4768342"/>
            <a:ext cx="2133933" cy="273906"/>
          </a:xfrm>
          <a:prstGeom prst="rect">
            <a:avLst/>
          </a:prstGeom>
        </p:spPr>
        <p:txBody>
          <a:bodyPr/>
          <a:lstStyle/>
          <a:p>
            <a:fld id="{FAB2F72D-0145-4728-BBF6-AFA599DFD9DE}"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image" Target="../media/image1.jpeg"/><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7" name="矩形 6"/>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矩形 1"/>
          <p:cNvSpPr/>
          <p:nvPr userDrawn="1"/>
        </p:nvSpPr>
        <p:spPr>
          <a:xfrm rot="10800000">
            <a:off x="-5174" y="-8001"/>
            <a:ext cx="9149412" cy="5152666"/>
          </a:xfrm>
          <a:prstGeom prst="rect">
            <a:avLst/>
          </a:prstGeom>
          <a:gradFill flip="none" rotWithShape="1">
            <a:gsLst>
              <a:gs pos="100000">
                <a:schemeClr val="bg1">
                  <a:lumMod val="75000"/>
                </a:schemeClr>
              </a:gs>
              <a:gs pos="48000">
                <a:schemeClr val="bg1">
                  <a:lumMod val="95000"/>
                </a:schemeClr>
              </a:gs>
              <a:gs pos="0">
                <a:schemeClr val="bg1"/>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矩形 4"/>
          <p:cNvSpPr/>
          <p:nvPr userDrawn="1"/>
        </p:nvSpPr>
        <p:spPr>
          <a:xfrm>
            <a:off x="8969989" y="4084843"/>
            <a:ext cx="185136" cy="540182"/>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矩形 5"/>
          <p:cNvSpPr/>
          <p:nvPr userDrawn="1"/>
        </p:nvSpPr>
        <p:spPr>
          <a:xfrm>
            <a:off x="8969989" y="4625025"/>
            <a:ext cx="185136" cy="540182"/>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261851" y="573658"/>
            <a:ext cx="8588296" cy="0"/>
          </a:xfrm>
          <a:prstGeom prst="line">
            <a:avLst/>
          </a:prstGeom>
          <a:ln w="28575">
            <a:solidFill>
              <a:schemeClr val="bg1">
                <a:lumMod val="75000"/>
              </a:schemeClr>
            </a:solidFill>
          </a:ln>
          <a:effectLst>
            <a:outerShdw dist="25400" dir="5400000" algn="t" rotWithShape="0">
              <a:schemeClr val="bg1"/>
            </a:outerShdw>
          </a:effectLst>
        </p:spPr>
        <p:style>
          <a:lnRef idx="1">
            <a:schemeClr val="accent1"/>
          </a:lnRef>
          <a:fillRef idx="0">
            <a:schemeClr val="accent1"/>
          </a:fillRef>
          <a:effectRef idx="0">
            <a:schemeClr val="accent1"/>
          </a:effectRef>
          <a:fontRef idx="minor">
            <a:schemeClr val="tx1"/>
          </a:fontRef>
        </p:style>
      </p:cxnSp>
      <p:sp>
        <p:nvSpPr>
          <p:cNvPr id="9" name="矩形 8"/>
          <p:cNvSpPr/>
          <p:nvPr userDrawn="1"/>
        </p:nvSpPr>
        <p:spPr>
          <a:xfrm>
            <a:off x="235214" y="126050"/>
            <a:ext cx="185136" cy="18514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userDrawn="1"/>
        </p:nvSpPr>
        <p:spPr>
          <a:xfrm>
            <a:off x="420351" y="311200"/>
            <a:ext cx="185136" cy="185149"/>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15000"/>
        </a:spcBef>
        <a:buFont typeface="Arial" panose="020B0604020202020204" pitchFamily="34" charset="0"/>
        <a:buChar char="•"/>
        <a:defRPr sz="2400" kern="1200">
          <a:solidFill>
            <a:schemeClr val="tx1"/>
          </a:solidFill>
          <a:latin typeface="+mn-lt"/>
          <a:ea typeface="+mn-ea"/>
          <a:cs typeface="+mn-cs"/>
        </a:defRPr>
      </a:lvl1pPr>
      <a:lvl2pPr marL="557530" indent="-214630" algn="l" defTabSz="685800" rtl="0" eaLnBrk="1" latinLnBrk="0" hangingPunct="1">
        <a:spcBef>
          <a:spcPct val="15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15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5pPr>
      <a:lvl6pPr marL="18865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6pPr>
      <a:lvl7pPr marL="22294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7pPr>
      <a:lvl8pPr marL="25723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8pPr>
      <a:lvl9pPr marL="2915285" indent="-171450" algn="l" defTabSz="685800" rtl="0" eaLnBrk="1" latinLnBrk="0" hangingPunct="1">
        <a:spcBef>
          <a:spcPct val="15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8035" algn="l" defTabSz="685800" rtl="0" eaLnBrk="1" latinLnBrk="0" hangingPunct="1">
        <a:defRPr sz="1350" kern="1200">
          <a:solidFill>
            <a:schemeClr val="tx1"/>
          </a:solidFill>
          <a:latin typeface="+mn-lt"/>
          <a:ea typeface="+mn-ea"/>
          <a:cs typeface="+mn-cs"/>
        </a:defRPr>
      </a:lvl7pPr>
      <a:lvl8pPr marL="2400935" algn="l" defTabSz="685800" rtl="0" eaLnBrk="1" latinLnBrk="0" hangingPunct="1">
        <a:defRPr sz="1350" kern="1200">
          <a:solidFill>
            <a:schemeClr val="tx1"/>
          </a:solidFill>
          <a:latin typeface="+mn-lt"/>
          <a:ea typeface="+mn-ea"/>
          <a:cs typeface="+mn-cs"/>
        </a:defRPr>
      </a:lvl8pPr>
      <a:lvl9pPr marL="2743835"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tags" Target="../tags/tag14.xml"/><Relationship Id="rId18" Type="http://schemas.openxmlformats.org/officeDocument/2006/relationships/tags" Target="../tags/tag19.xml"/><Relationship Id="rId26" Type="http://schemas.openxmlformats.org/officeDocument/2006/relationships/notesSlide" Target="../notesSlides/notesSlide2.xml"/><Relationship Id="rId3" Type="http://schemas.openxmlformats.org/officeDocument/2006/relationships/tags" Target="../tags/tag4.xml"/><Relationship Id="rId21" Type="http://schemas.openxmlformats.org/officeDocument/2006/relationships/tags" Target="../tags/tag22.xml"/><Relationship Id="rId7" Type="http://schemas.openxmlformats.org/officeDocument/2006/relationships/tags" Target="../tags/tag8.xml"/><Relationship Id="rId12" Type="http://schemas.openxmlformats.org/officeDocument/2006/relationships/tags" Target="../tags/tag13.xml"/><Relationship Id="rId17" Type="http://schemas.openxmlformats.org/officeDocument/2006/relationships/tags" Target="../tags/tag18.xml"/><Relationship Id="rId25" Type="http://schemas.openxmlformats.org/officeDocument/2006/relationships/slideLayout" Target="../slideLayouts/slideLayout7.xml"/><Relationship Id="rId2" Type="http://schemas.openxmlformats.org/officeDocument/2006/relationships/tags" Target="../tags/tag3.xml"/><Relationship Id="rId16" Type="http://schemas.openxmlformats.org/officeDocument/2006/relationships/tags" Target="../tags/tag17.xml"/><Relationship Id="rId20" Type="http://schemas.openxmlformats.org/officeDocument/2006/relationships/tags" Target="../tags/tag21.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24" Type="http://schemas.openxmlformats.org/officeDocument/2006/relationships/tags" Target="../tags/tag25.xml"/><Relationship Id="rId5" Type="http://schemas.openxmlformats.org/officeDocument/2006/relationships/tags" Target="../tags/tag6.xml"/><Relationship Id="rId15" Type="http://schemas.openxmlformats.org/officeDocument/2006/relationships/tags" Target="../tags/tag16.xml"/><Relationship Id="rId23" Type="http://schemas.openxmlformats.org/officeDocument/2006/relationships/tags" Target="../tags/tag24.xml"/><Relationship Id="rId10" Type="http://schemas.openxmlformats.org/officeDocument/2006/relationships/tags" Target="../tags/tag11.xml"/><Relationship Id="rId19" Type="http://schemas.openxmlformats.org/officeDocument/2006/relationships/tags" Target="../tags/tag20.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tags" Target="../tags/tag15.xml"/><Relationship Id="rId22" Type="http://schemas.openxmlformats.org/officeDocument/2006/relationships/tags" Target="../tags/tag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29.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30.emf"/><Relationship Id="rId4" Type="http://schemas.openxmlformats.org/officeDocument/2006/relationships/oleObject" Target="../embeddings/oleObject2.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image" Target="../media/image31.emf"/><Relationship Id="rId4" Type="http://schemas.openxmlformats.org/officeDocument/2006/relationships/oleObject" Target="../embeddings/oleObject3.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vmlDrawing" Target="../drawings/vmlDrawing4.vml"/><Relationship Id="rId5" Type="http://schemas.openxmlformats.org/officeDocument/2006/relationships/image" Target="../media/image31.emf"/><Relationship Id="rId4" Type="http://schemas.openxmlformats.org/officeDocument/2006/relationships/oleObject" Target="../embeddings/oleObject4.bin"/></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tags" Target="../tags/tag33.xml"/><Relationship Id="rId13" Type="http://schemas.openxmlformats.org/officeDocument/2006/relationships/tags" Target="../tags/tag38.xml"/><Relationship Id="rId18" Type="http://schemas.openxmlformats.org/officeDocument/2006/relationships/tags" Target="../tags/tag4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tags" Target="../tags/tag37.xml"/><Relationship Id="rId17" Type="http://schemas.openxmlformats.org/officeDocument/2006/relationships/tags" Target="../tags/tag42.xml"/><Relationship Id="rId2" Type="http://schemas.openxmlformats.org/officeDocument/2006/relationships/tags" Target="../tags/tag27.xml"/><Relationship Id="rId16" Type="http://schemas.openxmlformats.org/officeDocument/2006/relationships/tags" Target="../tags/tag41.xml"/><Relationship Id="rId20" Type="http://schemas.openxmlformats.org/officeDocument/2006/relationships/notesSlide" Target="../notesSlides/notesSlide1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tags" Target="../tags/tag36.xml"/><Relationship Id="rId5" Type="http://schemas.openxmlformats.org/officeDocument/2006/relationships/tags" Target="../tags/tag30.xml"/><Relationship Id="rId15" Type="http://schemas.openxmlformats.org/officeDocument/2006/relationships/tags" Target="../tags/tag40.xml"/><Relationship Id="rId10" Type="http://schemas.openxmlformats.org/officeDocument/2006/relationships/tags" Target="../tags/tag35.xml"/><Relationship Id="rId19" Type="http://schemas.openxmlformats.org/officeDocument/2006/relationships/slideLayout" Target="../slideLayouts/slideLayout22.xml"/><Relationship Id="rId4" Type="http://schemas.openxmlformats.org/officeDocument/2006/relationships/tags" Target="../tags/tag29.xml"/><Relationship Id="rId9" Type="http://schemas.openxmlformats.org/officeDocument/2006/relationships/tags" Target="../tags/tag34.xml"/><Relationship Id="rId14" Type="http://schemas.openxmlformats.org/officeDocument/2006/relationships/tags" Target="../tags/tag3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image" Target="../media/image34.emf"/><Relationship Id="rId4" Type="http://schemas.openxmlformats.org/officeDocument/2006/relationships/oleObject" Target="../embeddings/oleObject5.bin"/></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37.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7.bin"/><Relationship Id="rId5" Type="http://schemas.openxmlformats.org/officeDocument/2006/relationships/image" Target="../media/image36.emf"/><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24.xml"/><Relationship Id="rId7" Type="http://schemas.openxmlformats.org/officeDocument/2006/relationships/image" Target="../media/image39.e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oleObject" Target="../embeddings/oleObject9.bin"/><Relationship Id="rId5" Type="http://schemas.openxmlformats.org/officeDocument/2006/relationships/image" Target="../media/image38.emf"/><Relationship Id="rId4" Type="http://schemas.openxmlformats.org/officeDocument/2006/relationships/oleObject" Target="../embeddings/oleObject8.bin"/><Relationship Id="rId9" Type="http://schemas.openxmlformats.org/officeDocument/2006/relationships/image" Target="../media/image40.emf"/></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43.e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12.bin"/><Relationship Id="rId5" Type="http://schemas.openxmlformats.org/officeDocument/2006/relationships/image" Target="../media/image42.emf"/><Relationship Id="rId4" Type="http://schemas.openxmlformats.org/officeDocument/2006/relationships/oleObject" Target="../embeddings/oleObject11.bin"/></Relationships>
</file>

<file path=ppt/slides/_rels/slide2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image" Target="../media/image46.emf"/><Relationship Id="rId4" Type="http://schemas.openxmlformats.org/officeDocument/2006/relationships/oleObject" Target="../embeddings/oleObject13.bin"/></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47.emf"/><Relationship Id="rId4" Type="http://schemas.openxmlformats.org/officeDocument/2006/relationships/oleObject" Target="../embeddings/oleObject14.bin"/></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11.vml"/><Relationship Id="rId5" Type="http://schemas.openxmlformats.org/officeDocument/2006/relationships/image" Target="../media/image48.emf"/><Relationship Id="rId4" Type="http://schemas.openxmlformats.org/officeDocument/2006/relationships/oleObject" Target="../embeddings/oleObject15.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vmlDrawing" Target="../drawings/vmlDrawing12.vml"/><Relationship Id="rId5" Type="http://schemas.openxmlformats.org/officeDocument/2006/relationships/image" Target="../media/image49.emf"/><Relationship Id="rId4" Type="http://schemas.openxmlformats.org/officeDocument/2006/relationships/oleObject" Target="../embeddings/oleObject16.bin"/></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7" Type="http://schemas.openxmlformats.org/officeDocument/2006/relationships/image" Target="../media/image51.emf"/><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18.bin"/><Relationship Id="rId5" Type="http://schemas.openxmlformats.org/officeDocument/2006/relationships/image" Target="../media/image50.emf"/><Relationship Id="rId4" Type="http://schemas.openxmlformats.org/officeDocument/2006/relationships/oleObject" Target="../embeddings/oleObject17.bin"/></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vmlDrawing" Target="../drawings/vmlDrawing14.vml"/><Relationship Id="rId5" Type="http://schemas.openxmlformats.org/officeDocument/2006/relationships/image" Target="../media/image55.emf"/><Relationship Id="rId4"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vmlDrawing" Target="../drawings/vmlDrawing15.vml"/><Relationship Id="rId5" Type="http://schemas.openxmlformats.org/officeDocument/2006/relationships/image" Target="../media/image56.emf"/><Relationship Id="rId4" Type="http://schemas.openxmlformats.org/officeDocument/2006/relationships/oleObject" Target="../embeddings/oleObject20.bin"/></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59.gif"/><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9.xml"/><Relationship Id="rId1" Type="http://schemas.openxmlformats.org/officeDocument/2006/relationships/slideLayout" Target="../slideLayouts/slideLayout7.xml"/><Relationship Id="rId5" Type="http://schemas.openxmlformats.org/officeDocument/2006/relationships/image" Target="../media/image62.jpeg"/><Relationship Id="rId4" Type="http://schemas.openxmlformats.org/officeDocument/2006/relationships/image" Target="../media/image61.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66203" y="2103887"/>
            <a:ext cx="6821170" cy="829945"/>
          </a:xfrm>
          <a:prstGeom prst="rect">
            <a:avLst/>
          </a:prstGeom>
          <a:noFill/>
          <a:effectLst/>
        </p:spPr>
        <p:txBody>
          <a:bodyPr wrap="square" rtlCol="0">
            <a:spAutoFit/>
          </a:bodyPr>
          <a:lstStyle/>
          <a:p>
            <a:pPr algn="ctr"/>
            <a:r>
              <a:rPr lang="zh-CN" altLang="en-US" sz="4800" b="1" dirty="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机器人原理与应用</a:t>
            </a:r>
            <a:endParaRPr lang="zh-CN" alt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5" name="矩形 4"/>
          <p:cNvSpPr/>
          <p:nvPr/>
        </p:nvSpPr>
        <p:spPr>
          <a:xfrm>
            <a:off x="1169670" y="2933700"/>
            <a:ext cx="7215505" cy="461665"/>
          </a:xfrm>
          <a:prstGeom prst="rect">
            <a:avLst/>
          </a:prstGeom>
        </p:spPr>
        <p:txBody>
          <a:bodyPr wrap="square">
            <a:spAutoFit/>
          </a:bodyPr>
          <a:lstStyle/>
          <a:p>
            <a:pPr algn="ctr">
              <a:lnSpc>
                <a:spcPct val="100000"/>
              </a:lnSpc>
            </a:pPr>
            <a:r>
              <a:rPr lang="en-US" altLang="zh-CN" sz="2400" dirty="0">
                <a:latin typeface="Arial" panose="020B0604020202020204" pitchFamily="34" charset="0"/>
                <a:ea typeface="微软雅黑" panose="020B0503020204020204" charset="-122"/>
              </a:rPr>
              <a:t>Principles and Applications of Robotics </a:t>
            </a:r>
            <a:endParaRPr lang="zh-CN" altLang="en-US" sz="2400" dirty="0">
              <a:solidFill>
                <a:schemeClr val="tx1"/>
              </a:solidFill>
              <a:latin typeface="Arial" panose="020B0604020202020204" pitchFamily="34" charset="0"/>
              <a:ea typeface="微软雅黑" panose="020B0503020204020204" charset="-122"/>
              <a:sym typeface="+mn-ea"/>
            </a:endParaRPr>
          </a:p>
        </p:txBody>
      </p:sp>
      <p:sp>
        <p:nvSpPr>
          <p:cNvPr id="4" name="椭圆 3"/>
          <p:cNvSpPr/>
          <p:nvPr/>
        </p:nvSpPr>
        <p:spPr>
          <a:xfrm>
            <a:off x="2304415" y="-3183890"/>
            <a:ext cx="4535170" cy="4535170"/>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4"/>
          <p:cNvSpPr txBox="1">
            <a:spLocks noChangeArrowheads="1"/>
          </p:cNvSpPr>
          <p:nvPr/>
        </p:nvSpPr>
        <p:spPr bwMode="auto">
          <a:xfrm>
            <a:off x="708819" y="3439620"/>
            <a:ext cx="8135938"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800">
                <a:solidFill>
                  <a:schemeClr val="tx1"/>
                </a:solidFill>
                <a:latin typeface="Times New Roman" panose="02020603050405020304" pitchFamily="18" charset="0"/>
                <a:ea typeface="宋体" panose="02010600030101010101" pitchFamily="2" charset="-122"/>
              </a:defRPr>
            </a:lvl2pPr>
            <a:lvl3pPr marL="1143000" indent="-228600" eaLnBrk="0" hangingPunct="0">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000" b="1" dirty="0"/>
              <a:t>Instructor:</a:t>
            </a:r>
            <a:r>
              <a:rPr lang="zh-CN" altLang="en-US" sz="2000" dirty="0">
                <a:ea typeface="楷体_GB2312" pitchFamily="49" charset="-122"/>
              </a:rPr>
              <a:t> </a:t>
            </a:r>
            <a:r>
              <a:rPr lang="en-US" altLang="zh-CN" sz="2000" dirty="0">
                <a:ea typeface="楷体_GB2312" pitchFamily="49" charset="-122"/>
              </a:rPr>
              <a:t>Dr. </a:t>
            </a:r>
            <a:r>
              <a:rPr lang="zh-CN" altLang="en-US" sz="2000" dirty="0" smtClean="0">
                <a:latin typeface="楷体" panose="02010609060101010101" pitchFamily="49" charset="-122"/>
                <a:ea typeface="楷体" panose="02010609060101010101" pitchFamily="49" charset="-122"/>
              </a:rPr>
              <a:t>闵华松</a:t>
            </a:r>
            <a:r>
              <a:rPr lang="en-US" altLang="zh-CN" sz="2000" dirty="0" smtClean="0">
                <a:ea typeface="楷体_GB2312" pitchFamily="49" charset="-122"/>
              </a:rPr>
              <a:t>(</a:t>
            </a:r>
            <a:r>
              <a:rPr lang="en-US" altLang="zh-CN" sz="2000" dirty="0" err="1" smtClean="0">
                <a:ea typeface="楷体_GB2312" pitchFamily="49" charset="-122"/>
              </a:rPr>
              <a:t>Huasong</a:t>
            </a:r>
            <a:r>
              <a:rPr lang="en-US" altLang="zh-CN" sz="2000" dirty="0" smtClean="0">
                <a:ea typeface="楷体_GB2312" pitchFamily="49" charset="-122"/>
              </a:rPr>
              <a:t> Min), </a:t>
            </a:r>
            <a:r>
              <a:rPr lang="en-US" altLang="zh-CN" sz="2000" dirty="0">
                <a:ea typeface="楷体_GB2312" pitchFamily="49" charset="-122"/>
              </a:rPr>
              <a:t>professor </a:t>
            </a:r>
            <a:endParaRPr lang="zh-CN" altLang="en-US" sz="2000" dirty="0">
              <a:ea typeface="楷体_GB2312" pitchFamily="49" charset="-122"/>
            </a:endParaRPr>
          </a:p>
          <a:p>
            <a:pPr eaLnBrk="1" hangingPunct="1">
              <a:spcBef>
                <a:spcPct val="0"/>
              </a:spcBef>
              <a:buFontTx/>
              <a:buNone/>
            </a:pPr>
            <a:r>
              <a:rPr lang="en-US" altLang="zh-CN" sz="2000" b="1" dirty="0"/>
              <a:t>Office Location</a:t>
            </a:r>
            <a:r>
              <a:rPr lang="zh-CN" altLang="en-US" sz="2000" dirty="0" smtClean="0">
                <a:ea typeface="楷体_GB2312" pitchFamily="49" charset="-122"/>
              </a:rPr>
              <a:t>：</a:t>
            </a:r>
            <a:r>
              <a:rPr lang="zh-CN" altLang="en-US" sz="2000" dirty="0" smtClean="0">
                <a:latin typeface="楷体" panose="02010609060101010101" pitchFamily="49" charset="-122"/>
                <a:ea typeface="楷体" panose="02010609060101010101" pitchFamily="49" charset="-122"/>
              </a:rPr>
              <a:t>武钢楼</a:t>
            </a:r>
            <a:r>
              <a:rPr lang="en-US" altLang="zh-CN" sz="2000" dirty="0" smtClean="0">
                <a:ea typeface="楷体_GB2312" pitchFamily="49" charset="-122"/>
              </a:rPr>
              <a:t>1110</a:t>
            </a:r>
            <a:r>
              <a:rPr lang="en-US" altLang="zh-CN" sz="2000" dirty="0">
                <a:ea typeface="楷体_GB2312" pitchFamily="49" charset="-122"/>
              </a:rPr>
              <a:t>(</a:t>
            </a:r>
            <a:r>
              <a:rPr lang="en-US" altLang="zh-CN" sz="2000" dirty="0" smtClean="0">
                <a:ea typeface="楷体_GB2312" pitchFamily="49" charset="-122"/>
              </a:rPr>
              <a:t>Room </a:t>
            </a:r>
            <a:r>
              <a:rPr lang="en-US" altLang="zh-CN" sz="2000" dirty="0">
                <a:ea typeface="楷体_GB2312" pitchFamily="49" charset="-122"/>
              </a:rPr>
              <a:t>No. 1110, </a:t>
            </a:r>
            <a:r>
              <a:rPr lang="en-US" altLang="zh-CN" sz="2000" dirty="0" smtClean="0">
                <a:ea typeface="楷体_GB2312" pitchFamily="49" charset="-122"/>
              </a:rPr>
              <a:t>WUGANG Building)</a:t>
            </a:r>
          </a:p>
          <a:p>
            <a:pPr eaLnBrk="1" hangingPunct="1">
              <a:spcBef>
                <a:spcPct val="0"/>
              </a:spcBef>
              <a:buFontTx/>
              <a:buNone/>
            </a:pPr>
            <a:r>
              <a:rPr lang="en-US" altLang="zh-CN" sz="2000" b="1" dirty="0" smtClean="0"/>
              <a:t>Class </a:t>
            </a:r>
            <a:r>
              <a:rPr lang="en-US" altLang="zh-CN" sz="2000" b="1" dirty="0"/>
              <a:t>venue:  </a:t>
            </a:r>
            <a:r>
              <a:rPr lang="en-US" altLang="zh-CN" sz="2000" dirty="0">
                <a:ea typeface="楷体_GB2312" pitchFamily="49" charset="-122"/>
              </a:rPr>
              <a:t>Room No. </a:t>
            </a:r>
            <a:r>
              <a:rPr lang="en-US" altLang="zh-CN" sz="2000" dirty="0" smtClean="0">
                <a:ea typeface="楷体_GB2312" pitchFamily="49" charset="-122"/>
              </a:rPr>
              <a:t>F4502</a:t>
            </a:r>
            <a:endParaRPr lang="en-US" altLang="zh-CN" sz="2000" dirty="0">
              <a:ea typeface="楷体_GB2312" pitchFamily="49" charset="-122"/>
            </a:endParaRPr>
          </a:p>
          <a:p>
            <a:pPr eaLnBrk="1" hangingPunct="1">
              <a:spcBef>
                <a:spcPct val="0"/>
              </a:spcBef>
              <a:buFontTx/>
              <a:buNone/>
            </a:pPr>
            <a:r>
              <a:rPr lang="en-US" altLang="zh-CN" sz="2000" b="1" dirty="0">
                <a:ea typeface="楷体_GB2312" pitchFamily="49" charset="-122"/>
              </a:rPr>
              <a:t>Email:  </a:t>
            </a:r>
            <a:r>
              <a:rPr lang="en-US" altLang="zh-CN" sz="2000" dirty="0">
                <a:ea typeface="楷体_GB2312" pitchFamily="49" charset="-122"/>
              </a:rPr>
              <a:t>mhuasong@wust.edu.cn</a:t>
            </a:r>
          </a:p>
          <a:p>
            <a:pPr eaLnBrk="1" hangingPunct="1">
              <a:spcBef>
                <a:spcPct val="0"/>
              </a:spcBef>
              <a:buFontTx/>
              <a:buNone/>
            </a:pPr>
            <a:r>
              <a:rPr lang="en-US" altLang="zh-CN" sz="2000" b="1" dirty="0">
                <a:ea typeface="楷体_GB2312" pitchFamily="49" charset="-122"/>
              </a:rPr>
              <a:t>Mobile: </a:t>
            </a:r>
            <a:r>
              <a:rPr lang="en-US" altLang="zh-CN" sz="2000" dirty="0">
                <a:ea typeface="楷体_GB2312" pitchFamily="49" charset="-122"/>
              </a:rPr>
              <a:t>13971365898</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3"/>
          <p:cNvSpPr>
            <a:spLocks noChangeArrowheads="1"/>
          </p:cNvSpPr>
          <p:nvPr/>
        </p:nvSpPr>
        <p:spPr bwMode="auto">
          <a:xfrm>
            <a:off x="251520" y="650290"/>
            <a:ext cx="5555246" cy="4104455"/>
          </a:xfrm>
          <a:prstGeom prst="rect">
            <a:avLst/>
          </a:prstGeom>
          <a:solidFill>
            <a:srgbClr val="FFFFFF"/>
          </a:solidFill>
          <a:ln w="9525">
            <a:noFill/>
            <a:miter lim="800000"/>
            <a:headEnd/>
            <a:tailEnd/>
          </a:ln>
        </p:spPr>
        <p:txBody>
          <a:bodyPr/>
          <a:lstStyle/>
          <a:p>
            <a:pPr marL="342900" indent="-342900">
              <a:buClr>
                <a:schemeClr val="tx2"/>
              </a:buClr>
              <a:buSzPct val="75000"/>
              <a:buFont typeface="Wingdings" pitchFamily="2" charset="2"/>
              <a:buChar char="Ø"/>
              <a:defRPr/>
            </a:pPr>
            <a:r>
              <a:rPr kumimoji="0" lang="zh-CN" altLang="en-US" dirty="0" smtClean="0">
                <a:effectLst>
                  <a:outerShdw blurRad="38100" dist="38100" dir="2700000" algn="tl">
                    <a:srgbClr val="C0C0C0"/>
                  </a:outerShdw>
                </a:effectLst>
                <a:cs typeface="Arial" pitchFamily="34" charset="0"/>
              </a:rPr>
              <a:t>参考书</a:t>
            </a:r>
            <a:r>
              <a:rPr kumimoji="0" lang="en-US" altLang="zh-CN" dirty="0" smtClean="0">
                <a:effectLst>
                  <a:outerShdw blurRad="38100" dist="38100" dir="2700000" algn="tl">
                    <a:srgbClr val="C0C0C0"/>
                  </a:outerShdw>
                </a:effectLst>
                <a:cs typeface="Arial" pitchFamily="34" charset="0"/>
              </a:rPr>
              <a:t>:</a:t>
            </a:r>
            <a:endParaRPr kumimoji="0" lang="en-US" altLang="zh-CN" dirty="0">
              <a:effectLst>
                <a:outerShdw blurRad="38100" dist="38100" dir="2700000" algn="tl">
                  <a:srgbClr val="C0C0C0"/>
                </a:outerShdw>
              </a:effectLst>
              <a:cs typeface="Arial" pitchFamily="34" charset="0"/>
            </a:endParaRPr>
          </a:p>
          <a:p>
            <a:pPr marL="800100" lvl="1" indent="-342900">
              <a:buClr>
                <a:schemeClr val="tx2"/>
              </a:buClr>
              <a:buSzPct val="75000"/>
              <a:buFont typeface="Wingdings" pitchFamily="2" charset="2"/>
              <a:buChar char="Ø"/>
              <a:defRPr/>
            </a:pPr>
            <a:r>
              <a:rPr kumimoji="0" lang="en-US" altLang="en-US" b="1" dirty="0">
                <a:effectLst>
                  <a:outerShdw blurRad="38100" dist="38100" dir="2700000" algn="tl">
                    <a:srgbClr val="C0C0C0"/>
                  </a:outerShdw>
                </a:effectLst>
                <a:cs typeface="Arial" pitchFamily="34" charset="0"/>
              </a:rPr>
              <a:t>Robot Modeling and Control, by M.W. </a:t>
            </a:r>
            <a:r>
              <a:rPr kumimoji="0" lang="en-US" altLang="en-US" b="1" dirty="0" err="1">
                <a:effectLst>
                  <a:outerShdw blurRad="38100" dist="38100" dir="2700000" algn="tl">
                    <a:srgbClr val="C0C0C0"/>
                  </a:outerShdw>
                </a:effectLst>
                <a:cs typeface="Arial" pitchFamily="34" charset="0"/>
              </a:rPr>
              <a:t>Spong</a:t>
            </a:r>
            <a:r>
              <a:rPr kumimoji="0" lang="en-US" altLang="en-US" b="1" dirty="0">
                <a:effectLst>
                  <a:outerShdw blurRad="38100" dist="38100" dir="2700000" algn="tl">
                    <a:srgbClr val="C0C0C0"/>
                  </a:outerShdw>
                </a:effectLst>
                <a:cs typeface="Arial" pitchFamily="34" charset="0"/>
              </a:rPr>
              <a:t>, S. Hutchinson, M. </a:t>
            </a:r>
            <a:r>
              <a:rPr kumimoji="0" lang="en-US" altLang="en-US" b="1" dirty="0" err="1">
                <a:effectLst>
                  <a:outerShdw blurRad="38100" dist="38100" dir="2700000" algn="tl">
                    <a:srgbClr val="C0C0C0"/>
                  </a:outerShdw>
                </a:effectLst>
                <a:cs typeface="Arial" pitchFamily="34" charset="0"/>
              </a:rPr>
              <a:t>Vidyasagar</a:t>
            </a:r>
            <a:r>
              <a:rPr kumimoji="0" lang="en-US" altLang="en-US" b="1" dirty="0">
                <a:effectLst>
                  <a:outerShdw blurRad="38100" dist="38100" dir="2700000" algn="tl">
                    <a:srgbClr val="C0C0C0"/>
                  </a:outerShdw>
                </a:effectLst>
                <a:cs typeface="Arial" pitchFamily="34" charset="0"/>
              </a:rPr>
              <a:t> (2005) (required)</a:t>
            </a:r>
          </a:p>
          <a:p>
            <a:pPr lvl="1">
              <a:buClr>
                <a:schemeClr val="tx2"/>
              </a:buClr>
              <a:buSzPct val="75000"/>
              <a:buFontTx/>
              <a:buNone/>
              <a:defRPr/>
            </a:pPr>
            <a:r>
              <a:rPr kumimoji="0" lang="en-US" altLang="zh-CN" b="1" dirty="0">
                <a:effectLst>
                  <a:outerShdw blurRad="38100" dist="38100" dir="2700000" algn="tl">
                    <a:srgbClr val="C0C0C0"/>
                  </a:outerShdw>
                </a:effectLst>
                <a:cs typeface="Arial" pitchFamily="34" charset="0"/>
              </a:rPr>
              <a:t>	</a:t>
            </a:r>
            <a:r>
              <a:rPr kumimoji="0" lang="zh-CN" altLang="en-US" b="1" dirty="0">
                <a:solidFill>
                  <a:srgbClr val="FF0000"/>
                </a:solidFill>
                <a:effectLst>
                  <a:outerShdw blurRad="38100" dist="38100" dir="2700000" algn="tl">
                    <a:srgbClr val="C0C0C0"/>
                  </a:outerShdw>
                </a:effectLst>
                <a:cs typeface="Arial" pitchFamily="34" charset="0"/>
              </a:rPr>
              <a:t>机器人建模与控制</a:t>
            </a:r>
            <a:r>
              <a:rPr kumimoji="0" lang="zh-CN" altLang="en-US" b="1" dirty="0">
                <a:effectLst>
                  <a:outerShdw blurRad="38100" dist="38100" dir="2700000" algn="tl">
                    <a:srgbClr val="C0C0C0"/>
                  </a:outerShdw>
                </a:effectLst>
                <a:cs typeface="Arial" pitchFamily="34" charset="0"/>
              </a:rPr>
              <a:t>（中文译本）</a:t>
            </a:r>
            <a:endParaRPr kumimoji="0" lang="en-US" altLang="zh-CN" b="1" dirty="0">
              <a:effectLst>
                <a:outerShdw blurRad="38100" dist="38100" dir="2700000" algn="tl">
                  <a:srgbClr val="C0C0C0"/>
                </a:outerShdw>
              </a:effectLst>
              <a:cs typeface="Arial" pitchFamily="34" charset="0"/>
            </a:endParaRPr>
          </a:p>
          <a:p>
            <a:pPr marL="800100" lvl="1" indent="-342900">
              <a:buClr>
                <a:schemeClr val="tx2"/>
              </a:buClr>
              <a:buSzPct val="75000"/>
              <a:buFont typeface="Wingdings" pitchFamily="2" charset="2"/>
              <a:buChar char="Ø"/>
              <a:defRPr/>
            </a:pPr>
            <a:r>
              <a:rPr kumimoji="0" lang="en-US" altLang="zh-CN" b="1" dirty="0">
                <a:effectLst>
                  <a:outerShdw blurRad="38100" dist="38100" dir="2700000" algn="tl">
                    <a:srgbClr val="C0C0C0"/>
                  </a:outerShdw>
                </a:effectLst>
                <a:cs typeface="Arial" pitchFamily="34" charset="0"/>
              </a:rPr>
              <a:t>Springer handbook of robotics. </a:t>
            </a:r>
            <a:r>
              <a:rPr kumimoji="0" lang="en-US" altLang="zh-CN" dirty="0" err="1">
                <a:effectLst>
                  <a:outerShdw blurRad="38100" dist="38100" dir="2700000" algn="tl">
                    <a:srgbClr val="C0C0C0"/>
                  </a:outerShdw>
                </a:effectLst>
                <a:cs typeface="Arial" pitchFamily="34" charset="0"/>
              </a:rPr>
              <a:t>Siciliano</a:t>
            </a:r>
            <a:r>
              <a:rPr kumimoji="0" lang="en-US" altLang="zh-CN" dirty="0">
                <a:effectLst>
                  <a:outerShdw blurRad="38100" dist="38100" dir="2700000" algn="tl">
                    <a:srgbClr val="C0C0C0"/>
                  </a:outerShdw>
                </a:effectLst>
                <a:cs typeface="Arial" pitchFamily="34" charset="0"/>
              </a:rPr>
              <a:t>, Bruno, and </a:t>
            </a:r>
            <a:r>
              <a:rPr kumimoji="0" lang="en-US" altLang="zh-CN" dirty="0" err="1">
                <a:effectLst>
                  <a:outerShdw blurRad="38100" dist="38100" dir="2700000" algn="tl">
                    <a:srgbClr val="C0C0C0"/>
                  </a:outerShdw>
                </a:effectLst>
                <a:cs typeface="Arial" pitchFamily="34" charset="0"/>
              </a:rPr>
              <a:t>Oussama</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Khatib</a:t>
            </a:r>
            <a:r>
              <a:rPr kumimoji="0" lang="en-US" altLang="zh-CN" dirty="0">
                <a:effectLst>
                  <a:outerShdw blurRad="38100" dist="38100" dir="2700000" algn="tl">
                    <a:srgbClr val="C0C0C0"/>
                  </a:outerShdw>
                </a:effectLst>
                <a:cs typeface="Arial" pitchFamily="34" charset="0"/>
              </a:rPr>
              <a:t>, eds. Springer, 2016.</a:t>
            </a:r>
          </a:p>
          <a:p>
            <a:pPr lvl="1">
              <a:buClr>
                <a:schemeClr val="tx2"/>
              </a:buClr>
              <a:buSzPct val="75000"/>
              <a:buFontTx/>
              <a:buNone/>
              <a:defRPr/>
            </a:pPr>
            <a:r>
              <a:rPr kumimoji="0" lang="en-US" altLang="zh-CN" b="1" dirty="0">
                <a:effectLst>
                  <a:outerShdw blurRad="38100" dist="38100" dir="2700000" algn="tl">
                    <a:srgbClr val="C0C0C0"/>
                  </a:outerShdw>
                </a:effectLst>
                <a:cs typeface="Arial" pitchFamily="34" charset="0"/>
              </a:rPr>
              <a:t>	</a:t>
            </a:r>
            <a:r>
              <a:rPr kumimoji="0" lang="zh-CN" altLang="en-US" b="1" dirty="0">
                <a:effectLst>
                  <a:outerShdw blurRad="38100" dist="38100" dir="2700000" algn="tl">
                    <a:srgbClr val="C0C0C0"/>
                  </a:outerShdw>
                </a:effectLst>
                <a:cs typeface="Arial" pitchFamily="34" charset="0"/>
              </a:rPr>
              <a:t>机器人手册（中文译本）</a:t>
            </a:r>
            <a:endParaRPr kumimoji="0" lang="en-US" altLang="zh-CN" dirty="0">
              <a:effectLst>
                <a:outerShdw blurRad="38100" dist="38100" dir="2700000" algn="tl">
                  <a:srgbClr val="C0C0C0"/>
                </a:outerShdw>
              </a:effectLst>
              <a:cs typeface="Arial" pitchFamily="34" charset="0"/>
            </a:endParaRPr>
          </a:p>
          <a:p>
            <a:pPr marL="742950" lvl="1" indent="-285750">
              <a:buClr>
                <a:schemeClr val="tx2"/>
              </a:buClr>
              <a:buSzPct val="75000"/>
              <a:buFont typeface="Wingdings" pitchFamily="2" charset="2"/>
              <a:buChar char="Ø"/>
              <a:defRPr/>
            </a:pPr>
            <a:r>
              <a:rPr kumimoji="0" lang="en-US" altLang="zh-CN" dirty="0">
                <a:effectLst>
                  <a:outerShdw blurRad="38100" dist="38100" dir="2700000" algn="tl">
                    <a:srgbClr val="000000">
                      <a:alpha val="43137"/>
                    </a:srgbClr>
                  </a:outerShdw>
                </a:effectLst>
                <a:cs typeface="Arial" pitchFamily="34" charset="0"/>
              </a:rPr>
              <a:t>Modelling and Control of Robot Manipulators (Second Edition), L. </a:t>
            </a:r>
            <a:r>
              <a:rPr kumimoji="0" lang="en-US" altLang="zh-CN" dirty="0" err="1">
                <a:effectLst>
                  <a:outerShdw blurRad="38100" dist="38100" dir="2700000" algn="tl">
                    <a:srgbClr val="000000">
                      <a:alpha val="43137"/>
                    </a:srgbClr>
                  </a:outerShdw>
                </a:effectLst>
                <a:cs typeface="Arial" pitchFamily="34" charset="0"/>
              </a:rPr>
              <a:t>Sciavicco</a:t>
            </a:r>
            <a:r>
              <a:rPr kumimoji="0" lang="en-US" altLang="zh-CN" dirty="0">
                <a:effectLst>
                  <a:outerShdw blurRad="38100" dist="38100" dir="2700000" algn="tl">
                    <a:srgbClr val="000000">
                      <a:alpha val="43137"/>
                    </a:srgbClr>
                  </a:outerShdw>
                </a:effectLst>
                <a:cs typeface="Arial" pitchFamily="34" charset="0"/>
              </a:rPr>
              <a:t> and B. </a:t>
            </a:r>
            <a:r>
              <a:rPr kumimoji="0" lang="en-US" altLang="zh-CN" dirty="0" err="1">
                <a:effectLst>
                  <a:outerShdw blurRad="38100" dist="38100" dir="2700000" algn="tl">
                    <a:srgbClr val="000000">
                      <a:alpha val="43137"/>
                    </a:srgbClr>
                  </a:outerShdw>
                </a:effectLst>
                <a:cs typeface="Arial" pitchFamily="34" charset="0"/>
              </a:rPr>
              <a:t>Siciliano</a:t>
            </a:r>
            <a:r>
              <a:rPr kumimoji="0" lang="en-US" altLang="zh-CN" dirty="0">
                <a:effectLst>
                  <a:outerShdw blurRad="38100" dist="38100" dir="2700000" algn="tl">
                    <a:srgbClr val="000000">
                      <a:alpha val="43137"/>
                    </a:srgbClr>
                  </a:outerShdw>
                </a:effectLst>
                <a:cs typeface="Arial" pitchFamily="34" charset="0"/>
              </a:rPr>
              <a:t>, Springer-</a:t>
            </a:r>
            <a:r>
              <a:rPr kumimoji="0" lang="en-US" altLang="zh-CN" dirty="0" err="1">
                <a:effectLst>
                  <a:outerShdw blurRad="38100" dist="38100" dir="2700000" algn="tl">
                    <a:srgbClr val="000000">
                      <a:alpha val="43137"/>
                    </a:srgbClr>
                  </a:outerShdw>
                </a:effectLst>
                <a:cs typeface="Arial" pitchFamily="34" charset="0"/>
              </a:rPr>
              <a:t>Verlag</a:t>
            </a:r>
            <a:r>
              <a:rPr kumimoji="0" lang="en-US" altLang="zh-CN" dirty="0">
                <a:effectLst>
                  <a:outerShdw blurRad="38100" dist="38100" dir="2700000" algn="tl">
                    <a:srgbClr val="000000">
                      <a:alpha val="43137"/>
                    </a:srgbClr>
                  </a:outerShdw>
                </a:effectLst>
                <a:cs typeface="Arial" pitchFamily="34" charset="0"/>
              </a:rPr>
              <a:t>, London, 2000.</a:t>
            </a:r>
            <a:endParaRPr kumimoji="0" lang="zh-CN" altLang="en-US" dirty="0">
              <a:effectLst>
                <a:outerShdw blurRad="38100" dist="38100" dir="2700000" algn="tl">
                  <a:srgbClr val="C0C0C0"/>
                </a:outerShdw>
              </a:effectLst>
              <a:cs typeface="Arial" pitchFamily="34" charset="0"/>
            </a:endParaRPr>
          </a:p>
          <a:p>
            <a:pPr marL="742950" lvl="1" indent="-285750">
              <a:buClr>
                <a:schemeClr val="tx2"/>
              </a:buClr>
              <a:buSzPct val="75000"/>
              <a:buFont typeface="Wingdings" pitchFamily="2" charset="2"/>
              <a:buChar char="Ø"/>
              <a:defRPr/>
            </a:pPr>
            <a:r>
              <a:rPr kumimoji="0" lang="en-US" altLang="zh-CN" dirty="0">
                <a:effectLst>
                  <a:outerShdw blurRad="38100" dist="38100" dir="2700000" algn="tl">
                    <a:srgbClr val="C0C0C0"/>
                  </a:outerShdw>
                </a:effectLst>
                <a:cs typeface="Arial" pitchFamily="34" charset="0"/>
              </a:rPr>
              <a:t>Robotics: Modelling Planning and Control, B. </a:t>
            </a:r>
            <a:r>
              <a:rPr kumimoji="0" lang="en-US" altLang="zh-CN" dirty="0" err="1">
                <a:effectLst>
                  <a:outerShdw blurRad="38100" dist="38100" dir="2700000" algn="tl">
                    <a:srgbClr val="C0C0C0"/>
                  </a:outerShdw>
                </a:effectLst>
                <a:cs typeface="Arial" pitchFamily="34" charset="0"/>
              </a:rPr>
              <a:t>Siciliano,L</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Sciavicco,L</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Villani,G</a:t>
            </a:r>
            <a:r>
              <a:rPr kumimoji="0" lang="en-US" altLang="zh-CN" dirty="0">
                <a:effectLst>
                  <a:outerShdw blurRad="38100" dist="38100" dir="2700000" algn="tl">
                    <a:srgbClr val="C0C0C0"/>
                  </a:outerShdw>
                </a:effectLst>
                <a:cs typeface="Arial" pitchFamily="34" charset="0"/>
              </a:rPr>
              <a:t>. </a:t>
            </a:r>
            <a:r>
              <a:rPr kumimoji="0" lang="en-US" altLang="zh-CN" dirty="0" err="1">
                <a:effectLst>
                  <a:outerShdw blurRad="38100" dist="38100" dir="2700000" algn="tl">
                    <a:srgbClr val="C0C0C0"/>
                  </a:outerShdw>
                </a:effectLst>
                <a:cs typeface="Arial" pitchFamily="34" charset="0"/>
              </a:rPr>
              <a:t>Oriolo</a:t>
            </a:r>
            <a:r>
              <a:rPr kumimoji="0" lang="en-US" altLang="zh-CN" dirty="0">
                <a:effectLst>
                  <a:outerShdw blurRad="38100" dist="38100" dir="2700000" algn="tl">
                    <a:srgbClr val="C0C0C0"/>
                  </a:outerShdw>
                </a:effectLst>
                <a:cs typeface="Arial" pitchFamily="34" charset="0"/>
              </a:rPr>
              <a:t>, Springer-</a:t>
            </a:r>
            <a:r>
              <a:rPr kumimoji="0" lang="en-US" altLang="zh-CN" dirty="0" err="1">
                <a:effectLst>
                  <a:outerShdw blurRad="38100" dist="38100" dir="2700000" algn="tl">
                    <a:srgbClr val="C0C0C0"/>
                  </a:outerShdw>
                </a:effectLst>
                <a:cs typeface="Arial" pitchFamily="34" charset="0"/>
              </a:rPr>
              <a:t>Verlag</a:t>
            </a:r>
            <a:r>
              <a:rPr kumimoji="0" lang="en-US" altLang="zh-CN" dirty="0">
                <a:effectLst>
                  <a:outerShdw blurRad="38100" dist="38100" dir="2700000" algn="tl">
                    <a:srgbClr val="C0C0C0"/>
                  </a:outerShdw>
                </a:effectLst>
                <a:cs typeface="Arial" pitchFamily="34" charset="0"/>
              </a:rPr>
              <a:t>, London, 2008</a:t>
            </a:r>
            <a:r>
              <a:rPr kumimoji="0" lang="en-US" altLang="zh-CN" dirty="0" smtClean="0">
                <a:effectLst>
                  <a:outerShdw blurRad="38100" dist="38100" dir="2700000" algn="tl">
                    <a:srgbClr val="C0C0C0"/>
                  </a:outerShdw>
                </a:effectLst>
                <a:cs typeface="Arial" pitchFamily="34" charset="0"/>
              </a:rPr>
              <a:t>.</a:t>
            </a:r>
          </a:p>
          <a:p>
            <a:pPr marL="742950" lvl="1" indent="-285750">
              <a:buClr>
                <a:schemeClr val="tx2"/>
              </a:buClr>
              <a:buSzPct val="75000"/>
              <a:buFont typeface="Wingdings" pitchFamily="2" charset="2"/>
              <a:buChar char="Ø"/>
              <a:defRPr/>
            </a:pPr>
            <a:r>
              <a:rPr kumimoji="0" lang="en-US" altLang="zh-CN" dirty="0" smtClean="0">
                <a:effectLst>
                  <a:outerShdw blurRad="38100" dist="38100" dir="2700000" algn="tl">
                    <a:srgbClr val="C0C0C0"/>
                  </a:outerShdw>
                </a:effectLst>
                <a:cs typeface="Arial" pitchFamily="34" charset="0"/>
              </a:rPr>
              <a:t>Modern Robotics. Mechanics, Planning and Control(</a:t>
            </a:r>
            <a:r>
              <a:rPr kumimoji="0" lang="zh-CN" altLang="en-US" b="1" dirty="0" smtClean="0">
                <a:solidFill>
                  <a:srgbClr val="FF0000"/>
                </a:solidFill>
                <a:effectLst>
                  <a:outerShdw blurRad="38100" dist="38100" dir="2700000" algn="tl">
                    <a:srgbClr val="C0C0C0"/>
                  </a:outerShdw>
                </a:effectLst>
                <a:cs typeface="Arial" pitchFamily="34" charset="0"/>
              </a:rPr>
              <a:t>现代机器人学</a:t>
            </a:r>
            <a:r>
              <a:rPr kumimoji="0" lang="zh-CN" altLang="en-US" dirty="0" smtClean="0">
                <a:effectLst>
                  <a:outerShdw blurRad="38100" dist="38100" dir="2700000" algn="tl">
                    <a:srgbClr val="C0C0C0"/>
                  </a:outerShdw>
                </a:effectLst>
                <a:cs typeface="Arial" pitchFamily="34" charset="0"/>
              </a:rPr>
              <a:t>）</a:t>
            </a:r>
            <a:endParaRPr kumimoji="0" lang="en-US" altLang="zh-CN" dirty="0">
              <a:effectLst>
                <a:outerShdw blurRad="38100" dist="38100" dir="2700000" algn="tl">
                  <a:srgbClr val="C0C0C0"/>
                </a:outerShdw>
              </a:effectLst>
              <a:cs typeface="Arial" pitchFamily="34" charset="0"/>
            </a:endParaRPr>
          </a:p>
        </p:txBody>
      </p:sp>
      <p:sp>
        <p:nvSpPr>
          <p:cNvPr id="8" name="Rectangle 2"/>
          <p:cNvSpPr>
            <a:spLocks noGrp="1" noChangeArrowheads="1"/>
          </p:cNvSpPr>
          <p:nvPr>
            <p:ph type="title"/>
          </p:nvPr>
        </p:nvSpPr>
        <p:spPr>
          <a:xfrm>
            <a:off x="689213" y="44450"/>
            <a:ext cx="7772400" cy="533832"/>
          </a:xfrm>
        </p:spPr>
        <p:txBody>
          <a:bodyPr/>
          <a:lstStyle/>
          <a:p>
            <a:pPr eaLnBrk="1" hangingPunct="1">
              <a:defRPr/>
            </a:pPr>
            <a:r>
              <a:rPr lang="zh-CN" altLang="en-US" dirty="0" smtClean="0"/>
              <a:t>参考书</a:t>
            </a:r>
          </a:p>
        </p:txBody>
      </p:sp>
      <p:grpSp>
        <p:nvGrpSpPr>
          <p:cNvPr id="12" name="组合 11"/>
          <p:cNvGrpSpPr/>
          <p:nvPr/>
        </p:nvGrpSpPr>
        <p:grpSpPr>
          <a:xfrm>
            <a:off x="5806766" y="650289"/>
            <a:ext cx="3096344" cy="4104456"/>
            <a:chOff x="5580112" y="659333"/>
            <a:chExt cx="3409901" cy="5584825"/>
          </a:xfrm>
        </p:grpSpPr>
        <p:pic>
          <p:nvPicPr>
            <p:cNvPr id="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7436" y="659333"/>
              <a:ext cx="1482577" cy="2516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7704" y="665683"/>
              <a:ext cx="1800871" cy="29321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7"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68715" y="2340495"/>
              <a:ext cx="1717109" cy="262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Lst>
          </p:spPr>
        </p:pic>
        <p:pic>
          <p:nvPicPr>
            <p:cNvPr id="9" name="图片 8"/>
            <p:cNvPicPr>
              <a:picLocks noChangeAspect="1"/>
            </p:cNvPicPr>
            <p:nvPr/>
          </p:nvPicPr>
          <p:blipFill rotWithShape="1">
            <a:blip r:embed="rId5"/>
            <a:srcRect l="10839" r="12999"/>
            <a:stretch/>
          </p:blipFill>
          <p:spPr>
            <a:xfrm>
              <a:off x="5580112" y="2042477"/>
              <a:ext cx="1944216" cy="2552700"/>
            </a:xfrm>
            <a:prstGeom prst="rect">
              <a:avLst/>
            </a:prstGeom>
          </p:spPr>
        </p:pic>
        <p:pic>
          <p:nvPicPr>
            <p:cNvPr id="10" name="Picture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120" y="3681933"/>
              <a:ext cx="1666852"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458575" y="3618433"/>
              <a:ext cx="1531438" cy="262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4" name="直接连接符 13"/>
          <p:cNvCxnSpPr/>
          <p:nvPr/>
        </p:nvCxnSpPr>
        <p:spPr>
          <a:xfrm>
            <a:off x="251520" y="650289"/>
            <a:ext cx="8647786" cy="0"/>
          </a:xfrm>
          <a:prstGeom prst="line">
            <a:avLst/>
          </a:prstGeom>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93788154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p:nvPr/>
        </p:nvSpPr>
        <p:spPr>
          <a:xfrm>
            <a:off x="4043930" y="0"/>
            <a:ext cx="5136582" cy="514413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nvSpPr>
        <p:spPr>
          <a:xfrm>
            <a:off x="508635" y="972185"/>
            <a:ext cx="3199765" cy="319976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728345" y="1191895"/>
            <a:ext cx="2760345" cy="2760345"/>
          </a:xfrm>
          <a:prstGeom prst="ellipse">
            <a:avLst/>
          </a:prstGeom>
          <a:solidFill>
            <a:srgbClr val="558E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576263" y="2280285"/>
            <a:ext cx="3063875" cy="583565"/>
          </a:xfrm>
          <a:prstGeom prst="rect">
            <a:avLst/>
          </a:prstGeom>
          <a:noFill/>
        </p:spPr>
        <p:txBody>
          <a:bodyPr wrap="square" rtlCol="0">
            <a:spAutoFit/>
          </a:bodyPr>
          <a:lstStyle/>
          <a:p>
            <a:pPr algn="ctr"/>
            <a:r>
              <a:rPr lang="en-US" altLang="zh-CN" sz="3200" b="1" spc="500">
                <a:solidFill>
                  <a:schemeClr val="bg1"/>
                </a:solidFill>
                <a:uFillTx/>
                <a:sym typeface="+mn-ea"/>
              </a:rPr>
              <a:t>CONTENTS</a:t>
            </a:r>
          </a:p>
        </p:txBody>
      </p:sp>
      <p:sp>
        <p:nvSpPr>
          <p:cNvPr id="24" name="KSO_Shape"/>
          <p:cNvSpPr/>
          <p:nvPr>
            <p:custDataLst>
              <p:tags r:id="rId1"/>
            </p:custDataLst>
          </p:nvPr>
        </p:nvSpPr>
        <p:spPr bwMode="auto">
          <a:xfrm>
            <a:off x="4067944" y="62753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6" name="矩形 25"/>
          <p:cNvSpPr/>
          <p:nvPr>
            <p:custDataLst>
              <p:tags r:id="rId2"/>
            </p:custDataLst>
          </p:nvPr>
        </p:nvSpPr>
        <p:spPr>
          <a:xfrm>
            <a:off x="4534669" y="77155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Introduction and Conceptual Problems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7" name="矩形 26"/>
          <p:cNvSpPr/>
          <p:nvPr>
            <p:custDataLst>
              <p:tags r:id="rId3"/>
            </p:custDataLst>
          </p:nvPr>
        </p:nvSpPr>
        <p:spPr>
          <a:xfrm>
            <a:off x="4534637" y="55552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002060"/>
                </a:solidFill>
                <a:latin typeface="Arial" panose="020B0604020202020204" pitchFamily="34" charset="0"/>
                <a:ea typeface="微软雅黑" panose="020B0503020204020204" charset="-122"/>
                <a:cs typeface="+mn-ea"/>
                <a:sym typeface="Arial" panose="020B0604020202020204" pitchFamily="34" charset="0"/>
              </a:rPr>
              <a:t>绪论</a:t>
            </a:r>
            <a:endPar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62" name="KSO_Shape"/>
          <p:cNvSpPr/>
          <p:nvPr>
            <p:custDataLst>
              <p:tags r:id="rId4"/>
            </p:custDataLst>
          </p:nvPr>
        </p:nvSpPr>
        <p:spPr bwMode="auto">
          <a:xfrm>
            <a:off x="4067944" y="113159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3" name="矩形 62"/>
          <p:cNvSpPr/>
          <p:nvPr>
            <p:custDataLst>
              <p:tags r:id="rId5"/>
            </p:custDataLst>
          </p:nvPr>
        </p:nvSpPr>
        <p:spPr>
          <a:xfrm>
            <a:off x="4534669" y="127560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2060"/>
                </a:solidFill>
                <a:latin typeface="Arial" panose="020B0604020202020204" pitchFamily="34" charset="0"/>
                <a:ea typeface="微软雅黑" panose="020B0503020204020204" charset="-122"/>
                <a:sym typeface="Arial" panose="020B0604020202020204" pitchFamily="34" charset="0"/>
              </a:rPr>
              <a:t>System </a:t>
            </a:r>
            <a:r>
              <a:rPr lang="en-US" altLang="zh-CN" sz="1200" spc="150" dirty="0" smtClean="0">
                <a:solidFill>
                  <a:srgbClr val="002060"/>
                </a:solidFill>
                <a:latin typeface="Arial" panose="020B0604020202020204" pitchFamily="34" charset="0"/>
                <a:ea typeface="微软雅黑" panose="020B0503020204020204" charset="-122"/>
                <a:sym typeface="Arial" panose="020B0604020202020204" pitchFamily="34" charset="0"/>
              </a:rPr>
              <a:t>Model of </a:t>
            </a:r>
            <a:r>
              <a:rPr lang="en-US" altLang="zh-CN" sz="1200" spc="150" dirty="0">
                <a:solidFill>
                  <a:srgbClr val="002060"/>
                </a:solidFill>
                <a:latin typeface="Arial" panose="020B0604020202020204" pitchFamily="34" charset="0"/>
                <a:ea typeface="微软雅黑" panose="020B0503020204020204" charset="-122"/>
                <a:sym typeface="Arial" panose="020B0604020202020204" pitchFamily="34" charset="0"/>
              </a:rPr>
              <a:t>Robot</a:t>
            </a:r>
            <a:endParaRPr lang="zh-CN" altLang="en-US" sz="1200" spc="150" dirty="0">
              <a:solidFill>
                <a:srgbClr val="002060"/>
              </a:solidFill>
              <a:latin typeface="Arial" panose="020B0604020202020204" pitchFamily="34" charset="0"/>
              <a:ea typeface="微软雅黑" panose="020B0503020204020204" charset="-122"/>
              <a:sym typeface="Arial" panose="020B0604020202020204" pitchFamily="34" charset="0"/>
            </a:endParaRPr>
          </a:p>
        </p:txBody>
      </p:sp>
      <p:sp>
        <p:nvSpPr>
          <p:cNvPr id="64" name="矩形 63"/>
          <p:cNvSpPr/>
          <p:nvPr>
            <p:custDataLst>
              <p:tags r:id="rId6"/>
            </p:custDataLst>
          </p:nvPr>
        </p:nvSpPr>
        <p:spPr>
          <a:xfrm>
            <a:off x="4534637" y="10595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机器人系统分析基础</a:t>
            </a:r>
          </a:p>
        </p:txBody>
      </p:sp>
      <p:sp>
        <p:nvSpPr>
          <p:cNvPr id="66" name="KSO_Shape"/>
          <p:cNvSpPr/>
          <p:nvPr>
            <p:custDataLst>
              <p:tags r:id="rId7"/>
            </p:custDataLst>
          </p:nvPr>
        </p:nvSpPr>
        <p:spPr bwMode="auto">
          <a:xfrm>
            <a:off x="4067944" y="163564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67" name="矩形 66"/>
          <p:cNvSpPr/>
          <p:nvPr>
            <p:custDataLst>
              <p:tags r:id="rId8"/>
            </p:custDataLst>
          </p:nvPr>
        </p:nvSpPr>
        <p:spPr>
          <a:xfrm>
            <a:off x="4534669" y="179591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Robot Kinematics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68" name="矩形 67"/>
          <p:cNvSpPr/>
          <p:nvPr>
            <p:custDataLst>
              <p:tags r:id="rId9"/>
            </p:custDataLst>
          </p:nvPr>
        </p:nvSpPr>
        <p:spPr>
          <a:xfrm>
            <a:off x="4534637" y="160128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运动学</a:t>
            </a:r>
          </a:p>
        </p:txBody>
      </p:sp>
      <p:sp>
        <p:nvSpPr>
          <p:cNvPr id="78" name="KSO_Shape"/>
          <p:cNvSpPr/>
          <p:nvPr>
            <p:custDataLst>
              <p:tags r:id="rId10"/>
            </p:custDataLst>
          </p:nvPr>
        </p:nvSpPr>
        <p:spPr bwMode="auto">
          <a:xfrm>
            <a:off x="4067944" y="2103284"/>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79" name="矩形 78"/>
          <p:cNvSpPr/>
          <p:nvPr>
            <p:custDataLst>
              <p:tags r:id="rId11"/>
            </p:custDataLst>
          </p:nvPr>
        </p:nvSpPr>
        <p:spPr>
          <a:xfrm>
            <a:off x="4534669" y="2299970"/>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Dynamics</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80" name="矩形 79"/>
          <p:cNvSpPr/>
          <p:nvPr>
            <p:custDataLst>
              <p:tags r:id="rId12"/>
            </p:custDataLst>
          </p:nvPr>
        </p:nvSpPr>
        <p:spPr>
          <a:xfrm>
            <a:off x="4534637" y="20676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动力学</a:t>
            </a:r>
          </a:p>
        </p:txBody>
      </p:sp>
      <p:sp>
        <p:nvSpPr>
          <p:cNvPr id="2" name="矩形 1"/>
          <p:cNvSpPr/>
          <p:nvPr/>
        </p:nvSpPr>
        <p:spPr>
          <a:xfrm>
            <a:off x="4043930" y="-20538"/>
            <a:ext cx="5094446" cy="584775"/>
          </a:xfrm>
          <a:prstGeom prst="rect">
            <a:avLst/>
          </a:prstGeom>
        </p:spPr>
        <p:txBody>
          <a:bodyPr wrap="square">
            <a:spAutoFit/>
          </a:bodyPr>
          <a:lstStyle/>
          <a:p>
            <a:r>
              <a:rPr lang="en-US" altLang="zh-CN" sz="1600" b="1" dirty="0">
                <a:solidFill>
                  <a:schemeClr val="bg1"/>
                </a:solidFill>
              </a:rPr>
              <a:t>The course is divided into eight modules covering the following </a:t>
            </a:r>
            <a:r>
              <a:rPr lang="en-US" altLang="zh-CN" sz="1600" b="1" dirty="0" smtClean="0">
                <a:solidFill>
                  <a:schemeClr val="bg1"/>
                </a:solidFill>
              </a:rPr>
              <a:t>areas:</a:t>
            </a:r>
            <a:endParaRPr lang="en-US" altLang="zh-CN" sz="1600" b="1" dirty="0">
              <a:solidFill>
                <a:schemeClr val="bg1"/>
              </a:solidFill>
            </a:endParaRPr>
          </a:p>
        </p:txBody>
      </p:sp>
      <p:sp>
        <p:nvSpPr>
          <p:cNvPr id="19" name="KSO_Shape"/>
          <p:cNvSpPr/>
          <p:nvPr>
            <p:custDataLst>
              <p:tags r:id="rId13"/>
            </p:custDataLst>
          </p:nvPr>
        </p:nvSpPr>
        <p:spPr bwMode="auto">
          <a:xfrm>
            <a:off x="4067944" y="2679348"/>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0" name="矩形 19"/>
          <p:cNvSpPr/>
          <p:nvPr>
            <p:custDataLst>
              <p:tags r:id="rId14"/>
            </p:custDataLst>
          </p:nvPr>
        </p:nvSpPr>
        <p:spPr>
          <a:xfrm>
            <a:off x="4534637" y="3452098"/>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Control</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21" name="矩形 20"/>
          <p:cNvSpPr/>
          <p:nvPr>
            <p:custDataLst>
              <p:tags r:id="rId15"/>
            </p:custDataLst>
          </p:nvPr>
        </p:nvSpPr>
        <p:spPr>
          <a:xfrm>
            <a:off x="4534637" y="3185458"/>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机器人控制</a:t>
            </a:r>
          </a:p>
        </p:txBody>
      </p:sp>
      <p:sp>
        <p:nvSpPr>
          <p:cNvPr id="25" name="KSO_Shape"/>
          <p:cNvSpPr/>
          <p:nvPr>
            <p:custDataLst>
              <p:tags r:id="rId16"/>
            </p:custDataLst>
          </p:nvPr>
        </p:nvSpPr>
        <p:spPr bwMode="auto">
          <a:xfrm>
            <a:off x="4097652" y="3255412"/>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29" name="矩形 28"/>
          <p:cNvSpPr/>
          <p:nvPr>
            <p:custDataLst>
              <p:tags r:id="rId17"/>
            </p:custDataLst>
          </p:nvPr>
        </p:nvSpPr>
        <p:spPr>
          <a:xfrm>
            <a:off x="4534669" y="2876034"/>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Robot </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Motion </a:t>
            </a: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P</a:t>
            </a:r>
            <a:r>
              <a:rPr lang="en-US" altLang="zh-CN" sz="1200" spc="150" dirty="0" smtClean="0">
                <a:solidFill>
                  <a:srgbClr val="0070C0"/>
                </a:solidFill>
                <a:latin typeface="Arial" panose="020B0604020202020204" pitchFamily="34" charset="0"/>
                <a:ea typeface="微软雅黑" panose="020B0503020204020204" charset="-122"/>
                <a:sym typeface="Arial" panose="020B0604020202020204" pitchFamily="34" charset="0"/>
              </a:rPr>
              <a:t>lanning</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
        <p:nvSpPr>
          <p:cNvPr id="30" name="矩形 29"/>
          <p:cNvSpPr/>
          <p:nvPr>
            <p:custDataLst>
              <p:tags r:id="rId18"/>
            </p:custDataLst>
          </p:nvPr>
        </p:nvSpPr>
        <p:spPr>
          <a:xfrm>
            <a:off x="4534637" y="2609394"/>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机器人运动规划</a:t>
            </a:r>
          </a:p>
        </p:txBody>
      </p:sp>
      <p:sp>
        <p:nvSpPr>
          <p:cNvPr id="35" name="KSO_Shape"/>
          <p:cNvSpPr/>
          <p:nvPr>
            <p:custDataLst>
              <p:tags r:id="rId19"/>
            </p:custDataLst>
          </p:nvPr>
        </p:nvSpPr>
        <p:spPr bwMode="auto">
          <a:xfrm>
            <a:off x="4114428" y="3831476"/>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6" name="矩形 35"/>
          <p:cNvSpPr/>
          <p:nvPr>
            <p:custDataLst>
              <p:tags r:id="rId20"/>
            </p:custDataLst>
          </p:nvPr>
        </p:nvSpPr>
        <p:spPr>
          <a:xfrm>
            <a:off x="4546476" y="3761522"/>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smtClean="0">
                <a:solidFill>
                  <a:srgbClr val="FF0000"/>
                </a:solidFill>
                <a:latin typeface="Arial" panose="020B0604020202020204" pitchFamily="34" charset="0"/>
                <a:ea typeface="微软雅黑" panose="020B0503020204020204" charset="-122"/>
                <a:cs typeface="+mn-ea"/>
                <a:sym typeface="Arial" panose="020B0604020202020204" pitchFamily="34" charset="0"/>
              </a:rPr>
              <a:t>机器人编程语言</a:t>
            </a:r>
            <a:endParaRPr lang="zh-CN" altLang="en-US" sz="1500" b="1" spc="300" dirty="0">
              <a:solidFill>
                <a:srgbClr val="FF0000"/>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37" name="矩形 36"/>
          <p:cNvSpPr/>
          <p:nvPr>
            <p:custDataLst>
              <p:tags r:id="rId21"/>
            </p:custDataLst>
          </p:nvPr>
        </p:nvSpPr>
        <p:spPr>
          <a:xfrm>
            <a:off x="4546476" y="4028162"/>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smtClean="0">
                <a:solidFill>
                  <a:srgbClr val="FF0000"/>
                </a:solidFill>
                <a:latin typeface="Arial" panose="020B0604020202020204" pitchFamily="34" charset="0"/>
                <a:ea typeface="微软雅黑" panose="020B0503020204020204" charset="-122"/>
                <a:sym typeface="Arial" panose="020B0604020202020204" pitchFamily="34" charset="0"/>
              </a:rPr>
              <a:t>Programming Language of Robot</a:t>
            </a:r>
            <a:endParaRPr lang="zh-CN" altLang="en-US" sz="1200" spc="150" dirty="0">
              <a:solidFill>
                <a:srgbClr val="FF0000"/>
              </a:solidFill>
              <a:latin typeface="Arial" panose="020B0604020202020204" pitchFamily="34" charset="0"/>
              <a:ea typeface="微软雅黑" panose="020B0503020204020204" charset="-122"/>
              <a:sym typeface="Arial" panose="020B0604020202020204" pitchFamily="34" charset="0"/>
            </a:endParaRPr>
          </a:p>
        </p:txBody>
      </p:sp>
      <p:sp>
        <p:nvSpPr>
          <p:cNvPr id="38" name="KSO_Shape"/>
          <p:cNvSpPr/>
          <p:nvPr>
            <p:custDataLst>
              <p:tags r:id="rId22"/>
            </p:custDataLst>
          </p:nvPr>
        </p:nvSpPr>
        <p:spPr bwMode="auto">
          <a:xfrm>
            <a:off x="4114428" y="4407540"/>
            <a:ext cx="402494" cy="396458"/>
          </a:xfrm>
          <a:custGeom>
            <a:avLst/>
            <a:gdLst>
              <a:gd name="T0" fmla="*/ 351815 w 2443615"/>
              <a:gd name="T1" fmla="*/ 127711 h 2406492"/>
              <a:gd name="T2" fmla="*/ 127265 w 2443615"/>
              <a:gd name="T3" fmla="*/ 352436 h 2406492"/>
              <a:gd name="T4" fmla="*/ 351815 w 2443615"/>
              <a:gd name="T5" fmla="*/ 577161 h 2406492"/>
              <a:gd name="T6" fmla="*/ 576364 w 2443615"/>
              <a:gd name="T7" fmla="*/ 352436 h 2406492"/>
              <a:gd name="T8" fmla="*/ 351815 w 2443615"/>
              <a:gd name="T9" fmla="*/ 127711 h 2406492"/>
              <a:gd name="T10" fmla="*/ 323002 w 2443615"/>
              <a:gd name="T11" fmla="*/ 0 h 2406492"/>
              <a:gd name="T12" fmla="*/ 380627 w 2443615"/>
              <a:gd name="T13" fmla="*/ 0 h 2406492"/>
              <a:gd name="T14" fmla="*/ 393151 w 2443615"/>
              <a:gd name="T15" fmla="*/ 71092 h 2406492"/>
              <a:gd name="T16" fmla="*/ 500853 w 2443615"/>
              <a:gd name="T17" fmla="*/ 110323 h 2406492"/>
              <a:gd name="T18" fmla="*/ 556109 w 2443615"/>
              <a:gd name="T19" fmla="*/ 63920 h 2406492"/>
              <a:gd name="T20" fmla="*/ 600251 w 2443615"/>
              <a:gd name="T21" fmla="*/ 100990 h 2406492"/>
              <a:gd name="T22" fmla="*/ 564182 w 2443615"/>
              <a:gd name="T23" fmla="*/ 163505 h 2406492"/>
              <a:gd name="T24" fmla="*/ 621490 w 2443615"/>
              <a:gd name="T25" fmla="*/ 262842 h 2406492"/>
              <a:gd name="T26" fmla="*/ 693623 w 2443615"/>
              <a:gd name="T27" fmla="*/ 262840 h 2406492"/>
              <a:gd name="T28" fmla="*/ 703629 w 2443615"/>
              <a:gd name="T29" fmla="*/ 319633 h 2406492"/>
              <a:gd name="T30" fmla="*/ 635846 w 2443615"/>
              <a:gd name="T31" fmla="*/ 344321 h 2406492"/>
              <a:gd name="T32" fmla="*/ 615944 w 2443615"/>
              <a:gd name="T33" fmla="*/ 457282 h 2406492"/>
              <a:gd name="T34" fmla="*/ 671201 w 2443615"/>
              <a:gd name="T35" fmla="*/ 503683 h 2406492"/>
              <a:gd name="T36" fmla="*/ 642389 w 2443615"/>
              <a:gd name="T37" fmla="*/ 553626 h 2406492"/>
              <a:gd name="T38" fmla="*/ 574608 w 2443615"/>
              <a:gd name="T39" fmla="*/ 528934 h 2406492"/>
              <a:gd name="T40" fmla="*/ 486808 w 2443615"/>
              <a:gd name="T41" fmla="*/ 602665 h 2406492"/>
              <a:gd name="T42" fmla="*/ 499336 w 2443615"/>
              <a:gd name="T43" fmla="*/ 673756 h 2406492"/>
              <a:gd name="T44" fmla="*/ 445187 w 2443615"/>
              <a:gd name="T45" fmla="*/ 693480 h 2406492"/>
              <a:gd name="T46" fmla="*/ 409122 w 2443615"/>
              <a:gd name="T47" fmla="*/ 630963 h 2406492"/>
              <a:gd name="T48" fmla="*/ 294507 w 2443615"/>
              <a:gd name="T49" fmla="*/ 630963 h 2406492"/>
              <a:gd name="T50" fmla="*/ 258443 w 2443615"/>
              <a:gd name="T51" fmla="*/ 693480 h 2406492"/>
              <a:gd name="T52" fmla="*/ 204294 w 2443615"/>
              <a:gd name="T53" fmla="*/ 673756 h 2406492"/>
              <a:gd name="T54" fmla="*/ 216821 w 2443615"/>
              <a:gd name="T55" fmla="*/ 602665 h 2406492"/>
              <a:gd name="T56" fmla="*/ 129022 w 2443615"/>
              <a:gd name="T57" fmla="*/ 528934 h 2406492"/>
              <a:gd name="T58" fmla="*/ 61240 w 2443615"/>
              <a:gd name="T59" fmla="*/ 553626 h 2406492"/>
              <a:gd name="T60" fmla="*/ 32428 w 2443615"/>
              <a:gd name="T61" fmla="*/ 503683 h 2406492"/>
              <a:gd name="T62" fmla="*/ 87685 w 2443615"/>
              <a:gd name="T63" fmla="*/ 457282 h 2406492"/>
              <a:gd name="T64" fmla="*/ 67783 w 2443615"/>
              <a:gd name="T65" fmla="*/ 344321 h 2406492"/>
              <a:gd name="T66" fmla="*/ 0 w 2443615"/>
              <a:gd name="T67" fmla="*/ 319633 h 2406492"/>
              <a:gd name="T68" fmla="*/ 10006 w 2443615"/>
              <a:gd name="T69" fmla="*/ 262840 h 2406492"/>
              <a:gd name="T70" fmla="*/ 82138 w 2443615"/>
              <a:gd name="T71" fmla="*/ 262842 h 2406492"/>
              <a:gd name="T72" fmla="*/ 139446 w 2443615"/>
              <a:gd name="T73" fmla="*/ 163505 h 2406492"/>
              <a:gd name="T74" fmla="*/ 103378 w 2443615"/>
              <a:gd name="T75" fmla="*/ 100990 h 2406492"/>
              <a:gd name="T76" fmla="*/ 147520 w 2443615"/>
              <a:gd name="T77" fmla="*/ 63920 h 2406492"/>
              <a:gd name="T78" fmla="*/ 202776 w 2443615"/>
              <a:gd name="T79" fmla="*/ 110323 h 2406492"/>
              <a:gd name="T80" fmla="*/ 310478 w 2443615"/>
              <a:gd name="T81" fmla="*/ 71092 h 240649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443615" h="2406492">
                <a:moveTo>
                  <a:pt x="1221807" y="443178"/>
                </a:moveTo>
                <a:cubicBezTo>
                  <a:pt x="791117" y="443178"/>
                  <a:pt x="441973" y="792322"/>
                  <a:pt x="441973" y="1223012"/>
                </a:cubicBezTo>
                <a:cubicBezTo>
                  <a:pt x="441973" y="1653702"/>
                  <a:pt x="791117" y="2002846"/>
                  <a:pt x="1221807" y="2002846"/>
                </a:cubicBezTo>
                <a:cubicBezTo>
                  <a:pt x="1652497" y="2002846"/>
                  <a:pt x="2001641" y="1653702"/>
                  <a:pt x="2001641" y="1223012"/>
                </a:cubicBezTo>
                <a:cubicBezTo>
                  <a:pt x="2001641" y="792322"/>
                  <a:pt x="1652497" y="443178"/>
                  <a:pt x="1221807" y="443178"/>
                </a:cubicBezTo>
                <a:close/>
                <a:moveTo>
                  <a:pt x="1121747" y="0"/>
                </a:moveTo>
                <a:lnTo>
                  <a:pt x="1321868" y="0"/>
                </a:lnTo>
                <a:lnTo>
                  <a:pt x="1365362" y="246702"/>
                </a:lnTo>
                <a:cubicBezTo>
                  <a:pt x="1497994" y="266203"/>
                  <a:pt x="1625261" y="312525"/>
                  <a:pt x="1739400" y="382840"/>
                </a:cubicBezTo>
                <a:lnTo>
                  <a:pt x="1931295" y="221813"/>
                </a:lnTo>
                <a:lnTo>
                  <a:pt x="2084596" y="350449"/>
                </a:lnTo>
                <a:lnTo>
                  <a:pt x="1959337" y="567390"/>
                </a:lnTo>
                <a:cubicBezTo>
                  <a:pt x="2048403" y="667584"/>
                  <a:pt x="2116120" y="784874"/>
                  <a:pt x="2158357" y="912104"/>
                </a:cubicBezTo>
                <a:lnTo>
                  <a:pt x="2408865" y="912098"/>
                </a:lnTo>
                <a:lnTo>
                  <a:pt x="2443615" y="1109179"/>
                </a:lnTo>
                <a:lnTo>
                  <a:pt x="2208214" y="1194851"/>
                </a:lnTo>
                <a:cubicBezTo>
                  <a:pt x="2212040" y="1328854"/>
                  <a:pt x="2188522" y="1462233"/>
                  <a:pt x="2139095" y="1586846"/>
                </a:cubicBezTo>
                <a:lnTo>
                  <a:pt x="2330998" y="1747864"/>
                </a:lnTo>
                <a:lnTo>
                  <a:pt x="2230938" y="1921175"/>
                </a:lnTo>
                <a:lnTo>
                  <a:pt x="1995541" y="1835490"/>
                </a:lnTo>
                <a:cubicBezTo>
                  <a:pt x="1912336" y="1940602"/>
                  <a:pt x="1808586" y="2027658"/>
                  <a:pt x="1690623" y="2091346"/>
                </a:cubicBezTo>
                <a:lnTo>
                  <a:pt x="1734130" y="2338046"/>
                </a:lnTo>
                <a:lnTo>
                  <a:pt x="1546077" y="2406492"/>
                </a:lnTo>
                <a:lnTo>
                  <a:pt x="1420828" y="2189544"/>
                </a:lnTo>
                <a:cubicBezTo>
                  <a:pt x="1289525" y="2216580"/>
                  <a:pt x="1154089" y="2216580"/>
                  <a:pt x="1022786" y="2189544"/>
                </a:cubicBezTo>
                <a:lnTo>
                  <a:pt x="897539" y="2406492"/>
                </a:lnTo>
                <a:lnTo>
                  <a:pt x="709486" y="2338046"/>
                </a:lnTo>
                <a:lnTo>
                  <a:pt x="752993" y="2091346"/>
                </a:lnTo>
                <a:cubicBezTo>
                  <a:pt x="635030" y="2027658"/>
                  <a:pt x="531280" y="1940601"/>
                  <a:pt x="448076" y="1835490"/>
                </a:cubicBezTo>
                <a:lnTo>
                  <a:pt x="212678" y="1921175"/>
                </a:lnTo>
                <a:lnTo>
                  <a:pt x="112617" y="1747864"/>
                </a:lnTo>
                <a:lnTo>
                  <a:pt x="304520" y="1586846"/>
                </a:lnTo>
                <a:cubicBezTo>
                  <a:pt x="255094" y="1462233"/>
                  <a:pt x="231575" y="1328854"/>
                  <a:pt x="235401" y="1194851"/>
                </a:cubicBezTo>
                <a:lnTo>
                  <a:pt x="0" y="1109179"/>
                </a:lnTo>
                <a:lnTo>
                  <a:pt x="34750" y="912098"/>
                </a:lnTo>
                <a:lnTo>
                  <a:pt x="285257" y="912104"/>
                </a:lnTo>
                <a:cubicBezTo>
                  <a:pt x="327494" y="784874"/>
                  <a:pt x="395211" y="667583"/>
                  <a:pt x="484278" y="567390"/>
                </a:cubicBezTo>
                <a:lnTo>
                  <a:pt x="359019" y="350449"/>
                </a:lnTo>
                <a:lnTo>
                  <a:pt x="512321" y="221813"/>
                </a:lnTo>
                <a:lnTo>
                  <a:pt x="704216" y="382840"/>
                </a:lnTo>
                <a:cubicBezTo>
                  <a:pt x="818353" y="312525"/>
                  <a:pt x="945621" y="266204"/>
                  <a:pt x="1078253" y="246702"/>
                </a:cubicBezTo>
                <a:lnTo>
                  <a:pt x="1121747" y="0"/>
                </a:lnTo>
                <a:close/>
              </a:path>
            </a:pathLst>
          </a:custGeom>
          <a:solidFill>
            <a:srgbClr val="558ED5"/>
          </a:solidFill>
          <a:ln>
            <a:noFill/>
          </a:ln>
          <a:extLst>
            <a:ext uri="{91240B29-F687-4F45-9708-019B960494DF}">
              <a14:hiddenLine xmlns:a14="http://schemas.microsoft.com/office/drawing/2010/main" w="38100">
                <a:solidFill>
                  <a:srgbClr val="000000"/>
                </a:solidFill>
                <a:prstDash val="solid"/>
                <a:round/>
              </a14:hiddenLine>
            </a:ext>
          </a:extLst>
        </p:spPr>
        <p:txBody>
          <a:bodyPr lIns="376083" tIns="431741" rIns="376083" bIns="461059" anchor="ctr">
            <a:normAutofit fontScale="25000" lnSpcReduction="20000"/>
          </a:bodyPr>
          <a:lstStyle/>
          <a:p>
            <a:endParaRPr lang="zh-CN" altLang="en-US" sz="1350">
              <a:latin typeface="Arial" panose="020B0604020202020204" pitchFamily="34" charset="0"/>
              <a:ea typeface="微软雅黑" panose="020B0503020204020204" charset="-122"/>
              <a:sym typeface="Arial" panose="020B0604020202020204" pitchFamily="34" charset="0"/>
            </a:endParaRPr>
          </a:p>
        </p:txBody>
      </p:sp>
      <p:sp>
        <p:nvSpPr>
          <p:cNvPr id="39" name="矩形 38"/>
          <p:cNvSpPr/>
          <p:nvPr>
            <p:custDataLst>
              <p:tags r:id="rId23"/>
            </p:custDataLst>
          </p:nvPr>
        </p:nvSpPr>
        <p:spPr>
          <a:xfrm>
            <a:off x="4546476" y="4337586"/>
            <a:ext cx="4734659" cy="322396"/>
          </a:xfrm>
          <a:prstGeom prst="rect">
            <a:avLst/>
          </a:prstGeom>
        </p:spPr>
        <p:txBody>
          <a:bodyPr lIns="68580" tIns="34290" rIns="68580" bIns="34290" anchor="ctr" anchorCtr="0">
            <a:normAutofit lnSpcReduction="10000"/>
          </a:bodyPr>
          <a:lstStyle/>
          <a:p>
            <a:pPr>
              <a:lnSpc>
                <a:spcPct val="120000"/>
              </a:lnSpc>
            </a:pPr>
            <a:r>
              <a:rPr lang="zh-CN" altLang="en-US" sz="1500" b="1" spc="300" dirty="0">
                <a:solidFill>
                  <a:srgbClr val="002060"/>
                </a:solidFill>
                <a:latin typeface="Arial" panose="020B0604020202020204" pitchFamily="34" charset="0"/>
                <a:ea typeface="微软雅黑" panose="020B0503020204020204" charset="-122"/>
                <a:cs typeface="+mn-ea"/>
                <a:sym typeface="Arial" panose="020B0604020202020204" pitchFamily="34" charset="0"/>
              </a:rPr>
              <a:t>典型机器人系统的设计与实现</a:t>
            </a:r>
          </a:p>
        </p:txBody>
      </p:sp>
      <p:sp>
        <p:nvSpPr>
          <p:cNvPr id="40" name="矩形 39"/>
          <p:cNvSpPr/>
          <p:nvPr>
            <p:custDataLst>
              <p:tags r:id="rId24"/>
            </p:custDataLst>
          </p:nvPr>
        </p:nvSpPr>
        <p:spPr>
          <a:xfrm>
            <a:off x="4534232" y="4604226"/>
            <a:ext cx="3756660" cy="271780"/>
          </a:xfrm>
          <a:prstGeom prst="rect">
            <a:avLst/>
          </a:prstGeom>
        </p:spPr>
        <p:txBody>
          <a:bodyPr lIns="68580" tIns="34290" rIns="68580" bIns="34290" anchor="t" anchorCtr="0">
            <a:normAutofit fontScale="95000"/>
          </a:bodyPr>
          <a:lstStyle/>
          <a:p>
            <a:pPr>
              <a:lnSpc>
                <a:spcPct val="120000"/>
              </a:lnSpc>
            </a:pPr>
            <a:r>
              <a:rPr lang="en-US" altLang="zh-CN" sz="1200" spc="150" dirty="0">
                <a:solidFill>
                  <a:srgbClr val="0070C0"/>
                </a:solidFill>
                <a:latin typeface="Arial" panose="020B0604020202020204" pitchFamily="34" charset="0"/>
                <a:ea typeface="微软雅黑" panose="020B0503020204020204" charset="-122"/>
                <a:sym typeface="Arial" panose="020B0604020202020204" pitchFamily="34" charset="0"/>
              </a:rPr>
              <a:t>Design and Implementation of Robot System</a:t>
            </a:r>
            <a:endParaRPr lang="zh-CN" altLang="en-US" sz="1200" spc="150" dirty="0">
              <a:solidFill>
                <a:srgbClr val="0070C0"/>
              </a:solidFill>
              <a:latin typeface="Arial" panose="020B0604020202020204" pitchFamily="34" charset="0"/>
              <a:ea typeface="微软雅黑" panose="020B0503020204020204" charset="-122"/>
              <a:sym typeface="Arial" panose="020B0604020202020204" pitchFamily="34" charset="0"/>
            </a:endParaRPr>
          </a:p>
        </p:txBody>
      </p:sp>
    </p:spTree>
    <p:extLst>
      <p:ext uri="{BB962C8B-B14F-4D97-AF65-F5344CB8AC3E}">
        <p14:creationId xmlns:p14="http://schemas.microsoft.com/office/powerpoint/2010/main" val="282621445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28099" y="2082089"/>
            <a:ext cx="3849370" cy="1384995"/>
          </a:xfrm>
          <a:prstGeom prst="rect">
            <a:avLst/>
          </a:prstGeom>
        </p:spPr>
        <p:txBody>
          <a:bodyPr wrap="square">
            <a:spAutoFit/>
          </a:bodyPr>
          <a:lstStyle/>
          <a:p>
            <a:r>
              <a:rPr lang="zh-CN" altLang="zh-CN" sz="1200" dirty="0"/>
              <a:t>机器人在发展初期，其功能单一，能完成的动作也较简单，其控制程序是固定的运动控制。随着机器人作业动作的多样化和作业环境的复杂化，依靠固定的程序或简单的示教方式已满足不了要求，机器人必须能够快速完成再编程，以适应作业和环境的变化。</a:t>
            </a:r>
            <a:endParaRPr lang="en-US" altLang="zh-CN" sz="1200" dirty="0"/>
          </a:p>
          <a:p>
            <a:r>
              <a:rPr lang="zh-CN" altLang="zh-CN" sz="1200" dirty="0"/>
              <a:t>随着机器人技术与应用的广泛发展，各家公司均推出了具有自己特色的机器人</a:t>
            </a:r>
            <a:r>
              <a:rPr lang="zh-CN" altLang="zh-CN" sz="1200" dirty="0" smtClean="0"/>
              <a:t>语言</a:t>
            </a:r>
            <a:r>
              <a:rPr lang="zh-CN" altLang="en-US" sz="1200" dirty="0" smtClean="0"/>
              <a:t>。</a:t>
            </a:r>
            <a:endParaRPr lang="zh-CN" altLang="en-US" sz="1200" dirty="0"/>
          </a:p>
        </p:txBody>
      </p:sp>
      <p:sp>
        <p:nvSpPr>
          <p:cNvPr id="7" name="文本框 6"/>
          <p:cNvSpPr txBox="1"/>
          <p:nvPr/>
        </p:nvSpPr>
        <p:spPr>
          <a:xfrm>
            <a:off x="4319270" y="1547684"/>
            <a:ext cx="3335655" cy="523220"/>
          </a:xfrm>
          <a:prstGeom prst="rect">
            <a:avLst/>
          </a:prstGeom>
          <a:noFill/>
        </p:spPr>
        <p:txBody>
          <a:bodyPr wrap="square" rtlCol="0" anchor="t">
            <a:spAutoFit/>
          </a:bodyPr>
          <a:lstStyle/>
          <a:p>
            <a:pPr algn="l"/>
            <a:r>
              <a:rPr lang="zh-CN" altLang="en-US" sz="2800" b="1" dirty="0">
                <a:latin typeface="Arial" panose="020B0604020202020204" pitchFamily="34" charset="0"/>
                <a:ea typeface="微软雅黑" panose="020B0503020204020204" charset="-122"/>
                <a:sym typeface="+mn-ea"/>
              </a:rPr>
              <a:t>引言</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01</a:t>
            </a: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71600" y="1275606"/>
            <a:ext cx="7416824" cy="3293209"/>
          </a:xfrm>
          <a:prstGeom prst="rect">
            <a:avLst/>
          </a:prstGeom>
        </p:spPr>
        <p:txBody>
          <a:bodyPr wrap="square">
            <a:spAutoFit/>
          </a:bodyPr>
          <a:lstStyle/>
          <a:p>
            <a:pPr marL="171450" indent="-171450">
              <a:spcAft>
                <a:spcPts val="600"/>
              </a:spcAft>
              <a:buFont typeface="Wingdings" panose="05000000000000000000" pitchFamily="2" charset="2"/>
              <a:buChar char="Ø"/>
            </a:pPr>
            <a:r>
              <a:rPr lang="en-US" altLang="zh-CN" sz="1400" dirty="0" smtClean="0">
                <a:latin typeface="Calibri" panose="020F0502020204030204" pitchFamily="34" charset="0"/>
                <a:cs typeface="Times New Roman" panose="02020603050405020304" pitchFamily="18" charset="0"/>
              </a:rPr>
              <a:t>George </a:t>
            </a:r>
            <a:r>
              <a:rPr lang="en-US" altLang="zh-CN" sz="1400" dirty="0" err="1">
                <a:latin typeface="Calibri" panose="020F0502020204030204" pitchFamily="34" charset="0"/>
                <a:cs typeface="Times New Roman" panose="02020603050405020304" pitchFamily="18" charset="0"/>
              </a:rPr>
              <a:t>Devol</a:t>
            </a:r>
            <a:r>
              <a:rPr lang="en-US" altLang="zh-CN" sz="1400" dirty="0">
                <a:latin typeface="Calibri" panose="020F0502020204030204" pitchFamily="34" charset="0"/>
                <a:cs typeface="Times New Roman" panose="02020603050405020304" pitchFamily="18" charset="0"/>
              </a:rPr>
              <a:t> </a:t>
            </a:r>
            <a:r>
              <a:rPr lang="zh-CN" altLang="zh-CN" sz="1400" dirty="0">
                <a:latin typeface="Calibri" panose="020F0502020204030204" pitchFamily="34" charset="0"/>
                <a:cs typeface="Times New Roman" panose="02020603050405020304" pitchFamily="18" charset="0"/>
              </a:rPr>
              <a:t>于</a:t>
            </a:r>
            <a:r>
              <a:rPr lang="en-US" altLang="zh-CN" sz="1400" dirty="0">
                <a:latin typeface="Calibri" panose="020F0502020204030204" pitchFamily="34" charset="0"/>
                <a:cs typeface="Times New Roman" panose="02020603050405020304" pitchFamily="18" charset="0"/>
              </a:rPr>
              <a:t> 1954 </a:t>
            </a:r>
            <a:r>
              <a:rPr lang="zh-CN" altLang="zh-CN" sz="1400" dirty="0">
                <a:latin typeface="Calibri" panose="020F0502020204030204" pitchFamily="34" charset="0"/>
                <a:cs typeface="Times New Roman" panose="02020603050405020304" pitchFamily="18" charset="0"/>
              </a:rPr>
              <a:t>年发明了第一台工业机器人</a:t>
            </a:r>
            <a:r>
              <a:rPr lang="en-US" altLang="zh-CN" sz="1400" dirty="0" err="1">
                <a:latin typeface="Calibri" panose="020F0502020204030204" pitchFamily="34" charset="0"/>
                <a:cs typeface="Times New Roman" panose="02020603050405020304" pitchFamily="18" charset="0"/>
              </a:rPr>
              <a:t>Unimate</a:t>
            </a:r>
            <a:r>
              <a:rPr lang="zh-CN" altLang="zh-CN" sz="1400" dirty="0">
                <a:latin typeface="Calibri" panose="020F0502020204030204" pitchFamily="34" charset="0"/>
                <a:cs typeface="Times New Roman" panose="02020603050405020304" pitchFamily="18" charset="0"/>
              </a:rPr>
              <a:t>，该机器人使用了较为低级的再编程概念，采用一种较为原始的示教</a:t>
            </a:r>
            <a:r>
              <a:rPr lang="zh-CN" altLang="zh-CN" sz="1400" dirty="0" smtClean="0">
                <a:latin typeface="Calibri" panose="020F0502020204030204" pitchFamily="34" charset="0"/>
                <a:cs typeface="Times New Roman" panose="02020603050405020304" pitchFamily="18" charset="0"/>
              </a:rPr>
              <a:t>方式</a:t>
            </a:r>
            <a:r>
              <a:rPr lang="zh-CN" altLang="en-US" sz="1400" dirty="0" smtClean="0">
                <a:latin typeface="Calibri" panose="020F0502020204030204" pitchFamily="34" charset="0"/>
                <a:cs typeface="Times New Roman" panose="02020603050405020304" pitchFamily="18" charset="0"/>
              </a:rPr>
              <a:t>；</a:t>
            </a:r>
            <a:endParaRPr lang="en-US" altLang="zh-CN" sz="1400" dirty="0" smtClean="0">
              <a:latin typeface="Calibri" panose="020F0502020204030204" pitchFamily="34" charset="0"/>
              <a:cs typeface="Times New Roman" panose="02020603050405020304" pitchFamily="18" charset="0"/>
            </a:endParaRPr>
          </a:p>
          <a:p>
            <a:pPr marL="171450" indent="-171450">
              <a:spcAft>
                <a:spcPts val="600"/>
              </a:spcAft>
              <a:buFont typeface="Wingdings" panose="05000000000000000000" pitchFamily="2" charset="2"/>
              <a:buChar char="Ø"/>
            </a:pPr>
            <a:r>
              <a:rPr lang="en-US" altLang="zh-CN" sz="1400" dirty="0"/>
              <a:t>1960</a:t>
            </a:r>
            <a:r>
              <a:rPr lang="zh-CN" altLang="zh-CN" sz="1400" dirty="0"/>
              <a:t>年，麻省理工学院为其机械手</a:t>
            </a:r>
            <a:r>
              <a:rPr lang="en-US" altLang="zh-CN" sz="1400" dirty="0"/>
              <a:t>MH-I</a:t>
            </a:r>
            <a:r>
              <a:rPr lang="zh-CN" altLang="zh-CN" sz="1400" dirty="0"/>
              <a:t>开发的</a:t>
            </a:r>
            <a:r>
              <a:rPr lang="en-US" altLang="zh-CN" sz="1400" dirty="0"/>
              <a:t>MHI (Mechanical Hand Interpreter</a:t>
            </a:r>
            <a:r>
              <a:rPr lang="zh-CN" altLang="zh-CN" sz="1400" dirty="0"/>
              <a:t>，机械手解析器</a:t>
            </a:r>
            <a:r>
              <a:rPr lang="en-US" altLang="zh-CN" sz="1400" dirty="0"/>
              <a:t>)</a:t>
            </a:r>
            <a:r>
              <a:rPr lang="zh-CN" altLang="zh-CN" sz="1400" dirty="0"/>
              <a:t>可称为第一个机器人</a:t>
            </a:r>
            <a:r>
              <a:rPr lang="zh-CN" altLang="zh-CN" sz="1400" dirty="0" smtClean="0"/>
              <a:t>语言</a:t>
            </a:r>
            <a:r>
              <a:rPr lang="zh-CN" altLang="en-US" sz="1400" dirty="0" smtClean="0"/>
              <a:t>；</a:t>
            </a:r>
            <a:endParaRPr lang="en-US" altLang="zh-CN" sz="1400" dirty="0" smtClean="0"/>
          </a:p>
          <a:p>
            <a:pPr marL="171450" indent="-171450">
              <a:spcAft>
                <a:spcPts val="600"/>
              </a:spcAft>
              <a:buFont typeface="Wingdings" panose="05000000000000000000" pitchFamily="2" charset="2"/>
              <a:buChar char="Ø"/>
            </a:pPr>
            <a:r>
              <a:rPr lang="en-US" altLang="zh-CN" sz="1400" dirty="0"/>
              <a:t>1973</a:t>
            </a:r>
            <a:r>
              <a:rPr lang="zh-CN" altLang="en-US" sz="1400" dirty="0"/>
              <a:t>年，美国斯坦福大学研制出了世界上第一种通用机器人语言</a:t>
            </a:r>
            <a:r>
              <a:rPr lang="en-US" altLang="zh-CN" sz="1400" dirty="0" smtClean="0"/>
              <a:t>WAVE</a:t>
            </a:r>
            <a:r>
              <a:rPr lang="zh-CN" altLang="en-US" sz="1400" dirty="0" smtClean="0"/>
              <a:t>；</a:t>
            </a:r>
            <a:endParaRPr lang="en-US" altLang="zh-CN" sz="1400" dirty="0" smtClean="0"/>
          </a:p>
          <a:p>
            <a:pPr marL="171450" indent="-171450">
              <a:spcAft>
                <a:spcPts val="600"/>
              </a:spcAft>
              <a:buFont typeface="Wingdings" panose="05000000000000000000" pitchFamily="2" charset="2"/>
              <a:buChar char="Ø"/>
            </a:pPr>
            <a:r>
              <a:rPr lang="en-US" altLang="zh-CN" sz="1400" dirty="0"/>
              <a:t>1974</a:t>
            </a:r>
            <a:r>
              <a:rPr lang="zh-CN" altLang="en-US" sz="1400" dirty="0"/>
              <a:t>年，斯坦福大学人工智能实验室在</a:t>
            </a:r>
            <a:r>
              <a:rPr lang="en-US" altLang="zh-CN" sz="1400" dirty="0"/>
              <a:t>WAVE</a:t>
            </a:r>
            <a:r>
              <a:rPr lang="zh-CN" altLang="en-US" sz="1400" dirty="0"/>
              <a:t>语言的基础上开发出了</a:t>
            </a:r>
            <a:r>
              <a:rPr lang="en-US" altLang="zh-CN" sz="1400" dirty="0"/>
              <a:t>AL</a:t>
            </a:r>
            <a:r>
              <a:rPr lang="zh-CN" altLang="en-US" sz="1400" dirty="0" smtClean="0"/>
              <a:t>语言；</a:t>
            </a:r>
            <a:endParaRPr lang="en-US" altLang="zh-CN" sz="1400" dirty="0" smtClean="0"/>
          </a:p>
          <a:p>
            <a:pPr marL="171450" indent="-171450">
              <a:spcAft>
                <a:spcPts val="600"/>
              </a:spcAft>
              <a:buFont typeface="Wingdings" panose="05000000000000000000" pitchFamily="2" charset="2"/>
              <a:buChar char="Ø"/>
            </a:pPr>
            <a:r>
              <a:rPr lang="en-US" altLang="zh-CN" sz="1400" dirty="0"/>
              <a:t>1975</a:t>
            </a:r>
            <a:r>
              <a:rPr lang="zh-CN" altLang="en-US" sz="1400" dirty="0"/>
              <a:t>年，</a:t>
            </a:r>
            <a:r>
              <a:rPr lang="en-US" altLang="zh-CN" sz="1400" dirty="0"/>
              <a:t>IBM</a:t>
            </a:r>
            <a:r>
              <a:rPr lang="zh-CN" altLang="en-US" sz="1400" dirty="0"/>
              <a:t>公司推出了用于机器人装配作业的</a:t>
            </a:r>
            <a:r>
              <a:rPr lang="en-US" altLang="zh-CN" sz="1400" dirty="0"/>
              <a:t>AML(A Manufacturing Language)</a:t>
            </a:r>
            <a:r>
              <a:rPr lang="zh-CN" altLang="en-US" sz="1400" dirty="0"/>
              <a:t>语言，随后该公司又研制出另一种语言</a:t>
            </a:r>
            <a:r>
              <a:rPr lang="en-US" altLang="zh-CN" sz="1400" dirty="0"/>
              <a:t>-AUTOPASS</a:t>
            </a:r>
            <a:r>
              <a:rPr lang="zh-CN" altLang="en-US" sz="1400" dirty="0" smtClean="0"/>
              <a:t>语言；</a:t>
            </a:r>
            <a:endParaRPr lang="en-US" altLang="zh-CN" sz="1400" dirty="0" smtClean="0"/>
          </a:p>
          <a:p>
            <a:pPr marL="171450" indent="-171450">
              <a:spcAft>
                <a:spcPts val="600"/>
              </a:spcAft>
              <a:buFont typeface="Wingdings" panose="05000000000000000000" pitchFamily="2" charset="2"/>
              <a:buChar char="Ø"/>
            </a:pPr>
            <a:r>
              <a:rPr lang="en-US" altLang="zh-CN" sz="1400" dirty="0"/>
              <a:t>1979</a:t>
            </a:r>
            <a:r>
              <a:rPr lang="zh-CN" altLang="en-US" sz="1400" dirty="0"/>
              <a:t>年，美国</a:t>
            </a:r>
            <a:r>
              <a:rPr lang="en-US" altLang="zh-CN" sz="1400" dirty="0" err="1"/>
              <a:t>Unimation</a:t>
            </a:r>
            <a:r>
              <a:rPr lang="zh-CN" altLang="en-US" sz="1400" dirty="0"/>
              <a:t>公司推出了</a:t>
            </a:r>
            <a:r>
              <a:rPr lang="en-US" altLang="zh-CN" sz="1400" dirty="0"/>
              <a:t>VAL</a:t>
            </a:r>
            <a:r>
              <a:rPr lang="zh-CN" altLang="en-US" sz="1400" dirty="0" smtClean="0"/>
              <a:t>语言；</a:t>
            </a:r>
            <a:endParaRPr lang="en-US" altLang="zh-CN" sz="1400" dirty="0" smtClean="0"/>
          </a:p>
          <a:p>
            <a:pPr marL="171450" indent="-171450">
              <a:spcAft>
                <a:spcPts val="600"/>
              </a:spcAft>
              <a:buFont typeface="Wingdings" panose="05000000000000000000" pitchFamily="2" charset="2"/>
              <a:buChar char="Ø"/>
            </a:pPr>
            <a:r>
              <a:rPr lang="en-US" altLang="zh-CN" sz="1400" dirty="0"/>
              <a:t>20</a:t>
            </a:r>
            <a:r>
              <a:rPr lang="zh-CN" altLang="en-US" sz="1400" dirty="0"/>
              <a:t>世纪</a:t>
            </a:r>
            <a:r>
              <a:rPr lang="en-US" altLang="zh-CN" sz="1400" dirty="0"/>
              <a:t>80</a:t>
            </a:r>
            <a:r>
              <a:rPr lang="zh-CN" altLang="en-US" sz="1400" dirty="0"/>
              <a:t>年代初，美国</a:t>
            </a:r>
            <a:r>
              <a:rPr lang="en-US" altLang="zh-CN" sz="1400" dirty="0" err="1"/>
              <a:t>Automatix</a:t>
            </a:r>
            <a:r>
              <a:rPr lang="zh-CN" altLang="en-US" sz="1400" dirty="0"/>
              <a:t>公司开发了</a:t>
            </a:r>
            <a:r>
              <a:rPr lang="en-US" altLang="zh-CN" sz="1400" dirty="0"/>
              <a:t>RAIL</a:t>
            </a:r>
            <a:r>
              <a:rPr lang="zh-CN" altLang="en-US" sz="1400" dirty="0"/>
              <a:t>语言；同时，麦道公司研制了</a:t>
            </a:r>
            <a:r>
              <a:rPr lang="en-US" altLang="zh-CN" sz="1400" dirty="0"/>
              <a:t>MCL</a:t>
            </a:r>
            <a:r>
              <a:rPr lang="zh-CN" altLang="en-US" sz="1400" dirty="0" smtClean="0"/>
              <a:t>语言；</a:t>
            </a:r>
            <a:endParaRPr lang="en-US" altLang="zh-CN" sz="1400" dirty="0" smtClean="0"/>
          </a:p>
          <a:p>
            <a:pPr marL="171450" indent="-171450">
              <a:spcAft>
                <a:spcPts val="600"/>
              </a:spcAft>
              <a:buFont typeface="Wingdings" panose="05000000000000000000" pitchFamily="2" charset="2"/>
              <a:buChar char="Ø"/>
            </a:pPr>
            <a:r>
              <a:rPr lang="en-US" altLang="zh-CN" sz="1400" dirty="0" smtClean="0"/>
              <a:t>……</a:t>
            </a:r>
          </a:p>
          <a:p>
            <a:pPr marL="171450" indent="-171450">
              <a:buFont typeface="Wingdings" panose="05000000000000000000" pitchFamily="2" charset="2"/>
              <a:buChar char="Ø"/>
            </a:pPr>
            <a:endParaRPr lang="zh-CN" altLang="en-US" sz="1400" dirty="0"/>
          </a:p>
        </p:txBody>
      </p:sp>
      <p:sp>
        <p:nvSpPr>
          <p:cNvPr id="3" name="矩形 2"/>
          <p:cNvSpPr/>
          <p:nvPr/>
        </p:nvSpPr>
        <p:spPr>
          <a:xfrm>
            <a:off x="2051720" y="630220"/>
            <a:ext cx="4572000" cy="461665"/>
          </a:xfrm>
          <a:prstGeom prst="rect">
            <a:avLst/>
          </a:prstGeom>
        </p:spPr>
        <p:txBody>
          <a:bodyPr>
            <a:spAutoFit/>
          </a:bodyPr>
          <a:lstStyle/>
          <a:p>
            <a:pPr algn="ctr"/>
            <a:r>
              <a:rPr lang="zh-CN" altLang="en-US" sz="2400" b="1" dirty="0">
                <a:latin typeface="Calibri" panose="020F0502020204030204" pitchFamily="34" charset="0"/>
                <a:cs typeface="Times New Roman" panose="02020603050405020304" pitchFamily="18" charset="0"/>
              </a:rPr>
              <a:t>机器人语言发展</a:t>
            </a:r>
            <a:r>
              <a:rPr lang="zh-CN" altLang="en-US" sz="2400" b="1" dirty="0" smtClean="0">
                <a:latin typeface="Calibri" panose="020F0502020204030204" pitchFamily="34" charset="0"/>
                <a:cs typeface="Times New Roman" panose="02020603050405020304" pitchFamily="18" charset="0"/>
              </a:rPr>
              <a:t>历史</a:t>
            </a:r>
            <a:endParaRPr lang="en-US" altLang="zh-CN" sz="2400" b="1" dirty="0">
              <a:latin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9248287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9755" y="422082"/>
            <a:ext cx="6192688" cy="1107996"/>
          </a:xfrm>
          <a:prstGeom prst="rect">
            <a:avLst/>
          </a:prstGeom>
        </p:spPr>
        <p:txBody>
          <a:bodyPr wrap="square">
            <a:spAutoFit/>
          </a:bodyPr>
          <a:lstStyle/>
          <a:p>
            <a:r>
              <a:rPr lang="zh-CN" altLang="zh-CN" dirty="0">
                <a:latin typeface="Calibri" panose="020F0502020204030204" pitchFamily="34" charset="0"/>
                <a:cs typeface="Times New Roman" panose="02020603050405020304" pitchFamily="18" charset="0"/>
              </a:rPr>
              <a:t>目前在全球占据最大市场份额的机器人</a:t>
            </a:r>
            <a:r>
              <a:rPr lang="zh-CN" altLang="zh-CN" dirty="0" smtClean="0">
                <a:latin typeface="Calibri" panose="020F0502020204030204" pitchFamily="34" charset="0"/>
                <a:cs typeface="Times New Roman" panose="02020603050405020304" pitchFamily="18" charset="0"/>
              </a:rPr>
              <a:t>“四大家族”包括</a:t>
            </a:r>
            <a:r>
              <a:rPr lang="zh-CN" altLang="en-US" dirty="0" smtClean="0">
                <a:latin typeface="Calibri" panose="020F0502020204030204" pitchFamily="34" charset="0"/>
                <a:cs typeface="Times New Roman" panose="02020603050405020304" pitchFamily="18" charset="0"/>
              </a:rPr>
              <a:t>：</a:t>
            </a:r>
            <a:endParaRPr lang="en-US" altLang="zh-CN" dirty="0" smtClean="0">
              <a:latin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US" altLang="zh-CN" sz="1200" dirty="0" smtClean="0">
                <a:solidFill>
                  <a:srgbClr val="FF0000"/>
                </a:solidFill>
                <a:latin typeface="Calibri" panose="020F0502020204030204" pitchFamily="34" charset="0"/>
                <a:cs typeface="Times New Roman" panose="02020603050405020304" pitchFamily="18" charset="0"/>
              </a:rPr>
              <a:t>ABB</a:t>
            </a:r>
            <a:r>
              <a:rPr lang="zh-CN" altLang="zh-CN" sz="1200" dirty="0">
                <a:solidFill>
                  <a:srgbClr val="FF0000"/>
                </a:solidFill>
                <a:latin typeface="Calibri" panose="020F0502020204030204" pitchFamily="34" charset="0"/>
                <a:cs typeface="Times New Roman" panose="02020603050405020304" pitchFamily="18" charset="0"/>
              </a:rPr>
              <a:t>（瑞士</a:t>
            </a:r>
            <a:r>
              <a:rPr lang="zh-CN" altLang="zh-CN" sz="1200" dirty="0" smtClean="0">
                <a:solidFill>
                  <a:srgbClr val="FF0000"/>
                </a:solidFill>
                <a:latin typeface="Calibri" panose="020F0502020204030204" pitchFamily="34" charset="0"/>
                <a:cs typeface="Times New Roman" panose="02020603050405020304" pitchFamily="18" charset="0"/>
              </a:rPr>
              <a:t>）</a:t>
            </a:r>
            <a:endParaRPr lang="en-US" altLang="zh-CN" sz="1200" dirty="0" smtClean="0">
              <a:solidFill>
                <a:srgbClr val="FF0000"/>
              </a:solidFill>
              <a:latin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US" altLang="zh-CN" sz="1200" dirty="0" smtClean="0">
                <a:solidFill>
                  <a:srgbClr val="FF0000"/>
                </a:solidFill>
                <a:latin typeface="Calibri" panose="020F0502020204030204" pitchFamily="34" charset="0"/>
                <a:cs typeface="Times New Roman" panose="02020603050405020304" pitchFamily="18" charset="0"/>
              </a:rPr>
              <a:t>YASKAWA</a:t>
            </a:r>
            <a:r>
              <a:rPr lang="zh-CN" altLang="zh-CN" sz="1200" dirty="0">
                <a:solidFill>
                  <a:srgbClr val="FF0000"/>
                </a:solidFill>
                <a:latin typeface="Calibri" panose="020F0502020204030204" pitchFamily="34" charset="0"/>
                <a:cs typeface="Times New Roman" panose="02020603050405020304" pitchFamily="18" charset="0"/>
              </a:rPr>
              <a:t>（安川、日本</a:t>
            </a:r>
            <a:r>
              <a:rPr lang="zh-CN" altLang="zh-CN" sz="1200" dirty="0" smtClean="0">
                <a:solidFill>
                  <a:srgbClr val="FF0000"/>
                </a:solidFill>
                <a:latin typeface="Calibri" panose="020F0502020204030204" pitchFamily="34" charset="0"/>
                <a:cs typeface="Times New Roman" panose="02020603050405020304" pitchFamily="18" charset="0"/>
              </a:rPr>
              <a:t>）</a:t>
            </a:r>
            <a:endParaRPr lang="en-US" altLang="zh-CN" sz="1200" dirty="0" smtClean="0">
              <a:solidFill>
                <a:srgbClr val="FF0000"/>
              </a:solidFill>
              <a:latin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US" altLang="zh-CN" sz="1200" dirty="0" smtClean="0">
                <a:solidFill>
                  <a:srgbClr val="FF0000"/>
                </a:solidFill>
                <a:latin typeface="Calibri" panose="020F0502020204030204" pitchFamily="34" charset="0"/>
                <a:cs typeface="Times New Roman" panose="02020603050405020304" pitchFamily="18" charset="0"/>
              </a:rPr>
              <a:t>KUKA</a:t>
            </a:r>
            <a:r>
              <a:rPr lang="zh-CN" altLang="zh-CN" sz="1200" dirty="0">
                <a:solidFill>
                  <a:srgbClr val="FF0000"/>
                </a:solidFill>
                <a:latin typeface="Calibri" panose="020F0502020204030204" pitchFamily="34" charset="0"/>
                <a:cs typeface="Times New Roman" panose="02020603050405020304" pitchFamily="18" charset="0"/>
              </a:rPr>
              <a:t>（德国</a:t>
            </a:r>
            <a:r>
              <a:rPr lang="zh-CN" altLang="zh-CN" sz="1200" dirty="0" smtClean="0">
                <a:solidFill>
                  <a:srgbClr val="FF0000"/>
                </a:solidFill>
                <a:latin typeface="Calibri" panose="020F0502020204030204" pitchFamily="34" charset="0"/>
                <a:cs typeface="Times New Roman" panose="02020603050405020304" pitchFamily="18" charset="0"/>
              </a:rPr>
              <a:t>）</a:t>
            </a:r>
            <a:endParaRPr lang="en-US" altLang="zh-CN" sz="1200" dirty="0" smtClean="0">
              <a:solidFill>
                <a:srgbClr val="FF0000"/>
              </a:solidFill>
              <a:latin typeface="Calibri" panose="020F0502020204030204" pitchFamily="34" charset="0"/>
              <a:cs typeface="Times New Roman" panose="02020603050405020304" pitchFamily="18" charset="0"/>
            </a:endParaRPr>
          </a:p>
          <a:p>
            <a:pPr marL="285750" indent="-285750">
              <a:buFont typeface="Wingdings" panose="05000000000000000000" pitchFamily="2" charset="2"/>
              <a:buChar char="Ø"/>
            </a:pPr>
            <a:r>
              <a:rPr lang="en-US" altLang="zh-CN" sz="1200" dirty="0" smtClean="0">
                <a:solidFill>
                  <a:srgbClr val="FF0000"/>
                </a:solidFill>
                <a:latin typeface="Calibri" panose="020F0502020204030204" pitchFamily="34" charset="0"/>
                <a:cs typeface="Times New Roman" panose="02020603050405020304" pitchFamily="18" charset="0"/>
              </a:rPr>
              <a:t>FANUC</a:t>
            </a:r>
            <a:r>
              <a:rPr lang="zh-CN" altLang="zh-CN" sz="1200" dirty="0">
                <a:solidFill>
                  <a:srgbClr val="FF0000"/>
                </a:solidFill>
                <a:latin typeface="Calibri" panose="020F0502020204030204" pitchFamily="34" charset="0"/>
                <a:cs typeface="Times New Roman" panose="02020603050405020304" pitchFamily="18" charset="0"/>
              </a:rPr>
              <a:t>（发那科、日本）</a:t>
            </a:r>
            <a:endParaRPr lang="zh-CN" altLang="en-US" sz="1200" dirty="0">
              <a:solidFill>
                <a:srgbClr val="FF0000"/>
              </a:solidFill>
            </a:endParaRPr>
          </a:p>
        </p:txBody>
      </p:sp>
      <p:sp>
        <p:nvSpPr>
          <p:cNvPr id="5" name="文本框 4"/>
          <p:cNvSpPr txBox="1"/>
          <p:nvPr/>
        </p:nvSpPr>
        <p:spPr>
          <a:xfrm>
            <a:off x="2195736" y="976080"/>
            <a:ext cx="3647152" cy="369332"/>
          </a:xfrm>
          <a:prstGeom prst="rect">
            <a:avLst/>
          </a:prstGeom>
          <a:noFill/>
        </p:spPr>
        <p:txBody>
          <a:bodyPr wrap="none" rtlCol="0">
            <a:spAutoFit/>
          </a:bodyPr>
          <a:lstStyle/>
          <a:p>
            <a:r>
              <a:rPr lang="zh-CN" altLang="en-US" dirty="0" smtClean="0">
                <a:solidFill>
                  <a:srgbClr val="FF0000"/>
                </a:solidFill>
              </a:rPr>
              <a:t>他们都有自己特定的机器人语言！</a:t>
            </a:r>
            <a:endParaRPr lang="zh-CN" altLang="en-US" dirty="0">
              <a:solidFill>
                <a:srgbClr val="FF0000"/>
              </a:solidFill>
            </a:endParaRPr>
          </a:p>
        </p:txBody>
      </p:sp>
      <p:graphicFrame>
        <p:nvGraphicFramePr>
          <p:cNvPr id="6" name="表格 5"/>
          <p:cNvGraphicFramePr>
            <a:graphicFrameLocks noGrp="1"/>
          </p:cNvGraphicFramePr>
          <p:nvPr>
            <p:extLst>
              <p:ext uri="{D42A27DB-BD31-4B8C-83A1-F6EECF244321}">
                <p14:modId xmlns:p14="http://schemas.microsoft.com/office/powerpoint/2010/main" val="409635456"/>
              </p:ext>
            </p:extLst>
          </p:nvPr>
        </p:nvGraphicFramePr>
        <p:xfrm>
          <a:off x="74285" y="1635646"/>
          <a:ext cx="5217795" cy="3230880"/>
        </p:xfrm>
        <a:graphic>
          <a:graphicData uri="http://schemas.openxmlformats.org/drawingml/2006/table">
            <a:tbl>
              <a:tblPr firstRow="1" firstCol="1" bandRow="1">
                <a:tableStyleId>{5C22544A-7EE6-4342-B048-85BDC9FD1C3A}</a:tableStyleId>
              </a:tblPr>
              <a:tblGrid>
                <a:gridCol w="353695">
                  <a:extLst>
                    <a:ext uri="{9D8B030D-6E8A-4147-A177-3AD203B41FA5}">
                      <a16:colId xmlns:a16="http://schemas.microsoft.com/office/drawing/2014/main" val="4278933047"/>
                    </a:ext>
                  </a:extLst>
                </a:gridCol>
                <a:gridCol w="594360">
                  <a:extLst>
                    <a:ext uri="{9D8B030D-6E8A-4147-A177-3AD203B41FA5}">
                      <a16:colId xmlns:a16="http://schemas.microsoft.com/office/drawing/2014/main" val="2199107937"/>
                    </a:ext>
                  </a:extLst>
                </a:gridCol>
                <a:gridCol w="492125">
                  <a:extLst>
                    <a:ext uri="{9D8B030D-6E8A-4147-A177-3AD203B41FA5}">
                      <a16:colId xmlns:a16="http://schemas.microsoft.com/office/drawing/2014/main" val="780895542"/>
                    </a:ext>
                  </a:extLst>
                </a:gridCol>
                <a:gridCol w="1490345">
                  <a:extLst>
                    <a:ext uri="{9D8B030D-6E8A-4147-A177-3AD203B41FA5}">
                      <a16:colId xmlns:a16="http://schemas.microsoft.com/office/drawing/2014/main" val="1852889646"/>
                    </a:ext>
                  </a:extLst>
                </a:gridCol>
                <a:gridCol w="2287270">
                  <a:extLst>
                    <a:ext uri="{9D8B030D-6E8A-4147-A177-3AD203B41FA5}">
                      <a16:colId xmlns:a16="http://schemas.microsoft.com/office/drawing/2014/main" val="2508442530"/>
                    </a:ext>
                  </a:extLst>
                </a:gridCol>
              </a:tblGrid>
              <a:tr h="190500">
                <a:tc>
                  <a:txBody>
                    <a:bodyPr/>
                    <a:lstStyle/>
                    <a:p>
                      <a:pPr algn="ctr">
                        <a:spcAft>
                          <a:spcPts val="0"/>
                        </a:spcAft>
                      </a:pPr>
                      <a:r>
                        <a:rPr lang="zh-CN" sz="900" kern="0">
                          <a:effectLst/>
                        </a:rPr>
                        <a:t>序号</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语言名称</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国 家</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研 究 单 位</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简 要 说 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81744641"/>
                  </a:ext>
                </a:extLst>
              </a:tr>
              <a:tr h="247650">
                <a:tc>
                  <a:txBody>
                    <a:bodyPr/>
                    <a:lstStyle/>
                    <a:p>
                      <a:pPr algn="ctr">
                        <a:spcAft>
                          <a:spcPts val="0"/>
                        </a:spcAft>
                      </a:pPr>
                      <a:r>
                        <a:rPr lang="en-US" sz="900" kern="0">
                          <a:effectLst/>
                        </a:rPr>
                        <a:t>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AL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Stanford Artificial Intelligence Laboratory</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机器人动作及对象物描述，是目前机器人语言研究的基础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221892893"/>
                  </a:ext>
                </a:extLst>
              </a:tr>
              <a:tr h="190500">
                <a:tc>
                  <a:txBody>
                    <a:bodyPr/>
                    <a:lstStyle/>
                    <a:p>
                      <a:pPr algn="ctr">
                        <a:spcAft>
                          <a:spcPts val="0"/>
                        </a:spcAft>
                      </a:pPr>
                      <a:r>
                        <a:rPr lang="en-US" sz="900" kern="0">
                          <a:effectLst/>
                        </a:rPr>
                        <a:t>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Autopass</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IBM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组装机器人用语言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14306404"/>
                  </a:ext>
                </a:extLst>
              </a:tr>
              <a:tr h="190500">
                <a:tc>
                  <a:txBody>
                    <a:bodyPr/>
                    <a:lstStyle/>
                    <a:p>
                      <a:pPr algn="ctr">
                        <a:spcAft>
                          <a:spcPts val="0"/>
                        </a:spcAft>
                      </a:pPr>
                      <a:r>
                        <a:rPr lang="en-US" sz="900" kern="0">
                          <a:effectLst/>
                        </a:rPr>
                        <a:t>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LAMA-S</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MIT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高级机器人语言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06155497"/>
                  </a:ext>
                </a:extLst>
              </a:tr>
              <a:tr h="238125">
                <a:tc>
                  <a:txBody>
                    <a:bodyPr/>
                    <a:lstStyle/>
                    <a:p>
                      <a:pPr algn="ctr">
                        <a:spcAft>
                          <a:spcPts val="0"/>
                        </a:spcAft>
                      </a:pPr>
                      <a:r>
                        <a:rPr lang="en-US" sz="900" kern="0">
                          <a:effectLst/>
                        </a:rPr>
                        <a:t>4</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VAL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dirty="0" err="1">
                          <a:effectLst/>
                        </a:rPr>
                        <a:t>Unimation</a:t>
                      </a:r>
                      <a:r>
                        <a:rPr lang="en-US" sz="900" kern="0" dirty="0">
                          <a:effectLst/>
                        </a:rPr>
                        <a:t> </a:t>
                      </a:r>
                      <a:r>
                        <a:rPr lang="zh-CN" sz="900" kern="0" dirty="0">
                          <a:effectLst/>
                        </a:rPr>
                        <a:t>公司</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用于</a:t>
                      </a:r>
                      <a:r>
                        <a:rPr lang="en-US" sz="900" kern="0">
                          <a:effectLst/>
                        </a:rPr>
                        <a:t>PUMA</a:t>
                      </a:r>
                      <a:r>
                        <a:rPr lang="zh-CN" sz="900" kern="0">
                          <a:effectLst/>
                        </a:rPr>
                        <a:t>机器人（采用</a:t>
                      </a:r>
                      <a:r>
                        <a:rPr lang="en-US" sz="900" kern="0">
                          <a:effectLst/>
                        </a:rPr>
                        <a:t>MC6800</a:t>
                      </a:r>
                      <a:r>
                        <a:rPr lang="zh-CN" sz="900" kern="0">
                          <a:effectLst/>
                        </a:rPr>
                        <a:t>和</a:t>
                      </a:r>
                      <a:r>
                        <a:rPr lang="en-US" sz="900" kern="0">
                          <a:effectLst/>
                        </a:rPr>
                        <a:t>DECLSI-11</a:t>
                      </a:r>
                      <a:r>
                        <a:rPr lang="zh-CN" sz="900" kern="0">
                          <a:effectLst/>
                        </a:rPr>
                        <a:t>高级微型机）</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019793188"/>
                  </a:ext>
                </a:extLst>
              </a:tr>
              <a:tr h="190500">
                <a:tc>
                  <a:txBody>
                    <a:bodyPr/>
                    <a:lstStyle/>
                    <a:p>
                      <a:pPr algn="ctr">
                        <a:spcAft>
                          <a:spcPts val="0"/>
                        </a:spcAft>
                      </a:pPr>
                      <a:r>
                        <a:rPr lang="en-US" sz="900" kern="0">
                          <a:effectLst/>
                        </a:rPr>
                        <a:t>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RAIL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Automatix </a:t>
                      </a:r>
                      <a:r>
                        <a:rPr lang="zh-CN" sz="900" kern="0">
                          <a:effectLst/>
                        </a:rPr>
                        <a:t>公司</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用视觉传感器检查零件时用的机器人语言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433227650"/>
                  </a:ext>
                </a:extLst>
              </a:tr>
              <a:tr h="219075">
                <a:tc>
                  <a:txBody>
                    <a:bodyPr/>
                    <a:lstStyle/>
                    <a:p>
                      <a:pPr algn="ctr">
                        <a:spcAft>
                          <a:spcPts val="0"/>
                        </a:spcAft>
                      </a:pPr>
                      <a:r>
                        <a:rPr lang="en-US" sz="900" kern="0">
                          <a:effectLst/>
                        </a:rPr>
                        <a:t>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WAVE</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Stanford Artificial Intelligence Laboratory</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操作器控制符号语言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50032602"/>
                  </a:ext>
                </a:extLst>
              </a:tr>
              <a:tr h="219075">
                <a:tc>
                  <a:txBody>
                    <a:bodyPr/>
                    <a:lstStyle/>
                    <a:p>
                      <a:pPr algn="ctr">
                        <a:spcAft>
                          <a:spcPts val="0"/>
                        </a:spcAft>
                      </a:pPr>
                      <a:r>
                        <a:rPr lang="en-US" sz="900" kern="0">
                          <a:effectLst/>
                        </a:rPr>
                        <a:t>7</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DIAL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Charles Stark Draper Laboratory</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具有</a:t>
                      </a:r>
                      <a:r>
                        <a:rPr lang="en-US" sz="900" kern="0">
                          <a:effectLst/>
                        </a:rPr>
                        <a:t>RCC</a:t>
                      </a:r>
                      <a:r>
                        <a:rPr lang="zh-CN" sz="900" kern="0">
                          <a:effectLst/>
                        </a:rPr>
                        <a:t>顺应性手腕控制的特殊指令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661736118"/>
                  </a:ext>
                </a:extLst>
              </a:tr>
              <a:tr h="238125">
                <a:tc>
                  <a:txBody>
                    <a:bodyPr/>
                    <a:lstStyle/>
                    <a:p>
                      <a:pPr algn="ctr">
                        <a:spcAft>
                          <a:spcPts val="0"/>
                        </a:spcAft>
                      </a:pPr>
                      <a:r>
                        <a:rPr lang="en-US" sz="900" kern="0">
                          <a:effectLst/>
                        </a:rPr>
                        <a:t>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RPL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Stanford Research Institute Intemational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可与</a:t>
                      </a:r>
                      <a:r>
                        <a:rPr lang="en-US" sz="900" kern="0">
                          <a:effectLst/>
                        </a:rPr>
                        <a:t>Unimate</a:t>
                      </a:r>
                      <a:r>
                        <a:rPr lang="zh-CN" sz="900" kern="0">
                          <a:effectLst/>
                        </a:rPr>
                        <a:t>机器人操作程序结合，预先定义子程序库</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42326593"/>
                  </a:ext>
                </a:extLst>
              </a:tr>
              <a:tr h="238125">
                <a:tc>
                  <a:txBody>
                    <a:bodyPr/>
                    <a:lstStyle/>
                    <a:p>
                      <a:pPr algn="ctr">
                        <a:spcAft>
                          <a:spcPts val="0"/>
                        </a:spcAft>
                      </a:pPr>
                      <a:r>
                        <a:rPr lang="en-US" sz="900" kern="0">
                          <a:effectLst/>
                        </a:rPr>
                        <a:t>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REACH</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Bendix Corporation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适于两臂协调动作，和</a:t>
                      </a:r>
                      <a:r>
                        <a:rPr lang="en-US" sz="900" kern="0">
                          <a:effectLst/>
                        </a:rPr>
                        <a:t>VAL</a:t>
                      </a:r>
                      <a:r>
                        <a:rPr lang="zh-CN" sz="900" kern="0">
                          <a:effectLst/>
                        </a:rPr>
                        <a:t>一样是使用范围广的语言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11346822"/>
                  </a:ext>
                </a:extLst>
              </a:tr>
              <a:tr h="238125">
                <a:tc>
                  <a:txBody>
                    <a:bodyPr/>
                    <a:lstStyle/>
                    <a:p>
                      <a:pPr algn="ctr">
                        <a:spcAft>
                          <a:spcPts val="0"/>
                        </a:spcAft>
                      </a:pPr>
                      <a:r>
                        <a:rPr lang="en-US" sz="900" kern="0">
                          <a:effectLst/>
                        </a:rPr>
                        <a:t>10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MCL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McDonnell Douglas Corporation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编程机器人、机床传感器、摄像机及其控制的计算机综合制造用语言</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66387933"/>
                  </a:ext>
                </a:extLst>
              </a:tr>
              <a:tr h="238125">
                <a:tc>
                  <a:txBody>
                    <a:bodyPr/>
                    <a:lstStyle/>
                    <a:p>
                      <a:pPr algn="ctr">
                        <a:spcAft>
                          <a:spcPts val="0"/>
                        </a:spcAft>
                      </a:pPr>
                      <a:r>
                        <a:rPr lang="en-US" sz="900" kern="0">
                          <a:effectLst/>
                        </a:rPr>
                        <a:t>11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INDA</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SRI International and Philips</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a:effectLst/>
                        </a:rPr>
                        <a:t>相当于</a:t>
                      </a:r>
                      <a:r>
                        <a:rPr lang="en-US" sz="900" kern="0">
                          <a:effectLst/>
                        </a:rPr>
                        <a:t>RTL/2</a:t>
                      </a:r>
                      <a:r>
                        <a:rPr lang="zh-CN" sz="900" kern="0">
                          <a:effectLst/>
                        </a:rPr>
                        <a:t>编程语言的子集，具有使用方便的处理系统</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30245980"/>
                  </a:ext>
                </a:extLst>
              </a:tr>
              <a:tr h="190500">
                <a:tc>
                  <a:txBody>
                    <a:bodyPr/>
                    <a:lstStyle/>
                    <a:p>
                      <a:pPr algn="ctr">
                        <a:spcAft>
                          <a:spcPts val="0"/>
                        </a:spcAft>
                      </a:pPr>
                      <a:r>
                        <a:rPr lang="en-US" sz="900" kern="0">
                          <a:effectLst/>
                        </a:rPr>
                        <a:t>12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en-US" sz="900" kern="0">
                          <a:effectLst/>
                        </a:rPr>
                        <a:t>RAPT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ctr">
                        <a:spcAft>
                          <a:spcPts val="0"/>
                        </a:spcAft>
                      </a:pPr>
                      <a:r>
                        <a:rPr lang="zh-CN" sz="900" kern="0">
                          <a:effectLst/>
                        </a:rPr>
                        <a:t>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en-US" sz="900" kern="0">
                          <a:effectLst/>
                        </a:rPr>
                        <a:t>University of Edinburgh</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tc>
                  <a:txBody>
                    <a:bodyPr/>
                    <a:lstStyle/>
                    <a:p>
                      <a:pPr algn="l">
                        <a:spcAft>
                          <a:spcPts val="0"/>
                        </a:spcAft>
                      </a:pPr>
                      <a:r>
                        <a:rPr lang="zh-CN" sz="900" kern="0" dirty="0">
                          <a:effectLst/>
                        </a:rPr>
                        <a:t>类似</a:t>
                      </a:r>
                      <a:r>
                        <a:rPr lang="en-US" sz="900" kern="0" dirty="0">
                          <a:effectLst/>
                        </a:rPr>
                        <a:t>NC</a:t>
                      </a:r>
                      <a:r>
                        <a:rPr lang="zh-CN" sz="900" kern="0" dirty="0">
                          <a:effectLst/>
                        </a:rPr>
                        <a:t>语言</a:t>
                      </a:r>
                      <a:r>
                        <a:rPr lang="en-US" sz="900" kern="0" dirty="0">
                          <a:effectLst/>
                        </a:rPr>
                        <a:t>APT</a:t>
                      </a:r>
                      <a:r>
                        <a:rPr lang="zh-CN" sz="900" kern="0" dirty="0">
                          <a:effectLst/>
                        </a:rPr>
                        <a:t>（用</a:t>
                      </a:r>
                      <a:r>
                        <a:rPr lang="en-US" sz="900" kern="0" dirty="0">
                          <a:effectLst/>
                        </a:rPr>
                        <a:t>DEC20</a:t>
                      </a:r>
                      <a:r>
                        <a:rPr lang="zh-CN" sz="900" kern="0" dirty="0">
                          <a:effectLst/>
                        </a:rPr>
                        <a:t>，</a:t>
                      </a:r>
                      <a:r>
                        <a:rPr lang="en-US" sz="900" kern="0" dirty="0">
                          <a:effectLst/>
                        </a:rPr>
                        <a:t>LSI11/2</a:t>
                      </a:r>
                      <a:r>
                        <a:rPr lang="zh-CN" sz="900" kern="0" dirty="0">
                          <a:effectLst/>
                        </a:rPr>
                        <a:t>微型机）</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59862127"/>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3134849869"/>
              </p:ext>
            </p:extLst>
          </p:nvPr>
        </p:nvGraphicFramePr>
        <p:xfrm>
          <a:off x="4018981" y="1635646"/>
          <a:ext cx="5111827" cy="3281010"/>
        </p:xfrm>
        <a:graphic>
          <a:graphicData uri="http://schemas.openxmlformats.org/drawingml/2006/table">
            <a:tbl>
              <a:tblPr firstRow="1" firstCol="1" bandRow="1">
                <a:tableStyleId>{5C22544A-7EE6-4342-B048-85BDC9FD1C3A}</a:tableStyleId>
              </a:tblPr>
              <a:tblGrid>
                <a:gridCol w="556616">
                  <a:extLst>
                    <a:ext uri="{9D8B030D-6E8A-4147-A177-3AD203B41FA5}">
                      <a16:colId xmlns:a16="http://schemas.microsoft.com/office/drawing/2014/main" val="3090346097"/>
                    </a:ext>
                  </a:extLst>
                </a:gridCol>
                <a:gridCol w="556616">
                  <a:extLst>
                    <a:ext uri="{9D8B030D-6E8A-4147-A177-3AD203B41FA5}">
                      <a16:colId xmlns:a16="http://schemas.microsoft.com/office/drawing/2014/main" val="3849984455"/>
                    </a:ext>
                  </a:extLst>
                </a:gridCol>
                <a:gridCol w="460873">
                  <a:extLst>
                    <a:ext uri="{9D8B030D-6E8A-4147-A177-3AD203B41FA5}">
                      <a16:colId xmlns:a16="http://schemas.microsoft.com/office/drawing/2014/main" val="780369045"/>
                    </a:ext>
                  </a:extLst>
                </a:gridCol>
                <a:gridCol w="1395702">
                  <a:extLst>
                    <a:ext uri="{9D8B030D-6E8A-4147-A177-3AD203B41FA5}">
                      <a16:colId xmlns:a16="http://schemas.microsoft.com/office/drawing/2014/main" val="955611693"/>
                    </a:ext>
                  </a:extLst>
                </a:gridCol>
                <a:gridCol w="2142020">
                  <a:extLst>
                    <a:ext uri="{9D8B030D-6E8A-4147-A177-3AD203B41FA5}">
                      <a16:colId xmlns:a16="http://schemas.microsoft.com/office/drawing/2014/main" val="3044135474"/>
                    </a:ext>
                  </a:extLst>
                </a:gridCol>
              </a:tblGrid>
              <a:tr h="403123">
                <a:tc>
                  <a:txBody>
                    <a:bodyPr/>
                    <a:lstStyle/>
                    <a:p>
                      <a:pPr algn="ctr">
                        <a:spcAft>
                          <a:spcPts val="0"/>
                        </a:spcAft>
                      </a:pPr>
                      <a:r>
                        <a:rPr lang="en-US" sz="900" kern="0">
                          <a:solidFill>
                            <a:schemeClr val="dk1"/>
                          </a:solidFill>
                          <a:effectLst/>
                          <a:latin typeface="+mn-lt"/>
                          <a:ea typeface="+mn-ea"/>
                          <a:cs typeface="+mn-cs"/>
                        </a:rPr>
                        <a:t>13</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LM</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Artificial Intell Inelligence Group of IMAG</a:t>
                      </a:r>
                      <a:endParaRPr lang="zh-CN" sz="900" kern="0">
                        <a:solidFill>
                          <a:schemeClr val="dk1"/>
                        </a:solidFill>
                        <a:effectLst/>
                        <a:latin typeface="+mn-lt"/>
                        <a:ea typeface="+mn-ea"/>
                        <a:cs typeface="+mn-cs"/>
                      </a:endParaRP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类似</a:t>
                      </a:r>
                      <a:r>
                        <a:rPr lang="en-US" sz="900" kern="0">
                          <a:solidFill>
                            <a:schemeClr val="dk1"/>
                          </a:solidFill>
                          <a:effectLst/>
                          <a:latin typeface="+mn-lt"/>
                          <a:ea typeface="+mn-ea"/>
                          <a:cs typeface="+mn-cs"/>
                        </a:rPr>
                        <a:t>PASCAL</a:t>
                      </a:r>
                      <a:r>
                        <a:rPr lang="zh-CN" sz="900" kern="0">
                          <a:solidFill>
                            <a:schemeClr val="dk1"/>
                          </a:solidFill>
                          <a:effectLst/>
                          <a:latin typeface="+mn-lt"/>
                          <a:ea typeface="+mn-ea"/>
                          <a:cs typeface="+mn-cs"/>
                        </a:rPr>
                        <a:t>，数据类似</a:t>
                      </a:r>
                      <a:r>
                        <a:rPr lang="en-US" sz="900" kern="0">
                          <a:solidFill>
                            <a:schemeClr val="dk1"/>
                          </a:solidFill>
                          <a:effectLst/>
                          <a:latin typeface="+mn-lt"/>
                          <a:ea typeface="+mn-ea"/>
                          <a:cs typeface="+mn-cs"/>
                        </a:rPr>
                        <a:t>AL</a:t>
                      </a:r>
                      <a:r>
                        <a:rPr lang="zh-CN" sz="900" kern="0">
                          <a:solidFill>
                            <a:schemeClr val="dk1"/>
                          </a:solidFill>
                          <a:effectLst/>
                          <a:latin typeface="+mn-lt"/>
                          <a:ea typeface="+mn-ea"/>
                          <a:cs typeface="+mn-cs"/>
                        </a:rPr>
                        <a:t>。用于装配机器人（用</a:t>
                      </a:r>
                      <a:r>
                        <a:rPr lang="en-US" sz="900" kern="0">
                          <a:solidFill>
                            <a:schemeClr val="dk1"/>
                          </a:solidFill>
                          <a:effectLst/>
                          <a:latin typeface="+mn-lt"/>
                          <a:ea typeface="+mn-ea"/>
                          <a:cs typeface="+mn-cs"/>
                        </a:rPr>
                        <a:t>LS11/3</a:t>
                      </a:r>
                      <a:r>
                        <a:rPr lang="zh-CN" sz="900" kern="0">
                          <a:solidFill>
                            <a:schemeClr val="dk1"/>
                          </a:solidFill>
                          <a:effectLst/>
                          <a:latin typeface="+mn-lt"/>
                          <a:ea typeface="+mn-ea"/>
                          <a:cs typeface="+mn-cs"/>
                        </a:rPr>
                        <a:t>微型机）</a:t>
                      </a:r>
                    </a:p>
                  </a:txBody>
                  <a:tcPr marL="67187" marR="67187" marT="0" marB="0" anchor="ctr"/>
                </a:tc>
                <a:extLst>
                  <a:ext uri="{0D108BD9-81ED-4DB2-BD59-A6C34878D82A}">
                    <a16:rowId xmlns:a16="http://schemas.microsoft.com/office/drawing/2014/main" val="950072750"/>
                  </a:ext>
                </a:extLst>
              </a:tr>
              <a:tr h="268749">
                <a:tc>
                  <a:txBody>
                    <a:bodyPr/>
                    <a:lstStyle/>
                    <a:p>
                      <a:pPr algn="ctr">
                        <a:spcAft>
                          <a:spcPts val="0"/>
                        </a:spcAft>
                      </a:pPr>
                      <a:r>
                        <a:rPr lang="en-US" sz="900" kern="0">
                          <a:solidFill>
                            <a:schemeClr val="dk1"/>
                          </a:solidFill>
                          <a:effectLst/>
                          <a:latin typeface="+mn-lt"/>
                          <a:ea typeface="+mn-ea"/>
                          <a:cs typeface="+mn-cs"/>
                        </a:rPr>
                        <a:t>14</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ROBEX</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Machine Tool Laboratory TH Archen</a:t>
                      </a:r>
                      <a:endParaRPr lang="zh-CN" sz="900" kern="0">
                        <a:solidFill>
                          <a:schemeClr val="dk1"/>
                        </a:solidFill>
                        <a:effectLst/>
                        <a:latin typeface="+mn-lt"/>
                        <a:ea typeface="+mn-ea"/>
                        <a:cs typeface="+mn-cs"/>
                      </a:endParaRP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具有与高级</a:t>
                      </a:r>
                      <a:r>
                        <a:rPr lang="en-US" sz="900" kern="0">
                          <a:solidFill>
                            <a:schemeClr val="dk1"/>
                          </a:solidFill>
                          <a:effectLst/>
                          <a:latin typeface="+mn-lt"/>
                          <a:ea typeface="+mn-ea"/>
                          <a:cs typeface="+mn-cs"/>
                        </a:rPr>
                        <a:t>NC</a:t>
                      </a:r>
                      <a:r>
                        <a:rPr lang="zh-CN" sz="900" kern="0">
                          <a:solidFill>
                            <a:schemeClr val="dk1"/>
                          </a:solidFill>
                          <a:effectLst/>
                          <a:latin typeface="+mn-lt"/>
                          <a:ea typeface="+mn-ea"/>
                          <a:cs typeface="+mn-cs"/>
                        </a:rPr>
                        <a:t>语言</a:t>
                      </a:r>
                      <a:r>
                        <a:rPr lang="en-US" sz="900" kern="0">
                          <a:solidFill>
                            <a:schemeClr val="dk1"/>
                          </a:solidFill>
                          <a:effectLst/>
                          <a:latin typeface="+mn-lt"/>
                          <a:ea typeface="+mn-ea"/>
                          <a:cs typeface="+mn-cs"/>
                        </a:rPr>
                        <a:t>EXAPT</a:t>
                      </a:r>
                      <a:r>
                        <a:rPr lang="zh-CN" sz="900" kern="0">
                          <a:solidFill>
                            <a:schemeClr val="dk1"/>
                          </a:solidFill>
                          <a:effectLst/>
                          <a:latin typeface="+mn-lt"/>
                          <a:ea typeface="+mn-ea"/>
                          <a:cs typeface="+mn-cs"/>
                        </a:rPr>
                        <a:t>相似结构的脱机编程语言</a:t>
                      </a:r>
                    </a:p>
                  </a:txBody>
                  <a:tcPr marL="67187" marR="67187" marT="0" marB="0" anchor="ctr"/>
                </a:tc>
                <a:extLst>
                  <a:ext uri="{0D108BD9-81ED-4DB2-BD59-A6C34878D82A}">
                    <a16:rowId xmlns:a16="http://schemas.microsoft.com/office/drawing/2014/main" val="2851314510"/>
                  </a:ext>
                </a:extLst>
              </a:tr>
              <a:tr h="186631">
                <a:tc>
                  <a:txBody>
                    <a:bodyPr/>
                    <a:lstStyle/>
                    <a:p>
                      <a:pPr algn="ctr">
                        <a:spcAft>
                          <a:spcPts val="0"/>
                        </a:spcAft>
                      </a:pPr>
                      <a:r>
                        <a:rPr lang="en-US" sz="900" kern="0">
                          <a:solidFill>
                            <a:schemeClr val="dk1"/>
                          </a:solidFill>
                          <a:effectLst/>
                          <a:latin typeface="+mn-lt"/>
                          <a:ea typeface="+mn-ea"/>
                          <a:cs typeface="+mn-cs"/>
                        </a:rPr>
                        <a:t>15</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SIGLA</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Olivetti</a:t>
                      </a:r>
                      <a:endParaRPr lang="zh-CN" sz="900" kern="0">
                        <a:solidFill>
                          <a:schemeClr val="dk1"/>
                        </a:solidFill>
                        <a:effectLst/>
                        <a:latin typeface="+mn-lt"/>
                        <a:ea typeface="+mn-ea"/>
                        <a:cs typeface="+mn-cs"/>
                      </a:endParaRP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SIGMA</a:t>
                      </a:r>
                      <a:r>
                        <a:rPr lang="zh-CN" sz="900" kern="0">
                          <a:solidFill>
                            <a:schemeClr val="dk1"/>
                          </a:solidFill>
                          <a:effectLst/>
                          <a:latin typeface="+mn-lt"/>
                          <a:ea typeface="+mn-ea"/>
                          <a:cs typeface="+mn-cs"/>
                        </a:rPr>
                        <a:t>机器人语言</a:t>
                      </a:r>
                    </a:p>
                  </a:txBody>
                  <a:tcPr marL="67187" marR="67187" marT="0" marB="0" anchor="ctr"/>
                </a:tc>
                <a:extLst>
                  <a:ext uri="{0D108BD9-81ED-4DB2-BD59-A6C34878D82A}">
                    <a16:rowId xmlns:a16="http://schemas.microsoft.com/office/drawing/2014/main" val="4271415712"/>
                  </a:ext>
                </a:extLst>
              </a:tr>
              <a:tr h="268749">
                <a:tc>
                  <a:txBody>
                    <a:bodyPr/>
                    <a:lstStyle/>
                    <a:p>
                      <a:pPr algn="ctr">
                        <a:spcAft>
                          <a:spcPts val="0"/>
                        </a:spcAft>
                      </a:pPr>
                      <a:r>
                        <a:rPr lang="en-US" sz="900" kern="0">
                          <a:solidFill>
                            <a:schemeClr val="dk1"/>
                          </a:solidFill>
                          <a:effectLst/>
                          <a:latin typeface="+mn-lt"/>
                          <a:ea typeface="+mn-ea"/>
                          <a:cs typeface="+mn-cs"/>
                        </a:rPr>
                        <a:t>16</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MAL</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en-US" sz="900" kern="0" dirty="0">
                          <a:solidFill>
                            <a:schemeClr val="dk1"/>
                          </a:solidFill>
                          <a:effectLst/>
                          <a:latin typeface="+mn-lt"/>
                          <a:ea typeface="+mn-ea"/>
                          <a:cs typeface="+mn-cs"/>
                        </a:rPr>
                        <a:t>Milan Polytechnic</a:t>
                      </a:r>
                      <a:endParaRPr lang="zh-CN" sz="900" kern="0" dirty="0">
                        <a:solidFill>
                          <a:schemeClr val="dk1"/>
                        </a:solidFill>
                        <a:effectLst/>
                        <a:latin typeface="+mn-lt"/>
                        <a:ea typeface="+mn-ea"/>
                        <a:cs typeface="+mn-cs"/>
                      </a:endParaRP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两臂机器人装配语言，其特征是方便、易于编程</a:t>
                      </a:r>
                    </a:p>
                  </a:txBody>
                  <a:tcPr marL="67187" marR="67187" marT="0" marB="0" anchor="ctr"/>
                </a:tc>
                <a:extLst>
                  <a:ext uri="{0D108BD9-81ED-4DB2-BD59-A6C34878D82A}">
                    <a16:rowId xmlns:a16="http://schemas.microsoft.com/office/drawing/2014/main" val="48124216"/>
                  </a:ext>
                </a:extLst>
              </a:tr>
              <a:tr h="186631">
                <a:tc>
                  <a:txBody>
                    <a:bodyPr/>
                    <a:lstStyle/>
                    <a:p>
                      <a:pPr algn="ctr">
                        <a:spcAft>
                          <a:spcPts val="0"/>
                        </a:spcAft>
                      </a:pPr>
                      <a:r>
                        <a:rPr lang="en-US" sz="900" kern="0">
                          <a:solidFill>
                            <a:schemeClr val="dk1"/>
                          </a:solidFill>
                          <a:effectLst/>
                          <a:latin typeface="+mn-lt"/>
                          <a:ea typeface="+mn-ea"/>
                          <a:cs typeface="+mn-cs"/>
                        </a:rPr>
                        <a:t>17</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SERF</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三协精机</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SKILAM</a:t>
                      </a:r>
                      <a:r>
                        <a:rPr lang="zh-CN" sz="900" kern="0">
                          <a:solidFill>
                            <a:schemeClr val="dk1"/>
                          </a:solidFill>
                          <a:effectLst/>
                          <a:latin typeface="+mn-lt"/>
                          <a:ea typeface="+mn-ea"/>
                          <a:cs typeface="+mn-cs"/>
                        </a:rPr>
                        <a:t>装配机器人（用</a:t>
                      </a:r>
                      <a:r>
                        <a:rPr lang="en-US" sz="900" kern="0">
                          <a:solidFill>
                            <a:schemeClr val="dk1"/>
                          </a:solidFill>
                          <a:effectLst/>
                          <a:latin typeface="+mn-lt"/>
                          <a:ea typeface="+mn-ea"/>
                          <a:cs typeface="+mn-cs"/>
                        </a:rPr>
                        <a:t>Z-80</a:t>
                      </a:r>
                      <a:r>
                        <a:rPr lang="zh-CN" sz="900" kern="0">
                          <a:solidFill>
                            <a:schemeClr val="dk1"/>
                          </a:solidFill>
                          <a:effectLst/>
                          <a:latin typeface="+mn-lt"/>
                          <a:ea typeface="+mn-ea"/>
                          <a:cs typeface="+mn-cs"/>
                        </a:rPr>
                        <a:t>微型机）</a:t>
                      </a:r>
                    </a:p>
                  </a:txBody>
                  <a:tcPr marL="67187" marR="67187" marT="0" marB="0" anchor="ctr"/>
                </a:tc>
                <a:extLst>
                  <a:ext uri="{0D108BD9-81ED-4DB2-BD59-A6C34878D82A}">
                    <a16:rowId xmlns:a16="http://schemas.microsoft.com/office/drawing/2014/main" val="3587446375"/>
                  </a:ext>
                </a:extLst>
              </a:tr>
              <a:tr h="186631">
                <a:tc>
                  <a:txBody>
                    <a:bodyPr/>
                    <a:lstStyle/>
                    <a:p>
                      <a:pPr algn="ctr">
                        <a:spcAft>
                          <a:spcPts val="0"/>
                        </a:spcAft>
                      </a:pPr>
                      <a:r>
                        <a:rPr lang="en-US" sz="900" kern="0">
                          <a:solidFill>
                            <a:schemeClr val="dk1"/>
                          </a:solidFill>
                          <a:effectLst/>
                          <a:latin typeface="+mn-lt"/>
                          <a:ea typeface="+mn-ea"/>
                          <a:cs typeface="+mn-cs"/>
                        </a:rPr>
                        <a:t>18</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PLAW</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小松制作所</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RW</a:t>
                      </a:r>
                      <a:r>
                        <a:rPr lang="zh-CN" sz="900" kern="0">
                          <a:solidFill>
                            <a:schemeClr val="dk1"/>
                          </a:solidFill>
                          <a:effectLst/>
                          <a:latin typeface="+mn-lt"/>
                          <a:ea typeface="+mn-ea"/>
                          <a:cs typeface="+mn-cs"/>
                        </a:rPr>
                        <a:t>系列弧焊机器人</a:t>
                      </a:r>
                    </a:p>
                  </a:txBody>
                  <a:tcPr marL="67187" marR="67187" marT="0" marB="0" anchor="ctr"/>
                </a:tc>
                <a:extLst>
                  <a:ext uri="{0D108BD9-81ED-4DB2-BD59-A6C34878D82A}">
                    <a16:rowId xmlns:a16="http://schemas.microsoft.com/office/drawing/2014/main" val="2886331210"/>
                  </a:ext>
                </a:extLst>
              </a:tr>
              <a:tr h="186631">
                <a:tc>
                  <a:txBody>
                    <a:bodyPr/>
                    <a:lstStyle/>
                    <a:p>
                      <a:pPr algn="ctr">
                        <a:spcAft>
                          <a:spcPts val="0"/>
                        </a:spcAft>
                      </a:pPr>
                      <a:r>
                        <a:rPr lang="en-US" sz="900" kern="0">
                          <a:solidFill>
                            <a:schemeClr val="dk1"/>
                          </a:solidFill>
                          <a:effectLst/>
                          <a:latin typeface="+mn-lt"/>
                          <a:ea typeface="+mn-ea"/>
                          <a:cs typeface="+mn-cs"/>
                        </a:rPr>
                        <a:t>19</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IML</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a:t>
                      </a: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九州大学</a:t>
                      </a:r>
                    </a:p>
                  </a:txBody>
                  <a:tcPr marL="67187" marR="67187" marT="0" marB="0" anchor="ctr"/>
                </a:tc>
                <a:tc>
                  <a:txBody>
                    <a:bodyPr/>
                    <a:lstStyle/>
                    <a:p>
                      <a:pPr algn="l">
                        <a:spcAft>
                          <a:spcPts val="0"/>
                        </a:spcAft>
                      </a:pPr>
                      <a:r>
                        <a:rPr lang="zh-CN" sz="900" kern="0">
                          <a:solidFill>
                            <a:schemeClr val="dk1"/>
                          </a:solidFill>
                          <a:effectLst/>
                          <a:latin typeface="+mn-lt"/>
                          <a:ea typeface="+mn-ea"/>
                          <a:cs typeface="+mn-cs"/>
                        </a:rPr>
                        <a:t>动作级机器人语言</a:t>
                      </a:r>
                    </a:p>
                  </a:txBody>
                  <a:tcPr marL="67187" marR="67187" marT="0" marB="0" anchor="ctr"/>
                </a:tc>
                <a:extLst>
                  <a:ext uri="{0D108BD9-81ED-4DB2-BD59-A6C34878D82A}">
                    <a16:rowId xmlns:a16="http://schemas.microsoft.com/office/drawing/2014/main" val="3919187528"/>
                  </a:ext>
                </a:extLst>
              </a:tr>
              <a:tr h="261284">
                <a:tc rowSpan="2">
                  <a:txBody>
                    <a:bodyPr/>
                    <a:lstStyle/>
                    <a:p>
                      <a:pPr algn="ctr">
                        <a:spcAft>
                          <a:spcPts val="0"/>
                        </a:spcAft>
                      </a:pPr>
                      <a:r>
                        <a:rPr lang="en-US" sz="900" kern="0">
                          <a:solidFill>
                            <a:schemeClr val="dk1"/>
                          </a:solidFill>
                          <a:effectLst/>
                          <a:latin typeface="+mn-lt"/>
                          <a:ea typeface="+mn-ea"/>
                          <a:cs typeface="+mn-cs"/>
                        </a:rPr>
                        <a:t>20</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KAREL</a:t>
                      </a:r>
                      <a:endParaRPr lang="zh-CN" sz="900" kern="0">
                        <a:solidFill>
                          <a:schemeClr val="dk1"/>
                        </a:solidFill>
                        <a:effectLst/>
                        <a:latin typeface="+mn-lt"/>
                        <a:ea typeface="+mn-ea"/>
                        <a:cs typeface="+mn-cs"/>
                      </a:endParaRPr>
                    </a:p>
                  </a:txBody>
                  <a:tcPr marL="67187" marR="67187" marT="0" marB="0" anchor="ctr"/>
                </a:tc>
                <a:tc rowSpan="2">
                  <a:txBody>
                    <a:bodyPr/>
                    <a:lstStyle/>
                    <a:p>
                      <a:pPr algn="ctr">
                        <a:spcAft>
                          <a:spcPts val="0"/>
                        </a:spcAft>
                      </a:pPr>
                      <a:r>
                        <a:rPr lang="zh-CN" sz="900" kern="0">
                          <a:solidFill>
                            <a:schemeClr val="dk1"/>
                          </a:solidFill>
                          <a:effectLst/>
                          <a:latin typeface="+mn-lt"/>
                          <a:ea typeface="+mn-ea"/>
                          <a:cs typeface="+mn-cs"/>
                        </a:rPr>
                        <a:t>日本</a:t>
                      </a:r>
                    </a:p>
                  </a:txBody>
                  <a:tcPr marL="67187" marR="67187" marT="0" marB="0" anchor="ctr"/>
                </a:tc>
                <a:tc rowSpan="2">
                  <a:txBody>
                    <a:bodyPr/>
                    <a:lstStyle/>
                    <a:p>
                      <a:pPr algn="l">
                        <a:spcAft>
                          <a:spcPts val="0"/>
                        </a:spcAft>
                      </a:pPr>
                      <a:r>
                        <a:rPr lang="en-US" sz="900" kern="0">
                          <a:solidFill>
                            <a:schemeClr val="dk1"/>
                          </a:solidFill>
                          <a:effectLst/>
                          <a:latin typeface="+mn-lt"/>
                          <a:ea typeface="+mn-ea"/>
                          <a:cs typeface="+mn-cs"/>
                        </a:rPr>
                        <a:t>FANUC</a:t>
                      </a:r>
                      <a:endParaRPr lang="zh-CN" sz="900" kern="0">
                        <a:solidFill>
                          <a:schemeClr val="dk1"/>
                        </a:solidFill>
                        <a:effectLst/>
                        <a:latin typeface="+mn-lt"/>
                        <a:ea typeface="+mn-ea"/>
                        <a:cs typeface="+mn-cs"/>
                      </a:endParaRPr>
                    </a:p>
                  </a:txBody>
                  <a:tcPr marL="67187" marR="67187" marT="0" marB="0" anchor="ctr"/>
                </a:tc>
                <a:tc rowSpan="2">
                  <a:txBody>
                    <a:bodyPr/>
                    <a:lstStyle/>
                    <a:p>
                      <a:pPr algn="l">
                        <a:spcAft>
                          <a:spcPts val="0"/>
                        </a:spcAft>
                      </a:pPr>
                      <a:r>
                        <a:rPr lang="zh-CN" sz="900" kern="0">
                          <a:solidFill>
                            <a:schemeClr val="dk1"/>
                          </a:solidFill>
                          <a:effectLst/>
                          <a:latin typeface="+mn-lt"/>
                          <a:ea typeface="+mn-ea"/>
                          <a:cs typeface="+mn-cs"/>
                        </a:rPr>
                        <a:t>发那科研发的用于点焊、涂胶、搬用等工业用途的编程语言</a:t>
                      </a:r>
                    </a:p>
                  </a:txBody>
                  <a:tcPr marL="67187" marR="67187" marT="0" marB="0" anchor="ctr"/>
                </a:tc>
                <a:extLst>
                  <a:ext uri="{0D108BD9-81ED-4DB2-BD59-A6C34878D82A}">
                    <a16:rowId xmlns:a16="http://schemas.microsoft.com/office/drawing/2014/main" val="680437160"/>
                  </a:ext>
                </a:extLst>
              </a:tr>
              <a:tr h="268749">
                <a:tc vMerge="1">
                  <a:txBody>
                    <a:bodyPr/>
                    <a:lstStyle/>
                    <a:p>
                      <a:endParaRPr lang="zh-CN" altLang="en-US"/>
                    </a:p>
                  </a:txBody>
                  <a:tcPr/>
                </a:tc>
                <a:tc>
                  <a:txBody>
                    <a:bodyPr/>
                    <a:lstStyle/>
                    <a:p>
                      <a:pPr algn="ctr">
                        <a:spcAft>
                          <a:spcPts val="0"/>
                        </a:spcAft>
                      </a:pPr>
                      <a:r>
                        <a:rPr lang="en-US" sz="900" kern="0">
                          <a:solidFill>
                            <a:schemeClr val="dk1"/>
                          </a:solidFill>
                          <a:effectLst/>
                          <a:latin typeface="+mn-lt"/>
                          <a:ea typeface="+mn-ea"/>
                          <a:cs typeface="+mn-cs"/>
                        </a:rPr>
                        <a:t>Robot studio</a:t>
                      </a:r>
                      <a:endParaRPr lang="zh-CN" sz="900" kern="0">
                        <a:solidFill>
                          <a:schemeClr val="dk1"/>
                        </a:solidFill>
                        <a:effectLst/>
                        <a:latin typeface="+mn-lt"/>
                        <a:ea typeface="+mn-ea"/>
                        <a:cs typeface="+mn-cs"/>
                      </a:endParaRPr>
                    </a:p>
                  </a:txBody>
                  <a:tcPr marL="67187" marR="6718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2248281693"/>
                  </a:ext>
                </a:extLst>
              </a:tr>
              <a:tr h="268749">
                <a:tc>
                  <a:txBody>
                    <a:bodyPr/>
                    <a:lstStyle/>
                    <a:p>
                      <a:pPr algn="ctr">
                        <a:spcAft>
                          <a:spcPts val="0"/>
                        </a:spcAft>
                      </a:pPr>
                      <a:r>
                        <a:rPr lang="en-US" sz="900" kern="0">
                          <a:solidFill>
                            <a:schemeClr val="dk1"/>
                          </a:solidFill>
                          <a:effectLst/>
                          <a:latin typeface="+mn-lt"/>
                          <a:ea typeface="+mn-ea"/>
                          <a:cs typeface="+mn-cs"/>
                        </a:rPr>
                        <a:t>21</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RAPID</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瑞典</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ABB</a:t>
                      </a:r>
                      <a:endParaRPr lang="zh-CN" sz="900" kern="0">
                        <a:solidFill>
                          <a:schemeClr val="dk1"/>
                        </a:solidFill>
                        <a:effectLst/>
                        <a:latin typeface="+mn-lt"/>
                        <a:ea typeface="+mn-ea"/>
                        <a:cs typeface="+mn-cs"/>
                      </a:endParaRP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ABB</a:t>
                      </a:r>
                      <a:r>
                        <a:rPr lang="zh-CN" sz="900" kern="0">
                          <a:solidFill>
                            <a:schemeClr val="dk1"/>
                          </a:solidFill>
                          <a:effectLst/>
                          <a:latin typeface="+mn-lt"/>
                          <a:ea typeface="+mn-ea"/>
                          <a:cs typeface="+mn-cs"/>
                        </a:rPr>
                        <a:t>公司用于</a:t>
                      </a:r>
                      <a:r>
                        <a:rPr lang="en-US" sz="900" kern="0">
                          <a:solidFill>
                            <a:schemeClr val="dk1"/>
                          </a:solidFill>
                          <a:effectLst/>
                          <a:latin typeface="+mn-lt"/>
                          <a:ea typeface="+mn-ea"/>
                          <a:cs typeface="+mn-cs"/>
                        </a:rPr>
                        <a:t>ICR5</a:t>
                      </a:r>
                      <a:r>
                        <a:rPr lang="zh-CN" sz="900" kern="0">
                          <a:solidFill>
                            <a:schemeClr val="dk1"/>
                          </a:solidFill>
                          <a:effectLst/>
                          <a:latin typeface="+mn-lt"/>
                          <a:ea typeface="+mn-ea"/>
                          <a:cs typeface="+mn-cs"/>
                        </a:rPr>
                        <a:t>控制器示教器的编程语言</a:t>
                      </a:r>
                    </a:p>
                  </a:txBody>
                  <a:tcPr marL="67187" marR="67187" marT="0" marB="0" anchor="ctr"/>
                </a:tc>
                <a:extLst>
                  <a:ext uri="{0D108BD9-81ED-4DB2-BD59-A6C34878D82A}">
                    <a16:rowId xmlns:a16="http://schemas.microsoft.com/office/drawing/2014/main" val="3265429600"/>
                  </a:ext>
                </a:extLst>
              </a:tr>
              <a:tr h="403123">
                <a:tc>
                  <a:txBody>
                    <a:bodyPr/>
                    <a:lstStyle/>
                    <a:p>
                      <a:pPr algn="ctr">
                        <a:spcAft>
                          <a:spcPts val="0"/>
                        </a:spcAft>
                      </a:pPr>
                      <a:r>
                        <a:rPr lang="en-US" sz="900" kern="0">
                          <a:solidFill>
                            <a:schemeClr val="dk1"/>
                          </a:solidFill>
                          <a:effectLst/>
                          <a:latin typeface="+mn-lt"/>
                          <a:ea typeface="+mn-ea"/>
                          <a:cs typeface="+mn-cs"/>
                        </a:rPr>
                        <a:t>22</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Robotics Studio</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美国</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Microsoft</a:t>
                      </a:r>
                      <a:endParaRPr lang="zh-CN" sz="900" kern="0">
                        <a:solidFill>
                          <a:schemeClr val="dk1"/>
                        </a:solidFill>
                        <a:effectLst/>
                        <a:latin typeface="+mn-lt"/>
                        <a:ea typeface="+mn-ea"/>
                        <a:cs typeface="+mn-cs"/>
                      </a:endParaRPr>
                    </a:p>
                  </a:txBody>
                  <a:tcPr marL="67187" marR="67187" marT="0" marB="0" anchor="ctr"/>
                </a:tc>
                <a:tc>
                  <a:txBody>
                    <a:bodyPr/>
                    <a:lstStyle/>
                    <a:p>
                      <a:pPr algn="l">
                        <a:spcAft>
                          <a:spcPts val="0"/>
                        </a:spcAft>
                      </a:pPr>
                      <a:r>
                        <a:rPr lang="zh-CN" sz="900" kern="0" dirty="0">
                          <a:solidFill>
                            <a:schemeClr val="dk1"/>
                          </a:solidFill>
                          <a:effectLst/>
                          <a:latin typeface="+mn-lt"/>
                          <a:ea typeface="+mn-ea"/>
                          <a:cs typeface="+mn-cs"/>
                        </a:rPr>
                        <a:t>微软公司开发的多语言、可视化编程与仿真语言</a:t>
                      </a:r>
                    </a:p>
                  </a:txBody>
                  <a:tcPr marL="67187" marR="67187" marT="0" marB="0" anchor="ctr"/>
                </a:tc>
                <a:extLst>
                  <a:ext uri="{0D108BD9-81ED-4DB2-BD59-A6C34878D82A}">
                    <a16:rowId xmlns:a16="http://schemas.microsoft.com/office/drawing/2014/main" val="3153160391"/>
                  </a:ext>
                </a:extLst>
              </a:tr>
              <a:tr h="186631">
                <a:tc>
                  <a:txBody>
                    <a:bodyPr/>
                    <a:lstStyle/>
                    <a:p>
                      <a:pPr algn="ctr">
                        <a:spcAft>
                          <a:spcPts val="0"/>
                        </a:spcAft>
                      </a:pPr>
                      <a:r>
                        <a:rPr lang="en-US" sz="900" kern="0">
                          <a:solidFill>
                            <a:schemeClr val="dk1"/>
                          </a:solidFill>
                          <a:effectLst/>
                          <a:latin typeface="+mn-lt"/>
                          <a:ea typeface="+mn-ea"/>
                          <a:cs typeface="+mn-cs"/>
                        </a:rPr>
                        <a:t>23</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a:solidFill>
                            <a:schemeClr val="dk1"/>
                          </a:solidFill>
                          <a:effectLst/>
                          <a:latin typeface="+mn-lt"/>
                          <a:ea typeface="+mn-ea"/>
                          <a:cs typeface="+mn-cs"/>
                        </a:rPr>
                        <a:t>INFORM</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日本</a:t>
                      </a:r>
                    </a:p>
                  </a:txBody>
                  <a:tcPr marL="67187" marR="67187" marT="0" marB="0" anchor="ctr"/>
                </a:tc>
                <a:tc>
                  <a:txBody>
                    <a:bodyPr/>
                    <a:lstStyle/>
                    <a:p>
                      <a:pPr algn="l">
                        <a:spcAft>
                          <a:spcPts val="0"/>
                        </a:spcAft>
                      </a:pPr>
                      <a:r>
                        <a:rPr lang="en-US" sz="900" kern="0">
                          <a:solidFill>
                            <a:schemeClr val="dk1"/>
                          </a:solidFill>
                          <a:effectLst/>
                          <a:latin typeface="+mn-lt"/>
                          <a:ea typeface="+mn-ea"/>
                          <a:cs typeface="+mn-cs"/>
                        </a:rPr>
                        <a:t>YASKAWA</a:t>
                      </a:r>
                      <a:endParaRPr lang="zh-CN" sz="900" kern="0">
                        <a:solidFill>
                          <a:schemeClr val="dk1"/>
                        </a:solidFill>
                        <a:effectLst/>
                        <a:latin typeface="+mn-lt"/>
                        <a:ea typeface="+mn-ea"/>
                        <a:cs typeface="+mn-cs"/>
                      </a:endParaRPr>
                    </a:p>
                  </a:txBody>
                  <a:tcPr marL="67187" marR="67187" marT="0" marB="0" anchor="ctr"/>
                </a:tc>
                <a:tc>
                  <a:txBody>
                    <a:bodyPr/>
                    <a:lstStyle/>
                    <a:p>
                      <a:pPr algn="l">
                        <a:spcAft>
                          <a:spcPts val="0"/>
                        </a:spcAft>
                      </a:pPr>
                      <a:r>
                        <a:rPr lang="zh-CN" sz="900" kern="0" dirty="0">
                          <a:solidFill>
                            <a:schemeClr val="dk1"/>
                          </a:solidFill>
                          <a:effectLst/>
                          <a:latin typeface="+mn-lt"/>
                          <a:ea typeface="+mn-ea"/>
                          <a:cs typeface="+mn-cs"/>
                        </a:rPr>
                        <a:t>　</a:t>
                      </a:r>
                      <a:r>
                        <a:rPr lang="zh-CN" altLang="zh-CN" sz="900" kern="0" dirty="0" smtClean="0">
                          <a:solidFill>
                            <a:schemeClr val="dk1"/>
                          </a:solidFill>
                          <a:effectLst/>
                          <a:latin typeface="+mn-lt"/>
                          <a:ea typeface="+mn-ea"/>
                          <a:cs typeface="+mn-cs"/>
                        </a:rPr>
                        <a:t>安川机器人专用编程语言</a:t>
                      </a:r>
                      <a:endParaRPr lang="zh-CN" sz="900" kern="0" dirty="0">
                        <a:solidFill>
                          <a:schemeClr val="dk1"/>
                        </a:solidFill>
                        <a:effectLst/>
                        <a:latin typeface="+mn-lt"/>
                        <a:ea typeface="+mn-ea"/>
                        <a:cs typeface="+mn-cs"/>
                      </a:endParaRPr>
                    </a:p>
                  </a:txBody>
                  <a:tcPr marL="67187" marR="67187" marT="0" marB="0" anchor="ctr"/>
                </a:tc>
                <a:extLst>
                  <a:ext uri="{0D108BD9-81ED-4DB2-BD59-A6C34878D82A}">
                    <a16:rowId xmlns:a16="http://schemas.microsoft.com/office/drawing/2014/main" val="2096138483"/>
                  </a:ext>
                </a:extLst>
              </a:tr>
              <a:tr h="183045">
                <a:tc>
                  <a:txBody>
                    <a:bodyPr/>
                    <a:lstStyle/>
                    <a:p>
                      <a:pPr algn="ctr">
                        <a:spcAft>
                          <a:spcPts val="0"/>
                        </a:spcAft>
                      </a:pPr>
                      <a:r>
                        <a:rPr lang="en-US" sz="900" kern="0">
                          <a:solidFill>
                            <a:schemeClr val="dk1"/>
                          </a:solidFill>
                          <a:effectLst/>
                          <a:latin typeface="+mn-lt"/>
                          <a:ea typeface="+mn-ea"/>
                          <a:cs typeface="+mn-cs"/>
                        </a:rPr>
                        <a:t>24</a:t>
                      </a:r>
                      <a:endParaRPr lang="zh-CN" sz="900" kern="0">
                        <a:solidFill>
                          <a:schemeClr val="dk1"/>
                        </a:solidFill>
                        <a:effectLst/>
                        <a:latin typeface="+mn-lt"/>
                        <a:ea typeface="+mn-ea"/>
                        <a:cs typeface="+mn-cs"/>
                      </a:endParaRPr>
                    </a:p>
                  </a:txBody>
                  <a:tcPr marL="67187" marR="67187" marT="0" marB="0" anchor="ctr"/>
                </a:tc>
                <a:tc>
                  <a:txBody>
                    <a:bodyPr/>
                    <a:lstStyle/>
                    <a:p>
                      <a:pPr algn="ctr">
                        <a:spcAft>
                          <a:spcPts val="0"/>
                        </a:spcAft>
                      </a:pPr>
                      <a:r>
                        <a:rPr lang="en-US" sz="900" kern="0" dirty="0">
                          <a:solidFill>
                            <a:schemeClr val="dk1"/>
                          </a:solidFill>
                          <a:effectLst/>
                          <a:latin typeface="+mn-lt"/>
                          <a:ea typeface="+mn-ea"/>
                          <a:cs typeface="+mn-cs"/>
                        </a:rPr>
                        <a:t>KUKA</a:t>
                      </a:r>
                      <a:endParaRPr lang="zh-CN" sz="900" kern="0" dirty="0">
                        <a:solidFill>
                          <a:schemeClr val="dk1"/>
                        </a:solidFill>
                        <a:effectLst/>
                        <a:latin typeface="+mn-lt"/>
                        <a:ea typeface="+mn-ea"/>
                        <a:cs typeface="+mn-cs"/>
                      </a:endParaRPr>
                    </a:p>
                  </a:txBody>
                  <a:tcPr marL="67187" marR="67187" marT="0" marB="0" anchor="ctr"/>
                </a:tc>
                <a:tc>
                  <a:txBody>
                    <a:bodyPr/>
                    <a:lstStyle/>
                    <a:p>
                      <a:pPr algn="ctr">
                        <a:spcAft>
                          <a:spcPts val="0"/>
                        </a:spcAft>
                      </a:pPr>
                      <a:r>
                        <a:rPr lang="zh-CN" sz="900" kern="0">
                          <a:solidFill>
                            <a:schemeClr val="dk1"/>
                          </a:solidFill>
                          <a:effectLst/>
                          <a:latin typeface="+mn-lt"/>
                          <a:ea typeface="+mn-ea"/>
                          <a:cs typeface="+mn-cs"/>
                        </a:rPr>
                        <a:t>德国</a:t>
                      </a:r>
                    </a:p>
                  </a:txBody>
                  <a:tcPr marL="67187" marR="67187" marT="0" marB="0" anchor="ctr"/>
                </a:tc>
                <a:tc>
                  <a:txBody>
                    <a:bodyPr/>
                    <a:lstStyle/>
                    <a:p>
                      <a:pPr algn="l">
                        <a:spcAft>
                          <a:spcPts val="0"/>
                        </a:spcAft>
                      </a:pPr>
                      <a:r>
                        <a:rPr lang="zh-CN" sz="900" kern="0" dirty="0">
                          <a:solidFill>
                            <a:schemeClr val="dk1"/>
                          </a:solidFill>
                          <a:effectLst/>
                          <a:latin typeface="+mn-lt"/>
                          <a:ea typeface="+mn-ea"/>
                          <a:cs typeface="+mn-cs"/>
                        </a:rPr>
                        <a:t>　</a:t>
                      </a:r>
                      <a:r>
                        <a:rPr lang="en-US" altLang="zh-CN" sz="900" kern="0" dirty="0" smtClean="0">
                          <a:solidFill>
                            <a:schemeClr val="dk1"/>
                          </a:solidFill>
                          <a:effectLst/>
                          <a:latin typeface="+mn-lt"/>
                          <a:ea typeface="+mn-ea"/>
                          <a:cs typeface="+mn-cs"/>
                        </a:rPr>
                        <a:t>KRL</a:t>
                      </a:r>
                      <a:endParaRPr lang="zh-CN" sz="900" kern="0" dirty="0">
                        <a:solidFill>
                          <a:schemeClr val="dk1"/>
                        </a:solidFill>
                        <a:effectLst/>
                        <a:latin typeface="+mn-lt"/>
                        <a:ea typeface="+mn-ea"/>
                        <a:cs typeface="+mn-cs"/>
                      </a:endParaRPr>
                    </a:p>
                  </a:txBody>
                  <a:tcPr marL="67187" marR="67187" marT="0" marB="0" anchor="ctr"/>
                </a:tc>
                <a:tc>
                  <a:txBody>
                    <a:bodyPr/>
                    <a:lstStyle/>
                    <a:p>
                      <a:pPr algn="l">
                        <a:spcAft>
                          <a:spcPts val="0"/>
                        </a:spcAft>
                      </a:pPr>
                      <a:r>
                        <a:rPr lang="zh-CN" sz="900" kern="0" dirty="0">
                          <a:solidFill>
                            <a:schemeClr val="dk1"/>
                          </a:solidFill>
                          <a:effectLst/>
                          <a:latin typeface="+mn-lt"/>
                          <a:ea typeface="+mn-ea"/>
                          <a:cs typeface="+mn-cs"/>
                        </a:rPr>
                        <a:t>　</a:t>
                      </a:r>
                      <a:r>
                        <a:rPr lang="zh-CN" altLang="zh-CN" sz="900" kern="0" dirty="0" smtClean="0">
                          <a:solidFill>
                            <a:schemeClr val="dk1"/>
                          </a:solidFill>
                          <a:effectLst/>
                          <a:latin typeface="+mn-lt"/>
                          <a:ea typeface="+mn-ea"/>
                          <a:cs typeface="+mn-cs"/>
                        </a:rPr>
                        <a:t>库卡机器人专用编程语言</a:t>
                      </a:r>
                      <a:endParaRPr lang="zh-CN" sz="900" kern="0" dirty="0">
                        <a:solidFill>
                          <a:schemeClr val="dk1"/>
                        </a:solidFill>
                        <a:effectLst/>
                        <a:latin typeface="+mn-lt"/>
                        <a:ea typeface="+mn-ea"/>
                        <a:cs typeface="+mn-cs"/>
                      </a:endParaRPr>
                    </a:p>
                  </a:txBody>
                  <a:tcPr marL="67187" marR="67187" marT="0" marB="0" anchor="ctr"/>
                </a:tc>
                <a:extLst>
                  <a:ext uri="{0D108BD9-81ED-4DB2-BD59-A6C34878D82A}">
                    <a16:rowId xmlns:a16="http://schemas.microsoft.com/office/drawing/2014/main" val="3449065077"/>
                  </a:ext>
                </a:extLst>
              </a:tr>
            </a:tbl>
          </a:graphicData>
        </a:graphic>
      </p:graphicFrame>
      <p:sp>
        <p:nvSpPr>
          <p:cNvPr id="2" name="文本框 1"/>
          <p:cNvSpPr txBox="1"/>
          <p:nvPr/>
        </p:nvSpPr>
        <p:spPr>
          <a:xfrm>
            <a:off x="3491880" y="-39583"/>
            <a:ext cx="2954655" cy="461665"/>
          </a:xfrm>
          <a:prstGeom prst="rect">
            <a:avLst/>
          </a:prstGeom>
          <a:noFill/>
        </p:spPr>
        <p:txBody>
          <a:bodyPr wrap="none" rtlCol="0">
            <a:spAutoFit/>
          </a:bodyPr>
          <a:lstStyle/>
          <a:p>
            <a:r>
              <a:rPr lang="zh-CN" altLang="en-US" sz="2400" b="1" dirty="0" smtClean="0"/>
              <a:t>机器人编程语言举例</a:t>
            </a:r>
            <a:endParaRPr lang="zh-CN" altLang="en-US" sz="2400" b="1" dirty="0"/>
          </a:p>
        </p:txBody>
      </p:sp>
      <p:cxnSp>
        <p:nvCxnSpPr>
          <p:cNvPr id="8" name="直接连接符 7"/>
          <p:cNvCxnSpPr/>
          <p:nvPr/>
        </p:nvCxnSpPr>
        <p:spPr>
          <a:xfrm>
            <a:off x="0" y="422082"/>
            <a:ext cx="9130808"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900497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521008942"/>
              </p:ext>
            </p:extLst>
          </p:nvPr>
        </p:nvGraphicFramePr>
        <p:xfrm>
          <a:off x="1907704" y="1563638"/>
          <a:ext cx="5267325" cy="2514600"/>
        </p:xfrm>
        <a:graphic>
          <a:graphicData uri="http://schemas.openxmlformats.org/presentationml/2006/ole">
            <mc:AlternateContent xmlns:mc="http://schemas.openxmlformats.org/markup-compatibility/2006">
              <mc:Choice xmlns:v="urn:schemas-microsoft-com:vml" Requires="v">
                <p:oleObj spid="_x0000_s2075" name="Visio" r:id="rId4" imgW="6372185" imgH="3038209" progId="Visio.Drawing.15">
                  <p:embed/>
                </p:oleObj>
              </mc:Choice>
              <mc:Fallback>
                <p:oleObj name="Visio" r:id="rId4" imgW="6372185" imgH="3038209" progId="Visio.Drawing.15">
                  <p:embed/>
                  <p:pic>
                    <p:nvPicPr>
                      <p:cNvPr id="0" name="Object 1"/>
                      <p:cNvPicPr>
                        <a:picLocks noChangeAspect="1" noChangeArrowheads="1"/>
                      </p:cNvPicPr>
                      <p:nvPr/>
                    </p:nvPicPr>
                    <p:blipFill>
                      <a:blip r:embed="rId5"/>
                      <a:srcRect/>
                      <a:stretch>
                        <a:fillRect/>
                      </a:stretch>
                    </p:blipFill>
                    <p:spPr bwMode="auto">
                      <a:xfrm>
                        <a:off x="1907704" y="1563638"/>
                        <a:ext cx="5267325" cy="251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3641119" y="915566"/>
            <a:ext cx="1800493" cy="369332"/>
          </a:xfrm>
          <a:prstGeom prst="rect">
            <a:avLst/>
          </a:prstGeom>
        </p:spPr>
        <p:txBody>
          <a:bodyPr wrap="none">
            <a:spAutoFit/>
          </a:bodyPr>
          <a:lstStyle/>
          <a:p>
            <a:r>
              <a:rPr lang="zh-CN" altLang="zh-CN" dirty="0">
                <a:latin typeface="Calibri" panose="020F0502020204030204" pitchFamily="34" charset="0"/>
                <a:cs typeface="Times New Roman" panose="02020603050405020304" pitchFamily="18" charset="0"/>
              </a:rPr>
              <a:t>机器人</a:t>
            </a:r>
            <a:r>
              <a:rPr lang="zh-CN" altLang="zh-CN" dirty="0" smtClean="0">
                <a:latin typeface="Calibri" panose="020F0502020204030204" pitchFamily="34" charset="0"/>
                <a:cs typeface="Times New Roman" panose="02020603050405020304" pitchFamily="18" charset="0"/>
              </a:rPr>
              <a:t>编程</a:t>
            </a:r>
            <a:r>
              <a:rPr lang="zh-CN" altLang="en-US" dirty="0" smtClean="0">
                <a:latin typeface="Calibri" panose="020F0502020204030204" pitchFamily="34" charset="0"/>
                <a:cs typeface="Times New Roman" panose="02020603050405020304" pitchFamily="18" charset="0"/>
              </a:rPr>
              <a:t>模式</a:t>
            </a:r>
            <a:endParaRPr lang="zh-CN" altLang="en-US" dirty="0"/>
          </a:p>
        </p:txBody>
      </p:sp>
    </p:spTree>
    <p:extLst>
      <p:ext uri="{BB962C8B-B14F-4D97-AF65-F5344CB8AC3E}">
        <p14:creationId xmlns:p14="http://schemas.microsoft.com/office/powerpoint/2010/main" val="25598918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1444370"/>
          </a:xfrm>
          <a:prstGeom prst="rect">
            <a:avLst/>
          </a:prstGeom>
        </p:spPr>
        <p:txBody>
          <a:bodyPr wrap="square">
            <a:spAutoFit/>
          </a:bodyPr>
          <a:lstStyle/>
          <a:p>
            <a:pPr>
              <a:lnSpc>
                <a:spcPct val="150000"/>
              </a:lnSpc>
            </a:pPr>
            <a:r>
              <a:rPr lang="en-US" altLang="zh-CN" sz="1200" dirty="0">
                <a:latin typeface="Arial" panose="020B0604020202020204" pitchFamily="34" charset="0"/>
                <a:ea typeface="微软雅黑" panose="020B0503020204020204" charset="-122"/>
                <a:sym typeface="+mn-ea"/>
              </a:rPr>
              <a:t>INFORM</a:t>
            </a:r>
            <a:r>
              <a:rPr lang="zh-CN" altLang="en-US" sz="1200" dirty="0">
                <a:latin typeface="Arial" panose="020B0604020202020204" pitchFamily="34" charset="0"/>
                <a:ea typeface="微软雅黑" panose="020B0503020204020204" charset="-122"/>
                <a:sym typeface="+mn-ea"/>
              </a:rPr>
              <a:t>语言</a:t>
            </a:r>
          </a:p>
          <a:p>
            <a:pPr>
              <a:lnSpc>
                <a:spcPct val="150000"/>
              </a:lnSpc>
            </a:pPr>
            <a:r>
              <a:rPr lang="en-US" altLang="zh-CN" sz="1200" dirty="0">
                <a:latin typeface="Arial" panose="020B0604020202020204" pitchFamily="34" charset="0"/>
                <a:ea typeface="微软雅黑" panose="020B0503020204020204" charset="-122"/>
                <a:sym typeface="+mn-ea"/>
              </a:rPr>
              <a:t>RAPID</a:t>
            </a:r>
            <a:r>
              <a:rPr lang="zh-CN" altLang="en-US" sz="1200" dirty="0">
                <a:latin typeface="Arial" panose="020B0604020202020204" pitchFamily="34" charset="0"/>
                <a:ea typeface="微软雅黑" panose="020B0503020204020204" charset="-122"/>
                <a:sym typeface="+mn-ea"/>
              </a:rPr>
              <a:t>语言</a:t>
            </a:r>
          </a:p>
          <a:p>
            <a:pPr>
              <a:lnSpc>
                <a:spcPct val="150000"/>
              </a:lnSpc>
            </a:pPr>
            <a:r>
              <a:rPr lang="en-US" altLang="zh-CN" sz="1200" dirty="0">
                <a:latin typeface="Arial" panose="020B0604020202020204" pitchFamily="34" charset="0"/>
                <a:ea typeface="微软雅黑" panose="020B0503020204020204" charset="-122"/>
                <a:sym typeface="+mn-ea"/>
              </a:rPr>
              <a:t>KRL</a:t>
            </a:r>
            <a:r>
              <a:rPr lang="zh-CN" altLang="en-US" sz="1200" dirty="0">
                <a:latin typeface="Arial" panose="020B0604020202020204" pitchFamily="34" charset="0"/>
                <a:ea typeface="微软雅黑" panose="020B0503020204020204" charset="-122"/>
                <a:sym typeface="+mn-ea"/>
              </a:rPr>
              <a:t>语言</a:t>
            </a:r>
          </a:p>
          <a:p>
            <a:pPr>
              <a:lnSpc>
                <a:spcPct val="150000"/>
              </a:lnSpc>
            </a:pPr>
            <a:r>
              <a:rPr lang="en-US" altLang="zh-CN" sz="1200" dirty="0">
                <a:latin typeface="Arial" panose="020B0604020202020204" pitchFamily="34" charset="0"/>
                <a:ea typeface="微软雅黑" panose="020B0503020204020204" charset="-122"/>
                <a:sym typeface="+mn-ea"/>
              </a:rPr>
              <a:t>KAREL</a:t>
            </a:r>
            <a:r>
              <a:rPr lang="zh-CN" altLang="en-US" sz="1200" dirty="0">
                <a:latin typeface="Arial" panose="020B0604020202020204" pitchFamily="34" charset="0"/>
                <a:ea typeface="微软雅黑" panose="020B0503020204020204" charset="-122"/>
                <a:sym typeface="+mn-ea"/>
              </a:rPr>
              <a:t>语言</a:t>
            </a:r>
          </a:p>
          <a:p>
            <a:pPr>
              <a:lnSpc>
                <a:spcPct val="150000"/>
              </a:lnSpc>
            </a:pPr>
            <a:r>
              <a:rPr lang="en-US" altLang="zh-CN" sz="1200" dirty="0" err="1">
                <a:latin typeface="Arial" panose="020B0604020202020204" pitchFamily="34" charset="0"/>
                <a:ea typeface="微软雅黑" panose="020B0503020204020204" charset="-122"/>
                <a:sym typeface="+mn-ea"/>
              </a:rPr>
              <a:t>URScript</a:t>
            </a:r>
            <a:r>
              <a:rPr lang="zh-CN" altLang="en-US" sz="1200" dirty="0">
                <a:latin typeface="Arial" panose="020B0604020202020204" pitchFamily="34" charset="0"/>
                <a:ea typeface="微软雅黑" panose="020B0503020204020204" charset="-122"/>
                <a:sym typeface="+mn-ea"/>
              </a:rPr>
              <a:t>语言</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4213170"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典型工业机器人语言简介</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02</a:t>
            </a:r>
          </a:p>
        </p:txBody>
      </p:sp>
    </p:spTree>
    <p:extLst>
      <p:ext uri="{BB962C8B-B14F-4D97-AF65-F5344CB8AC3E}">
        <p14:creationId xmlns:p14="http://schemas.microsoft.com/office/powerpoint/2010/main" val="323053323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655747" y="254504"/>
            <a:ext cx="1544012" cy="369332"/>
          </a:xfrm>
          <a:prstGeom prst="rect">
            <a:avLst/>
          </a:prstGeom>
        </p:spPr>
        <p:txBody>
          <a:bodyPr wrap="none">
            <a:spAutoFit/>
          </a:bodyPr>
          <a:lstStyle/>
          <a:p>
            <a:r>
              <a:rPr lang="en-US" altLang="zh-CN" dirty="0">
                <a:latin typeface="Times New Roman" panose="02020603050405020304" pitchFamily="18" charset="0"/>
              </a:rPr>
              <a:t>INFORM</a:t>
            </a:r>
            <a:r>
              <a:rPr lang="zh-CN" altLang="zh-CN" dirty="0">
                <a:latin typeface="Times New Roman" panose="02020603050405020304" pitchFamily="18" charset="0"/>
                <a:cs typeface="Times New Roman" panose="02020603050405020304" pitchFamily="18" charset="0"/>
              </a:rPr>
              <a:t>语言</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1475981789"/>
              </p:ext>
            </p:extLst>
          </p:nvPr>
        </p:nvGraphicFramePr>
        <p:xfrm>
          <a:off x="2411760" y="959622"/>
          <a:ext cx="1524000" cy="1238250"/>
        </p:xfrm>
        <a:graphic>
          <a:graphicData uri="http://schemas.openxmlformats.org/presentationml/2006/ole">
            <mc:AlternateContent xmlns:mc="http://schemas.openxmlformats.org/markup-compatibility/2006">
              <mc:Choice xmlns:v="urn:schemas-microsoft-com:vml" Requires="v">
                <p:oleObj spid="_x0000_s5144" name="Visio" r:id="rId4" imgW="2035894" imgH="1648754" progId="Visio.Drawing.11">
                  <p:embed/>
                </p:oleObj>
              </mc:Choice>
              <mc:Fallback>
                <p:oleObj name="Visio" r:id="rId4" imgW="2035894" imgH="1648754"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959622"/>
                        <a:ext cx="1524000" cy="123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4355976" y="1424858"/>
            <a:ext cx="2185214" cy="307777"/>
          </a:xfrm>
          <a:prstGeom prst="rect">
            <a:avLst/>
          </a:prstGeom>
        </p:spPr>
        <p:txBody>
          <a:bodyPr wrap="none">
            <a:spAutoFit/>
          </a:bodyPr>
          <a:lstStyle/>
          <a:p>
            <a:r>
              <a:rPr lang="en-US" altLang="zh-CN" sz="1400" dirty="0">
                <a:latin typeface="Times New Roman" panose="02020603050405020304" pitchFamily="18" charset="0"/>
              </a:rPr>
              <a:t> INFORM</a:t>
            </a:r>
            <a:r>
              <a:rPr lang="zh-CN" altLang="zh-CN" sz="1400" dirty="0">
                <a:latin typeface="Times New Roman" panose="02020603050405020304" pitchFamily="18" charset="0"/>
                <a:cs typeface="Times New Roman" panose="02020603050405020304" pitchFamily="18" charset="0"/>
              </a:rPr>
              <a:t>语言命令构成图</a:t>
            </a:r>
            <a:endParaRPr lang="zh-CN" altLang="en-US" sz="1400" dirty="0"/>
          </a:p>
        </p:txBody>
      </p:sp>
      <p:graphicFrame>
        <p:nvGraphicFramePr>
          <p:cNvPr id="8" name="表格 7"/>
          <p:cNvGraphicFramePr>
            <a:graphicFrameLocks noGrp="1"/>
          </p:cNvGraphicFramePr>
          <p:nvPr>
            <p:extLst>
              <p:ext uri="{D42A27DB-BD31-4B8C-83A1-F6EECF244321}">
                <p14:modId xmlns:p14="http://schemas.microsoft.com/office/powerpoint/2010/main" val="3170678530"/>
              </p:ext>
            </p:extLst>
          </p:nvPr>
        </p:nvGraphicFramePr>
        <p:xfrm>
          <a:off x="1259631" y="2787772"/>
          <a:ext cx="6696744" cy="2016225"/>
        </p:xfrm>
        <a:graphic>
          <a:graphicData uri="http://schemas.openxmlformats.org/drawingml/2006/table">
            <a:tbl>
              <a:tblPr firstRow="1" firstCol="1" bandRow="1">
                <a:tableStyleId>{5C22544A-7EE6-4342-B048-85BDC9FD1C3A}</a:tableStyleId>
              </a:tblPr>
              <a:tblGrid>
                <a:gridCol w="2052864">
                  <a:extLst>
                    <a:ext uri="{9D8B030D-6E8A-4147-A177-3AD203B41FA5}">
                      <a16:colId xmlns:a16="http://schemas.microsoft.com/office/drawing/2014/main" val="2375703271"/>
                    </a:ext>
                  </a:extLst>
                </a:gridCol>
                <a:gridCol w="2964265">
                  <a:extLst>
                    <a:ext uri="{9D8B030D-6E8A-4147-A177-3AD203B41FA5}">
                      <a16:colId xmlns:a16="http://schemas.microsoft.com/office/drawing/2014/main" val="2964004561"/>
                    </a:ext>
                  </a:extLst>
                </a:gridCol>
                <a:gridCol w="1679615">
                  <a:extLst>
                    <a:ext uri="{9D8B030D-6E8A-4147-A177-3AD203B41FA5}">
                      <a16:colId xmlns:a16="http://schemas.microsoft.com/office/drawing/2014/main" val="1103900297"/>
                    </a:ext>
                  </a:extLst>
                </a:gridCol>
              </a:tblGrid>
              <a:tr h="248090">
                <a:tc>
                  <a:txBody>
                    <a:bodyPr/>
                    <a:lstStyle/>
                    <a:p>
                      <a:pPr indent="266700" algn="just"/>
                      <a:r>
                        <a:rPr lang="zh-CN" sz="1050" kern="100">
                          <a:effectLst/>
                        </a:rPr>
                        <a:t>命令类型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内容</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举例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18169379"/>
                  </a:ext>
                </a:extLst>
              </a:tr>
              <a:tr h="272702">
                <a:tc>
                  <a:txBody>
                    <a:bodyPr/>
                    <a:lstStyle/>
                    <a:p>
                      <a:pPr algn="just"/>
                      <a:r>
                        <a:rPr lang="zh-CN" sz="1050" kern="100">
                          <a:effectLst/>
                        </a:rPr>
                        <a:t>输入输出（</a:t>
                      </a:r>
                      <a:r>
                        <a:rPr lang="en-US" sz="1050" kern="100">
                          <a:effectLst/>
                        </a:rPr>
                        <a:t>I/O</a:t>
                      </a:r>
                      <a:r>
                        <a:rPr lang="zh-CN" sz="1050" kern="100">
                          <a:effectLst/>
                        </a:rPr>
                        <a:t>）指令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执行输入输出的指令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DOUT</a:t>
                      </a:r>
                      <a:r>
                        <a:rPr lang="zh-CN" sz="1050" kern="100">
                          <a:effectLst/>
                        </a:rPr>
                        <a:t>，</a:t>
                      </a:r>
                      <a:r>
                        <a:rPr lang="en-US" sz="1050" kern="100">
                          <a:effectLst/>
                        </a:rPr>
                        <a:t>WAIT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91325216"/>
                  </a:ext>
                </a:extLst>
              </a:tr>
              <a:tr h="254983">
                <a:tc>
                  <a:txBody>
                    <a:bodyPr/>
                    <a:lstStyle/>
                    <a:p>
                      <a:pPr algn="just"/>
                      <a:r>
                        <a:rPr lang="zh-CN" sz="1050" kern="100">
                          <a:effectLst/>
                        </a:rPr>
                        <a:t>控制指令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执行处理和作业控制的指令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JUMP</a:t>
                      </a:r>
                      <a:r>
                        <a:rPr lang="zh-CN" sz="1050" kern="100">
                          <a:effectLst/>
                        </a:rPr>
                        <a:t>，</a:t>
                      </a:r>
                      <a:r>
                        <a:rPr lang="en-US" sz="1050" kern="100">
                          <a:effectLst/>
                        </a:rPr>
                        <a:t>TIMER</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82103520"/>
                  </a:ext>
                </a:extLst>
              </a:tr>
              <a:tr h="248090">
                <a:tc>
                  <a:txBody>
                    <a:bodyPr/>
                    <a:lstStyle/>
                    <a:p>
                      <a:pPr algn="just"/>
                      <a:r>
                        <a:rPr lang="zh-CN" sz="1050" kern="100">
                          <a:effectLst/>
                        </a:rPr>
                        <a:t>运算指令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dirty="0">
                          <a:effectLst/>
                        </a:rPr>
                        <a:t>使用变量等进行运算的指令</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ADD</a:t>
                      </a:r>
                      <a:r>
                        <a:rPr lang="zh-CN" sz="1050" kern="100">
                          <a:effectLst/>
                        </a:rPr>
                        <a:t>，</a:t>
                      </a:r>
                      <a:r>
                        <a:rPr lang="en-US" sz="1050" kern="100">
                          <a:effectLst/>
                        </a:rPr>
                        <a:t>SET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47738692"/>
                  </a:ext>
                </a:extLst>
              </a:tr>
              <a:tr h="248090">
                <a:tc>
                  <a:txBody>
                    <a:bodyPr/>
                    <a:lstStyle/>
                    <a:p>
                      <a:pPr algn="just"/>
                      <a:r>
                        <a:rPr lang="zh-CN" sz="1050" kern="100">
                          <a:effectLst/>
                        </a:rPr>
                        <a:t>移动指令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与移动和速度相关的指令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MOVJ</a:t>
                      </a:r>
                      <a:r>
                        <a:rPr lang="zh-CN" sz="1050" kern="100">
                          <a:effectLst/>
                        </a:rPr>
                        <a:t>，</a:t>
                      </a:r>
                      <a:r>
                        <a:rPr lang="en-US" sz="1050" kern="100">
                          <a:effectLst/>
                        </a:rPr>
                        <a:t>REFP</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6850847"/>
                  </a:ext>
                </a:extLst>
              </a:tr>
              <a:tr h="248090">
                <a:tc>
                  <a:txBody>
                    <a:bodyPr/>
                    <a:lstStyle/>
                    <a:p>
                      <a:pPr algn="just"/>
                      <a:r>
                        <a:rPr lang="zh-CN" sz="1050" kern="100">
                          <a:effectLst/>
                        </a:rPr>
                        <a:t>替换指令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表示当前示教点被替换的指令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SFTON,SFTOF</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462430327"/>
                  </a:ext>
                </a:extLst>
              </a:tr>
              <a:tr h="248090">
                <a:tc>
                  <a:txBody>
                    <a:bodyPr/>
                    <a:lstStyle/>
                    <a:p>
                      <a:pPr algn="just"/>
                      <a:r>
                        <a:rPr lang="zh-CN" sz="1050" kern="100">
                          <a:effectLst/>
                        </a:rPr>
                        <a:t>条件指令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条件执行指令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IF,UNTIL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62807864"/>
                  </a:ext>
                </a:extLst>
              </a:tr>
              <a:tr h="248090">
                <a:tc>
                  <a:txBody>
                    <a:bodyPr/>
                    <a:lstStyle/>
                    <a:p>
                      <a:pPr algn="just"/>
                      <a:r>
                        <a:rPr lang="zh-CN" sz="1050" kern="100">
                          <a:effectLst/>
                        </a:rPr>
                        <a:t>操作指令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末端工具操作相关指令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dirty="0">
                          <a:effectLst/>
                        </a:rPr>
                        <a:t>TOOLON</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79001580"/>
                  </a:ext>
                </a:extLst>
              </a:tr>
            </a:tbl>
          </a:graphicData>
        </a:graphic>
      </p:graphicFrame>
      <p:sp>
        <p:nvSpPr>
          <p:cNvPr id="10" name="矩形 9"/>
          <p:cNvSpPr/>
          <p:nvPr/>
        </p:nvSpPr>
        <p:spPr>
          <a:xfrm>
            <a:off x="2626619" y="2418440"/>
            <a:ext cx="3602268" cy="369332"/>
          </a:xfrm>
          <a:prstGeom prst="rect">
            <a:avLst/>
          </a:prstGeom>
        </p:spPr>
        <p:txBody>
          <a:bodyPr wrap="none">
            <a:spAutoFit/>
          </a:bodyPr>
          <a:lstStyle/>
          <a:p>
            <a:pPr lvl="0" indent="266700" eaLnBrk="0" fontAlgn="base" hangingPunct="0">
              <a:spcBef>
                <a:spcPct val="0"/>
              </a:spcBef>
              <a:spcAft>
                <a:spcPct val="0"/>
              </a:spcAft>
            </a:pPr>
            <a:r>
              <a:rPr lang="zh-CN" altLang="zh-CN" dirty="0">
                <a:latin typeface="Times New Roman" panose="02020603050405020304" pitchFamily="18" charset="0"/>
                <a:cs typeface="Times New Roman" panose="02020603050405020304" pitchFamily="18" charset="0"/>
              </a:rPr>
              <a:t>表</a:t>
            </a:r>
            <a:r>
              <a:rPr lang="en-US" altLang="zh-CN" dirty="0">
                <a:latin typeface="Times New Roman" panose="02020603050405020304" pitchFamily="18" charset="0"/>
                <a:cs typeface="Times New Roman" panose="02020603050405020304" pitchFamily="18" charset="0"/>
              </a:rPr>
              <a:t>7.2  INFORM</a:t>
            </a:r>
            <a:r>
              <a:rPr lang="zh-CN" altLang="en-US" dirty="0">
                <a:latin typeface="Times New Roman" panose="02020603050405020304" pitchFamily="18" charset="0"/>
                <a:cs typeface="Times New Roman" panose="02020603050405020304" pitchFamily="18" charset="0"/>
              </a:rPr>
              <a:t>编程语言指令表</a:t>
            </a:r>
            <a:endParaRPr lang="zh-CN" altLang="en-US" sz="1050" dirty="0"/>
          </a:p>
        </p:txBody>
      </p:sp>
      <p:sp>
        <p:nvSpPr>
          <p:cNvPr id="11" name="圆角矩形 10"/>
          <p:cNvSpPr/>
          <p:nvPr/>
        </p:nvSpPr>
        <p:spPr>
          <a:xfrm>
            <a:off x="1907704" y="1059582"/>
            <a:ext cx="4968552" cy="113829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38949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664363091"/>
              </p:ext>
            </p:extLst>
          </p:nvPr>
        </p:nvGraphicFramePr>
        <p:xfrm>
          <a:off x="155265" y="1308812"/>
          <a:ext cx="3876675" cy="2971800"/>
        </p:xfrm>
        <a:graphic>
          <a:graphicData uri="http://schemas.openxmlformats.org/presentationml/2006/ole">
            <mc:AlternateContent xmlns:mc="http://schemas.openxmlformats.org/markup-compatibility/2006">
              <mc:Choice xmlns:v="urn:schemas-microsoft-com:vml" Requires="v">
                <p:oleObj spid="_x0000_s4120" name="Visio" r:id="rId4" imgW="3876449" imgH="2971640" progId="Visio.Drawing.15">
                  <p:embed/>
                </p:oleObj>
              </mc:Choice>
              <mc:Fallback>
                <p:oleObj name="Visio" r:id="rId4" imgW="3876449" imgH="297164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265" y="1308812"/>
                        <a:ext cx="3876675"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表格 3"/>
          <p:cNvGraphicFramePr>
            <a:graphicFrameLocks noGrp="1"/>
          </p:cNvGraphicFramePr>
          <p:nvPr>
            <p:extLst>
              <p:ext uri="{D42A27DB-BD31-4B8C-83A1-F6EECF244321}">
                <p14:modId xmlns:p14="http://schemas.microsoft.com/office/powerpoint/2010/main" val="2912518600"/>
              </p:ext>
            </p:extLst>
          </p:nvPr>
        </p:nvGraphicFramePr>
        <p:xfrm>
          <a:off x="4067944" y="1308812"/>
          <a:ext cx="4892040" cy="3639206"/>
        </p:xfrm>
        <a:graphic>
          <a:graphicData uri="http://schemas.openxmlformats.org/drawingml/2006/table">
            <a:tbl>
              <a:tblPr>
                <a:tableStyleId>{5C22544A-7EE6-4342-B048-85BDC9FD1C3A}</a:tableStyleId>
              </a:tblPr>
              <a:tblGrid>
                <a:gridCol w="475615">
                  <a:extLst>
                    <a:ext uri="{9D8B030D-6E8A-4147-A177-3AD203B41FA5}">
                      <a16:colId xmlns:a16="http://schemas.microsoft.com/office/drawing/2014/main" val="2976463946"/>
                    </a:ext>
                  </a:extLst>
                </a:gridCol>
                <a:gridCol w="1076325">
                  <a:extLst>
                    <a:ext uri="{9D8B030D-6E8A-4147-A177-3AD203B41FA5}">
                      <a16:colId xmlns:a16="http://schemas.microsoft.com/office/drawing/2014/main" val="3567014974"/>
                    </a:ext>
                  </a:extLst>
                </a:gridCol>
                <a:gridCol w="3340100">
                  <a:extLst>
                    <a:ext uri="{9D8B030D-6E8A-4147-A177-3AD203B41FA5}">
                      <a16:colId xmlns:a16="http://schemas.microsoft.com/office/drawing/2014/main" val="2721601864"/>
                    </a:ext>
                  </a:extLst>
                </a:gridCol>
              </a:tblGrid>
              <a:tr h="190108">
                <a:tc>
                  <a:txBody>
                    <a:bodyPr/>
                    <a:lstStyle/>
                    <a:p>
                      <a:r>
                        <a:rPr lang="zh-CN" sz="1050" kern="100">
                          <a:effectLst/>
                        </a:rPr>
                        <a:t>行号</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1050" kern="100">
                          <a:effectLst/>
                        </a:rPr>
                        <a:t>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1050" kern="100">
                          <a:effectLst/>
                        </a:rPr>
                        <a:t>解释</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322838382"/>
                  </a:ext>
                </a:extLst>
              </a:tr>
              <a:tr h="190108">
                <a:tc>
                  <a:txBody>
                    <a:bodyPr/>
                    <a:lstStyle/>
                    <a:p>
                      <a:r>
                        <a:rPr lang="en-US" sz="900" kern="100">
                          <a:effectLst/>
                        </a:rPr>
                        <a:t>0000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NOP</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1050" kern="100">
                          <a:effectLst/>
                        </a:rPr>
                        <a:t>开始行，空指令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40051378"/>
                  </a:ext>
                </a:extLst>
              </a:tr>
              <a:tr h="162950">
                <a:tc>
                  <a:txBody>
                    <a:bodyPr/>
                    <a:lstStyle/>
                    <a:p>
                      <a:r>
                        <a:rPr lang="en-US" sz="900" kern="100">
                          <a:effectLst/>
                        </a:rPr>
                        <a:t>0001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MOVJ VJ=25.00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以关节插补方式移动到示教点</a:t>
                      </a:r>
                      <a:r>
                        <a:rPr lang="en-US" sz="900" kern="100">
                          <a:effectLst/>
                        </a:rPr>
                        <a:t>1(</a:t>
                      </a:r>
                      <a:r>
                        <a:rPr lang="zh-CN" sz="900" kern="100">
                          <a:effectLst/>
                        </a:rPr>
                        <a:t>等待位置</a:t>
                      </a:r>
                      <a:r>
                        <a:rPr lang="en-US" sz="900" kern="100">
                          <a:effectLst/>
                        </a:rPr>
                        <a:t>)</a:t>
                      </a:r>
                      <a:r>
                        <a:rPr lang="zh-CN" sz="900" kern="100">
                          <a:effectLst/>
                        </a:rPr>
                        <a:t>，再现速度为</a:t>
                      </a:r>
                      <a:r>
                        <a:rPr lang="en-US" sz="900" kern="100">
                          <a:effectLst/>
                        </a:rPr>
                        <a:t>25%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081191203"/>
                  </a:ext>
                </a:extLst>
              </a:tr>
              <a:tr h="162950">
                <a:tc>
                  <a:txBody>
                    <a:bodyPr/>
                    <a:lstStyle/>
                    <a:p>
                      <a:r>
                        <a:rPr lang="en-US" sz="900" kern="100">
                          <a:effectLst/>
                        </a:rPr>
                        <a:t>0002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MOVJ VJ=25.00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以关节插补方式移动到示教点</a:t>
                      </a:r>
                      <a:r>
                        <a:rPr lang="en-US" sz="900" kern="100">
                          <a:effectLst/>
                        </a:rPr>
                        <a:t>2</a:t>
                      </a:r>
                      <a:r>
                        <a:rPr lang="zh-CN" sz="900" kern="100">
                          <a:effectLst/>
                        </a:rPr>
                        <a:t>（接近位置），再现速度为</a:t>
                      </a:r>
                      <a:r>
                        <a:rPr lang="en-US" sz="900" kern="100">
                          <a:effectLst/>
                        </a:rPr>
                        <a:t>25%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375633463"/>
                  </a:ext>
                </a:extLst>
              </a:tr>
              <a:tr h="325898">
                <a:tc>
                  <a:txBody>
                    <a:bodyPr/>
                    <a:lstStyle/>
                    <a:p>
                      <a:r>
                        <a:rPr lang="en-US" sz="900" kern="100">
                          <a:effectLst/>
                        </a:rPr>
                        <a:t>0003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MOVL V=100.0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以直线插补方式移动到示教点</a:t>
                      </a:r>
                      <a:r>
                        <a:rPr lang="en-US" sz="900" kern="100">
                          <a:effectLst/>
                        </a:rPr>
                        <a:t>3</a:t>
                      </a:r>
                      <a:r>
                        <a:rPr lang="zh-CN" sz="900" kern="100">
                          <a:effectLst/>
                        </a:rPr>
                        <a:t>（抓取位置），再现速度为</a:t>
                      </a:r>
                      <a:r>
                        <a:rPr lang="en-US" sz="900" kern="100">
                          <a:effectLst/>
                        </a:rPr>
                        <a:t>100cm/min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29869217"/>
                  </a:ext>
                </a:extLst>
              </a:tr>
              <a:tr h="162950">
                <a:tc>
                  <a:txBody>
                    <a:bodyPr/>
                    <a:lstStyle/>
                    <a:p>
                      <a:r>
                        <a:rPr lang="en-US" sz="900" kern="100">
                          <a:effectLst/>
                        </a:rPr>
                        <a:t>0004</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HAND 1 ON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抓取工件</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68178054"/>
                  </a:ext>
                </a:extLst>
              </a:tr>
              <a:tr h="162950">
                <a:tc>
                  <a:txBody>
                    <a:bodyPr/>
                    <a:lstStyle/>
                    <a:p>
                      <a:r>
                        <a:rPr lang="en-US" sz="900" kern="100">
                          <a:effectLst/>
                        </a:rPr>
                        <a:t>0005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TIMER T=0.50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延时等待工件抓取完毕</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77523675"/>
                  </a:ext>
                </a:extLst>
              </a:tr>
              <a:tr h="325898">
                <a:tc>
                  <a:txBody>
                    <a:bodyPr/>
                    <a:lstStyle/>
                    <a:p>
                      <a:r>
                        <a:rPr lang="en-US" sz="900" kern="100">
                          <a:effectLst/>
                        </a:rPr>
                        <a:t>0006</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MOVL V=100.0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以直线插补方式移动到示教点</a:t>
                      </a:r>
                      <a:r>
                        <a:rPr lang="en-US" sz="900" kern="100">
                          <a:effectLst/>
                        </a:rPr>
                        <a:t>2</a:t>
                      </a:r>
                      <a:r>
                        <a:rPr lang="zh-CN" sz="900" kern="100">
                          <a:effectLst/>
                        </a:rPr>
                        <a:t>（接近位置），再现速度为</a:t>
                      </a:r>
                      <a:r>
                        <a:rPr lang="en-US" sz="900" kern="100">
                          <a:effectLst/>
                        </a:rPr>
                        <a:t>100cm/min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937821913"/>
                  </a:ext>
                </a:extLst>
              </a:tr>
              <a:tr h="162950">
                <a:tc>
                  <a:txBody>
                    <a:bodyPr/>
                    <a:lstStyle/>
                    <a:p>
                      <a:r>
                        <a:rPr lang="en-US" sz="900" kern="100">
                          <a:effectLst/>
                        </a:rPr>
                        <a:t>0007</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MOVJ VJ=25.00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以关节插补方式移动到示教点</a:t>
                      </a:r>
                      <a:r>
                        <a:rPr lang="en-US" sz="900" kern="100">
                          <a:effectLst/>
                        </a:rPr>
                        <a:t>1(</a:t>
                      </a:r>
                      <a:r>
                        <a:rPr lang="zh-CN" sz="900" kern="100">
                          <a:effectLst/>
                        </a:rPr>
                        <a:t>等待位置</a:t>
                      </a:r>
                      <a:r>
                        <a:rPr lang="en-US" sz="900" kern="100">
                          <a:effectLst/>
                        </a:rPr>
                        <a:t>)</a:t>
                      </a:r>
                      <a:r>
                        <a:rPr lang="zh-CN" sz="900" kern="100">
                          <a:effectLst/>
                        </a:rPr>
                        <a:t>，再现速度为</a:t>
                      </a:r>
                      <a:r>
                        <a:rPr lang="en-US" sz="900" kern="100">
                          <a:effectLst/>
                        </a:rPr>
                        <a:t>25%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62664740"/>
                  </a:ext>
                </a:extLst>
              </a:tr>
              <a:tr h="162950">
                <a:tc>
                  <a:txBody>
                    <a:bodyPr/>
                    <a:lstStyle/>
                    <a:p>
                      <a:r>
                        <a:rPr lang="en-US" sz="900" kern="100">
                          <a:effectLst/>
                        </a:rPr>
                        <a:t>0008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MOVJ VJ=25.00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以关节插补方式移动到示教点</a:t>
                      </a:r>
                      <a:r>
                        <a:rPr lang="en-US" sz="900" kern="100">
                          <a:effectLst/>
                        </a:rPr>
                        <a:t>4(</a:t>
                      </a:r>
                      <a:r>
                        <a:rPr lang="zh-CN" sz="900" kern="100">
                          <a:effectLst/>
                        </a:rPr>
                        <a:t>接近释放位置</a:t>
                      </a:r>
                      <a:r>
                        <a:rPr lang="en-US" sz="900" kern="100">
                          <a:effectLst/>
                        </a:rPr>
                        <a:t>)</a:t>
                      </a:r>
                      <a:r>
                        <a:rPr lang="zh-CN" sz="900" kern="100">
                          <a:effectLst/>
                        </a:rPr>
                        <a:t>，再现速度为</a:t>
                      </a:r>
                      <a:r>
                        <a:rPr lang="en-US" sz="900" kern="100">
                          <a:effectLst/>
                        </a:rPr>
                        <a:t>25%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99576975"/>
                  </a:ext>
                </a:extLst>
              </a:tr>
              <a:tr h="325898">
                <a:tc>
                  <a:txBody>
                    <a:bodyPr/>
                    <a:lstStyle/>
                    <a:p>
                      <a:r>
                        <a:rPr lang="en-US" sz="900" kern="100">
                          <a:effectLst/>
                        </a:rPr>
                        <a:t>0009</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MOVL V=100.0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以直线插补方式移动到示教点</a:t>
                      </a:r>
                      <a:r>
                        <a:rPr lang="en-US" sz="900" kern="100">
                          <a:effectLst/>
                        </a:rPr>
                        <a:t>5</a:t>
                      </a:r>
                      <a:r>
                        <a:rPr lang="zh-CN" sz="900" kern="100">
                          <a:effectLst/>
                        </a:rPr>
                        <a:t>（辅助释放位置），再现速度为</a:t>
                      </a:r>
                      <a:r>
                        <a:rPr lang="en-US" sz="900" kern="100">
                          <a:effectLst/>
                        </a:rPr>
                        <a:t>100cm/min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29324512"/>
                  </a:ext>
                </a:extLst>
              </a:tr>
              <a:tr h="325898">
                <a:tc>
                  <a:txBody>
                    <a:bodyPr/>
                    <a:lstStyle/>
                    <a:p>
                      <a:r>
                        <a:rPr lang="en-US" sz="900" kern="100">
                          <a:effectLst/>
                        </a:rPr>
                        <a:t>0010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MOVL V=50.0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以直线插补方式移动到示教点</a:t>
                      </a:r>
                      <a:r>
                        <a:rPr lang="en-US" sz="900" kern="100">
                          <a:effectLst/>
                        </a:rPr>
                        <a:t>6(</a:t>
                      </a:r>
                      <a:r>
                        <a:rPr lang="zh-CN" sz="900" kern="100">
                          <a:effectLst/>
                        </a:rPr>
                        <a:t>释放位置</a:t>
                      </a:r>
                      <a:r>
                        <a:rPr lang="en-US" sz="900" kern="100">
                          <a:effectLst/>
                        </a:rPr>
                        <a:t>)</a:t>
                      </a:r>
                      <a:r>
                        <a:rPr lang="zh-CN" sz="900" kern="100">
                          <a:effectLst/>
                        </a:rPr>
                        <a:t>，再现速度为</a:t>
                      </a:r>
                      <a:r>
                        <a:rPr lang="en-US" sz="900" kern="100">
                          <a:effectLst/>
                        </a:rPr>
                        <a:t>50cm/min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4077184"/>
                  </a:ext>
                </a:extLst>
              </a:tr>
              <a:tr h="162950">
                <a:tc>
                  <a:txBody>
                    <a:bodyPr/>
                    <a:lstStyle/>
                    <a:p>
                      <a:r>
                        <a:rPr lang="en-US" sz="900" kern="100">
                          <a:effectLst/>
                        </a:rPr>
                        <a:t>0011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HAND 1 OFF</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释放工件</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28687689"/>
                  </a:ext>
                </a:extLst>
              </a:tr>
              <a:tr h="162950">
                <a:tc>
                  <a:txBody>
                    <a:bodyPr/>
                    <a:lstStyle/>
                    <a:p>
                      <a:r>
                        <a:rPr lang="en-US" sz="900" kern="100">
                          <a:effectLst/>
                        </a:rPr>
                        <a:t>0012</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TIMER T=0.50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等待至工件释放完毕</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06140706"/>
                  </a:ext>
                </a:extLst>
              </a:tr>
              <a:tr h="325898">
                <a:tc>
                  <a:txBody>
                    <a:bodyPr/>
                    <a:lstStyle/>
                    <a:p>
                      <a:r>
                        <a:rPr lang="en-US" sz="900" kern="100">
                          <a:effectLst/>
                        </a:rPr>
                        <a:t>0013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MOVL V=100.0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以直线插补方式移动到示教点</a:t>
                      </a:r>
                      <a:r>
                        <a:rPr lang="en-US" sz="900" kern="100">
                          <a:effectLst/>
                        </a:rPr>
                        <a:t>4(</a:t>
                      </a:r>
                      <a:r>
                        <a:rPr lang="zh-CN" sz="900" kern="100">
                          <a:effectLst/>
                        </a:rPr>
                        <a:t>接近释放位置</a:t>
                      </a:r>
                      <a:r>
                        <a:rPr lang="en-US" sz="900" kern="100">
                          <a:effectLst/>
                        </a:rPr>
                        <a:t>)</a:t>
                      </a:r>
                      <a:r>
                        <a:rPr lang="zh-CN" sz="900" kern="100">
                          <a:effectLst/>
                        </a:rPr>
                        <a:t>，再现速度为</a:t>
                      </a:r>
                      <a:r>
                        <a:rPr lang="en-US" sz="900" kern="100">
                          <a:effectLst/>
                        </a:rPr>
                        <a:t>100cm/min</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97642543"/>
                  </a:ext>
                </a:extLst>
              </a:tr>
              <a:tr h="162950">
                <a:tc>
                  <a:txBody>
                    <a:bodyPr/>
                    <a:lstStyle/>
                    <a:p>
                      <a:r>
                        <a:rPr lang="en-US" sz="900" kern="100">
                          <a:effectLst/>
                        </a:rPr>
                        <a:t>0014</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MOVJ VJ=25.00</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a:effectLst/>
                        </a:rPr>
                        <a:t>以关节插补方式移动到示教点</a:t>
                      </a:r>
                      <a:r>
                        <a:rPr lang="en-US" sz="900" kern="100">
                          <a:effectLst/>
                        </a:rPr>
                        <a:t>1(</a:t>
                      </a:r>
                      <a:r>
                        <a:rPr lang="zh-CN" sz="900" kern="100">
                          <a:effectLst/>
                        </a:rPr>
                        <a:t>等待位置</a:t>
                      </a:r>
                      <a:r>
                        <a:rPr lang="en-US" sz="900" kern="100">
                          <a:effectLst/>
                        </a:rPr>
                        <a:t>)</a:t>
                      </a:r>
                      <a:r>
                        <a:rPr lang="zh-CN" sz="900" kern="100">
                          <a:effectLst/>
                        </a:rPr>
                        <a:t>，再现速度为</a:t>
                      </a:r>
                      <a:r>
                        <a:rPr lang="en-US" sz="900" kern="100">
                          <a:effectLst/>
                        </a:rPr>
                        <a:t>25%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28612117"/>
                  </a:ext>
                </a:extLst>
              </a:tr>
              <a:tr h="162950">
                <a:tc>
                  <a:txBody>
                    <a:bodyPr/>
                    <a:lstStyle/>
                    <a:p>
                      <a:r>
                        <a:rPr lang="en-US" sz="900" kern="100">
                          <a:effectLst/>
                        </a:rPr>
                        <a:t>0015</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900" kern="100">
                          <a:effectLst/>
                        </a:rPr>
                        <a:t>END</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900" kern="100" dirty="0">
                          <a:effectLst/>
                        </a:rPr>
                        <a:t>程序结束</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27519711"/>
                  </a:ext>
                </a:extLst>
              </a:tr>
            </a:tbl>
          </a:graphicData>
        </a:graphic>
      </p:graphicFrame>
      <p:sp>
        <p:nvSpPr>
          <p:cNvPr id="6" name="矩形 5"/>
          <p:cNvSpPr/>
          <p:nvPr/>
        </p:nvSpPr>
        <p:spPr>
          <a:xfrm>
            <a:off x="4283968" y="779808"/>
            <a:ext cx="4006225" cy="369332"/>
          </a:xfrm>
          <a:prstGeom prst="rect">
            <a:avLst/>
          </a:prstGeom>
        </p:spPr>
        <p:txBody>
          <a:bodyPr wrap="none">
            <a:spAutoFit/>
          </a:bodyPr>
          <a:lstStyle/>
          <a:p>
            <a:pPr lvl="0" indent="266700" algn="ctr" eaLnBrk="0" fontAlgn="base" hangingPunct="0">
              <a:spcBef>
                <a:spcPct val="0"/>
              </a:spcBef>
              <a:spcAft>
                <a:spcPct val="0"/>
              </a:spcAft>
            </a:pPr>
            <a:r>
              <a:rPr lang="zh-CN" altLang="zh-CN" dirty="0">
                <a:solidFill>
                  <a:srgbClr val="000000"/>
                </a:solidFill>
                <a:latin typeface="Times New Roman" panose="02020603050405020304" pitchFamily="18" charset="0"/>
                <a:cs typeface="Times New Roman" panose="02020603050405020304" pitchFamily="18" charset="0"/>
              </a:rPr>
              <a:t>表</a:t>
            </a:r>
            <a:r>
              <a:rPr lang="en-US" altLang="zh-CN" dirty="0">
                <a:solidFill>
                  <a:srgbClr val="000000"/>
                </a:solidFill>
                <a:latin typeface="Times New Roman" panose="02020603050405020304" pitchFamily="18" charset="0"/>
                <a:cs typeface="Times New Roman" panose="02020603050405020304" pitchFamily="18" charset="0"/>
              </a:rPr>
              <a:t>7.3 INFORM</a:t>
            </a:r>
            <a:r>
              <a:rPr lang="zh-CN" altLang="en-US" dirty="0">
                <a:solidFill>
                  <a:srgbClr val="000000"/>
                </a:solidFill>
                <a:latin typeface="Times New Roman" panose="02020603050405020304" pitchFamily="18" charset="0"/>
                <a:cs typeface="Times New Roman" panose="02020603050405020304" pitchFamily="18" charset="0"/>
              </a:rPr>
              <a:t>语言示教程序及说明</a:t>
            </a:r>
            <a:endParaRPr lang="zh-CN" altLang="en-US" sz="2800" dirty="0">
              <a:latin typeface="Arial" panose="020B0604020202020204" pitchFamily="34" charset="0"/>
            </a:endParaRPr>
          </a:p>
        </p:txBody>
      </p:sp>
      <p:cxnSp>
        <p:nvCxnSpPr>
          <p:cNvPr id="8" name="直接连接符 7"/>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3655747" y="254504"/>
            <a:ext cx="1544012" cy="369332"/>
          </a:xfrm>
          <a:prstGeom prst="rect">
            <a:avLst/>
          </a:prstGeom>
        </p:spPr>
        <p:txBody>
          <a:bodyPr wrap="none">
            <a:spAutoFit/>
          </a:bodyPr>
          <a:lstStyle/>
          <a:p>
            <a:r>
              <a:rPr lang="en-US" altLang="zh-CN" dirty="0">
                <a:latin typeface="Times New Roman" panose="02020603050405020304" pitchFamily="18" charset="0"/>
              </a:rPr>
              <a:t>INFORM</a:t>
            </a:r>
            <a:r>
              <a:rPr lang="zh-CN" altLang="zh-CN" dirty="0">
                <a:latin typeface="Times New Roman" panose="02020603050405020304" pitchFamily="18" charset="0"/>
                <a:cs typeface="Times New Roman" panose="02020603050405020304" pitchFamily="18" charset="0"/>
              </a:rPr>
              <a:t>语言</a:t>
            </a:r>
            <a:endParaRPr lang="zh-CN" altLang="en-US" dirty="0"/>
          </a:p>
        </p:txBody>
      </p:sp>
      <p:sp>
        <p:nvSpPr>
          <p:cNvPr id="10" name="矩形 9"/>
          <p:cNvSpPr/>
          <p:nvPr/>
        </p:nvSpPr>
        <p:spPr>
          <a:xfrm>
            <a:off x="4031940" y="1149140"/>
            <a:ext cx="4928044" cy="387088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83239816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223412" cy="369332"/>
          </a:xfrm>
          <a:prstGeom prst="rect">
            <a:avLst/>
          </a:prstGeom>
        </p:spPr>
        <p:txBody>
          <a:bodyPr wrap="none">
            <a:spAutoFit/>
          </a:bodyPr>
          <a:lstStyle/>
          <a:p>
            <a:r>
              <a:rPr lang="en-US" altLang="zh-CN" dirty="0"/>
              <a:t>RAPID</a:t>
            </a:r>
            <a:r>
              <a:rPr lang="zh-CN" altLang="zh-CN" dirty="0" smtClean="0">
                <a:latin typeface="Times New Roman" panose="02020603050405020304" pitchFamily="18" charset="0"/>
                <a:cs typeface="Times New Roman" panose="02020603050405020304" pitchFamily="18" charset="0"/>
              </a:rPr>
              <a:t>语言</a:t>
            </a:r>
            <a:endParaRPr lang="zh-CN" altLang="en-US" dirty="0"/>
          </a:p>
        </p:txBody>
      </p:sp>
      <p:sp>
        <p:nvSpPr>
          <p:cNvPr id="5" name="矩形 4"/>
          <p:cNvSpPr/>
          <p:nvPr/>
        </p:nvSpPr>
        <p:spPr>
          <a:xfrm>
            <a:off x="1439652" y="843558"/>
            <a:ext cx="6264696" cy="369332"/>
          </a:xfrm>
          <a:prstGeom prst="rect">
            <a:avLst/>
          </a:prstGeom>
        </p:spPr>
        <p:txBody>
          <a:bodyPr wrap="square">
            <a:spAutoFit/>
          </a:bodyPr>
          <a:lstStyle/>
          <a:p>
            <a:r>
              <a:rPr lang="en-US" altLang="zh-CN" b="1" kern="0" dirty="0" err="1">
                <a:solidFill>
                  <a:srgbClr val="000000"/>
                </a:solidFill>
                <a:latin typeface="Times New Roman" panose="02020603050405020304" pitchFamily="18" charset="0"/>
              </a:rPr>
              <a:t>TPWrite</a:t>
            </a:r>
            <a:r>
              <a:rPr lang="en-US" altLang="zh-CN" b="1" kern="0" dirty="0">
                <a:solidFill>
                  <a:srgbClr val="000000"/>
                </a:solidFill>
                <a:latin typeface="Times New Roman" panose="02020603050405020304" pitchFamily="18" charset="0"/>
              </a:rPr>
              <a:t> String [\</a:t>
            </a:r>
            <a:r>
              <a:rPr lang="en-US" altLang="zh-CN" b="1" kern="0" dirty="0" err="1">
                <a:solidFill>
                  <a:srgbClr val="000000"/>
                </a:solidFill>
                <a:latin typeface="Times New Roman" panose="02020603050405020304" pitchFamily="18" charset="0"/>
              </a:rPr>
              <a:t>Num</a:t>
            </a:r>
            <a:r>
              <a:rPr lang="en-US" altLang="zh-CN" b="1" kern="0" dirty="0">
                <a:solidFill>
                  <a:srgbClr val="000000"/>
                </a:solidFill>
                <a:latin typeface="Times New Roman" panose="02020603050405020304" pitchFamily="18" charset="0"/>
              </a:rPr>
              <a:t>] | [\Bool] | [\</a:t>
            </a:r>
            <a:r>
              <a:rPr lang="en-US" altLang="zh-CN" b="1" kern="0" dirty="0" err="1">
                <a:solidFill>
                  <a:srgbClr val="000000"/>
                </a:solidFill>
                <a:latin typeface="Times New Roman" panose="02020603050405020304" pitchFamily="18" charset="0"/>
              </a:rPr>
              <a:t>Pos</a:t>
            </a:r>
            <a:r>
              <a:rPr lang="en-US" altLang="zh-CN" b="1" kern="0" dirty="0">
                <a:solidFill>
                  <a:srgbClr val="000000"/>
                </a:solidFill>
                <a:latin typeface="Times New Roman" panose="02020603050405020304" pitchFamily="18" charset="0"/>
              </a:rPr>
              <a:t>] | [\Orient] [\</a:t>
            </a:r>
            <a:r>
              <a:rPr lang="en-US" altLang="zh-CN" b="1" kern="0" dirty="0" err="1">
                <a:solidFill>
                  <a:srgbClr val="000000"/>
                </a:solidFill>
                <a:latin typeface="Times New Roman" panose="02020603050405020304" pitchFamily="18" charset="0"/>
              </a:rPr>
              <a:t>Dnum</a:t>
            </a:r>
            <a:r>
              <a:rPr lang="en-US" altLang="zh-CN" b="1" kern="0" dirty="0">
                <a:solidFill>
                  <a:srgbClr val="000000"/>
                </a:solidFill>
                <a:latin typeface="Times New Roman" panose="02020603050405020304" pitchFamily="18" charset="0"/>
              </a:rPr>
              <a:t>]</a:t>
            </a:r>
            <a:endParaRPr lang="zh-CN" altLang="en-US" dirty="0"/>
          </a:p>
        </p:txBody>
      </p:sp>
      <p:graphicFrame>
        <p:nvGraphicFramePr>
          <p:cNvPr id="6" name="表格 5"/>
          <p:cNvGraphicFramePr>
            <a:graphicFrameLocks noGrp="1"/>
          </p:cNvGraphicFramePr>
          <p:nvPr>
            <p:extLst>
              <p:ext uri="{D42A27DB-BD31-4B8C-83A1-F6EECF244321}">
                <p14:modId xmlns:p14="http://schemas.microsoft.com/office/powerpoint/2010/main" val="2745095183"/>
              </p:ext>
            </p:extLst>
          </p:nvPr>
        </p:nvGraphicFramePr>
        <p:xfrm>
          <a:off x="1043608" y="1779662"/>
          <a:ext cx="7416824" cy="3240362"/>
        </p:xfrm>
        <a:graphic>
          <a:graphicData uri="http://schemas.openxmlformats.org/drawingml/2006/table">
            <a:tbl>
              <a:tblPr firstRow="1" firstCol="1" bandRow="1">
                <a:tableStyleId>{5C22544A-7EE6-4342-B048-85BDC9FD1C3A}</a:tableStyleId>
              </a:tblPr>
              <a:tblGrid>
                <a:gridCol w="1508084">
                  <a:extLst>
                    <a:ext uri="{9D8B030D-6E8A-4147-A177-3AD203B41FA5}">
                      <a16:colId xmlns:a16="http://schemas.microsoft.com/office/drawing/2014/main" val="1316452947"/>
                    </a:ext>
                  </a:extLst>
                </a:gridCol>
                <a:gridCol w="4053867">
                  <a:extLst>
                    <a:ext uri="{9D8B030D-6E8A-4147-A177-3AD203B41FA5}">
                      <a16:colId xmlns:a16="http://schemas.microsoft.com/office/drawing/2014/main" val="2743670681"/>
                    </a:ext>
                  </a:extLst>
                </a:gridCol>
                <a:gridCol w="1854873">
                  <a:extLst>
                    <a:ext uri="{9D8B030D-6E8A-4147-A177-3AD203B41FA5}">
                      <a16:colId xmlns:a16="http://schemas.microsoft.com/office/drawing/2014/main" val="658036322"/>
                    </a:ext>
                  </a:extLst>
                </a:gridCol>
              </a:tblGrid>
              <a:tr h="355031">
                <a:tc>
                  <a:txBody>
                    <a:bodyPr/>
                    <a:lstStyle/>
                    <a:p>
                      <a:pPr indent="266700"/>
                      <a:r>
                        <a:rPr lang="zh-CN" sz="1050" kern="100">
                          <a:effectLst/>
                        </a:rPr>
                        <a:t>元素类型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内容说明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举例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86720968"/>
                  </a:ext>
                </a:extLst>
              </a:tr>
              <a:tr h="390252">
                <a:tc>
                  <a:txBody>
                    <a:bodyPr/>
                    <a:lstStyle/>
                    <a:p>
                      <a:pPr indent="266700"/>
                      <a:r>
                        <a:rPr lang="zh-CN" sz="1050" kern="100">
                          <a:effectLst/>
                        </a:rPr>
                        <a:t>标识符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对模块、程序、数据和标签命名</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PROC</a:t>
                      </a:r>
                      <a:r>
                        <a:rPr lang="zh-CN" sz="1050" kern="100">
                          <a:effectLst/>
                        </a:rPr>
                        <a:t>，</a:t>
                      </a:r>
                      <a:r>
                        <a:rPr lang="en-US" sz="1050" kern="100">
                          <a:effectLst/>
                        </a:rPr>
                        <a:t>VAR</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447733441"/>
                  </a:ext>
                </a:extLst>
              </a:tr>
              <a:tr h="364893">
                <a:tc>
                  <a:txBody>
                    <a:bodyPr/>
                    <a:lstStyle/>
                    <a:p>
                      <a:pPr indent="266700"/>
                      <a:r>
                        <a:rPr lang="zh-CN" sz="1050" kern="100">
                          <a:effectLst/>
                        </a:rPr>
                        <a:t>保留字</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作为特殊意义的标识符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ALIAS</a:t>
                      </a:r>
                      <a:r>
                        <a:rPr lang="zh-CN" sz="1050" kern="100">
                          <a:effectLst/>
                        </a:rPr>
                        <a:t>，</a:t>
                      </a:r>
                      <a:r>
                        <a:rPr lang="en-US" sz="1050" kern="100">
                          <a:effectLst/>
                        </a:rPr>
                        <a:t>AND</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48675115"/>
                  </a:ext>
                </a:extLst>
              </a:tr>
              <a:tr h="355031">
                <a:tc>
                  <a:txBody>
                    <a:bodyPr/>
                    <a:lstStyle/>
                    <a:p>
                      <a:r>
                        <a:rPr lang="zh-CN" sz="1050" kern="100">
                          <a:effectLst/>
                        </a:rPr>
                        <a:t>空格和换行符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在标识符，保留字，数值中不能使用</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48863831"/>
                  </a:ext>
                </a:extLst>
              </a:tr>
              <a:tr h="355031">
                <a:tc>
                  <a:txBody>
                    <a:bodyPr/>
                    <a:lstStyle/>
                    <a:p>
                      <a:pPr indent="266700"/>
                      <a:r>
                        <a:rPr lang="zh-CN" sz="1050" kern="100">
                          <a:effectLst/>
                        </a:rPr>
                        <a:t>数值</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数值有整数小数两种表示方式</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 </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038429262"/>
                  </a:ext>
                </a:extLst>
              </a:tr>
              <a:tr h="355031">
                <a:tc>
                  <a:txBody>
                    <a:bodyPr/>
                    <a:lstStyle/>
                    <a:p>
                      <a:pPr indent="266700"/>
                      <a:r>
                        <a:rPr lang="zh-CN" sz="1050" kern="100">
                          <a:effectLst/>
                        </a:rPr>
                        <a:t>逻辑值</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与</a:t>
                      </a:r>
                      <a:r>
                        <a:rPr lang="en-US" sz="1050" kern="100">
                          <a:effectLst/>
                        </a:rPr>
                        <a:t>C</a:t>
                      </a:r>
                      <a:r>
                        <a:rPr lang="zh-CN" sz="1050" kern="100">
                          <a:effectLst/>
                        </a:rPr>
                        <a:t>中的</a:t>
                      </a:r>
                      <a:r>
                        <a:rPr lang="en-US" sz="1050" kern="100">
                          <a:effectLst/>
                        </a:rPr>
                        <a:t>bool</a:t>
                      </a:r>
                      <a:r>
                        <a:rPr lang="zh-CN" sz="1050" kern="100">
                          <a:effectLst/>
                        </a:rPr>
                        <a:t>量类似</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TRUE</a:t>
                      </a:r>
                      <a:r>
                        <a:rPr lang="zh-CN" sz="1050" kern="100">
                          <a:effectLst/>
                        </a:rPr>
                        <a:t>，</a:t>
                      </a:r>
                      <a:r>
                        <a:rPr lang="en-US" sz="1050" kern="100">
                          <a:effectLst/>
                        </a:rPr>
                        <a:t>FALSE</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6802044"/>
                  </a:ext>
                </a:extLst>
              </a:tr>
              <a:tr h="355031">
                <a:tc>
                  <a:txBody>
                    <a:bodyPr/>
                    <a:lstStyle/>
                    <a:p>
                      <a:pPr indent="266700"/>
                      <a:r>
                        <a:rPr lang="zh-CN" sz="1050" kern="100">
                          <a:effectLst/>
                        </a:rPr>
                        <a:t>字符串</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字符串的最长长度为</a:t>
                      </a:r>
                      <a:r>
                        <a:rPr lang="en-US" sz="1050" kern="100">
                          <a:effectLst/>
                        </a:rPr>
                        <a:t>80</a:t>
                      </a:r>
                      <a:r>
                        <a:rPr lang="zh-CN" sz="1050" kern="100">
                          <a:effectLst/>
                        </a:rPr>
                        <a:t>个字符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"This is a string"</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57416877"/>
                  </a:ext>
                </a:extLst>
              </a:tr>
              <a:tr h="355031">
                <a:tc>
                  <a:txBody>
                    <a:bodyPr/>
                    <a:lstStyle/>
                    <a:p>
                      <a:pPr indent="266700"/>
                      <a:r>
                        <a:rPr lang="zh-CN" sz="1050" kern="100">
                          <a:effectLst/>
                        </a:rPr>
                        <a:t>注释</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帮助理解程序，以</a:t>
                      </a:r>
                      <a:r>
                        <a:rPr lang="en-US" sz="1050" kern="100">
                          <a:effectLst/>
                        </a:rPr>
                        <a:t>“</a:t>
                      </a:r>
                      <a:r>
                        <a:rPr lang="zh-CN" sz="1050" kern="100">
                          <a:effectLst/>
                        </a:rPr>
                        <a:t>！</a:t>
                      </a:r>
                      <a:r>
                        <a:rPr lang="en-US" sz="1050" kern="100">
                          <a:effectLst/>
                        </a:rPr>
                        <a:t>”</a:t>
                      </a:r>
                      <a:r>
                        <a:rPr lang="zh-CN" sz="1050" kern="100">
                          <a:effectLst/>
                        </a:rPr>
                        <a:t>开始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a:t>
                      </a:r>
                      <a:r>
                        <a:rPr lang="en-US" sz="1050" kern="100">
                          <a:effectLst/>
                        </a:rPr>
                        <a:t>comment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59622682"/>
                  </a:ext>
                </a:extLst>
              </a:tr>
              <a:tr h="355031">
                <a:tc>
                  <a:txBody>
                    <a:bodyPr/>
                    <a:lstStyle/>
                    <a:p>
                      <a:pPr indent="266700"/>
                      <a:r>
                        <a:rPr lang="zh-CN" sz="1050" kern="100">
                          <a:effectLst/>
                        </a:rPr>
                        <a:t>单字符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包括一些冰岛字母和带重音字母</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dirty="0">
                          <a:effectLst/>
                        </a:rPr>
                        <a:t> </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54826016"/>
                  </a:ext>
                </a:extLst>
              </a:tr>
            </a:tbl>
          </a:graphicData>
        </a:graphic>
      </p:graphicFrame>
      <p:sp>
        <p:nvSpPr>
          <p:cNvPr id="7" name="矩形 6"/>
          <p:cNvSpPr/>
          <p:nvPr/>
        </p:nvSpPr>
        <p:spPr>
          <a:xfrm>
            <a:off x="3527483" y="1375689"/>
            <a:ext cx="2089033" cy="369332"/>
          </a:xfrm>
          <a:prstGeom prst="rect">
            <a:avLst/>
          </a:prstGeom>
        </p:spPr>
        <p:txBody>
          <a:bodyPr wrap="none">
            <a:spAutoFit/>
          </a:bodyPr>
          <a:lstStyle/>
          <a:p>
            <a:r>
              <a:rPr lang="en-US" altLang="zh-CN" dirty="0">
                <a:latin typeface="Times New Roman" panose="02020603050405020304" pitchFamily="18" charset="0"/>
              </a:rPr>
              <a:t> RAPID</a:t>
            </a:r>
            <a:r>
              <a:rPr lang="zh-CN" altLang="zh-CN" dirty="0">
                <a:latin typeface="Times New Roman" panose="02020603050405020304" pitchFamily="18" charset="0"/>
                <a:cs typeface="Times New Roman" panose="02020603050405020304" pitchFamily="18" charset="0"/>
              </a:rPr>
              <a:t>语言元素表</a:t>
            </a:r>
            <a:endParaRPr lang="zh-CN" altLang="en-US" dirty="0"/>
          </a:p>
        </p:txBody>
      </p:sp>
    </p:spTree>
    <p:extLst>
      <p:ext uri="{BB962C8B-B14F-4D97-AF65-F5344CB8AC3E}">
        <p14:creationId xmlns:p14="http://schemas.microsoft.com/office/powerpoint/2010/main" val="159945275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223412" cy="369332"/>
          </a:xfrm>
          <a:prstGeom prst="rect">
            <a:avLst/>
          </a:prstGeom>
        </p:spPr>
        <p:txBody>
          <a:bodyPr wrap="none">
            <a:spAutoFit/>
          </a:bodyPr>
          <a:lstStyle/>
          <a:p>
            <a:r>
              <a:rPr lang="en-US" altLang="zh-CN" dirty="0"/>
              <a:t>RAPID</a:t>
            </a:r>
            <a:r>
              <a:rPr lang="zh-CN" altLang="zh-CN" dirty="0" smtClean="0">
                <a:latin typeface="Times New Roman" panose="02020603050405020304" pitchFamily="18" charset="0"/>
                <a:cs typeface="Times New Roman" panose="02020603050405020304" pitchFamily="18" charset="0"/>
              </a:rPr>
              <a:t>语言</a:t>
            </a:r>
            <a:endParaRPr lang="zh-CN" altLang="en-US" dirty="0"/>
          </a:p>
        </p:txBody>
      </p:sp>
      <p:graphicFrame>
        <p:nvGraphicFramePr>
          <p:cNvPr id="8" name="对象 7"/>
          <p:cNvGraphicFramePr>
            <a:graphicFrameLocks noChangeAspect="1"/>
          </p:cNvGraphicFramePr>
          <p:nvPr>
            <p:extLst>
              <p:ext uri="{D42A27DB-BD31-4B8C-83A1-F6EECF244321}">
                <p14:modId xmlns:p14="http://schemas.microsoft.com/office/powerpoint/2010/main" val="1692133402"/>
              </p:ext>
            </p:extLst>
          </p:nvPr>
        </p:nvGraphicFramePr>
        <p:xfrm>
          <a:off x="155265" y="1308812"/>
          <a:ext cx="3876675" cy="2971800"/>
        </p:xfrm>
        <a:graphic>
          <a:graphicData uri="http://schemas.openxmlformats.org/presentationml/2006/ole">
            <mc:AlternateContent xmlns:mc="http://schemas.openxmlformats.org/markup-compatibility/2006">
              <mc:Choice xmlns:v="urn:schemas-microsoft-com:vml" Requires="v">
                <p:oleObj spid="_x0000_s6164" name="Visio" r:id="rId4" imgW="3876449" imgH="2971640" progId="Visio.Drawing.15">
                  <p:embed/>
                </p:oleObj>
              </mc:Choice>
              <mc:Fallback>
                <p:oleObj name="Visio" r:id="rId4" imgW="3876449" imgH="2971640" progId="Visio.Drawing.15">
                  <p:embed/>
                  <p:pic>
                    <p:nvPicPr>
                      <p:cNvPr id="3" name="对象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265" y="1308812"/>
                        <a:ext cx="3876675" cy="297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579084169"/>
              </p:ext>
            </p:extLst>
          </p:nvPr>
        </p:nvGraphicFramePr>
        <p:xfrm>
          <a:off x="4237738" y="1042382"/>
          <a:ext cx="4235620" cy="3977640"/>
        </p:xfrm>
        <a:graphic>
          <a:graphicData uri="http://schemas.openxmlformats.org/drawingml/2006/table">
            <a:tbl>
              <a:tblPr>
                <a:tableStyleId>{5C22544A-7EE6-4342-B048-85BDC9FD1C3A}</a:tableStyleId>
              </a:tblPr>
              <a:tblGrid>
                <a:gridCol w="4235620">
                  <a:extLst>
                    <a:ext uri="{9D8B030D-6E8A-4147-A177-3AD203B41FA5}">
                      <a16:colId xmlns:a16="http://schemas.microsoft.com/office/drawing/2014/main" val="3777514945"/>
                    </a:ext>
                  </a:extLst>
                </a:gridCol>
              </a:tblGrid>
              <a:tr h="3384376">
                <a:tc>
                  <a:txBody>
                    <a:bodyPr/>
                    <a:lstStyle/>
                    <a:p>
                      <a:pPr algn="l">
                        <a:spcAft>
                          <a:spcPts val="0"/>
                        </a:spcAft>
                      </a:pPr>
                      <a:r>
                        <a:rPr lang="en-US" sz="900" kern="0" dirty="0">
                          <a:effectLst/>
                        </a:rPr>
                        <a:t>MODULE Module1</a:t>
                      </a:r>
                      <a:endParaRPr lang="zh-CN" sz="900" kern="100" dirty="0">
                        <a:effectLst/>
                      </a:endParaRPr>
                    </a:p>
                    <a:p>
                      <a:pPr algn="l">
                        <a:spcAft>
                          <a:spcPts val="0"/>
                        </a:spcAft>
                      </a:pPr>
                      <a:r>
                        <a:rPr lang="en-US" sz="900" kern="0" dirty="0">
                          <a:effectLst/>
                        </a:rPr>
                        <a:t>! The tool tool0 defines the wrist coordinate system, with the origin being the </a:t>
                      </a:r>
                      <a:r>
                        <a:rPr lang="en-US" sz="900" kern="0" dirty="0" err="1">
                          <a:effectLst/>
                        </a:rPr>
                        <a:t>centre</a:t>
                      </a:r>
                      <a:r>
                        <a:rPr lang="en-US" sz="900" kern="0" dirty="0">
                          <a:effectLst/>
                        </a:rPr>
                        <a:t> of the mounting flange. </a:t>
                      </a:r>
                      <a:endParaRPr lang="zh-CN" sz="900" kern="100" dirty="0">
                        <a:effectLst/>
                      </a:endParaRPr>
                    </a:p>
                    <a:p>
                      <a:pPr algn="l">
                        <a:spcAft>
                          <a:spcPts val="0"/>
                        </a:spcAft>
                      </a:pPr>
                      <a:r>
                        <a:rPr lang="en-US" sz="900" kern="0" dirty="0">
                          <a:effectLst/>
                        </a:rPr>
                        <a:t>PERS </a:t>
                      </a:r>
                      <a:r>
                        <a:rPr lang="en-US" sz="900" kern="0" dirty="0" err="1">
                          <a:effectLst/>
                        </a:rPr>
                        <a:t>tooldata</a:t>
                      </a:r>
                      <a:r>
                        <a:rPr lang="en-US" sz="900" kern="0" dirty="0">
                          <a:effectLst/>
                        </a:rPr>
                        <a:t> tool0 := [ TRUE, [ [0, 0, 0], [1, 0, 0 ,0] ],[0.001, [0, 0, 0.001], [1, 0, 0, 0], 0, 0, 0] ];</a:t>
                      </a:r>
                      <a:endParaRPr lang="zh-CN" sz="900" kern="100" dirty="0">
                        <a:effectLst/>
                      </a:endParaRPr>
                    </a:p>
                    <a:p>
                      <a:pPr algn="l">
                        <a:spcAft>
                          <a:spcPts val="0"/>
                        </a:spcAft>
                      </a:pPr>
                      <a:r>
                        <a:rPr lang="en-US" sz="900" kern="0" dirty="0">
                          <a:effectLst/>
                        </a:rPr>
                        <a:t>! Instructions for creating positions: P1 - P6</a:t>
                      </a:r>
                      <a:endParaRPr lang="zh-CN" sz="900" kern="100" dirty="0">
                        <a:effectLst/>
                      </a:endParaRPr>
                    </a:p>
                    <a:p>
                      <a:pPr algn="l">
                        <a:spcAft>
                          <a:spcPts val="0"/>
                        </a:spcAft>
                      </a:pPr>
                      <a:r>
                        <a:rPr lang="en-US" sz="900" kern="0" dirty="0">
                          <a:effectLst/>
                        </a:rPr>
                        <a:t>CONST </a:t>
                      </a:r>
                      <a:r>
                        <a:rPr lang="en-US" sz="900" kern="0" dirty="0" err="1">
                          <a:effectLst/>
                        </a:rPr>
                        <a:t>robtarget</a:t>
                      </a:r>
                      <a:r>
                        <a:rPr lang="en-US" sz="900" kern="0" dirty="0">
                          <a:effectLst/>
                        </a:rPr>
                        <a:t> P1:=[...];</a:t>
                      </a:r>
                      <a:endParaRPr lang="zh-CN" sz="900" kern="100" dirty="0">
                        <a:effectLst/>
                      </a:endParaRPr>
                    </a:p>
                    <a:p>
                      <a:pPr algn="l">
                        <a:spcAft>
                          <a:spcPts val="0"/>
                        </a:spcAft>
                      </a:pPr>
                      <a:r>
                        <a:rPr lang="en-US" sz="900" kern="0" dirty="0">
                          <a:effectLst/>
                        </a:rPr>
                        <a:t>CONST </a:t>
                      </a:r>
                      <a:r>
                        <a:rPr lang="en-US" sz="900" kern="0" dirty="0" err="1">
                          <a:effectLst/>
                        </a:rPr>
                        <a:t>robtarget</a:t>
                      </a:r>
                      <a:r>
                        <a:rPr lang="en-US" sz="900" kern="0" dirty="0">
                          <a:effectLst/>
                        </a:rPr>
                        <a:t> P2:=[...];</a:t>
                      </a:r>
                      <a:endParaRPr lang="zh-CN" sz="900" kern="100" dirty="0">
                        <a:effectLst/>
                      </a:endParaRPr>
                    </a:p>
                    <a:p>
                      <a:pPr algn="l">
                        <a:spcAft>
                          <a:spcPts val="0"/>
                        </a:spcAft>
                      </a:pPr>
                      <a:r>
                        <a:rPr lang="en-US" sz="900" kern="0" dirty="0">
                          <a:effectLst/>
                        </a:rPr>
                        <a:t>CONST </a:t>
                      </a:r>
                      <a:r>
                        <a:rPr lang="en-US" sz="900" kern="0" dirty="0" err="1">
                          <a:effectLst/>
                        </a:rPr>
                        <a:t>robtarget</a:t>
                      </a:r>
                      <a:r>
                        <a:rPr lang="en-US" sz="900" kern="0" dirty="0">
                          <a:effectLst/>
                        </a:rPr>
                        <a:t> P3:=[...];</a:t>
                      </a:r>
                      <a:endParaRPr lang="zh-CN" sz="900" kern="100" dirty="0">
                        <a:effectLst/>
                      </a:endParaRPr>
                    </a:p>
                    <a:p>
                      <a:pPr algn="l">
                        <a:spcAft>
                          <a:spcPts val="0"/>
                        </a:spcAft>
                      </a:pPr>
                      <a:r>
                        <a:rPr lang="en-US" sz="900" kern="0" dirty="0">
                          <a:effectLst/>
                        </a:rPr>
                        <a:t>CONST </a:t>
                      </a:r>
                      <a:r>
                        <a:rPr lang="en-US" sz="900" kern="0" dirty="0" err="1">
                          <a:effectLst/>
                        </a:rPr>
                        <a:t>robtarget</a:t>
                      </a:r>
                      <a:r>
                        <a:rPr lang="en-US" sz="900" kern="0" dirty="0">
                          <a:effectLst/>
                        </a:rPr>
                        <a:t> P4:=[...];</a:t>
                      </a:r>
                      <a:endParaRPr lang="zh-CN" sz="900" kern="100" dirty="0">
                        <a:effectLst/>
                      </a:endParaRPr>
                    </a:p>
                    <a:p>
                      <a:pPr algn="l">
                        <a:spcAft>
                          <a:spcPts val="0"/>
                        </a:spcAft>
                      </a:pPr>
                      <a:r>
                        <a:rPr lang="en-US" sz="900" kern="0" dirty="0">
                          <a:effectLst/>
                        </a:rPr>
                        <a:t>CONST </a:t>
                      </a:r>
                      <a:r>
                        <a:rPr lang="en-US" sz="900" kern="0" dirty="0" err="1">
                          <a:effectLst/>
                        </a:rPr>
                        <a:t>robtarget</a:t>
                      </a:r>
                      <a:r>
                        <a:rPr lang="en-US" sz="900" kern="0" dirty="0">
                          <a:effectLst/>
                        </a:rPr>
                        <a:t> P5:=[...];</a:t>
                      </a:r>
                      <a:endParaRPr lang="zh-CN" sz="900" kern="100" dirty="0">
                        <a:effectLst/>
                      </a:endParaRPr>
                    </a:p>
                    <a:p>
                      <a:pPr algn="l">
                        <a:spcAft>
                          <a:spcPts val="0"/>
                        </a:spcAft>
                      </a:pPr>
                      <a:r>
                        <a:rPr lang="en-US" sz="900" kern="0" dirty="0">
                          <a:effectLst/>
                        </a:rPr>
                        <a:t>CONST </a:t>
                      </a:r>
                      <a:r>
                        <a:rPr lang="en-US" sz="900" kern="0" dirty="0" err="1">
                          <a:effectLst/>
                        </a:rPr>
                        <a:t>robtarget</a:t>
                      </a:r>
                      <a:r>
                        <a:rPr lang="en-US" sz="900" kern="0" dirty="0">
                          <a:effectLst/>
                        </a:rPr>
                        <a:t> P6:=[...];</a:t>
                      </a:r>
                      <a:endParaRPr lang="zh-CN" sz="900" kern="100" dirty="0">
                        <a:effectLst/>
                      </a:endParaRPr>
                    </a:p>
                    <a:p>
                      <a:pPr algn="l">
                        <a:spcAft>
                          <a:spcPts val="0"/>
                        </a:spcAft>
                      </a:pPr>
                      <a:r>
                        <a:rPr lang="en-US" sz="900" kern="0" dirty="0">
                          <a:effectLst/>
                        </a:rPr>
                        <a:t>    PROC main()</a:t>
                      </a:r>
                      <a:endParaRPr lang="zh-CN" sz="900" kern="100" dirty="0">
                        <a:effectLst/>
                      </a:endParaRPr>
                    </a:p>
                    <a:p>
                      <a:pPr algn="l">
                        <a:spcAft>
                          <a:spcPts val="0"/>
                        </a:spcAft>
                      </a:pPr>
                      <a:r>
                        <a:rPr lang="en-US" sz="900" kern="0" dirty="0">
                          <a:effectLst/>
                        </a:rPr>
                        <a:t>        MOVEJ P1, V1000, fine, tool0; </a:t>
                      </a:r>
                      <a:endParaRPr lang="zh-CN" sz="900" kern="100" dirty="0">
                        <a:effectLst/>
                      </a:endParaRPr>
                    </a:p>
                    <a:p>
                      <a:pPr algn="l">
                        <a:spcAft>
                          <a:spcPts val="0"/>
                        </a:spcAft>
                      </a:pPr>
                      <a:r>
                        <a:rPr lang="en-US" sz="900" kern="0" dirty="0">
                          <a:effectLst/>
                        </a:rPr>
                        <a:t>        MOVEJ P2, v1000, fine, tool0;</a:t>
                      </a:r>
                      <a:endParaRPr lang="zh-CN" sz="900" kern="100" dirty="0">
                        <a:effectLst/>
                      </a:endParaRPr>
                    </a:p>
                    <a:p>
                      <a:pPr algn="l">
                        <a:spcAft>
                          <a:spcPts val="0"/>
                        </a:spcAft>
                      </a:pPr>
                      <a:r>
                        <a:rPr lang="en-US" sz="900" kern="0" dirty="0">
                          <a:effectLst/>
                        </a:rPr>
                        <a:t>        MOVEL P3, v1000, fine, tool0;</a:t>
                      </a:r>
                      <a:endParaRPr lang="zh-CN" sz="900" kern="100" dirty="0">
                        <a:effectLst/>
                      </a:endParaRPr>
                    </a:p>
                    <a:p>
                      <a:pPr algn="l">
                        <a:spcAft>
                          <a:spcPts val="0"/>
                        </a:spcAft>
                      </a:pPr>
                      <a:r>
                        <a:rPr lang="en-US" sz="900" kern="0" dirty="0">
                          <a:effectLst/>
                        </a:rPr>
                        <a:t>        Set Gripper;</a:t>
                      </a:r>
                      <a:endParaRPr lang="zh-CN" sz="900" kern="100" dirty="0">
                        <a:effectLst/>
                      </a:endParaRPr>
                    </a:p>
                    <a:p>
                      <a:pPr algn="l">
                        <a:spcAft>
                          <a:spcPts val="0"/>
                        </a:spcAft>
                      </a:pPr>
                      <a:r>
                        <a:rPr lang="en-US" sz="900" kern="0" dirty="0">
                          <a:effectLst/>
                        </a:rPr>
                        <a:t>        </a:t>
                      </a:r>
                      <a:r>
                        <a:rPr lang="en-US" sz="900" kern="0" dirty="0" err="1">
                          <a:effectLst/>
                        </a:rPr>
                        <a:t>WaitTime</a:t>
                      </a:r>
                      <a:r>
                        <a:rPr lang="en-US" sz="900" kern="0" dirty="0">
                          <a:effectLst/>
                        </a:rPr>
                        <a:t> 0.5;</a:t>
                      </a:r>
                      <a:endParaRPr lang="zh-CN" sz="900" kern="100" dirty="0">
                        <a:effectLst/>
                      </a:endParaRPr>
                    </a:p>
                    <a:p>
                      <a:pPr algn="l">
                        <a:spcAft>
                          <a:spcPts val="0"/>
                        </a:spcAft>
                      </a:pPr>
                      <a:r>
                        <a:rPr lang="en-US" sz="900" kern="0" dirty="0">
                          <a:effectLst/>
                        </a:rPr>
                        <a:t>        MOVEL P2, v1000,fine,tool0;</a:t>
                      </a:r>
                      <a:endParaRPr lang="zh-CN" sz="900" kern="100" dirty="0">
                        <a:effectLst/>
                      </a:endParaRPr>
                    </a:p>
                    <a:p>
                      <a:pPr algn="l">
                        <a:spcAft>
                          <a:spcPts val="0"/>
                        </a:spcAft>
                      </a:pPr>
                      <a:r>
                        <a:rPr lang="en-US" sz="900" kern="0" dirty="0">
                          <a:effectLst/>
                        </a:rPr>
                        <a:t>        MOVEJ P1, v1000,fine,tool0;</a:t>
                      </a:r>
                      <a:endParaRPr lang="zh-CN" sz="900" kern="100" dirty="0">
                        <a:effectLst/>
                      </a:endParaRPr>
                    </a:p>
                    <a:p>
                      <a:pPr algn="l">
                        <a:spcAft>
                          <a:spcPts val="0"/>
                        </a:spcAft>
                      </a:pPr>
                      <a:r>
                        <a:rPr lang="en-US" sz="900" kern="0" dirty="0">
                          <a:effectLst/>
                        </a:rPr>
                        <a:t>        MOVEJ P4, v1000,fine,tool0;</a:t>
                      </a:r>
                      <a:endParaRPr lang="zh-CN" sz="900" kern="100" dirty="0">
                        <a:effectLst/>
                      </a:endParaRPr>
                    </a:p>
                    <a:p>
                      <a:pPr algn="l">
                        <a:spcAft>
                          <a:spcPts val="0"/>
                        </a:spcAft>
                      </a:pPr>
                      <a:r>
                        <a:rPr lang="en-US" sz="900" kern="0" dirty="0">
                          <a:effectLst/>
                        </a:rPr>
                        <a:t>        MOVEL P5, v1000,fine,tool0;</a:t>
                      </a:r>
                      <a:endParaRPr lang="zh-CN" sz="900" kern="100" dirty="0">
                        <a:effectLst/>
                      </a:endParaRPr>
                    </a:p>
                    <a:p>
                      <a:pPr algn="l">
                        <a:spcAft>
                          <a:spcPts val="0"/>
                        </a:spcAft>
                      </a:pPr>
                      <a:r>
                        <a:rPr lang="en-US" sz="900" kern="0" dirty="0">
                          <a:effectLst/>
                        </a:rPr>
                        <a:t>        MOVEL P6, v500,fine,tool0;</a:t>
                      </a:r>
                      <a:endParaRPr lang="zh-CN" sz="900" kern="100" dirty="0">
                        <a:effectLst/>
                      </a:endParaRPr>
                    </a:p>
                    <a:p>
                      <a:pPr algn="l">
                        <a:spcAft>
                          <a:spcPts val="0"/>
                        </a:spcAft>
                      </a:pPr>
                      <a:r>
                        <a:rPr lang="en-US" sz="900" kern="0" dirty="0">
                          <a:effectLst/>
                        </a:rPr>
                        <a:t>        Reset gripper;</a:t>
                      </a:r>
                      <a:endParaRPr lang="zh-CN" sz="900" kern="100" dirty="0">
                        <a:effectLst/>
                      </a:endParaRPr>
                    </a:p>
                    <a:p>
                      <a:pPr algn="l">
                        <a:spcAft>
                          <a:spcPts val="0"/>
                        </a:spcAft>
                      </a:pPr>
                      <a:r>
                        <a:rPr lang="en-US" sz="900" kern="0" dirty="0">
                          <a:effectLst/>
                        </a:rPr>
                        <a:t>        </a:t>
                      </a:r>
                      <a:r>
                        <a:rPr lang="en-US" sz="900" kern="0" dirty="0" err="1">
                          <a:effectLst/>
                        </a:rPr>
                        <a:t>WaitTime</a:t>
                      </a:r>
                      <a:r>
                        <a:rPr lang="en-US" sz="900" kern="0" dirty="0">
                          <a:effectLst/>
                        </a:rPr>
                        <a:t> 0.5;</a:t>
                      </a:r>
                      <a:endParaRPr lang="zh-CN" sz="900" kern="100" dirty="0">
                        <a:effectLst/>
                      </a:endParaRPr>
                    </a:p>
                    <a:p>
                      <a:pPr algn="l">
                        <a:spcAft>
                          <a:spcPts val="0"/>
                        </a:spcAft>
                      </a:pPr>
                      <a:r>
                        <a:rPr lang="en-US" sz="900" kern="0" dirty="0">
                          <a:effectLst/>
                        </a:rPr>
                        <a:t>        MOVEL P4, v100,fine,tool0;</a:t>
                      </a:r>
                      <a:endParaRPr lang="zh-CN" sz="900" kern="100" dirty="0">
                        <a:effectLst/>
                      </a:endParaRPr>
                    </a:p>
                    <a:p>
                      <a:pPr algn="l">
                        <a:spcAft>
                          <a:spcPts val="0"/>
                        </a:spcAft>
                      </a:pPr>
                      <a:r>
                        <a:rPr lang="en-US" sz="900" kern="0" dirty="0">
                          <a:effectLst/>
                        </a:rPr>
                        <a:t>        MOVEJ P1, v100,fine,tool0;</a:t>
                      </a:r>
                      <a:endParaRPr lang="zh-CN" sz="900" kern="100" dirty="0">
                        <a:effectLst/>
                      </a:endParaRPr>
                    </a:p>
                    <a:p>
                      <a:pPr algn="l">
                        <a:spcAft>
                          <a:spcPts val="0"/>
                        </a:spcAft>
                      </a:pPr>
                      <a:r>
                        <a:rPr lang="en-US" sz="900" kern="0" dirty="0">
                          <a:effectLst/>
                        </a:rPr>
                        <a:t>    ENDPROC</a:t>
                      </a:r>
                      <a:endParaRPr lang="zh-CN" sz="900" kern="100" dirty="0">
                        <a:effectLst/>
                      </a:endParaRPr>
                    </a:p>
                    <a:p>
                      <a:pPr algn="l">
                        <a:spcAft>
                          <a:spcPts val="0"/>
                        </a:spcAft>
                      </a:pPr>
                      <a:r>
                        <a:rPr lang="en-US" sz="900" kern="0" dirty="0">
                          <a:effectLst/>
                        </a:rPr>
                        <a:t>ENDMODULE</a:t>
                      </a:r>
                      <a:endParaRPr lang="zh-CN" sz="9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50622" marR="50622" marT="0" marB="0"/>
                </a:tc>
                <a:extLst>
                  <a:ext uri="{0D108BD9-81ED-4DB2-BD59-A6C34878D82A}">
                    <a16:rowId xmlns:a16="http://schemas.microsoft.com/office/drawing/2014/main" val="2531432321"/>
                  </a:ext>
                </a:extLst>
              </a:tr>
            </a:tbl>
          </a:graphicData>
        </a:graphic>
      </p:graphicFrame>
    </p:spTree>
    <p:extLst>
      <p:ext uri="{BB962C8B-B14F-4D97-AF65-F5344CB8AC3E}">
        <p14:creationId xmlns:p14="http://schemas.microsoft.com/office/powerpoint/2010/main" val="204532197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223412" cy="369332"/>
          </a:xfrm>
          <a:prstGeom prst="rect">
            <a:avLst/>
          </a:prstGeom>
        </p:spPr>
        <p:txBody>
          <a:bodyPr wrap="none">
            <a:spAutoFit/>
          </a:bodyPr>
          <a:lstStyle/>
          <a:p>
            <a:r>
              <a:rPr lang="en-US" altLang="zh-CN" dirty="0"/>
              <a:t>RAPID</a:t>
            </a:r>
            <a:r>
              <a:rPr lang="zh-CN" altLang="zh-CN" dirty="0" smtClean="0">
                <a:latin typeface="Times New Roman" panose="02020603050405020304" pitchFamily="18" charset="0"/>
                <a:cs typeface="Times New Roman" panose="02020603050405020304" pitchFamily="18" charset="0"/>
              </a:rPr>
              <a:t>语言</a:t>
            </a:r>
            <a:endParaRPr lang="zh-CN" altLang="en-US" dirty="0"/>
          </a:p>
        </p:txBody>
      </p:sp>
      <p:pic>
        <p:nvPicPr>
          <p:cNvPr id="6" name="图片 5"/>
          <p:cNvPicPr/>
          <p:nvPr/>
        </p:nvPicPr>
        <p:blipFill>
          <a:blip r:embed="rId3"/>
          <a:stretch>
            <a:fillRect/>
          </a:stretch>
        </p:blipFill>
        <p:spPr>
          <a:xfrm>
            <a:off x="1818972" y="2211710"/>
            <a:ext cx="3466465" cy="2094865"/>
          </a:xfrm>
          <a:prstGeom prst="rect">
            <a:avLst/>
          </a:prstGeom>
        </p:spPr>
      </p:pic>
      <p:sp>
        <p:nvSpPr>
          <p:cNvPr id="7" name="矩形 6"/>
          <p:cNvSpPr/>
          <p:nvPr/>
        </p:nvSpPr>
        <p:spPr>
          <a:xfrm>
            <a:off x="1824092" y="821445"/>
            <a:ext cx="3055067" cy="369332"/>
          </a:xfrm>
          <a:prstGeom prst="rect">
            <a:avLst/>
          </a:prstGeom>
        </p:spPr>
        <p:txBody>
          <a:bodyPr wrap="none">
            <a:spAutoFit/>
          </a:bodyPr>
          <a:lstStyle/>
          <a:p>
            <a:r>
              <a:rPr lang="en-US" altLang="zh-CN" dirty="0" err="1">
                <a:latin typeface="Times New Roman" panose="02020603050405020304" pitchFamily="18" charset="0"/>
              </a:rPr>
              <a:t>MoveL</a:t>
            </a:r>
            <a:r>
              <a:rPr lang="en-US" altLang="zh-CN" dirty="0">
                <a:latin typeface="Times New Roman" panose="02020603050405020304" pitchFamily="18" charset="0"/>
              </a:rPr>
              <a:t> p10, v1000, z50, tool0;</a:t>
            </a:r>
            <a:endParaRPr lang="zh-CN" altLang="en-US" dirty="0"/>
          </a:p>
        </p:txBody>
      </p:sp>
      <p:sp>
        <p:nvSpPr>
          <p:cNvPr id="9" name="矩形 8"/>
          <p:cNvSpPr/>
          <p:nvPr/>
        </p:nvSpPr>
        <p:spPr>
          <a:xfrm>
            <a:off x="1856963" y="1384687"/>
            <a:ext cx="3080715" cy="369332"/>
          </a:xfrm>
          <a:prstGeom prst="rect">
            <a:avLst/>
          </a:prstGeom>
        </p:spPr>
        <p:txBody>
          <a:bodyPr wrap="none">
            <a:spAutoFit/>
          </a:bodyPr>
          <a:lstStyle/>
          <a:p>
            <a:r>
              <a:rPr lang="en-US" altLang="zh-CN" dirty="0" err="1">
                <a:latin typeface="Times New Roman" panose="02020603050405020304" pitchFamily="18" charset="0"/>
              </a:rPr>
              <a:t>MoveL</a:t>
            </a:r>
            <a:r>
              <a:rPr lang="en-US" altLang="zh-CN" dirty="0">
                <a:latin typeface="Times New Roman" panose="02020603050405020304" pitchFamily="18" charset="0"/>
              </a:rPr>
              <a:t> p20, v1000, fine, tool0;</a:t>
            </a:r>
            <a:endParaRPr lang="zh-CN" altLang="en-US" dirty="0"/>
          </a:p>
        </p:txBody>
      </p:sp>
    </p:spTree>
    <p:extLst>
      <p:ext uri="{BB962C8B-B14F-4D97-AF65-F5344CB8AC3E}">
        <p14:creationId xmlns:p14="http://schemas.microsoft.com/office/powerpoint/2010/main" val="180017221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989373" cy="369332"/>
          </a:xfrm>
          <a:prstGeom prst="rect">
            <a:avLst/>
          </a:prstGeom>
        </p:spPr>
        <p:txBody>
          <a:bodyPr wrap="none">
            <a:spAutoFit/>
          </a:bodyPr>
          <a:lstStyle/>
          <a:p>
            <a:r>
              <a:rPr lang="en-US" altLang="zh-CN" dirty="0"/>
              <a:t>KRL</a:t>
            </a:r>
            <a:r>
              <a:rPr lang="zh-CN" altLang="zh-CN" dirty="0" smtClean="0">
                <a:latin typeface="Times New Roman" panose="02020603050405020304" pitchFamily="18" charset="0"/>
                <a:cs typeface="Times New Roman" panose="02020603050405020304" pitchFamily="18" charset="0"/>
              </a:rPr>
              <a:t>语言</a:t>
            </a:r>
            <a:endParaRPr lang="zh-CN" altLang="en-US" dirty="0"/>
          </a:p>
        </p:txBody>
      </p:sp>
      <p:graphicFrame>
        <p:nvGraphicFramePr>
          <p:cNvPr id="2" name="表格 1"/>
          <p:cNvGraphicFramePr>
            <a:graphicFrameLocks noGrp="1"/>
          </p:cNvGraphicFramePr>
          <p:nvPr>
            <p:extLst>
              <p:ext uri="{D42A27DB-BD31-4B8C-83A1-F6EECF244321}">
                <p14:modId xmlns:p14="http://schemas.microsoft.com/office/powerpoint/2010/main" val="1611350579"/>
              </p:ext>
            </p:extLst>
          </p:nvPr>
        </p:nvGraphicFramePr>
        <p:xfrm>
          <a:off x="1835696" y="1275607"/>
          <a:ext cx="5544616" cy="1296143"/>
        </p:xfrm>
        <a:graphic>
          <a:graphicData uri="http://schemas.openxmlformats.org/drawingml/2006/table">
            <a:tbl>
              <a:tblPr firstRow="1" firstCol="1" bandRow="1">
                <a:tableStyleId>{5C22544A-7EE6-4342-B048-85BDC9FD1C3A}</a:tableStyleId>
              </a:tblPr>
              <a:tblGrid>
                <a:gridCol w="1086837">
                  <a:extLst>
                    <a:ext uri="{9D8B030D-6E8A-4147-A177-3AD203B41FA5}">
                      <a16:colId xmlns:a16="http://schemas.microsoft.com/office/drawing/2014/main" val="916814201"/>
                    </a:ext>
                  </a:extLst>
                </a:gridCol>
                <a:gridCol w="1089633">
                  <a:extLst>
                    <a:ext uri="{9D8B030D-6E8A-4147-A177-3AD203B41FA5}">
                      <a16:colId xmlns:a16="http://schemas.microsoft.com/office/drawing/2014/main" val="2743525515"/>
                    </a:ext>
                  </a:extLst>
                </a:gridCol>
                <a:gridCol w="1288129">
                  <a:extLst>
                    <a:ext uri="{9D8B030D-6E8A-4147-A177-3AD203B41FA5}">
                      <a16:colId xmlns:a16="http://schemas.microsoft.com/office/drawing/2014/main" val="4260545616"/>
                    </a:ext>
                  </a:extLst>
                </a:gridCol>
                <a:gridCol w="2080017">
                  <a:extLst>
                    <a:ext uri="{9D8B030D-6E8A-4147-A177-3AD203B41FA5}">
                      <a16:colId xmlns:a16="http://schemas.microsoft.com/office/drawing/2014/main" val="2062248872"/>
                    </a:ext>
                  </a:extLst>
                </a:gridCol>
              </a:tblGrid>
              <a:tr h="252808">
                <a:tc>
                  <a:txBody>
                    <a:bodyPr/>
                    <a:lstStyle/>
                    <a:p>
                      <a:r>
                        <a:rPr lang="zh-CN" sz="1050" kern="100">
                          <a:effectLst/>
                        </a:rPr>
                        <a:t>数据类型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关键词</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含义</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值的范围</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7672223"/>
                  </a:ext>
                </a:extLst>
              </a:tr>
              <a:tr h="277888">
                <a:tc>
                  <a:txBody>
                    <a:bodyPr/>
                    <a:lstStyle/>
                    <a:p>
                      <a:pPr indent="266700"/>
                      <a:r>
                        <a:rPr lang="zh-CN" sz="1050" kern="100">
                          <a:effectLst/>
                        </a:rPr>
                        <a:t>整数</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INT</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整数</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-231-1</a:t>
                      </a:r>
                      <a:r>
                        <a:rPr lang="zh-CN" sz="1050" kern="100">
                          <a:effectLst/>
                        </a:rPr>
                        <a:t>到</a:t>
                      </a:r>
                      <a:r>
                        <a:rPr lang="en-US" sz="1050" kern="100">
                          <a:effectLst/>
                        </a:rPr>
                        <a:t>231-1</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97455758"/>
                  </a:ext>
                </a:extLst>
              </a:tr>
              <a:tr h="259831">
                <a:tc>
                  <a:txBody>
                    <a:bodyPr/>
                    <a:lstStyle/>
                    <a:p>
                      <a:pPr indent="266700"/>
                      <a:r>
                        <a:rPr lang="zh-CN" sz="1050" kern="100">
                          <a:effectLst/>
                        </a:rPr>
                        <a:t>实数</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实数</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浮点数</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±1.1-38</a:t>
                      </a:r>
                      <a:r>
                        <a:rPr lang="zh-CN" sz="1050" kern="100">
                          <a:effectLst/>
                        </a:rPr>
                        <a:t>到</a:t>
                      </a:r>
                      <a:r>
                        <a:rPr lang="en-US" sz="1050" kern="100">
                          <a:effectLst/>
                        </a:rPr>
                        <a:t>±3.438</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45401371"/>
                  </a:ext>
                </a:extLst>
              </a:tr>
              <a:tr h="252808">
                <a:tc>
                  <a:txBody>
                    <a:bodyPr/>
                    <a:lstStyle/>
                    <a:p>
                      <a:pPr indent="266700"/>
                      <a:r>
                        <a:rPr lang="zh-CN" sz="1050" kern="100">
                          <a:effectLst/>
                        </a:rPr>
                        <a:t>布尔值</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BOOL</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逻辑状态</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真假</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546778106"/>
                  </a:ext>
                </a:extLst>
              </a:tr>
              <a:tr h="252808">
                <a:tc>
                  <a:txBody>
                    <a:bodyPr/>
                    <a:lstStyle/>
                    <a:p>
                      <a:pPr indent="266700"/>
                      <a:r>
                        <a:rPr lang="zh-CN" sz="1050" kern="100">
                          <a:effectLst/>
                        </a:rPr>
                        <a:t>字符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a:effectLst/>
                        </a:rPr>
                        <a:t>CHAR</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字符</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en-US" sz="1050" kern="100" dirty="0">
                          <a:effectLst/>
                        </a:rPr>
                        <a:t>ASCII</a:t>
                      </a:r>
                      <a:r>
                        <a:rPr lang="zh-CN" sz="1050" kern="100" dirty="0">
                          <a:effectLst/>
                        </a:rPr>
                        <a:t>字符</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971360156"/>
                  </a:ext>
                </a:extLst>
              </a:tr>
            </a:tbl>
          </a:graphicData>
        </a:graphic>
      </p:graphicFrame>
      <p:sp>
        <p:nvSpPr>
          <p:cNvPr id="5" name="矩形 4"/>
          <p:cNvSpPr/>
          <p:nvPr/>
        </p:nvSpPr>
        <p:spPr>
          <a:xfrm>
            <a:off x="3440921" y="771550"/>
            <a:ext cx="2262158" cy="369332"/>
          </a:xfrm>
          <a:prstGeom prst="rect">
            <a:avLst/>
          </a:prstGeom>
        </p:spPr>
        <p:txBody>
          <a:bodyPr wrap="none">
            <a:spAutoFit/>
          </a:bodyPr>
          <a:lstStyle/>
          <a:p>
            <a:r>
              <a:rPr lang="en-US" altLang="zh-CN" dirty="0">
                <a:latin typeface="Times New Roman" panose="02020603050405020304" pitchFamily="18" charset="0"/>
              </a:rPr>
              <a:t>KRL</a:t>
            </a:r>
            <a:r>
              <a:rPr lang="zh-CN" altLang="zh-CN" dirty="0">
                <a:latin typeface="Times New Roman" panose="02020603050405020304" pitchFamily="18" charset="0"/>
                <a:cs typeface="Times New Roman" panose="02020603050405020304" pitchFamily="18" charset="0"/>
              </a:rPr>
              <a:t>主要数据类型表</a:t>
            </a:r>
            <a:endParaRPr lang="zh-CN" altLang="en-US" dirty="0"/>
          </a:p>
        </p:txBody>
      </p:sp>
      <p:sp>
        <p:nvSpPr>
          <p:cNvPr id="8" name="矩形 7"/>
          <p:cNvSpPr/>
          <p:nvPr/>
        </p:nvSpPr>
        <p:spPr>
          <a:xfrm>
            <a:off x="5004048" y="261901"/>
            <a:ext cx="1679518" cy="369332"/>
          </a:xfrm>
          <a:prstGeom prst="rect">
            <a:avLst/>
          </a:prstGeom>
        </p:spPr>
        <p:txBody>
          <a:bodyPr wrap="square">
            <a:spAutoFit/>
          </a:bodyPr>
          <a:lstStyle/>
          <a:p>
            <a:r>
              <a:rPr lang="zh-CN" altLang="zh-CN" dirty="0" smtClean="0"/>
              <a:t>类似</a:t>
            </a:r>
            <a:r>
              <a:rPr lang="en-US" altLang="zh-CN" dirty="0" smtClean="0"/>
              <a:t>Pascal</a:t>
            </a:r>
            <a:endParaRPr lang="zh-CN" altLang="en-US" dirty="0"/>
          </a:p>
        </p:txBody>
      </p:sp>
      <p:graphicFrame>
        <p:nvGraphicFramePr>
          <p:cNvPr id="10" name="表格 9"/>
          <p:cNvGraphicFramePr>
            <a:graphicFrameLocks noGrp="1"/>
          </p:cNvGraphicFramePr>
          <p:nvPr>
            <p:extLst>
              <p:ext uri="{D42A27DB-BD31-4B8C-83A1-F6EECF244321}">
                <p14:modId xmlns:p14="http://schemas.microsoft.com/office/powerpoint/2010/main" val="757616032"/>
              </p:ext>
            </p:extLst>
          </p:nvPr>
        </p:nvGraphicFramePr>
        <p:xfrm>
          <a:off x="1835698" y="3219822"/>
          <a:ext cx="5544614" cy="1656185"/>
        </p:xfrm>
        <a:graphic>
          <a:graphicData uri="http://schemas.openxmlformats.org/drawingml/2006/table">
            <a:tbl>
              <a:tblPr firstRow="1" firstCol="1" bandRow="1">
                <a:tableStyleId>{5C22544A-7EE6-4342-B048-85BDC9FD1C3A}</a:tableStyleId>
              </a:tblPr>
              <a:tblGrid>
                <a:gridCol w="1110654">
                  <a:extLst>
                    <a:ext uri="{9D8B030D-6E8A-4147-A177-3AD203B41FA5}">
                      <a16:colId xmlns:a16="http://schemas.microsoft.com/office/drawing/2014/main" val="3176186878"/>
                    </a:ext>
                  </a:extLst>
                </a:gridCol>
                <a:gridCol w="2925788">
                  <a:extLst>
                    <a:ext uri="{9D8B030D-6E8A-4147-A177-3AD203B41FA5}">
                      <a16:colId xmlns:a16="http://schemas.microsoft.com/office/drawing/2014/main" val="3161457371"/>
                    </a:ext>
                  </a:extLst>
                </a:gridCol>
                <a:gridCol w="1508172">
                  <a:extLst>
                    <a:ext uri="{9D8B030D-6E8A-4147-A177-3AD203B41FA5}">
                      <a16:colId xmlns:a16="http://schemas.microsoft.com/office/drawing/2014/main" val="4056979996"/>
                    </a:ext>
                  </a:extLst>
                </a:gridCol>
              </a:tblGrid>
              <a:tr h="184021">
                <a:tc>
                  <a:txBody>
                    <a:bodyPr/>
                    <a:lstStyle/>
                    <a:p>
                      <a:pPr algn="ctr"/>
                      <a:r>
                        <a:rPr lang="zh-CN" sz="1050" kern="100">
                          <a:effectLst/>
                        </a:rPr>
                        <a:t>主题类型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zh-CN" sz="1050" kern="100">
                          <a:effectLst/>
                        </a:rPr>
                        <a:t>内容说明</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ctr"/>
                      <a:r>
                        <a:rPr lang="zh-CN" sz="1050" kern="100">
                          <a:effectLst/>
                        </a:rPr>
                        <a:t>举例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236867709"/>
                  </a:ext>
                </a:extLst>
              </a:tr>
              <a:tr h="552061">
                <a:tc>
                  <a:txBody>
                    <a:bodyPr/>
                    <a:lstStyle/>
                    <a:p>
                      <a:pPr algn="just"/>
                      <a:r>
                        <a:rPr lang="zh-CN" sz="1050" kern="100">
                          <a:effectLst/>
                        </a:rPr>
                        <a:t>移动</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库卡机器人可以有三种主要方式从一个点移动到另外一个点</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PTP</a:t>
                      </a:r>
                      <a:r>
                        <a:rPr lang="zh-CN" sz="1050" kern="100">
                          <a:effectLst/>
                        </a:rPr>
                        <a:t>（点到点）</a:t>
                      </a:r>
                    </a:p>
                    <a:p>
                      <a:pPr algn="just"/>
                      <a:r>
                        <a:rPr lang="en-US" sz="1050" kern="100">
                          <a:effectLst/>
                        </a:rPr>
                        <a:t>LIN</a:t>
                      </a:r>
                      <a:r>
                        <a:rPr lang="zh-CN" sz="1050" kern="100">
                          <a:effectLst/>
                        </a:rPr>
                        <a:t>（线性）</a:t>
                      </a:r>
                    </a:p>
                    <a:p>
                      <a:pPr algn="just"/>
                      <a:r>
                        <a:rPr lang="en-US" sz="1050" kern="100">
                          <a:effectLst/>
                        </a:rPr>
                        <a:t>CIRC</a:t>
                      </a:r>
                      <a:r>
                        <a:rPr lang="zh-CN" sz="1050" kern="100">
                          <a:effectLst/>
                        </a:rPr>
                        <a:t>（圆形）</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684172188"/>
                  </a:ext>
                </a:extLst>
              </a:tr>
              <a:tr h="368041">
                <a:tc>
                  <a:txBody>
                    <a:bodyPr/>
                    <a:lstStyle/>
                    <a:p>
                      <a:pPr algn="just"/>
                      <a:r>
                        <a:rPr lang="zh-CN" sz="1050" kern="100">
                          <a:effectLst/>
                        </a:rPr>
                        <a:t>输入和输出</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输入和输出与</a:t>
                      </a:r>
                      <a:r>
                        <a:rPr lang="en-US" sz="1050" kern="100">
                          <a:effectLst/>
                        </a:rPr>
                        <a:t>PLC</a:t>
                      </a:r>
                      <a:r>
                        <a:rPr lang="zh-CN" sz="1050" kern="100">
                          <a:effectLst/>
                        </a:rPr>
                        <a:t>中的</a:t>
                      </a:r>
                      <a:r>
                        <a:rPr lang="en-US" sz="1050" kern="100">
                          <a:effectLst/>
                        </a:rPr>
                        <a:t>I/O</a:t>
                      </a:r>
                      <a:r>
                        <a:rPr lang="zh-CN" sz="1050" kern="100">
                          <a:effectLst/>
                        </a:rPr>
                        <a:t>概念相同</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 IN [33]</a:t>
                      </a:r>
                      <a:endParaRPr lang="zh-CN" sz="1050" kern="100">
                        <a:effectLst/>
                      </a:endParaRPr>
                    </a:p>
                    <a:p>
                      <a:pPr algn="just"/>
                      <a:r>
                        <a:rPr lang="en-US" sz="1050" kern="100">
                          <a:effectLst/>
                        </a:rPr>
                        <a:t>$ OUT [33]</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487416986"/>
                  </a:ext>
                </a:extLst>
              </a:tr>
              <a:tr h="184021">
                <a:tc>
                  <a:txBody>
                    <a:bodyPr/>
                    <a:lstStyle/>
                    <a:p>
                      <a:pPr algn="just"/>
                      <a:r>
                        <a:rPr lang="zh-CN" sz="1050" kern="100">
                          <a:effectLst/>
                        </a:rPr>
                        <a:t>执行控制</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包括条件语句，切换语句，循环语句</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a:effectLst/>
                        </a:rPr>
                        <a:t>IF</a:t>
                      </a:r>
                      <a:r>
                        <a:rPr lang="zh-CN" sz="1050" kern="100">
                          <a:effectLst/>
                        </a:rPr>
                        <a:t>，</a:t>
                      </a:r>
                      <a:r>
                        <a:rPr lang="en-US" sz="1050" kern="100">
                          <a:effectLst/>
                        </a:rPr>
                        <a:t>SWITCH</a:t>
                      </a:r>
                      <a:r>
                        <a:rPr lang="zh-CN" sz="1050" kern="100">
                          <a:effectLst/>
                        </a:rPr>
                        <a:t>，</a:t>
                      </a:r>
                      <a:r>
                        <a:rPr lang="en-US" sz="1050" kern="100">
                          <a:effectLst/>
                        </a:rPr>
                        <a:t>FOR</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8917865"/>
                  </a:ext>
                </a:extLst>
              </a:tr>
              <a:tr h="368041">
                <a:tc>
                  <a:txBody>
                    <a:bodyPr/>
                    <a:lstStyle/>
                    <a:p>
                      <a:pPr algn="just"/>
                      <a:r>
                        <a:rPr lang="zh-CN" sz="1050" kern="100">
                          <a:effectLst/>
                        </a:rPr>
                        <a:t>变量</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包括整数，实数和</a:t>
                      </a:r>
                      <a:r>
                        <a:rPr lang="en-US" sz="1050" kern="100">
                          <a:effectLst/>
                        </a:rPr>
                        <a:t>E6POS</a:t>
                      </a:r>
                      <a:r>
                        <a:rPr lang="zh-CN" sz="1050" kern="100">
                          <a:effectLst/>
                        </a:rPr>
                        <a:t>变量（表示位置和姿态，有</a:t>
                      </a:r>
                      <a:r>
                        <a:rPr lang="en-US" sz="1050" kern="100">
                          <a:effectLst/>
                        </a:rPr>
                        <a:t>6</a:t>
                      </a:r>
                      <a:r>
                        <a:rPr lang="zh-CN" sz="1050" kern="100">
                          <a:effectLst/>
                        </a:rPr>
                        <a:t>个值）</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en-US" sz="1050" kern="100" dirty="0">
                          <a:effectLst/>
                        </a:rPr>
                        <a:t>INT</a:t>
                      </a:r>
                      <a:r>
                        <a:rPr lang="zh-CN" sz="1050" kern="100" dirty="0">
                          <a:effectLst/>
                        </a:rPr>
                        <a:t>，</a:t>
                      </a:r>
                      <a:r>
                        <a:rPr lang="en-US" sz="1050" kern="100" dirty="0">
                          <a:effectLst/>
                        </a:rPr>
                        <a:t>REAL</a:t>
                      </a:r>
                      <a:r>
                        <a:rPr lang="zh-CN" sz="1050" kern="100" dirty="0">
                          <a:effectLst/>
                        </a:rPr>
                        <a:t>，</a:t>
                      </a:r>
                      <a:r>
                        <a:rPr lang="en-US" sz="1050" kern="100" dirty="0">
                          <a:effectLst/>
                        </a:rPr>
                        <a:t>E6POS</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282640381"/>
                  </a:ext>
                </a:extLst>
              </a:tr>
            </a:tbl>
          </a:graphicData>
        </a:graphic>
      </p:graphicFrame>
      <p:sp>
        <p:nvSpPr>
          <p:cNvPr id="11" name="矩形 10"/>
          <p:cNvSpPr/>
          <p:nvPr/>
        </p:nvSpPr>
        <p:spPr>
          <a:xfrm>
            <a:off x="3383213" y="2713521"/>
            <a:ext cx="2319866" cy="369332"/>
          </a:xfrm>
          <a:prstGeom prst="rect">
            <a:avLst/>
          </a:prstGeom>
        </p:spPr>
        <p:txBody>
          <a:bodyPr wrap="none">
            <a:spAutoFit/>
          </a:bodyPr>
          <a:lstStyle/>
          <a:p>
            <a:r>
              <a:rPr lang="en-US" altLang="zh-CN" dirty="0">
                <a:latin typeface="Times New Roman" panose="02020603050405020304" pitchFamily="18" charset="0"/>
              </a:rPr>
              <a:t> KRL</a:t>
            </a:r>
            <a:r>
              <a:rPr lang="zh-CN" altLang="zh-CN" dirty="0">
                <a:latin typeface="Times New Roman" panose="02020603050405020304" pitchFamily="18" charset="0"/>
                <a:cs typeface="Times New Roman" panose="02020603050405020304" pitchFamily="18" charset="0"/>
              </a:rPr>
              <a:t>语言主题类型表</a:t>
            </a:r>
            <a:endParaRPr lang="zh-CN" altLang="en-US" dirty="0"/>
          </a:p>
        </p:txBody>
      </p:sp>
      <p:sp>
        <p:nvSpPr>
          <p:cNvPr id="12" name="圆角矩形 11"/>
          <p:cNvSpPr/>
          <p:nvPr/>
        </p:nvSpPr>
        <p:spPr>
          <a:xfrm>
            <a:off x="1403648" y="1140882"/>
            <a:ext cx="6264696" cy="1572639"/>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1403648" y="3082853"/>
            <a:ext cx="6264696" cy="186516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619881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234633" cy="369332"/>
          </a:xfrm>
          <a:prstGeom prst="rect">
            <a:avLst/>
          </a:prstGeom>
        </p:spPr>
        <p:txBody>
          <a:bodyPr wrap="none">
            <a:spAutoFit/>
          </a:bodyPr>
          <a:lstStyle/>
          <a:p>
            <a:r>
              <a:rPr lang="en-US" altLang="zh-CN" dirty="0"/>
              <a:t>KAREL</a:t>
            </a:r>
            <a:r>
              <a:rPr lang="zh-CN" altLang="zh-CN" dirty="0" smtClean="0">
                <a:latin typeface="Times New Roman" panose="02020603050405020304" pitchFamily="18" charset="0"/>
                <a:cs typeface="Times New Roman" panose="02020603050405020304" pitchFamily="18" charset="0"/>
              </a:rPr>
              <a:t>语言</a:t>
            </a:r>
            <a:endParaRPr lang="zh-CN" altLang="en-US" dirty="0"/>
          </a:p>
        </p:txBody>
      </p:sp>
      <p:pic>
        <p:nvPicPr>
          <p:cNvPr id="14" name="图片 13"/>
          <p:cNvPicPr/>
          <p:nvPr/>
        </p:nvPicPr>
        <p:blipFill>
          <a:blip r:embed="rId3"/>
          <a:stretch>
            <a:fillRect/>
          </a:stretch>
        </p:blipFill>
        <p:spPr>
          <a:xfrm>
            <a:off x="107504" y="987574"/>
            <a:ext cx="5274310" cy="3290570"/>
          </a:xfrm>
          <a:prstGeom prst="rect">
            <a:avLst/>
          </a:prstGeom>
        </p:spPr>
      </p:pic>
      <p:sp>
        <p:nvSpPr>
          <p:cNvPr id="6" name="矩形 5"/>
          <p:cNvSpPr/>
          <p:nvPr/>
        </p:nvSpPr>
        <p:spPr>
          <a:xfrm>
            <a:off x="1619672" y="4453517"/>
            <a:ext cx="2800767" cy="369332"/>
          </a:xfrm>
          <a:prstGeom prst="rect">
            <a:avLst/>
          </a:prstGeom>
        </p:spPr>
        <p:txBody>
          <a:bodyPr wrap="none">
            <a:spAutoFit/>
          </a:bodyPr>
          <a:lstStyle/>
          <a:p>
            <a:r>
              <a:rPr lang="en-US" altLang="zh-CN" dirty="0">
                <a:latin typeface="Times New Roman" panose="02020603050405020304" pitchFamily="18" charset="0"/>
              </a:rPr>
              <a:t>KAREL</a:t>
            </a:r>
            <a:r>
              <a:rPr lang="zh-CN" altLang="zh-CN" dirty="0">
                <a:latin typeface="Times New Roman" panose="02020603050405020304" pitchFamily="18" charset="0"/>
                <a:cs typeface="Times New Roman" panose="02020603050405020304" pitchFamily="18" charset="0"/>
              </a:rPr>
              <a:t>语言程序模块定义</a:t>
            </a:r>
            <a:endParaRPr lang="zh-CN" altLang="en-US" dirty="0"/>
          </a:p>
        </p:txBody>
      </p:sp>
      <p:sp>
        <p:nvSpPr>
          <p:cNvPr id="7" name="矩形 6"/>
          <p:cNvSpPr/>
          <p:nvPr/>
        </p:nvSpPr>
        <p:spPr>
          <a:xfrm>
            <a:off x="5525830" y="1724918"/>
            <a:ext cx="3618170" cy="1815882"/>
          </a:xfrm>
          <a:prstGeom prst="rect">
            <a:avLst/>
          </a:prstGeom>
        </p:spPr>
        <p:txBody>
          <a:bodyPr wrap="square">
            <a:spAutoFit/>
          </a:bodyPr>
          <a:lstStyle/>
          <a:p>
            <a:r>
              <a:rPr lang="en-US" altLang="zh-CN" sz="1400" kern="0" dirty="0">
                <a:solidFill>
                  <a:srgbClr val="000000"/>
                </a:solidFill>
                <a:latin typeface="Times New Roman" panose="02020603050405020304" pitchFamily="18" charset="0"/>
                <a:cs typeface="Times New Roman" panose="02020603050405020304" pitchFamily="18" charset="0"/>
              </a:rPr>
              <a:t>PROGRAM </a:t>
            </a:r>
            <a:r>
              <a:rPr lang="en-US" altLang="zh-CN" sz="1400" kern="0" dirty="0" err="1">
                <a:solidFill>
                  <a:srgbClr val="000000"/>
                </a:solidFill>
                <a:latin typeface="Times New Roman" panose="02020603050405020304" pitchFamily="18" charset="0"/>
                <a:cs typeface="Times New Roman" panose="02020603050405020304" pitchFamily="18" charset="0"/>
              </a:rPr>
              <a:t>prog_name</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cs typeface="Times New Roman" panose="02020603050405020304" pitchFamily="18" charset="0"/>
              </a:rPr>
              <a:t>        Translator Directives</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cs typeface="Times New Roman" panose="02020603050405020304" pitchFamily="18" charset="0"/>
              </a:rPr>
              <a:t>        CONST, TYPE, and/or VAR Declarations</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cs typeface="Times New Roman" panose="02020603050405020304" pitchFamily="18" charset="0"/>
              </a:rPr>
              <a:t>        ROUTINE Declarations</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cs typeface="Times New Roman" panose="02020603050405020304" pitchFamily="18" charset="0"/>
              </a:rPr>
              <a:t>    BEGIN</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cs typeface="Times New Roman" panose="02020603050405020304" pitchFamily="18" charset="0"/>
              </a:rPr>
              <a:t>        </a:t>
            </a:r>
            <a:r>
              <a:rPr lang="en-US" altLang="zh-CN" sz="1400" kern="0" dirty="0" err="1">
                <a:solidFill>
                  <a:srgbClr val="000000"/>
                </a:solidFill>
                <a:latin typeface="Times New Roman" panose="02020603050405020304" pitchFamily="18" charset="0"/>
                <a:cs typeface="Times New Roman" panose="02020603050405020304" pitchFamily="18" charset="0"/>
              </a:rPr>
              <a:t>Excutable</a:t>
            </a:r>
            <a:r>
              <a:rPr lang="en-US" altLang="zh-CN" sz="1400" kern="0" dirty="0">
                <a:solidFill>
                  <a:srgbClr val="000000"/>
                </a:solidFill>
                <a:latin typeface="Times New Roman" panose="02020603050405020304" pitchFamily="18" charset="0"/>
                <a:cs typeface="Times New Roman" panose="02020603050405020304" pitchFamily="18" charset="0"/>
              </a:rPr>
              <a:t> Statements</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cs typeface="Times New Roman" panose="02020603050405020304" pitchFamily="18" charset="0"/>
              </a:rPr>
              <a:t>    END </a:t>
            </a:r>
            <a:r>
              <a:rPr lang="en-US" altLang="zh-CN" sz="1400" kern="0" dirty="0" err="1">
                <a:solidFill>
                  <a:srgbClr val="000000"/>
                </a:solidFill>
                <a:latin typeface="Times New Roman" panose="02020603050405020304" pitchFamily="18" charset="0"/>
                <a:cs typeface="Times New Roman" panose="02020603050405020304" pitchFamily="18" charset="0"/>
              </a:rPr>
              <a:t>prog_name</a:t>
            </a:r>
            <a:endParaRPr lang="zh-CN" altLang="zh-CN" sz="1400" kern="100" dirty="0">
              <a:latin typeface="Calibri" panose="020F0502020204030204" pitchFamily="34" charset="0"/>
              <a:cs typeface="Times New Roman" panose="02020603050405020304" pitchFamily="18" charset="0"/>
            </a:endParaRPr>
          </a:p>
          <a:p>
            <a:r>
              <a:rPr lang="en-US" altLang="zh-CN" sz="1400" kern="0" dirty="0">
                <a:solidFill>
                  <a:srgbClr val="000000"/>
                </a:solidFill>
                <a:latin typeface="Times New Roman" panose="02020603050405020304" pitchFamily="18" charset="0"/>
              </a:rPr>
              <a:t>        ROUTINE Declarations</a:t>
            </a:r>
            <a:endParaRPr lang="zh-CN" altLang="en-US" sz="1400" dirty="0"/>
          </a:p>
        </p:txBody>
      </p:sp>
      <p:sp>
        <p:nvSpPr>
          <p:cNvPr id="9" name="圆角矩形 8"/>
          <p:cNvSpPr/>
          <p:nvPr/>
        </p:nvSpPr>
        <p:spPr>
          <a:xfrm>
            <a:off x="5525830" y="1563638"/>
            <a:ext cx="3510666" cy="223224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5771368" y="254504"/>
            <a:ext cx="830548" cy="369332"/>
          </a:xfrm>
          <a:prstGeom prst="rect">
            <a:avLst/>
          </a:prstGeom>
        </p:spPr>
        <p:txBody>
          <a:bodyPr wrap="none">
            <a:spAutoFit/>
          </a:bodyPr>
          <a:lstStyle/>
          <a:p>
            <a:r>
              <a:rPr lang="en-US" altLang="zh-CN" dirty="0"/>
              <a:t>FANUC</a:t>
            </a:r>
            <a:endParaRPr lang="zh-CN" altLang="en-US" dirty="0"/>
          </a:p>
        </p:txBody>
      </p:sp>
    </p:spTree>
    <p:extLst>
      <p:ext uri="{BB962C8B-B14F-4D97-AF65-F5344CB8AC3E}">
        <p14:creationId xmlns:p14="http://schemas.microsoft.com/office/powerpoint/2010/main" val="26426206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254504"/>
            <a:ext cx="1450205" cy="369332"/>
          </a:xfrm>
          <a:prstGeom prst="rect">
            <a:avLst/>
          </a:prstGeom>
        </p:spPr>
        <p:txBody>
          <a:bodyPr wrap="none">
            <a:spAutoFit/>
          </a:bodyPr>
          <a:lstStyle/>
          <a:p>
            <a:r>
              <a:rPr lang="en-US" altLang="zh-CN" dirty="0" err="1"/>
              <a:t>URScript</a:t>
            </a:r>
            <a:r>
              <a:rPr lang="zh-CN" altLang="zh-CN" dirty="0" smtClean="0">
                <a:latin typeface="Times New Roman" panose="02020603050405020304" pitchFamily="18" charset="0"/>
                <a:cs typeface="Times New Roman" panose="02020603050405020304" pitchFamily="18" charset="0"/>
              </a:rPr>
              <a:t>语言</a:t>
            </a:r>
            <a:endParaRPr lang="zh-CN" altLang="en-US" dirty="0"/>
          </a:p>
        </p:txBody>
      </p:sp>
      <p:graphicFrame>
        <p:nvGraphicFramePr>
          <p:cNvPr id="5" name="表格 4"/>
          <p:cNvGraphicFramePr>
            <a:graphicFrameLocks noGrp="1"/>
          </p:cNvGraphicFramePr>
          <p:nvPr>
            <p:extLst>
              <p:ext uri="{D42A27DB-BD31-4B8C-83A1-F6EECF244321}">
                <p14:modId xmlns:p14="http://schemas.microsoft.com/office/powerpoint/2010/main" val="3203993185"/>
              </p:ext>
            </p:extLst>
          </p:nvPr>
        </p:nvGraphicFramePr>
        <p:xfrm>
          <a:off x="1331639" y="1563638"/>
          <a:ext cx="6408713" cy="3024336"/>
        </p:xfrm>
        <a:graphic>
          <a:graphicData uri="http://schemas.openxmlformats.org/drawingml/2006/table">
            <a:tbl>
              <a:tblPr firstRow="1" firstCol="1" bandRow="1">
                <a:tableStyleId>{5C22544A-7EE6-4342-B048-85BDC9FD1C3A}</a:tableStyleId>
              </a:tblPr>
              <a:tblGrid>
                <a:gridCol w="1284052">
                  <a:extLst>
                    <a:ext uri="{9D8B030D-6E8A-4147-A177-3AD203B41FA5}">
                      <a16:colId xmlns:a16="http://schemas.microsoft.com/office/drawing/2014/main" val="3506711801"/>
                    </a:ext>
                  </a:extLst>
                </a:gridCol>
                <a:gridCol w="2832920">
                  <a:extLst>
                    <a:ext uri="{9D8B030D-6E8A-4147-A177-3AD203B41FA5}">
                      <a16:colId xmlns:a16="http://schemas.microsoft.com/office/drawing/2014/main" val="3851993668"/>
                    </a:ext>
                  </a:extLst>
                </a:gridCol>
                <a:gridCol w="2291741">
                  <a:extLst>
                    <a:ext uri="{9D8B030D-6E8A-4147-A177-3AD203B41FA5}">
                      <a16:colId xmlns:a16="http://schemas.microsoft.com/office/drawing/2014/main" val="220675788"/>
                    </a:ext>
                  </a:extLst>
                </a:gridCol>
              </a:tblGrid>
              <a:tr h="274940">
                <a:tc>
                  <a:txBody>
                    <a:bodyPr/>
                    <a:lstStyle/>
                    <a:p>
                      <a:pPr indent="266700"/>
                      <a:r>
                        <a:rPr lang="zh-CN" sz="1050" kern="100">
                          <a:effectLst/>
                        </a:rPr>
                        <a:t>模块类型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模块内容</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indent="266700"/>
                      <a:r>
                        <a:rPr lang="zh-CN" sz="1050" kern="100">
                          <a:effectLst/>
                        </a:rPr>
                        <a:t>举例</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569426926"/>
                  </a:ext>
                </a:extLst>
              </a:tr>
              <a:tr h="1374698">
                <a:tc>
                  <a:txBody>
                    <a:bodyPr/>
                    <a:lstStyle/>
                    <a:p>
                      <a:pPr indent="266700"/>
                      <a:r>
                        <a:rPr lang="zh-CN" sz="1050" kern="100">
                          <a:effectLst/>
                        </a:rPr>
                        <a:t>运动模块</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just"/>
                      <a:r>
                        <a:rPr lang="zh-CN" sz="1050" kern="100">
                          <a:effectLst/>
                        </a:rPr>
                        <a:t>该模块包含了</a:t>
                      </a:r>
                      <a:r>
                        <a:rPr lang="en-US" sz="1050" kern="100">
                          <a:effectLst/>
                        </a:rPr>
                        <a:t>UR</a:t>
                      </a:r>
                      <a:r>
                        <a:rPr lang="zh-CN" sz="1050" kern="100">
                          <a:effectLst/>
                        </a:rPr>
                        <a:t>的运动命令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1050" kern="100">
                          <a:effectLst/>
                        </a:rPr>
                        <a:t>movec(pose_via,pose_to.a,v,r)</a:t>
                      </a:r>
                      <a:r>
                        <a:rPr lang="zh-CN" sz="1050" kern="100">
                          <a:effectLst/>
                        </a:rPr>
                        <a:t>，圆形移动，其中</a:t>
                      </a:r>
                      <a:r>
                        <a:rPr lang="en-US" sz="1050" kern="100">
                          <a:effectLst/>
                        </a:rPr>
                        <a:t>pose_via</a:t>
                      </a:r>
                      <a:r>
                        <a:rPr lang="zh-CN" sz="1050" kern="100">
                          <a:effectLst/>
                        </a:rPr>
                        <a:t>：路径点；</a:t>
                      </a:r>
                      <a:r>
                        <a:rPr lang="en-US" sz="1050" kern="100">
                          <a:effectLst/>
                        </a:rPr>
                        <a:t>pose_to</a:t>
                      </a:r>
                      <a:r>
                        <a:rPr lang="zh-CN" sz="1050" kern="100">
                          <a:effectLst/>
                        </a:rPr>
                        <a:t>：目标姿态；</a:t>
                      </a:r>
                      <a:r>
                        <a:rPr lang="en-US" sz="1050" kern="100">
                          <a:effectLst/>
                        </a:rPr>
                        <a:t>a</a:t>
                      </a:r>
                      <a:r>
                        <a:rPr lang="zh-CN" sz="1050" kern="100">
                          <a:effectLst/>
                        </a:rPr>
                        <a:t>：工具加速度；</a:t>
                      </a:r>
                      <a:r>
                        <a:rPr lang="en-US" sz="1050" kern="100">
                          <a:effectLst/>
                        </a:rPr>
                        <a:t>v</a:t>
                      </a:r>
                      <a:r>
                        <a:rPr lang="zh-CN" sz="1050" kern="100">
                          <a:effectLst/>
                        </a:rPr>
                        <a:t>：工具速度；</a:t>
                      </a:r>
                      <a:r>
                        <a:rPr lang="en-US" sz="1050" kern="100">
                          <a:effectLst/>
                        </a:rPr>
                        <a:t>r</a:t>
                      </a:r>
                      <a:r>
                        <a:rPr lang="zh-CN" sz="1050" kern="100">
                          <a:effectLst/>
                        </a:rPr>
                        <a:t>：交融半径。</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172314215"/>
                  </a:ext>
                </a:extLst>
              </a:tr>
              <a:tr h="549879">
                <a:tc>
                  <a:txBody>
                    <a:bodyPr/>
                    <a:lstStyle/>
                    <a:p>
                      <a:pPr indent="266700"/>
                      <a:r>
                        <a:rPr lang="zh-CN" sz="1050" kern="100">
                          <a:effectLst/>
                        </a:rPr>
                        <a:t>内部模块</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1050" kern="100">
                          <a:effectLst/>
                        </a:rPr>
                        <a:t>该模块包含了</a:t>
                      </a:r>
                      <a:r>
                        <a:rPr lang="en-US" sz="1050" kern="100">
                          <a:effectLst/>
                        </a:rPr>
                        <a:t>UR</a:t>
                      </a:r>
                      <a:r>
                        <a:rPr lang="zh-CN" sz="1050" kern="100">
                          <a:effectLst/>
                        </a:rPr>
                        <a:t>的监控命令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1050" kern="100">
                          <a:effectLst/>
                        </a:rPr>
                        <a:t>get_actual_joint_positions()</a:t>
                      </a:r>
                      <a:r>
                        <a:rPr lang="zh-CN" sz="1050" kern="100">
                          <a:effectLst/>
                        </a:rPr>
                        <a:t>，返回所有关节的实际角位置。</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621139756"/>
                  </a:ext>
                </a:extLst>
              </a:tr>
              <a:tr h="274940">
                <a:tc>
                  <a:txBody>
                    <a:bodyPr/>
                    <a:lstStyle/>
                    <a:p>
                      <a:pPr indent="266700"/>
                      <a:r>
                        <a:rPr lang="zh-CN" sz="1050" kern="100">
                          <a:effectLst/>
                        </a:rPr>
                        <a:t>运算模块</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1050" kern="100">
                          <a:effectLst/>
                        </a:rPr>
                        <a:t>该模块包含了</a:t>
                      </a:r>
                      <a:r>
                        <a:rPr lang="en-US" sz="1050" kern="100">
                          <a:effectLst/>
                        </a:rPr>
                        <a:t>UR</a:t>
                      </a:r>
                      <a:r>
                        <a:rPr lang="zh-CN" sz="1050" kern="100">
                          <a:effectLst/>
                        </a:rPr>
                        <a:t>的运算命令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1050" kern="100">
                          <a:effectLst/>
                        </a:rPr>
                        <a:t>acos(f)</a:t>
                      </a:r>
                      <a:r>
                        <a:rPr lang="zh-CN" sz="1050" kern="100">
                          <a:effectLst/>
                        </a:rPr>
                        <a:t>，返回</a:t>
                      </a:r>
                      <a:r>
                        <a:rPr lang="en-US" sz="1050" kern="100">
                          <a:effectLst/>
                        </a:rPr>
                        <a:t>f</a:t>
                      </a:r>
                      <a:r>
                        <a:rPr lang="zh-CN" sz="1050" kern="100">
                          <a:effectLst/>
                        </a:rPr>
                        <a:t>的反余弦主值。</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2061337"/>
                  </a:ext>
                </a:extLst>
              </a:tr>
              <a:tr h="549879">
                <a:tc>
                  <a:txBody>
                    <a:bodyPr/>
                    <a:lstStyle/>
                    <a:p>
                      <a:pPr indent="266700"/>
                      <a:r>
                        <a:rPr lang="zh-CN" sz="1050" kern="100">
                          <a:effectLst/>
                        </a:rPr>
                        <a:t>界面模块</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zh-CN" sz="1050" kern="100">
                          <a:effectLst/>
                        </a:rPr>
                        <a:t>该模块包含了</a:t>
                      </a:r>
                      <a:r>
                        <a:rPr lang="en-US" sz="1050" kern="100">
                          <a:effectLst/>
                        </a:rPr>
                        <a:t>UR</a:t>
                      </a:r>
                      <a:r>
                        <a:rPr lang="zh-CN" sz="1050" kern="100">
                          <a:effectLst/>
                        </a:rPr>
                        <a:t>的</a:t>
                      </a:r>
                      <a:r>
                        <a:rPr lang="en-US" sz="1050" kern="100">
                          <a:effectLst/>
                        </a:rPr>
                        <a:t>I/O</a:t>
                      </a:r>
                      <a:r>
                        <a:rPr lang="zh-CN" sz="1050" kern="100">
                          <a:effectLst/>
                        </a:rPr>
                        <a:t>命令</a:t>
                      </a:r>
                      <a:endParaRPr lang="zh-CN" sz="105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r>
                        <a:rPr lang="en-US" sz="1050" kern="100" dirty="0" err="1">
                          <a:effectLst/>
                        </a:rPr>
                        <a:t>get_analog_in</a:t>
                      </a:r>
                      <a:r>
                        <a:rPr lang="en-US" sz="1050" kern="100" dirty="0">
                          <a:effectLst/>
                        </a:rPr>
                        <a:t>(n)</a:t>
                      </a:r>
                      <a:r>
                        <a:rPr lang="zh-CN" sz="1050" kern="100" dirty="0">
                          <a:effectLst/>
                        </a:rPr>
                        <a:t>，获取模拟输入电平，其中</a:t>
                      </a:r>
                      <a:r>
                        <a:rPr lang="en-US" sz="1050" kern="100" dirty="0">
                          <a:effectLst/>
                        </a:rPr>
                        <a:t>n</a:t>
                      </a:r>
                      <a:r>
                        <a:rPr lang="zh-CN" sz="1050" kern="100" dirty="0">
                          <a:effectLst/>
                        </a:rPr>
                        <a:t>为输入的编号。</a:t>
                      </a:r>
                      <a:endParaRPr lang="zh-CN" sz="105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667167950"/>
                  </a:ext>
                </a:extLst>
              </a:tr>
            </a:tbl>
          </a:graphicData>
        </a:graphic>
      </p:graphicFrame>
      <p:sp>
        <p:nvSpPr>
          <p:cNvPr id="8" name="矩形 7"/>
          <p:cNvSpPr/>
          <p:nvPr/>
        </p:nvSpPr>
        <p:spPr>
          <a:xfrm>
            <a:off x="3466569" y="1161948"/>
            <a:ext cx="2210862" cy="369332"/>
          </a:xfrm>
          <a:prstGeom prst="rect">
            <a:avLst/>
          </a:prstGeom>
        </p:spPr>
        <p:txBody>
          <a:bodyPr wrap="none">
            <a:spAutoFit/>
          </a:bodyPr>
          <a:lstStyle/>
          <a:p>
            <a:r>
              <a:rPr lang="en-US" altLang="zh-CN" dirty="0" err="1">
                <a:latin typeface="Times New Roman" panose="02020603050405020304" pitchFamily="18" charset="0"/>
              </a:rPr>
              <a:t>URScript</a:t>
            </a:r>
            <a:r>
              <a:rPr lang="zh-CN" altLang="zh-CN" dirty="0">
                <a:latin typeface="Times New Roman" panose="02020603050405020304" pitchFamily="18" charset="0"/>
                <a:cs typeface="Times New Roman" panose="02020603050405020304" pitchFamily="18" charset="0"/>
              </a:rPr>
              <a:t>模块命令表</a:t>
            </a:r>
            <a:endParaRPr lang="zh-CN" altLang="en-US" dirty="0"/>
          </a:p>
        </p:txBody>
      </p:sp>
    </p:spTree>
    <p:extLst>
      <p:ext uri="{BB962C8B-B14F-4D97-AF65-F5344CB8AC3E}">
        <p14:creationId xmlns:p14="http://schemas.microsoft.com/office/powerpoint/2010/main" val="120680377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319270" y="2473325"/>
            <a:ext cx="3849370" cy="922020"/>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按照机器人作业描述水平的程度，我们可以将现有的工业机器人语言分为动作级编程语言、对象级编程语言以及任务级编程语言三类。</a:t>
            </a:r>
            <a:endParaRPr lang="zh-CN" altLang="en-US" sz="1200" dirty="0">
              <a:solidFill>
                <a:schemeClr val="tx1"/>
              </a:solidFill>
              <a:latin typeface="Arial" panose="020B0604020202020204" pitchFamily="34" charset="0"/>
              <a:ea typeface="微软雅黑" panose="020B0503020204020204" charset="-122"/>
              <a:sym typeface="+mn-ea"/>
            </a:endParaRPr>
          </a:p>
        </p:txBody>
      </p:sp>
      <p:sp>
        <p:nvSpPr>
          <p:cNvPr id="7" name="文本框 6"/>
          <p:cNvSpPr txBox="1"/>
          <p:nvPr/>
        </p:nvSpPr>
        <p:spPr>
          <a:xfrm>
            <a:off x="4319270" y="1951355"/>
            <a:ext cx="3335655" cy="52197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机器人语言的分类</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a:solidFill>
                  <a:schemeClr val="bg1"/>
                </a:solidFill>
                <a:latin typeface="微软雅黑" panose="020B0503020204020204" charset="-122"/>
                <a:ea typeface="微软雅黑" panose="020B0503020204020204" charset="-122"/>
                <a:sym typeface="+mn-ea"/>
              </a:rPr>
              <a:t>03</a:t>
            </a:r>
          </a:p>
        </p:txBody>
      </p:sp>
    </p:spTree>
    <p:extLst>
      <p:ext uri="{BB962C8B-B14F-4D97-AF65-F5344CB8AC3E}">
        <p14:creationId xmlns:p14="http://schemas.microsoft.com/office/powerpoint/2010/main" val="446513117"/>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 name="任意形状 57"/>
          <p:cNvSpPr/>
          <p:nvPr>
            <p:custDataLst>
              <p:tags r:id="rId1"/>
            </p:custDataLst>
          </p:nvPr>
        </p:nvSpPr>
        <p:spPr>
          <a:xfrm>
            <a:off x="1378799" y="2341429"/>
            <a:ext cx="1415003" cy="2353581"/>
          </a:xfrm>
          <a:custGeom>
            <a:avLst/>
            <a:gdLst>
              <a:gd name="connsiteX0" fmla="*/ 0 w 1961809"/>
              <a:gd name="connsiteY0" fmla="*/ 0 h 3263087"/>
              <a:gd name="connsiteX1" fmla="*/ 637 w 1961809"/>
              <a:gd name="connsiteY1" fmla="*/ 0 h 3263087"/>
              <a:gd name="connsiteX2" fmla="*/ 5064 w 1961809"/>
              <a:gd name="connsiteY2" fmla="*/ 87679 h 3263087"/>
              <a:gd name="connsiteX3" fmla="*/ 980905 w 1961809"/>
              <a:gd name="connsiteY3" fmla="*/ 968292 h 3263087"/>
              <a:gd name="connsiteX4" fmla="*/ 1956746 w 1961809"/>
              <a:gd name="connsiteY4" fmla="*/ 87679 h 3263087"/>
              <a:gd name="connsiteX5" fmla="*/ 1961173 w 1961809"/>
              <a:gd name="connsiteY5" fmla="*/ 0 h 3263087"/>
              <a:gd name="connsiteX6" fmla="*/ 1961809 w 1961809"/>
              <a:gd name="connsiteY6" fmla="*/ 0 h 3263087"/>
              <a:gd name="connsiteX7" fmla="*/ 1961809 w 1961809"/>
              <a:gd name="connsiteY7" fmla="*/ 3263087 h 3263087"/>
              <a:gd name="connsiteX8" fmla="*/ 0 w 1961809"/>
              <a:gd name="connsiteY8" fmla="*/ 3263087 h 326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809" h="3263087">
                <a:moveTo>
                  <a:pt x="0" y="0"/>
                </a:moveTo>
                <a:lnTo>
                  <a:pt x="637" y="0"/>
                </a:lnTo>
                <a:lnTo>
                  <a:pt x="5064" y="87679"/>
                </a:lnTo>
                <a:cubicBezTo>
                  <a:pt x="55297" y="582306"/>
                  <a:pt x="473025" y="968292"/>
                  <a:pt x="980905" y="968292"/>
                </a:cubicBezTo>
                <a:cubicBezTo>
                  <a:pt x="1488785" y="968292"/>
                  <a:pt x="1906514" y="582306"/>
                  <a:pt x="1956746" y="87679"/>
                </a:cubicBezTo>
                <a:lnTo>
                  <a:pt x="1961173" y="0"/>
                </a:lnTo>
                <a:lnTo>
                  <a:pt x="1961809" y="0"/>
                </a:lnTo>
                <a:lnTo>
                  <a:pt x="1961809" y="3263087"/>
                </a:lnTo>
                <a:lnTo>
                  <a:pt x="0" y="3263087"/>
                </a:lnTo>
                <a:close/>
              </a:path>
            </a:pathLst>
          </a:custGeom>
          <a:solidFill>
            <a:srgbClr val="FFFFFF">
              <a:lumMod val="95000"/>
            </a:srgbClr>
          </a:solidFill>
          <a:ln w="12700">
            <a:miter lim="400000"/>
          </a:ln>
        </p:spPr>
        <p:txBody>
          <a:bodyPr wrap="square" tIns="34290" bIns="3429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solidFill>
                  <a:srgbClr val="FFFFFF"/>
                </a:solidFill>
              </a:defRPr>
            </a:pPr>
            <a:endParaRPr kumimoji="0" sz="675"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40" name="形状"/>
          <p:cNvSpPr/>
          <p:nvPr>
            <p:custDataLst>
              <p:tags r:id="rId2"/>
            </p:custDataLst>
          </p:nvPr>
        </p:nvSpPr>
        <p:spPr>
          <a:xfrm>
            <a:off x="1269934" y="1542220"/>
            <a:ext cx="1632734" cy="1635574"/>
          </a:xfrm>
          <a:custGeom>
            <a:avLst/>
            <a:gdLst/>
            <a:ahLst/>
            <a:cxnLst>
              <a:cxn ang="0">
                <a:pos x="wd2" y="hd2"/>
              </a:cxn>
              <a:cxn ang="5400000">
                <a:pos x="wd2" y="hd2"/>
              </a:cxn>
              <a:cxn ang="10800000">
                <a:pos x="wd2" y="hd2"/>
              </a:cxn>
              <a:cxn ang="16200000">
                <a:pos x="wd2" y="hd2"/>
              </a:cxn>
            </a:cxnLst>
            <a:rect l="0" t="0" r="r" b="b"/>
            <a:pathLst>
              <a:path w="21600" h="21600" extrusionOk="0">
                <a:moveTo>
                  <a:pt x="20552" y="10136"/>
                </a:moveTo>
                <a:cubicBezTo>
                  <a:pt x="20512" y="10056"/>
                  <a:pt x="20512" y="9935"/>
                  <a:pt x="20512" y="9855"/>
                </a:cubicBezTo>
                <a:cubicBezTo>
                  <a:pt x="20472" y="9573"/>
                  <a:pt x="20472" y="9573"/>
                  <a:pt x="20472" y="9573"/>
                </a:cubicBezTo>
                <a:cubicBezTo>
                  <a:pt x="20431" y="9251"/>
                  <a:pt x="20391" y="8970"/>
                  <a:pt x="20310" y="8688"/>
                </a:cubicBezTo>
                <a:cubicBezTo>
                  <a:pt x="21278" y="8125"/>
                  <a:pt x="21278" y="8125"/>
                  <a:pt x="21278" y="8125"/>
                </a:cubicBezTo>
                <a:cubicBezTo>
                  <a:pt x="21116" y="7683"/>
                  <a:pt x="21116" y="7683"/>
                  <a:pt x="21116" y="7683"/>
                </a:cubicBezTo>
                <a:cubicBezTo>
                  <a:pt x="20996" y="7240"/>
                  <a:pt x="20996" y="7240"/>
                  <a:pt x="20996" y="7240"/>
                </a:cubicBezTo>
                <a:cubicBezTo>
                  <a:pt x="19907" y="7321"/>
                  <a:pt x="19907" y="7321"/>
                  <a:pt x="19907" y="7321"/>
                </a:cubicBezTo>
                <a:cubicBezTo>
                  <a:pt x="19746" y="6838"/>
                  <a:pt x="19545" y="6396"/>
                  <a:pt x="19263" y="5953"/>
                </a:cubicBezTo>
                <a:cubicBezTo>
                  <a:pt x="20028" y="5149"/>
                  <a:pt x="20028" y="5149"/>
                  <a:pt x="20028" y="5149"/>
                </a:cubicBezTo>
                <a:cubicBezTo>
                  <a:pt x="19746" y="4787"/>
                  <a:pt x="19746" y="4787"/>
                  <a:pt x="19746" y="4787"/>
                </a:cubicBezTo>
                <a:cubicBezTo>
                  <a:pt x="19504" y="4384"/>
                  <a:pt x="19504" y="4384"/>
                  <a:pt x="19504" y="4384"/>
                </a:cubicBezTo>
                <a:cubicBezTo>
                  <a:pt x="18497" y="4787"/>
                  <a:pt x="18497" y="4787"/>
                  <a:pt x="18497" y="4787"/>
                </a:cubicBezTo>
                <a:cubicBezTo>
                  <a:pt x="18336" y="4585"/>
                  <a:pt x="18175" y="4384"/>
                  <a:pt x="18013" y="4183"/>
                </a:cubicBezTo>
                <a:cubicBezTo>
                  <a:pt x="17812" y="4022"/>
                  <a:pt x="17651" y="3821"/>
                  <a:pt x="17490" y="3660"/>
                </a:cubicBezTo>
                <a:cubicBezTo>
                  <a:pt x="17933" y="2695"/>
                  <a:pt x="17933" y="2695"/>
                  <a:pt x="17933" y="2695"/>
                </a:cubicBezTo>
                <a:cubicBezTo>
                  <a:pt x="17570" y="2413"/>
                  <a:pt x="17570" y="2413"/>
                  <a:pt x="17570" y="2413"/>
                </a:cubicBezTo>
                <a:cubicBezTo>
                  <a:pt x="17248" y="2092"/>
                  <a:pt x="17248" y="2092"/>
                  <a:pt x="17248" y="2092"/>
                </a:cubicBezTo>
                <a:cubicBezTo>
                  <a:pt x="16361" y="2775"/>
                  <a:pt x="16361" y="2775"/>
                  <a:pt x="16361" y="2775"/>
                </a:cubicBezTo>
                <a:cubicBezTo>
                  <a:pt x="15958" y="2494"/>
                  <a:pt x="15515" y="2212"/>
                  <a:pt x="15072" y="2011"/>
                </a:cubicBezTo>
                <a:cubicBezTo>
                  <a:pt x="15233" y="925"/>
                  <a:pt x="15233" y="925"/>
                  <a:pt x="15233" y="925"/>
                </a:cubicBezTo>
                <a:cubicBezTo>
                  <a:pt x="14790" y="764"/>
                  <a:pt x="14790" y="764"/>
                  <a:pt x="14790" y="764"/>
                </a:cubicBezTo>
                <a:cubicBezTo>
                  <a:pt x="14387" y="603"/>
                  <a:pt x="14387" y="603"/>
                  <a:pt x="14387" y="603"/>
                </a:cubicBezTo>
                <a:cubicBezTo>
                  <a:pt x="13742" y="1488"/>
                  <a:pt x="13742" y="1488"/>
                  <a:pt x="13742" y="1488"/>
                </a:cubicBezTo>
                <a:cubicBezTo>
                  <a:pt x="13460" y="1408"/>
                  <a:pt x="13178" y="1327"/>
                  <a:pt x="12855" y="1247"/>
                </a:cubicBezTo>
                <a:cubicBezTo>
                  <a:pt x="12613" y="1207"/>
                  <a:pt x="12613" y="1207"/>
                  <a:pt x="12613" y="1207"/>
                </a:cubicBezTo>
                <a:cubicBezTo>
                  <a:pt x="12493" y="1166"/>
                  <a:pt x="12412" y="1166"/>
                  <a:pt x="12291" y="1126"/>
                </a:cubicBezTo>
                <a:cubicBezTo>
                  <a:pt x="12130" y="80"/>
                  <a:pt x="12130" y="80"/>
                  <a:pt x="12130" y="80"/>
                </a:cubicBezTo>
                <a:cubicBezTo>
                  <a:pt x="11687" y="40"/>
                  <a:pt x="11687" y="40"/>
                  <a:pt x="11687" y="40"/>
                </a:cubicBezTo>
                <a:cubicBezTo>
                  <a:pt x="11203" y="0"/>
                  <a:pt x="11203" y="0"/>
                  <a:pt x="11203" y="0"/>
                </a:cubicBezTo>
                <a:cubicBezTo>
                  <a:pt x="10881" y="1006"/>
                  <a:pt x="10881" y="1006"/>
                  <a:pt x="10881" y="1006"/>
                </a:cubicBezTo>
                <a:cubicBezTo>
                  <a:pt x="10357" y="1006"/>
                  <a:pt x="9873" y="1046"/>
                  <a:pt x="9390" y="1126"/>
                </a:cubicBezTo>
                <a:cubicBezTo>
                  <a:pt x="8906" y="161"/>
                  <a:pt x="8906" y="161"/>
                  <a:pt x="8906" y="161"/>
                </a:cubicBezTo>
                <a:cubicBezTo>
                  <a:pt x="8463" y="241"/>
                  <a:pt x="8463" y="241"/>
                  <a:pt x="8463" y="241"/>
                </a:cubicBezTo>
                <a:cubicBezTo>
                  <a:pt x="8019" y="322"/>
                  <a:pt x="8019" y="322"/>
                  <a:pt x="8019" y="322"/>
                </a:cubicBezTo>
                <a:cubicBezTo>
                  <a:pt x="7979" y="1408"/>
                  <a:pt x="7979" y="1408"/>
                  <a:pt x="7979" y="1408"/>
                </a:cubicBezTo>
                <a:cubicBezTo>
                  <a:pt x="7496" y="1569"/>
                  <a:pt x="7052" y="1730"/>
                  <a:pt x="6569" y="1971"/>
                </a:cubicBezTo>
                <a:cubicBezTo>
                  <a:pt x="5843" y="1166"/>
                  <a:pt x="5843" y="1166"/>
                  <a:pt x="5843" y="1166"/>
                </a:cubicBezTo>
                <a:cubicBezTo>
                  <a:pt x="5440" y="1408"/>
                  <a:pt x="5440" y="1408"/>
                  <a:pt x="5440" y="1408"/>
                </a:cubicBezTo>
                <a:cubicBezTo>
                  <a:pt x="5037" y="1609"/>
                  <a:pt x="5037" y="1609"/>
                  <a:pt x="5037" y="1609"/>
                </a:cubicBezTo>
                <a:cubicBezTo>
                  <a:pt x="5360" y="2655"/>
                  <a:pt x="5360" y="2655"/>
                  <a:pt x="5360" y="2655"/>
                </a:cubicBezTo>
                <a:cubicBezTo>
                  <a:pt x="4916" y="2936"/>
                  <a:pt x="4554" y="3218"/>
                  <a:pt x="4191" y="3580"/>
                </a:cubicBezTo>
                <a:cubicBezTo>
                  <a:pt x="4151" y="3580"/>
                  <a:pt x="4151" y="3580"/>
                  <a:pt x="4151" y="3580"/>
                </a:cubicBezTo>
                <a:cubicBezTo>
                  <a:pt x="3224" y="3057"/>
                  <a:pt x="3224" y="3057"/>
                  <a:pt x="3224" y="3057"/>
                </a:cubicBezTo>
                <a:cubicBezTo>
                  <a:pt x="2901" y="3379"/>
                  <a:pt x="2901" y="3379"/>
                  <a:pt x="2901" y="3379"/>
                </a:cubicBezTo>
                <a:cubicBezTo>
                  <a:pt x="2579" y="3701"/>
                  <a:pt x="2579" y="3701"/>
                  <a:pt x="2579" y="3701"/>
                </a:cubicBezTo>
                <a:cubicBezTo>
                  <a:pt x="3184" y="4626"/>
                  <a:pt x="3184" y="4626"/>
                  <a:pt x="3184" y="4626"/>
                </a:cubicBezTo>
                <a:cubicBezTo>
                  <a:pt x="2861" y="5028"/>
                  <a:pt x="2579" y="5430"/>
                  <a:pt x="2337" y="5832"/>
                </a:cubicBezTo>
                <a:cubicBezTo>
                  <a:pt x="1894" y="5752"/>
                  <a:pt x="1894" y="5752"/>
                  <a:pt x="1894" y="5752"/>
                </a:cubicBezTo>
                <a:cubicBezTo>
                  <a:pt x="1894" y="5752"/>
                  <a:pt x="1894" y="5752"/>
                  <a:pt x="1894" y="5752"/>
                </a:cubicBezTo>
                <a:cubicBezTo>
                  <a:pt x="1249" y="5631"/>
                  <a:pt x="1249" y="5631"/>
                  <a:pt x="1249" y="5631"/>
                </a:cubicBezTo>
                <a:cubicBezTo>
                  <a:pt x="1048" y="6034"/>
                  <a:pt x="1048" y="6034"/>
                  <a:pt x="1048" y="6034"/>
                </a:cubicBezTo>
                <a:cubicBezTo>
                  <a:pt x="846" y="6436"/>
                  <a:pt x="846" y="6436"/>
                  <a:pt x="846" y="6436"/>
                </a:cubicBezTo>
                <a:cubicBezTo>
                  <a:pt x="1693" y="7120"/>
                  <a:pt x="1693" y="7120"/>
                  <a:pt x="1693" y="7120"/>
                </a:cubicBezTo>
                <a:cubicBezTo>
                  <a:pt x="1491" y="7602"/>
                  <a:pt x="1370" y="8085"/>
                  <a:pt x="1249" y="8568"/>
                </a:cubicBezTo>
                <a:cubicBezTo>
                  <a:pt x="161" y="8648"/>
                  <a:pt x="161" y="8648"/>
                  <a:pt x="161" y="8648"/>
                </a:cubicBezTo>
                <a:cubicBezTo>
                  <a:pt x="81" y="9091"/>
                  <a:pt x="81" y="9091"/>
                  <a:pt x="81" y="9091"/>
                </a:cubicBezTo>
                <a:cubicBezTo>
                  <a:pt x="0" y="9533"/>
                  <a:pt x="0" y="9533"/>
                  <a:pt x="0" y="9533"/>
                </a:cubicBezTo>
                <a:cubicBezTo>
                  <a:pt x="1007" y="9975"/>
                  <a:pt x="1007" y="9975"/>
                  <a:pt x="1007" y="9975"/>
                </a:cubicBezTo>
                <a:cubicBezTo>
                  <a:pt x="967" y="10458"/>
                  <a:pt x="967" y="10941"/>
                  <a:pt x="1007" y="11464"/>
                </a:cubicBezTo>
                <a:cubicBezTo>
                  <a:pt x="0" y="11866"/>
                  <a:pt x="0" y="11866"/>
                  <a:pt x="0" y="11866"/>
                </a:cubicBezTo>
                <a:cubicBezTo>
                  <a:pt x="81" y="12308"/>
                  <a:pt x="81" y="12308"/>
                  <a:pt x="81" y="12308"/>
                </a:cubicBezTo>
                <a:cubicBezTo>
                  <a:pt x="121" y="12751"/>
                  <a:pt x="121" y="12751"/>
                  <a:pt x="121" y="12751"/>
                </a:cubicBezTo>
                <a:cubicBezTo>
                  <a:pt x="1209" y="12872"/>
                  <a:pt x="1209" y="12872"/>
                  <a:pt x="1209" y="12872"/>
                </a:cubicBezTo>
                <a:cubicBezTo>
                  <a:pt x="1330" y="13354"/>
                  <a:pt x="1451" y="13837"/>
                  <a:pt x="1652" y="14320"/>
                </a:cubicBezTo>
                <a:cubicBezTo>
                  <a:pt x="806" y="14963"/>
                  <a:pt x="806" y="14963"/>
                  <a:pt x="806" y="14963"/>
                </a:cubicBezTo>
                <a:cubicBezTo>
                  <a:pt x="967" y="15406"/>
                  <a:pt x="967" y="15406"/>
                  <a:pt x="967" y="15406"/>
                </a:cubicBezTo>
                <a:cubicBezTo>
                  <a:pt x="1169" y="15808"/>
                  <a:pt x="1169" y="15808"/>
                  <a:pt x="1169" y="15808"/>
                </a:cubicBezTo>
                <a:cubicBezTo>
                  <a:pt x="2257" y="15566"/>
                  <a:pt x="2257" y="15566"/>
                  <a:pt x="2257" y="15566"/>
                </a:cubicBezTo>
                <a:cubicBezTo>
                  <a:pt x="2499" y="16009"/>
                  <a:pt x="2781" y="16451"/>
                  <a:pt x="3103" y="16813"/>
                </a:cubicBezTo>
                <a:cubicBezTo>
                  <a:pt x="2458" y="17739"/>
                  <a:pt x="2458" y="17739"/>
                  <a:pt x="2458" y="17739"/>
                </a:cubicBezTo>
                <a:cubicBezTo>
                  <a:pt x="2781" y="18060"/>
                  <a:pt x="2781" y="18060"/>
                  <a:pt x="2781" y="18060"/>
                </a:cubicBezTo>
                <a:cubicBezTo>
                  <a:pt x="3103" y="18422"/>
                  <a:pt x="3103" y="18422"/>
                  <a:pt x="3103" y="18422"/>
                </a:cubicBezTo>
                <a:cubicBezTo>
                  <a:pt x="4030" y="17859"/>
                  <a:pt x="4030" y="17859"/>
                  <a:pt x="4030" y="17859"/>
                </a:cubicBezTo>
                <a:cubicBezTo>
                  <a:pt x="4433" y="18221"/>
                  <a:pt x="4796" y="18543"/>
                  <a:pt x="5199" y="18825"/>
                </a:cubicBezTo>
                <a:cubicBezTo>
                  <a:pt x="4876" y="19870"/>
                  <a:pt x="4876" y="19870"/>
                  <a:pt x="4876" y="19870"/>
                </a:cubicBezTo>
                <a:cubicBezTo>
                  <a:pt x="5279" y="20112"/>
                  <a:pt x="5279" y="20112"/>
                  <a:pt x="5279" y="20112"/>
                </a:cubicBezTo>
                <a:cubicBezTo>
                  <a:pt x="5682" y="20313"/>
                  <a:pt x="5682" y="20313"/>
                  <a:pt x="5682" y="20313"/>
                </a:cubicBezTo>
                <a:cubicBezTo>
                  <a:pt x="6448" y="19549"/>
                  <a:pt x="6448" y="19549"/>
                  <a:pt x="6448" y="19549"/>
                </a:cubicBezTo>
                <a:cubicBezTo>
                  <a:pt x="6891" y="19750"/>
                  <a:pt x="7375" y="19951"/>
                  <a:pt x="7818" y="20112"/>
                </a:cubicBezTo>
                <a:cubicBezTo>
                  <a:pt x="7818" y="21198"/>
                  <a:pt x="7818" y="21198"/>
                  <a:pt x="7818" y="21198"/>
                </a:cubicBezTo>
                <a:cubicBezTo>
                  <a:pt x="8261" y="21278"/>
                  <a:pt x="8261" y="21278"/>
                  <a:pt x="8261" y="21278"/>
                </a:cubicBezTo>
                <a:cubicBezTo>
                  <a:pt x="8704" y="21399"/>
                  <a:pt x="8704" y="21399"/>
                  <a:pt x="8704" y="21399"/>
                </a:cubicBezTo>
                <a:cubicBezTo>
                  <a:pt x="9228" y="20434"/>
                  <a:pt x="9228" y="20434"/>
                  <a:pt x="9228" y="20434"/>
                </a:cubicBezTo>
                <a:cubicBezTo>
                  <a:pt x="9712" y="20514"/>
                  <a:pt x="10196" y="20554"/>
                  <a:pt x="10719" y="20554"/>
                </a:cubicBezTo>
                <a:cubicBezTo>
                  <a:pt x="11042" y="21600"/>
                  <a:pt x="11042" y="21600"/>
                  <a:pt x="11042" y="21600"/>
                </a:cubicBezTo>
                <a:cubicBezTo>
                  <a:pt x="11485" y="21560"/>
                  <a:pt x="11485" y="21560"/>
                  <a:pt x="11485" y="21560"/>
                </a:cubicBezTo>
                <a:cubicBezTo>
                  <a:pt x="11969" y="21520"/>
                  <a:pt x="11969" y="21520"/>
                  <a:pt x="11969" y="21520"/>
                </a:cubicBezTo>
                <a:cubicBezTo>
                  <a:pt x="12130" y="20474"/>
                  <a:pt x="12130" y="20474"/>
                  <a:pt x="12130" y="20474"/>
                </a:cubicBezTo>
                <a:cubicBezTo>
                  <a:pt x="12613" y="20393"/>
                  <a:pt x="13137" y="20273"/>
                  <a:pt x="13621" y="20152"/>
                </a:cubicBezTo>
                <a:cubicBezTo>
                  <a:pt x="14225" y="21037"/>
                  <a:pt x="14225" y="21037"/>
                  <a:pt x="14225" y="21037"/>
                </a:cubicBezTo>
                <a:cubicBezTo>
                  <a:pt x="14628" y="20876"/>
                  <a:pt x="14628" y="20876"/>
                  <a:pt x="14628" y="20876"/>
                </a:cubicBezTo>
                <a:cubicBezTo>
                  <a:pt x="15072" y="20715"/>
                  <a:pt x="15072" y="20715"/>
                  <a:pt x="15072" y="20715"/>
                </a:cubicBezTo>
                <a:cubicBezTo>
                  <a:pt x="14991" y="20072"/>
                  <a:pt x="14991" y="20072"/>
                  <a:pt x="14991" y="20072"/>
                </a:cubicBezTo>
                <a:cubicBezTo>
                  <a:pt x="14991" y="20072"/>
                  <a:pt x="14991" y="20072"/>
                  <a:pt x="14991" y="20072"/>
                </a:cubicBezTo>
                <a:cubicBezTo>
                  <a:pt x="14951" y="19629"/>
                  <a:pt x="14951" y="19629"/>
                  <a:pt x="14951" y="19629"/>
                </a:cubicBezTo>
                <a:cubicBezTo>
                  <a:pt x="15394" y="19428"/>
                  <a:pt x="15837" y="19187"/>
                  <a:pt x="16240" y="18905"/>
                </a:cubicBezTo>
                <a:cubicBezTo>
                  <a:pt x="17087" y="19549"/>
                  <a:pt x="17087" y="19549"/>
                  <a:pt x="17087" y="19549"/>
                </a:cubicBezTo>
                <a:cubicBezTo>
                  <a:pt x="17449" y="19267"/>
                  <a:pt x="17449" y="19267"/>
                  <a:pt x="17449" y="19267"/>
                </a:cubicBezTo>
                <a:cubicBezTo>
                  <a:pt x="17812" y="18985"/>
                  <a:pt x="17812" y="18985"/>
                  <a:pt x="17812" y="18985"/>
                </a:cubicBezTo>
                <a:cubicBezTo>
                  <a:pt x="17369" y="18020"/>
                  <a:pt x="17369" y="18020"/>
                  <a:pt x="17369" y="18020"/>
                </a:cubicBezTo>
                <a:cubicBezTo>
                  <a:pt x="17369" y="18020"/>
                  <a:pt x="17369" y="18020"/>
                  <a:pt x="17369" y="17980"/>
                </a:cubicBezTo>
                <a:cubicBezTo>
                  <a:pt x="17731" y="17658"/>
                  <a:pt x="18094" y="17296"/>
                  <a:pt x="18376" y="16934"/>
                </a:cubicBezTo>
                <a:cubicBezTo>
                  <a:pt x="19384" y="17336"/>
                  <a:pt x="19384" y="17336"/>
                  <a:pt x="19384" y="17336"/>
                </a:cubicBezTo>
                <a:cubicBezTo>
                  <a:pt x="19666" y="16934"/>
                  <a:pt x="19666" y="16934"/>
                  <a:pt x="19666" y="16934"/>
                </a:cubicBezTo>
                <a:cubicBezTo>
                  <a:pt x="19907" y="16572"/>
                  <a:pt x="19907" y="16572"/>
                  <a:pt x="19907" y="16572"/>
                </a:cubicBezTo>
                <a:cubicBezTo>
                  <a:pt x="19182" y="15768"/>
                  <a:pt x="19182" y="15768"/>
                  <a:pt x="19182" y="15768"/>
                </a:cubicBezTo>
                <a:cubicBezTo>
                  <a:pt x="19464" y="15325"/>
                  <a:pt x="19666" y="14883"/>
                  <a:pt x="19867" y="14400"/>
                </a:cubicBezTo>
                <a:cubicBezTo>
                  <a:pt x="20955" y="14480"/>
                  <a:pt x="20955" y="14480"/>
                  <a:pt x="20955" y="14480"/>
                </a:cubicBezTo>
                <a:cubicBezTo>
                  <a:pt x="21076" y="14038"/>
                  <a:pt x="21076" y="14038"/>
                  <a:pt x="21076" y="14038"/>
                </a:cubicBezTo>
                <a:cubicBezTo>
                  <a:pt x="21237" y="13636"/>
                  <a:pt x="21237" y="13636"/>
                  <a:pt x="21237" y="13636"/>
                </a:cubicBezTo>
                <a:cubicBezTo>
                  <a:pt x="20270" y="13073"/>
                  <a:pt x="20270" y="13073"/>
                  <a:pt x="20270" y="13073"/>
                </a:cubicBezTo>
                <a:cubicBezTo>
                  <a:pt x="20391" y="12550"/>
                  <a:pt x="20472" y="12067"/>
                  <a:pt x="20512" y="11584"/>
                </a:cubicBezTo>
                <a:cubicBezTo>
                  <a:pt x="21600" y="11343"/>
                  <a:pt x="21600" y="11343"/>
                  <a:pt x="21600" y="11343"/>
                </a:cubicBezTo>
                <a:cubicBezTo>
                  <a:pt x="21600" y="10860"/>
                  <a:pt x="21600" y="10860"/>
                  <a:pt x="21600" y="10860"/>
                </a:cubicBezTo>
                <a:cubicBezTo>
                  <a:pt x="21600" y="10418"/>
                  <a:pt x="21600" y="10418"/>
                  <a:pt x="21600" y="10418"/>
                </a:cubicBezTo>
                <a:lnTo>
                  <a:pt x="20552" y="10136"/>
                </a:lnTo>
                <a:close/>
                <a:moveTo>
                  <a:pt x="17006" y="5108"/>
                </a:moveTo>
                <a:cubicBezTo>
                  <a:pt x="18134" y="6315"/>
                  <a:pt x="18819" y="7763"/>
                  <a:pt x="19101" y="9292"/>
                </a:cubicBezTo>
                <a:cubicBezTo>
                  <a:pt x="17812" y="9010"/>
                  <a:pt x="17812" y="9010"/>
                  <a:pt x="17812" y="9010"/>
                </a:cubicBezTo>
                <a:cubicBezTo>
                  <a:pt x="17207" y="6677"/>
                  <a:pt x="15434" y="4787"/>
                  <a:pt x="13178" y="3982"/>
                </a:cubicBezTo>
                <a:cubicBezTo>
                  <a:pt x="13016" y="2655"/>
                  <a:pt x="13016" y="2655"/>
                  <a:pt x="13016" y="2655"/>
                </a:cubicBezTo>
                <a:cubicBezTo>
                  <a:pt x="14507" y="3057"/>
                  <a:pt x="15918" y="3861"/>
                  <a:pt x="17006" y="5108"/>
                </a:cubicBezTo>
                <a:close/>
                <a:moveTo>
                  <a:pt x="5037" y="4545"/>
                </a:moveTo>
                <a:cubicBezTo>
                  <a:pt x="6972" y="2775"/>
                  <a:pt x="9510" y="2092"/>
                  <a:pt x="11928" y="2413"/>
                </a:cubicBezTo>
                <a:cubicBezTo>
                  <a:pt x="11243" y="3580"/>
                  <a:pt x="11243" y="3580"/>
                  <a:pt x="11243" y="3580"/>
                </a:cubicBezTo>
                <a:cubicBezTo>
                  <a:pt x="11082" y="3580"/>
                  <a:pt x="10961" y="3580"/>
                  <a:pt x="10800" y="3580"/>
                </a:cubicBezTo>
                <a:cubicBezTo>
                  <a:pt x="8463" y="3580"/>
                  <a:pt x="6367" y="4666"/>
                  <a:pt x="5037" y="6396"/>
                </a:cubicBezTo>
                <a:cubicBezTo>
                  <a:pt x="3667" y="6114"/>
                  <a:pt x="3667" y="6114"/>
                  <a:pt x="3667" y="6114"/>
                </a:cubicBezTo>
                <a:cubicBezTo>
                  <a:pt x="4030" y="5551"/>
                  <a:pt x="4513" y="5028"/>
                  <a:pt x="5037" y="4545"/>
                </a:cubicBezTo>
                <a:close/>
                <a:moveTo>
                  <a:pt x="3103" y="7079"/>
                </a:moveTo>
                <a:cubicBezTo>
                  <a:pt x="4070" y="8125"/>
                  <a:pt x="4070" y="8125"/>
                  <a:pt x="4070" y="8125"/>
                </a:cubicBezTo>
                <a:cubicBezTo>
                  <a:pt x="3748" y="8970"/>
                  <a:pt x="3546" y="9855"/>
                  <a:pt x="3546" y="10780"/>
                </a:cubicBezTo>
                <a:cubicBezTo>
                  <a:pt x="3546" y="12308"/>
                  <a:pt x="4030" y="13716"/>
                  <a:pt x="4836" y="14842"/>
                </a:cubicBezTo>
                <a:cubicBezTo>
                  <a:pt x="4110" y="16089"/>
                  <a:pt x="4110" y="16089"/>
                  <a:pt x="4110" y="16089"/>
                </a:cubicBezTo>
                <a:cubicBezTo>
                  <a:pt x="2015" y="13475"/>
                  <a:pt x="1693" y="9975"/>
                  <a:pt x="3103" y="7079"/>
                </a:cubicBezTo>
                <a:close/>
                <a:moveTo>
                  <a:pt x="4876" y="16934"/>
                </a:moveTo>
                <a:cubicBezTo>
                  <a:pt x="6166" y="16331"/>
                  <a:pt x="6166" y="16331"/>
                  <a:pt x="6166" y="16331"/>
                </a:cubicBezTo>
                <a:cubicBezTo>
                  <a:pt x="7415" y="17377"/>
                  <a:pt x="9027" y="18020"/>
                  <a:pt x="10800" y="18020"/>
                </a:cubicBezTo>
                <a:cubicBezTo>
                  <a:pt x="11485" y="18020"/>
                  <a:pt x="12170" y="17899"/>
                  <a:pt x="12815" y="17698"/>
                </a:cubicBezTo>
                <a:cubicBezTo>
                  <a:pt x="13782" y="18744"/>
                  <a:pt x="13782" y="18744"/>
                  <a:pt x="13782" y="18744"/>
                </a:cubicBezTo>
                <a:cubicBezTo>
                  <a:pt x="10760" y="19870"/>
                  <a:pt x="7294" y="19227"/>
                  <a:pt x="4876" y="16934"/>
                </a:cubicBezTo>
                <a:close/>
                <a:moveTo>
                  <a:pt x="16482" y="17055"/>
                </a:moveTo>
                <a:cubicBezTo>
                  <a:pt x="15958" y="17537"/>
                  <a:pt x="15394" y="17940"/>
                  <a:pt x="14790" y="18261"/>
                </a:cubicBezTo>
                <a:cubicBezTo>
                  <a:pt x="14628" y="16894"/>
                  <a:pt x="14628" y="16894"/>
                  <a:pt x="14628" y="16894"/>
                </a:cubicBezTo>
                <a:cubicBezTo>
                  <a:pt x="16643" y="15647"/>
                  <a:pt x="17973" y="13475"/>
                  <a:pt x="18013" y="10981"/>
                </a:cubicBezTo>
                <a:cubicBezTo>
                  <a:pt x="19222" y="10418"/>
                  <a:pt x="19222" y="10418"/>
                  <a:pt x="19222" y="10418"/>
                </a:cubicBezTo>
                <a:cubicBezTo>
                  <a:pt x="19343" y="12831"/>
                  <a:pt x="18416" y="15285"/>
                  <a:pt x="16482" y="1705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8" name="任意形状 61"/>
          <p:cNvSpPr>
            <a:spLocks noChangeAspect="1"/>
          </p:cNvSpPr>
          <p:nvPr>
            <p:custDataLst>
              <p:tags r:id="rId3"/>
            </p:custDataLst>
          </p:nvPr>
        </p:nvSpPr>
        <p:spPr>
          <a:xfrm>
            <a:off x="1867146" y="2140853"/>
            <a:ext cx="438308" cy="438308"/>
          </a:xfrm>
          <a:custGeom>
            <a:avLst/>
            <a:gdLst>
              <a:gd name="connsiteX0" fmla="*/ 456750 w 504000"/>
              <a:gd name="connsiteY0" fmla="*/ 456750 h 504000"/>
              <a:gd name="connsiteX1" fmla="*/ 472500 w 504000"/>
              <a:gd name="connsiteY1" fmla="*/ 456750 h 504000"/>
              <a:gd name="connsiteX2" fmla="*/ 472500 w 504000"/>
              <a:gd name="connsiteY2" fmla="*/ 472500 h 504000"/>
              <a:gd name="connsiteX3" fmla="*/ 456750 w 504000"/>
              <a:gd name="connsiteY3" fmla="*/ 472500 h 504000"/>
              <a:gd name="connsiteX4" fmla="*/ 425250 w 504000"/>
              <a:gd name="connsiteY4" fmla="*/ 456750 h 504000"/>
              <a:gd name="connsiteX5" fmla="*/ 441000 w 504000"/>
              <a:gd name="connsiteY5" fmla="*/ 456750 h 504000"/>
              <a:gd name="connsiteX6" fmla="*/ 441000 w 504000"/>
              <a:gd name="connsiteY6" fmla="*/ 472500 h 504000"/>
              <a:gd name="connsiteX7" fmla="*/ 425250 w 504000"/>
              <a:gd name="connsiteY7" fmla="*/ 472500 h 504000"/>
              <a:gd name="connsiteX8" fmla="*/ 393750 w 504000"/>
              <a:gd name="connsiteY8" fmla="*/ 456750 h 504000"/>
              <a:gd name="connsiteX9" fmla="*/ 409500 w 504000"/>
              <a:gd name="connsiteY9" fmla="*/ 456750 h 504000"/>
              <a:gd name="connsiteX10" fmla="*/ 409500 w 504000"/>
              <a:gd name="connsiteY10" fmla="*/ 472500 h 504000"/>
              <a:gd name="connsiteX11" fmla="*/ 393750 w 504000"/>
              <a:gd name="connsiteY11" fmla="*/ 472500 h 504000"/>
              <a:gd name="connsiteX12" fmla="*/ 362250 w 504000"/>
              <a:gd name="connsiteY12" fmla="*/ 456750 h 504000"/>
              <a:gd name="connsiteX13" fmla="*/ 378000 w 504000"/>
              <a:gd name="connsiteY13" fmla="*/ 456750 h 504000"/>
              <a:gd name="connsiteX14" fmla="*/ 378000 w 504000"/>
              <a:gd name="connsiteY14" fmla="*/ 472500 h 504000"/>
              <a:gd name="connsiteX15" fmla="*/ 362250 w 504000"/>
              <a:gd name="connsiteY15" fmla="*/ 472500 h 504000"/>
              <a:gd name="connsiteX16" fmla="*/ 330750 w 504000"/>
              <a:gd name="connsiteY16" fmla="*/ 456750 h 504000"/>
              <a:gd name="connsiteX17" fmla="*/ 346500 w 504000"/>
              <a:gd name="connsiteY17" fmla="*/ 456750 h 504000"/>
              <a:gd name="connsiteX18" fmla="*/ 346500 w 504000"/>
              <a:gd name="connsiteY18" fmla="*/ 472500 h 504000"/>
              <a:gd name="connsiteX19" fmla="*/ 330750 w 504000"/>
              <a:gd name="connsiteY19" fmla="*/ 472500 h 504000"/>
              <a:gd name="connsiteX20" fmla="*/ 299250 w 504000"/>
              <a:gd name="connsiteY20" fmla="*/ 456750 h 504000"/>
              <a:gd name="connsiteX21" fmla="*/ 315000 w 504000"/>
              <a:gd name="connsiteY21" fmla="*/ 456750 h 504000"/>
              <a:gd name="connsiteX22" fmla="*/ 315000 w 504000"/>
              <a:gd name="connsiteY22" fmla="*/ 472500 h 504000"/>
              <a:gd name="connsiteX23" fmla="*/ 299250 w 504000"/>
              <a:gd name="connsiteY23" fmla="*/ 472500 h 504000"/>
              <a:gd name="connsiteX24" fmla="*/ 267750 w 504000"/>
              <a:gd name="connsiteY24" fmla="*/ 456750 h 504000"/>
              <a:gd name="connsiteX25" fmla="*/ 283500 w 504000"/>
              <a:gd name="connsiteY25" fmla="*/ 456750 h 504000"/>
              <a:gd name="connsiteX26" fmla="*/ 283500 w 504000"/>
              <a:gd name="connsiteY26" fmla="*/ 472500 h 504000"/>
              <a:gd name="connsiteX27" fmla="*/ 267750 w 504000"/>
              <a:gd name="connsiteY27" fmla="*/ 472500 h 504000"/>
              <a:gd name="connsiteX28" fmla="*/ 236250 w 504000"/>
              <a:gd name="connsiteY28" fmla="*/ 456750 h 504000"/>
              <a:gd name="connsiteX29" fmla="*/ 252000 w 504000"/>
              <a:gd name="connsiteY29" fmla="*/ 456750 h 504000"/>
              <a:gd name="connsiteX30" fmla="*/ 252000 w 504000"/>
              <a:gd name="connsiteY30" fmla="*/ 472500 h 504000"/>
              <a:gd name="connsiteX31" fmla="*/ 236250 w 504000"/>
              <a:gd name="connsiteY31" fmla="*/ 472500 h 504000"/>
              <a:gd name="connsiteX32" fmla="*/ 204750 w 504000"/>
              <a:gd name="connsiteY32" fmla="*/ 456750 h 504000"/>
              <a:gd name="connsiteX33" fmla="*/ 220500 w 504000"/>
              <a:gd name="connsiteY33" fmla="*/ 456750 h 504000"/>
              <a:gd name="connsiteX34" fmla="*/ 220500 w 504000"/>
              <a:gd name="connsiteY34" fmla="*/ 472500 h 504000"/>
              <a:gd name="connsiteX35" fmla="*/ 204750 w 504000"/>
              <a:gd name="connsiteY35" fmla="*/ 472500 h 504000"/>
              <a:gd name="connsiteX36" fmla="*/ 173250 w 504000"/>
              <a:gd name="connsiteY36" fmla="*/ 456750 h 504000"/>
              <a:gd name="connsiteX37" fmla="*/ 189000 w 504000"/>
              <a:gd name="connsiteY37" fmla="*/ 456750 h 504000"/>
              <a:gd name="connsiteX38" fmla="*/ 189000 w 504000"/>
              <a:gd name="connsiteY38" fmla="*/ 472500 h 504000"/>
              <a:gd name="connsiteX39" fmla="*/ 173250 w 504000"/>
              <a:gd name="connsiteY39" fmla="*/ 472500 h 504000"/>
              <a:gd name="connsiteX40" fmla="*/ 141750 w 504000"/>
              <a:gd name="connsiteY40" fmla="*/ 456750 h 504000"/>
              <a:gd name="connsiteX41" fmla="*/ 157500 w 504000"/>
              <a:gd name="connsiteY41" fmla="*/ 456750 h 504000"/>
              <a:gd name="connsiteX42" fmla="*/ 157500 w 504000"/>
              <a:gd name="connsiteY42" fmla="*/ 472500 h 504000"/>
              <a:gd name="connsiteX43" fmla="*/ 141750 w 504000"/>
              <a:gd name="connsiteY43" fmla="*/ 472500 h 504000"/>
              <a:gd name="connsiteX44" fmla="*/ 110250 w 504000"/>
              <a:gd name="connsiteY44" fmla="*/ 456750 h 504000"/>
              <a:gd name="connsiteX45" fmla="*/ 126000 w 504000"/>
              <a:gd name="connsiteY45" fmla="*/ 456750 h 504000"/>
              <a:gd name="connsiteX46" fmla="*/ 126000 w 504000"/>
              <a:gd name="connsiteY46" fmla="*/ 472500 h 504000"/>
              <a:gd name="connsiteX47" fmla="*/ 110250 w 504000"/>
              <a:gd name="connsiteY47" fmla="*/ 472500 h 504000"/>
              <a:gd name="connsiteX48" fmla="*/ 95815 w 504000"/>
              <a:gd name="connsiteY48" fmla="*/ 315000 h 504000"/>
              <a:gd name="connsiteX49" fmla="*/ 158154 w 504000"/>
              <a:gd name="connsiteY49" fmla="*/ 315000 h 504000"/>
              <a:gd name="connsiteX50" fmla="*/ 158154 w 504000"/>
              <a:gd name="connsiteY50" fmla="*/ 330750 h 504000"/>
              <a:gd name="connsiteX51" fmla="*/ 95815 w 504000"/>
              <a:gd name="connsiteY51" fmla="*/ 330750 h 504000"/>
              <a:gd name="connsiteX52" fmla="*/ 78750 w 504000"/>
              <a:gd name="connsiteY52" fmla="*/ 299250 h 504000"/>
              <a:gd name="connsiteX53" fmla="*/ 78750 w 504000"/>
              <a:gd name="connsiteY53" fmla="*/ 346500 h 504000"/>
              <a:gd name="connsiteX54" fmla="*/ 173250 w 504000"/>
              <a:gd name="connsiteY54" fmla="*/ 346500 h 504000"/>
              <a:gd name="connsiteX55" fmla="*/ 173250 w 504000"/>
              <a:gd name="connsiteY55" fmla="*/ 299250 h 504000"/>
              <a:gd name="connsiteX56" fmla="*/ 78750 w 504000"/>
              <a:gd name="connsiteY56" fmla="*/ 220500 h 504000"/>
              <a:gd name="connsiteX57" fmla="*/ 78750 w 504000"/>
              <a:gd name="connsiteY57" fmla="*/ 283500 h 504000"/>
              <a:gd name="connsiteX58" fmla="*/ 189000 w 504000"/>
              <a:gd name="connsiteY58" fmla="*/ 283500 h 504000"/>
              <a:gd name="connsiteX59" fmla="*/ 189000 w 504000"/>
              <a:gd name="connsiteY59" fmla="*/ 362250 h 504000"/>
              <a:gd name="connsiteX60" fmla="*/ 78750 w 504000"/>
              <a:gd name="connsiteY60" fmla="*/ 362250 h 504000"/>
              <a:gd name="connsiteX61" fmla="*/ 78750 w 504000"/>
              <a:gd name="connsiteY61" fmla="*/ 464625 h 504000"/>
              <a:gd name="connsiteX62" fmla="*/ 70859 w 504000"/>
              <a:gd name="connsiteY62" fmla="*/ 488250 h 504000"/>
              <a:gd name="connsiteX63" fmla="*/ 464625 w 504000"/>
              <a:gd name="connsiteY63" fmla="*/ 488250 h 504000"/>
              <a:gd name="connsiteX64" fmla="*/ 488250 w 504000"/>
              <a:gd name="connsiteY64" fmla="*/ 464625 h 504000"/>
              <a:gd name="connsiteX65" fmla="*/ 488250 w 504000"/>
              <a:gd name="connsiteY65" fmla="*/ 220500 h 504000"/>
              <a:gd name="connsiteX66" fmla="*/ 15750 w 504000"/>
              <a:gd name="connsiteY66" fmla="*/ 149625 h 504000"/>
              <a:gd name="connsiteX67" fmla="*/ 15750 w 504000"/>
              <a:gd name="connsiteY67" fmla="*/ 464625 h 504000"/>
              <a:gd name="connsiteX68" fmla="*/ 39375 w 504000"/>
              <a:gd name="connsiteY68" fmla="*/ 488250 h 504000"/>
              <a:gd name="connsiteX69" fmla="*/ 63000 w 504000"/>
              <a:gd name="connsiteY69" fmla="*/ 464625 h 504000"/>
              <a:gd name="connsiteX70" fmla="*/ 63000 w 504000"/>
              <a:gd name="connsiteY70" fmla="*/ 204750 h 504000"/>
              <a:gd name="connsiteX71" fmla="*/ 126000 w 504000"/>
              <a:gd name="connsiteY71" fmla="*/ 204750 h 504000"/>
              <a:gd name="connsiteX72" fmla="*/ 126000 w 504000"/>
              <a:gd name="connsiteY72" fmla="*/ 173250 h 504000"/>
              <a:gd name="connsiteX73" fmla="*/ 112726 w 504000"/>
              <a:gd name="connsiteY73" fmla="*/ 173250 h 504000"/>
              <a:gd name="connsiteX74" fmla="*/ 95138 w 504000"/>
              <a:gd name="connsiteY74" fmla="*/ 149625 h 504000"/>
              <a:gd name="connsiteX75" fmla="*/ 234365 w 504000"/>
              <a:gd name="connsiteY75" fmla="*/ 15750 h 504000"/>
              <a:gd name="connsiteX76" fmla="*/ 252000 w 504000"/>
              <a:gd name="connsiteY76" fmla="*/ 72394 h 504000"/>
              <a:gd name="connsiteX77" fmla="*/ 252000 w 504000"/>
              <a:gd name="connsiteY77" fmla="*/ 110058 h 504000"/>
              <a:gd name="connsiteX78" fmla="*/ 241326 w 504000"/>
              <a:gd name="connsiteY78" fmla="*/ 110058 h 504000"/>
              <a:gd name="connsiteX79" fmla="*/ 303803 w 504000"/>
              <a:gd name="connsiteY79" fmla="*/ 159534 h 504000"/>
              <a:gd name="connsiteX80" fmla="*/ 358966 w 504000"/>
              <a:gd name="connsiteY80" fmla="*/ 110058 h 504000"/>
              <a:gd name="connsiteX81" fmla="*/ 346500 w 504000"/>
              <a:gd name="connsiteY81" fmla="*/ 110058 h 504000"/>
              <a:gd name="connsiteX82" fmla="*/ 346500 w 504000"/>
              <a:gd name="connsiteY82" fmla="*/ 72382 h 504000"/>
              <a:gd name="connsiteX83" fmla="*/ 289868 w 504000"/>
              <a:gd name="connsiteY83" fmla="*/ 15750 h 504000"/>
              <a:gd name="connsiteX84" fmla="*/ 115203 w 504000"/>
              <a:gd name="connsiteY84" fmla="*/ 15750 h 504000"/>
              <a:gd name="connsiteX85" fmla="*/ 141750 w 504000"/>
              <a:gd name="connsiteY85" fmla="*/ 71140 h 504000"/>
              <a:gd name="connsiteX86" fmla="*/ 141750 w 504000"/>
              <a:gd name="connsiteY86" fmla="*/ 157500 h 504000"/>
              <a:gd name="connsiteX87" fmla="*/ 142404 w 504000"/>
              <a:gd name="connsiteY87" fmla="*/ 157500 h 504000"/>
              <a:gd name="connsiteX88" fmla="*/ 142404 w 504000"/>
              <a:gd name="connsiteY88" fmla="*/ 173250 h 504000"/>
              <a:gd name="connsiteX89" fmla="*/ 141750 w 504000"/>
              <a:gd name="connsiteY89" fmla="*/ 173250 h 504000"/>
              <a:gd name="connsiteX90" fmla="*/ 141750 w 504000"/>
              <a:gd name="connsiteY90" fmla="*/ 204750 h 504000"/>
              <a:gd name="connsiteX91" fmla="*/ 441000 w 504000"/>
              <a:gd name="connsiteY91" fmla="*/ 204750 h 504000"/>
              <a:gd name="connsiteX92" fmla="*/ 441000 w 504000"/>
              <a:gd name="connsiteY92" fmla="*/ 71140 h 504000"/>
              <a:gd name="connsiteX93" fmla="*/ 385614 w 504000"/>
              <a:gd name="connsiteY93" fmla="*/ 15750 h 504000"/>
              <a:gd name="connsiteX94" fmla="*/ 334816 w 504000"/>
              <a:gd name="connsiteY94" fmla="*/ 15750 h 504000"/>
              <a:gd name="connsiteX95" fmla="*/ 362250 w 504000"/>
              <a:gd name="connsiteY95" fmla="*/ 72382 h 504000"/>
              <a:gd name="connsiteX96" fmla="*/ 362250 w 504000"/>
              <a:gd name="connsiteY96" fmla="*/ 94308 h 504000"/>
              <a:gd name="connsiteX97" fmla="*/ 400125 w 504000"/>
              <a:gd name="connsiteY97" fmla="*/ 94308 h 504000"/>
              <a:gd name="connsiteX98" fmla="*/ 304433 w 504000"/>
              <a:gd name="connsiteY98" fmla="*/ 180122 h 504000"/>
              <a:gd name="connsiteX99" fmla="*/ 196075 w 504000"/>
              <a:gd name="connsiteY99" fmla="*/ 94308 h 504000"/>
              <a:gd name="connsiteX100" fmla="*/ 236250 w 504000"/>
              <a:gd name="connsiteY100" fmla="*/ 94308 h 504000"/>
              <a:gd name="connsiteX101" fmla="*/ 236250 w 504000"/>
              <a:gd name="connsiteY101" fmla="*/ 72394 h 504000"/>
              <a:gd name="connsiteX102" fmla="*/ 195368 w 504000"/>
              <a:gd name="connsiteY102" fmla="*/ 15761 h 504000"/>
              <a:gd name="connsiteX103" fmla="*/ 195368 w 504000"/>
              <a:gd name="connsiteY103" fmla="*/ 15750 h 504000"/>
              <a:gd name="connsiteX104" fmla="*/ 66561 w 504000"/>
              <a:gd name="connsiteY104" fmla="*/ 15750 h 504000"/>
              <a:gd name="connsiteX105" fmla="*/ 31215 w 504000"/>
              <a:gd name="connsiteY105" fmla="*/ 31631 h 504000"/>
              <a:gd name="connsiteX106" fmla="*/ 109362 w 504000"/>
              <a:gd name="connsiteY106" fmla="*/ 31631 h 504000"/>
              <a:gd name="connsiteX107" fmla="*/ 70614 w 504000"/>
              <a:gd name="connsiteY107" fmla="*/ 15750 h 504000"/>
              <a:gd name="connsiteX108" fmla="*/ 66561 w 504000"/>
              <a:gd name="connsiteY108" fmla="*/ 0 h 504000"/>
              <a:gd name="connsiteX109" fmla="*/ 385614 w 504000"/>
              <a:gd name="connsiteY109" fmla="*/ 0 h 504000"/>
              <a:gd name="connsiteX110" fmla="*/ 456750 w 504000"/>
              <a:gd name="connsiteY110" fmla="*/ 71140 h 504000"/>
              <a:gd name="connsiteX111" fmla="*/ 456750 w 504000"/>
              <a:gd name="connsiteY111" fmla="*/ 204750 h 504000"/>
              <a:gd name="connsiteX112" fmla="*/ 504000 w 504000"/>
              <a:gd name="connsiteY112" fmla="*/ 204750 h 504000"/>
              <a:gd name="connsiteX113" fmla="*/ 504000 w 504000"/>
              <a:gd name="connsiteY113" fmla="*/ 464625 h 504000"/>
              <a:gd name="connsiteX114" fmla="*/ 464625 w 504000"/>
              <a:gd name="connsiteY114" fmla="*/ 504000 h 504000"/>
              <a:gd name="connsiteX115" fmla="*/ 43966 w 504000"/>
              <a:gd name="connsiteY115" fmla="*/ 504000 h 504000"/>
              <a:gd name="connsiteX116" fmla="*/ 43966 w 504000"/>
              <a:gd name="connsiteY116" fmla="*/ 503735 h 504000"/>
              <a:gd name="connsiteX117" fmla="*/ 39375 w 504000"/>
              <a:gd name="connsiteY117" fmla="*/ 504000 h 504000"/>
              <a:gd name="connsiteX118" fmla="*/ 0 w 504000"/>
              <a:gd name="connsiteY118" fmla="*/ 464625 h 504000"/>
              <a:gd name="connsiteX119" fmla="*/ 0 w 504000"/>
              <a:gd name="connsiteY119" fmla="*/ 133875 h 504000"/>
              <a:gd name="connsiteX120" fmla="*/ 103044 w 504000"/>
              <a:gd name="connsiteY120" fmla="*/ 133875 h 504000"/>
              <a:gd name="connsiteX121" fmla="*/ 120632 w 504000"/>
              <a:gd name="connsiteY121" fmla="*/ 157500 h 504000"/>
              <a:gd name="connsiteX122" fmla="*/ 126000 w 504000"/>
              <a:gd name="connsiteY122" fmla="*/ 157500 h 504000"/>
              <a:gd name="connsiteX123" fmla="*/ 126000 w 504000"/>
              <a:gd name="connsiteY123" fmla="*/ 71140 h 504000"/>
              <a:gd name="connsiteX124" fmla="*/ 120570 w 504000"/>
              <a:gd name="connsiteY124" fmla="*/ 47381 h 504000"/>
              <a:gd name="connsiteX125" fmla="*/ 2223 w 504000"/>
              <a:gd name="connsiteY125" fmla="*/ 47381 h 504000"/>
              <a:gd name="connsiteX126" fmla="*/ 9075 w 504000"/>
              <a:gd name="connsiteY126" fmla="*/ 35557 h 504000"/>
              <a:gd name="connsiteX127" fmla="*/ 66561 w 504000"/>
              <a:gd name="connsiteY127" fmla="*/ 0 h 50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504000" h="504000">
                <a:moveTo>
                  <a:pt x="456750" y="456750"/>
                </a:moveTo>
                <a:lnTo>
                  <a:pt x="472500" y="456750"/>
                </a:lnTo>
                <a:lnTo>
                  <a:pt x="472500" y="472500"/>
                </a:lnTo>
                <a:lnTo>
                  <a:pt x="456750" y="472500"/>
                </a:lnTo>
                <a:close/>
                <a:moveTo>
                  <a:pt x="425250" y="456750"/>
                </a:moveTo>
                <a:lnTo>
                  <a:pt x="441000" y="456750"/>
                </a:lnTo>
                <a:lnTo>
                  <a:pt x="441000" y="472500"/>
                </a:lnTo>
                <a:lnTo>
                  <a:pt x="425250" y="472500"/>
                </a:lnTo>
                <a:close/>
                <a:moveTo>
                  <a:pt x="393750" y="456750"/>
                </a:moveTo>
                <a:lnTo>
                  <a:pt x="409500" y="456750"/>
                </a:lnTo>
                <a:lnTo>
                  <a:pt x="409500" y="472500"/>
                </a:lnTo>
                <a:lnTo>
                  <a:pt x="393750" y="472500"/>
                </a:lnTo>
                <a:close/>
                <a:moveTo>
                  <a:pt x="362250" y="456750"/>
                </a:moveTo>
                <a:lnTo>
                  <a:pt x="378000" y="456750"/>
                </a:lnTo>
                <a:lnTo>
                  <a:pt x="378000" y="472500"/>
                </a:lnTo>
                <a:lnTo>
                  <a:pt x="362250" y="472500"/>
                </a:lnTo>
                <a:close/>
                <a:moveTo>
                  <a:pt x="330750" y="456750"/>
                </a:moveTo>
                <a:lnTo>
                  <a:pt x="346500" y="456750"/>
                </a:lnTo>
                <a:lnTo>
                  <a:pt x="346500" y="472500"/>
                </a:lnTo>
                <a:lnTo>
                  <a:pt x="330750" y="472500"/>
                </a:lnTo>
                <a:close/>
                <a:moveTo>
                  <a:pt x="299250" y="456750"/>
                </a:moveTo>
                <a:lnTo>
                  <a:pt x="315000" y="456750"/>
                </a:lnTo>
                <a:lnTo>
                  <a:pt x="315000" y="472500"/>
                </a:lnTo>
                <a:lnTo>
                  <a:pt x="299250" y="472500"/>
                </a:lnTo>
                <a:close/>
                <a:moveTo>
                  <a:pt x="267750" y="456750"/>
                </a:moveTo>
                <a:lnTo>
                  <a:pt x="283500" y="456750"/>
                </a:lnTo>
                <a:lnTo>
                  <a:pt x="283500" y="472500"/>
                </a:lnTo>
                <a:lnTo>
                  <a:pt x="267750" y="472500"/>
                </a:lnTo>
                <a:close/>
                <a:moveTo>
                  <a:pt x="236250" y="456750"/>
                </a:moveTo>
                <a:lnTo>
                  <a:pt x="252000" y="456750"/>
                </a:lnTo>
                <a:lnTo>
                  <a:pt x="252000" y="472500"/>
                </a:lnTo>
                <a:lnTo>
                  <a:pt x="236250" y="472500"/>
                </a:lnTo>
                <a:close/>
                <a:moveTo>
                  <a:pt x="204750" y="456750"/>
                </a:moveTo>
                <a:lnTo>
                  <a:pt x="220500" y="456750"/>
                </a:lnTo>
                <a:lnTo>
                  <a:pt x="220500" y="472500"/>
                </a:lnTo>
                <a:lnTo>
                  <a:pt x="204750" y="472500"/>
                </a:lnTo>
                <a:close/>
                <a:moveTo>
                  <a:pt x="173250" y="456750"/>
                </a:moveTo>
                <a:lnTo>
                  <a:pt x="189000" y="456750"/>
                </a:lnTo>
                <a:lnTo>
                  <a:pt x="189000" y="472500"/>
                </a:lnTo>
                <a:lnTo>
                  <a:pt x="173250" y="472500"/>
                </a:lnTo>
                <a:close/>
                <a:moveTo>
                  <a:pt x="141750" y="456750"/>
                </a:moveTo>
                <a:lnTo>
                  <a:pt x="157500" y="456750"/>
                </a:lnTo>
                <a:lnTo>
                  <a:pt x="157500" y="472500"/>
                </a:lnTo>
                <a:lnTo>
                  <a:pt x="141750" y="472500"/>
                </a:lnTo>
                <a:close/>
                <a:moveTo>
                  <a:pt x="110250" y="456750"/>
                </a:moveTo>
                <a:lnTo>
                  <a:pt x="126000" y="456750"/>
                </a:lnTo>
                <a:lnTo>
                  <a:pt x="126000" y="472500"/>
                </a:lnTo>
                <a:lnTo>
                  <a:pt x="110250" y="472500"/>
                </a:lnTo>
                <a:close/>
                <a:moveTo>
                  <a:pt x="95815" y="315000"/>
                </a:moveTo>
                <a:lnTo>
                  <a:pt x="158154" y="315000"/>
                </a:lnTo>
                <a:lnTo>
                  <a:pt x="158154" y="330750"/>
                </a:lnTo>
                <a:lnTo>
                  <a:pt x="95815" y="330750"/>
                </a:lnTo>
                <a:close/>
                <a:moveTo>
                  <a:pt x="78750" y="299250"/>
                </a:moveTo>
                <a:lnTo>
                  <a:pt x="78750" y="346500"/>
                </a:lnTo>
                <a:lnTo>
                  <a:pt x="173250" y="346500"/>
                </a:lnTo>
                <a:lnTo>
                  <a:pt x="173250" y="299250"/>
                </a:lnTo>
                <a:close/>
                <a:moveTo>
                  <a:pt x="78750" y="220500"/>
                </a:moveTo>
                <a:lnTo>
                  <a:pt x="78750" y="283500"/>
                </a:lnTo>
                <a:lnTo>
                  <a:pt x="189000" y="283500"/>
                </a:lnTo>
                <a:lnTo>
                  <a:pt x="189000" y="362250"/>
                </a:lnTo>
                <a:lnTo>
                  <a:pt x="78750" y="362250"/>
                </a:lnTo>
                <a:lnTo>
                  <a:pt x="78750" y="464625"/>
                </a:lnTo>
                <a:cubicBezTo>
                  <a:pt x="78759" y="473149"/>
                  <a:pt x="75989" y="481443"/>
                  <a:pt x="70859" y="488250"/>
                </a:cubicBezTo>
                <a:lnTo>
                  <a:pt x="464625" y="488250"/>
                </a:lnTo>
                <a:cubicBezTo>
                  <a:pt x="477667" y="488236"/>
                  <a:pt x="488236" y="477667"/>
                  <a:pt x="488250" y="464625"/>
                </a:cubicBezTo>
                <a:lnTo>
                  <a:pt x="488250" y="220500"/>
                </a:lnTo>
                <a:close/>
                <a:moveTo>
                  <a:pt x="15750" y="149625"/>
                </a:moveTo>
                <a:lnTo>
                  <a:pt x="15750" y="464625"/>
                </a:lnTo>
                <a:cubicBezTo>
                  <a:pt x="15750" y="477673"/>
                  <a:pt x="26327" y="488250"/>
                  <a:pt x="39375" y="488250"/>
                </a:cubicBezTo>
                <a:cubicBezTo>
                  <a:pt x="52423" y="488250"/>
                  <a:pt x="63000" y="477673"/>
                  <a:pt x="63000" y="464625"/>
                </a:cubicBezTo>
                <a:lnTo>
                  <a:pt x="63000" y="204750"/>
                </a:lnTo>
                <a:lnTo>
                  <a:pt x="126000" y="204750"/>
                </a:lnTo>
                <a:lnTo>
                  <a:pt x="126000" y="173250"/>
                </a:lnTo>
                <a:lnTo>
                  <a:pt x="112726" y="173250"/>
                </a:lnTo>
                <a:lnTo>
                  <a:pt x="95138" y="149625"/>
                </a:lnTo>
                <a:close/>
                <a:moveTo>
                  <a:pt x="234365" y="15750"/>
                </a:moveTo>
                <a:cubicBezTo>
                  <a:pt x="245807" y="28068"/>
                  <a:pt x="252000" y="47282"/>
                  <a:pt x="252000" y="72394"/>
                </a:cubicBezTo>
                <a:lnTo>
                  <a:pt x="252000" y="110058"/>
                </a:lnTo>
                <a:lnTo>
                  <a:pt x="241326" y="110058"/>
                </a:lnTo>
                <a:lnTo>
                  <a:pt x="303803" y="159534"/>
                </a:lnTo>
                <a:lnTo>
                  <a:pt x="358966" y="110058"/>
                </a:lnTo>
                <a:lnTo>
                  <a:pt x="346500" y="110058"/>
                </a:lnTo>
                <a:lnTo>
                  <a:pt x="346500" y="72382"/>
                </a:lnTo>
                <a:cubicBezTo>
                  <a:pt x="346466" y="41119"/>
                  <a:pt x="321131" y="15784"/>
                  <a:pt x="289868" y="15750"/>
                </a:cubicBezTo>
                <a:close/>
                <a:moveTo>
                  <a:pt x="115203" y="15750"/>
                </a:moveTo>
                <a:cubicBezTo>
                  <a:pt x="131989" y="29236"/>
                  <a:pt x="141753" y="49608"/>
                  <a:pt x="141750" y="71140"/>
                </a:cubicBezTo>
                <a:lnTo>
                  <a:pt x="141750" y="157500"/>
                </a:lnTo>
                <a:lnTo>
                  <a:pt x="142404" y="157500"/>
                </a:lnTo>
                <a:lnTo>
                  <a:pt x="142404" y="173250"/>
                </a:lnTo>
                <a:lnTo>
                  <a:pt x="141750" y="173250"/>
                </a:lnTo>
                <a:lnTo>
                  <a:pt x="141750" y="204750"/>
                </a:lnTo>
                <a:lnTo>
                  <a:pt x="441000" y="204750"/>
                </a:lnTo>
                <a:lnTo>
                  <a:pt x="441000" y="71140"/>
                </a:lnTo>
                <a:cubicBezTo>
                  <a:pt x="440966" y="40565"/>
                  <a:pt x="416189" y="15786"/>
                  <a:pt x="385614" y="15750"/>
                </a:cubicBezTo>
                <a:lnTo>
                  <a:pt x="334816" y="15750"/>
                </a:lnTo>
                <a:cubicBezTo>
                  <a:pt x="352135" y="29443"/>
                  <a:pt x="362240" y="50304"/>
                  <a:pt x="362250" y="72382"/>
                </a:cubicBezTo>
                <a:lnTo>
                  <a:pt x="362250" y="94308"/>
                </a:lnTo>
                <a:lnTo>
                  <a:pt x="400125" y="94308"/>
                </a:lnTo>
                <a:lnTo>
                  <a:pt x="304433" y="180122"/>
                </a:lnTo>
                <a:lnTo>
                  <a:pt x="196075" y="94308"/>
                </a:lnTo>
                <a:lnTo>
                  <a:pt x="236250" y="94308"/>
                </a:lnTo>
                <a:lnTo>
                  <a:pt x="236250" y="72394"/>
                </a:lnTo>
                <a:cubicBezTo>
                  <a:pt x="236250" y="46558"/>
                  <a:pt x="229159" y="15761"/>
                  <a:pt x="195368" y="15761"/>
                </a:cubicBezTo>
                <a:lnTo>
                  <a:pt x="195368" y="15750"/>
                </a:lnTo>
                <a:close/>
                <a:moveTo>
                  <a:pt x="66561" y="15750"/>
                </a:moveTo>
                <a:cubicBezTo>
                  <a:pt x="53013" y="15571"/>
                  <a:pt x="40078" y="21383"/>
                  <a:pt x="31215" y="31631"/>
                </a:cubicBezTo>
                <a:lnTo>
                  <a:pt x="109362" y="31631"/>
                </a:lnTo>
                <a:cubicBezTo>
                  <a:pt x="99034" y="21452"/>
                  <a:pt x="85115" y="15747"/>
                  <a:pt x="70614" y="15750"/>
                </a:cubicBezTo>
                <a:close/>
                <a:moveTo>
                  <a:pt x="66561" y="0"/>
                </a:moveTo>
                <a:lnTo>
                  <a:pt x="385614" y="0"/>
                </a:lnTo>
                <a:cubicBezTo>
                  <a:pt x="424883" y="47"/>
                  <a:pt x="456705" y="31871"/>
                  <a:pt x="456750" y="71140"/>
                </a:cubicBezTo>
                <a:lnTo>
                  <a:pt x="456750" y="204750"/>
                </a:lnTo>
                <a:lnTo>
                  <a:pt x="504000" y="204750"/>
                </a:lnTo>
                <a:lnTo>
                  <a:pt x="504000" y="464625"/>
                </a:lnTo>
                <a:cubicBezTo>
                  <a:pt x="503975" y="486361"/>
                  <a:pt x="486361" y="503975"/>
                  <a:pt x="464625" y="504000"/>
                </a:cubicBezTo>
                <a:lnTo>
                  <a:pt x="43966" y="504000"/>
                </a:lnTo>
                <a:lnTo>
                  <a:pt x="43966" y="503735"/>
                </a:lnTo>
                <a:cubicBezTo>
                  <a:pt x="42442" y="503913"/>
                  <a:pt x="40909" y="504001"/>
                  <a:pt x="39375" y="504000"/>
                </a:cubicBezTo>
                <a:cubicBezTo>
                  <a:pt x="17639" y="503975"/>
                  <a:pt x="26" y="486361"/>
                  <a:pt x="0" y="464625"/>
                </a:cubicBezTo>
                <a:lnTo>
                  <a:pt x="0" y="133875"/>
                </a:lnTo>
                <a:lnTo>
                  <a:pt x="103044" y="133875"/>
                </a:lnTo>
                <a:lnTo>
                  <a:pt x="120632" y="157500"/>
                </a:lnTo>
                <a:lnTo>
                  <a:pt x="126000" y="157500"/>
                </a:lnTo>
                <a:lnTo>
                  <a:pt x="126000" y="71140"/>
                </a:lnTo>
                <a:cubicBezTo>
                  <a:pt x="125991" y="62914"/>
                  <a:pt x="124135" y="54794"/>
                  <a:pt x="120570" y="47381"/>
                </a:cubicBezTo>
                <a:lnTo>
                  <a:pt x="2223" y="47381"/>
                </a:lnTo>
                <a:lnTo>
                  <a:pt x="9075" y="35557"/>
                </a:lnTo>
                <a:cubicBezTo>
                  <a:pt x="20027" y="13839"/>
                  <a:pt x="42238" y="101"/>
                  <a:pt x="66561" y="0"/>
                </a:cubicBezTo>
                <a:close/>
              </a:path>
            </a:pathLst>
          </a:custGeom>
          <a:solidFill>
            <a:srgbClr val="FFFFFF"/>
          </a:solidFill>
          <a:ln w="77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9" name="任意形状 58"/>
          <p:cNvSpPr/>
          <p:nvPr>
            <p:custDataLst>
              <p:tags r:id="rId4"/>
            </p:custDataLst>
          </p:nvPr>
        </p:nvSpPr>
        <p:spPr>
          <a:xfrm>
            <a:off x="3864499" y="2344269"/>
            <a:ext cx="1415003" cy="2353581"/>
          </a:xfrm>
          <a:custGeom>
            <a:avLst/>
            <a:gdLst>
              <a:gd name="connsiteX0" fmla="*/ 0 w 1961809"/>
              <a:gd name="connsiteY0" fmla="*/ 0 h 3263087"/>
              <a:gd name="connsiteX1" fmla="*/ 637 w 1961809"/>
              <a:gd name="connsiteY1" fmla="*/ 0 h 3263087"/>
              <a:gd name="connsiteX2" fmla="*/ 5064 w 1961809"/>
              <a:gd name="connsiteY2" fmla="*/ 87679 h 3263087"/>
              <a:gd name="connsiteX3" fmla="*/ 980905 w 1961809"/>
              <a:gd name="connsiteY3" fmla="*/ 968292 h 3263087"/>
              <a:gd name="connsiteX4" fmla="*/ 1956746 w 1961809"/>
              <a:gd name="connsiteY4" fmla="*/ 87679 h 3263087"/>
              <a:gd name="connsiteX5" fmla="*/ 1961173 w 1961809"/>
              <a:gd name="connsiteY5" fmla="*/ 0 h 3263087"/>
              <a:gd name="connsiteX6" fmla="*/ 1961809 w 1961809"/>
              <a:gd name="connsiteY6" fmla="*/ 0 h 3263087"/>
              <a:gd name="connsiteX7" fmla="*/ 1961809 w 1961809"/>
              <a:gd name="connsiteY7" fmla="*/ 3263087 h 3263087"/>
              <a:gd name="connsiteX8" fmla="*/ 0 w 1961809"/>
              <a:gd name="connsiteY8" fmla="*/ 3263087 h 326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809" h="3263087">
                <a:moveTo>
                  <a:pt x="0" y="0"/>
                </a:moveTo>
                <a:lnTo>
                  <a:pt x="637" y="0"/>
                </a:lnTo>
                <a:lnTo>
                  <a:pt x="5064" y="87679"/>
                </a:lnTo>
                <a:cubicBezTo>
                  <a:pt x="55297" y="582306"/>
                  <a:pt x="473025" y="968292"/>
                  <a:pt x="980905" y="968292"/>
                </a:cubicBezTo>
                <a:cubicBezTo>
                  <a:pt x="1488785" y="968292"/>
                  <a:pt x="1906514" y="582306"/>
                  <a:pt x="1956746" y="87679"/>
                </a:cubicBezTo>
                <a:lnTo>
                  <a:pt x="1961173" y="0"/>
                </a:lnTo>
                <a:lnTo>
                  <a:pt x="1961809" y="0"/>
                </a:lnTo>
                <a:lnTo>
                  <a:pt x="1961809" y="3263087"/>
                </a:lnTo>
                <a:lnTo>
                  <a:pt x="0" y="3263087"/>
                </a:lnTo>
                <a:close/>
              </a:path>
            </a:pathLst>
          </a:custGeom>
          <a:solidFill>
            <a:srgbClr val="FFFFFF">
              <a:lumMod val="95000"/>
            </a:srgbClr>
          </a:solidFill>
          <a:ln w="12700">
            <a:miter lim="400000"/>
          </a:ln>
        </p:spPr>
        <p:txBody>
          <a:bodyPr wrap="square" tIns="34290" bIns="3429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solidFill>
                  <a:srgbClr val="FFFFFF"/>
                </a:solidFill>
              </a:defRPr>
            </a:pPr>
            <a:endParaRPr kumimoji="0" sz="675"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256" name="形状"/>
          <p:cNvSpPr/>
          <p:nvPr>
            <p:custDataLst>
              <p:tags r:id="rId5"/>
            </p:custDataLst>
          </p:nvPr>
        </p:nvSpPr>
        <p:spPr>
          <a:xfrm>
            <a:off x="3754973" y="1542220"/>
            <a:ext cx="1634055" cy="1641253"/>
          </a:xfrm>
          <a:custGeom>
            <a:avLst/>
            <a:gdLst/>
            <a:ahLst/>
            <a:cxnLst>
              <a:cxn ang="0">
                <a:pos x="wd2" y="hd2"/>
              </a:cxn>
              <a:cxn ang="5400000">
                <a:pos x="wd2" y="hd2"/>
              </a:cxn>
              <a:cxn ang="10800000">
                <a:pos x="wd2" y="hd2"/>
              </a:cxn>
              <a:cxn ang="16200000">
                <a:pos x="wd2" y="hd2"/>
              </a:cxn>
            </a:cxnLst>
            <a:rect l="0" t="0" r="r" b="b"/>
            <a:pathLst>
              <a:path w="21561" h="21600" extrusionOk="0">
                <a:moveTo>
                  <a:pt x="21067" y="11464"/>
                </a:moveTo>
                <a:cubicBezTo>
                  <a:pt x="20844" y="11464"/>
                  <a:pt x="20844" y="11464"/>
                  <a:pt x="20844" y="11464"/>
                </a:cubicBezTo>
                <a:cubicBezTo>
                  <a:pt x="20444" y="11464"/>
                  <a:pt x="20133" y="11198"/>
                  <a:pt x="20044" y="10844"/>
                </a:cubicBezTo>
                <a:cubicBezTo>
                  <a:pt x="20000" y="10357"/>
                  <a:pt x="20356" y="9915"/>
                  <a:pt x="20844" y="9915"/>
                </a:cubicBezTo>
                <a:cubicBezTo>
                  <a:pt x="21067" y="9915"/>
                  <a:pt x="21067" y="9915"/>
                  <a:pt x="21067" y="9915"/>
                </a:cubicBezTo>
                <a:cubicBezTo>
                  <a:pt x="21333" y="9915"/>
                  <a:pt x="21600" y="9693"/>
                  <a:pt x="21556" y="9384"/>
                </a:cubicBezTo>
                <a:cubicBezTo>
                  <a:pt x="21511" y="9251"/>
                  <a:pt x="21511" y="9074"/>
                  <a:pt x="21467" y="8941"/>
                </a:cubicBezTo>
                <a:cubicBezTo>
                  <a:pt x="21422" y="8675"/>
                  <a:pt x="21156" y="8498"/>
                  <a:pt x="20844" y="8543"/>
                </a:cubicBezTo>
                <a:cubicBezTo>
                  <a:pt x="20622" y="8631"/>
                  <a:pt x="20622" y="8631"/>
                  <a:pt x="20622" y="8631"/>
                </a:cubicBezTo>
                <a:cubicBezTo>
                  <a:pt x="20267" y="8720"/>
                  <a:pt x="19867" y="8587"/>
                  <a:pt x="19689" y="8233"/>
                </a:cubicBezTo>
                <a:cubicBezTo>
                  <a:pt x="19467" y="7790"/>
                  <a:pt x="19733" y="7259"/>
                  <a:pt x="20178" y="7126"/>
                </a:cubicBezTo>
                <a:cubicBezTo>
                  <a:pt x="20400" y="7082"/>
                  <a:pt x="20400" y="7082"/>
                  <a:pt x="20400" y="7082"/>
                </a:cubicBezTo>
                <a:cubicBezTo>
                  <a:pt x="20667" y="6993"/>
                  <a:pt x="20844" y="6684"/>
                  <a:pt x="20711" y="6418"/>
                </a:cubicBezTo>
                <a:cubicBezTo>
                  <a:pt x="20667" y="6285"/>
                  <a:pt x="20578" y="6152"/>
                  <a:pt x="20533" y="6020"/>
                </a:cubicBezTo>
                <a:cubicBezTo>
                  <a:pt x="20400" y="5754"/>
                  <a:pt x="20044" y="5666"/>
                  <a:pt x="19822" y="5843"/>
                </a:cubicBezTo>
                <a:cubicBezTo>
                  <a:pt x="19600" y="5975"/>
                  <a:pt x="19600" y="5975"/>
                  <a:pt x="19600" y="5975"/>
                </a:cubicBezTo>
                <a:cubicBezTo>
                  <a:pt x="19244" y="6197"/>
                  <a:pt x="18756" y="6064"/>
                  <a:pt x="18533" y="5710"/>
                </a:cubicBezTo>
                <a:cubicBezTo>
                  <a:pt x="18311" y="5356"/>
                  <a:pt x="18400" y="4869"/>
                  <a:pt x="18756" y="4648"/>
                </a:cubicBezTo>
                <a:cubicBezTo>
                  <a:pt x="18933" y="4559"/>
                  <a:pt x="18933" y="4559"/>
                  <a:pt x="18933" y="4559"/>
                </a:cubicBezTo>
                <a:cubicBezTo>
                  <a:pt x="19200" y="4382"/>
                  <a:pt x="19244" y="4028"/>
                  <a:pt x="19067" y="3807"/>
                </a:cubicBezTo>
                <a:cubicBezTo>
                  <a:pt x="18978" y="3718"/>
                  <a:pt x="18889" y="3585"/>
                  <a:pt x="18756" y="3497"/>
                </a:cubicBezTo>
                <a:cubicBezTo>
                  <a:pt x="18578" y="3275"/>
                  <a:pt x="18222" y="3275"/>
                  <a:pt x="18044" y="3497"/>
                </a:cubicBezTo>
                <a:cubicBezTo>
                  <a:pt x="17911" y="3674"/>
                  <a:pt x="17911" y="3674"/>
                  <a:pt x="17911" y="3674"/>
                </a:cubicBezTo>
                <a:cubicBezTo>
                  <a:pt x="17644" y="3984"/>
                  <a:pt x="17200" y="4028"/>
                  <a:pt x="16889" y="3851"/>
                </a:cubicBezTo>
                <a:cubicBezTo>
                  <a:pt x="16444" y="3585"/>
                  <a:pt x="16400" y="3010"/>
                  <a:pt x="16711" y="2656"/>
                </a:cubicBezTo>
                <a:cubicBezTo>
                  <a:pt x="16844" y="2523"/>
                  <a:pt x="16844" y="2523"/>
                  <a:pt x="16844" y="2523"/>
                </a:cubicBezTo>
                <a:cubicBezTo>
                  <a:pt x="17067" y="2302"/>
                  <a:pt x="17022" y="1948"/>
                  <a:pt x="16756" y="1770"/>
                </a:cubicBezTo>
                <a:cubicBezTo>
                  <a:pt x="16622" y="1682"/>
                  <a:pt x="16489" y="1638"/>
                  <a:pt x="16400" y="1549"/>
                </a:cubicBezTo>
                <a:cubicBezTo>
                  <a:pt x="16133" y="1416"/>
                  <a:pt x="15822" y="1505"/>
                  <a:pt x="15689" y="1770"/>
                </a:cubicBezTo>
                <a:cubicBezTo>
                  <a:pt x="15600" y="1992"/>
                  <a:pt x="15600" y="1992"/>
                  <a:pt x="15600" y="1992"/>
                </a:cubicBezTo>
                <a:cubicBezTo>
                  <a:pt x="15422" y="2302"/>
                  <a:pt x="15022" y="2523"/>
                  <a:pt x="14667" y="2434"/>
                </a:cubicBezTo>
                <a:cubicBezTo>
                  <a:pt x="14178" y="2302"/>
                  <a:pt x="13956" y="1770"/>
                  <a:pt x="14178" y="1328"/>
                </a:cubicBezTo>
                <a:cubicBezTo>
                  <a:pt x="14267" y="1151"/>
                  <a:pt x="14267" y="1151"/>
                  <a:pt x="14267" y="1151"/>
                </a:cubicBezTo>
                <a:cubicBezTo>
                  <a:pt x="14400" y="885"/>
                  <a:pt x="14222" y="575"/>
                  <a:pt x="13956" y="487"/>
                </a:cubicBezTo>
                <a:cubicBezTo>
                  <a:pt x="13822" y="443"/>
                  <a:pt x="13689" y="398"/>
                  <a:pt x="13556" y="354"/>
                </a:cubicBezTo>
                <a:cubicBezTo>
                  <a:pt x="13244" y="266"/>
                  <a:pt x="12978" y="443"/>
                  <a:pt x="12933" y="752"/>
                </a:cubicBezTo>
                <a:cubicBezTo>
                  <a:pt x="12889" y="974"/>
                  <a:pt x="12889" y="974"/>
                  <a:pt x="12889" y="974"/>
                </a:cubicBezTo>
                <a:cubicBezTo>
                  <a:pt x="12844" y="1372"/>
                  <a:pt x="12533" y="1638"/>
                  <a:pt x="12133" y="1682"/>
                </a:cubicBezTo>
                <a:cubicBezTo>
                  <a:pt x="11644" y="1682"/>
                  <a:pt x="11289" y="1239"/>
                  <a:pt x="11333" y="752"/>
                </a:cubicBezTo>
                <a:cubicBezTo>
                  <a:pt x="11378" y="575"/>
                  <a:pt x="11378" y="575"/>
                  <a:pt x="11378" y="575"/>
                </a:cubicBezTo>
                <a:cubicBezTo>
                  <a:pt x="11422" y="266"/>
                  <a:pt x="11200" y="0"/>
                  <a:pt x="10933" y="0"/>
                </a:cubicBezTo>
                <a:cubicBezTo>
                  <a:pt x="10756" y="0"/>
                  <a:pt x="10622" y="0"/>
                  <a:pt x="10489" y="0"/>
                </a:cubicBezTo>
                <a:cubicBezTo>
                  <a:pt x="10178" y="0"/>
                  <a:pt x="9956" y="266"/>
                  <a:pt x="10000" y="575"/>
                </a:cubicBezTo>
                <a:cubicBezTo>
                  <a:pt x="10044" y="797"/>
                  <a:pt x="10044" y="797"/>
                  <a:pt x="10044" y="797"/>
                </a:cubicBezTo>
                <a:cubicBezTo>
                  <a:pt x="10089" y="1239"/>
                  <a:pt x="9778" y="1638"/>
                  <a:pt x="9378" y="1682"/>
                </a:cubicBezTo>
                <a:cubicBezTo>
                  <a:pt x="9022" y="1903"/>
                  <a:pt x="8578" y="1682"/>
                  <a:pt x="8533" y="1284"/>
                </a:cubicBezTo>
                <a:cubicBezTo>
                  <a:pt x="8489" y="797"/>
                  <a:pt x="8489" y="797"/>
                  <a:pt x="8489" y="797"/>
                </a:cubicBezTo>
                <a:cubicBezTo>
                  <a:pt x="8444" y="531"/>
                  <a:pt x="8133" y="310"/>
                  <a:pt x="7867" y="398"/>
                </a:cubicBezTo>
                <a:cubicBezTo>
                  <a:pt x="7733" y="443"/>
                  <a:pt x="7556" y="487"/>
                  <a:pt x="7422" y="531"/>
                </a:cubicBezTo>
                <a:cubicBezTo>
                  <a:pt x="7156" y="620"/>
                  <a:pt x="7022" y="930"/>
                  <a:pt x="7156" y="1195"/>
                </a:cubicBezTo>
                <a:cubicBezTo>
                  <a:pt x="7244" y="1416"/>
                  <a:pt x="7244" y="1416"/>
                  <a:pt x="7244" y="1416"/>
                </a:cubicBezTo>
                <a:cubicBezTo>
                  <a:pt x="7422" y="1859"/>
                  <a:pt x="7200" y="2390"/>
                  <a:pt x="6711" y="2479"/>
                </a:cubicBezTo>
                <a:cubicBezTo>
                  <a:pt x="6356" y="2611"/>
                  <a:pt x="5956" y="2390"/>
                  <a:pt x="5822" y="2036"/>
                </a:cubicBezTo>
                <a:cubicBezTo>
                  <a:pt x="5733" y="1859"/>
                  <a:pt x="5733" y="1859"/>
                  <a:pt x="5733" y="1859"/>
                </a:cubicBezTo>
                <a:cubicBezTo>
                  <a:pt x="5600" y="1593"/>
                  <a:pt x="5289" y="1505"/>
                  <a:pt x="5022" y="1638"/>
                </a:cubicBezTo>
                <a:cubicBezTo>
                  <a:pt x="5022" y="1638"/>
                  <a:pt x="5022" y="1638"/>
                  <a:pt x="5022" y="1638"/>
                </a:cubicBezTo>
                <a:cubicBezTo>
                  <a:pt x="4889" y="1726"/>
                  <a:pt x="4800" y="1815"/>
                  <a:pt x="4667" y="1903"/>
                </a:cubicBezTo>
                <a:cubicBezTo>
                  <a:pt x="4444" y="2036"/>
                  <a:pt x="4400" y="2390"/>
                  <a:pt x="4578" y="2611"/>
                </a:cubicBezTo>
                <a:cubicBezTo>
                  <a:pt x="4711" y="2789"/>
                  <a:pt x="4711" y="2789"/>
                  <a:pt x="4711" y="2789"/>
                </a:cubicBezTo>
                <a:cubicBezTo>
                  <a:pt x="4978" y="3098"/>
                  <a:pt x="4978" y="3497"/>
                  <a:pt x="4756" y="3807"/>
                </a:cubicBezTo>
                <a:cubicBezTo>
                  <a:pt x="4444" y="4161"/>
                  <a:pt x="3867" y="4161"/>
                  <a:pt x="3556" y="3807"/>
                </a:cubicBezTo>
                <a:cubicBezTo>
                  <a:pt x="3422" y="3630"/>
                  <a:pt x="3422" y="3630"/>
                  <a:pt x="3422" y="3630"/>
                </a:cubicBezTo>
                <a:cubicBezTo>
                  <a:pt x="3200" y="3408"/>
                  <a:pt x="2889" y="3408"/>
                  <a:pt x="2667" y="3630"/>
                </a:cubicBezTo>
                <a:cubicBezTo>
                  <a:pt x="2578" y="3762"/>
                  <a:pt x="2489" y="3851"/>
                  <a:pt x="2400" y="3984"/>
                </a:cubicBezTo>
                <a:cubicBezTo>
                  <a:pt x="2222" y="4205"/>
                  <a:pt x="2267" y="4515"/>
                  <a:pt x="2489" y="4692"/>
                </a:cubicBezTo>
                <a:cubicBezTo>
                  <a:pt x="2711" y="4825"/>
                  <a:pt x="2711" y="4825"/>
                  <a:pt x="2711" y="4825"/>
                </a:cubicBezTo>
                <a:cubicBezTo>
                  <a:pt x="3022" y="5046"/>
                  <a:pt x="3156" y="5444"/>
                  <a:pt x="3022" y="5798"/>
                </a:cubicBezTo>
                <a:cubicBezTo>
                  <a:pt x="2800" y="6241"/>
                  <a:pt x="2267" y="6374"/>
                  <a:pt x="1867" y="6108"/>
                </a:cubicBezTo>
                <a:cubicBezTo>
                  <a:pt x="1689" y="6020"/>
                  <a:pt x="1689" y="6020"/>
                  <a:pt x="1689" y="6020"/>
                </a:cubicBezTo>
                <a:cubicBezTo>
                  <a:pt x="1422" y="5843"/>
                  <a:pt x="1111" y="5931"/>
                  <a:pt x="978" y="6197"/>
                </a:cubicBezTo>
                <a:cubicBezTo>
                  <a:pt x="933" y="6330"/>
                  <a:pt x="844" y="6462"/>
                  <a:pt x="800" y="6595"/>
                </a:cubicBezTo>
                <a:cubicBezTo>
                  <a:pt x="711" y="6861"/>
                  <a:pt x="844" y="7170"/>
                  <a:pt x="1111" y="7259"/>
                </a:cubicBezTo>
                <a:cubicBezTo>
                  <a:pt x="1378" y="7348"/>
                  <a:pt x="1378" y="7348"/>
                  <a:pt x="1378" y="7348"/>
                </a:cubicBezTo>
                <a:cubicBezTo>
                  <a:pt x="1778" y="7436"/>
                  <a:pt x="2000" y="7879"/>
                  <a:pt x="1867" y="8321"/>
                </a:cubicBezTo>
                <a:cubicBezTo>
                  <a:pt x="2089" y="8631"/>
                  <a:pt x="1778" y="9074"/>
                  <a:pt x="1378" y="8941"/>
                </a:cubicBezTo>
                <a:cubicBezTo>
                  <a:pt x="711" y="8764"/>
                  <a:pt x="711" y="8764"/>
                  <a:pt x="711" y="8764"/>
                </a:cubicBezTo>
                <a:cubicBezTo>
                  <a:pt x="400" y="8675"/>
                  <a:pt x="133" y="8852"/>
                  <a:pt x="89" y="9162"/>
                </a:cubicBezTo>
                <a:cubicBezTo>
                  <a:pt x="44" y="9295"/>
                  <a:pt x="44" y="9428"/>
                  <a:pt x="0" y="9561"/>
                </a:cubicBezTo>
                <a:cubicBezTo>
                  <a:pt x="0" y="9870"/>
                  <a:pt x="222" y="10092"/>
                  <a:pt x="489" y="10136"/>
                </a:cubicBezTo>
                <a:cubicBezTo>
                  <a:pt x="756" y="10136"/>
                  <a:pt x="756" y="10136"/>
                  <a:pt x="756" y="10136"/>
                </a:cubicBezTo>
                <a:cubicBezTo>
                  <a:pt x="1200" y="10136"/>
                  <a:pt x="1556" y="10490"/>
                  <a:pt x="1511" y="10889"/>
                </a:cubicBezTo>
                <a:cubicBezTo>
                  <a:pt x="1511" y="11331"/>
                  <a:pt x="1156" y="11685"/>
                  <a:pt x="756" y="11685"/>
                </a:cubicBezTo>
                <a:cubicBezTo>
                  <a:pt x="533" y="11685"/>
                  <a:pt x="533" y="11685"/>
                  <a:pt x="533" y="11685"/>
                </a:cubicBezTo>
                <a:cubicBezTo>
                  <a:pt x="222" y="11685"/>
                  <a:pt x="0" y="11907"/>
                  <a:pt x="44" y="12216"/>
                </a:cubicBezTo>
                <a:cubicBezTo>
                  <a:pt x="44" y="12349"/>
                  <a:pt x="89" y="12482"/>
                  <a:pt x="89" y="12659"/>
                </a:cubicBezTo>
                <a:cubicBezTo>
                  <a:pt x="178" y="12925"/>
                  <a:pt x="444" y="13102"/>
                  <a:pt x="711" y="13013"/>
                </a:cubicBezTo>
                <a:cubicBezTo>
                  <a:pt x="978" y="12969"/>
                  <a:pt x="978" y="12969"/>
                  <a:pt x="978" y="12969"/>
                </a:cubicBezTo>
                <a:cubicBezTo>
                  <a:pt x="1378" y="12836"/>
                  <a:pt x="1822" y="13102"/>
                  <a:pt x="1956" y="13500"/>
                </a:cubicBezTo>
                <a:cubicBezTo>
                  <a:pt x="1956" y="13500"/>
                  <a:pt x="1956" y="13500"/>
                  <a:pt x="1956" y="13500"/>
                </a:cubicBezTo>
                <a:cubicBezTo>
                  <a:pt x="2044" y="13898"/>
                  <a:pt x="1822" y="14341"/>
                  <a:pt x="1378" y="14474"/>
                </a:cubicBezTo>
                <a:cubicBezTo>
                  <a:pt x="1200" y="14518"/>
                  <a:pt x="1200" y="14518"/>
                  <a:pt x="1200" y="14518"/>
                </a:cubicBezTo>
                <a:cubicBezTo>
                  <a:pt x="889" y="14607"/>
                  <a:pt x="756" y="14916"/>
                  <a:pt x="889" y="15182"/>
                </a:cubicBezTo>
                <a:cubicBezTo>
                  <a:pt x="933" y="15315"/>
                  <a:pt x="1022" y="15448"/>
                  <a:pt x="1067" y="15580"/>
                </a:cubicBezTo>
                <a:cubicBezTo>
                  <a:pt x="1200" y="15846"/>
                  <a:pt x="1511" y="15934"/>
                  <a:pt x="1778" y="15757"/>
                </a:cubicBezTo>
                <a:cubicBezTo>
                  <a:pt x="2000" y="15625"/>
                  <a:pt x="2000" y="15625"/>
                  <a:pt x="2000" y="15625"/>
                </a:cubicBezTo>
                <a:cubicBezTo>
                  <a:pt x="2356" y="15403"/>
                  <a:pt x="2844" y="15492"/>
                  <a:pt x="3067" y="15890"/>
                </a:cubicBezTo>
                <a:cubicBezTo>
                  <a:pt x="3289" y="16244"/>
                  <a:pt x="3156" y="16731"/>
                  <a:pt x="2800" y="16952"/>
                </a:cubicBezTo>
                <a:cubicBezTo>
                  <a:pt x="2622" y="17041"/>
                  <a:pt x="2622" y="17041"/>
                  <a:pt x="2622" y="17041"/>
                </a:cubicBezTo>
                <a:cubicBezTo>
                  <a:pt x="2400" y="17218"/>
                  <a:pt x="2311" y="17572"/>
                  <a:pt x="2533" y="17793"/>
                </a:cubicBezTo>
                <a:cubicBezTo>
                  <a:pt x="2622" y="17882"/>
                  <a:pt x="2711" y="18015"/>
                  <a:pt x="2800" y="18103"/>
                </a:cubicBezTo>
                <a:cubicBezTo>
                  <a:pt x="3022" y="18325"/>
                  <a:pt x="3333" y="18325"/>
                  <a:pt x="3556" y="18103"/>
                </a:cubicBezTo>
                <a:cubicBezTo>
                  <a:pt x="3689" y="17926"/>
                  <a:pt x="3689" y="17926"/>
                  <a:pt x="3689" y="17926"/>
                </a:cubicBezTo>
                <a:cubicBezTo>
                  <a:pt x="3956" y="17616"/>
                  <a:pt x="4356" y="17572"/>
                  <a:pt x="4711" y="17749"/>
                </a:cubicBezTo>
                <a:cubicBezTo>
                  <a:pt x="5111" y="18015"/>
                  <a:pt x="5200" y="18590"/>
                  <a:pt x="4889" y="18944"/>
                </a:cubicBezTo>
                <a:cubicBezTo>
                  <a:pt x="4711" y="19077"/>
                  <a:pt x="4711" y="19077"/>
                  <a:pt x="4711" y="19077"/>
                </a:cubicBezTo>
                <a:cubicBezTo>
                  <a:pt x="4533" y="19298"/>
                  <a:pt x="4578" y="19652"/>
                  <a:pt x="4844" y="19830"/>
                </a:cubicBezTo>
                <a:cubicBezTo>
                  <a:pt x="4933" y="19918"/>
                  <a:pt x="5067" y="19962"/>
                  <a:pt x="5200" y="20051"/>
                </a:cubicBezTo>
                <a:cubicBezTo>
                  <a:pt x="5467" y="20184"/>
                  <a:pt x="5778" y="20095"/>
                  <a:pt x="5911" y="19830"/>
                </a:cubicBezTo>
                <a:cubicBezTo>
                  <a:pt x="6000" y="19608"/>
                  <a:pt x="6000" y="19608"/>
                  <a:pt x="6000" y="19608"/>
                </a:cubicBezTo>
                <a:cubicBezTo>
                  <a:pt x="6178" y="19210"/>
                  <a:pt x="6667" y="19033"/>
                  <a:pt x="7022" y="19210"/>
                </a:cubicBezTo>
                <a:cubicBezTo>
                  <a:pt x="7022" y="19210"/>
                  <a:pt x="7022" y="19210"/>
                  <a:pt x="7022" y="19210"/>
                </a:cubicBezTo>
                <a:cubicBezTo>
                  <a:pt x="7422" y="19431"/>
                  <a:pt x="7600" y="19874"/>
                  <a:pt x="7422" y="20272"/>
                </a:cubicBezTo>
                <a:cubicBezTo>
                  <a:pt x="7333" y="20449"/>
                  <a:pt x="7333" y="20449"/>
                  <a:pt x="7333" y="20449"/>
                </a:cubicBezTo>
                <a:cubicBezTo>
                  <a:pt x="7200" y="20715"/>
                  <a:pt x="7333" y="21025"/>
                  <a:pt x="7644" y="21113"/>
                </a:cubicBezTo>
                <a:cubicBezTo>
                  <a:pt x="7778" y="21157"/>
                  <a:pt x="7911" y="21202"/>
                  <a:pt x="8044" y="21246"/>
                </a:cubicBezTo>
                <a:cubicBezTo>
                  <a:pt x="8311" y="21334"/>
                  <a:pt x="8622" y="21113"/>
                  <a:pt x="8667" y="20848"/>
                </a:cubicBezTo>
                <a:cubicBezTo>
                  <a:pt x="8711" y="20582"/>
                  <a:pt x="8711" y="20582"/>
                  <a:pt x="8711" y="20582"/>
                </a:cubicBezTo>
                <a:cubicBezTo>
                  <a:pt x="8756" y="20184"/>
                  <a:pt x="9156" y="19874"/>
                  <a:pt x="9600" y="19918"/>
                </a:cubicBezTo>
                <a:cubicBezTo>
                  <a:pt x="10000" y="20007"/>
                  <a:pt x="10311" y="20405"/>
                  <a:pt x="10222" y="20803"/>
                </a:cubicBezTo>
                <a:cubicBezTo>
                  <a:pt x="10178" y="21025"/>
                  <a:pt x="10178" y="21025"/>
                  <a:pt x="10178" y="21025"/>
                </a:cubicBezTo>
                <a:cubicBezTo>
                  <a:pt x="10133" y="21334"/>
                  <a:pt x="10356" y="21600"/>
                  <a:pt x="10667" y="21600"/>
                </a:cubicBezTo>
                <a:cubicBezTo>
                  <a:pt x="10800" y="21600"/>
                  <a:pt x="10978" y="21600"/>
                  <a:pt x="11111" y="21600"/>
                </a:cubicBezTo>
                <a:cubicBezTo>
                  <a:pt x="11378" y="21600"/>
                  <a:pt x="11600" y="21334"/>
                  <a:pt x="11600" y="21025"/>
                </a:cubicBezTo>
                <a:cubicBezTo>
                  <a:pt x="11556" y="20759"/>
                  <a:pt x="11556" y="20759"/>
                  <a:pt x="11556" y="20759"/>
                </a:cubicBezTo>
                <a:cubicBezTo>
                  <a:pt x="11467" y="20361"/>
                  <a:pt x="11778" y="19962"/>
                  <a:pt x="12222" y="19918"/>
                </a:cubicBezTo>
                <a:cubicBezTo>
                  <a:pt x="12222" y="19918"/>
                  <a:pt x="12222" y="19918"/>
                  <a:pt x="12222" y="19918"/>
                </a:cubicBezTo>
                <a:cubicBezTo>
                  <a:pt x="12622" y="19874"/>
                  <a:pt x="13022" y="20139"/>
                  <a:pt x="13067" y="20582"/>
                </a:cubicBezTo>
                <a:cubicBezTo>
                  <a:pt x="13111" y="20803"/>
                  <a:pt x="13111" y="20803"/>
                  <a:pt x="13111" y="20803"/>
                </a:cubicBezTo>
                <a:cubicBezTo>
                  <a:pt x="13156" y="21069"/>
                  <a:pt x="13467" y="21290"/>
                  <a:pt x="13733" y="21202"/>
                </a:cubicBezTo>
                <a:cubicBezTo>
                  <a:pt x="13867" y="21157"/>
                  <a:pt x="14000" y="21113"/>
                  <a:pt x="14133" y="21069"/>
                </a:cubicBezTo>
                <a:cubicBezTo>
                  <a:pt x="14444" y="20980"/>
                  <a:pt x="14578" y="20670"/>
                  <a:pt x="14444" y="20405"/>
                </a:cubicBezTo>
                <a:cubicBezTo>
                  <a:pt x="14356" y="20184"/>
                  <a:pt x="14356" y="20184"/>
                  <a:pt x="14356" y="20184"/>
                </a:cubicBezTo>
                <a:cubicBezTo>
                  <a:pt x="14178" y="19785"/>
                  <a:pt x="14356" y="19298"/>
                  <a:pt x="14756" y="19121"/>
                </a:cubicBezTo>
                <a:cubicBezTo>
                  <a:pt x="15111" y="18989"/>
                  <a:pt x="15600" y="19166"/>
                  <a:pt x="15778" y="19520"/>
                </a:cubicBezTo>
                <a:cubicBezTo>
                  <a:pt x="15867" y="19741"/>
                  <a:pt x="15867" y="19741"/>
                  <a:pt x="15867" y="19741"/>
                </a:cubicBezTo>
                <a:cubicBezTo>
                  <a:pt x="15956" y="20007"/>
                  <a:pt x="16311" y="20095"/>
                  <a:pt x="16533" y="19962"/>
                </a:cubicBezTo>
                <a:cubicBezTo>
                  <a:pt x="16533" y="19962"/>
                  <a:pt x="16533" y="19962"/>
                  <a:pt x="16533" y="19962"/>
                </a:cubicBezTo>
                <a:cubicBezTo>
                  <a:pt x="16667" y="19874"/>
                  <a:pt x="16800" y="19785"/>
                  <a:pt x="16933" y="19697"/>
                </a:cubicBezTo>
                <a:cubicBezTo>
                  <a:pt x="17156" y="19564"/>
                  <a:pt x="17200" y="19210"/>
                  <a:pt x="17022" y="18989"/>
                </a:cubicBezTo>
                <a:cubicBezTo>
                  <a:pt x="16844" y="18811"/>
                  <a:pt x="16844" y="18811"/>
                  <a:pt x="16844" y="18811"/>
                </a:cubicBezTo>
                <a:cubicBezTo>
                  <a:pt x="16578" y="18457"/>
                  <a:pt x="16622" y="17970"/>
                  <a:pt x="16933" y="17705"/>
                </a:cubicBezTo>
                <a:cubicBezTo>
                  <a:pt x="17244" y="17439"/>
                  <a:pt x="17733" y="17484"/>
                  <a:pt x="18044" y="17793"/>
                </a:cubicBezTo>
                <a:cubicBezTo>
                  <a:pt x="18178" y="17970"/>
                  <a:pt x="18178" y="17970"/>
                  <a:pt x="18178" y="17970"/>
                </a:cubicBezTo>
                <a:cubicBezTo>
                  <a:pt x="18356" y="18192"/>
                  <a:pt x="18711" y="18192"/>
                  <a:pt x="18889" y="17970"/>
                </a:cubicBezTo>
                <a:cubicBezTo>
                  <a:pt x="19022" y="17838"/>
                  <a:pt x="19111" y="17749"/>
                  <a:pt x="19200" y="17616"/>
                </a:cubicBezTo>
                <a:cubicBezTo>
                  <a:pt x="19378" y="17395"/>
                  <a:pt x="19333" y="17085"/>
                  <a:pt x="19067" y="16908"/>
                </a:cubicBezTo>
                <a:cubicBezTo>
                  <a:pt x="18844" y="16775"/>
                  <a:pt x="18844" y="16775"/>
                  <a:pt x="18844" y="16775"/>
                </a:cubicBezTo>
                <a:cubicBezTo>
                  <a:pt x="18489" y="16554"/>
                  <a:pt x="18400" y="16067"/>
                  <a:pt x="18622" y="15713"/>
                </a:cubicBezTo>
                <a:cubicBezTo>
                  <a:pt x="18889" y="15359"/>
                  <a:pt x="19378" y="15226"/>
                  <a:pt x="19733" y="15492"/>
                </a:cubicBezTo>
                <a:cubicBezTo>
                  <a:pt x="19911" y="15580"/>
                  <a:pt x="19911" y="15580"/>
                  <a:pt x="19911" y="15580"/>
                </a:cubicBezTo>
                <a:cubicBezTo>
                  <a:pt x="20133" y="15757"/>
                  <a:pt x="20489" y="15669"/>
                  <a:pt x="20622" y="15403"/>
                </a:cubicBezTo>
                <a:cubicBezTo>
                  <a:pt x="20667" y="15270"/>
                  <a:pt x="20711" y="15138"/>
                  <a:pt x="20800" y="15005"/>
                </a:cubicBezTo>
                <a:cubicBezTo>
                  <a:pt x="20889" y="14739"/>
                  <a:pt x="20756" y="14430"/>
                  <a:pt x="20489" y="14341"/>
                </a:cubicBezTo>
                <a:cubicBezTo>
                  <a:pt x="20222" y="14252"/>
                  <a:pt x="20222" y="14252"/>
                  <a:pt x="20222" y="14252"/>
                </a:cubicBezTo>
                <a:cubicBezTo>
                  <a:pt x="19822" y="14120"/>
                  <a:pt x="19600" y="13721"/>
                  <a:pt x="19689" y="13279"/>
                </a:cubicBezTo>
                <a:cubicBezTo>
                  <a:pt x="19467" y="12969"/>
                  <a:pt x="19822" y="12526"/>
                  <a:pt x="20222" y="12659"/>
                </a:cubicBezTo>
                <a:cubicBezTo>
                  <a:pt x="20889" y="12836"/>
                  <a:pt x="20889" y="12836"/>
                  <a:pt x="20889" y="12836"/>
                </a:cubicBezTo>
                <a:cubicBezTo>
                  <a:pt x="21156" y="12925"/>
                  <a:pt x="21467" y="12748"/>
                  <a:pt x="21511" y="12438"/>
                </a:cubicBezTo>
                <a:cubicBezTo>
                  <a:pt x="21511" y="12305"/>
                  <a:pt x="21556" y="12172"/>
                  <a:pt x="21556" y="12039"/>
                </a:cubicBezTo>
                <a:cubicBezTo>
                  <a:pt x="21600" y="11730"/>
                  <a:pt x="21378" y="11464"/>
                  <a:pt x="21067" y="11464"/>
                </a:cubicBezTo>
                <a:close/>
                <a:moveTo>
                  <a:pt x="12933" y="4382"/>
                </a:moveTo>
                <a:cubicBezTo>
                  <a:pt x="13022" y="3939"/>
                  <a:pt x="13422" y="3762"/>
                  <a:pt x="13822" y="3939"/>
                </a:cubicBezTo>
                <a:cubicBezTo>
                  <a:pt x="16356" y="5798"/>
                  <a:pt x="16356" y="5798"/>
                  <a:pt x="16356" y="5798"/>
                </a:cubicBezTo>
                <a:cubicBezTo>
                  <a:pt x="16667" y="6108"/>
                  <a:pt x="16622" y="6551"/>
                  <a:pt x="16267" y="6772"/>
                </a:cubicBezTo>
                <a:cubicBezTo>
                  <a:pt x="15956" y="6949"/>
                  <a:pt x="15956" y="6949"/>
                  <a:pt x="15956" y="6949"/>
                </a:cubicBezTo>
                <a:cubicBezTo>
                  <a:pt x="15200" y="5931"/>
                  <a:pt x="14089" y="5134"/>
                  <a:pt x="12844" y="4736"/>
                </a:cubicBezTo>
                <a:lnTo>
                  <a:pt x="12933" y="4382"/>
                </a:lnTo>
                <a:close/>
                <a:moveTo>
                  <a:pt x="8133" y="3807"/>
                </a:moveTo>
                <a:cubicBezTo>
                  <a:pt x="11333" y="3320"/>
                  <a:pt x="11333" y="3320"/>
                  <a:pt x="11333" y="3320"/>
                </a:cubicBezTo>
                <a:cubicBezTo>
                  <a:pt x="11778" y="3364"/>
                  <a:pt x="12044" y="3718"/>
                  <a:pt x="11956" y="4116"/>
                </a:cubicBezTo>
                <a:cubicBezTo>
                  <a:pt x="11867" y="4470"/>
                  <a:pt x="11867" y="4470"/>
                  <a:pt x="11867" y="4470"/>
                </a:cubicBezTo>
                <a:cubicBezTo>
                  <a:pt x="11511" y="4426"/>
                  <a:pt x="11156" y="4382"/>
                  <a:pt x="10800" y="4382"/>
                </a:cubicBezTo>
                <a:cubicBezTo>
                  <a:pt x="9778" y="4382"/>
                  <a:pt x="8844" y="4603"/>
                  <a:pt x="8000" y="5002"/>
                </a:cubicBezTo>
                <a:cubicBezTo>
                  <a:pt x="7822" y="4736"/>
                  <a:pt x="7822" y="4736"/>
                  <a:pt x="7822" y="4736"/>
                </a:cubicBezTo>
                <a:cubicBezTo>
                  <a:pt x="7556" y="4338"/>
                  <a:pt x="7733" y="3939"/>
                  <a:pt x="8133" y="3807"/>
                </a:cubicBezTo>
                <a:close/>
                <a:moveTo>
                  <a:pt x="3956" y="7790"/>
                </a:moveTo>
                <a:cubicBezTo>
                  <a:pt x="5911" y="5134"/>
                  <a:pt x="5911" y="5134"/>
                  <a:pt x="5911" y="5134"/>
                </a:cubicBezTo>
                <a:cubicBezTo>
                  <a:pt x="6222" y="4825"/>
                  <a:pt x="6667" y="4869"/>
                  <a:pt x="6933" y="5223"/>
                </a:cubicBezTo>
                <a:cubicBezTo>
                  <a:pt x="7111" y="5533"/>
                  <a:pt x="7111" y="5533"/>
                  <a:pt x="7111" y="5533"/>
                </a:cubicBezTo>
                <a:cubicBezTo>
                  <a:pt x="6000" y="6330"/>
                  <a:pt x="5156" y="7436"/>
                  <a:pt x="4711" y="8720"/>
                </a:cubicBezTo>
                <a:cubicBezTo>
                  <a:pt x="4356" y="8675"/>
                  <a:pt x="4356" y="8675"/>
                  <a:pt x="4356" y="8675"/>
                </a:cubicBezTo>
                <a:cubicBezTo>
                  <a:pt x="3911" y="8543"/>
                  <a:pt x="3733" y="8144"/>
                  <a:pt x="3956" y="7790"/>
                </a:cubicBezTo>
                <a:close/>
                <a:moveTo>
                  <a:pt x="4800" y="13943"/>
                </a:moveTo>
                <a:cubicBezTo>
                  <a:pt x="4400" y="14164"/>
                  <a:pt x="4000" y="14031"/>
                  <a:pt x="3867" y="13589"/>
                </a:cubicBezTo>
                <a:cubicBezTo>
                  <a:pt x="3333" y="10269"/>
                  <a:pt x="3333" y="10269"/>
                  <a:pt x="3333" y="10269"/>
                </a:cubicBezTo>
                <a:cubicBezTo>
                  <a:pt x="3333" y="9826"/>
                  <a:pt x="3689" y="9561"/>
                  <a:pt x="4089" y="9649"/>
                </a:cubicBezTo>
                <a:cubicBezTo>
                  <a:pt x="4444" y="9738"/>
                  <a:pt x="4444" y="9738"/>
                  <a:pt x="4444" y="9738"/>
                </a:cubicBezTo>
                <a:cubicBezTo>
                  <a:pt x="4400" y="10092"/>
                  <a:pt x="4356" y="10446"/>
                  <a:pt x="4356" y="10800"/>
                </a:cubicBezTo>
                <a:cubicBezTo>
                  <a:pt x="4356" y="11862"/>
                  <a:pt x="4622" y="12880"/>
                  <a:pt x="5067" y="13766"/>
                </a:cubicBezTo>
                <a:lnTo>
                  <a:pt x="4800" y="13943"/>
                </a:lnTo>
                <a:close/>
                <a:moveTo>
                  <a:pt x="8000" y="17749"/>
                </a:moveTo>
                <a:cubicBezTo>
                  <a:pt x="5244" y="15802"/>
                  <a:pt x="5244" y="15802"/>
                  <a:pt x="5244" y="15802"/>
                </a:cubicBezTo>
                <a:cubicBezTo>
                  <a:pt x="4933" y="15492"/>
                  <a:pt x="4978" y="15049"/>
                  <a:pt x="5333" y="14828"/>
                </a:cubicBezTo>
                <a:cubicBezTo>
                  <a:pt x="5644" y="14651"/>
                  <a:pt x="5644" y="14651"/>
                  <a:pt x="5644" y="14651"/>
                </a:cubicBezTo>
                <a:cubicBezTo>
                  <a:pt x="6444" y="15713"/>
                  <a:pt x="7644" y="16554"/>
                  <a:pt x="8978" y="16952"/>
                </a:cubicBezTo>
                <a:cubicBezTo>
                  <a:pt x="8933" y="17307"/>
                  <a:pt x="8933" y="17307"/>
                  <a:pt x="8933" y="17307"/>
                </a:cubicBezTo>
                <a:cubicBezTo>
                  <a:pt x="8800" y="17705"/>
                  <a:pt x="8400" y="17926"/>
                  <a:pt x="8000" y="17749"/>
                </a:cubicBezTo>
                <a:close/>
                <a:moveTo>
                  <a:pt x="13822" y="17616"/>
                </a:moveTo>
                <a:cubicBezTo>
                  <a:pt x="10533" y="18280"/>
                  <a:pt x="10533" y="18280"/>
                  <a:pt x="10533" y="18280"/>
                </a:cubicBezTo>
                <a:cubicBezTo>
                  <a:pt x="10089" y="18280"/>
                  <a:pt x="9822" y="17926"/>
                  <a:pt x="9911" y="17484"/>
                </a:cubicBezTo>
                <a:cubicBezTo>
                  <a:pt x="10000" y="17174"/>
                  <a:pt x="10000" y="17174"/>
                  <a:pt x="10000" y="17174"/>
                </a:cubicBezTo>
                <a:cubicBezTo>
                  <a:pt x="10267" y="17174"/>
                  <a:pt x="10533" y="17218"/>
                  <a:pt x="10800" y="17218"/>
                </a:cubicBezTo>
                <a:cubicBezTo>
                  <a:pt x="11956" y="17218"/>
                  <a:pt x="13022" y="16908"/>
                  <a:pt x="13956" y="16377"/>
                </a:cubicBezTo>
                <a:cubicBezTo>
                  <a:pt x="14133" y="16687"/>
                  <a:pt x="14133" y="16687"/>
                  <a:pt x="14133" y="16687"/>
                </a:cubicBezTo>
                <a:cubicBezTo>
                  <a:pt x="14356" y="17041"/>
                  <a:pt x="14222" y="17484"/>
                  <a:pt x="13822" y="17616"/>
                </a:cubicBezTo>
                <a:close/>
                <a:moveTo>
                  <a:pt x="17778" y="13589"/>
                </a:moveTo>
                <a:cubicBezTo>
                  <a:pt x="15956" y="16200"/>
                  <a:pt x="15956" y="16200"/>
                  <a:pt x="15956" y="16200"/>
                </a:cubicBezTo>
                <a:cubicBezTo>
                  <a:pt x="15644" y="16510"/>
                  <a:pt x="15244" y="16510"/>
                  <a:pt x="14978" y="16111"/>
                </a:cubicBezTo>
                <a:cubicBezTo>
                  <a:pt x="14800" y="15802"/>
                  <a:pt x="14800" y="15802"/>
                  <a:pt x="14800" y="15802"/>
                </a:cubicBezTo>
                <a:cubicBezTo>
                  <a:pt x="15822" y="15005"/>
                  <a:pt x="16578" y="13898"/>
                  <a:pt x="16978" y="12570"/>
                </a:cubicBezTo>
                <a:cubicBezTo>
                  <a:pt x="17333" y="12659"/>
                  <a:pt x="17333" y="12659"/>
                  <a:pt x="17333" y="12659"/>
                </a:cubicBezTo>
                <a:cubicBezTo>
                  <a:pt x="17733" y="12748"/>
                  <a:pt x="17956" y="13190"/>
                  <a:pt x="17778" y="13589"/>
                </a:cubicBezTo>
                <a:close/>
                <a:moveTo>
                  <a:pt x="17556" y="11685"/>
                </a:moveTo>
                <a:cubicBezTo>
                  <a:pt x="17200" y="11597"/>
                  <a:pt x="17200" y="11597"/>
                  <a:pt x="17200" y="11597"/>
                </a:cubicBezTo>
                <a:cubicBezTo>
                  <a:pt x="17200" y="11331"/>
                  <a:pt x="17244" y="11066"/>
                  <a:pt x="17244" y="10800"/>
                </a:cubicBezTo>
                <a:cubicBezTo>
                  <a:pt x="17244" y="9738"/>
                  <a:pt x="16978" y="8720"/>
                  <a:pt x="16489" y="7834"/>
                </a:cubicBezTo>
                <a:cubicBezTo>
                  <a:pt x="16800" y="7657"/>
                  <a:pt x="16800" y="7657"/>
                  <a:pt x="16800" y="7657"/>
                </a:cubicBezTo>
                <a:cubicBezTo>
                  <a:pt x="17200" y="7392"/>
                  <a:pt x="17600" y="7569"/>
                  <a:pt x="17733" y="7967"/>
                </a:cubicBezTo>
                <a:cubicBezTo>
                  <a:pt x="18311" y="11066"/>
                  <a:pt x="18311" y="11066"/>
                  <a:pt x="18311" y="11066"/>
                </a:cubicBezTo>
                <a:cubicBezTo>
                  <a:pt x="18311" y="11464"/>
                  <a:pt x="17956" y="11774"/>
                  <a:pt x="17556" y="11685"/>
                </a:cubicBezTo>
                <a:close/>
              </a:path>
            </a:pathLst>
          </a:custGeom>
          <a:solidFill>
            <a:srgbClr val="0065B0"/>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86" name="任意形状 62"/>
          <p:cNvSpPr>
            <a:spLocks noChangeAspect="1"/>
          </p:cNvSpPr>
          <p:nvPr>
            <p:custDataLst>
              <p:tags r:id="rId6"/>
            </p:custDataLst>
          </p:nvPr>
        </p:nvSpPr>
        <p:spPr>
          <a:xfrm>
            <a:off x="4352846" y="2171545"/>
            <a:ext cx="438308" cy="382603"/>
          </a:xfrm>
          <a:custGeom>
            <a:avLst/>
            <a:gdLst>
              <a:gd name="connsiteX0" fmla="*/ 283952 w 504000"/>
              <a:gd name="connsiteY0" fmla="*/ 393789 h 439946"/>
              <a:gd name="connsiteX1" fmla="*/ 283903 w 504000"/>
              <a:gd name="connsiteY1" fmla="*/ 424196 h 439946"/>
              <a:gd name="connsiteX2" fmla="*/ 346903 w 504000"/>
              <a:gd name="connsiteY2" fmla="*/ 424196 h 439946"/>
              <a:gd name="connsiteX3" fmla="*/ 346952 w 504000"/>
              <a:gd name="connsiteY3" fmla="*/ 393789 h 439946"/>
              <a:gd name="connsiteX4" fmla="*/ 141749 w 504000"/>
              <a:gd name="connsiteY4" fmla="*/ 346011 h 439946"/>
              <a:gd name="connsiteX5" fmla="*/ 141750 w 504000"/>
              <a:gd name="connsiteY5" fmla="*/ 378039 h 439946"/>
              <a:gd name="connsiteX6" fmla="*/ 488250 w 504000"/>
              <a:gd name="connsiteY6" fmla="*/ 378039 h 439946"/>
              <a:gd name="connsiteX7" fmla="*/ 488250 w 504000"/>
              <a:gd name="connsiteY7" fmla="*/ 346812 h 439946"/>
              <a:gd name="connsiteX8" fmla="*/ 252008 w 504000"/>
              <a:gd name="connsiteY8" fmla="*/ 165406 h 439946"/>
              <a:gd name="connsiteX9" fmla="*/ 252008 w 504000"/>
              <a:gd name="connsiteY9" fmla="*/ 259906 h 439946"/>
              <a:gd name="connsiteX10" fmla="*/ 315008 w 504000"/>
              <a:gd name="connsiteY10" fmla="*/ 259906 h 439946"/>
              <a:gd name="connsiteX11" fmla="*/ 315008 w 504000"/>
              <a:gd name="connsiteY11" fmla="*/ 165406 h 439946"/>
              <a:gd name="connsiteX12" fmla="*/ 212629 w 504000"/>
              <a:gd name="connsiteY12" fmla="*/ 126031 h 439946"/>
              <a:gd name="connsiteX13" fmla="*/ 212629 w 504000"/>
              <a:gd name="connsiteY13" fmla="*/ 220531 h 439946"/>
              <a:gd name="connsiteX14" fmla="*/ 236258 w 504000"/>
              <a:gd name="connsiteY14" fmla="*/ 220531 h 439946"/>
              <a:gd name="connsiteX15" fmla="*/ 236258 w 504000"/>
              <a:gd name="connsiteY15" fmla="*/ 149656 h 439946"/>
              <a:gd name="connsiteX16" fmla="*/ 275633 w 504000"/>
              <a:gd name="connsiteY16" fmla="*/ 149656 h 439946"/>
              <a:gd name="connsiteX17" fmla="*/ 275633 w 504000"/>
              <a:gd name="connsiteY17" fmla="*/ 126031 h 439946"/>
              <a:gd name="connsiteX18" fmla="*/ 309071 w 504000"/>
              <a:gd name="connsiteY18" fmla="*/ 110250 h 439946"/>
              <a:gd name="connsiteX19" fmla="*/ 488250 w 504000"/>
              <a:gd name="connsiteY19" fmla="*/ 110250 h 439946"/>
              <a:gd name="connsiteX20" fmla="*/ 504000 w 504000"/>
              <a:gd name="connsiteY20" fmla="*/ 126000 h 439946"/>
              <a:gd name="connsiteX21" fmla="*/ 504000 w 504000"/>
              <a:gd name="connsiteY21" fmla="*/ 378039 h 439946"/>
              <a:gd name="connsiteX22" fmla="*/ 488250 w 504000"/>
              <a:gd name="connsiteY22" fmla="*/ 393789 h 439946"/>
              <a:gd name="connsiteX23" fmla="*/ 362702 w 504000"/>
              <a:gd name="connsiteY23" fmla="*/ 393789 h 439946"/>
              <a:gd name="connsiteX24" fmla="*/ 362653 w 504000"/>
              <a:gd name="connsiteY24" fmla="*/ 424196 h 439946"/>
              <a:gd name="connsiteX25" fmla="*/ 393681 w 504000"/>
              <a:gd name="connsiteY25" fmla="*/ 424196 h 439946"/>
              <a:gd name="connsiteX26" fmla="*/ 393681 w 504000"/>
              <a:gd name="connsiteY26" fmla="*/ 439946 h 439946"/>
              <a:gd name="connsiteX27" fmla="*/ 236184 w 504000"/>
              <a:gd name="connsiteY27" fmla="*/ 439946 h 439946"/>
              <a:gd name="connsiteX28" fmla="*/ 236184 w 504000"/>
              <a:gd name="connsiteY28" fmla="*/ 424196 h 439946"/>
              <a:gd name="connsiteX29" fmla="*/ 268153 w 504000"/>
              <a:gd name="connsiteY29" fmla="*/ 424196 h 439946"/>
              <a:gd name="connsiteX30" fmla="*/ 268202 w 504000"/>
              <a:gd name="connsiteY30" fmla="*/ 393789 h 439946"/>
              <a:gd name="connsiteX31" fmla="*/ 141750 w 504000"/>
              <a:gd name="connsiteY31" fmla="*/ 393789 h 439946"/>
              <a:gd name="connsiteX32" fmla="*/ 126000 w 504000"/>
              <a:gd name="connsiteY32" fmla="*/ 378039 h 439946"/>
              <a:gd name="connsiteX33" fmla="*/ 125996 w 504000"/>
              <a:gd name="connsiteY33" fmla="*/ 126000 h 439946"/>
              <a:gd name="connsiteX34" fmla="*/ 141746 w 504000"/>
              <a:gd name="connsiteY34" fmla="*/ 126000 h 439946"/>
              <a:gd name="connsiteX35" fmla="*/ 141749 w 504000"/>
              <a:gd name="connsiteY35" fmla="*/ 330261 h 439946"/>
              <a:gd name="connsiteX36" fmla="*/ 488250 w 504000"/>
              <a:gd name="connsiteY36" fmla="*/ 331062 h 439946"/>
              <a:gd name="connsiteX37" fmla="*/ 488250 w 504000"/>
              <a:gd name="connsiteY37" fmla="*/ 126000 h 439946"/>
              <a:gd name="connsiteX38" fmla="*/ 309071 w 504000"/>
              <a:gd name="connsiteY38" fmla="*/ 126000 h 439946"/>
              <a:gd name="connsiteX39" fmla="*/ 173254 w 504000"/>
              <a:gd name="connsiteY39" fmla="*/ 86656 h 439946"/>
              <a:gd name="connsiteX40" fmla="*/ 173254 w 504000"/>
              <a:gd name="connsiteY40" fmla="*/ 181156 h 439946"/>
              <a:gd name="connsiteX41" fmla="*/ 196879 w 504000"/>
              <a:gd name="connsiteY41" fmla="*/ 181156 h 439946"/>
              <a:gd name="connsiteX42" fmla="*/ 196879 w 504000"/>
              <a:gd name="connsiteY42" fmla="*/ 110281 h 439946"/>
              <a:gd name="connsiteX43" fmla="*/ 236254 w 504000"/>
              <a:gd name="connsiteY43" fmla="*/ 110281 h 439946"/>
              <a:gd name="connsiteX44" fmla="*/ 236254 w 504000"/>
              <a:gd name="connsiteY44" fmla="*/ 86656 h 439946"/>
              <a:gd name="connsiteX45" fmla="*/ 157504 w 504000"/>
              <a:gd name="connsiteY45" fmla="*/ 70906 h 439946"/>
              <a:gd name="connsiteX46" fmla="*/ 252004 w 504000"/>
              <a:gd name="connsiteY46" fmla="*/ 70906 h 439946"/>
              <a:gd name="connsiteX47" fmla="*/ 252004 w 504000"/>
              <a:gd name="connsiteY47" fmla="*/ 110281 h 439946"/>
              <a:gd name="connsiteX48" fmla="*/ 291383 w 504000"/>
              <a:gd name="connsiteY48" fmla="*/ 110281 h 439946"/>
              <a:gd name="connsiteX49" fmla="*/ 291383 w 504000"/>
              <a:gd name="connsiteY49" fmla="*/ 149656 h 439946"/>
              <a:gd name="connsiteX50" fmla="*/ 330758 w 504000"/>
              <a:gd name="connsiteY50" fmla="*/ 149656 h 439946"/>
              <a:gd name="connsiteX51" fmla="*/ 330758 w 504000"/>
              <a:gd name="connsiteY51" fmla="*/ 275656 h 439946"/>
              <a:gd name="connsiteX52" fmla="*/ 236258 w 504000"/>
              <a:gd name="connsiteY52" fmla="*/ 275656 h 439946"/>
              <a:gd name="connsiteX53" fmla="*/ 236258 w 504000"/>
              <a:gd name="connsiteY53" fmla="*/ 236281 h 439946"/>
              <a:gd name="connsiteX54" fmla="*/ 196879 w 504000"/>
              <a:gd name="connsiteY54" fmla="*/ 236281 h 439946"/>
              <a:gd name="connsiteX55" fmla="*/ 196879 w 504000"/>
              <a:gd name="connsiteY55" fmla="*/ 196906 h 439946"/>
              <a:gd name="connsiteX56" fmla="*/ 157504 w 504000"/>
              <a:gd name="connsiteY56" fmla="*/ 196906 h 439946"/>
              <a:gd name="connsiteX57" fmla="*/ 15750 w 504000"/>
              <a:gd name="connsiteY57" fmla="*/ 0 h 439946"/>
              <a:gd name="connsiteX58" fmla="*/ 362250 w 504000"/>
              <a:gd name="connsiteY58" fmla="*/ 0 h 439946"/>
              <a:gd name="connsiteX59" fmla="*/ 378000 w 504000"/>
              <a:gd name="connsiteY59" fmla="*/ 15750 h 439946"/>
              <a:gd name="connsiteX60" fmla="*/ 378000 w 504000"/>
              <a:gd name="connsiteY60" fmla="*/ 92843 h 439946"/>
              <a:gd name="connsiteX61" fmla="*/ 362250 w 504000"/>
              <a:gd name="connsiteY61" fmla="*/ 92843 h 439946"/>
              <a:gd name="connsiteX62" fmla="*/ 362250 w 504000"/>
              <a:gd name="connsiteY62" fmla="*/ 15750 h 439946"/>
              <a:gd name="connsiteX63" fmla="*/ 15750 w 504000"/>
              <a:gd name="connsiteY63" fmla="*/ 15750 h 439946"/>
              <a:gd name="connsiteX64" fmla="*/ 15750 w 504000"/>
              <a:gd name="connsiteY64" fmla="*/ 220604 h 439946"/>
              <a:gd name="connsiteX65" fmla="*/ 110250 w 504000"/>
              <a:gd name="connsiteY65" fmla="*/ 220604 h 439946"/>
              <a:gd name="connsiteX66" fmla="*/ 110250 w 504000"/>
              <a:gd name="connsiteY66" fmla="*/ 236354 h 439946"/>
              <a:gd name="connsiteX67" fmla="*/ 15750 w 504000"/>
              <a:gd name="connsiteY67" fmla="*/ 236354 h 439946"/>
              <a:gd name="connsiteX68" fmla="*/ 15750 w 504000"/>
              <a:gd name="connsiteY68" fmla="*/ 267789 h 439946"/>
              <a:gd name="connsiteX69" fmla="*/ 110250 w 504000"/>
              <a:gd name="connsiteY69" fmla="*/ 267789 h 439946"/>
              <a:gd name="connsiteX70" fmla="*/ 110250 w 504000"/>
              <a:gd name="connsiteY70" fmla="*/ 283539 h 439946"/>
              <a:gd name="connsiteX71" fmla="*/ 15750 w 504000"/>
              <a:gd name="connsiteY71" fmla="*/ 283539 h 439946"/>
              <a:gd name="connsiteX72" fmla="*/ 0 w 504000"/>
              <a:gd name="connsiteY72" fmla="*/ 267789 h 439946"/>
              <a:gd name="connsiteX73" fmla="*/ 0 w 504000"/>
              <a:gd name="connsiteY73" fmla="*/ 15750 h 439946"/>
              <a:gd name="connsiteX74" fmla="*/ 15750 w 504000"/>
              <a:gd name="connsiteY74" fmla="*/ 0 h 4399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504000" h="439946">
                <a:moveTo>
                  <a:pt x="283952" y="393789"/>
                </a:moveTo>
                <a:lnTo>
                  <a:pt x="283903" y="424196"/>
                </a:lnTo>
                <a:lnTo>
                  <a:pt x="346903" y="424196"/>
                </a:lnTo>
                <a:lnTo>
                  <a:pt x="346952" y="393789"/>
                </a:lnTo>
                <a:close/>
                <a:moveTo>
                  <a:pt x="141749" y="346011"/>
                </a:moveTo>
                <a:lnTo>
                  <a:pt x="141750" y="378039"/>
                </a:lnTo>
                <a:lnTo>
                  <a:pt x="488250" y="378039"/>
                </a:lnTo>
                <a:lnTo>
                  <a:pt x="488250" y="346812"/>
                </a:lnTo>
                <a:close/>
                <a:moveTo>
                  <a:pt x="252008" y="165406"/>
                </a:moveTo>
                <a:lnTo>
                  <a:pt x="252008" y="259906"/>
                </a:lnTo>
                <a:lnTo>
                  <a:pt x="315008" y="259906"/>
                </a:lnTo>
                <a:lnTo>
                  <a:pt x="315008" y="165406"/>
                </a:lnTo>
                <a:close/>
                <a:moveTo>
                  <a:pt x="212629" y="126031"/>
                </a:moveTo>
                <a:lnTo>
                  <a:pt x="212629" y="220531"/>
                </a:lnTo>
                <a:lnTo>
                  <a:pt x="236258" y="220531"/>
                </a:lnTo>
                <a:lnTo>
                  <a:pt x="236258" y="149656"/>
                </a:lnTo>
                <a:lnTo>
                  <a:pt x="275633" y="149656"/>
                </a:lnTo>
                <a:lnTo>
                  <a:pt x="275633" y="126031"/>
                </a:lnTo>
                <a:close/>
                <a:moveTo>
                  <a:pt x="309071" y="110250"/>
                </a:moveTo>
                <a:lnTo>
                  <a:pt x="488250" y="110250"/>
                </a:lnTo>
                <a:cubicBezTo>
                  <a:pt x="496944" y="110260"/>
                  <a:pt x="503990" y="117306"/>
                  <a:pt x="504000" y="126000"/>
                </a:cubicBezTo>
                <a:lnTo>
                  <a:pt x="504000" y="378039"/>
                </a:lnTo>
                <a:cubicBezTo>
                  <a:pt x="503990" y="386733"/>
                  <a:pt x="496944" y="393779"/>
                  <a:pt x="488250" y="393789"/>
                </a:cubicBezTo>
                <a:lnTo>
                  <a:pt x="362702" y="393789"/>
                </a:lnTo>
                <a:lnTo>
                  <a:pt x="362653" y="424196"/>
                </a:lnTo>
                <a:lnTo>
                  <a:pt x="393681" y="424196"/>
                </a:lnTo>
                <a:lnTo>
                  <a:pt x="393681" y="439946"/>
                </a:lnTo>
                <a:lnTo>
                  <a:pt x="236184" y="439946"/>
                </a:lnTo>
                <a:lnTo>
                  <a:pt x="236184" y="424196"/>
                </a:lnTo>
                <a:lnTo>
                  <a:pt x="268153" y="424196"/>
                </a:lnTo>
                <a:lnTo>
                  <a:pt x="268202" y="393789"/>
                </a:lnTo>
                <a:lnTo>
                  <a:pt x="141750" y="393789"/>
                </a:lnTo>
                <a:cubicBezTo>
                  <a:pt x="133055" y="393780"/>
                  <a:pt x="126009" y="386733"/>
                  <a:pt x="126000" y="378039"/>
                </a:cubicBezTo>
                <a:lnTo>
                  <a:pt x="125996" y="126000"/>
                </a:lnTo>
                <a:lnTo>
                  <a:pt x="141746" y="126000"/>
                </a:lnTo>
                <a:lnTo>
                  <a:pt x="141749" y="330261"/>
                </a:lnTo>
                <a:lnTo>
                  <a:pt x="488250" y="331062"/>
                </a:lnTo>
                <a:lnTo>
                  <a:pt x="488250" y="126000"/>
                </a:lnTo>
                <a:lnTo>
                  <a:pt x="309071" y="126000"/>
                </a:lnTo>
                <a:close/>
                <a:moveTo>
                  <a:pt x="173254" y="86656"/>
                </a:moveTo>
                <a:lnTo>
                  <a:pt x="173254" y="181156"/>
                </a:lnTo>
                <a:lnTo>
                  <a:pt x="196879" y="181156"/>
                </a:lnTo>
                <a:lnTo>
                  <a:pt x="196879" y="110281"/>
                </a:lnTo>
                <a:lnTo>
                  <a:pt x="236254" y="110281"/>
                </a:lnTo>
                <a:lnTo>
                  <a:pt x="236254" y="86656"/>
                </a:lnTo>
                <a:close/>
                <a:moveTo>
                  <a:pt x="157504" y="70906"/>
                </a:moveTo>
                <a:lnTo>
                  <a:pt x="252004" y="70906"/>
                </a:lnTo>
                <a:lnTo>
                  <a:pt x="252004" y="110281"/>
                </a:lnTo>
                <a:lnTo>
                  <a:pt x="291383" y="110281"/>
                </a:lnTo>
                <a:lnTo>
                  <a:pt x="291383" y="149656"/>
                </a:lnTo>
                <a:lnTo>
                  <a:pt x="330758" y="149656"/>
                </a:lnTo>
                <a:lnTo>
                  <a:pt x="330758" y="275656"/>
                </a:lnTo>
                <a:lnTo>
                  <a:pt x="236258" y="275656"/>
                </a:lnTo>
                <a:lnTo>
                  <a:pt x="236258" y="236281"/>
                </a:lnTo>
                <a:lnTo>
                  <a:pt x="196879" y="236281"/>
                </a:lnTo>
                <a:lnTo>
                  <a:pt x="196879" y="196906"/>
                </a:lnTo>
                <a:lnTo>
                  <a:pt x="157504" y="196906"/>
                </a:lnTo>
                <a:close/>
                <a:moveTo>
                  <a:pt x="15750" y="0"/>
                </a:moveTo>
                <a:lnTo>
                  <a:pt x="362250" y="0"/>
                </a:lnTo>
                <a:cubicBezTo>
                  <a:pt x="370944" y="10"/>
                  <a:pt x="377990" y="7056"/>
                  <a:pt x="378000" y="15750"/>
                </a:cubicBezTo>
                <a:lnTo>
                  <a:pt x="378000" y="92843"/>
                </a:lnTo>
                <a:lnTo>
                  <a:pt x="362250" y="92843"/>
                </a:lnTo>
                <a:lnTo>
                  <a:pt x="362250" y="15750"/>
                </a:lnTo>
                <a:lnTo>
                  <a:pt x="15750" y="15750"/>
                </a:lnTo>
                <a:lnTo>
                  <a:pt x="15750" y="220604"/>
                </a:lnTo>
                <a:lnTo>
                  <a:pt x="110250" y="220604"/>
                </a:lnTo>
                <a:lnTo>
                  <a:pt x="110250" y="236354"/>
                </a:lnTo>
                <a:lnTo>
                  <a:pt x="15750" y="236354"/>
                </a:lnTo>
                <a:lnTo>
                  <a:pt x="15750" y="267789"/>
                </a:lnTo>
                <a:lnTo>
                  <a:pt x="110250" y="267789"/>
                </a:lnTo>
                <a:lnTo>
                  <a:pt x="110250" y="283539"/>
                </a:lnTo>
                <a:lnTo>
                  <a:pt x="15750" y="283539"/>
                </a:lnTo>
                <a:cubicBezTo>
                  <a:pt x="7055" y="283530"/>
                  <a:pt x="9" y="276483"/>
                  <a:pt x="0" y="267789"/>
                </a:cubicBezTo>
                <a:lnTo>
                  <a:pt x="0" y="15750"/>
                </a:lnTo>
                <a:cubicBezTo>
                  <a:pt x="9" y="7055"/>
                  <a:pt x="7055" y="9"/>
                  <a:pt x="15750" y="0"/>
                </a:cubicBezTo>
                <a:close/>
              </a:path>
            </a:pathLst>
          </a:custGeom>
          <a:solidFill>
            <a:srgbClr val="FFFFFF"/>
          </a:solidFill>
          <a:ln w="7739"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87" name="任意形状 20"/>
          <p:cNvSpPr/>
          <p:nvPr>
            <p:custDataLst>
              <p:tags r:id="rId7"/>
            </p:custDataLst>
          </p:nvPr>
        </p:nvSpPr>
        <p:spPr>
          <a:xfrm>
            <a:off x="6492140" y="2341429"/>
            <a:ext cx="1415003" cy="2353581"/>
          </a:xfrm>
          <a:custGeom>
            <a:avLst/>
            <a:gdLst>
              <a:gd name="connsiteX0" fmla="*/ 0 w 1961809"/>
              <a:gd name="connsiteY0" fmla="*/ 0 h 3263087"/>
              <a:gd name="connsiteX1" fmla="*/ 637 w 1961809"/>
              <a:gd name="connsiteY1" fmla="*/ 0 h 3263087"/>
              <a:gd name="connsiteX2" fmla="*/ 5064 w 1961809"/>
              <a:gd name="connsiteY2" fmla="*/ 87679 h 3263087"/>
              <a:gd name="connsiteX3" fmla="*/ 980905 w 1961809"/>
              <a:gd name="connsiteY3" fmla="*/ 968292 h 3263087"/>
              <a:gd name="connsiteX4" fmla="*/ 1956746 w 1961809"/>
              <a:gd name="connsiteY4" fmla="*/ 87679 h 3263087"/>
              <a:gd name="connsiteX5" fmla="*/ 1961173 w 1961809"/>
              <a:gd name="connsiteY5" fmla="*/ 0 h 3263087"/>
              <a:gd name="connsiteX6" fmla="*/ 1961809 w 1961809"/>
              <a:gd name="connsiteY6" fmla="*/ 0 h 3263087"/>
              <a:gd name="connsiteX7" fmla="*/ 1961809 w 1961809"/>
              <a:gd name="connsiteY7" fmla="*/ 3263087 h 3263087"/>
              <a:gd name="connsiteX8" fmla="*/ 0 w 1961809"/>
              <a:gd name="connsiteY8" fmla="*/ 3263087 h 3263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61809" h="3263087">
                <a:moveTo>
                  <a:pt x="0" y="0"/>
                </a:moveTo>
                <a:lnTo>
                  <a:pt x="637" y="0"/>
                </a:lnTo>
                <a:lnTo>
                  <a:pt x="5064" y="87679"/>
                </a:lnTo>
                <a:cubicBezTo>
                  <a:pt x="55297" y="582306"/>
                  <a:pt x="473025" y="968292"/>
                  <a:pt x="980905" y="968292"/>
                </a:cubicBezTo>
                <a:cubicBezTo>
                  <a:pt x="1488785" y="968292"/>
                  <a:pt x="1906514" y="582306"/>
                  <a:pt x="1956746" y="87679"/>
                </a:cubicBezTo>
                <a:lnTo>
                  <a:pt x="1961173" y="0"/>
                </a:lnTo>
                <a:lnTo>
                  <a:pt x="1961809" y="0"/>
                </a:lnTo>
                <a:lnTo>
                  <a:pt x="1961809" y="3263087"/>
                </a:lnTo>
                <a:lnTo>
                  <a:pt x="0" y="3263087"/>
                </a:lnTo>
                <a:close/>
              </a:path>
            </a:pathLst>
          </a:custGeom>
          <a:solidFill>
            <a:srgbClr val="FFFFFF">
              <a:lumMod val="95000"/>
            </a:srgbClr>
          </a:solidFill>
          <a:ln w="12700">
            <a:miter lim="400000"/>
          </a:ln>
        </p:spPr>
        <p:txBody>
          <a:bodyPr wrap="square" tIns="34290" bIns="3429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solidFill>
                  <a:srgbClr val="FFFFFF"/>
                </a:solidFill>
              </a:defRPr>
            </a:pPr>
            <a:endParaRPr kumimoji="0" sz="675" b="0" i="0" u="none" strike="noStrike" kern="1200" cap="none" spc="0" normalizeH="0" baseline="0" noProof="0">
              <a:ln>
                <a:noFill/>
              </a:ln>
              <a:solidFill>
                <a:srgbClr val="FFFFFF"/>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88" name="形状"/>
          <p:cNvSpPr/>
          <p:nvPr>
            <p:custDataLst>
              <p:tags r:id="rId8"/>
            </p:custDataLst>
          </p:nvPr>
        </p:nvSpPr>
        <p:spPr>
          <a:xfrm rot="467441">
            <a:off x="6330613" y="1542220"/>
            <a:ext cx="1632734" cy="1635574"/>
          </a:xfrm>
          <a:custGeom>
            <a:avLst/>
            <a:gdLst/>
            <a:ahLst/>
            <a:cxnLst>
              <a:cxn ang="0">
                <a:pos x="wd2" y="hd2"/>
              </a:cxn>
              <a:cxn ang="5400000">
                <a:pos x="wd2" y="hd2"/>
              </a:cxn>
              <a:cxn ang="10800000">
                <a:pos x="wd2" y="hd2"/>
              </a:cxn>
              <a:cxn ang="16200000">
                <a:pos x="wd2" y="hd2"/>
              </a:cxn>
            </a:cxnLst>
            <a:rect l="0" t="0" r="r" b="b"/>
            <a:pathLst>
              <a:path w="21600" h="21600" extrusionOk="0">
                <a:moveTo>
                  <a:pt x="20552" y="10136"/>
                </a:moveTo>
                <a:cubicBezTo>
                  <a:pt x="20512" y="10056"/>
                  <a:pt x="20512" y="9935"/>
                  <a:pt x="20512" y="9855"/>
                </a:cubicBezTo>
                <a:cubicBezTo>
                  <a:pt x="20472" y="9573"/>
                  <a:pt x="20472" y="9573"/>
                  <a:pt x="20472" y="9573"/>
                </a:cubicBezTo>
                <a:cubicBezTo>
                  <a:pt x="20431" y="9251"/>
                  <a:pt x="20391" y="8970"/>
                  <a:pt x="20310" y="8688"/>
                </a:cubicBezTo>
                <a:cubicBezTo>
                  <a:pt x="21278" y="8125"/>
                  <a:pt x="21278" y="8125"/>
                  <a:pt x="21278" y="8125"/>
                </a:cubicBezTo>
                <a:cubicBezTo>
                  <a:pt x="21116" y="7683"/>
                  <a:pt x="21116" y="7683"/>
                  <a:pt x="21116" y="7683"/>
                </a:cubicBezTo>
                <a:cubicBezTo>
                  <a:pt x="20996" y="7240"/>
                  <a:pt x="20996" y="7240"/>
                  <a:pt x="20996" y="7240"/>
                </a:cubicBezTo>
                <a:cubicBezTo>
                  <a:pt x="19907" y="7321"/>
                  <a:pt x="19907" y="7321"/>
                  <a:pt x="19907" y="7321"/>
                </a:cubicBezTo>
                <a:cubicBezTo>
                  <a:pt x="19746" y="6838"/>
                  <a:pt x="19545" y="6396"/>
                  <a:pt x="19263" y="5953"/>
                </a:cubicBezTo>
                <a:cubicBezTo>
                  <a:pt x="20028" y="5149"/>
                  <a:pt x="20028" y="5149"/>
                  <a:pt x="20028" y="5149"/>
                </a:cubicBezTo>
                <a:cubicBezTo>
                  <a:pt x="19746" y="4787"/>
                  <a:pt x="19746" y="4787"/>
                  <a:pt x="19746" y="4787"/>
                </a:cubicBezTo>
                <a:cubicBezTo>
                  <a:pt x="19504" y="4384"/>
                  <a:pt x="19504" y="4384"/>
                  <a:pt x="19504" y="4384"/>
                </a:cubicBezTo>
                <a:cubicBezTo>
                  <a:pt x="18497" y="4787"/>
                  <a:pt x="18497" y="4787"/>
                  <a:pt x="18497" y="4787"/>
                </a:cubicBezTo>
                <a:cubicBezTo>
                  <a:pt x="18336" y="4585"/>
                  <a:pt x="18175" y="4384"/>
                  <a:pt x="18013" y="4183"/>
                </a:cubicBezTo>
                <a:cubicBezTo>
                  <a:pt x="17812" y="4022"/>
                  <a:pt x="17651" y="3821"/>
                  <a:pt x="17490" y="3660"/>
                </a:cubicBezTo>
                <a:cubicBezTo>
                  <a:pt x="17933" y="2695"/>
                  <a:pt x="17933" y="2695"/>
                  <a:pt x="17933" y="2695"/>
                </a:cubicBezTo>
                <a:cubicBezTo>
                  <a:pt x="17570" y="2413"/>
                  <a:pt x="17570" y="2413"/>
                  <a:pt x="17570" y="2413"/>
                </a:cubicBezTo>
                <a:cubicBezTo>
                  <a:pt x="17248" y="2092"/>
                  <a:pt x="17248" y="2092"/>
                  <a:pt x="17248" y="2092"/>
                </a:cubicBezTo>
                <a:cubicBezTo>
                  <a:pt x="16361" y="2775"/>
                  <a:pt x="16361" y="2775"/>
                  <a:pt x="16361" y="2775"/>
                </a:cubicBezTo>
                <a:cubicBezTo>
                  <a:pt x="15958" y="2494"/>
                  <a:pt x="15515" y="2212"/>
                  <a:pt x="15072" y="2011"/>
                </a:cubicBezTo>
                <a:cubicBezTo>
                  <a:pt x="15233" y="925"/>
                  <a:pt x="15233" y="925"/>
                  <a:pt x="15233" y="925"/>
                </a:cubicBezTo>
                <a:cubicBezTo>
                  <a:pt x="14790" y="764"/>
                  <a:pt x="14790" y="764"/>
                  <a:pt x="14790" y="764"/>
                </a:cubicBezTo>
                <a:cubicBezTo>
                  <a:pt x="14387" y="603"/>
                  <a:pt x="14387" y="603"/>
                  <a:pt x="14387" y="603"/>
                </a:cubicBezTo>
                <a:cubicBezTo>
                  <a:pt x="13742" y="1488"/>
                  <a:pt x="13742" y="1488"/>
                  <a:pt x="13742" y="1488"/>
                </a:cubicBezTo>
                <a:cubicBezTo>
                  <a:pt x="13460" y="1408"/>
                  <a:pt x="13178" y="1327"/>
                  <a:pt x="12855" y="1247"/>
                </a:cubicBezTo>
                <a:cubicBezTo>
                  <a:pt x="12613" y="1207"/>
                  <a:pt x="12613" y="1207"/>
                  <a:pt x="12613" y="1207"/>
                </a:cubicBezTo>
                <a:cubicBezTo>
                  <a:pt x="12493" y="1166"/>
                  <a:pt x="12412" y="1166"/>
                  <a:pt x="12291" y="1126"/>
                </a:cubicBezTo>
                <a:cubicBezTo>
                  <a:pt x="12130" y="80"/>
                  <a:pt x="12130" y="80"/>
                  <a:pt x="12130" y="80"/>
                </a:cubicBezTo>
                <a:cubicBezTo>
                  <a:pt x="11687" y="40"/>
                  <a:pt x="11687" y="40"/>
                  <a:pt x="11687" y="40"/>
                </a:cubicBezTo>
                <a:cubicBezTo>
                  <a:pt x="11203" y="0"/>
                  <a:pt x="11203" y="0"/>
                  <a:pt x="11203" y="0"/>
                </a:cubicBezTo>
                <a:cubicBezTo>
                  <a:pt x="10881" y="1006"/>
                  <a:pt x="10881" y="1006"/>
                  <a:pt x="10881" y="1006"/>
                </a:cubicBezTo>
                <a:cubicBezTo>
                  <a:pt x="10357" y="1006"/>
                  <a:pt x="9873" y="1046"/>
                  <a:pt x="9390" y="1126"/>
                </a:cubicBezTo>
                <a:cubicBezTo>
                  <a:pt x="8906" y="161"/>
                  <a:pt x="8906" y="161"/>
                  <a:pt x="8906" y="161"/>
                </a:cubicBezTo>
                <a:cubicBezTo>
                  <a:pt x="8463" y="241"/>
                  <a:pt x="8463" y="241"/>
                  <a:pt x="8463" y="241"/>
                </a:cubicBezTo>
                <a:cubicBezTo>
                  <a:pt x="8019" y="322"/>
                  <a:pt x="8019" y="322"/>
                  <a:pt x="8019" y="322"/>
                </a:cubicBezTo>
                <a:cubicBezTo>
                  <a:pt x="7979" y="1408"/>
                  <a:pt x="7979" y="1408"/>
                  <a:pt x="7979" y="1408"/>
                </a:cubicBezTo>
                <a:cubicBezTo>
                  <a:pt x="7496" y="1569"/>
                  <a:pt x="7052" y="1730"/>
                  <a:pt x="6569" y="1971"/>
                </a:cubicBezTo>
                <a:cubicBezTo>
                  <a:pt x="5843" y="1166"/>
                  <a:pt x="5843" y="1166"/>
                  <a:pt x="5843" y="1166"/>
                </a:cubicBezTo>
                <a:cubicBezTo>
                  <a:pt x="5440" y="1408"/>
                  <a:pt x="5440" y="1408"/>
                  <a:pt x="5440" y="1408"/>
                </a:cubicBezTo>
                <a:cubicBezTo>
                  <a:pt x="5037" y="1609"/>
                  <a:pt x="5037" y="1609"/>
                  <a:pt x="5037" y="1609"/>
                </a:cubicBezTo>
                <a:cubicBezTo>
                  <a:pt x="5360" y="2655"/>
                  <a:pt x="5360" y="2655"/>
                  <a:pt x="5360" y="2655"/>
                </a:cubicBezTo>
                <a:cubicBezTo>
                  <a:pt x="4916" y="2936"/>
                  <a:pt x="4554" y="3218"/>
                  <a:pt x="4191" y="3580"/>
                </a:cubicBezTo>
                <a:cubicBezTo>
                  <a:pt x="4151" y="3580"/>
                  <a:pt x="4151" y="3580"/>
                  <a:pt x="4151" y="3580"/>
                </a:cubicBezTo>
                <a:cubicBezTo>
                  <a:pt x="3224" y="3057"/>
                  <a:pt x="3224" y="3057"/>
                  <a:pt x="3224" y="3057"/>
                </a:cubicBezTo>
                <a:cubicBezTo>
                  <a:pt x="2901" y="3379"/>
                  <a:pt x="2901" y="3379"/>
                  <a:pt x="2901" y="3379"/>
                </a:cubicBezTo>
                <a:cubicBezTo>
                  <a:pt x="2579" y="3701"/>
                  <a:pt x="2579" y="3701"/>
                  <a:pt x="2579" y="3701"/>
                </a:cubicBezTo>
                <a:cubicBezTo>
                  <a:pt x="3184" y="4626"/>
                  <a:pt x="3184" y="4626"/>
                  <a:pt x="3184" y="4626"/>
                </a:cubicBezTo>
                <a:cubicBezTo>
                  <a:pt x="2861" y="5028"/>
                  <a:pt x="2579" y="5430"/>
                  <a:pt x="2337" y="5832"/>
                </a:cubicBezTo>
                <a:cubicBezTo>
                  <a:pt x="1894" y="5752"/>
                  <a:pt x="1894" y="5752"/>
                  <a:pt x="1894" y="5752"/>
                </a:cubicBezTo>
                <a:cubicBezTo>
                  <a:pt x="1894" y="5752"/>
                  <a:pt x="1894" y="5752"/>
                  <a:pt x="1894" y="5752"/>
                </a:cubicBezTo>
                <a:cubicBezTo>
                  <a:pt x="1249" y="5631"/>
                  <a:pt x="1249" y="5631"/>
                  <a:pt x="1249" y="5631"/>
                </a:cubicBezTo>
                <a:cubicBezTo>
                  <a:pt x="1048" y="6034"/>
                  <a:pt x="1048" y="6034"/>
                  <a:pt x="1048" y="6034"/>
                </a:cubicBezTo>
                <a:cubicBezTo>
                  <a:pt x="846" y="6436"/>
                  <a:pt x="846" y="6436"/>
                  <a:pt x="846" y="6436"/>
                </a:cubicBezTo>
                <a:cubicBezTo>
                  <a:pt x="1693" y="7120"/>
                  <a:pt x="1693" y="7120"/>
                  <a:pt x="1693" y="7120"/>
                </a:cubicBezTo>
                <a:cubicBezTo>
                  <a:pt x="1491" y="7602"/>
                  <a:pt x="1370" y="8085"/>
                  <a:pt x="1249" y="8568"/>
                </a:cubicBezTo>
                <a:cubicBezTo>
                  <a:pt x="161" y="8648"/>
                  <a:pt x="161" y="8648"/>
                  <a:pt x="161" y="8648"/>
                </a:cubicBezTo>
                <a:cubicBezTo>
                  <a:pt x="81" y="9091"/>
                  <a:pt x="81" y="9091"/>
                  <a:pt x="81" y="9091"/>
                </a:cubicBezTo>
                <a:cubicBezTo>
                  <a:pt x="0" y="9533"/>
                  <a:pt x="0" y="9533"/>
                  <a:pt x="0" y="9533"/>
                </a:cubicBezTo>
                <a:cubicBezTo>
                  <a:pt x="1007" y="9975"/>
                  <a:pt x="1007" y="9975"/>
                  <a:pt x="1007" y="9975"/>
                </a:cubicBezTo>
                <a:cubicBezTo>
                  <a:pt x="967" y="10458"/>
                  <a:pt x="967" y="10941"/>
                  <a:pt x="1007" y="11464"/>
                </a:cubicBezTo>
                <a:cubicBezTo>
                  <a:pt x="0" y="11866"/>
                  <a:pt x="0" y="11866"/>
                  <a:pt x="0" y="11866"/>
                </a:cubicBezTo>
                <a:cubicBezTo>
                  <a:pt x="81" y="12308"/>
                  <a:pt x="81" y="12308"/>
                  <a:pt x="81" y="12308"/>
                </a:cubicBezTo>
                <a:cubicBezTo>
                  <a:pt x="121" y="12751"/>
                  <a:pt x="121" y="12751"/>
                  <a:pt x="121" y="12751"/>
                </a:cubicBezTo>
                <a:cubicBezTo>
                  <a:pt x="1209" y="12872"/>
                  <a:pt x="1209" y="12872"/>
                  <a:pt x="1209" y="12872"/>
                </a:cubicBezTo>
                <a:cubicBezTo>
                  <a:pt x="1330" y="13354"/>
                  <a:pt x="1451" y="13837"/>
                  <a:pt x="1652" y="14320"/>
                </a:cubicBezTo>
                <a:cubicBezTo>
                  <a:pt x="806" y="14963"/>
                  <a:pt x="806" y="14963"/>
                  <a:pt x="806" y="14963"/>
                </a:cubicBezTo>
                <a:cubicBezTo>
                  <a:pt x="967" y="15406"/>
                  <a:pt x="967" y="15406"/>
                  <a:pt x="967" y="15406"/>
                </a:cubicBezTo>
                <a:cubicBezTo>
                  <a:pt x="1169" y="15808"/>
                  <a:pt x="1169" y="15808"/>
                  <a:pt x="1169" y="15808"/>
                </a:cubicBezTo>
                <a:cubicBezTo>
                  <a:pt x="2257" y="15566"/>
                  <a:pt x="2257" y="15566"/>
                  <a:pt x="2257" y="15566"/>
                </a:cubicBezTo>
                <a:cubicBezTo>
                  <a:pt x="2499" y="16009"/>
                  <a:pt x="2781" y="16451"/>
                  <a:pt x="3103" y="16813"/>
                </a:cubicBezTo>
                <a:cubicBezTo>
                  <a:pt x="2458" y="17739"/>
                  <a:pt x="2458" y="17739"/>
                  <a:pt x="2458" y="17739"/>
                </a:cubicBezTo>
                <a:cubicBezTo>
                  <a:pt x="2781" y="18060"/>
                  <a:pt x="2781" y="18060"/>
                  <a:pt x="2781" y="18060"/>
                </a:cubicBezTo>
                <a:cubicBezTo>
                  <a:pt x="3103" y="18422"/>
                  <a:pt x="3103" y="18422"/>
                  <a:pt x="3103" y="18422"/>
                </a:cubicBezTo>
                <a:cubicBezTo>
                  <a:pt x="4030" y="17859"/>
                  <a:pt x="4030" y="17859"/>
                  <a:pt x="4030" y="17859"/>
                </a:cubicBezTo>
                <a:cubicBezTo>
                  <a:pt x="4433" y="18221"/>
                  <a:pt x="4796" y="18543"/>
                  <a:pt x="5199" y="18825"/>
                </a:cubicBezTo>
                <a:cubicBezTo>
                  <a:pt x="4876" y="19870"/>
                  <a:pt x="4876" y="19870"/>
                  <a:pt x="4876" y="19870"/>
                </a:cubicBezTo>
                <a:cubicBezTo>
                  <a:pt x="5279" y="20112"/>
                  <a:pt x="5279" y="20112"/>
                  <a:pt x="5279" y="20112"/>
                </a:cubicBezTo>
                <a:cubicBezTo>
                  <a:pt x="5682" y="20313"/>
                  <a:pt x="5682" y="20313"/>
                  <a:pt x="5682" y="20313"/>
                </a:cubicBezTo>
                <a:cubicBezTo>
                  <a:pt x="6448" y="19549"/>
                  <a:pt x="6448" y="19549"/>
                  <a:pt x="6448" y="19549"/>
                </a:cubicBezTo>
                <a:cubicBezTo>
                  <a:pt x="6891" y="19750"/>
                  <a:pt x="7375" y="19951"/>
                  <a:pt x="7818" y="20112"/>
                </a:cubicBezTo>
                <a:cubicBezTo>
                  <a:pt x="7818" y="21198"/>
                  <a:pt x="7818" y="21198"/>
                  <a:pt x="7818" y="21198"/>
                </a:cubicBezTo>
                <a:cubicBezTo>
                  <a:pt x="8261" y="21278"/>
                  <a:pt x="8261" y="21278"/>
                  <a:pt x="8261" y="21278"/>
                </a:cubicBezTo>
                <a:cubicBezTo>
                  <a:pt x="8704" y="21399"/>
                  <a:pt x="8704" y="21399"/>
                  <a:pt x="8704" y="21399"/>
                </a:cubicBezTo>
                <a:cubicBezTo>
                  <a:pt x="9228" y="20434"/>
                  <a:pt x="9228" y="20434"/>
                  <a:pt x="9228" y="20434"/>
                </a:cubicBezTo>
                <a:cubicBezTo>
                  <a:pt x="9712" y="20514"/>
                  <a:pt x="10196" y="20554"/>
                  <a:pt x="10719" y="20554"/>
                </a:cubicBezTo>
                <a:cubicBezTo>
                  <a:pt x="11042" y="21600"/>
                  <a:pt x="11042" y="21600"/>
                  <a:pt x="11042" y="21600"/>
                </a:cubicBezTo>
                <a:cubicBezTo>
                  <a:pt x="11485" y="21560"/>
                  <a:pt x="11485" y="21560"/>
                  <a:pt x="11485" y="21560"/>
                </a:cubicBezTo>
                <a:cubicBezTo>
                  <a:pt x="11969" y="21520"/>
                  <a:pt x="11969" y="21520"/>
                  <a:pt x="11969" y="21520"/>
                </a:cubicBezTo>
                <a:cubicBezTo>
                  <a:pt x="12130" y="20474"/>
                  <a:pt x="12130" y="20474"/>
                  <a:pt x="12130" y="20474"/>
                </a:cubicBezTo>
                <a:cubicBezTo>
                  <a:pt x="12613" y="20393"/>
                  <a:pt x="13137" y="20273"/>
                  <a:pt x="13621" y="20152"/>
                </a:cubicBezTo>
                <a:cubicBezTo>
                  <a:pt x="14225" y="21037"/>
                  <a:pt x="14225" y="21037"/>
                  <a:pt x="14225" y="21037"/>
                </a:cubicBezTo>
                <a:cubicBezTo>
                  <a:pt x="14628" y="20876"/>
                  <a:pt x="14628" y="20876"/>
                  <a:pt x="14628" y="20876"/>
                </a:cubicBezTo>
                <a:cubicBezTo>
                  <a:pt x="15072" y="20715"/>
                  <a:pt x="15072" y="20715"/>
                  <a:pt x="15072" y="20715"/>
                </a:cubicBezTo>
                <a:cubicBezTo>
                  <a:pt x="14991" y="20072"/>
                  <a:pt x="14991" y="20072"/>
                  <a:pt x="14991" y="20072"/>
                </a:cubicBezTo>
                <a:cubicBezTo>
                  <a:pt x="14991" y="20072"/>
                  <a:pt x="14991" y="20072"/>
                  <a:pt x="14991" y="20072"/>
                </a:cubicBezTo>
                <a:cubicBezTo>
                  <a:pt x="14951" y="19629"/>
                  <a:pt x="14951" y="19629"/>
                  <a:pt x="14951" y="19629"/>
                </a:cubicBezTo>
                <a:cubicBezTo>
                  <a:pt x="15394" y="19428"/>
                  <a:pt x="15837" y="19187"/>
                  <a:pt x="16240" y="18905"/>
                </a:cubicBezTo>
                <a:cubicBezTo>
                  <a:pt x="17087" y="19549"/>
                  <a:pt x="17087" y="19549"/>
                  <a:pt x="17087" y="19549"/>
                </a:cubicBezTo>
                <a:cubicBezTo>
                  <a:pt x="17449" y="19267"/>
                  <a:pt x="17449" y="19267"/>
                  <a:pt x="17449" y="19267"/>
                </a:cubicBezTo>
                <a:cubicBezTo>
                  <a:pt x="17812" y="18985"/>
                  <a:pt x="17812" y="18985"/>
                  <a:pt x="17812" y="18985"/>
                </a:cubicBezTo>
                <a:cubicBezTo>
                  <a:pt x="17369" y="18020"/>
                  <a:pt x="17369" y="18020"/>
                  <a:pt x="17369" y="18020"/>
                </a:cubicBezTo>
                <a:cubicBezTo>
                  <a:pt x="17369" y="18020"/>
                  <a:pt x="17369" y="18020"/>
                  <a:pt x="17369" y="17980"/>
                </a:cubicBezTo>
                <a:cubicBezTo>
                  <a:pt x="17731" y="17658"/>
                  <a:pt x="18094" y="17296"/>
                  <a:pt x="18376" y="16934"/>
                </a:cubicBezTo>
                <a:cubicBezTo>
                  <a:pt x="19384" y="17336"/>
                  <a:pt x="19384" y="17336"/>
                  <a:pt x="19384" y="17336"/>
                </a:cubicBezTo>
                <a:cubicBezTo>
                  <a:pt x="19666" y="16934"/>
                  <a:pt x="19666" y="16934"/>
                  <a:pt x="19666" y="16934"/>
                </a:cubicBezTo>
                <a:cubicBezTo>
                  <a:pt x="19907" y="16572"/>
                  <a:pt x="19907" y="16572"/>
                  <a:pt x="19907" y="16572"/>
                </a:cubicBezTo>
                <a:cubicBezTo>
                  <a:pt x="19182" y="15768"/>
                  <a:pt x="19182" y="15768"/>
                  <a:pt x="19182" y="15768"/>
                </a:cubicBezTo>
                <a:cubicBezTo>
                  <a:pt x="19464" y="15325"/>
                  <a:pt x="19666" y="14883"/>
                  <a:pt x="19867" y="14400"/>
                </a:cubicBezTo>
                <a:cubicBezTo>
                  <a:pt x="20955" y="14480"/>
                  <a:pt x="20955" y="14480"/>
                  <a:pt x="20955" y="14480"/>
                </a:cubicBezTo>
                <a:cubicBezTo>
                  <a:pt x="21076" y="14038"/>
                  <a:pt x="21076" y="14038"/>
                  <a:pt x="21076" y="14038"/>
                </a:cubicBezTo>
                <a:cubicBezTo>
                  <a:pt x="21237" y="13636"/>
                  <a:pt x="21237" y="13636"/>
                  <a:pt x="21237" y="13636"/>
                </a:cubicBezTo>
                <a:cubicBezTo>
                  <a:pt x="20270" y="13073"/>
                  <a:pt x="20270" y="13073"/>
                  <a:pt x="20270" y="13073"/>
                </a:cubicBezTo>
                <a:cubicBezTo>
                  <a:pt x="20391" y="12550"/>
                  <a:pt x="20472" y="12067"/>
                  <a:pt x="20512" y="11584"/>
                </a:cubicBezTo>
                <a:cubicBezTo>
                  <a:pt x="21600" y="11343"/>
                  <a:pt x="21600" y="11343"/>
                  <a:pt x="21600" y="11343"/>
                </a:cubicBezTo>
                <a:cubicBezTo>
                  <a:pt x="21600" y="10860"/>
                  <a:pt x="21600" y="10860"/>
                  <a:pt x="21600" y="10860"/>
                </a:cubicBezTo>
                <a:cubicBezTo>
                  <a:pt x="21600" y="10418"/>
                  <a:pt x="21600" y="10418"/>
                  <a:pt x="21600" y="10418"/>
                </a:cubicBezTo>
                <a:lnTo>
                  <a:pt x="20552" y="10136"/>
                </a:lnTo>
                <a:close/>
                <a:moveTo>
                  <a:pt x="17006" y="5108"/>
                </a:moveTo>
                <a:cubicBezTo>
                  <a:pt x="18134" y="6315"/>
                  <a:pt x="18819" y="7763"/>
                  <a:pt x="19101" y="9292"/>
                </a:cubicBezTo>
                <a:cubicBezTo>
                  <a:pt x="17812" y="9010"/>
                  <a:pt x="17812" y="9010"/>
                  <a:pt x="17812" y="9010"/>
                </a:cubicBezTo>
                <a:cubicBezTo>
                  <a:pt x="17207" y="6677"/>
                  <a:pt x="15434" y="4787"/>
                  <a:pt x="13178" y="3982"/>
                </a:cubicBezTo>
                <a:cubicBezTo>
                  <a:pt x="13016" y="2655"/>
                  <a:pt x="13016" y="2655"/>
                  <a:pt x="13016" y="2655"/>
                </a:cubicBezTo>
                <a:cubicBezTo>
                  <a:pt x="14507" y="3057"/>
                  <a:pt x="15918" y="3861"/>
                  <a:pt x="17006" y="5108"/>
                </a:cubicBezTo>
                <a:close/>
                <a:moveTo>
                  <a:pt x="5037" y="4545"/>
                </a:moveTo>
                <a:cubicBezTo>
                  <a:pt x="6972" y="2775"/>
                  <a:pt x="9510" y="2092"/>
                  <a:pt x="11928" y="2413"/>
                </a:cubicBezTo>
                <a:cubicBezTo>
                  <a:pt x="11243" y="3580"/>
                  <a:pt x="11243" y="3580"/>
                  <a:pt x="11243" y="3580"/>
                </a:cubicBezTo>
                <a:cubicBezTo>
                  <a:pt x="11082" y="3580"/>
                  <a:pt x="10961" y="3580"/>
                  <a:pt x="10800" y="3580"/>
                </a:cubicBezTo>
                <a:cubicBezTo>
                  <a:pt x="8463" y="3580"/>
                  <a:pt x="6367" y="4666"/>
                  <a:pt x="5037" y="6396"/>
                </a:cubicBezTo>
                <a:cubicBezTo>
                  <a:pt x="3667" y="6114"/>
                  <a:pt x="3667" y="6114"/>
                  <a:pt x="3667" y="6114"/>
                </a:cubicBezTo>
                <a:cubicBezTo>
                  <a:pt x="4030" y="5551"/>
                  <a:pt x="4513" y="5028"/>
                  <a:pt x="5037" y="4545"/>
                </a:cubicBezTo>
                <a:close/>
                <a:moveTo>
                  <a:pt x="3103" y="7079"/>
                </a:moveTo>
                <a:cubicBezTo>
                  <a:pt x="4070" y="8125"/>
                  <a:pt x="4070" y="8125"/>
                  <a:pt x="4070" y="8125"/>
                </a:cubicBezTo>
                <a:cubicBezTo>
                  <a:pt x="3748" y="8970"/>
                  <a:pt x="3546" y="9855"/>
                  <a:pt x="3546" y="10780"/>
                </a:cubicBezTo>
                <a:cubicBezTo>
                  <a:pt x="3546" y="12308"/>
                  <a:pt x="4030" y="13716"/>
                  <a:pt x="4836" y="14842"/>
                </a:cubicBezTo>
                <a:cubicBezTo>
                  <a:pt x="4110" y="16089"/>
                  <a:pt x="4110" y="16089"/>
                  <a:pt x="4110" y="16089"/>
                </a:cubicBezTo>
                <a:cubicBezTo>
                  <a:pt x="2015" y="13475"/>
                  <a:pt x="1693" y="9975"/>
                  <a:pt x="3103" y="7079"/>
                </a:cubicBezTo>
                <a:close/>
                <a:moveTo>
                  <a:pt x="4876" y="16934"/>
                </a:moveTo>
                <a:cubicBezTo>
                  <a:pt x="6166" y="16331"/>
                  <a:pt x="6166" y="16331"/>
                  <a:pt x="6166" y="16331"/>
                </a:cubicBezTo>
                <a:cubicBezTo>
                  <a:pt x="7415" y="17377"/>
                  <a:pt x="9027" y="18020"/>
                  <a:pt x="10800" y="18020"/>
                </a:cubicBezTo>
                <a:cubicBezTo>
                  <a:pt x="11485" y="18020"/>
                  <a:pt x="12170" y="17899"/>
                  <a:pt x="12815" y="17698"/>
                </a:cubicBezTo>
                <a:cubicBezTo>
                  <a:pt x="13782" y="18744"/>
                  <a:pt x="13782" y="18744"/>
                  <a:pt x="13782" y="18744"/>
                </a:cubicBezTo>
                <a:cubicBezTo>
                  <a:pt x="10760" y="19870"/>
                  <a:pt x="7294" y="19227"/>
                  <a:pt x="4876" y="16934"/>
                </a:cubicBezTo>
                <a:close/>
                <a:moveTo>
                  <a:pt x="16482" y="17055"/>
                </a:moveTo>
                <a:cubicBezTo>
                  <a:pt x="15958" y="17537"/>
                  <a:pt x="15394" y="17940"/>
                  <a:pt x="14790" y="18261"/>
                </a:cubicBezTo>
                <a:cubicBezTo>
                  <a:pt x="14628" y="16894"/>
                  <a:pt x="14628" y="16894"/>
                  <a:pt x="14628" y="16894"/>
                </a:cubicBezTo>
                <a:cubicBezTo>
                  <a:pt x="16643" y="15647"/>
                  <a:pt x="17973" y="13475"/>
                  <a:pt x="18013" y="10981"/>
                </a:cubicBezTo>
                <a:cubicBezTo>
                  <a:pt x="19222" y="10418"/>
                  <a:pt x="19222" y="10418"/>
                  <a:pt x="19222" y="10418"/>
                </a:cubicBezTo>
                <a:cubicBezTo>
                  <a:pt x="19343" y="12831"/>
                  <a:pt x="18416" y="15285"/>
                  <a:pt x="16482" y="1705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93" name="形状"/>
          <p:cNvSpPr/>
          <p:nvPr>
            <p:custDataLst>
              <p:tags r:id="rId9"/>
            </p:custDataLst>
          </p:nvPr>
        </p:nvSpPr>
        <p:spPr>
          <a:xfrm>
            <a:off x="3171790" y="162001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94" name="形状"/>
          <p:cNvSpPr/>
          <p:nvPr>
            <p:custDataLst>
              <p:tags r:id="rId10"/>
            </p:custDataLst>
          </p:nvPr>
        </p:nvSpPr>
        <p:spPr>
          <a:xfrm>
            <a:off x="3107735" y="2817559"/>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95" name="形状"/>
          <p:cNvSpPr/>
          <p:nvPr>
            <p:custDataLst>
              <p:tags r:id="rId11"/>
            </p:custDataLst>
          </p:nvPr>
        </p:nvSpPr>
        <p:spPr>
          <a:xfrm>
            <a:off x="5700962" y="1620011"/>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96" name="形状"/>
          <p:cNvSpPr/>
          <p:nvPr>
            <p:custDataLst>
              <p:tags r:id="rId12"/>
            </p:custDataLst>
          </p:nvPr>
        </p:nvSpPr>
        <p:spPr>
          <a:xfrm>
            <a:off x="5700962" y="2817558"/>
            <a:ext cx="330281" cy="330281"/>
          </a:xfrm>
          <a:custGeom>
            <a:avLst/>
            <a:gdLst/>
            <a:ahLst/>
            <a:cxnLst>
              <a:cxn ang="0">
                <a:pos x="wd2" y="hd2"/>
              </a:cxn>
              <a:cxn ang="5400000">
                <a:pos x="wd2" y="hd2"/>
              </a:cxn>
              <a:cxn ang="10800000">
                <a:pos x="wd2" y="hd2"/>
              </a:cxn>
              <a:cxn ang="16200000">
                <a:pos x="wd2" y="hd2"/>
              </a:cxn>
            </a:cxnLst>
            <a:rect l="0" t="0" r="r" b="b"/>
            <a:pathLst>
              <a:path w="21600" h="21600" extrusionOk="0">
                <a:moveTo>
                  <a:pt x="4209" y="3591"/>
                </a:moveTo>
                <a:cubicBezTo>
                  <a:pt x="4209" y="3591"/>
                  <a:pt x="4154" y="3591"/>
                  <a:pt x="4154" y="3646"/>
                </a:cubicBezTo>
                <a:cubicBezTo>
                  <a:pt x="3212" y="3094"/>
                  <a:pt x="3212" y="3094"/>
                  <a:pt x="3212" y="3094"/>
                </a:cubicBezTo>
                <a:cubicBezTo>
                  <a:pt x="2935" y="3425"/>
                  <a:pt x="2935" y="3425"/>
                  <a:pt x="2935" y="3425"/>
                </a:cubicBezTo>
                <a:cubicBezTo>
                  <a:pt x="2603" y="3757"/>
                  <a:pt x="2603" y="3757"/>
                  <a:pt x="2603" y="3757"/>
                </a:cubicBezTo>
                <a:cubicBezTo>
                  <a:pt x="3212" y="4640"/>
                  <a:pt x="3212" y="4640"/>
                  <a:pt x="3212" y="4640"/>
                </a:cubicBezTo>
                <a:cubicBezTo>
                  <a:pt x="2880" y="5027"/>
                  <a:pt x="2603" y="5469"/>
                  <a:pt x="2326" y="5856"/>
                </a:cubicBezTo>
                <a:cubicBezTo>
                  <a:pt x="1274" y="5635"/>
                  <a:pt x="1274" y="5635"/>
                  <a:pt x="1274" y="5635"/>
                </a:cubicBezTo>
                <a:cubicBezTo>
                  <a:pt x="1108" y="6077"/>
                  <a:pt x="1108" y="6077"/>
                  <a:pt x="1108" y="6077"/>
                </a:cubicBezTo>
                <a:cubicBezTo>
                  <a:pt x="886" y="6463"/>
                  <a:pt x="886" y="6463"/>
                  <a:pt x="886" y="6463"/>
                </a:cubicBezTo>
                <a:cubicBezTo>
                  <a:pt x="1717" y="7182"/>
                  <a:pt x="1717" y="7182"/>
                  <a:pt x="1717" y="7182"/>
                </a:cubicBezTo>
                <a:cubicBezTo>
                  <a:pt x="1551" y="7624"/>
                  <a:pt x="1385" y="8121"/>
                  <a:pt x="1274" y="8563"/>
                </a:cubicBezTo>
                <a:cubicBezTo>
                  <a:pt x="166" y="8673"/>
                  <a:pt x="166" y="8673"/>
                  <a:pt x="166" y="8673"/>
                </a:cubicBezTo>
                <a:cubicBezTo>
                  <a:pt x="111" y="9115"/>
                  <a:pt x="111" y="9115"/>
                  <a:pt x="111" y="9115"/>
                </a:cubicBezTo>
                <a:cubicBezTo>
                  <a:pt x="55" y="9557"/>
                  <a:pt x="55" y="9557"/>
                  <a:pt x="55" y="9557"/>
                </a:cubicBezTo>
                <a:cubicBezTo>
                  <a:pt x="1052" y="9999"/>
                  <a:pt x="1052" y="9999"/>
                  <a:pt x="1052" y="9999"/>
                </a:cubicBezTo>
                <a:cubicBezTo>
                  <a:pt x="997" y="10275"/>
                  <a:pt x="997" y="10551"/>
                  <a:pt x="997" y="10883"/>
                </a:cubicBezTo>
                <a:cubicBezTo>
                  <a:pt x="997" y="11159"/>
                  <a:pt x="997" y="11159"/>
                  <a:pt x="997" y="11159"/>
                </a:cubicBezTo>
                <a:cubicBezTo>
                  <a:pt x="997" y="11159"/>
                  <a:pt x="997" y="11159"/>
                  <a:pt x="997" y="11159"/>
                </a:cubicBezTo>
                <a:cubicBezTo>
                  <a:pt x="997" y="11270"/>
                  <a:pt x="997" y="11380"/>
                  <a:pt x="1052" y="11491"/>
                </a:cubicBezTo>
                <a:cubicBezTo>
                  <a:pt x="0" y="11877"/>
                  <a:pt x="0" y="11877"/>
                  <a:pt x="0" y="11877"/>
                </a:cubicBezTo>
                <a:cubicBezTo>
                  <a:pt x="55" y="12319"/>
                  <a:pt x="55" y="12319"/>
                  <a:pt x="55" y="12319"/>
                </a:cubicBezTo>
                <a:cubicBezTo>
                  <a:pt x="166" y="12761"/>
                  <a:pt x="166" y="12761"/>
                  <a:pt x="166" y="12761"/>
                </a:cubicBezTo>
                <a:cubicBezTo>
                  <a:pt x="1218" y="12872"/>
                  <a:pt x="1218" y="12872"/>
                  <a:pt x="1218" y="12872"/>
                </a:cubicBezTo>
                <a:cubicBezTo>
                  <a:pt x="1329" y="13369"/>
                  <a:pt x="1495" y="13866"/>
                  <a:pt x="1662" y="14308"/>
                </a:cubicBezTo>
                <a:cubicBezTo>
                  <a:pt x="831" y="14971"/>
                  <a:pt x="831" y="14971"/>
                  <a:pt x="831" y="14971"/>
                </a:cubicBezTo>
                <a:cubicBezTo>
                  <a:pt x="997" y="15413"/>
                  <a:pt x="997" y="15413"/>
                  <a:pt x="997" y="15413"/>
                </a:cubicBezTo>
                <a:cubicBezTo>
                  <a:pt x="1218" y="15799"/>
                  <a:pt x="1218" y="15799"/>
                  <a:pt x="1218" y="15799"/>
                </a:cubicBezTo>
                <a:cubicBezTo>
                  <a:pt x="2271" y="15579"/>
                  <a:pt x="2271" y="15579"/>
                  <a:pt x="2271" y="15579"/>
                </a:cubicBezTo>
                <a:cubicBezTo>
                  <a:pt x="2492" y="16020"/>
                  <a:pt x="2769" y="16462"/>
                  <a:pt x="3102" y="16849"/>
                </a:cubicBezTo>
                <a:cubicBezTo>
                  <a:pt x="2492" y="17733"/>
                  <a:pt x="2492" y="17733"/>
                  <a:pt x="2492" y="17733"/>
                </a:cubicBezTo>
                <a:cubicBezTo>
                  <a:pt x="2825" y="18064"/>
                  <a:pt x="2825" y="18064"/>
                  <a:pt x="2825" y="18064"/>
                </a:cubicBezTo>
                <a:cubicBezTo>
                  <a:pt x="3102" y="18396"/>
                  <a:pt x="3102" y="18396"/>
                  <a:pt x="3102" y="18396"/>
                </a:cubicBezTo>
                <a:cubicBezTo>
                  <a:pt x="4043" y="17899"/>
                  <a:pt x="4043" y="17899"/>
                  <a:pt x="4043" y="17899"/>
                </a:cubicBezTo>
                <a:cubicBezTo>
                  <a:pt x="4431" y="18230"/>
                  <a:pt x="4818" y="18562"/>
                  <a:pt x="5206" y="18838"/>
                </a:cubicBezTo>
                <a:cubicBezTo>
                  <a:pt x="4929" y="19887"/>
                  <a:pt x="4929" y="19887"/>
                  <a:pt x="4929" y="19887"/>
                </a:cubicBezTo>
                <a:cubicBezTo>
                  <a:pt x="5317" y="20108"/>
                  <a:pt x="5317" y="20108"/>
                  <a:pt x="5317" y="20108"/>
                </a:cubicBezTo>
                <a:cubicBezTo>
                  <a:pt x="5705" y="20329"/>
                  <a:pt x="5705" y="20329"/>
                  <a:pt x="5705" y="20329"/>
                </a:cubicBezTo>
                <a:cubicBezTo>
                  <a:pt x="6425" y="19556"/>
                  <a:pt x="6425" y="19556"/>
                  <a:pt x="6425" y="19556"/>
                </a:cubicBezTo>
                <a:cubicBezTo>
                  <a:pt x="6923" y="19777"/>
                  <a:pt x="7366" y="19943"/>
                  <a:pt x="7865" y="20108"/>
                </a:cubicBezTo>
                <a:cubicBezTo>
                  <a:pt x="7865" y="21213"/>
                  <a:pt x="7865" y="21213"/>
                  <a:pt x="7865" y="21213"/>
                </a:cubicBezTo>
                <a:cubicBezTo>
                  <a:pt x="8308" y="21324"/>
                  <a:pt x="8308" y="21324"/>
                  <a:pt x="8308" y="21324"/>
                </a:cubicBezTo>
                <a:cubicBezTo>
                  <a:pt x="8751" y="21379"/>
                  <a:pt x="8751" y="21379"/>
                  <a:pt x="8751" y="21379"/>
                </a:cubicBezTo>
                <a:cubicBezTo>
                  <a:pt x="9249" y="20440"/>
                  <a:pt x="9249" y="20440"/>
                  <a:pt x="9249" y="20440"/>
                </a:cubicBezTo>
                <a:cubicBezTo>
                  <a:pt x="9305" y="20440"/>
                  <a:pt x="9415" y="20440"/>
                  <a:pt x="9526" y="20495"/>
                </a:cubicBezTo>
                <a:cubicBezTo>
                  <a:pt x="9526" y="20495"/>
                  <a:pt x="9526" y="20495"/>
                  <a:pt x="9526" y="20495"/>
                </a:cubicBezTo>
                <a:cubicBezTo>
                  <a:pt x="9858" y="20495"/>
                  <a:pt x="9858" y="20495"/>
                  <a:pt x="9858" y="20495"/>
                </a:cubicBezTo>
                <a:cubicBezTo>
                  <a:pt x="10135" y="20550"/>
                  <a:pt x="10412" y="20550"/>
                  <a:pt x="10745" y="20550"/>
                </a:cubicBezTo>
                <a:cubicBezTo>
                  <a:pt x="11022" y="21600"/>
                  <a:pt x="11022" y="21600"/>
                  <a:pt x="11022" y="21600"/>
                </a:cubicBezTo>
                <a:cubicBezTo>
                  <a:pt x="11520" y="21545"/>
                  <a:pt x="11520" y="21545"/>
                  <a:pt x="11520" y="21545"/>
                </a:cubicBezTo>
                <a:cubicBezTo>
                  <a:pt x="11963" y="21545"/>
                  <a:pt x="11963" y="21545"/>
                  <a:pt x="11963" y="21545"/>
                </a:cubicBezTo>
                <a:cubicBezTo>
                  <a:pt x="12129" y="20440"/>
                  <a:pt x="12129" y="20440"/>
                  <a:pt x="12129" y="20440"/>
                </a:cubicBezTo>
                <a:cubicBezTo>
                  <a:pt x="12628" y="20385"/>
                  <a:pt x="13126" y="20274"/>
                  <a:pt x="13625" y="20164"/>
                </a:cubicBezTo>
                <a:cubicBezTo>
                  <a:pt x="14234" y="21048"/>
                  <a:pt x="14234" y="21048"/>
                  <a:pt x="14234" y="21048"/>
                </a:cubicBezTo>
                <a:cubicBezTo>
                  <a:pt x="14677" y="20882"/>
                  <a:pt x="14677" y="20882"/>
                  <a:pt x="14677" y="20882"/>
                </a:cubicBezTo>
                <a:cubicBezTo>
                  <a:pt x="15065" y="20716"/>
                  <a:pt x="15065" y="20716"/>
                  <a:pt x="15065" y="20716"/>
                </a:cubicBezTo>
                <a:cubicBezTo>
                  <a:pt x="14954" y="19666"/>
                  <a:pt x="14954" y="19666"/>
                  <a:pt x="14954" y="19666"/>
                </a:cubicBezTo>
                <a:cubicBezTo>
                  <a:pt x="15397" y="19446"/>
                  <a:pt x="15840" y="19169"/>
                  <a:pt x="16228" y="18893"/>
                </a:cubicBezTo>
                <a:cubicBezTo>
                  <a:pt x="17114" y="19556"/>
                  <a:pt x="17114" y="19556"/>
                  <a:pt x="17114" y="19556"/>
                </a:cubicBezTo>
                <a:cubicBezTo>
                  <a:pt x="17446" y="19280"/>
                  <a:pt x="17446" y="19280"/>
                  <a:pt x="17446" y="19280"/>
                </a:cubicBezTo>
                <a:cubicBezTo>
                  <a:pt x="17834" y="19004"/>
                  <a:pt x="17834" y="19004"/>
                  <a:pt x="17834" y="19004"/>
                </a:cubicBezTo>
                <a:cubicBezTo>
                  <a:pt x="17335" y="18009"/>
                  <a:pt x="17335" y="18009"/>
                  <a:pt x="17335" y="18009"/>
                </a:cubicBezTo>
                <a:cubicBezTo>
                  <a:pt x="17391" y="18009"/>
                  <a:pt x="17391" y="18009"/>
                  <a:pt x="17391" y="18009"/>
                </a:cubicBezTo>
                <a:cubicBezTo>
                  <a:pt x="17723" y="17678"/>
                  <a:pt x="18111" y="17291"/>
                  <a:pt x="18388" y="16960"/>
                </a:cubicBezTo>
                <a:cubicBezTo>
                  <a:pt x="19385" y="17346"/>
                  <a:pt x="19385" y="17346"/>
                  <a:pt x="19385" y="17346"/>
                </a:cubicBezTo>
                <a:cubicBezTo>
                  <a:pt x="19662" y="16960"/>
                  <a:pt x="19662" y="16960"/>
                  <a:pt x="19662" y="16960"/>
                </a:cubicBezTo>
                <a:cubicBezTo>
                  <a:pt x="19938" y="16573"/>
                  <a:pt x="19938" y="16573"/>
                  <a:pt x="19938" y="16573"/>
                </a:cubicBezTo>
                <a:cubicBezTo>
                  <a:pt x="19218" y="15744"/>
                  <a:pt x="19218" y="15744"/>
                  <a:pt x="19218" y="15744"/>
                </a:cubicBezTo>
                <a:cubicBezTo>
                  <a:pt x="19440" y="15358"/>
                  <a:pt x="19662" y="14860"/>
                  <a:pt x="19883" y="14418"/>
                </a:cubicBezTo>
                <a:cubicBezTo>
                  <a:pt x="20935" y="14529"/>
                  <a:pt x="20935" y="14529"/>
                  <a:pt x="20935" y="14529"/>
                </a:cubicBezTo>
                <a:cubicBezTo>
                  <a:pt x="21102" y="14087"/>
                  <a:pt x="21102" y="14087"/>
                  <a:pt x="21102" y="14087"/>
                </a:cubicBezTo>
                <a:cubicBezTo>
                  <a:pt x="21212" y="13645"/>
                  <a:pt x="21212" y="13645"/>
                  <a:pt x="21212" y="13645"/>
                </a:cubicBezTo>
                <a:cubicBezTo>
                  <a:pt x="20271" y="13093"/>
                  <a:pt x="20271" y="13093"/>
                  <a:pt x="20271" y="13093"/>
                </a:cubicBezTo>
                <a:cubicBezTo>
                  <a:pt x="20382" y="12595"/>
                  <a:pt x="20492" y="12098"/>
                  <a:pt x="20548" y="11601"/>
                </a:cubicBezTo>
                <a:cubicBezTo>
                  <a:pt x="21600" y="11325"/>
                  <a:pt x="21600" y="11325"/>
                  <a:pt x="21600" y="11325"/>
                </a:cubicBezTo>
                <a:cubicBezTo>
                  <a:pt x="21600" y="10883"/>
                  <a:pt x="21600" y="10883"/>
                  <a:pt x="21600" y="10883"/>
                </a:cubicBezTo>
                <a:cubicBezTo>
                  <a:pt x="21600" y="10441"/>
                  <a:pt x="21600" y="10441"/>
                  <a:pt x="21600" y="10441"/>
                </a:cubicBezTo>
                <a:cubicBezTo>
                  <a:pt x="20548" y="10165"/>
                  <a:pt x="20548" y="10165"/>
                  <a:pt x="20548" y="10165"/>
                </a:cubicBezTo>
                <a:cubicBezTo>
                  <a:pt x="20492" y="9668"/>
                  <a:pt x="20437" y="9170"/>
                  <a:pt x="20326" y="8673"/>
                </a:cubicBezTo>
                <a:cubicBezTo>
                  <a:pt x="21268" y="8176"/>
                  <a:pt x="21268" y="8176"/>
                  <a:pt x="21268" y="8176"/>
                </a:cubicBezTo>
                <a:cubicBezTo>
                  <a:pt x="21157" y="7734"/>
                  <a:pt x="21157" y="7734"/>
                  <a:pt x="21157" y="7734"/>
                </a:cubicBezTo>
                <a:cubicBezTo>
                  <a:pt x="20991" y="7292"/>
                  <a:pt x="20991" y="7292"/>
                  <a:pt x="20991" y="7292"/>
                </a:cubicBezTo>
                <a:cubicBezTo>
                  <a:pt x="19938" y="7347"/>
                  <a:pt x="19938" y="7347"/>
                  <a:pt x="19938" y="7347"/>
                </a:cubicBezTo>
                <a:cubicBezTo>
                  <a:pt x="19717" y="6850"/>
                  <a:pt x="19551" y="6408"/>
                  <a:pt x="19274" y="5966"/>
                </a:cubicBezTo>
                <a:cubicBezTo>
                  <a:pt x="19994" y="5193"/>
                  <a:pt x="19994" y="5193"/>
                  <a:pt x="19994" y="5193"/>
                </a:cubicBezTo>
                <a:cubicBezTo>
                  <a:pt x="19772" y="4806"/>
                  <a:pt x="19772" y="4806"/>
                  <a:pt x="19772" y="4806"/>
                </a:cubicBezTo>
                <a:cubicBezTo>
                  <a:pt x="19495" y="4419"/>
                  <a:pt x="19495" y="4419"/>
                  <a:pt x="19495" y="4419"/>
                </a:cubicBezTo>
                <a:cubicBezTo>
                  <a:pt x="18498" y="4806"/>
                  <a:pt x="18498" y="4806"/>
                  <a:pt x="18498" y="4806"/>
                </a:cubicBezTo>
                <a:cubicBezTo>
                  <a:pt x="18332" y="4585"/>
                  <a:pt x="18166" y="4419"/>
                  <a:pt x="18000" y="4254"/>
                </a:cubicBezTo>
                <a:cubicBezTo>
                  <a:pt x="17834" y="4033"/>
                  <a:pt x="17668" y="3867"/>
                  <a:pt x="17502" y="3701"/>
                </a:cubicBezTo>
                <a:cubicBezTo>
                  <a:pt x="17945" y="2707"/>
                  <a:pt x="17945" y="2707"/>
                  <a:pt x="17945" y="2707"/>
                </a:cubicBezTo>
                <a:cubicBezTo>
                  <a:pt x="17612" y="2431"/>
                  <a:pt x="17612" y="2431"/>
                  <a:pt x="17612" y="2431"/>
                </a:cubicBezTo>
                <a:cubicBezTo>
                  <a:pt x="17225" y="2154"/>
                  <a:pt x="17225" y="2154"/>
                  <a:pt x="17225" y="2154"/>
                </a:cubicBezTo>
                <a:cubicBezTo>
                  <a:pt x="16394" y="2817"/>
                  <a:pt x="16394" y="2817"/>
                  <a:pt x="16394" y="2817"/>
                </a:cubicBezTo>
                <a:cubicBezTo>
                  <a:pt x="15951" y="2541"/>
                  <a:pt x="15508" y="2265"/>
                  <a:pt x="15065" y="2044"/>
                </a:cubicBezTo>
                <a:cubicBezTo>
                  <a:pt x="15231" y="994"/>
                  <a:pt x="15231" y="994"/>
                  <a:pt x="15231" y="994"/>
                </a:cubicBezTo>
                <a:cubicBezTo>
                  <a:pt x="14788" y="829"/>
                  <a:pt x="14788" y="829"/>
                  <a:pt x="14788" y="829"/>
                </a:cubicBezTo>
                <a:cubicBezTo>
                  <a:pt x="14400" y="608"/>
                  <a:pt x="14400" y="608"/>
                  <a:pt x="14400" y="608"/>
                </a:cubicBezTo>
                <a:cubicBezTo>
                  <a:pt x="13735" y="1547"/>
                  <a:pt x="13735" y="1547"/>
                  <a:pt x="13735" y="1547"/>
                </a:cubicBezTo>
                <a:cubicBezTo>
                  <a:pt x="13292" y="1381"/>
                  <a:pt x="12794" y="1271"/>
                  <a:pt x="12295" y="1160"/>
                </a:cubicBezTo>
                <a:cubicBezTo>
                  <a:pt x="12129" y="110"/>
                  <a:pt x="12129" y="110"/>
                  <a:pt x="12129" y="110"/>
                </a:cubicBezTo>
                <a:cubicBezTo>
                  <a:pt x="11686" y="55"/>
                  <a:pt x="11686" y="55"/>
                  <a:pt x="11686" y="55"/>
                </a:cubicBezTo>
                <a:cubicBezTo>
                  <a:pt x="11243" y="0"/>
                  <a:pt x="11243" y="0"/>
                  <a:pt x="11243" y="0"/>
                </a:cubicBezTo>
                <a:cubicBezTo>
                  <a:pt x="10855" y="1050"/>
                  <a:pt x="10855" y="1050"/>
                  <a:pt x="10855" y="1050"/>
                </a:cubicBezTo>
                <a:cubicBezTo>
                  <a:pt x="10357" y="1050"/>
                  <a:pt x="9858" y="1105"/>
                  <a:pt x="9360" y="1160"/>
                </a:cubicBezTo>
                <a:cubicBezTo>
                  <a:pt x="8917" y="166"/>
                  <a:pt x="8917" y="166"/>
                  <a:pt x="8917" y="166"/>
                </a:cubicBezTo>
                <a:cubicBezTo>
                  <a:pt x="8474" y="276"/>
                  <a:pt x="8474" y="276"/>
                  <a:pt x="8474" y="276"/>
                </a:cubicBezTo>
                <a:cubicBezTo>
                  <a:pt x="8031" y="387"/>
                  <a:pt x="8031" y="387"/>
                  <a:pt x="8031" y="387"/>
                </a:cubicBezTo>
                <a:cubicBezTo>
                  <a:pt x="7975" y="1436"/>
                  <a:pt x="7975" y="1436"/>
                  <a:pt x="7975" y="1436"/>
                </a:cubicBezTo>
                <a:cubicBezTo>
                  <a:pt x="7532" y="1602"/>
                  <a:pt x="7034" y="1768"/>
                  <a:pt x="6591" y="1989"/>
                </a:cubicBezTo>
                <a:cubicBezTo>
                  <a:pt x="5871" y="1215"/>
                  <a:pt x="5871" y="1215"/>
                  <a:pt x="5871" y="1215"/>
                </a:cubicBezTo>
                <a:cubicBezTo>
                  <a:pt x="5428" y="1436"/>
                  <a:pt x="5428" y="1436"/>
                  <a:pt x="5428" y="1436"/>
                </a:cubicBezTo>
                <a:cubicBezTo>
                  <a:pt x="5040" y="1657"/>
                  <a:pt x="5040" y="1657"/>
                  <a:pt x="5040" y="1657"/>
                </a:cubicBezTo>
                <a:cubicBezTo>
                  <a:pt x="5372" y="2707"/>
                  <a:pt x="5372" y="2707"/>
                  <a:pt x="5372" y="2707"/>
                </a:cubicBezTo>
                <a:cubicBezTo>
                  <a:pt x="4929" y="2983"/>
                  <a:pt x="4542" y="3259"/>
                  <a:pt x="4209" y="3591"/>
                </a:cubicBezTo>
                <a:close/>
                <a:moveTo>
                  <a:pt x="4486" y="16518"/>
                </a:moveTo>
                <a:cubicBezTo>
                  <a:pt x="3102" y="15026"/>
                  <a:pt x="2382" y="13148"/>
                  <a:pt x="2271" y="11214"/>
                </a:cubicBezTo>
                <a:cubicBezTo>
                  <a:pt x="5095" y="11380"/>
                  <a:pt x="5095" y="11380"/>
                  <a:pt x="5095" y="11380"/>
                </a:cubicBezTo>
                <a:cubicBezTo>
                  <a:pt x="7754" y="11491"/>
                  <a:pt x="9858" y="13755"/>
                  <a:pt x="9692" y="16407"/>
                </a:cubicBezTo>
                <a:cubicBezTo>
                  <a:pt x="9582" y="19225"/>
                  <a:pt x="9582" y="19225"/>
                  <a:pt x="9582" y="19225"/>
                </a:cubicBezTo>
                <a:cubicBezTo>
                  <a:pt x="7698" y="18948"/>
                  <a:pt x="5871" y="18064"/>
                  <a:pt x="4486" y="16518"/>
                </a:cubicBezTo>
                <a:close/>
                <a:moveTo>
                  <a:pt x="9858" y="9833"/>
                </a:moveTo>
                <a:cubicBezTo>
                  <a:pt x="10412" y="9336"/>
                  <a:pt x="11243" y="9336"/>
                  <a:pt x="11797" y="9888"/>
                </a:cubicBezTo>
                <a:cubicBezTo>
                  <a:pt x="12295" y="10441"/>
                  <a:pt x="12240" y="11325"/>
                  <a:pt x="11686" y="11822"/>
                </a:cubicBezTo>
                <a:cubicBezTo>
                  <a:pt x="11132" y="12319"/>
                  <a:pt x="10246" y="12319"/>
                  <a:pt x="9748" y="11767"/>
                </a:cubicBezTo>
                <a:cubicBezTo>
                  <a:pt x="9249" y="11214"/>
                  <a:pt x="9305" y="10330"/>
                  <a:pt x="9858" y="9833"/>
                </a:cubicBezTo>
                <a:close/>
                <a:moveTo>
                  <a:pt x="19163" y="11988"/>
                </a:moveTo>
                <a:cubicBezTo>
                  <a:pt x="18886" y="13866"/>
                  <a:pt x="18000" y="15689"/>
                  <a:pt x="16505" y="17070"/>
                </a:cubicBezTo>
                <a:cubicBezTo>
                  <a:pt x="14954" y="18451"/>
                  <a:pt x="13071" y="19169"/>
                  <a:pt x="11188" y="19280"/>
                </a:cubicBezTo>
                <a:cubicBezTo>
                  <a:pt x="11298" y="16462"/>
                  <a:pt x="11298" y="16462"/>
                  <a:pt x="11298" y="16462"/>
                </a:cubicBezTo>
                <a:cubicBezTo>
                  <a:pt x="11409" y="13811"/>
                  <a:pt x="13680" y="11767"/>
                  <a:pt x="16338" y="11877"/>
                </a:cubicBezTo>
                <a:lnTo>
                  <a:pt x="19163" y="11988"/>
                </a:lnTo>
                <a:close/>
                <a:moveTo>
                  <a:pt x="17003" y="5138"/>
                </a:moveTo>
                <a:cubicBezTo>
                  <a:pt x="18443" y="6629"/>
                  <a:pt x="19163" y="8507"/>
                  <a:pt x="19218" y="10441"/>
                </a:cubicBezTo>
                <a:cubicBezTo>
                  <a:pt x="16394" y="10275"/>
                  <a:pt x="16394" y="10275"/>
                  <a:pt x="16394" y="10275"/>
                </a:cubicBezTo>
                <a:cubicBezTo>
                  <a:pt x="13735" y="10165"/>
                  <a:pt x="11686" y="7900"/>
                  <a:pt x="11797" y="5248"/>
                </a:cubicBezTo>
                <a:cubicBezTo>
                  <a:pt x="11963" y="2431"/>
                  <a:pt x="11963" y="2431"/>
                  <a:pt x="11963" y="2431"/>
                </a:cubicBezTo>
                <a:cubicBezTo>
                  <a:pt x="13846" y="2707"/>
                  <a:pt x="15618" y="3591"/>
                  <a:pt x="17003" y="5138"/>
                </a:cubicBezTo>
                <a:close/>
                <a:moveTo>
                  <a:pt x="10357" y="2375"/>
                </a:moveTo>
                <a:cubicBezTo>
                  <a:pt x="10246" y="5193"/>
                  <a:pt x="10246" y="5193"/>
                  <a:pt x="10246" y="5193"/>
                </a:cubicBezTo>
                <a:cubicBezTo>
                  <a:pt x="10080" y="7845"/>
                  <a:pt x="7865" y="9888"/>
                  <a:pt x="5206" y="9778"/>
                </a:cubicBezTo>
                <a:cubicBezTo>
                  <a:pt x="2382" y="9668"/>
                  <a:pt x="2382" y="9668"/>
                  <a:pt x="2382" y="9668"/>
                </a:cubicBezTo>
                <a:cubicBezTo>
                  <a:pt x="2603" y="7789"/>
                  <a:pt x="3545" y="5966"/>
                  <a:pt x="5040" y="4585"/>
                </a:cubicBezTo>
                <a:cubicBezTo>
                  <a:pt x="6535" y="3204"/>
                  <a:pt x="8474" y="2486"/>
                  <a:pt x="10357" y="2375"/>
                </a:cubicBezTo>
                <a:close/>
              </a:path>
            </a:pathLst>
          </a:custGeom>
          <a:solidFill>
            <a:srgbClr val="558ED5"/>
          </a:solidFill>
          <a:ln w="12700">
            <a:miter lim="400000"/>
          </a:ln>
        </p:spPr>
        <p:txBody>
          <a:bodyPr tIns="34290" bIns="34290"/>
          <a:lstStyle/>
          <a:p>
            <a:pPr marL="0" marR="0" lvl="0" indent="0" algn="l" defTabSz="457200" rtl="0" eaLnBrk="1" fontAlgn="auto" latinLnBrk="0" hangingPunct="1">
              <a:lnSpc>
                <a:spcPct val="100000"/>
              </a:lnSpc>
              <a:spcBef>
                <a:spcPts val="0"/>
              </a:spcBef>
              <a:spcAft>
                <a:spcPts val="0"/>
              </a:spcAft>
              <a:buClrTx/>
              <a:buSzTx/>
              <a:buFontTx/>
              <a:buNone/>
              <a:defRPr/>
            </a:pPr>
            <a:endParaRPr kumimoji="0" sz="675" b="0" i="0" u="none" strike="noStrike" kern="1200" cap="none" spc="0" normalizeH="0" baseline="0" noProof="0">
              <a:ln>
                <a:noFill/>
              </a:ln>
              <a:solidFill>
                <a:srgbClr val="222222"/>
              </a:solidFill>
              <a:effectLst/>
              <a:uLnTx/>
              <a:uFillTx/>
              <a:latin typeface="Arial" panose="020B0604020202020204"/>
              <a:ea typeface="微软雅黑" panose="020B0503020204020204" charset="-122"/>
              <a:cs typeface="微软雅黑" panose="020B0503020204020204" charset="-122"/>
              <a:sym typeface="Arial" panose="020B0604020202020204" pitchFamily="34" charset="0"/>
            </a:endParaRPr>
          </a:p>
        </p:txBody>
      </p:sp>
      <p:sp>
        <p:nvSpPr>
          <p:cNvPr id="99" name="文本框 98"/>
          <p:cNvSpPr txBox="1"/>
          <p:nvPr>
            <p:custDataLst>
              <p:tags r:id="rId13"/>
            </p:custDataLst>
          </p:nvPr>
        </p:nvSpPr>
        <p:spPr>
          <a:xfrm>
            <a:off x="856022" y="3287239"/>
            <a:ext cx="2200801" cy="1444500"/>
          </a:xfrm>
          <a:prstGeom prst="rect">
            <a:avLst/>
          </a:prstGeom>
          <a:noFill/>
        </p:spPr>
        <p:txBody>
          <a:bodyPr wrap="square" tIns="0" rtlCol="0" anchor="t" anchorCtr="0">
            <a:normAutofit/>
          </a:bodyPr>
          <a:lstStyle>
            <a:defPPr>
              <a:defRPr lang="en-US"/>
            </a:defPPr>
            <a:lvl1pPr algn="r">
              <a:lnSpc>
                <a:spcPct val="130000"/>
              </a:lnSpc>
              <a:defRPr kumimoji="1" sz="1400">
                <a:solidFill>
                  <a:srgbClr val="222222">
                    <a:lumMod val="75000"/>
                    <a:lumOff val="25000"/>
                  </a:srgbClr>
                </a:solidFill>
                <a:latin typeface="微软雅黑" panose="020B0503020204020204" charset="-122"/>
              </a:defRPr>
            </a:lvl1pPr>
          </a:lstStyle>
          <a:p>
            <a:pPr lvl="0" algn="l" defTabSz="457200">
              <a:defRPr/>
            </a:pPr>
            <a:r>
              <a:rPr lang="zh-CN" altLang="en-US" sz="105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动作级编程语言以机器人的运动描述为主，通常一条指令对应机器人的一个动作，表示从机器人从一个位姿运动到另一个位姿，又分关节级编程与末端执行器级编程。</a:t>
            </a:r>
            <a:endParaRPr lang="zh-CN" altLang="en-US" sz="1050" spc="150" dirty="0">
              <a:solidFill>
                <a:srgbClr val="222222">
                  <a:lumMod val="90000"/>
                  <a:lumOff val="10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0" name="矩形 99"/>
          <p:cNvSpPr/>
          <p:nvPr>
            <p:custDataLst>
              <p:tags r:id="rId14"/>
            </p:custDataLst>
          </p:nvPr>
        </p:nvSpPr>
        <p:spPr>
          <a:xfrm>
            <a:off x="1352264" y="754191"/>
            <a:ext cx="1415002" cy="322396"/>
          </a:xfrm>
          <a:prstGeom prst="rect">
            <a:avLst/>
          </a:prstGeom>
        </p:spPr>
        <p:txBody>
          <a:bodyPr wrap="square" bIns="0" anchor="ctr" anchorCtr="0">
            <a:noAutofit/>
          </a:bodyPr>
          <a:lstStyle/>
          <a:p>
            <a:pPr lvl="0" algn="ctr" defTabSz="457200">
              <a:lnSpc>
                <a:spcPct val="120000"/>
              </a:lnSpc>
              <a:defRPr/>
            </a:pPr>
            <a:r>
              <a:rPr lang="zh-CN" altLang="en-US" sz="2000" b="1" spc="3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动作级编程语言</a:t>
            </a:r>
            <a:endParaRPr kumimoji="0" lang="zh-CN" altLang="en-US" sz="2000" b="1" i="0" u="none" strike="noStrike" kern="1200" cap="none" spc="300" normalizeH="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1" name="文本框 100"/>
          <p:cNvSpPr txBox="1"/>
          <p:nvPr>
            <p:custDataLst>
              <p:tags r:id="rId15"/>
            </p:custDataLst>
          </p:nvPr>
        </p:nvSpPr>
        <p:spPr>
          <a:xfrm>
            <a:off x="3470735" y="3287239"/>
            <a:ext cx="2141451" cy="1444500"/>
          </a:xfrm>
          <a:prstGeom prst="rect">
            <a:avLst/>
          </a:prstGeom>
          <a:noFill/>
        </p:spPr>
        <p:txBody>
          <a:bodyPr wrap="square" tIns="0" rtlCol="0" anchor="t" anchorCtr="0">
            <a:normAutofit/>
          </a:bodyPr>
          <a:lstStyle>
            <a:defPPr>
              <a:defRPr lang="en-US"/>
            </a:defPPr>
            <a:lvl1pPr algn="r">
              <a:lnSpc>
                <a:spcPct val="130000"/>
              </a:lnSpc>
              <a:defRPr kumimoji="1" sz="1400">
                <a:solidFill>
                  <a:srgbClr val="222222">
                    <a:lumMod val="75000"/>
                    <a:lumOff val="25000"/>
                  </a:srgbClr>
                </a:solidFill>
                <a:latin typeface="微软雅黑" panose="020B0503020204020204" charset="-122"/>
              </a:defRPr>
            </a:lvl1pPr>
          </a:lstStyle>
          <a:p>
            <a:pPr lvl="0" algn="l" defTabSz="457200">
              <a:defRPr/>
            </a:pPr>
            <a:r>
              <a:rPr lang="zh-CN" altLang="zh-CN" dirty="0"/>
              <a:t>对象级编程语言将作业及作业物体本身作为对象进行描述，采用一种类似于面向对象的编程思想进行编程。</a:t>
            </a:r>
            <a:endParaRPr lang="zh-CN" altLang="en-US" sz="1050" spc="150" dirty="0">
              <a:solidFill>
                <a:srgbClr val="222222">
                  <a:lumMod val="90000"/>
                  <a:lumOff val="10000"/>
                </a:srgb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2" name="矩形 101"/>
          <p:cNvSpPr/>
          <p:nvPr>
            <p:custDataLst>
              <p:tags r:id="rId16"/>
            </p:custDataLst>
          </p:nvPr>
        </p:nvSpPr>
        <p:spPr>
          <a:xfrm>
            <a:off x="3951000" y="751697"/>
            <a:ext cx="1477958" cy="322396"/>
          </a:xfrm>
          <a:prstGeom prst="rect">
            <a:avLst/>
          </a:prstGeom>
        </p:spPr>
        <p:txBody>
          <a:bodyPr wrap="square" bIns="0" anchor="ctr" anchorCtr="0">
            <a:noAutofit/>
          </a:bodyPr>
          <a:lstStyle/>
          <a:p>
            <a:pPr lvl="0" algn="ctr" defTabSz="457200">
              <a:lnSpc>
                <a:spcPct val="120000"/>
              </a:lnSpc>
              <a:defRPr/>
            </a:pPr>
            <a:r>
              <a:rPr lang="zh-CN" altLang="en-US" sz="2000" b="1" spc="3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对象级编程语言</a:t>
            </a:r>
            <a:endParaRPr kumimoji="0" lang="zh-CN" altLang="en-US" sz="2000" b="1" i="0" u="none" strike="noStrike" kern="1200" cap="none" spc="300" normalizeH="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3" name="文本框 102"/>
          <p:cNvSpPr txBox="1"/>
          <p:nvPr>
            <p:custDataLst>
              <p:tags r:id="rId17"/>
            </p:custDataLst>
          </p:nvPr>
        </p:nvSpPr>
        <p:spPr>
          <a:xfrm>
            <a:off x="6165474" y="3177794"/>
            <a:ext cx="2294957" cy="1444500"/>
          </a:xfrm>
          <a:prstGeom prst="rect">
            <a:avLst/>
          </a:prstGeom>
          <a:noFill/>
        </p:spPr>
        <p:txBody>
          <a:bodyPr wrap="square" tIns="0" rtlCol="0" anchor="t" anchorCtr="0">
            <a:noAutofit/>
          </a:bodyPr>
          <a:lstStyle>
            <a:defPPr>
              <a:defRPr lang="en-US"/>
            </a:defPPr>
            <a:lvl1pPr algn="r">
              <a:lnSpc>
                <a:spcPct val="130000"/>
              </a:lnSpc>
              <a:defRPr kumimoji="1" sz="1400">
                <a:solidFill>
                  <a:srgbClr val="222222">
                    <a:lumMod val="75000"/>
                    <a:lumOff val="25000"/>
                  </a:srgbClr>
                </a:solidFill>
                <a:latin typeface="微软雅黑" panose="020B0503020204020204" charset="-122"/>
              </a:defRPr>
            </a:lvl1pPr>
          </a:lstStyle>
          <a:p>
            <a:pPr lvl="0" algn="l" defTabSz="457200">
              <a:defRPr/>
            </a:pPr>
            <a:r>
              <a:rPr lang="zh-CN" altLang="en-US" sz="800" spc="150" dirty="0">
                <a:solidFill>
                  <a:srgbClr val="222222">
                    <a:lumMod val="90000"/>
                    <a:lumOff val="10000"/>
                  </a:srgbClr>
                </a:solidFill>
                <a:ea typeface="微软雅黑" panose="020B0503020204020204" charset="-122"/>
                <a:cs typeface="微软雅黑" panose="020B0503020204020204" charset="-122"/>
                <a:sym typeface="Arial" panose="020B0604020202020204" pitchFamily="34" charset="0"/>
              </a:rPr>
              <a:t>任务级编程语言不需要用机器人的动作来描述作业任务，也不需要描述机器人对象的中间状态过程，只需要按照某种规则描述机器人对象的初始状态和最终目标状态，机器人语言系统即可利用已有的环境信息和知识库、数据库自动进行推理、计算，从而自动生成机器人详细的动作、顺序和数据。</a:t>
            </a:r>
          </a:p>
        </p:txBody>
      </p:sp>
      <p:sp>
        <p:nvSpPr>
          <p:cNvPr id="104" name="矩形 103"/>
          <p:cNvSpPr/>
          <p:nvPr>
            <p:custDataLst>
              <p:tags r:id="rId18"/>
            </p:custDataLst>
          </p:nvPr>
        </p:nvSpPr>
        <p:spPr>
          <a:xfrm>
            <a:off x="6464655" y="739093"/>
            <a:ext cx="1602012" cy="322396"/>
          </a:xfrm>
          <a:prstGeom prst="rect">
            <a:avLst/>
          </a:prstGeom>
        </p:spPr>
        <p:txBody>
          <a:bodyPr wrap="square" bIns="0" anchor="ctr" anchorCtr="0">
            <a:noAutofit/>
          </a:bodyPr>
          <a:lstStyle/>
          <a:p>
            <a:pPr lvl="0" algn="ctr" defTabSz="457200">
              <a:lnSpc>
                <a:spcPct val="120000"/>
              </a:lnSpc>
              <a:defRPr/>
            </a:pPr>
            <a:r>
              <a:rPr lang="zh-CN" altLang="en-US" sz="2000" b="1" spc="300" dirty="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任务级编程语言</a:t>
            </a:r>
            <a:endParaRPr kumimoji="0" lang="zh-CN" altLang="en-US" sz="2000" b="1" i="0" u="none" strike="noStrike" kern="1200" cap="none" spc="300" normalizeH="0" noProof="0" dirty="0">
              <a:ln>
                <a:noFill/>
              </a:ln>
              <a:solidFill>
                <a:schemeClr val="tx1">
                  <a:lumMod val="65000"/>
                  <a:lumOff val="35000"/>
                </a:schemeClr>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41119" y="2019300"/>
            <a:ext cx="3849370" cy="2552365"/>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在编程和作业过程中，编程系统应便于人与机器人之间进行信息交换，方便机器人出现故障时及时处理，确保安全。而且，随着机器人动作和作业环境的复杂程度的增加，编程系统需要提供功能强大的人机接口。</a:t>
            </a:r>
          </a:p>
          <a:p>
            <a:pPr>
              <a:lnSpc>
                <a:spcPct val="150000"/>
              </a:lnSpc>
            </a:pPr>
            <a:r>
              <a:rPr lang="zh-CN" altLang="en-US" sz="1200" dirty="0">
                <a:latin typeface="Arial" panose="020B0604020202020204" pitchFamily="34" charset="0"/>
                <a:ea typeface="微软雅黑" panose="020B0503020204020204" charset="-122"/>
                <a:sym typeface="+mn-ea"/>
              </a:rPr>
              <a:t>随着计算机编程语言以及人工智能的发展，机器人编程语言也有了与人工智能编程语言相结合的趋势。例如在支持人工智能的通用编程语言，如</a:t>
            </a:r>
            <a:r>
              <a:rPr lang="en-US" altLang="zh-CN" sz="1200" dirty="0">
                <a:latin typeface="Arial" panose="020B0604020202020204" pitchFamily="34" charset="0"/>
                <a:ea typeface="微软雅黑" panose="020B0503020204020204" charset="-122"/>
                <a:sym typeface="+mn-ea"/>
              </a:rPr>
              <a:t>Java</a:t>
            </a:r>
            <a:r>
              <a:rPr lang="zh-CN" altLang="en-US" sz="1200" dirty="0">
                <a:latin typeface="Arial" panose="020B0604020202020204" pitchFamily="34" charset="0"/>
                <a:ea typeface="微软雅黑" panose="020B0503020204020204" charset="-122"/>
                <a:sym typeface="+mn-ea"/>
              </a:rPr>
              <a:t>、</a:t>
            </a:r>
            <a:r>
              <a:rPr lang="en-US" altLang="zh-CN" sz="1200" dirty="0">
                <a:latin typeface="Arial" panose="020B0604020202020204" pitchFamily="34" charset="0"/>
                <a:ea typeface="微软雅黑" panose="020B0503020204020204" charset="-122"/>
                <a:sym typeface="+mn-ea"/>
              </a:rPr>
              <a:t>python</a:t>
            </a:r>
            <a:r>
              <a:rPr lang="zh-CN" altLang="en-US" sz="1200" dirty="0">
                <a:latin typeface="Arial" panose="020B0604020202020204" pitchFamily="34" charset="0"/>
                <a:ea typeface="微软雅黑" panose="020B0503020204020204" charset="-122"/>
                <a:sym typeface="+mn-ea"/>
              </a:rPr>
              <a:t>、</a:t>
            </a:r>
            <a:r>
              <a:rPr lang="en-US" altLang="zh-CN" sz="1200" dirty="0" err="1">
                <a:latin typeface="Arial" panose="020B0604020202020204" pitchFamily="34" charset="0"/>
                <a:ea typeface="微软雅黑" panose="020B0503020204020204" charset="-122"/>
                <a:sym typeface="+mn-ea"/>
              </a:rPr>
              <a:t>lua</a:t>
            </a:r>
            <a:r>
              <a:rPr lang="zh-CN" altLang="en-US" sz="1200" dirty="0">
                <a:latin typeface="Arial" panose="020B0604020202020204" pitchFamily="34" charset="0"/>
                <a:ea typeface="微软雅黑" panose="020B0503020204020204" charset="-122"/>
                <a:sym typeface="+mn-ea"/>
              </a:rPr>
              <a:t>等脚本语言基础上，开发出机器人的编程语言，使得机器人编程系统更加强大、更加方便开发。</a:t>
            </a:r>
          </a:p>
        </p:txBody>
      </p:sp>
      <p:sp>
        <p:nvSpPr>
          <p:cNvPr id="7" name="文本框 6"/>
          <p:cNvSpPr txBox="1"/>
          <p:nvPr/>
        </p:nvSpPr>
        <p:spPr>
          <a:xfrm>
            <a:off x="4245382" y="1496080"/>
            <a:ext cx="3997146"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机器人编程语言的</a:t>
            </a:r>
            <a:r>
              <a:rPr lang="zh-CN" altLang="en-US" sz="2800" b="1" dirty="0">
                <a:latin typeface="Arial" panose="020B0604020202020204" pitchFamily="34" charset="0"/>
                <a:ea typeface="微软雅黑" panose="020B0503020204020204" charset="-122"/>
                <a:sym typeface="+mn-ea"/>
              </a:rPr>
              <a:t>要求</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04</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2063480491"/>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723501" y="150451"/>
            <a:ext cx="4608954" cy="461665"/>
          </a:xfrm>
          <a:prstGeom prst="rect">
            <a:avLst/>
          </a:prstGeom>
        </p:spPr>
        <p:txBody>
          <a:bodyPr wrap="none">
            <a:spAutoFit/>
          </a:bodyPr>
          <a:lstStyle/>
          <a:p>
            <a:r>
              <a:rPr lang="zh-CN" altLang="en-US" sz="2400" b="1" dirty="0" smtClean="0"/>
              <a:t>设计机器人编程语言的基本要求</a:t>
            </a:r>
            <a:endParaRPr lang="zh-CN" altLang="en-US" sz="2400" b="1" dirty="0"/>
          </a:p>
        </p:txBody>
      </p:sp>
      <p:sp>
        <p:nvSpPr>
          <p:cNvPr id="2" name="矩形 1"/>
          <p:cNvSpPr/>
          <p:nvPr/>
        </p:nvSpPr>
        <p:spPr>
          <a:xfrm>
            <a:off x="2411760" y="1779662"/>
            <a:ext cx="4572000" cy="2585323"/>
          </a:xfrm>
          <a:prstGeom prst="rect">
            <a:avLst/>
          </a:prstGeom>
        </p:spPr>
        <p:txBody>
          <a:bodyPr>
            <a:spAutoFit/>
          </a:bodyPr>
          <a:lstStyle/>
          <a:p>
            <a:pPr marL="285750" indent="-285750">
              <a:buFont typeface="Wingdings" panose="05000000000000000000" pitchFamily="2" charset="2"/>
              <a:buChar char="Ø"/>
            </a:pPr>
            <a:r>
              <a:rPr lang="zh-CN" altLang="en-US" dirty="0" smtClean="0"/>
              <a:t>1</a:t>
            </a:r>
            <a:r>
              <a:rPr lang="zh-CN" altLang="en-US" dirty="0"/>
              <a:t>）支持多种坐标系编程</a:t>
            </a:r>
          </a:p>
          <a:p>
            <a:pPr marL="285750" indent="-285750">
              <a:buFont typeface="Wingdings" panose="05000000000000000000" pitchFamily="2" charset="2"/>
              <a:buChar char="Ø"/>
            </a:pPr>
            <a:r>
              <a:rPr lang="zh-CN" altLang="en-US" dirty="0"/>
              <a:t>2）支持基本的程序设计常用结构</a:t>
            </a:r>
          </a:p>
          <a:p>
            <a:pPr marL="285750" indent="-285750">
              <a:buFont typeface="Wingdings" panose="05000000000000000000" pitchFamily="2" charset="2"/>
              <a:buChar char="Ø"/>
            </a:pPr>
            <a:r>
              <a:rPr lang="zh-CN" altLang="en-US" dirty="0"/>
              <a:t>3）支持机器人作业描述</a:t>
            </a:r>
          </a:p>
          <a:p>
            <a:pPr marL="285750" indent="-285750">
              <a:buFont typeface="Wingdings" panose="05000000000000000000" pitchFamily="2" charset="2"/>
              <a:buChar char="Ø"/>
            </a:pPr>
            <a:r>
              <a:rPr lang="zh-CN" altLang="en-US" dirty="0"/>
              <a:t>4）支持多种运动规划</a:t>
            </a:r>
          </a:p>
          <a:p>
            <a:pPr marL="285750" indent="-285750">
              <a:buFont typeface="Wingdings" panose="05000000000000000000" pitchFamily="2" charset="2"/>
              <a:buChar char="Ø"/>
            </a:pPr>
            <a:r>
              <a:rPr lang="zh-CN" altLang="en-US" dirty="0"/>
              <a:t>5）具有良好的编程环境</a:t>
            </a:r>
          </a:p>
          <a:p>
            <a:r>
              <a:rPr lang="en-US" altLang="zh-CN" dirty="0" smtClean="0"/>
              <a:t>	</a:t>
            </a:r>
            <a:r>
              <a:rPr lang="zh-CN" altLang="en-US" dirty="0" smtClean="0"/>
              <a:t>1</a:t>
            </a:r>
            <a:r>
              <a:rPr lang="zh-CN" altLang="en-US" dirty="0"/>
              <a:t>）在线修改和重启功能</a:t>
            </a:r>
          </a:p>
          <a:p>
            <a:r>
              <a:rPr lang="en-US" altLang="zh-CN" dirty="0" smtClean="0"/>
              <a:t>	</a:t>
            </a:r>
            <a:r>
              <a:rPr lang="zh-CN" altLang="en-US" dirty="0" smtClean="0"/>
              <a:t>2</a:t>
            </a:r>
            <a:r>
              <a:rPr lang="zh-CN" altLang="en-US" dirty="0"/>
              <a:t>）传感器输出和程序追踪功能</a:t>
            </a:r>
          </a:p>
          <a:p>
            <a:r>
              <a:rPr lang="en-US" altLang="zh-CN" dirty="0" smtClean="0"/>
              <a:t>	</a:t>
            </a:r>
            <a:r>
              <a:rPr lang="zh-CN" altLang="en-US" dirty="0" smtClean="0"/>
              <a:t>3</a:t>
            </a:r>
            <a:r>
              <a:rPr lang="zh-CN" altLang="en-US" dirty="0"/>
              <a:t>） 仿真功能</a:t>
            </a:r>
          </a:p>
          <a:p>
            <a:r>
              <a:rPr lang="en-US" altLang="zh-CN" dirty="0" smtClean="0"/>
              <a:t>	</a:t>
            </a:r>
            <a:r>
              <a:rPr lang="zh-CN" altLang="en-US" dirty="0" smtClean="0"/>
              <a:t>4</a:t>
            </a:r>
            <a:r>
              <a:rPr lang="zh-CN" altLang="en-US" dirty="0"/>
              <a:t>）人机接口和综合传感信号</a:t>
            </a:r>
          </a:p>
        </p:txBody>
      </p:sp>
      <p:sp>
        <p:nvSpPr>
          <p:cNvPr id="6" name="矩形 5"/>
          <p:cNvSpPr/>
          <p:nvPr/>
        </p:nvSpPr>
        <p:spPr>
          <a:xfrm>
            <a:off x="2389946" y="1130634"/>
            <a:ext cx="4570482" cy="369332"/>
          </a:xfrm>
          <a:prstGeom prst="rect">
            <a:avLst/>
          </a:prstGeom>
        </p:spPr>
        <p:txBody>
          <a:bodyPr wrap="none">
            <a:spAutoFit/>
          </a:bodyPr>
          <a:lstStyle/>
          <a:p>
            <a:r>
              <a:rPr lang="zh-CN" altLang="en-US" dirty="0"/>
              <a:t>先进的机器人编程语言需要达到如下要求：</a:t>
            </a:r>
          </a:p>
        </p:txBody>
      </p:sp>
      <p:sp>
        <p:nvSpPr>
          <p:cNvPr id="7" name="圆角矩形 6"/>
          <p:cNvSpPr/>
          <p:nvPr/>
        </p:nvSpPr>
        <p:spPr>
          <a:xfrm>
            <a:off x="1619672" y="1635646"/>
            <a:ext cx="5760640" cy="30243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492328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21754" y="2427734"/>
            <a:ext cx="3849370" cy="1167371"/>
          </a:xfrm>
          <a:prstGeom prst="rect">
            <a:avLst/>
          </a:prstGeom>
        </p:spPr>
        <p:txBody>
          <a:bodyPr wrap="square">
            <a:spAutoFit/>
          </a:bodyPr>
          <a:lstStyle/>
          <a:p>
            <a:pPr>
              <a:lnSpc>
                <a:spcPct val="150000"/>
              </a:lnSpc>
            </a:pPr>
            <a:r>
              <a:rPr lang="zh-CN" altLang="en-US" sz="1200" dirty="0">
                <a:latin typeface="Arial" panose="020B0604020202020204" pitchFamily="34" charset="0"/>
                <a:ea typeface="微软雅黑" panose="020B0503020204020204" charset="-122"/>
                <a:sym typeface="+mn-ea"/>
              </a:rPr>
              <a:t>机器人语言解析器的目的是为了把采用机器人语言编写的程序翻译成目标可执行代码，其处理过程按顺序可以划分为：分词处理、语法分析、语义分析、目标代码生成、目标代码执行等流程。</a:t>
            </a:r>
          </a:p>
        </p:txBody>
      </p:sp>
      <p:sp>
        <p:nvSpPr>
          <p:cNvPr id="7" name="文本框 6"/>
          <p:cNvSpPr txBox="1"/>
          <p:nvPr/>
        </p:nvSpPr>
        <p:spPr>
          <a:xfrm>
            <a:off x="4251248" y="1903010"/>
            <a:ext cx="3997146" cy="523220"/>
          </a:xfrm>
          <a:prstGeom prst="rect">
            <a:avLst/>
          </a:prstGeom>
          <a:noFill/>
        </p:spPr>
        <p:txBody>
          <a:bodyPr wrap="square" rtlCol="0" anchor="t">
            <a:spAutoFit/>
          </a:bodyPr>
          <a:lstStyle/>
          <a:p>
            <a:r>
              <a:rPr lang="zh-CN" altLang="en-US" sz="2800" b="1" dirty="0">
                <a:latin typeface="Arial" panose="020B0604020202020204" pitchFamily="34" charset="0"/>
                <a:ea typeface="微软雅黑" panose="020B0503020204020204" charset="-122"/>
                <a:sym typeface="+mn-ea"/>
              </a:rPr>
              <a:t>机器人语言解析器原理</a:t>
            </a:r>
            <a:endParaRPr lang="zh-CN" altLang="en-US" sz="2400" b="1" dirty="0">
              <a:solidFill>
                <a:schemeClr val="tx1"/>
              </a:solidFill>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05</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316937410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275856" y="165869"/>
            <a:ext cx="3262432" cy="461665"/>
          </a:xfrm>
          <a:prstGeom prst="rect">
            <a:avLst/>
          </a:prstGeom>
        </p:spPr>
        <p:txBody>
          <a:bodyPr wrap="none">
            <a:spAutoFit/>
          </a:bodyPr>
          <a:lstStyle/>
          <a:p>
            <a:r>
              <a:rPr lang="zh-CN" altLang="en-US" sz="2400" b="1" dirty="0"/>
              <a:t>机器人语言解析器原理</a:t>
            </a:r>
          </a:p>
        </p:txBody>
      </p:sp>
      <p:graphicFrame>
        <p:nvGraphicFramePr>
          <p:cNvPr id="8" name="对象 7"/>
          <p:cNvGraphicFramePr>
            <a:graphicFrameLocks noChangeAspect="1"/>
          </p:cNvGraphicFramePr>
          <p:nvPr>
            <p:extLst>
              <p:ext uri="{D42A27DB-BD31-4B8C-83A1-F6EECF244321}">
                <p14:modId xmlns:p14="http://schemas.microsoft.com/office/powerpoint/2010/main" val="4195645711"/>
              </p:ext>
            </p:extLst>
          </p:nvPr>
        </p:nvGraphicFramePr>
        <p:xfrm>
          <a:off x="2699792" y="794856"/>
          <a:ext cx="3592961" cy="4334009"/>
        </p:xfrm>
        <a:graphic>
          <a:graphicData uri="http://schemas.openxmlformats.org/presentationml/2006/ole">
            <mc:AlternateContent xmlns:mc="http://schemas.openxmlformats.org/markup-compatibility/2006">
              <mc:Choice xmlns:v="urn:schemas-microsoft-com:vml" Requires="v">
                <p:oleObj spid="_x0000_s11282" name="Visio" r:id="rId4" imgW="4352672" imgH="5247903" progId="Visio.Drawing.15">
                  <p:embed/>
                </p:oleObj>
              </mc:Choice>
              <mc:Fallback>
                <p:oleObj name="Visio" r:id="rId4" imgW="4352672" imgH="5247903"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99792" y="794856"/>
                        <a:ext cx="3592961" cy="4334009"/>
                      </a:xfrm>
                      <a:prstGeom prst="rect">
                        <a:avLst/>
                      </a:prstGeom>
                      <a:noFill/>
                    </p:spPr>
                  </p:pic>
                </p:oleObj>
              </mc:Fallback>
            </mc:AlternateContent>
          </a:graphicData>
        </a:graphic>
      </p:graphicFrame>
    </p:spTree>
    <p:extLst>
      <p:ext uri="{BB962C8B-B14F-4D97-AF65-F5344CB8AC3E}">
        <p14:creationId xmlns:p14="http://schemas.microsoft.com/office/powerpoint/2010/main" val="291565219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39552" y="987574"/>
            <a:ext cx="7899278" cy="3570294"/>
          </a:xfrm>
          <a:prstGeom prst="rect">
            <a:avLst/>
          </a:prstGeom>
        </p:spPr>
      </p:pic>
    </p:spTree>
    <p:extLst>
      <p:ext uri="{BB962C8B-B14F-4D97-AF65-F5344CB8AC3E}">
        <p14:creationId xmlns:p14="http://schemas.microsoft.com/office/powerpoint/2010/main" val="10015938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9872" y="555526"/>
            <a:ext cx="249299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机器人语言指令集设计</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810722627"/>
              </p:ext>
            </p:extLst>
          </p:nvPr>
        </p:nvGraphicFramePr>
        <p:xfrm>
          <a:off x="2971807" y="1995686"/>
          <a:ext cx="3095625" cy="523875"/>
        </p:xfrm>
        <a:graphic>
          <a:graphicData uri="http://schemas.openxmlformats.org/presentationml/2006/ole">
            <mc:AlternateContent xmlns:mc="http://schemas.openxmlformats.org/markup-compatibility/2006">
              <mc:Choice xmlns:v="urn:schemas-microsoft-com:vml" Requires="v">
                <p:oleObj spid="_x0000_s12317" name="Visio" r:id="rId4" imgW="2311179" imgH="393641" progId="Visio.Drawing.11">
                  <p:embed/>
                </p:oleObj>
              </mc:Choice>
              <mc:Fallback>
                <p:oleObj name="Visio" r:id="rId4" imgW="2311179" imgH="393641"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7" y="1995686"/>
                        <a:ext cx="309562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2673600" y="1240220"/>
            <a:ext cx="3692036" cy="369332"/>
          </a:xfrm>
          <a:prstGeom prst="rect">
            <a:avLst/>
          </a:prstGeom>
        </p:spPr>
        <p:txBody>
          <a:bodyPr wrap="none">
            <a:spAutoFit/>
          </a:bodyPr>
          <a:lstStyle/>
          <a:p>
            <a:r>
              <a:rPr lang="en-US" altLang="zh-CN" dirty="0">
                <a:latin typeface="Times New Roman" panose="02020603050405020304" pitchFamily="18" charset="0"/>
              </a:rPr>
              <a:t>(1) </a:t>
            </a:r>
            <a:r>
              <a:rPr lang="zh-CN" altLang="zh-CN" dirty="0">
                <a:latin typeface="Times New Roman" panose="02020603050405020304" pitchFamily="18" charset="0"/>
                <a:cs typeface="Times New Roman" panose="02020603050405020304" pitchFamily="18" charset="0"/>
              </a:rPr>
              <a:t>状态指令</a:t>
            </a:r>
            <a:r>
              <a:rPr lang="en-US" altLang="zh-CN" dirty="0">
                <a:latin typeface="Times New Roman" panose="02020603050405020304" pitchFamily="18" charset="0"/>
              </a:rPr>
              <a:t>(INIT</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BEGIN</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END)</a:t>
            </a:r>
            <a:endParaRPr lang="zh-CN" altLang="en-US" dirty="0"/>
          </a:p>
        </p:txBody>
      </p:sp>
      <p:graphicFrame>
        <p:nvGraphicFramePr>
          <p:cNvPr id="7" name="对象 6"/>
          <p:cNvGraphicFramePr>
            <a:graphicFrameLocks noChangeAspect="1"/>
          </p:cNvGraphicFramePr>
          <p:nvPr>
            <p:extLst>
              <p:ext uri="{D42A27DB-BD31-4B8C-83A1-F6EECF244321}">
                <p14:modId xmlns:p14="http://schemas.microsoft.com/office/powerpoint/2010/main" val="2749732808"/>
              </p:ext>
            </p:extLst>
          </p:nvPr>
        </p:nvGraphicFramePr>
        <p:xfrm>
          <a:off x="2809881" y="3291830"/>
          <a:ext cx="3419475" cy="942975"/>
        </p:xfrm>
        <a:graphic>
          <a:graphicData uri="http://schemas.openxmlformats.org/presentationml/2006/ole">
            <mc:AlternateContent xmlns:mc="http://schemas.openxmlformats.org/markup-compatibility/2006">
              <mc:Choice xmlns:v="urn:schemas-microsoft-com:vml" Requires="v">
                <p:oleObj spid="_x0000_s12318" name="Visio" r:id="rId6" imgW="3219159" imgH="888882" progId="Visio.Drawing.11">
                  <p:embed/>
                </p:oleObj>
              </mc:Choice>
              <mc:Fallback>
                <p:oleObj name="Visio" r:id="rId6" imgW="3219159" imgH="888882"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9881" y="3291830"/>
                        <a:ext cx="3419475" cy="942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33284926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483768" y="555526"/>
            <a:ext cx="4448654" cy="369332"/>
          </a:xfrm>
          <a:prstGeom prst="rect">
            <a:avLst/>
          </a:prstGeom>
        </p:spPr>
        <p:txBody>
          <a:bodyPr wrap="none">
            <a:spAutoFit/>
          </a:bodyPr>
          <a:lstStyle/>
          <a:p>
            <a:r>
              <a:rPr lang="en-US" altLang="zh-CN" dirty="0">
                <a:latin typeface="Times New Roman" panose="02020603050405020304" pitchFamily="18" charset="0"/>
              </a:rPr>
              <a:t>(2) </a:t>
            </a:r>
            <a:r>
              <a:rPr lang="zh-CN" altLang="zh-CN" dirty="0">
                <a:latin typeface="Times New Roman" panose="02020603050405020304" pitchFamily="18" charset="0"/>
                <a:cs typeface="Times New Roman" panose="02020603050405020304" pitchFamily="18" charset="0"/>
              </a:rPr>
              <a:t>移动指令</a:t>
            </a:r>
            <a:r>
              <a:rPr lang="en-US" altLang="zh-CN" dirty="0">
                <a:latin typeface="Times New Roman" panose="02020603050405020304" pitchFamily="18" charset="0"/>
              </a:rPr>
              <a:t>(MOVEP</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MOVEL</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MOVEJ)</a:t>
            </a:r>
            <a:endParaRPr lang="zh-CN" altLang="en-US" dirty="0"/>
          </a:p>
        </p:txBody>
      </p:sp>
      <p:sp>
        <p:nvSpPr>
          <p:cNvPr id="3" name="矩形 2"/>
          <p:cNvSpPr/>
          <p:nvPr/>
        </p:nvSpPr>
        <p:spPr>
          <a:xfrm>
            <a:off x="3419872" y="123478"/>
            <a:ext cx="249299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机器人语言指令集设计</a:t>
            </a:r>
            <a:endParaRPr lang="zh-CN" altLang="en-US" dirty="0"/>
          </a:p>
        </p:txBody>
      </p:sp>
      <p:graphicFrame>
        <p:nvGraphicFramePr>
          <p:cNvPr id="5" name="对象 4"/>
          <p:cNvGraphicFramePr>
            <a:graphicFrameLocks noChangeAspect="1"/>
          </p:cNvGraphicFramePr>
          <p:nvPr>
            <p:extLst>
              <p:ext uri="{D42A27DB-BD31-4B8C-83A1-F6EECF244321}">
                <p14:modId xmlns:p14="http://schemas.microsoft.com/office/powerpoint/2010/main" val="280040709"/>
              </p:ext>
            </p:extLst>
          </p:nvPr>
        </p:nvGraphicFramePr>
        <p:xfrm>
          <a:off x="1979712" y="1275606"/>
          <a:ext cx="5343525" cy="1019175"/>
        </p:xfrm>
        <a:graphic>
          <a:graphicData uri="http://schemas.openxmlformats.org/presentationml/2006/ole">
            <mc:AlternateContent xmlns:mc="http://schemas.openxmlformats.org/markup-compatibility/2006">
              <mc:Choice xmlns:v="urn:schemas-microsoft-com:vml" Requires="v">
                <p:oleObj spid="_x0000_s13355" name="Visio" r:id="rId4" imgW="7784975" imgH="1485723" progId="Visio.Drawing.15">
                  <p:embed/>
                </p:oleObj>
              </mc:Choice>
              <mc:Fallback>
                <p:oleObj name="Visio" r:id="rId4" imgW="7784975" imgH="1485723"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712" y="1275606"/>
                        <a:ext cx="5343525"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595952503"/>
              </p:ext>
            </p:extLst>
          </p:nvPr>
        </p:nvGraphicFramePr>
        <p:xfrm>
          <a:off x="1979712" y="2629470"/>
          <a:ext cx="5486400" cy="1047750"/>
        </p:xfrm>
        <a:graphic>
          <a:graphicData uri="http://schemas.openxmlformats.org/presentationml/2006/ole">
            <mc:AlternateContent xmlns:mc="http://schemas.openxmlformats.org/markup-compatibility/2006">
              <mc:Choice xmlns:v="urn:schemas-microsoft-com:vml" Requires="v">
                <p:oleObj spid="_x0000_s13356" name="Visio" r:id="rId6" imgW="7784975" imgH="1485723" progId="Visio.Drawing.15">
                  <p:embed/>
                </p:oleObj>
              </mc:Choice>
              <mc:Fallback>
                <p:oleObj name="Visio" r:id="rId6" imgW="7784975" imgH="1485723" progId="Visio.Drawing.15">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79712" y="2629470"/>
                        <a:ext cx="5486400" cy="1047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1770202"/>
              </p:ext>
            </p:extLst>
          </p:nvPr>
        </p:nvGraphicFramePr>
        <p:xfrm>
          <a:off x="1979712" y="3914775"/>
          <a:ext cx="5210175" cy="1228725"/>
        </p:xfrm>
        <a:graphic>
          <a:graphicData uri="http://schemas.openxmlformats.org/presentationml/2006/ole">
            <mc:AlternateContent xmlns:mc="http://schemas.openxmlformats.org/markup-compatibility/2006">
              <mc:Choice xmlns:v="urn:schemas-microsoft-com:vml" Requires="v">
                <p:oleObj spid="_x0000_s13357" name="Visio" r:id="rId8" imgW="6343610" imgH="1485723" progId="Visio.Drawing.15">
                  <p:embed/>
                </p:oleObj>
              </mc:Choice>
              <mc:Fallback>
                <p:oleObj name="Visio" r:id="rId8" imgW="6343610" imgH="1485723" progId="Visio.Drawing.15">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712" y="3914775"/>
                        <a:ext cx="5210175" cy="1228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195485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9872" y="123478"/>
            <a:ext cx="249299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机器人语言指令集设计</a:t>
            </a:r>
            <a:endParaRPr lang="zh-CN" altLang="en-US" dirty="0"/>
          </a:p>
        </p:txBody>
      </p:sp>
      <p:sp>
        <p:nvSpPr>
          <p:cNvPr id="3" name="矩形 2"/>
          <p:cNvSpPr/>
          <p:nvPr/>
        </p:nvSpPr>
        <p:spPr>
          <a:xfrm>
            <a:off x="2769052" y="699542"/>
            <a:ext cx="3794629" cy="369332"/>
          </a:xfrm>
          <a:prstGeom prst="rect">
            <a:avLst/>
          </a:prstGeom>
        </p:spPr>
        <p:txBody>
          <a:bodyPr wrap="none">
            <a:spAutoFit/>
          </a:bodyPr>
          <a:lstStyle/>
          <a:p>
            <a:r>
              <a:rPr lang="en-US" altLang="zh-CN" dirty="0">
                <a:latin typeface="Times New Roman" panose="02020603050405020304" pitchFamily="18" charset="0"/>
              </a:rPr>
              <a:t>(3) </a:t>
            </a:r>
            <a:r>
              <a:rPr lang="zh-CN" altLang="zh-CN" dirty="0">
                <a:latin typeface="Times New Roman" panose="02020603050405020304" pitchFamily="18" charset="0"/>
                <a:cs typeface="Times New Roman" panose="02020603050405020304" pitchFamily="18" charset="0"/>
              </a:rPr>
              <a:t>变量定义指令（</a:t>
            </a:r>
            <a:r>
              <a:rPr lang="en-US" altLang="zh-CN" dirty="0">
                <a:latin typeface="Times New Roman" panose="02020603050405020304" pitchFamily="18" charset="0"/>
              </a:rPr>
              <a:t>DEFN</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DEFX</a:t>
            </a:r>
            <a:r>
              <a:rPr lang="zh-CN" altLang="zh-CN" dirty="0">
                <a:latin typeface="Times New Roman" panose="02020603050405020304" pitchFamily="18" charset="0"/>
                <a:cs typeface="Times New Roman" panose="02020603050405020304" pitchFamily="18" charset="0"/>
              </a:rPr>
              <a:t>）</a:t>
            </a:r>
            <a:endParaRPr lang="zh-CN" altLang="en-US" dirty="0"/>
          </a:p>
        </p:txBody>
      </p:sp>
      <p:pic>
        <p:nvPicPr>
          <p:cNvPr id="4" name="图片 3"/>
          <p:cNvPicPr>
            <a:picLocks noChangeAspect="1"/>
          </p:cNvPicPr>
          <p:nvPr/>
        </p:nvPicPr>
        <p:blipFill>
          <a:blip r:embed="rId3"/>
          <a:stretch>
            <a:fillRect/>
          </a:stretch>
        </p:blipFill>
        <p:spPr>
          <a:xfrm>
            <a:off x="1259632" y="1635646"/>
            <a:ext cx="6513815" cy="2613327"/>
          </a:xfrm>
          <a:prstGeom prst="rect">
            <a:avLst/>
          </a:prstGeom>
        </p:spPr>
      </p:pic>
    </p:spTree>
    <p:extLst>
      <p:ext uri="{BB962C8B-B14F-4D97-AF65-F5344CB8AC3E}">
        <p14:creationId xmlns:p14="http://schemas.microsoft.com/office/powerpoint/2010/main" val="253999806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9872" y="123478"/>
            <a:ext cx="2492990"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机器人语言指令集设计</a:t>
            </a:r>
            <a:endParaRPr lang="zh-CN" altLang="en-US" dirty="0"/>
          </a:p>
        </p:txBody>
      </p:sp>
      <p:sp>
        <p:nvSpPr>
          <p:cNvPr id="3" name="矩形 2"/>
          <p:cNvSpPr/>
          <p:nvPr/>
        </p:nvSpPr>
        <p:spPr>
          <a:xfrm>
            <a:off x="2769052" y="699542"/>
            <a:ext cx="3794629" cy="369332"/>
          </a:xfrm>
          <a:prstGeom prst="rect">
            <a:avLst/>
          </a:prstGeom>
        </p:spPr>
        <p:txBody>
          <a:bodyPr wrap="none">
            <a:spAutoFit/>
          </a:bodyPr>
          <a:lstStyle/>
          <a:p>
            <a:r>
              <a:rPr lang="en-US" altLang="zh-CN" dirty="0">
                <a:latin typeface="Times New Roman" panose="02020603050405020304" pitchFamily="18" charset="0"/>
              </a:rPr>
              <a:t>(3) </a:t>
            </a:r>
            <a:r>
              <a:rPr lang="zh-CN" altLang="zh-CN" dirty="0">
                <a:latin typeface="Times New Roman" panose="02020603050405020304" pitchFamily="18" charset="0"/>
                <a:cs typeface="Times New Roman" panose="02020603050405020304" pitchFamily="18" charset="0"/>
              </a:rPr>
              <a:t>变量定义指令（</a:t>
            </a:r>
            <a:r>
              <a:rPr lang="en-US" altLang="zh-CN" dirty="0">
                <a:latin typeface="Times New Roman" panose="02020603050405020304" pitchFamily="18" charset="0"/>
              </a:rPr>
              <a:t>DEFN</a:t>
            </a:r>
            <a:r>
              <a:rPr lang="zh-CN" altLang="zh-CN"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rPr>
              <a:t>DEFX</a:t>
            </a:r>
            <a:r>
              <a:rPr lang="zh-CN" altLang="zh-CN" dirty="0">
                <a:latin typeface="Times New Roman" panose="02020603050405020304" pitchFamily="18" charset="0"/>
                <a:cs typeface="Times New Roman" panose="02020603050405020304" pitchFamily="18" charset="0"/>
              </a:rPr>
              <a:t>）</a:t>
            </a:r>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447891456"/>
              </p:ext>
            </p:extLst>
          </p:nvPr>
        </p:nvGraphicFramePr>
        <p:xfrm>
          <a:off x="1547664" y="1275606"/>
          <a:ext cx="5648325" cy="1323975"/>
        </p:xfrm>
        <a:graphic>
          <a:graphicData uri="http://schemas.openxmlformats.org/presentationml/2006/ole">
            <mc:AlternateContent xmlns:mc="http://schemas.openxmlformats.org/markup-compatibility/2006">
              <mc:Choice xmlns:v="urn:schemas-microsoft-com:vml" Requires="v">
                <p:oleObj spid="_x0000_s14365" name="Visio" r:id="rId4" imgW="6343610" imgH="1485723" progId="Visio.Drawing.15">
                  <p:embed/>
                </p:oleObj>
              </mc:Choice>
              <mc:Fallback>
                <p:oleObj name="Visio" r:id="rId4" imgW="6343610" imgH="1485723"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664" y="1275606"/>
                        <a:ext cx="5648325" cy="1323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504262079"/>
              </p:ext>
            </p:extLst>
          </p:nvPr>
        </p:nvGraphicFramePr>
        <p:xfrm>
          <a:off x="611560" y="3291830"/>
          <a:ext cx="8201599" cy="1223367"/>
        </p:xfrm>
        <a:graphic>
          <a:graphicData uri="http://schemas.openxmlformats.org/presentationml/2006/ole">
            <mc:AlternateContent xmlns:mc="http://schemas.openxmlformats.org/markup-compatibility/2006">
              <mc:Choice xmlns:v="urn:schemas-microsoft-com:vml" Requires="v">
                <p:oleObj spid="_x0000_s14366" name="Visio" r:id="rId6" imgW="9981987" imgH="1485581" progId="Visio.Drawing.15">
                  <p:embed/>
                </p:oleObj>
              </mc:Choice>
              <mc:Fallback>
                <p:oleObj name="Visio" r:id="rId6" imgW="9981987" imgH="1485581" progId="Visio.Drawing.15">
                  <p:embed/>
                  <p:pic>
                    <p:nvPicPr>
                      <p:cNvPr id="0" name="Object 5"/>
                      <p:cNvPicPr>
                        <a:picLocks noChangeAspect="1" noChangeArrowheads="1"/>
                      </p:cNvPicPr>
                      <p:nvPr/>
                    </p:nvPicPr>
                    <p:blipFill>
                      <a:blip r:embed="rId7"/>
                      <a:srcRect/>
                      <a:stretch>
                        <a:fillRect/>
                      </a:stretch>
                    </p:blipFill>
                    <p:spPr bwMode="auto">
                      <a:xfrm>
                        <a:off x="611560" y="3291830"/>
                        <a:ext cx="8201599" cy="1223367"/>
                      </a:xfrm>
                      <a:prstGeom prst="rect">
                        <a:avLst/>
                      </a:prstGeom>
                      <a:noFill/>
                    </p:spPr>
                  </p:pic>
                </p:oleObj>
              </mc:Fallback>
            </mc:AlternateContent>
          </a:graphicData>
        </a:graphic>
      </p:graphicFrame>
    </p:spTree>
    <p:extLst>
      <p:ext uri="{BB962C8B-B14F-4D97-AF65-F5344CB8AC3E}">
        <p14:creationId xmlns:p14="http://schemas.microsoft.com/office/powerpoint/2010/main" val="89646089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91880" y="339502"/>
            <a:ext cx="2262158"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机器人语言词库设计</a:t>
            </a:r>
            <a:endParaRPr lang="zh-CN" altLang="en-US" dirty="0"/>
          </a:p>
        </p:txBody>
      </p:sp>
      <p:pic>
        <p:nvPicPr>
          <p:cNvPr id="3" name="图片 2"/>
          <p:cNvPicPr>
            <a:picLocks noChangeAspect="1"/>
          </p:cNvPicPr>
          <p:nvPr/>
        </p:nvPicPr>
        <p:blipFill>
          <a:blip r:embed="rId3"/>
          <a:stretch>
            <a:fillRect/>
          </a:stretch>
        </p:blipFill>
        <p:spPr>
          <a:xfrm>
            <a:off x="1860474" y="771802"/>
            <a:ext cx="5380952" cy="1657143"/>
          </a:xfrm>
          <a:prstGeom prst="rect">
            <a:avLst/>
          </a:prstGeom>
        </p:spPr>
      </p:pic>
      <p:pic>
        <p:nvPicPr>
          <p:cNvPr id="4" name="图片 3"/>
          <p:cNvPicPr>
            <a:picLocks noChangeAspect="1"/>
          </p:cNvPicPr>
          <p:nvPr/>
        </p:nvPicPr>
        <p:blipFill>
          <a:blip r:embed="rId4"/>
          <a:stretch>
            <a:fillRect/>
          </a:stretch>
        </p:blipFill>
        <p:spPr>
          <a:xfrm>
            <a:off x="2003911" y="2428945"/>
            <a:ext cx="5238095" cy="2666667"/>
          </a:xfrm>
          <a:prstGeom prst="rect">
            <a:avLst/>
          </a:prstGeom>
        </p:spPr>
      </p:pic>
    </p:spTree>
    <p:extLst>
      <p:ext uri="{BB962C8B-B14F-4D97-AF65-F5344CB8AC3E}">
        <p14:creationId xmlns:p14="http://schemas.microsoft.com/office/powerpoint/2010/main" val="4090114052"/>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5936" y="267494"/>
            <a:ext cx="1107996"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词法分析</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2066918798"/>
              </p:ext>
            </p:extLst>
          </p:nvPr>
        </p:nvGraphicFramePr>
        <p:xfrm>
          <a:off x="1763688" y="915566"/>
          <a:ext cx="5276850" cy="2657475"/>
        </p:xfrm>
        <a:graphic>
          <a:graphicData uri="http://schemas.openxmlformats.org/presentationml/2006/ole">
            <mc:AlternateContent xmlns:mc="http://schemas.openxmlformats.org/markup-compatibility/2006">
              <mc:Choice xmlns:v="urn:schemas-microsoft-com:vml" Requires="v">
                <p:oleObj spid="_x0000_s16398" name="Visio" r:id="rId4" imgW="6946731" imgH="3498820" progId="Visio.Drawing.15">
                  <p:embed/>
                </p:oleObj>
              </mc:Choice>
              <mc:Fallback>
                <p:oleObj name="Visio" r:id="rId4" imgW="6946731" imgH="349882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915566"/>
                        <a:ext cx="5276850" cy="2657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4"/>
          <p:cNvSpPr/>
          <p:nvPr/>
        </p:nvSpPr>
        <p:spPr>
          <a:xfrm>
            <a:off x="3164522" y="3851781"/>
            <a:ext cx="2770823"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图</a:t>
            </a:r>
            <a:r>
              <a:rPr lang="en-US" altLang="zh-CN" dirty="0">
                <a:latin typeface="Times New Roman" panose="02020603050405020304" pitchFamily="18" charset="0"/>
              </a:rPr>
              <a:t>7.14 </a:t>
            </a:r>
            <a:r>
              <a:rPr lang="zh-CN" altLang="zh-CN" dirty="0">
                <a:latin typeface="Times New Roman" panose="02020603050405020304" pitchFamily="18" charset="0"/>
                <a:cs typeface="Times New Roman" panose="02020603050405020304" pitchFamily="18" charset="0"/>
              </a:rPr>
              <a:t>词法分析</a:t>
            </a:r>
            <a:r>
              <a:rPr lang="en-US" altLang="zh-CN" dirty="0">
                <a:latin typeface="Times New Roman" panose="02020603050405020304" pitchFamily="18" charset="0"/>
              </a:rPr>
              <a:t>FA</a:t>
            </a:r>
            <a:r>
              <a:rPr lang="zh-CN" altLang="zh-CN" dirty="0">
                <a:latin typeface="Times New Roman" panose="02020603050405020304" pitchFamily="18" charset="0"/>
                <a:cs typeface="Times New Roman" panose="02020603050405020304" pitchFamily="18" charset="0"/>
              </a:rPr>
              <a:t>转换图</a:t>
            </a:r>
            <a:endParaRPr lang="zh-CN" altLang="en-US" dirty="0"/>
          </a:p>
        </p:txBody>
      </p:sp>
    </p:spTree>
    <p:extLst>
      <p:ext uri="{BB962C8B-B14F-4D97-AF65-F5344CB8AC3E}">
        <p14:creationId xmlns:p14="http://schemas.microsoft.com/office/powerpoint/2010/main" val="586505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592006259"/>
              </p:ext>
            </p:extLst>
          </p:nvPr>
        </p:nvGraphicFramePr>
        <p:xfrm>
          <a:off x="2627784" y="87610"/>
          <a:ext cx="4277972" cy="5004420"/>
        </p:xfrm>
        <a:graphic>
          <a:graphicData uri="http://schemas.openxmlformats.org/presentationml/2006/ole">
            <mc:AlternateContent xmlns:mc="http://schemas.openxmlformats.org/markup-compatibility/2006">
              <mc:Choice xmlns:v="urn:schemas-microsoft-com:vml" Requires="v">
                <p:oleObj spid="_x0000_s17422" name="Visio" r:id="rId4" imgW="7410380" imgH="8686564" progId="Visio.Drawing.15">
                  <p:embed/>
                </p:oleObj>
              </mc:Choice>
              <mc:Fallback>
                <p:oleObj name="Visio" r:id="rId4" imgW="7410380" imgH="8686564"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784" y="87610"/>
                        <a:ext cx="4277972" cy="5004420"/>
                      </a:xfrm>
                      <a:prstGeom prst="rect">
                        <a:avLst/>
                      </a:prstGeom>
                      <a:noFill/>
                      <a:extLst/>
                    </p:spPr>
                  </p:pic>
                </p:oleObj>
              </mc:Fallback>
            </mc:AlternateContent>
          </a:graphicData>
        </a:graphic>
      </p:graphicFrame>
    </p:spTree>
    <p:extLst>
      <p:ext uri="{BB962C8B-B14F-4D97-AF65-F5344CB8AC3E}">
        <p14:creationId xmlns:p14="http://schemas.microsoft.com/office/powerpoint/2010/main" val="355585205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514617558"/>
              </p:ext>
            </p:extLst>
          </p:nvPr>
        </p:nvGraphicFramePr>
        <p:xfrm>
          <a:off x="683568" y="1131590"/>
          <a:ext cx="7896877" cy="2520280"/>
        </p:xfrm>
        <a:graphic>
          <a:graphicData uri="http://schemas.openxmlformats.org/presentationml/2006/ole">
            <mc:AlternateContent xmlns:mc="http://schemas.openxmlformats.org/markup-compatibility/2006">
              <mc:Choice xmlns:v="urn:schemas-microsoft-com:vml" Requires="v">
                <p:oleObj spid="_x0000_s18446" name="Visio" r:id="rId4" imgW="9766322" imgH="3105180" progId="Visio.Drawing.15">
                  <p:embed/>
                </p:oleObj>
              </mc:Choice>
              <mc:Fallback>
                <p:oleObj name="Visio" r:id="rId4" imgW="9766322" imgH="310518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1131590"/>
                        <a:ext cx="7896877" cy="2520280"/>
                      </a:xfrm>
                      <a:prstGeom prst="rect">
                        <a:avLst/>
                      </a:prstGeom>
                      <a:noFill/>
                    </p:spPr>
                  </p:pic>
                </p:oleObj>
              </mc:Fallback>
            </mc:AlternateContent>
          </a:graphicData>
        </a:graphic>
      </p:graphicFrame>
    </p:spTree>
    <p:extLst>
      <p:ext uri="{BB962C8B-B14F-4D97-AF65-F5344CB8AC3E}">
        <p14:creationId xmlns:p14="http://schemas.microsoft.com/office/powerpoint/2010/main" val="366695018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295477508"/>
              </p:ext>
            </p:extLst>
          </p:nvPr>
        </p:nvGraphicFramePr>
        <p:xfrm>
          <a:off x="611560" y="987574"/>
          <a:ext cx="7795986" cy="3168352"/>
        </p:xfrm>
        <a:graphic>
          <a:graphicData uri="http://schemas.openxmlformats.org/presentationml/2006/ole">
            <mc:AlternateContent xmlns:mc="http://schemas.openxmlformats.org/markup-compatibility/2006">
              <mc:Choice xmlns:v="urn:schemas-microsoft-com:vml" Requires="v">
                <p:oleObj spid="_x0000_s19470" name="Visio" r:id="rId4" imgW="9289951" imgH="3784718" progId="Visio.Drawing.15">
                  <p:embed/>
                </p:oleObj>
              </mc:Choice>
              <mc:Fallback>
                <p:oleObj name="Visio" r:id="rId4" imgW="9289951" imgH="3784718"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1560" y="987574"/>
                        <a:ext cx="7795986" cy="3168352"/>
                      </a:xfrm>
                      <a:prstGeom prst="rect">
                        <a:avLst/>
                      </a:prstGeom>
                      <a:noFill/>
                    </p:spPr>
                  </p:pic>
                </p:oleObj>
              </mc:Fallback>
            </mc:AlternateContent>
          </a:graphicData>
        </a:graphic>
      </p:graphicFrame>
    </p:spTree>
    <p:extLst>
      <p:ext uri="{BB962C8B-B14F-4D97-AF65-F5344CB8AC3E}">
        <p14:creationId xmlns:p14="http://schemas.microsoft.com/office/powerpoint/2010/main" val="287375163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747197063"/>
              </p:ext>
            </p:extLst>
          </p:nvPr>
        </p:nvGraphicFramePr>
        <p:xfrm>
          <a:off x="431704" y="215625"/>
          <a:ext cx="5276850" cy="2324100"/>
        </p:xfrm>
        <a:graphic>
          <a:graphicData uri="http://schemas.openxmlformats.org/presentationml/2006/ole">
            <mc:AlternateContent xmlns:mc="http://schemas.openxmlformats.org/markup-compatibility/2006">
              <mc:Choice xmlns:v="urn:schemas-microsoft-com:vml" Requires="v">
                <p:oleObj spid="_x0000_s20507" name="Visio" r:id="rId4" imgW="6546692" imgH="2889220" progId="Visio.Drawing.15">
                  <p:embed/>
                </p:oleObj>
              </mc:Choice>
              <mc:Fallback>
                <p:oleObj name="Visio" r:id="rId4" imgW="6546692" imgH="288922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704" y="215625"/>
                        <a:ext cx="5276850" cy="2324100"/>
                      </a:xfrm>
                      <a:prstGeom prst="rect">
                        <a:avLst/>
                      </a:prstGeom>
                      <a:no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3303608"/>
              </p:ext>
            </p:extLst>
          </p:nvPr>
        </p:nvGraphicFramePr>
        <p:xfrm>
          <a:off x="3377431" y="2787774"/>
          <a:ext cx="4733925" cy="1847850"/>
        </p:xfrm>
        <a:graphic>
          <a:graphicData uri="http://schemas.openxmlformats.org/presentationml/2006/ole">
            <mc:AlternateContent xmlns:mc="http://schemas.openxmlformats.org/markup-compatibility/2006">
              <mc:Choice xmlns:v="urn:schemas-microsoft-com:vml" Requires="v">
                <p:oleObj spid="_x0000_s20508" name="Visio" r:id="rId6" imgW="5219354" imgH="2032000" progId="Visio.Drawing.15">
                  <p:embed/>
                </p:oleObj>
              </mc:Choice>
              <mc:Fallback>
                <p:oleObj name="Visio" r:id="rId6" imgW="5219354" imgH="2032000" progId="Visio.Drawing.15">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77431" y="2787774"/>
                        <a:ext cx="4733925" cy="184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1691680" y="2294418"/>
            <a:ext cx="2582758" cy="369332"/>
          </a:xfrm>
          <a:prstGeom prst="rect">
            <a:avLst/>
          </a:prstGeom>
        </p:spPr>
        <p:txBody>
          <a:bodyPr wrap="none">
            <a:spAutoFit/>
          </a:bodyPr>
          <a:lstStyle/>
          <a:p>
            <a:r>
              <a:rPr lang="en-US" altLang="zh-CN" dirty="0">
                <a:latin typeface="Times New Roman" panose="02020603050405020304" pitchFamily="18" charset="0"/>
              </a:rPr>
              <a:t>INNUM</a:t>
            </a:r>
            <a:r>
              <a:rPr lang="zh-CN" altLang="zh-CN" dirty="0">
                <a:latin typeface="Times New Roman" panose="02020603050405020304" pitchFamily="18" charset="0"/>
                <a:cs typeface="Times New Roman" panose="02020603050405020304" pitchFamily="18" charset="0"/>
              </a:rPr>
              <a:t>状态处理流程图</a:t>
            </a:r>
            <a:endParaRPr lang="zh-CN" altLang="en-US" dirty="0"/>
          </a:p>
        </p:txBody>
      </p:sp>
      <p:sp>
        <p:nvSpPr>
          <p:cNvPr id="7" name="矩形 6"/>
          <p:cNvSpPr/>
          <p:nvPr/>
        </p:nvSpPr>
        <p:spPr>
          <a:xfrm>
            <a:off x="4499992" y="4514341"/>
            <a:ext cx="2723823" cy="369332"/>
          </a:xfrm>
          <a:prstGeom prst="rect">
            <a:avLst/>
          </a:prstGeom>
        </p:spPr>
        <p:txBody>
          <a:bodyPr wrap="none">
            <a:spAutoFit/>
          </a:bodyPr>
          <a:lstStyle/>
          <a:p>
            <a:r>
              <a:rPr lang="en-US" altLang="zh-CN" dirty="0">
                <a:latin typeface="Times New Roman" panose="02020603050405020304" pitchFamily="18" charset="0"/>
              </a:rPr>
              <a:t>INPOINT</a:t>
            </a:r>
            <a:r>
              <a:rPr lang="zh-CN" altLang="zh-CN" dirty="0">
                <a:latin typeface="Times New Roman" panose="02020603050405020304" pitchFamily="18" charset="0"/>
                <a:cs typeface="Times New Roman" panose="02020603050405020304" pitchFamily="18" charset="0"/>
              </a:rPr>
              <a:t>状态处理流程图</a:t>
            </a:r>
            <a:endParaRPr lang="zh-CN" altLang="en-US" dirty="0"/>
          </a:p>
        </p:txBody>
      </p:sp>
    </p:spTree>
    <p:extLst>
      <p:ext uri="{BB962C8B-B14F-4D97-AF65-F5344CB8AC3E}">
        <p14:creationId xmlns:p14="http://schemas.microsoft.com/office/powerpoint/2010/main" val="60023747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9872" y="123478"/>
            <a:ext cx="2634054"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词法分析函数</a:t>
            </a:r>
            <a:r>
              <a:rPr lang="en-US" altLang="zh-CN" dirty="0">
                <a:latin typeface="Times New Roman" panose="02020603050405020304" pitchFamily="18" charset="0"/>
              </a:rPr>
              <a:t>lex2token()</a:t>
            </a:r>
            <a:endParaRPr lang="zh-CN" altLang="en-US" dirty="0"/>
          </a:p>
        </p:txBody>
      </p:sp>
      <p:pic>
        <p:nvPicPr>
          <p:cNvPr id="3" name="图片 2"/>
          <p:cNvPicPr>
            <a:picLocks noChangeAspect="1"/>
          </p:cNvPicPr>
          <p:nvPr/>
        </p:nvPicPr>
        <p:blipFill>
          <a:blip r:embed="rId3"/>
          <a:stretch>
            <a:fillRect/>
          </a:stretch>
        </p:blipFill>
        <p:spPr>
          <a:xfrm>
            <a:off x="179512" y="473276"/>
            <a:ext cx="5304762" cy="3342857"/>
          </a:xfrm>
          <a:prstGeom prst="rect">
            <a:avLst/>
          </a:prstGeom>
        </p:spPr>
      </p:pic>
      <p:pic>
        <p:nvPicPr>
          <p:cNvPr id="4" name="图片 3"/>
          <p:cNvPicPr>
            <a:picLocks noChangeAspect="1"/>
          </p:cNvPicPr>
          <p:nvPr/>
        </p:nvPicPr>
        <p:blipFill>
          <a:blip r:embed="rId4"/>
          <a:stretch>
            <a:fillRect/>
          </a:stretch>
        </p:blipFill>
        <p:spPr>
          <a:xfrm>
            <a:off x="3203848" y="791119"/>
            <a:ext cx="2485714" cy="4352381"/>
          </a:xfrm>
          <a:prstGeom prst="rect">
            <a:avLst/>
          </a:prstGeom>
        </p:spPr>
      </p:pic>
      <p:pic>
        <p:nvPicPr>
          <p:cNvPr id="5" name="图片 4"/>
          <p:cNvPicPr>
            <a:picLocks noChangeAspect="1"/>
          </p:cNvPicPr>
          <p:nvPr/>
        </p:nvPicPr>
        <p:blipFill>
          <a:blip r:embed="rId5"/>
          <a:stretch>
            <a:fillRect/>
          </a:stretch>
        </p:blipFill>
        <p:spPr>
          <a:xfrm>
            <a:off x="5689562" y="699542"/>
            <a:ext cx="2466667" cy="4171429"/>
          </a:xfrm>
          <a:prstGeom prst="rect">
            <a:avLst/>
          </a:prstGeom>
        </p:spPr>
      </p:pic>
    </p:spTree>
    <p:extLst>
      <p:ext uri="{BB962C8B-B14F-4D97-AF65-F5344CB8AC3E}">
        <p14:creationId xmlns:p14="http://schemas.microsoft.com/office/powerpoint/2010/main" val="3923229773"/>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95936" y="339502"/>
            <a:ext cx="1107996"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语法分析</a:t>
            </a:r>
            <a:endParaRPr lang="zh-CN" altLang="en-US" dirty="0"/>
          </a:p>
        </p:txBody>
      </p:sp>
      <p:graphicFrame>
        <p:nvGraphicFramePr>
          <p:cNvPr id="4" name="对象 3"/>
          <p:cNvGraphicFramePr>
            <a:graphicFrameLocks noChangeAspect="1"/>
          </p:cNvGraphicFramePr>
          <p:nvPr>
            <p:extLst>
              <p:ext uri="{D42A27DB-BD31-4B8C-83A1-F6EECF244321}">
                <p14:modId xmlns:p14="http://schemas.microsoft.com/office/powerpoint/2010/main" val="3883796579"/>
              </p:ext>
            </p:extLst>
          </p:nvPr>
        </p:nvGraphicFramePr>
        <p:xfrm>
          <a:off x="567891" y="1347614"/>
          <a:ext cx="7964085" cy="3024336"/>
        </p:xfrm>
        <a:graphic>
          <a:graphicData uri="http://schemas.openxmlformats.org/presentationml/2006/ole">
            <mc:AlternateContent xmlns:mc="http://schemas.openxmlformats.org/markup-compatibility/2006">
              <mc:Choice xmlns:v="urn:schemas-microsoft-com:vml" Requires="v">
                <p:oleObj spid="_x0000_s21518" name="Visio" r:id="rId4" imgW="9125035" imgH="3460543" progId="Visio.Drawing.15">
                  <p:embed/>
                </p:oleObj>
              </mc:Choice>
              <mc:Fallback>
                <p:oleObj name="Visio" r:id="rId4" imgW="9125035" imgH="3460543"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7891" y="1347614"/>
                        <a:ext cx="7964085" cy="3024336"/>
                      </a:xfrm>
                      <a:prstGeom prst="rect">
                        <a:avLst/>
                      </a:prstGeom>
                      <a:noFill/>
                    </p:spPr>
                  </p:pic>
                </p:oleObj>
              </mc:Fallback>
            </mc:AlternateContent>
          </a:graphicData>
        </a:graphic>
      </p:graphicFrame>
    </p:spTree>
    <p:extLst>
      <p:ext uri="{BB962C8B-B14F-4D97-AF65-F5344CB8AC3E}">
        <p14:creationId xmlns:p14="http://schemas.microsoft.com/office/powerpoint/2010/main" val="405854501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248769497"/>
              </p:ext>
            </p:extLst>
          </p:nvPr>
        </p:nvGraphicFramePr>
        <p:xfrm>
          <a:off x="2771800" y="71711"/>
          <a:ext cx="4591050" cy="5048250"/>
        </p:xfrm>
        <a:graphic>
          <a:graphicData uri="http://schemas.openxmlformats.org/presentationml/2006/ole">
            <mc:AlternateContent xmlns:mc="http://schemas.openxmlformats.org/markup-compatibility/2006">
              <mc:Choice xmlns:v="urn:schemas-microsoft-com:vml" Requires="v">
                <p:oleObj spid="_x0000_s22542" name="Visio" r:id="rId4" imgW="4622829" imgH="5080000" progId="Visio.Drawing.15">
                  <p:embed/>
                </p:oleObj>
              </mc:Choice>
              <mc:Fallback>
                <p:oleObj name="Visio" r:id="rId4" imgW="4622829" imgH="5080000" progId="Visio.Drawing.15">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1800" y="71711"/>
                        <a:ext cx="4591050" cy="5048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4461619"/>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12495" y="129448"/>
            <a:ext cx="1864613" cy="369332"/>
          </a:xfrm>
          <a:prstGeom prst="rect">
            <a:avLst/>
          </a:prstGeom>
        </p:spPr>
        <p:txBody>
          <a:bodyPr wrap="none">
            <a:spAutoFit/>
          </a:bodyPr>
          <a:lstStyle/>
          <a:p>
            <a:r>
              <a:rPr lang="zh-CN" altLang="zh-CN" dirty="0">
                <a:latin typeface="Times New Roman" panose="02020603050405020304" pitchFamily="18" charset="0"/>
                <a:cs typeface="Times New Roman" panose="02020603050405020304" pitchFamily="18" charset="0"/>
              </a:rPr>
              <a:t>编译</a:t>
            </a:r>
            <a:r>
              <a:rPr lang="en-US" altLang="zh-CN" dirty="0">
                <a:latin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解析与执行</a:t>
            </a:r>
            <a:endParaRPr lang="zh-CN" altLang="en-US" dirty="0"/>
          </a:p>
        </p:txBody>
      </p:sp>
      <p:sp>
        <p:nvSpPr>
          <p:cNvPr id="3" name="文本框 2"/>
          <p:cNvSpPr txBox="1"/>
          <p:nvPr/>
        </p:nvSpPr>
        <p:spPr>
          <a:xfrm>
            <a:off x="1872051" y="1008806"/>
            <a:ext cx="2460930"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smtClean="0"/>
              <a:t>编译</a:t>
            </a:r>
            <a:r>
              <a:rPr lang="en-US" altLang="zh-CN" dirty="0" smtClean="0"/>
              <a:t>-</a:t>
            </a:r>
            <a:r>
              <a:rPr lang="zh-CN" altLang="en-US" dirty="0" smtClean="0"/>
              <a:t>目标代码</a:t>
            </a:r>
            <a:r>
              <a:rPr lang="en-US" altLang="zh-CN" dirty="0" smtClean="0"/>
              <a:t>-</a:t>
            </a:r>
            <a:r>
              <a:rPr lang="zh-CN" altLang="en-US" dirty="0" smtClean="0"/>
              <a:t>执行</a:t>
            </a:r>
            <a:endParaRPr lang="zh-CN" altLang="en-US" dirty="0"/>
          </a:p>
        </p:txBody>
      </p:sp>
      <p:sp>
        <p:nvSpPr>
          <p:cNvPr id="4" name="文本框 3"/>
          <p:cNvSpPr txBox="1"/>
          <p:nvPr/>
        </p:nvSpPr>
        <p:spPr>
          <a:xfrm>
            <a:off x="1872051" y="1698362"/>
            <a:ext cx="146706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smtClean="0"/>
              <a:t>解析</a:t>
            </a:r>
            <a:r>
              <a:rPr lang="en-US" altLang="zh-CN" dirty="0" smtClean="0"/>
              <a:t>-</a:t>
            </a:r>
            <a:r>
              <a:rPr lang="zh-CN" altLang="en-US" dirty="0" smtClean="0"/>
              <a:t>执行</a:t>
            </a:r>
            <a:endParaRPr lang="zh-CN" altLang="en-US" dirty="0"/>
          </a:p>
        </p:txBody>
      </p:sp>
      <p:sp>
        <p:nvSpPr>
          <p:cNvPr id="5" name="文本框 4"/>
          <p:cNvSpPr txBox="1"/>
          <p:nvPr/>
        </p:nvSpPr>
        <p:spPr>
          <a:xfrm>
            <a:off x="1691680" y="448674"/>
            <a:ext cx="1338828" cy="369332"/>
          </a:xfrm>
          <a:prstGeom prst="rect">
            <a:avLst/>
          </a:prstGeom>
          <a:noFill/>
        </p:spPr>
        <p:txBody>
          <a:bodyPr wrap="none" rtlCol="0">
            <a:spAutoFit/>
          </a:bodyPr>
          <a:lstStyle/>
          <a:p>
            <a:r>
              <a:rPr lang="zh-CN" altLang="en-US" dirty="0" smtClean="0"/>
              <a:t>两种方式：</a:t>
            </a:r>
            <a:endParaRPr lang="zh-CN" altLang="en-US" dirty="0"/>
          </a:p>
        </p:txBody>
      </p:sp>
      <p:sp>
        <p:nvSpPr>
          <p:cNvPr id="6" name="圆角矩形 5"/>
          <p:cNvSpPr/>
          <p:nvPr/>
        </p:nvSpPr>
        <p:spPr>
          <a:xfrm>
            <a:off x="1367995" y="843558"/>
            <a:ext cx="3600400" cy="151216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p:nvPicPr>
        <p:blipFill>
          <a:blip r:embed="rId3"/>
          <a:stretch>
            <a:fillRect/>
          </a:stretch>
        </p:blipFill>
        <p:spPr>
          <a:xfrm>
            <a:off x="3851920" y="2510702"/>
            <a:ext cx="4610933" cy="2227094"/>
          </a:xfrm>
          <a:prstGeom prst="rect">
            <a:avLst/>
          </a:prstGeom>
        </p:spPr>
      </p:pic>
      <p:pic>
        <p:nvPicPr>
          <p:cNvPr id="8" name="图片 7"/>
          <p:cNvPicPr>
            <a:picLocks noChangeAspect="1"/>
          </p:cNvPicPr>
          <p:nvPr/>
        </p:nvPicPr>
        <p:blipFill>
          <a:blip r:embed="rId4"/>
          <a:stretch>
            <a:fillRect/>
          </a:stretch>
        </p:blipFill>
        <p:spPr>
          <a:xfrm>
            <a:off x="1062929" y="2542138"/>
            <a:ext cx="2276190" cy="1923810"/>
          </a:xfrm>
          <a:prstGeom prst="rect">
            <a:avLst/>
          </a:prstGeom>
        </p:spPr>
      </p:pic>
      <p:sp>
        <p:nvSpPr>
          <p:cNvPr id="9" name="矩形 8"/>
          <p:cNvSpPr/>
          <p:nvPr/>
        </p:nvSpPr>
        <p:spPr>
          <a:xfrm>
            <a:off x="107504" y="4785708"/>
            <a:ext cx="8892480" cy="276999"/>
          </a:xfrm>
          <a:prstGeom prst="rect">
            <a:avLst/>
          </a:prstGeom>
        </p:spPr>
        <p:txBody>
          <a:bodyPr wrap="square">
            <a:spAutoFit/>
          </a:bodyPr>
          <a:lstStyle/>
          <a:p>
            <a:r>
              <a:rPr lang="zh-CN" altLang="en-US" sz="1200" dirty="0">
                <a:latin typeface="Courier New" panose="02070309020205020404" pitchFamily="49" charset="0"/>
                <a:cs typeface="Courier New" panose="02070309020205020404" pitchFamily="49" charset="0"/>
              </a:rPr>
              <a:t>https://github.com/mhuasong/Basics-of-Robotics-Theory-and-Technology/tree/main/mhsRobotParser</a:t>
            </a:r>
          </a:p>
        </p:txBody>
      </p:sp>
    </p:spTree>
    <p:extLst>
      <p:ext uri="{BB962C8B-B14F-4D97-AF65-F5344CB8AC3E}">
        <p14:creationId xmlns:p14="http://schemas.microsoft.com/office/powerpoint/2010/main" val="35580045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965835" y="1143635"/>
            <a:ext cx="2856865" cy="2856865"/>
            <a:chOff x="1021" y="1531"/>
            <a:chExt cx="5038" cy="5038"/>
          </a:xfrm>
        </p:grpSpPr>
        <p:sp>
          <p:nvSpPr>
            <p:cNvPr id="3" name="椭圆 2"/>
            <p:cNvSpPr/>
            <p:nvPr/>
          </p:nvSpPr>
          <p:spPr>
            <a:xfrm>
              <a:off x="1021" y="1531"/>
              <a:ext cx="5039" cy="5039"/>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p:cNvSpPr/>
            <p:nvPr/>
          </p:nvSpPr>
          <p:spPr>
            <a:xfrm>
              <a:off x="1367" y="1877"/>
              <a:ext cx="4347" cy="4347"/>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221754" y="2427734"/>
            <a:ext cx="3849370" cy="646331"/>
          </a:xfrm>
          <a:prstGeom prst="rect">
            <a:avLst/>
          </a:prstGeom>
        </p:spPr>
        <p:txBody>
          <a:bodyPr wrap="square">
            <a:spAutoFit/>
          </a:bodyPr>
          <a:lstStyle/>
          <a:p>
            <a:pPr>
              <a:lnSpc>
                <a:spcPct val="150000"/>
              </a:lnSpc>
            </a:pPr>
            <a:r>
              <a:rPr lang="zh-CN" altLang="en-US" sz="1200" dirty="0" smtClean="0">
                <a:latin typeface="Arial" panose="020B0604020202020204" pitchFamily="34" charset="0"/>
                <a:ea typeface="微软雅黑" panose="020B0503020204020204" charset="-122"/>
                <a:sym typeface="+mn-ea"/>
              </a:rPr>
              <a:t>在实验室培训平台上掌握机器人相关基本操作和系统设计。</a:t>
            </a:r>
            <a:endParaRPr lang="zh-CN" altLang="en-US" sz="1200" dirty="0">
              <a:latin typeface="Arial" panose="020B0604020202020204" pitchFamily="34" charset="0"/>
              <a:ea typeface="微软雅黑" panose="020B0503020204020204" charset="-122"/>
              <a:sym typeface="+mn-ea"/>
            </a:endParaRPr>
          </a:p>
        </p:txBody>
      </p:sp>
      <p:sp>
        <p:nvSpPr>
          <p:cNvPr id="7" name="文本框 6"/>
          <p:cNvSpPr txBox="1"/>
          <p:nvPr/>
        </p:nvSpPr>
        <p:spPr>
          <a:xfrm>
            <a:off x="4251247" y="1903010"/>
            <a:ext cx="4218363" cy="523220"/>
          </a:xfrm>
          <a:prstGeom prst="rect">
            <a:avLst/>
          </a:prstGeom>
          <a:noFill/>
        </p:spPr>
        <p:txBody>
          <a:bodyPr wrap="square" rtlCol="0" anchor="t">
            <a:spAutoFit/>
          </a:bodyPr>
          <a:lstStyle/>
          <a:p>
            <a:r>
              <a:rPr lang="zh-CN" altLang="en-US" sz="2800" b="1" dirty="0" smtClean="0">
                <a:latin typeface="Arial" panose="020B0604020202020204" pitchFamily="34" charset="0"/>
                <a:ea typeface="微软雅黑" panose="020B0503020204020204" charset="-122"/>
                <a:sym typeface="+mn-ea"/>
              </a:rPr>
              <a:t>课程实验（</a:t>
            </a:r>
            <a:r>
              <a:rPr lang="en-US" altLang="zh-CN" sz="2800" b="1" dirty="0" err="1" smtClean="0">
                <a:latin typeface="Arial" panose="020B0604020202020204" pitchFamily="34" charset="0"/>
                <a:ea typeface="微软雅黑" panose="020B0503020204020204" charset="-122"/>
              </a:rPr>
              <a:t>AUBOScript</a:t>
            </a:r>
            <a:r>
              <a:rPr lang="zh-CN" altLang="en-US" sz="2800" b="1" dirty="0" smtClean="0">
                <a:latin typeface="Arial" panose="020B0604020202020204" pitchFamily="34" charset="0"/>
                <a:ea typeface="微软雅黑" panose="020B0503020204020204" charset="-122"/>
              </a:rPr>
              <a:t>）</a:t>
            </a:r>
            <a:endParaRPr lang="zh-CN" altLang="en-US" sz="2800" b="1" dirty="0">
              <a:latin typeface="Arial" panose="020B0604020202020204" pitchFamily="34" charset="0"/>
              <a:ea typeface="微软雅黑" panose="020B0503020204020204" charset="-122"/>
              <a:sym typeface="+mn-ea"/>
            </a:endParaRPr>
          </a:p>
        </p:txBody>
      </p:sp>
      <p:sp>
        <p:nvSpPr>
          <p:cNvPr id="35" name="文本框 3"/>
          <p:cNvSpPr txBox="1"/>
          <p:nvPr/>
        </p:nvSpPr>
        <p:spPr>
          <a:xfrm>
            <a:off x="1776095" y="2019300"/>
            <a:ext cx="1236345" cy="1106805"/>
          </a:xfrm>
          <a:prstGeom prst="rect">
            <a:avLst/>
          </a:prstGeom>
          <a:noFill/>
          <a:effectLst/>
        </p:spPr>
        <p:txBody>
          <a:bodyPr wrap="square" rtlCol="0">
            <a:spAutoFit/>
          </a:bodyPr>
          <a:lstStyle/>
          <a:p>
            <a:pPr lvl="0" algn="l"/>
            <a:r>
              <a:rPr lang="en-US" altLang="zh-CN" sz="6600" b="1" dirty="0" smtClean="0">
                <a:solidFill>
                  <a:schemeClr val="bg1"/>
                </a:solidFill>
                <a:latin typeface="微软雅黑" panose="020B0503020204020204" charset="-122"/>
                <a:ea typeface="微软雅黑" panose="020B0503020204020204" charset="-122"/>
                <a:sym typeface="+mn-ea"/>
              </a:rPr>
              <a:t>06</a:t>
            </a:r>
            <a:endParaRPr lang="en-US" altLang="zh-CN" sz="6600" b="1" dirty="0">
              <a:solidFill>
                <a:schemeClr val="bg1"/>
              </a:solidFill>
              <a:latin typeface="微软雅黑" panose="020B0503020204020204" charset="-122"/>
              <a:ea typeface="微软雅黑" panose="020B0503020204020204" charset="-122"/>
              <a:sym typeface="+mn-ea"/>
            </a:endParaRPr>
          </a:p>
        </p:txBody>
      </p:sp>
    </p:spTree>
    <p:extLst>
      <p:ext uri="{BB962C8B-B14F-4D97-AF65-F5344CB8AC3E}">
        <p14:creationId xmlns:p14="http://schemas.microsoft.com/office/powerpoint/2010/main" val="179834625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iterate type="lt">
                                    <p:tmPct val="10000"/>
                                  </p:iterate>
                                  <p:childTnLst>
                                    <p:set>
                                      <p:cBhvr>
                                        <p:cTn id="6" dur="1" fill="hold">
                                          <p:stCondLst>
                                            <p:cond delay="0"/>
                                          </p:stCondLst>
                                        </p:cTn>
                                        <p:tgtEl>
                                          <p:spTgt spid="35"/>
                                        </p:tgtEl>
                                        <p:attrNameLst>
                                          <p:attrName>style.visibility</p:attrName>
                                        </p:attrNameLst>
                                      </p:cBhvr>
                                      <p:to>
                                        <p:strVal val="visible"/>
                                      </p:to>
                                    </p:set>
                                    <p:anim calcmode="lin" valueType="num">
                                      <p:cBhvr additive="base">
                                        <p:cTn id="7" dur="500" fill="hold"/>
                                        <p:tgtEl>
                                          <p:spTgt spid="35"/>
                                        </p:tgtEl>
                                        <p:attrNameLst>
                                          <p:attrName>ppt_x</p:attrName>
                                        </p:attrNameLst>
                                      </p:cBhvr>
                                      <p:tavLst>
                                        <p:tav tm="0">
                                          <p:val>
                                            <p:strVal val="1+#ppt_w/2"/>
                                          </p:val>
                                        </p:tav>
                                        <p:tav tm="100000">
                                          <p:val>
                                            <p:strVal val="#ppt_x"/>
                                          </p:val>
                                        </p:tav>
                                      </p:tavLst>
                                    </p:anim>
                                    <p:anim calcmode="lin" valueType="num">
                                      <p:cBhvr additive="base">
                                        <p:cTn id="8" dur="500" fill="hold"/>
                                        <p:tgtEl>
                                          <p:spTgt spid="35"/>
                                        </p:tgtEl>
                                        <p:attrNameLst>
                                          <p:attrName>ppt_y</p:attrName>
                                        </p:attrNameLst>
                                      </p:cBhvr>
                                      <p:tavLst>
                                        <p:tav tm="0">
                                          <p:val>
                                            <p:strVal val="#ppt_y"/>
                                          </p:val>
                                        </p:tav>
                                        <p:tav tm="100000">
                                          <p:val>
                                            <p:strVal val="#ppt_y"/>
                                          </p:val>
                                        </p:tav>
                                      </p:tavLst>
                                    </p:anim>
                                  </p:childTnLst>
                                </p:cTn>
                              </p:par>
                            </p:childTnLst>
                          </p:cTn>
                        </p:par>
                        <p:par>
                          <p:cTn id="9" fill="hold">
                            <p:stCondLst>
                              <p:cond delay="550"/>
                            </p:stCondLst>
                            <p:childTnLst>
                              <p:par>
                                <p:cTn id="10" presetID="26" presetClass="emph" presetSubtype="0" fill="hold" grpId="1" nodeType="afterEffect">
                                  <p:stCondLst>
                                    <p:cond delay="0"/>
                                  </p:stCondLst>
                                  <p:iterate type="lt">
                                    <p:tmPct val="0"/>
                                  </p:iterate>
                                  <p:childTnLst>
                                    <p:animEffect transition="out" filter="fade">
                                      <p:cBhvr>
                                        <p:cTn id="11" dur="500" tmFilter="0, 0; .2, .5; .8, .5; 1, 0"/>
                                        <p:tgtEl>
                                          <p:spTgt spid="35"/>
                                        </p:tgtEl>
                                      </p:cBhvr>
                                    </p:animEffect>
                                    <p:animScale>
                                      <p:cBhvr>
                                        <p:cTn id="12" dur="250" autoRev="1" fill="hold"/>
                                        <p:tgtEl>
                                          <p:spTgt spid="3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bldLvl="0" animBg="1"/>
      <p:bldP spid="35" grpId="1"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a:off x="0" y="627534"/>
            <a:ext cx="914400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3655747" y="123478"/>
            <a:ext cx="2031325" cy="461665"/>
          </a:xfrm>
          <a:prstGeom prst="rect">
            <a:avLst/>
          </a:prstGeom>
        </p:spPr>
        <p:txBody>
          <a:bodyPr wrap="none">
            <a:spAutoFit/>
          </a:bodyPr>
          <a:lstStyle/>
          <a:p>
            <a:r>
              <a:rPr lang="zh-CN" altLang="en-US" sz="2400" b="1" dirty="0" smtClean="0"/>
              <a:t>本门课程实验</a:t>
            </a:r>
            <a:endParaRPr lang="zh-CN" altLang="en-US" sz="2400" b="1" dirty="0"/>
          </a:p>
        </p:txBody>
      </p:sp>
      <p:sp>
        <p:nvSpPr>
          <p:cNvPr id="2" name="矩形 1"/>
          <p:cNvSpPr/>
          <p:nvPr/>
        </p:nvSpPr>
        <p:spPr>
          <a:xfrm>
            <a:off x="3655747" y="771550"/>
            <a:ext cx="1734962" cy="369332"/>
          </a:xfrm>
          <a:prstGeom prst="rect">
            <a:avLst/>
          </a:prstGeom>
        </p:spPr>
        <p:txBody>
          <a:bodyPr wrap="none">
            <a:spAutoFit/>
          </a:bodyPr>
          <a:lstStyle/>
          <a:p>
            <a:r>
              <a:rPr lang="zh-CN" altLang="en-US" dirty="0"/>
              <a:t>AUBOScript语言</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1720" y="1140382"/>
            <a:ext cx="5256584" cy="3570081"/>
          </a:xfrm>
          <a:prstGeom prst="rect">
            <a:avLst/>
          </a:prstGeom>
        </p:spPr>
      </p:pic>
    </p:spTree>
    <p:extLst>
      <p:ext uri="{BB962C8B-B14F-4D97-AF65-F5344CB8AC3E}">
        <p14:creationId xmlns:p14="http://schemas.microsoft.com/office/powerpoint/2010/main" val="3721443365"/>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3"/>
          <a:stretch>
            <a:fillRect/>
          </a:stretch>
        </p:blipFill>
        <p:spPr>
          <a:xfrm>
            <a:off x="1890476" y="2783703"/>
            <a:ext cx="1886873" cy="2149798"/>
          </a:xfrm>
          <a:prstGeom prst="rect">
            <a:avLst/>
          </a:prstGeom>
        </p:spPr>
      </p:pic>
      <p:sp>
        <p:nvSpPr>
          <p:cNvPr id="2" name="文本框 1"/>
          <p:cNvSpPr txBox="1"/>
          <p:nvPr/>
        </p:nvSpPr>
        <p:spPr>
          <a:xfrm>
            <a:off x="3851920" y="483518"/>
            <a:ext cx="1107996" cy="369332"/>
          </a:xfrm>
          <a:prstGeom prst="rect">
            <a:avLst/>
          </a:prstGeom>
          <a:noFill/>
        </p:spPr>
        <p:txBody>
          <a:bodyPr wrap="none" rtlCol="0">
            <a:spAutoFit/>
          </a:bodyPr>
          <a:lstStyle/>
          <a:p>
            <a:r>
              <a:rPr lang="zh-CN" altLang="en-US" dirty="0" smtClean="0"/>
              <a:t>扩展讨论</a:t>
            </a:r>
            <a:endParaRPr lang="zh-CN" altLang="en-US" dirty="0"/>
          </a:p>
        </p:txBody>
      </p:sp>
      <p:sp>
        <p:nvSpPr>
          <p:cNvPr id="3" name="文本框 2"/>
          <p:cNvSpPr txBox="1"/>
          <p:nvPr/>
        </p:nvSpPr>
        <p:spPr>
          <a:xfrm>
            <a:off x="1933667" y="1059582"/>
            <a:ext cx="1800493" cy="369332"/>
          </a:xfrm>
          <a:prstGeom prst="rect">
            <a:avLst/>
          </a:prstGeom>
          <a:noFill/>
        </p:spPr>
        <p:txBody>
          <a:bodyPr wrap="none" rtlCol="0">
            <a:spAutoFit/>
          </a:bodyPr>
          <a:lstStyle/>
          <a:p>
            <a:r>
              <a:rPr lang="zh-CN" altLang="en-US" dirty="0" smtClean="0"/>
              <a:t>图形化编程语言</a:t>
            </a:r>
            <a:endParaRPr lang="zh-CN" altLang="en-US" dirty="0"/>
          </a:p>
        </p:txBody>
      </p:sp>
      <p:sp>
        <p:nvSpPr>
          <p:cNvPr id="4" name="文本框 3"/>
          <p:cNvSpPr txBox="1"/>
          <p:nvPr/>
        </p:nvSpPr>
        <p:spPr>
          <a:xfrm>
            <a:off x="5681106" y="1059582"/>
            <a:ext cx="991041" cy="369332"/>
          </a:xfrm>
          <a:prstGeom prst="rect">
            <a:avLst/>
          </a:prstGeom>
          <a:noFill/>
        </p:spPr>
        <p:txBody>
          <a:bodyPr wrap="none" rtlCol="0">
            <a:spAutoFit/>
          </a:bodyPr>
          <a:lstStyle/>
          <a:p>
            <a:r>
              <a:rPr lang="en-US" altLang="zh-CN" dirty="0" err="1" smtClean="0"/>
              <a:t>ChatGPT</a:t>
            </a:r>
            <a:endParaRPr lang="zh-CN" altLang="en-US" dirty="0"/>
          </a:p>
        </p:txBody>
      </p:sp>
      <p:pic>
        <p:nvPicPr>
          <p:cNvPr id="23554" name="Picture 2" descr="https://bkimg.cdn.bcebos.com/pic/4d086e061d950a7b0208ab7a328975d9f2d3572c634e?x-bce-process=image/format,f_auto/quality,Q_70/resize,m_lfit,limit_1,w_53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8950" y="1724406"/>
            <a:ext cx="3245424" cy="3209095"/>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https://bkimg.cdn.bcebos.com/pic/f31fbe096b63f6246b604f166c14fcf81a4c510f05df?x-bce-process=image/format,f_auto/quality,Q_70/resize,m_lfit,limit_1,w_53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3681" y="1699086"/>
            <a:ext cx="3353271" cy="1889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822171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椭圆 2"/>
          <p:cNvSpPr/>
          <p:nvPr/>
        </p:nvSpPr>
        <p:spPr>
          <a:xfrm>
            <a:off x="1943735" y="-3544570"/>
            <a:ext cx="5256530" cy="52565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3"/>
          <p:cNvSpPr txBox="1"/>
          <p:nvPr/>
        </p:nvSpPr>
        <p:spPr>
          <a:xfrm>
            <a:off x="1352550" y="2116587"/>
            <a:ext cx="6821170" cy="829945"/>
          </a:xfrm>
          <a:prstGeom prst="rect">
            <a:avLst/>
          </a:prstGeom>
          <a:noFill/>
          <a:effectLst/>
        </p:spPr>
        <p:txBody>
          <a:bodyPr wrap="square" rtlCol="0">
            <a:spAutoFit/>
          </a:bodyPr>
          <a:lstStyle/>
          <a:p>
            <a:pPr algn="ctr"/>
            <a:r>
              <a:rPr lang="en-US" sz="4800" b="1" dirty="0" smtClean="0">
                <a:solidFill>
                  <a:schemeClr val="tx2">
                    <a:lumMod val="60000"/>
                    <a:lumOff val="40000"/>
                  </a:schemeClr>
                </a:solidFill>
                <a:latin typeface="微软雅黑" panose="020B0503020204020204" charset="-122"/>
                <a:ea typeface="微软雅黑" panose="020B0503020204020204" charset="-122"/>
                <a:cs typeface="微软雅黑" panose="020B0503020204020204" charset="-122"/>
              </a:rPr>
              <a:t>THANK YOU</a:t>
            </a:r>
          </a:p>
        </p:txBody>
      </p:sp>
      <p:sp>
        <p:nvSpPr>
          <p:cNvPr id="4" name="椭圆 3"/>
          <p:cNvSpPr/>
          <p:nvPr/>
        </p:nvSpPr>
        <p:spPr>
          <a:xfrm>
            <a:off x="2304415" y="-3183890"/>
            <a:ext cx="4535170" cy="4535170"/>
          </a:xfrm>
          <a:prstGeom prst="ellipse">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iterate type="lt">
                                    <p:tmPct val="10000"/>
                                  </p:iterate>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新"/>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160464_4*l_h_i*1_1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160464_4*l_h_f*1_1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160464_4*l_h_a*1_1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160464_4*l_h_i*1_2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160464_4*l_h_f*1_2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160464_4*l_h_a*1_2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diagram160464_4*l_h_i*1_3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160464_4*l_h_f*1_3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160464_4*l_h_a*1_3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diagram160464_4*l_h_i*1_4_1"/>
  <p:tag name="KSO_WM_TEMPLATE_CATEGORY" val="diagram"/>
  <p:tag name="KSO_WM_TEMPLATE_INDEX" val="160464"/>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160464_4*l_h_a*1_4_1"/>
  <p:tag name="KSO_WM_TEMPLATE_CATEGORY" val="diagram"/>
  <p:tag name="KSO_WM_TEMPLATE_INDEX" val="160464"/>
  <p:tag name="KSO_WM_UNIT_LAYERLEVEL" val="1_1_1"/>
  <p:tag name="KSO_WM_TAG_VERSION" val="1.0"/>
  <p:tag name="KSO_WM_BEAUTIFY_FLAG" val="#wm#"/>
  <p:tag name="KSO_WM_UNIT_PRESET_TEXT" val="单击此处添加标题"/>
  <p:tag name="KSO_WM_UNIT_TEXT_FILL_FORE_SCHEMECOLOR_INDEX" val="5"/>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160464_4*l_h_f*1_4_1"/>
  <p:tag name="KSO_WM_TEMPLATE_CATEGORY" val="diagram"/>
  <p:tag name="KSO_WM_TEMPLATE_INDEX" val="160464"/>
  <p:tag name="KSO_WM_UNIT_LAYERLEVEL" val="1_1_1"/>
  <p:tag name="KSO_WM_TAG_VERSION" val="1.0"/>
  <p:tag name="KSO_WM_BEAUTIFY_FLAG" val="#wm#"/>
  <p:tag name="KSO_WM_UNIT_PRESET_TEXT" val="单击此处输入你的正文，请尽量言简意赅的阐述观点"/>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diagram20201420_3*m_h_i*1_2_1"/>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2"/>
  <p:tag name="KSO_WM_UNIT_ID" val="diagram20201420_3*m_h_i*1_2_2"/>
  <p:tag name="KSO_WM_TEMPLATE_CATEGORY" val="diagram"/>
  <p:tag name="KSO_WM_TEMPLATE_INDEX" val="20201420"/>
  <p:tag name="KSO_WM_UNIT_LAYERLEVEL" val="1_1_1"/>
  <p:tag name="KSO_WM_TAG_VERSION" val="1.0"/>
  <p:tag name="KSO_WM_BEAUTIFY_FLAG" val="#wm#"/>
  <p:tag name="KSO_WM_UNIT_FILL_FORE_SCHEMECOLOR_INDEX" val="6"/>
  <p:tag name="KSO_WM_UNI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diagram20201420_3*m_h_i*1_2_3"/>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diagram20201420_3*m_h_i*1_3_1"/>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2"/>
  <p:tag name="KSO_WM_UNIT_ID" val="diagram20201420_3*m_h_i*1_3_2"/>
  <p:tag name="KSO_WM_TEMPLATE_CATEGORY" val="diagram"/>
  <p:tag name="KSO_WM_TEMPLATE_INDEX" val="20201420"/>
  <p:tag name="KSO_WM_UNIT_LAYERLEVEL" val="1_1_1"/>
  <p:tag name="KSO_WM_TAG_VERSION" val="1.0"/>
  <p:tag name="KSO_WM_BEAUTIFY_FLAG" val="#wm#"/>
  <p:tag name="KSO_WM_UNIT_FILL_FORE_SCHEMECOLOR_INDEX" val="5"/>
  <p:tag name="KSO_WM_UNI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diagram20201420_3*m_h_i*1_3_3"/>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diagram20201420_3*m_h_i*1_4_3"/>
  <p:tag name="KSO_WM_TEMPLATE_CATEGORY" val="diagram"/>
  <p:tag name="KSO_WM_TEMPLATE_INDEX" val="20201420"/>
  <p:tag name="KSO_WM_UNIT_LAYERLEVEL" val="1_1_1"/>
  <p:tag name="KSO_WM_TAG_VERSION" val="1.0"/>
  <p:tag name="KSO_WM_BEAUTIFY_FLAG" val="#wm#"/>
  <p:tag name="KSO_WM_UNIT_FILL_FORE_SCHEMECOLOR_INDEX" val="14"/>
  <p:tag name="KSO_WM_UNI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i"/>
  <p:tag name="KSO_WM_UNIT_INDEX" val="1_4_2"/>
  <p:tag name="KSO_WM_UNIT_ID" val="diagram20201420_3*m_h_i*1_4_2"/>
  <p:tag name="KSO_WM_TEMPLATE_CATEGORY" val="diagram"/>
  <p:tag name="KSO_WM_TEMPLATE_INDEX" val="20201420"/>
  <p:tag name="KSO_WM_UNIT_LAYERLEVEL" val="1_1_1"/>
  <p:tag name="KSO_WM_TAG_VERSION" val="1.0"/>
  <p:tag name="KSO_WM_BEAUTIFY_FLAG" val="#wm#"/>
  <p:tag name="KSO_WM_UNIT_FILL_FORE_SCHEMECOLOR_INDEX" val="6"/>
  <p:tag name="KSO_WM_UNI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2_1"/>
  <p:tag name="KSO_WM_UNIT_ID" val="diagram20201420_3*m_h_z*1_2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3_1"/>
  <p:tag name="KSO_WM_UNIT_ID" val="diagram20201420_3*m_h_z*1_3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4_1"/>
  <p:tag name="KSO_WM_UNIT_ID" val="diagram20201420_3*m_h_z*1_4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m1-1"/>
  <p:tag name="KSO_WM_UNIT_TYPE" val="m_h_z"/>
  <p:tag name="KSO_WM_UNIT_INDEX" val="1_5_1"/>
  <p:tag name="KSO_WM_UNIT_ID" val="diagram20201420_3*m_h_z*1_5_1"/>
  <p:tag name="KSO_WM_TEMPLATE_CATEGORY" val="diagram"/>
  <p:tag name="KSO_WM_TEMPLATE_INDEX" val="20201420"/>
  <p:tag name="KSO_WM_UNIT_LAYERLEVEL" val="1_1_1"/>
  <p:tag name="KSO_WM_TAG_VERSION" val="1.0"/>
  <p:tag name="KSO_WM_BEAUTIFY_FLAG" val="#wm#"/>
  <p:tag name="KSO_WM_UNIT_FILL_FORE_SCHEMECOLOR_INDEX" val="7"/>
  <p:tag name="KSO_WM_UNI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diagram20201420_3*m_h_f*1_2_1"/>
  <p:tag name="KSO_WM_TEMPLATE_CATEGORY" val="diagram"/>
  <p:tag name="KSO_WM_TEMPLATE_INDEX" val="20201420"/>
  <p:tag name="KSO_WM_UNIT_LAYERLEVEL" val="1_1_1"/>
  <p:tag name="KSO_WM_TAG_VERSION" val="1.0"/>
  <p:tag name="KSO_WM_BEAUTIFY_FLAG" val="#wm#"/>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2_1"/>
  <p:tag name="KSO_WM_UNIT_ID" val="diagram20201420_3*m_h_a*1_2_1"/>
  <p:tag name="KSO_WM_TEMPLATE_CATEGORY" val="diagram"/>
  <p:tag name="KSO_WM_TEMPLATE_INDEX" val="20201420"/>
  <p:tag name="KSO_WM_UNIT_LAYERLEVEL" val="1_1_1"/>
  <p:tag name="KSO_WM_TAG_VERSION" val="1.0"/>
  <p:tag name="KSO_WM_BEAUTIFY_FLAG" val="#wm#"/>
  <p:tag name="KSO_WM_UNIT_TEXT_FILL_FORE_SCHEMECOLOR_INDEX" val="6"/>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diagram20201420_3*m_h_f*1_3_1"/>
  <p:tag name="KSO_WM_TEMPLATE_CATEGORY" val="diagram"/>
  <p:tag name="KSO_WM_TEMPLATE_INDEX" val="20201420"/>
  <p:tag name="KSO_WM_UNIT_LAYERLEVEL" val="1_1_1"/>
  <p:tag name="KSO_WM_TAG_VERSION" val="1.0"/>
  <p:tag name="KSO_WM_BEAUTIFY_FLAG" val="#wm#"/>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3_1"/>
  <p:tag name="KSO_WM_UNIT_ID" val="diagram20201420_3*m_h_a*1_3_1"/>
  <p:tag name="KSO_WM_TEMPLATE_CATEGORY" val="diagram"/>
  <p:tag name="KSO_WM_TEMPLATE_INDEX" val="20201420"/>
  <p:tag name="KSO_WM_UNIT_LAYERLEVEL" val="1_1_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PRESET_TEXT" val="单击此处添加文本具体内容，简明扼要的阐述您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diagram20201420_3*m_h_f*1_4_1"/>
  <p:tag name="KSO_WM_TEMPLATE_CATEGORY" val="diagram"/>
  <p:tag name="KSO_WM_TEMPLATE_INDEX" val="20201420"/>
  <p:tag name="KSO_WM_UNIT_LAYERLEVEL" val="1_1_1"/>
  <p:tag name="KSO_WM_TAG_VERSION" val="1.0"/>
  <p:tag name="KSO_WM_BEAUTIFY_FLAG" val="#wm#"/>
  <p:tag name="KSO_WM_UNIT_TEXT_FILL_FORE_SCHEMECOLOR_INDEX" val="13"/>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UNIT_ISCONTENTSTITLE" val="0"/>
  <p:tag name="KSO_WM_UNIT_PRESET_TEXT" val="添加标题"/>
  <p:tag name="KSO_WM_UNIT_NOCLEAR" val="0"/>
  <p:tag name="KSO_WM_UNIT_VALUE" val="6"/>
  <p:tag name="KSO_WM_UNIT_HIGHLIGHT" val="0"/>
  <p:tag name="KSO_WM_UNIT_COMPATIBLE" val="0"/>
  <p:tag name="KSO_WM_UNIT_DIAGRAM_ISNUMVISUAL" val="0"/>
  <p:tag name="KSO_WM_UNIT_DIAGRAM_ISREFERUNIT" val="0"/>
  <p:tag name="KSO_WM_DIAGRAM_GROUP_CODE" val="m1-1"/>
  <p:tag name="KSO_WM_UNIT_TYPE" val="m_h_a"/>
  <p:tag name="KSO_WM_UNIT_INDEX" val="1_4_1"/>
  <p:tag name="KSO_WM_UNIT_ID" val="diagram20201420_3*m_h_a*1_4_1"/>
  <p:tag name="KSO_WM_TEMPLATE_CATEGORY" val="diagram"/>
  <p:tag name="KSO_WM_TEMPLATE_INDEX" val="20201420"/>
  <p:tag name="KSO_WM_UNIT_LAYERLEVEL" val="1_1_1"/>
  <p:tag name="KSO_WM_TAG_VERSION" val="1.0"/>
  <p:tag name="KSO_WM_BEAUTIFY_FLAG" val="#wm#"/>
  <p:tag name="KSO_WM_UNIT_TEXT_FILL_FORE_SCHEMECOLOR_INDEX" val="6"/>
  <p:tag name="KSO_WM_UNIT_TEXT_FILL_TYPE"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8531</Words>
  <Application>Microsoft Office PowerPoint</Application>
  <PresentationFormat>全屏显示(16:9)</PresentationFormat>
  <Paragraphs>664</Paragraphs>
  <Slides>41</Slides>
  <Notes>40</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1</vt:i4>
      </vt:variant>
      <vt:variant>
        <vt:lpstr>幻灯片标题</vt:lpstr>
      </vt:variant>
      <vt:variant>
        <vt:i4>41</vt:i4>
      </vt:variant>
    </vt:vector>
  </HeadingPairs>
  <TitlesOfParts>
    <vt:vector size="54" baseType="lpstr">
      <vt:lpstr>楷体</vt:lpstr>
      <vt:lpstr>楷体_GB2312</vt:lpstr>
      <vt:lpstr>宋体</vt:lpstr>
      <vt:lpstr>宋体-简</vt:lpstr>
      <vt:lpstr>微软雅黑</vt:lpstr>
      <vt:lpstr>Arial</vt:lpstr>
      <vt:lpstr>Calibri</vt:lpstr>
      <vt:lpstr>Courier New</vt:lpstr>
      <vt:lpstr>Times New Roman</vt:lpstr>
      <vt:lpstr>Wingdings</vt:lpstr>
      <vt:lpstr>Office 主题​​</vt:lpstr>
      <vt:lpstr>自定义设计方案</vt:lpstr>
      <vt:lpstr>Visio</vt:lpstr>
      <vt:lpstr>PowerPoint 演示文稿</vt:lpstr>
      <vt:lpstr>参考书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7</cp:revision>
  <dcterms:created xsi:type="dcterms:W3CDTF">2017-03-24T14:39:00Z</dcterms:created>
  <dcterms:modified xsi:type="dcterms:W3CDTF">2026-06-17T06:29:03Z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2052-11.1.0.9912</vt:lpwstr>
  </property>
</Properties>
</file>