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2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24.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2"/>
  </p:sldMasterIdLst>
  <p:notesMasterIdLst>
    <p:notesMasterId r:id="rId43"/>
  </p:notesMasterIdLst>
  <p:handoutMasterIdLst>
    <p:handoutMasterId r:id="rId44"/>
  </p:handoutMasterIdLst>
  <p:sldIdLst>
    <p:sldId id="437" r:id="rId3"/>
    <p:sldId id="430" r:id="rId4"/>
    <p:sldId id="401" r:id="rId5"/>
    <p:sldId id="284" r:id="rId6"/>
    <p:sldId id="402" r:id="rId7"/>
    <p:sldId id="403" r:id="rId8"/>
    <p:sldId id="404" r:id="rId9"/>
    <p:sldId id="411" r:id="rId10"/>
    <p:sldId id="405" r:id="rId11"/>
    <p:sldId id="406" r:id="rId12"/>
    <p:sldId id="408" r:id="rId13"/>
    <p:sldId id="407" r:id="rId14"/>
    <p:sldId id="413" r:id="rId15"/>
    <p:sldId id="412" r:id="rId16"/>
    <p:sldId id="409" r:id="rId17"/>
    <p:sldId id="414" r:id="rId18"/>
    <p:sldId id="415" r:id="rId19"/>
    <p:sldId id="416" r:id="rId20"/>
    <p:sldId id="417" r:id="rId21"/>
    <p:sldId id="418" r:id="rId22"/>
    <p:sldId id="419" r:id="rId23"/>
    <p:sldId id="420" r:id="rId24"/>
    <p:sldId id="421" r:id="rId25"/>
    <p:sldId id="422" r:id="rId26"/>
    <p:sldId id="423" r:id="rId27"/>
    <p:sldId id="427" r:id="rId28"/>
    <p:sldId id="438" r:id="rId29"/>
    <p:sldId id="431" r:id="rId30"/>
    <p:sldId id="424" r:id="rId31"/>
    <p:sldId id="432" r:id="rId32"/>
    <p:sldId id="433" r:id="rId33"/>
    <p:sldId id="435" r:id="rId34"/>
    <p:sldId id="439" r:id="rId35"/>
    <p:sldId id="440" r:id="rId36"/>
    <p:sldId id="425" r:id="rId37"/>
    <p:sldId id="426" r:id="rId38"/>
    <p:sldId id="428" r:id="rId39"/>
    <p:sldId id="436" r:id="rId40"/>
    <p:sldId id="429" r:id="rId41"/>
    <p:sldId id="399" r:id="rId42"/>
  </p:sldIdLst>
  <p:sldSz cx="9144000" cy="5143500" type="screen16x9"/>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4">
          <p15:clr>
            <a:srgbClr val="A4A3A4"/>
          </p15:clr>
        </p15:guide>
        <p15:guide id="2" pos="281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58ED5"/>
    <a:srgbClr val="FFFFFF"/>
    <a:srgbClr val="0065B0"/>
    <a:srgbClr val="268099"/>
    <a:srgbClr val="005CA8"/>
    <a:srgbClr val="4EE5FA"/>
    <a:srgbClr val="0060A8"/>
    <a:srgbClr val="19C3FF"/>
    <a:srgbClr val="00C0A9"/>
    <a:srgbClr val="00A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80572" autoAdjust="0"/>
  </p:normalViewPr>
  <p:slideViewPr>
    <p:cSldViewPr>
      <p:cViewPr varScale="1">
        <p:scale>
          <a:sx n="91" d="100"/>
          <a:sy n="91" d="100"/>
        </p:scale>
        <p:origin x="876" y="90"/>
      </p:cViewPr>
      <p:guideLst>
        <p:guide orient="horz" pos="1594"/>
        <p:guide pos="2815"/>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2024/4/2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2024/4/2</a:t>
            </a:fld>
            <a:endParaRPr lang="zh-CN" altLang="en-US"/>
          </a:p>
        </p:txBody>
      </p:sp>
      <p:sp>
        <p:nvSpPr>
          <p:cNvPr id="4" name="幻灯片图像占位符 3"/>
          <p:cNvSpPr>
            <a:spLocks noGrp="1" noRot="1" noChangeAspect="1"/>
          </p:cNvSpPr>
          <p:nvPr>
            <p:ph type="sldImg" idx="2"/>
          </p:nvPr>
        </p:nvSpPr>
        <p:spPr>
          <a:xfrm>
            <a:off x="381534"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extLst>
      <p:ext uri="{BB962C8B-B14F-4D97-AF65-F5344CB8AC3E}">
        <p14:creationId xmlns:p14="http://schemas.microsoft.com/office/powerpoint/2010/main" val="4270143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This is an introductory of robotics course, containing both fundamental as well as some more advanced concepts. It presents a broad overview of robotics with focus on manipulators and mobile robots, and includes robot kinematics, dynamics, planning and control, programming language.</a:t>
            </a:r>
            <a:endParaRPr lang="zh-CN" altLang="zh-CN" dirty="0" smtClean="0"/>
          </a:p>
          <a:p>
            <a:r>
              <a:rPr lang="en-US" altLang="zh-CN" dirty="0" smtClean="0"/>
              <a:t>The course is divided between the following areas:</a:t>
            </a:r>
            <a:endParaRPr lang="zh-CN" altLang="zh-CN" dirty="0" smtClean="0"/>
          </a:p>
          <a:p>
            <a:r>
              <a:rPr lang="en-US" altLang="zh-CN" dirty="0" smtClean="0"/>
              <a:t>Robotics Introduction</a:t>
            </a:r>
          </a:p>
          <a:p>
            <a:r>
              <a:rPr lang="en-US" altLang="zh-CN" dirty="0" smtClean="0"/>
              <a:t>System Model of Robot</a:t>
            </a:r>
            <a:endParaRPr lang="zh-CN" altLang="zh-CN" dirty="0" smtClean="0"/>
          </a:p>
          <a:p>
            <a:r>
              <a:rPr lang="en-US" altLang="zh-CN" dirty="0" smtClean="0"/>
              <a:t>Robot kinematics</a:t>
            </a:r>
            <a:endParaRPr lang="zh-CN" altLang="zh-CN" dirty="0" smtClean="0"/>
          </a:p>
          <a:p>
            <a:r>
              <a:rPr lang="en-US" altLang="zh-CN" dirty="0" smtClean="0"/>
              <a:t>Robot dynamics</a:t>
            </a:r>
            <a:endParaRPr lang="zh-CN" altLang="zh-CN" dirty="0" smtClean="0"/>
          </a:p>
          <a:p>
            <a:r>
              <a:rPr lang="en-US" altLang="zh-CN" dirty="0" smtClean="0"/>
              <a:t>Robot control</a:t>
            </a:r>
            <a:endParaRPr lang="zh-CN" altLang="zh-CN" dirty="0" smtClean="0"/>
          </a:p>
          <a:p>
            <a:r>
              <a:rPr lang="en-US" altLang="zh-CN" dirty="0" smtClean="0"/>
              <a:t>Robot motion planning</a:t>
            </a:r>
          </a:p>
          <a:p>
            <a:r>
              <a:rPr lang="en-US" altLang="zh-CN"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a:t>
            </a:fld>
            <a:endParaRPr lang="zh-CN" altLang="en-US"/>
          </a:p>
        </p:txBody>
      </p:sp>
    </p:spTree>
    <p:extLst>
      <p:ext uri="{BB962C8B-B14F-4D97-AF65-F5344CB8AC3E}">
        <p14:creationId xmlns:p14="http://schemas.microsoft.com/office/powerpoint/2010/main" val="4052304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机器人运动学主要研究在不考虑作用于机器人的力和力矩的情况下，机器人相对于固定参考坐标系的运动与时间之间的关系，通常使用三维空间坐标系以及空间物体的位姿来描述机器人的运动。对于移动机器人来说，我们通常只考虑平面坐标系下的移动，平面移动机器人的运动仅描述机器人位置与时间之间的关系；而对于空间机器人（包括飞行机器人、水下航行机器人、工业机械臂等）来说，则要考虑三维坐标环境下的机器人位姿，即位置和姿态。</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extLst>
      <p:ext uri="{BB962C8B-B14F-4D97-AF65-F5344CB8AC3E}">
        <p14:creationId xmlns:p14="http://schemas.microsoft.com/office/powerpoint/2010/main" val="4094769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长期以来，工业机械臂被固定在某个操作工位，替代人工作业，其运动范围有限。相反，移动机器人能够行走，有着更大的作业空间。</a:t>
                </a:r>
              </a:p>
              <a:p>
                <a:r>
                  <a:rPr lang="zh-CN" altLang="zh-CN" sz="1200" kern="1200" dirty="0" smtClean="0">
                    <a:solidFill>
                      <a:schemeClr val="tx1"/>
                    </a:solidFill>
                    <a:effectLst/>
                    <a:latin typeface="+mn-lt"/>
                    <a:ea typeface="+mn-ea"/>
                    <a:cs typeface="+mn-cs"/>
                  </a:rPr>
                  <a:t>移动机器人的运动学取决于其移动机构</a:t>
                </a:r>
                <a:r>
                  <a:rPr lang="en-US" altLang="zh-CN" sz="1200" kern="1200" dirty="0" smtClean="0">
                    <a:solidFill>
                      <a:schemeClr val="tx1"/>
                    </a:solidFill>
                    <a:effectLst/>
                    <a:latin typeface="+mn-lt"/>
                    <a:ea typeface="+mn-ea"/>
                    <a:cs typeface="+mn-cs"/>
                  </a:rPr>
                  <a:t>(Locomotion Mechanism)</a:t>
                </a:r>
                <a:r>
                  <a:rPr lang="zh-CN" altLang="zh-CN" sz="1200" kern="1200" dirty="0" smtClean="0">
                    <a:solidFill>
                      <a:schemeClr val="tx1"/>
                    </a:solidFill>
                    <a:effectLst/>
                    <a:latin typeface="+mn-lt"/>
                    <a:ea typeface="+mn-ea"/>
                    <a:cs typeface="+mn-cs"/>
                  </a:rPr>
                  <a:t>及相应的驱动系统。如图</a:t>
                </a:r>
                <a:r>
                  <a:rPr lang="en-US" altLang="zh-CN" sz="1200" kern="1200" dirty="0" smtClean="0">
                    <a:solidFill>
                      <a:schemeClr val="tx1"/>
                    </a:solidFill>
                    <a:effectLst/>
                    <a:latin typeface="+mn-lt"/>
                    <a:ea typeface="+mn-ea"/>
                    <a:cs typeface="+mn-cs"/>
                  </a:rPr>
                  <a:t>3.44</a:t>
                </a:r>
                <a:r>
                  <a:rPr lang="zh-CN" altLang="zh-CN" sz="1200" kern="1200" dirty="0" smtClean="0">
                    <a:solidFill>
                      <a:schemeClr val="tx1"/>
                    </a:solidFill>
                    <a:effectLst/>
                    <a:latin typeface="+mn-lt"/>
                    <a:ea typeface="+mn-ea"/>
                    <a:cs typeface="+mn-cs"/>
                  </a:rPr>
                  <a:t>所示，现有的移动机器人，包括行走、跳跃、跑动、滑动、溜冰、游泳、飞翔和滚动的研究型机器人，其移动机构的设计往往来自于自然界生物运动的启示。</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而有源动力轮则是人类发明的，虽说自然界的生物并不存在这样的运动类型，但可以将两足行走系统近似为一个边长为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m:t>
                    </m:r>
                  </m:oMath>
                </a14:m>
                <a:r>
                  <a:rPr lang="zh-CN" altLang="zh-CN" sz="1200" kern="1200" dirty="0">
                    <a:solidFill>
                      <a:schemeClr val="tx1"/>
                    </a:solidFill>
                    <a:effectLst/>
                    <a:latin typeface="+mn-lt"/>
                    <a:ea typeface="+mn-ea"/>
                    <a:cs typeface="+mn-cs"/>
                  </a:rPr>
                  <a:t>的多边形滚动，如图</a:t>
                </a:r>
                <a:r>
                  <a:rPr lang="en-US" altLang="zh-CN" sz="1200" kern="1200" dirty="0">
                    <a:solidFill>
                      <a:schemeClr val="tx1"/>
                    </a:solidFill>
                    <a:effectLst/>
                    <a:latin typeface="+mn-lt"/>
                    <a:ea typeface="+mn-ea"/>
                    <a:cs typeface="+mn-cs"/>
                  </a:rPr>
                  <a:t>3.45</a:t>
                </a:r>
                <a:r>
                  <a:rPr lang="zh-CN" altLang="zh-CN" sz="1200" kern="1200" dirty="0">
                    <a:solidFill>
                      <a:schemeClr val="tx1"/>
                    </a:solidFill>
                    <a:effectLst/>
                    <a:latin typeface="+mn-lt"/>
                    <a:ea typeface="+mn-ea"/>
                    <a:cs typeface="+mn-cs"/>
                  </a:rPr>
                  <a:t>所示，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m:t>
                    </m:r>
                  </m:oMath>
                </a14:m>
                <a:r>
                  <a:rPr lang="zh-CN" altLang="zh-CN" sz="1200" kern="1200" dirty="0">
                    <a:solidFill>
                      <a:schemeClr val="tx1"/>
                    </a:solidFill>
                    <a:effectLst/>
                    <a:latin typeface="+mn-lt"/>
                    <a:ea typeface="+mn-ea"/>
                    <a:cs typeface="+mn-cs"/>
                  </a:rPr>
                  <a:t>可以看做是步伐跨距，随着步距的减小，多边形就逼近为一个圆或轮。</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长期以来，工业机械臂被固定在某个操作工位，替代人工作业，其运动范围有限。相反，移动机器人能够行走，有着更大的作业空间。</a:t>
                </a:r>
              </a:p>
              <a:p>
                <a:r>
                  <a:rPr lang="zh-CN" altLang="zh-CN" sz="1200" kern="1200" dirty="0" smtClean="0">
                    <a:solidFill>
                      <a:schemeClr val="tx1"/>
                    </a:solidFill>
                    <a:effectLst/>
                    <a:latin typeface="+mn-lt"/>
                    <a:ea typeface="+mn-ea"/>
                    <a:cs typeface="+mn-cs"/>
                  </a:rPr>
                  <a:t>移动机器人的运动学取决于其移动机构</a:t>
                </a:r>
                <a:r>
                  <a:rPr lang="en-US" altLang="zh-CN" sz="1200" kern="1200" dirty="0" smtClean="0">
                    <a:solidFill>
                      <a:schemeClr val="tx1"/>
                    </a:solidFill>
                    <a:effectLst/>
                    <a:latin typeface="+mn-lt"/>
                    <a:ea typeface="+mn-ea"/>
                    <a:cs typeface="+mn-cs"/>
                  </a:rPr>
                  <a:t>(Locomotion Mechanism)</a:t>
                </a:r>
                <a:r>
                  <a:rPr lang="zh-CN" altLang="zh-CN" sz="1200" kern="1200" dirty="0" smtClean="0">
                    <a:solidFill>
                      <a:schemeClr val="tx1"/>
                    </a:solidFill>
                    <a:effectLst/>
                    <a:latin typeface="+mn-lt"/>
                    <a:ea typeface="+mn-ea"/>
                    <a:cs typeface="+mn-cs"/>
                  </a:rPr>
                  <a:t>及相应的驱动系统。如图</a:t>
                </a:r>
                <a:r>
                  <a:rPr lang="en-US" altLang="zh-CN" sz="1200" kern="1200" dirty="0" smtClean="0">
                    <a:solidFill>
                      <a:schemeClr val="tx1"/>
                    </a:solidFill>
                    <a:effectLst/>
                    <a:latin typeface="+mn-lt"/>
                    <a:ea typeface="+mn-ea"/>
                    <a:cs typeface="+mn-cs"/>
                  </a:rPr>
                  <a:t>3.44</a:t>
                </a:r>
                <a:r>
                  <a:rPr lang="zh-CN" altLang="zh-CN" sz="1200" kern="1200" dirty="0" smtClean="0">
                    <a:solidFill>
                      <a:schemeClr val="tx1"/>
                    </a:solidFill>
                    <a:effectLst/>
                    <a:latin typeface="+mn-lt"/>
                    <a:ea typeface="+mn-ea"/>
                    <a:cs typeface="+mn-cs"/>
                  </a:rPr>
                  <a:t>所示，现有的移动机器人，包括行走、跳跃、跑动、滑动、溜冰、游泳、飞翔和滚动的研究型机器人，其移动机构的设计往往来自于自然界生物运动的启示。</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而有源动力轮则是人类发明的，虽说自然界的生物并不存在这样的运动类型，但可以将两足行走系统近似为一个边长为</a:t>
                </a:r>
                <a:r>
                  <a:rPr lang="en-US" altLang="zh-CN" sz="1200" i="0" kern="1200">
                    <a:solidFill>
                      <a:schemeClr val="tx1"/>
                    </a:solidFill>
                    <a:effectLst/>
                    <a:latin typeface="+mn-lt"/>
                    <a:ea typeface="+mn-ea"/>
                    <a:cs typeface="+mn-cs"/>
                  </a:rPr>
                  <a:t>𝑑</a:t>
                </a:r>
                <a:r>
                  <a:rPr lang="zh-CN" altLang="zh-CN" sz="1200" kern="1200" dirty="0">
                    <a:solidFill>
                      <a:schemeClr val="tx1"/>
                    </a:solidFill>
                    <a:effectLst/>
                    <a:latin typeface="+mn-lt"/>
                    <a:ea typeface="+mn-ea"/>
                    <a:cs typeface="+mn-cs"/>
                  </a:rPr>
                  <a:t>的多边形滚动，如图</a:t>
                </a:r>
                <a:r>
                  <a:rPr lang="en-US" altLang="zh-CN" sz="1200" kern="1200" dirty="0">
                    <a:solidFill>
                      <a:schemeClr val="tx1"/>
                    </a:solidFill>
                    <a:effectLst/>
                    <a:latin typeface="+mn-lt"/>
                    <a:ea typeface="+mn-ea"/>
                    <a:cs typeface="+mn-cs"/>
                  </a:rPr>
                  <a:t>3.45</a:t>
                </a:r>
                <a:r>
                  <a:rPr lang="zh-CN" altLang="zh-CN" sz="1200" kern="1200" dirty="0">
                    <a:solidFill>
                      <a:schemeClr val="tx1"/>
                    </a:solidFill>
                    <a:effectLst/>
                    <a:latin typeface="+mn-lt"/>
                    <a:ea typeface="+mn-ea"/>
                    <a:cs typeface="+mn-cs"/>
                  </a:rPr>
                  <a:t>所示，</a:t>
                </a:r>
                <a:r>
                  <a:rPr lang="en-US" altLang="zh-CN" sz="1200" i="0" kern="1200">
                    <a:solidFill>
                      <a:schemeClr val="tx1"/>
                    </a:solidFill>
                    <a:effectLst/>
                    <a:latin typeface="+mn-lt"/>
                    <a:ea typeface="+mn-ea"/>
                    <a:cs typeface="+mn-cs"/>
                  </a:rPr>
                  <a:t>𝑑</a:t>
                </a:r>
                <a:r>
                  <a:rPr lang="zh-CN" altLang="zh-CN" sz="1200" kern="1200" dirty="0">
                    <a:solidFill>
                      <a:schemeClr val="tx1"/>
                    </a:solidFill>
                    <a:effectLst/>
                    <a:latin typeface="+mn-lt"/>
                    <a:ea typeface="+mn-ea"/>
                    <a:cs typeface="+mn-cs"/>
                  </a:rPr>
                  <a:t>可以看做是步伐跨距，随着步距的减小，多边形就逼近为一个圆或轮。</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extLst>
      <p:ext uri="{BB962C8B-B14F-4D97-AF65-F5344CB8AC3E}">
        <p14:creationId xmlns:p14="http://schemas.microsoft.com/office/powerpoint/2010/main" val="3534833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目前移动机器人主要有自动导引车（</a:t>
            </a:r>
            <a:r>
              <a:rPr lang="en-US" altLang="zh-CN" sz="1200" kern="1200" dirty="0" err="1" smtClean="0">
                <a:solidFill>
                  <a:schemeClr val="tx1"/>
                </a:solidFill>
                <a:effectLst/>
                <a:latin typeface="+mn-lt"/>
                <a:ea typeface="+mn-ea"/>
                <a:cs typeface="+mn-cs"/>
              </a:rPr>
              <a:t>AGV,Automated</a:t>
            </a:r>
            <a:r>
              <a:rPr lang="en-US" altLang="zh-CN" sz="1200" kern="1200" dirty="0" smtClean="0">
                <a:solidFill>
                  <a:schemeClr val="tx1"/>
                </a:solidFill>
                <a:effectLst/>
                <a:latin typeface="+mn-lt"/>
                <a:ea typeface="+mn-ea"/>
                <a:cs typeface="+mn-cs"/>
              </a:rPr>
              <a:t> Guided Vehicles</a:t>
            </a:r>
            <a:r>
              <a:rPr lang="zh-CN" altLang="zh-CN" sz="1200" kern="1200" dirty="0" smtClean="0">
                <a:solidFill>
                  <a:schemeClr val="tx1"/>
                </a:solidFill>
                <a:effectLst/>
                <a:latin typeface="+mn-lt"/>
                <a:ea typeface="+mn-ea"/>
                <a:cs typeface="+mn-cs"/>
              </a:rPr>
              <a:t>），无人机（</a:t>
            </a:r>
            <a:r>
              <a:rPr lang="en-US" altLang="zh-CN" sz="1200" kern="1200" dirty="0" smtClean="0">
                <a:solidFill>
                  <a:schemeClr val="tx1"/>
                </a:solidFill>
                <a:effectLst/>
                <a:latin typeface="+mn-lt"/>
                <a:ea typeface="+mn-ea"/>
                <a:cs typeface="+mn-cs"/>
              </a:rPr>
              <a:t>UAV</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Unmanned Aerial Vehicles</a:t>
            </a:r>
            <a:r>
              <a:rPr lang="zh-CN" altLang="zh-CN" sz="1200" kern="1200" dirty="0" smtClean="0">
                <a:solidFill>
                  <a:schemeClr val="tx1"/>
                </a:solidFill>
                <a:effectLst/>
                <a:latin typeface="+mn-lt"/>
                <a:ea typeface="+mn-ea"/>
                <a:cs typeface="+mn-cs"/>
              </a:rPr>
              <a:t>）、水下无人潜航器（</a:t>
            </a:r>
            <a:r>
              <a:rPr lang="en-US" altLang="zh-CN" sz="1200" kern="1200" dirty="0" smtClean="0">
                <a:solidFill>
                  <a:schemeClr val="tx1"/>
                </a:solidFill>
                <a:effectLst/>
                <a:latin typeface="+mn-lt"/>
                <a:ea typeface="+mn-ea"/>
                <a:cs typeface="+mn-cs"/>
              </a:rPr>
              <a:t>AUV</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Unmanned Underwater Vehicle</a:t>
            </a:r>
            <a:r>
              <a:rPr lang="zh-CN" altLang="zh-CN" sz="1200" kern="1200" dirty="0" smtClean="0">
                <a:solidFill>
                  <a:schemeClr val="tx1"/>
                </a:solidFill>
                <a:effectLst/>
                <a:latin typeface="+mn-lt"/>
                <a:ea typeface="+mn-ea"/>
                <a:cs typeface="+mn-cs"/>
              </a:rPr>
              <a:t>）以及仿生结构的足式机器人（如图</a:t>
            </a:r>
            <a:r>
              <a:rPr lang="en-US" altLang="zh-CN" sz="1200" kern="1200" dirty="0" smtClean="0">
                <a:solidFill>
                  <a:schemeClr val="tx1"/>
                </a:solidFill>
                <a:effectLst/>
                <a:latin typeface="+mn-lt"/>
                <a:ea typeface="+mn-ea"/>
                <a:cs typeface="+mn-cs"/>
              </a:rPr>
              <a:t>3.46</a:t>
            </a:r>
            <a:r>
              <a:rPr lang="zh-CN" altLang="zh-CN" sz="1200" kern="1200" dirty="0" smtClean="0">
                <a:solidFill>
                  <a:schemeClr val="tx1"/>
                </a:solidFill>
                <a:effectLst/>
                <a:latin typeface="+mn-lt"/>
                <a:ea typeface="+mn-ea"/>
                <a:cs typeface="+mn-cs"/>
              </a:rPr>
              <a:t>所示的两足人形机器人以及多足仿生机器人）等类型。无人机和水下无人潜航器的运动学建模也是将机器人抽象成刚体，分析刚体在相应坐标系的位形，需要考虑刚体的升力与重力之间的关系，由于涉及空气动力学、流体力学等方面的内容，相对地面移动机器人来说更为复杂，为简单起见，本节仅分析一般地面移动机器人的运动学。</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extLst>
      <p:ext uri="{BB962C8B-B14F-4D97-AF65-F5344CB8AC3E}">
        <p14:creationId xmlns:p14="http://schemas.microsoft.com/office/powerpoint/2010/main" val="680854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地面移动机器人的移动机构主要有轮式、履带式、腿式以及其他类型的仿生式移动机构，如蛇行机构、仿生鱼尾鳍推进式机构等。地面移动机器人包括集成机械臂的复合移动机器人，甚至早已应用在外太空星球的探索中，图</a:t>
            </a:r>
            <a:r>
              <a:rPr lang="en-US" altLang="zh-CN" sz="1200" kern="1200" dirty="0" smtClean="0">
                <a:solidFill>
                  <a:schemeClr val="tx1"/>
                </a:solidFill>
                <a:effectLst/>
                <a:latin typeface="+mn-lt"/>
                <a:ea typeface="+mn-ea"/>
                <a:cs typeface="+mn-cs"/>
              </a:rPr>
              <a:t>3.47</a:t>
            </a:r>
            <a:r>
              <a:rPr lang="zh-CN" altLang="zh-CN" sz="1200" kern="1200" dirty="0" smtClean="0">
                <a:solidFill>
                  <a:schemeClr val="tx1"/>
                </a:solidFill>
                <a:effectLst/>
                <a:latin typeface="+mn-lt"/>
                <a:ea typeface="+mn-ea"/>
                <a:cs typeface="+mn-cs"/>
              </a:rPr>
              <a:t>所示为几款典型的火星探测车。</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除了单一形式的履带、轮式、腿式移动机器人外，也有将几种移动机构进行综合设计的情况，例如将轮式机构的运动高效性和腿式机构的运动灵活性相结合，设计出如图</a:t>
            </a:r>
            <a:r>
              <a:rPr lang="en-US" altLang="zh-CN" sz="1200" kern="1200" dirty="0" smtClean="0">
                <a:solidFill>
                  <a:schemeClr val="tx1"/>
                </a:solidFill>
                <a:effectLst/>
                <a:latin typeface="+mn-lt"/>
                <a:ea typeface="+mn-ea"/>
                <a:cs typeface="+mn-cs"/>
              </a:rPr>
              <a:t>3.48</a:t>
            </a:r>
            <a:r>
              <a:rPr lang="zh-CN" altLang="zh-CN" sz="1200" kern="1200" dirty="0" smtClean="0">
                <a:solidFill>
                  <a:schemeClr val="tx1"/>
                </a:solidFill>
                <a:effectLst/>
                <a:latin typeface="+mn-lt"/>
                <a:ea typeface="+mn-ea"/>
                <a:cs typeface="+mn-cs"/>
              </a:rPr>
              <a:t>所示的轮腿式移动机器人，在平滑的路面可以高速运动，在崎岖地形环境下也具有强大的移动能力。</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鉴于履带、腿式移动机器人的机构形式较多，运动学模型比较复杂，本节仅讨论几种标准的轮式机器人运动学。</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extLst>
      <p:ext uri="{BB962C8B-B14F-4D97-AF65-F5344CB8AC3E}">
        <p14:creationId xmlns:p14="http://schemas.microsoft.com/office/powerpoint/2010/main" val="3292542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1" dirty="0" smtClean="0">
                <a:solidFill>
                  <a:srgbClr val="002060"/>
                </a:solidFill>
              </a:rPr>
              <a:t>Kinematics</a:t>
            </a:r>
            <a:r>
              <a:rPr lang="en-US" altLang="zh-CN" sz="1200" dirty="0" smtClean="0"/>
              <a:t> – study of the mathematics of motion without considering the forces that affect the motion.</a:t>
            </a:r>
          </a:p>
          <a:p>
            <a:r>
              <a:rPr lang="en-US" altLang="zh-CN" sz="1200" dirty="0" smtClean="0"/>
              <a:t>	–Deals with the geometric relationships that govern the system</a:t>
            </a:r>
          </a:p>
          <a:p>
            <a:r>
              <a:rPr lang="en-US" altLang="zh-CN" sz="1200" dirty="0" smtClean="0"/>
              <a:t>	–Deals with the relationship between control parameters and the behavior of a system in state space.</a:t>
            </a:r>
            <a:endParaRPr lang="zh-CN" altLang="en-US" sz="1200" dirty="0" smtClean="0"/>
          </a:p>
          <a:p>
            <a:r>
              <a:rPr lang="en-US" altLang="zh-CN" b="1" dirty="0" smtClean="0">
                <a:solidFill>
                  <a:srgbClr val="002060"/>
                </a:solidFill>
              </a:rPr>
              <a:t>Dynamics</a:t>
            </a:r>
            <a:r>
              <a:rPr lang="en-US" altLang="zh-CN" sz="1200" dirty="0" smtClean="0"/>
              <a:t> – the study of motion in which these forces are modeled</a:t>
            </a:r>
          </a:p>
          <a:p>
            <a:r>
              <a:rPr lang="en-US" altLang="zh-CN" sz="1200" dirty="0" smtClean="0"/>
              <a:t>	–Includes the energies and speeds associated with these motions</a:t>
            </a:r>
          </a:p>
          <a:p>
            <a:r>
              <a:rPr lang="en-US" altLang="zh-CN" b="1" dirty="0" smtClean="0">
                <a:solidFill>
                  <a:srgbClr val="FF0000"/>
                </a:solidFill>
              </a:rPr>
              <a:t>Locomotion</a:t>
            </a:r>
            <a:r>
              <a:rPr lang="en-US" altLang="zh-CN" sz="1200" dirty="0" smtClean="0"/>
              <a:t> is the process of causing an autonomous robot to move.</a:t>
            </a:r>
          </a:p>
          <a:p>
            <a:r>
              <a:rPr lang="en-US" altLang="zh-CN" sz="1200" dirty="0" smtClean="0"/>
              <a:t>	–In order to produce motion, forces must be applied to the vehicle</a:t>
            </a:r>
          </a:p>
          <a:p>
            <a:r>
              <a:rPr lang="zh-CN" altLang="zh-CN" sz="1200" kern="1200" dirty="0" smtClean="0">
                <a:solidFill>
                  <a:schemeClr val="tx1"/>
                </a:solidFill>
                <a:effectLst/>
                <a:latin typeface="+mn-lt"/>
                <a:ea typeface="+mn-ea"/>
                <a:cs typeface="+mn-cs"/>
              </a:rPr>
              <a:t>移动机器人同样需要研究其运动学和动力学，如果将机器人本体称为小车，那么需要施加力，才能让小车产生自主的移动</a:t>
            </a:r>
            <a:r>
              <a:rPr lang="en-US" altLang="zh-CN" sz="1200" kern="1200" dirty="0" smtClean="0">
                <a:solidFill>
                  <a:schemeClr val="tx1"/>
                </a:solidFill>
                <a:effectLst/>
                <a:latin typeface="+mn-lt"/>
                <a:ea typeface="+mn-ea"/>
                <a:cs typeface="+mn-cs"/>
              </a:rPr>
              <a:t>(Locomotion)</a:t>
            </a:r>
            <a:r>
              <a:rPr lang="zh-CN" altLang="zh-CN" sz="1200" kern="1200" dirty="0" smtClean="0">
                <a:solidFill>
                  <a:schemeClr val="tx1"/>
                </a:solidFill>
                <a:effectLst/>
                <a:latin typeface="+mn-lt"/>
                <a:ea typeface="+mn-ea"/>
                <a:cs typeface="+mn-cs"/>
              </a:rPr>
              <a:t>。移动机器人的运动学主要研究在不考虑力对运动的影响前提下，如何求解系统的位形（空间位姿）以及系统状态空间中的行为与控制参数之间的关系。</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extLst>
      <p:ext uri="{BB962C8B-B14F-4D97-AF65-F5344CB8AC3E}">
        <p14:creationId xmlns:p14="http://schemas.microsoft.com/office/powerpoint/2010/main" val="1070317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本节首先对轮式平面移动机器人进行抽象建模。同样的，可以将移动机器人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比如移动小车</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看作是一个可以移动的刚体，忽略机器人和轮子间内在的关联和自由度，分析其工作空间中的位形。</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首先建立平面移动机器人的全局参考坐标系和局部参考坐标系，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𝑂</m:t>
                    </m:r>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𝐼</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𝑌</m:t>
                        </m:r>
                      </m:e>
                      <m:sub>
                        <m:r>
                          <a:rPr lang="en-US" altLang="zh-CN" sz="1200" i="1" kern="1200">
                            <a:solidFill>
                              <a:schemeClr val="tx1"/>
                            </a:solidFill>
                            <a:effectLst/>
                            <a:latin typeface="Cambria Math" panose="02040503050406030204" pitchFamily="18" charset="0"/>
                            <a:ea typeface="+mn-ea"/>
                            <a:cs typeface="+mn-cs"/>
                          </a:rPr>
                          <m:t>𝐼</m:t>
                        </m:r>
                      </m:sub>
                    </m:sSub>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为全局参考坐标系（又称惯性坐标系</a:t>
                </a:r>
                <a:r>
                  <a:rPr lang="en-US" altLang="zh-CN" sz="1200" kern="1200" dirty="0">
                    <a:solidFill>
                      <a:schemeClr val="tx1"/>
                    </a:solidFill>
                    <a:effectLst/>
                    <a:latin typeface="+mn-lt"/>
                    <a:ea typeface="+mn-ea"/>
                    <a:cs typeface="+mn-cs"/>
                  </a:rPr>
                  <a:t>: Inertial coordinate system</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𝑌</m:t>
                        </m:r>
                      </m:e>
                      <m:sub>
                        <m:r>
                          <a:rPr lang="en-US" altLang="zh-CN" sz="1200" i="1" kern="1200">
                            <a:solidFill>
                              <a:schemeClr val="tx1"/>
                            </a:solidFill>
                            <a:effectLst/>
                            <a:latin typeface="Cambria Math" panose="02040503050406030204" pitchFamily="18" charset="0"/>
                            <a:ea typeface="+mn-ea"/>
                            <a:cs typeface="+mn-cs"/>
                          </a:rPr>
                          <m:t>𝑅</m:t>
                        </m:r>
                      </m:sub>
                    </m:sSub>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为机器人的局部参考坐标系（又称机器人坐标系</a:t>
                </a:r>
                <a:r>
                  <a:rPr lang="en-US" altLang="zh-CN" sz="1200" kern="1200" dirty="0">
                    <a:solidFill>
                      <a:schemeClr val="tx1"/>
                    </a:solidFill>
                    <a:effectLst/>
                    <a:latin typeface="+mn-lt"/>
                    <a:ea typeface="+mn-ea"/>
                    <a:cs typeface="+mn-cs"/>
                  </a:rPr>
                  <a:t>: Robot coordinate system</a:t>
                </a:r>
                <a:r>
                  <a:rPr lang="zh-CN" altLang="zh-CN" sz="1200" kern="1200" dirty="0">
                    <a:solidFill>
                      <a:schemeClr val="tx1"/>
                    </a:solidFill>
                    <a:effectLst/>
                    <a:latin typeface="+mn-lt"/>
                    <a:ea typeface="+mn-ea"/>
                    <a:cs typeface="+mn-cs"/>
                  </a:rPr>
                  <a:t>），局部参考坐标系的原点为机器人底盘上后轮轴的中点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表示全局参考坐标系和局部参考坐标系的角度差，则机器人在全局参考坐标系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𝑂</m:t>
                        </m:r>
                      </m:e>
                    </m:d>
                  </m:oMath>
                </a14:m>
                <a:r>
                  <a:rPr lang="zh-CN" altLang="zh-CN" sz="1200" kern="1200" dirty="0">
                    <a:solidFill>
                      <a:schemeClr val="tx1"/>
                    </a:solidFill>
                    <a:effectLst/>
                    <a:latin typeface="+mn-lt"/>
                    <a:ea typeface="+mn-ea"/>
                    <a:cs typeface="+mn-cs"/>
                  </a:rPr>
                  <a:t>的位形可表示为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e>
                        <m:sup>
                          <m:r>
                            <a:rPr lang="en-US" altLang="zh-CN" sz="1200" i="1" kern="1200">
                              <a:solidFill>
                                <a:schemeClr val="tx1"/>
                              </a:solidFill>
                              <a:effectLst/>
                              <a:latin typeface="Cambria Math" panose="02040503050406030204" pitchFamily="18" charset="0"/>
                              <a:ea typeface="+mn-ea"/>
                              <a:cs typeface="+mn-cs"/>
                            </a:rPr>
                            <m:t>𝑇</m:t>
                          </m:r>
                        </m:sup>
                      </m:sSup>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局部参考坐标系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𝑀</m:t>
                        </m:r>
                      </m:e>
                    </m:d>
                  </m:oMath>
                </a14:m>
                <a:r>
                  <a:rPr lang="zh-CN" altLang="zh-CN" sz="1200" kern="1200" dirty="0">
                    <a:solidFill>
                      <a:schemeClr val="tx1"/>
                    </a:solidFill>
                    <a:effectLst/>
                    <a:latin typeface="+mn-lt"/>
                    <a:ea typeface="+mn-ea"/>
                    <a:cs typeface="+mn-cs"/>
                  </a:rPr>
                  <a:t>与全局参考坐标系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𝑂</m:t>
                        </m:r>
                      </m:e>
                    </m:d>
                  </m:oMath>
                </a14:m>
                <a:r>
                  <a:rPr lang="zh-CN" altLang="zh-CN" sz="1200" kern="1200" dirty="0">
                    <a:solidFill>
                      <a:schemeClr val="tx1"/>
                    </a:solidFill>
                    <a:effectLst/>
                    <a:latin typeface="+mn-lt"/>
                    <a:ea typeface="+mn-ea"/>
                    <a:cs typeface="+mn-cs"/>
                  </a:rPr>
                  <a:t>之间的映射关系为：</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𝑅</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oMath>
                </a14:m>
                <a:r>
                  <a:rPr lang="en-US" altLang="zh-CN" sz="1200" kern="1200" dirty="0">
                    <a:solidFill>
                      <a:schemeClr val="tx1"/>
                    </a:solidFill>
                    <a:effectLst/>
                    <a:latin typeface="+mn-lt"/>
                    <a:ea typeface="+mn-ea"/>
                    <a:cs typeface="+mn-cs"/>
                  </a:rPr>
                  <a:t>    (3-123)</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为正交旋转矩阵：</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在最简单的情况下，可以根据公式</a:t>
                </a:r>
                <a:r>
                  <a:rPr lang="en-US" altLang="zh-CN" sz="1200" kern="1200" dirty="0">
                    <a:solidFill>
                      <a:schemeClr val="tx1"/>
                    </a:solidFill>
                    <a:effectLst/>
                    <a:latin typeface="+mn-lt"/>
                    <a:ea typeface="+mn-ea"/>
                    <a:cs typeface="+mn-cs"/>
                  </a:rPr>
                  <a:t>(3-123)</a:t>
                </a:r>
                <a:r>
                  <a:rPr lang="zh-CN" altLang="zh-CN" sz="1200" kern="1200" dirty="0">
                    <a:solidFill>
                      <a:schemeClr val="tx1"/>
                    </a:solidFill>
                    <a:effectLst/>
                    <a:latin typeface="+mn-lt"/>
                    <a:ea typeface="+mn-ea"/>
                    <a:cs typeface="+mn-cs"/>
                  </a:rPr>
                  <a:t>获得正运动学方程，但还需要考虑机器人的几何尺寸和轮子速度，在获得机器人总速度基础上，分析机器人的正运动学。</a:t>
                </a:r>
              </a:p>
              <a:p>
                <a:r>
                  <a:rPr lang="zh-CN" altLang="zh-CN" sz="1200" kern="1200" dirty="0">
                    <a:solidFill>
                      <a:schemeClr val="tx1"/>
                    </a:solidFill>
                    <a:effectLst/>
                    <a:latin typeface="+mn-lt"/>
                    <a:ea typeface="+mn-ea"/>
                    <a:cs typeface="+mn-cs"/>
                  </a:rPr>
                  <a:t>假设图</a:t>
                </a:r>
                <a:r>
                  <a:rPr lang="en-US" altLang="zh-CN" sz="1200" kern="1200" dirty="0">
                    <a:solidFill>
                      <a:schemeClr val="tx1"/>
                    </a:solidFill>
                    <a:effectLst/>
                    <a:latin typeface="+mn-lt"/>
                    <a:ea typeface="+mn-ea"/>
                    <a:cs typeface="+mn-cs"/>
                  </a:rPr>
                  <a:t>3.49</a:t>
                </a:r>
                <a:r>
                  <a:rPr lang="zh-CN" altLang="zh-CN" sz="1200" kern="1200" dirty="0">
                    <a:solidFill>
                      <a:schemeClr val="tx1"/>
                    </a:solidFill>
                    <a:effectLst/>
                    <a:latin typeface="+mn-lt"/>
                    <a:ea typeface="+mn-ea"/>
                    <a:cs typeface="+mn-cs"/>
                  </a:rPr>
                  <a:t>的机器人为两轮差动驱动机器人，轮子半径为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zh-CN" altLang="zh-CN" sz="1200" kern="1200" dirty="0">
                    <a:solidFill>
                      <a:schemeClr val="tx1"/>
                    </a:solidFill>
                    <a:effectLst/>
                    <a:latin typeface="+mn-lt"/>
                    <a:ea typeface="+mn-ea"/>
                    <a:cs typeface="+mn-cs"/>
                  </a:rPr>
                  <a:t>，中心点为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，两轮距中心点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的距离为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𝑙</m:t>
                    </m:r>
                  </m:oMath>
                </a14:m>
                <a:r>
                  <a:rPr lang="zh-CN" altLang="zh-CN" sz="1200" kern="1200" dirty="0">
                    <a:solidFill>
                      <a:schemeClr val="tx1"/>
                    </a:solidFill>
                    <a:effectLst/>
                    <a:latin typeface="+mn-lt"/>
                    <a:ea typeface="+mn-ea"/>
                    <a:cs typeface="+mn-cs"/>
                  </a:rPr>
                  <a:t>，左右轮的速度分别为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，那么其全局参考坐标系下的总速度可表达为：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𝜉</m:t>
                              </m:r>
                            </m:e>
                          </m:acc>
                        </m:e>
                        <m:sub>
                          <m:r>
                            <a:rPr lang="en-US" altLang="zh-CN" sz="1200" i="1" kern="1200">
                              <a:solidFill>
                                <a:schemeClr val="tx1"/>
                              </a:solidFill>
                              <a:effectLst/>
                              <a:latin typeface="Cambria Math" panose="02040503050406030204" pitchFamily="18" charset="0"/>
                              <a:ea typeface="+mn-ea"/>
                              <a:cs typeface="+mn-cs"/>
                            </a:rPr>
                            <m:t>𝐼</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e>
                        <m:sup>
                          <m:r>
                            <a:rPr lang="en-US" altLang="zh-CN" sz="1200" i="1" kern="1200">
                              <a:solidFill>
                                <a:schemeClr val="tx1"/>
                              </a:solidFill>
                              <a:effectLst/>
                              <a:latin typeface="Cambria Math" panose="02040503050406030204" pitchFamily="18" charset="0"/>
                              <a:ea typeface="+mn-ea"/>
                              <a:cs typeface="+mn-cs"/>
                            </a:rPr>
                            <m:t>𝑇</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𝑓</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而根据式</a:t>
                </a:r>
                <a:r>
                  <a:rPr lang="en-US" altLang="zh-CN" sz="1200" kern="1200" dirty="0">
                    <a:solidFill>
                      <a:schemeClr val="tx1"/>
                    </a:solidFill>
                    <a:effectLst/>
                    <a:latin typeface="+mn-lt"/>
                    <a:ea typeface="+mn-ea"/>
                    <a:cs typeface="+mn-cs"/>
                  </a:rPr>
                  <a:t>(3-116)</a:t>
                </a:r>
                <a:r>
                  <a:rPr lang="zh-CN" altLang="zh-CN" sz="1200" kern="1200" dirty="0">
                    <a:solidFill>
                      <a:schemeClr val="tx1"/>
                    </a:solidFill>
                    <a:effectLst/>
                    <a:latin typeface="+mn-lt"/>
                    <a:ea typeface="+mn-ea"/>
                    <a:cs typeface="+mn-cs"/>
                  </a:rPr>
                  <a:t>有：</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𝜉</m:t>
                              </m:r>
                            </m:e>
                          </m:acc>
                        </m:e>
                        <m:sub>
                          <m:r>
                            <a:rPr lang="en-US" altLang="zh-CN" sz="1200" i="1" kern="1200">
                              <a:solidFill>
                                <a:schemeClr val="tx1"/>
                              </a:solidFill>
                              <a:effectLst/>
                              <a:latin typeface="Cambria Math" panose="02040503050406030204" pitchFamily="18" charset="0"/>
                              <a:ea typeface="+mn-ea"/>
                              <a:cs typeface="+mn-cs"/>
                            </a:rPr>
                            <m:t>𝐼</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e>
                        <m:sup>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𝜉</m:t>
                              </m:r>
                            </m:e>
                          </m:acc>
                        </m:e>
                        <m:sub>
                          <m:r>
                            <a:rPr lang="en-US" altLang="zh-CN" sz="1200" i="1" kern="1200">
                              <a:solidFill>
                                <a:schemeClr val="tx1"/>
                              </a:solidFill>
                              <a:effectLst/>
                              <a:latin typeface="Cambria Math" panose="02040503050406030204" pitchFamily="18" charset="0"/>
                              <a:ea typeface="+mn-ea"/>
                              <a:cs typeface="+mn-cs"/>
                            </a:rPr>
                            <m:t>𝑅</m:t>
                          </m:r>
                        </m:sub>
                      </m:sSub>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由此可知，计算差动驱动底盘在全局参考坐标系的运动，首先得计算各轮在局部坐标系下的运动。</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𝜉</m:t>
                            </m:r>
                          </m:e>
                        </m:acc>
                      </m:e>
                      <m:sub>
                        <m:r>
                          <a:rPr lang="en-US" altLang="zh-CN" sz="1200" i="1" kern="1200">
                            <a:solidFill>
                              <a:schemeClr val="tx1"/>
                            </a:solidFill>
                            <a:effectLst/>
                            <a:latin typeface="Cambria Math" panose="02040503050406030204" pitchFamily="18" charset="0"/>
                            <a:ea typeface="+mn-ea"/>
                            <a:cs typeface="+mn-cs"/>
                          </a:rPr>
                          <m:t>𝐼</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e>
                      <m:sup>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𝑅</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𝑅</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𝑅</m:t>
                                </m:r>
                              </m:sub>
                            </m:sSub>
                          </m:e>
                        </m:d>
                      </m:e>
                      <m:sup>
                        <m:r>
                          <a:rPr lang="en-US" altLang="zh-CN" sz="1200" i="1" kern="1200">
                            <a:solidFill>
                              <a:schemeClr val="tx1"/>
                            </a:solidFill>
                            <a:effectLst/>
                            <a:latin typeface="Cambria Math" panose="02040503050406030204" pitchFamily="18" charset="0"/>
                            <a:ea typeface="+mn-ea"/>
                            <a:cs typeface="+mn-cs"/>
                          </a:rPr>
                          <m:t>𝑇</m:t>
                        </m:r>
                      </m:sup>
                    </m:sSup>
                  </m:oMath>
                </a14:m>
                <a:r>
                  <a:rPr lang="en-US" altLang="zh-CN" sz="1200" kern="1200" dirty="0">
                    <a:solidFill>
                      <a:schemeClr val="tx1"/>
                    </a:solidFill>
                    <a:effectLst/>
                    <a:latin typeface="+mn-lt"/>
                    <a:ea typeface="+mn-ea"/>
                    <a:cs typeface="+mn-cs"/>
                  </a:rPr>
                  <a:t> (3-124)</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本节首先对轮式平面移动机器人进行抽象建模。同样的，可以将移动机器人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比如移动小车</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看作是一个可以移动的刚体，忽略机器人和轮子间内在的关联和自由度，分析其工作空间中的位形。</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首先建立平面移动机器人的全局参考坐标系和局部参考坐标系，</a:t>
                </a:r>
                <a:r>
                  <a:rPr lang="en-US" altLang="zh-CN" sz="1200" i="0" kern="1200">
                    <a:solidFill>
                      <a:schemeClr val="tx1"/>
                    </a:solidFill>
                    <a:effectLst/>
                    <a:latin typeface="+mn-lt"/>
                    <a:ea typeface="+mn-ea"/>
                    <a:cs typeface="+mn-cs"/>
                  </a:rPr>
                  <a:t>{𝑂:𝑋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𝑌</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a:t>
                </a:r>
                <a:r>
                  <a:rPr lang="zh-CN" altLang="zh-CN" sz="1200" kern="1200" dirty="0">
                    <a:solidFill>
                      <a:schemeClr val="tx1"/>
                    </a:solidFill>
                    <a:effectLst/>
                    <a:latin typeface="+mn-lt"/>
                    <a:ea typeface="+mn-ea"/>
                    <a:cs typeface="+mn-cs"/>
                  </a:rPr>
                  <a:t>为全局参考坐标系（又称惯性坐标系</a:t>
                </a:r>
                <a:r>
                  <a:rPr lang="en-US" altLang="zh-CN" sz="1200" kern="1200" dirty="0">
                    <a:solidFill>
                      <a:schemeClr val="tx1"/>
                    </a:solidFill>
                    <a:effectLst/>
                    <a:latin typeface="+mn-lt"/>
                    <a:ea typeface="+mn-ea"/>
                    <a:cs typeface="+mn-cs"/>
                  </a:rPr>
                  <a:t>: Inertial coordinate system</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𝑀:𝑋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𝑌</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为机器人的局部参考坐标系（又称机器人坐标系</a:t>
                </a:r>
                <a:r>
                  <a:rPr lang="en-US" altLang="zh-CN" sz="1200" kern="1200" dirty="0">
                    <a:solidFill>
                      <a:schemeClr val="tx1"/>
                    </a:solidFill>
                    <a:effectLst/>
                    <a:latin typeface="+mn-lt"/>
                    <a:ea typeface="+mn-ea"/>
                    <a:cs typeface="+mn-cs"/>
                  </a:rPr>
                  <a:t>: Robot coordinate system</a:t>
                </a:r>
                <a:r>
                  <a:rPr lang="zh-CN" altLang="zh-CN" sz="1200" kern="1200" dirty="0">
                    <a:solidFill>
                      <a:schemeClr val="tx1"/>
                    </a:solidFill>
                    <a:effectLst/>
                    <a:latin typeface="+mn-lt"/>
                    <a:ea typeface="+mn-ea"/>
                    <a:cs typeface="+mn-cs"/>
                  </a:rPr>
                  <a:t>），局部参考坐标系的原点为机器人底盘上后轮轴的中点</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表示全局参考坐标系和局部参考坐标系的角度差，则机器人在全局参考坐标系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𝑂}</a:t>
                </a:r>
                <a:r>
                  <a:rPr lang="zh-CN" altLang="zh-CN" sz="1200" kern="1200" dirty="0">
                    <a:solidFill>
                      <a:schemeClr val="tx1"/>
                    </a:solidFill>
                    <a:effectLst/>
                    <a:latin typeface="+mn-lt"/>
                    <a:ea typeface="+mn-ea"/>
                    <a:cs typeface="+mn-cs"/>
                  </a:rPr>
                  <a:t>的位形可表示为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𝜉</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𝑥,𝑦,𝜃]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局部参考坐标系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与全局参考坐标系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𝑂}</a:t>
                </a:r>
                <a:r>
                  <a:rPr lang="zh-CN" altLang="zh-CN" sz="1200" kern="1200" dirty="0">
                    <a:solidFill>
                      <a:schemeClr val="tx1"/>
                    </a:solidFill>
                    <a:effectLst/>
                    <a:latin typeface="+mn-lt"/>
                    <a:ea typeface="+mn-ea"/>
                    <a:cs typeface="+mn-cs"/>
                  </a:rPr>
                  <a:t>之间的映射关系为：</a:t>
                </a:r>
              </a:p>
              <a:p>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𝑅=𝑅(𝜃)𝜉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a:t>
                </a:r>
                <a:r>
                  <a:rPr lang="en-US" altLang="zh-CN" sz="1200" kern="1200" dirty="0">
                    <a:solidFill>
                      <a:schemeClr val="tx1"/>
                    </a:solidFill>
                    <a:effectLst/>
                    <a:latin typeface="+mn-lt"/>
                    <a:ea typeface="+mn-ea"/>
                    <a:cs typeface="+mn-cs"/>
                  </a:rPr>
                  <a:t>    (3-123)</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𝑅(𝜃)</a:t>
                </a:r>
                <a:r>
                  <a:rPr lang="zh-CN" altLang="zh-CN" sz="1200" kern="1200" dirty="0">
                    <a:solidFill>
                      <a:schemeClr val="tx1"/>
                    </a:solidFill>
                    <a:effectLst/>
                    <a:latin typeface="+mn-lt"/>
                    <a:ea typeface="+mn-ea"/>
                    <a:cs typeface="+mn-cs"/>
                  </a:rPr>
                  <a:t>为正交旋转矩阵：</a:t>
                </a:r>
              </a:p>
              <a:p>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𝑐𝑜𝑠𝜃&amp;𝑠𝑖𝑛𝜃&amp;0@−𝑠𝑖𝑛𝜃&amp;𝑐𝑜𝑠𝜃&amp;0@0&amp;0&amp;1)]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在最简单的情况下，可以根据公式</a:t>
                </a:r>
                <a:r>
                  <a:rPr lang="en-US" altLang="zh-CN" sz="1200" kern="1200" dirty="0">
                    <a:solidFill>
                      <a:schemeClr val="tx1"/>
                    </a:solidFill>
                    <a:effectLst/>
                    <a:latin typeface="+mn-lt"/>
                    <a:ea typeface="+mn-ea"/>
                    <a:cs typeface="+mn-cs"/>
                  </a:rPr>
                  <a:t>(3-123)</a:t>
                </a:r>
                <a:r>
                  <a:rPr lang="zh-CN" altLang="zh-CN" sz="1200" kern="1200" dirty="0">
                    <a:solidFill>
                      <a:schemeClr val="tx1"/>
                    </a:solidFill>
                    <a:effectLst/>
                    <a:latin typeface="+mn-lt"/>
                    <a:ea typeface="+mn-ea"/>
                    <a:cs typeface="+mn-cs"/>
                  </a:rPr>
                  <a:t>获得正运动学方程，但还需要考虑机器人的几何尺寸和轮子速度，在获得机器人总速度基础上，分析机器人的正运动学。</a:t>
                </a:r>
              </a:p>
              <a:p>
                <a:r>
                  <a:rPr lang="zh-CN" altLang="zh-CN" sz="1200" kern="1200" dirty="0">
                    <a:solidFill>
                      <a:schemeClr val="tx1"/>
                    </a:solidFill>
                    <a:effectLst/>
                    <a:latin typeface="+mn-lt"/>
                    <a:ea typeface="+mn-ea"/>
                    <a:cs typeface="+mn-cs"/>
                  </a:rPr>
                  <a:t>假设图</a:t>
                </a:r>
                <a:r>
                  <a:rPr lang="en-US" altLang="zh-CN" sz="1200" kern="1200" dirty="0">
                    <a:solidFill>
                      <a:schemeClr val="tx1"/>
                    </a:solidFill>
                    <a:effectLst/>
                    <a:latin typeface="+mn-lt"/>
                    <a:ea typeface="+mn-ea"/>
                    <a:cs typeface="+mn-cs"/>
                  </a:rPr>
                  <a:t>3.49</a:t>
                </a:r>
                <a:r>
                  <a:rPr lang="zh-CN" altLang="zh-CN" sz="1200" kern="1200" dirty="0">
                    <a:solidFill>
                      <a:schemeClr val="tx1"/>
                    </a:solidFill>
                    <a:effectLst/>
                    <a:latin typeface="+mn-lt"/>
                    <a:ea typeface="+mn-ea"/>
                    <a:cs typeface="+mn-cs"/>
                  </a:rPr>
                  <a:t>的机器人为两轮差动驱动机器人，轮子半径为</a:t>
                </a:r>
                <a:r>
                  <a:rPr lang="en-US" altLang="zh-CN" sz="1200" i="0" kern="1200">
                    <a:solidFill>
                      <a:schemeClr val="tx1"/>
                    </a:solidFill>
                    <a:effectLst/>
                    <a:latin typeface="+mn-lt"/>
                    <a:ea typeface="+mn-ea"/>
                    <a:cs typeface="+mn-cs"/>
                  </a:rPr>
                  <a:t>𝑟</a:t>
                </a:r>
                <a:r>
                  <a:rPr lang="zh-CN" altLang="zh-CN" sz="1200" kern="1200" dirty="0">
                    <a:solidFill>
                      <a:schemeClr val="tx1"/>
                    </a:solidFill>
                    <a:effectLst/>
                    <a:latin typeface="+mn-lt"/>
                    <a:ea typeface="+mn-ea"/>
                    <a:cs typeface="+mn-cs"/>
                  </a:rPr>
                  <a:t>，中心点为</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，两轮距中心点</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的距离为</a:t>
                </a:r>
                <a:r>
                  <a:rPr lang="en-US" altLang="zh-CN" sz="1200" i="0" kern="1200">
                    <a:solidFill>
                      <a:schemeClr val="tx1"/>
                    </a:solidFill>
                    <a:effectLst/>
                    <a:latin typeface="+mn-lt"/>
                    <a:ea typeface="+mn-ea"/>
                    <a:cs typeface="+mn-cs"/>
                  </a:rPr>
                  <a:t>𝑙</a:t>
                </a:r>
                <a:r>
                  <a:rPr lang="zh-CN" altLang="zh-CN" sz="1200" kern="1200" dirty="0">
                    <a:solidFill>
                      <a:schemeClr val="tx1"/>
                    </a:solidFill>
                    <a:effectLst/>
                    <a:latin typeface="+mn-lt"/>
                    <a:ea typeface="+mn-ea"/>
                    <a:cs typeface="+mn-cs"/>
                  </a:rPr>
                  <a:t>，左右轮的速度分别为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，那么其全局参考坐标系下的总速度可表达为：</a:t>
                </a:r>
              </a:p>
              <a:p>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𝑇=𝑓(𝑙,𝑟,𝜃,𝜑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而根据式</a:t>
                </a:r>
                <a:r>
                  <a:rPr lang="en-US" altLang="zh-CN" sz="1200" kern="1200" dirty="0">
                    <a:solidFill>
                      <a:schemeClr val="tx1"/>
                    </a:solidFill>
                    <a:effectLst/>
                    <a:latin typeface="+mn-lt"/>
                    <a:ea typeface="+mn-ea"/>
                    <a:cs typeface="+mn-cs"/>
                  </a:rPr>
                  <a:t>(3-116)</a:t>
                </a:r>
                <a:r>
                  <a:rPr lang="zh-CN" altLang="zh-CN" sz="1200" kern="1200" dirty="0">
                    <a:solidFill>
                      <a:schemeClr val="tx1"/>
                    </a:solidFill>
                    <a:effectLst/>
                    <a:latin typeface="+mn-lt"/>
                    <a:ea typeface="+mn-ea"/>
                    <a:cs typeface="+mn-cs"/>
                  </a:rPr>
                  <a:t>有：</a:t>
                </a:r>
              </a:p>
              <a:p>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𝑅(𝜃)</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𝑅</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由此可知，计算差动驱动底盘在全局参考坐标系的运动，首先得计算各轮在局部坐标系下的运动。</a:t>
                </a:r>
              </a:p>
              <a:p>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𝑅(𝜃)</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en-US" altLang="zh-CN" sz="1200" kern="1200" dirty="0">
                    <a:solidFill>
                      <a:schemeClr val="tx1"/>
                    </a:solidFill>
                    <a:effectLst/>
                    <a:latin typeface="+mn-lt"/>
                    <a:ea typeface="+mn-ea"/>
                    <a:cs typeface="+mn-cs"/>
                  </a:rPr>
                  <a:t> (3-124)</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extLst>
      <p:ext uri="{BB962C8B-B14F-4D97-AF65-F5344CB8AC3E}">
        <p14:creationId xmlns:p14="http://schemas.microsoft.com/office/powerpoint/2010/main" val="1509718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3.50</a:t>
                </a:r>
                <a:r>
                  <a:rPr lang="zh-CN" altLang="zh-CN" sz="1200" kern="1200" dirty="0">
                    <a:solidFill>
                      <a:schemeClr val="tx1"/>
                    </a:solidFill>
                    <a:effectLst/>
                    <a:latin typeface="+mn-lt"/>
                    <a:ea typeface="+mn-ea"/>
                    <a:cs typeface="+mn-cs"/>
                  </a:rPr>
                  <a:t>所示，假设机器人沿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sub>
                    </m:sSub>
                  </m:oMath>
                </a14:m>
                <a:r>
                  <a:rPr lang="zh-CN" altLang="zh-CN" sz="1200" kern="1200" dirty="0">
                    <a:solidFill>
                      <a:schemeClr val="tx1"/>
                    </a:solidFill>
                    <a:effectLst/>
                    <a:latin typeface="+mn-lt"/>
                    <a:ea typeface="+mn-ea"/>
                    <a:cs typeface="+mn-cs"/>
                  </a:rPr>
                  <a:t>正方向向前运动，首先考虑各轮的转动速度对机器人中心</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点平移速度的贡献。如果一个轮旋转，另一个轮不动，那么</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点将以半速运动，对于差动驱动来说，可以将两轮的分量简单相加来计算局部坐标系下的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sub>
                    </m:sSub>
                  </m:oMath>
                </a14:m>
                <a:r>
                  <a:rPr lang="zh-CN" altLang="zh-CN" sz="1200" kern="1200" dirty="0">
                    <a:solidFill>
                      <a:schemeClr val="tx1"/>
                    </a:solidFill>
                    <a:effectLst/>
                    <a:latin typeface="+mn-lt"/>
                    <a:ea typeface="+mn-ea"/>
                    <a:cs typeface="+mn-cs"/>
                  </a:rPr>
                  <a:t>方向的线速度分量为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oMath>
                </a14:m>
                <a:r>
                  <a:rPr lang="zh-CN" altLang="zh-CN" sz="1200" kern="1200" dirty="0">
                    <a:solidFill>
                      <a:schemeClr val="tx1"/>
                    </a:solidFill>
                    <a:effectLst/>
                    <a:latin typeface="+mn-lt"/>
                    <a:ea typeface="+mn-ea"/>
                    <a:cs typeface="+mn-cs"/>
                  </a:rPr>
                  <a:t>，而在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𝑌</m:t>
                        </m:r>
                      </m:e>
                      <m:sub>
                        <m:r>
                          <a:rPr lang="en-US" altLang="zh-CN" sz="1200" i="1" kern="1200">
                            <a:solidFill>
                              <a:schemeClr val="tx1"/>
                            </a:solidFill>
                            <a:effectLst/>
                            <a:latin typeface="Cambria Math" panose="02040503050406030204" pitchFamily="18" charset="0"/>
                            <a:ea typeface="+mn-ea"/>
                            <a:cs typeface="+mn-cs"/>
                          </a:rPr>
                          <m:t>𝑅</m:t>
                        </m:r>
                      </m:sub>
                    </m:sSub>
                  </m:oMath>
                </a14:m>
                <a:r>
                  <a:rPr lang="zh-CN" altLang="zh-CN" sz="1200" kern="1200" dirty="0">
                    <a:solidFill>
                      <a:schemeClr val="tx1"/>
                    </a:solidFill>
                    <a:effectLst/>
                    <a:latin typeface="+mn-lt"/>
                    <a:ea typeface="+mn-ea"/>
                    <a:cs typeface="+mn-cs"/>
                  </a:rPr>
                  <a:t>方向，两个轮子都不可能产生侧向的运动，所以</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𝑌</m:t>
                        </m:r>
                      </m:e>
                      <m:sub>
                        <m:r>
                          <a:rPr lang="en-US" altLang="zh-CN" sz="1200" i="1" kern="1200">
                            <a:solidFill>
                              <a:schemeClr val="tx1"/>
                            </a:solidFill>
                            <a:effectLst/>
                            <a:latin typeface="Cambria Math" panose="02040503050406030204" pitchFamily="18" charset="0"/>
                            <a:ea typeface="+mn-ea"/>
                            <a:cs typeface="+mn-cs"/>
                          </a:rPr>
                          <m:t>𝑅</m:t>
                        </m:r>
                      </m:sub>
                    </m:sSub>
                  </m:oMath>
                </a14:m>
                <a:r>
                  <a:rPr lang="zh-CN" altLang="zh-CN" sz="1200" kern="1200" dirty="0">
                    <a:solidFill>
                      <a:schemeClr val="tx1"/>
                    </a:solidFill>
                    <a:effectLst/>
                    <a:latin typeface="+mn-lt"/>
                    <a:ea typeface="+mn-ea"/>
                    <a:cs typeface="+mn-cs"/>
                  </a:rPr>
                  <a:t>方向速度分量为零。对于方向角分量</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，考虑轮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（右轮），该轮向前旋转在点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产生逆时针旋转，轮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单独转动时，机器人枢轴绕轮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（左轮）做半径为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oMath>
                </a14:m>
                <a:r>
                  <a:rPr lang="zh-CN" altLang="zh-CN" sz="1200" kern="1200" dirty="0">
                    <a:solidFill>
                      <a:schemeClr val="tx1"/>
                    </a:solidFill>
                    <a:effectLst/>
                    <a:latin typeface="+mn-lt"/>
                    <a:ea typeface="+mn-ea"/>
                    <a:cs typeface="+mn-cs"/>
                  </a:rPr>
                  <a:t>的圆弧运动，其对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点的角速度分量为：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𝑅</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同理，轮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的贡献分量为：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𝐿</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因此，公式</a:t>
                </a:r>
                <a:r>
                  <a:rPr lang="en-US" altLang="zh-CN" sz="1200" kern="1200" dirty="0">
                    <a:solidFill>
                      <a:schemeClr val="tx1"/>
                    </a:solidFill>
                    <a:effectLst/>
                    <a:latin typeface="+mn-lt"/>
                    <a:ea typeface="+mn-ea"/>
                    <a:cs typeface="+mn-cs"/>
                  </a:rPr>
                  <a:t>(3-124)</a:t>
                </a:r>
                <a:r>
                  <a:rPr lang="zh-CN" altLang="zh-CN" sz="1200" kern="1200" dirty="0">
                    <a:solidFill>
                      <a:schemeClr val="tx1"/>
                    </a:solidFill>
                    <a:effectLst/>
                    <a:latin typeface="+mn-lt"/>
                    <a:ea typeface="+mn-ea"/>
                    <a:cs typeface="+mn-cs"/>
                  </a:rPr>
                  <a:t>表示的机器人运动方程可写为：</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𝜉</m:t>
                            </m:r>
                          </m:e>
                        </m:acc>
                      </m:e>
                      <m:sub>
                        <m:r>
                          <a:rPr lang="en-US" altLang="zh-CN" sz="1200" i="1" kern="1200">
                            <a:solidFill>
                              <a:schemeClr val="tx1"/>
                            </a:solidFill>
                            <a:effectLst/>
                            <a:latin typeface="Cambria Math" panose="02040503050406030204" pitchFamily="18" charset="0"/>
                            <a:ea typeface="+mn-ea"/>
                            <a:cs typeface="+mn-cs"/>
                          </a:rPr>
                          <m:t>𝐼</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e>
                      <m:sup>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e>
                          </m:mr>
                          <m:mr>
                            <m:e>
                              <m:r>
                                <a:rPr lang="en-US" altLang="zh-CN" sz="1200" i="1" kern="1200">
                                  <a:solidFill>
                                    <a:schemeClr val="tx1"/>
                                  </a:solidFill>
                                  <a:effectLst/>
                                  <a:latin typeface="Cambria Math" panose="02040503050406030204" pitchFamily="18" charset="0"/>
                                  <a:ea typeface="+mn-ea"/>
                                  <a:cs typeface="+mn-cs"/>
                                </a:rPr>
                                <m:t>0</m:t>
                              </m:r>
                            </m:e>
                          </m:m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r>
                                <a:rPr lang="zh-CN" altLang="en-US"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e>
                          </m:mr>
                        </m:m>
                      </m:e>
                    </m:d>
                  </m:oMath>
                </a14:m>
                <a:r>
                  <a:rPr lang="en-US" altLang="zh-CN" sz="1200" kern="1200" dirty="0">
                    <a:solidFill>
                      <a:schemeClr val="tx1"/>
                    </a:solidFill>
                    <a:effectLst/>
                    <a:latin typeface="+mn-lt"/>
                    <a:ea typeface="+mn-ea"/>
                    <a:cs typeface="+mn-cs"/>
                  </a:rPr>
                  <a:t> (3-125)</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e>
                      <m:sup>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由公式</a:t>
                </a:r>
                <a:r>
                  <a:rPr lang="en-US" altLang="zh-CN" sz="1200" kern="1200" dirty="0">
                    <a:solidFill>
                      <a:schemeClr val="tx1"/>
                    </a:solidFill>
                    <a:effectLst/>
                    <a:latin typeface="+mn-lt"/>
                    <a:ea typeface="+mn-ea"/>
                    <a:cs typeface="+mn-cs"/>
                  </a:rPr>
                  <a:t>(3-125)</a:t>
                </a:r>
                <a:r>
                  <a:rPr lang="zh-CN" altLang="zh-CN" sz="1200" kern="1200" dirty="0">
                    <a:solidFill>
                      <a:schemeClr val="tx1"/>
                    </a:solidFill>
                    <a:effectLst/>
                    <a:latin typeface="+mn-lt"/>
                    <a:ea typeface="+mn-ea"/>
                    <a:cs typeface="+mn-cs"/>
                  </a:rPr>
                  <a:t>可知，如果两轮的速度相同：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，那么机器人沿直线向前运动，如果</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，那么机器人将原地打转，无法前行，其他情况下，机器人将做圆弧运动。</a:t>
                </a:r>
              </a:p>
              <a:p>
                <a:r>
                  <a:rPr lang="zh-CN" altLang="zh-CN" sz="1200" kern="1200" dirty="0">
                    <a:solidFill>
                      <a:schemeClr val="tx1"/>
                    </a:solidFill>
                    <a:effectLst/>
                    <a:latin typeface="+mn-lt"/>
                    <a:ea typeface="+mn-ea"/>
                    <a:cs typeface="+mn-cs"/>
                  </a:rPr>
                  <a:t>轮子的转速</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𝑟</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𝑚𝑖𝑛</m:t>
                    </m:r>
                    <m:r>
                      <a:rPr lang="zh-CN"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与角速度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𝑟𝑎𝑑</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𝑚𝑖𝑛</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之间的关系为：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𝜋</m:t>
                          </m:r>
                          <m:r>
                            <a:rPr lang="en-US" altLang="zh-CN" sz="1200" i="1" kern="1200">
                              <a:solidFill>
                                <a:schemeClr val="tx1"/>
                              </a:solidFill>
                              <a:effectLst/>
                              <a:latin typeface="Cambria Math" panose="02040503050406030204" pitchFamily="18" charset="0"/>
                              <a:ea typeface="+mn-ea"/>
                              <a:cs typeface="+mn-cs"/>
                            </a:rPr>
                            <m:t>𝑛</m:t>
                          </m:r>
                        </m:num>
                        <m:den>
                          <m:r>
                            <a:rPr lang="en-US" altLang="zh-CN" sz="1200" i="1" kern="1200">
                              <a:solidFill>
                                <a:schemeClr val="tx1"/>
                              </a:solidFill>
                              <a:effectLst/>
                              <a:latin typeface="Cambria Math" panose="02040503050406030204" pitchFamily="18" charset="0"/>
                              <a:ea typeface="+mn-ea"/>
                              <a:cs typeface="+mn-cs"/>
                            </a:rPr>
                            <m:t>60</m:t>
                          </m:r>
                        </m:den>
                      </m:f>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两轮差动移动机器人几何尺寸</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zh-CN" altLang="zh-CN" sz="1200" kern="1200" dirty="0">
                    <a:solidFill>
                      <a:schemeClr val="tx1"/>
                    </a:solidFill>
                    <a:effectLst/>
                    <a:latin typeface="+mn-lt"/>
                    <a:ea typeface="+mn-ea"/>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𝑙</m:t>
                    </m:r>
                  </m:oMath>
                </a14:m>
                <a:r>
                  <a:rPr lang="zh-CN" altLang="zh-CN" sz="1200" kern="1200" dirty="0">
                    <a:solidFill>
                      <a:schemeClr val="tx1"/>
                    </a:solidFill>
                    <a:effectLst/>
                    <a:latin typeface="+mn-lt"/>
                    <a:ea typeface="+mn-ea"/>
                    <a:cs typeface="+mn-cs"/>
                  </a:rPr>
                  <a:t>为常量，如果</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已知，可以通过</a:t>
                </a:r>
                <a:r>
                  <a:rPr lang="en-US" altLang="zh-CN" sz="1200" kern="1200" dirty="0">
                    <a:solidFill>
                      <a:schemeClr val="tx1"/>
                    </a:solidFill>
                    <a:effectLst/>
                    <a:latin typeface="+mn-lt"/>
                    <a:ea typeface="+mn-ea"/>
                    <a:cs typeface="+mn-cs"/>
                  </a:rPr>
                  <a:t>(3-125)</a:t>
                </a:r>
                <a:r>
                  <a:rPr lang="zh-CN" altLang="zh-CN" sz="1200" kern="1200" dirty="0">
                    <a:solidFill>
                      <a:schemeClr val="tx1"/>
                    </a:solidFill>
                    <a:effectLst/>
                    <a:latin typeface="+mn-lt"/>
                    <a:ea typeface="+mn-ea"/>
                    <a:cs typeface="+mn-cs"/>
                  </a:rPr>
                  <a:t>这个正运动学方程确定机器人整体的速度和角速度：</a:t>
                </a:r>
              </a:p>
              <a:p>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e>
                          </m:mr>
                          <m:mr>
                            <m:e>
                              <m:r>
                                <a:rPr lang="en-US" altLang="zh-CN" sz="1200" i="1" kern="1200">
                                  <a:solidFill>
                                    <a:schemeClr val="tx1"/>
                                  </a:solidFill>
                                  <a:effectLst/>
                                  <a:latin typeface="Cambria Math" panose="02040503050406030204" pitchFamily="18" charset="0"/>
                                  <a:ea typeface="+mn-ea"/>
                                  <a:cs typeface="+mn-cs"/>
                                </a:rPr>
                                <m:t>0</m:t>
                              </m:r>
                            </m:e>
                          </m:m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r>
                                <a:rPr lang="zh-CN" altLang="en-US"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e>
                          </m:mr>
                        </m:m>
                      </m:e>
                    </m:d>
                  </m:oMath>
                </a14:m>
                <a:r>
                  <a:rPr lang="en-US" altLang="zh-CN" sz="1200" kern="1200" dirty="0">
                    <a:solidFill>
                      <a:schemeClr val="tx1"/>
                    </a:solidFill>
                    <a:effectLst/>
                    <a:latin typeface="+mn-lt"/>
                    <a:ea typeface="+mn-ea"/>
                    <a:cs typeface="+mn-cs"/>
                  </a:rPr>
                  <a:t> (3-126)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从公式</a:t>
                </a:r>
                <a:r>
                  <a:rPr lang="en-US" altLang="zh-CN" sz="1200" kern="1200" dirty="0">
                    <a:solidFill>
                      <a:schemeClr val="tx1"/>
                    </a:solidFill>
                    <a:effectLst/>
                    <a:latin typeface="+mn-lt"/>
                    <a:ea typeface="+mn-ea"/>
                    <a:cs typeface="+mn-cs"/>
                  </a:rPr>
                  <a:t>(3-126)</a:t>
                </a:r>
                <a:r>
                  <a:rPr lang="zh-CN" altLang="zh-CN" sz="1200" kern="1200" dirty="0">
                    <a:solidFill>
                      <a:schemeClr val="tx1"/>
                    </a:solidFill>
                    <a:effectLst/>
                    <a:latin typeface="+mn-lt"/>
                    <a:ea typeface="+mn-ea"/>
                    <a:cs typeface="+mn-cs"/>
                  </a:rPr>
                  <a:t>可知，并不能得到正运动学需要求得的机器人的直接位形，这和工业机械臂有所不同，工业机器人由于连杆与关节之间的限制，关节一般不允许重复多圈旋转，机器人的最终位形和运动时间没有关系，而移动机器人可以相对环境无限制地运动，轮子是</a:t>
                </a:r>
                <a:r>
                  <a:rPr lang="en-US" altLang="zh-CN" sz="1200" kern="1200" dirty="0">
                    <a:solidFill>
                      <a:schemeClr val="tx1"/>
                    </a:solidFill>
                    <a:effectLst/>
                    <a:latin typeface="+mn-lt"/>
                    <a:ea typeface="+mn-ea"/>
                    <a:cs typeface="+mn-cs"/>
                  </a:rPr>
                  <a:t>360</a:t>
                </a:r>
                <a:r>
                  <a:rPr lang="zh-CN" altLang="zh-CN" sz="1200" kern="1200" dirty="0">
                    <a:solidFill>
                      <a:schemeClr val="tx1"/>
                    </a:solidFill>
                    <a:effectLst/>
                    <a:latin typeface="+mn-lt"/>
                    <a:ea typeface="+mn-ea"/>
                    <a:cs typeface="+mn-cs"/>
                  </a:rPr>
                  <a:t>度旋转的，一般控制其转速，机器人的位形随着时间的累积而更新，一般只给出这个速度方程，而不是直接的位姿方程（位形随时间变化的方程），位姿方程可以根据质点的直线运动方程以及曲线运动方程来求取，它们是时间、速度以及加速度的函数，所以本章的移动机器人运动学模型只分析这个正运动学速度模型，而位姿计算则归入到移动机器人路径规划的研究范畴，将在后面的运动规划章节进行讲解。</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3.50</a:t>
                </a:r>
                <a:r>
                  <a:rPr lang="zh-CN" altLang="zh-CN" sz="1200" kern="1200" dirty="0">
                    <a:solidFill>
                      <a:schemeClr val="tx1"/>
                    </a:solidFill>
                    <a:effectLst/>
                    <a:latin typeface="+mn-lt"/>
                    <a:ea typeface="+mn-ea"/>
                    <a:cs typeface="+mn-cs"/>
                  </a:rPr>
                  <a:t>所示，假设机器人沿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正方向向前运动，首先考虑各轮的转动速度对机器人中心</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点平移速度的贡献。如果一个轮旋转，另一个轮不动，那么</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点将以半速运动，对于差动驱动来说，可以将两轮的分量简单相加来计算局部坐标系下的</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方向的线速度分量为</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𝑅1+𝑋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，而在</a:t>
                </a:r>
                <a:r>
                  <a:rPr lang="en-US" altLang="zh-CN" sz="1200" i="0" kern="1200">
                    <a:solidFill>
                      <a:schemeClr val="tx1"/>
                    </a:solidFill>
                    <a:effectLst/>
                    <a:latin typeface="+mn-lt"/>
                    <a:ea typeface="+mn-ea"/>
                    <a:cs typeface="+mn-cs"/>
                  </a:rPr>
                  <a:t>𝑌</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方向，两个轮子都不可能产生侧向的运动，所以</a:t>
                </a:r>
                <a:r>
                  <a:rPr lang="en-US" altLang="zh-CN" sz="1200" i="0" kern="1200">
                    <a:solidFill>
                      <a:schemeClr val="tx1"/>
                    </a:solidFill>
                    <a:effectLst/>
                    <a:latin typeface="+mn-lt"/>
                    <a:ea typeface="+mn-ea"/>
                    <a:cs typeface="+mn-cs"/>
                  </a:rPr>
                  <a:t>𝑌</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方向速度分量为零。对于方向角分量</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，考虑轮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（右轮），该轮向前旋转在点</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产生逆时针旋转，轮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单独转动时，机器人枢轴绕轮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（左轮）做半径为</a:t>
                </a:r>
                <a:r>
                  <a:rPr lang="en-US" altLang="zh-CN" sz="1200" i="0" kern="1200">
                    <a:solidFill>
                      <a:schemeClr val="tx1"/>
                    </a:solidFill>
                    <a:effectLst/>
                    <a:latin typeface="+mn-lt"/>
                    <a:ea typeface="+mn-ea"/>
                    <a:cs typeface="+mn-cs"/>
                  </a:rPr>
                  <a:t>2𝑙</a:t>
                </a:r>
                <a:r>
                  <a:rPr lang="zh-CN" altLang="zh-CN" sz="1200" kern="1200" dirty="0">
                    <a:solidFill>
                      <a:schemeClr val="tx1"/>
                    </a:solidFill>
                    <a:effectLst/>
                    <a:latin typeface="+mn-lt"/>
                    <a:ea typeface="+mn-ea"/>
                    <a:cs typeface="+mn-cs"/>
                  </a:rPr>
                  <a:t>的圆弧运动，其对</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点的角速度分量为：</a:t>
                </a:r>
              </a:p>
              <a:p>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同理，轮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的贡献分量为：</a:t>
                </a:r>
              </a:p>
              <a:p>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因此，公式</a:t>
                </a:r>
                <a:r>
                  <a:rPr lang="en-US" altLang="zh-CN" sz="1200" kern="1200" dirty="0">
                    <a:solidFill>
                      <a:schemeClr val="tx1"/>
                    </a:solidFill>
                    <a:effectLst/>
                    <a:latin typeface="+mn-lt"/>
                    <a:ea typeface="+mn-ea"/>
                    <a:cs typeface="+mn-cs"/>
                  </a:rPr>
                  <a:t>(3-124)</a:t>
                </a:r>
                <a:r>
                  <a:rPr lang="zh-CN" altLang="zh-CN" sz="1200" kern="1200" dirty="0">
                    <a:solidFill>
                      <a:schemeClr val="tx1"/>
                    </a:solidFill>
                    <a:effectLst/>
                    <a:latin typeface="+mn-lt"/>
                    <a:ea typeface="+mn-ea"/>
                    <a:cs typeface="+mn-cs"/>
                  </a:rPr>
                  <a:t>表示的机器人运动方程可写为：</a:t>
                </a:r>
              </a:p>
              <a:p>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𝑅(𝜃)</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zh-CN" altLang="en-US"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en-US" altLang="zh-CN" sz="1200" kern="1200" dirty="0">
                    <a:solidFill>
                      <a:schemeClr val="tx1"/>
                    </a:solidFill>
                    <a:effectLst/>
                    <a:latin typeface="+mn-lt"/>
                    <a:ea typeface="+mn-ea"/>
                    <a:cs typeface="+mn-cs"/>
                  </a:rPr>
                  <a:t> (3-125)</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𝑅(𝜃)</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𝑐𝑜𝑠𝜃&amp;</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𝑠𝑖𝑛𝜃&amp;0@𝑠𝑖𝑛𝜃&amp;𝑐𝑜𝑠𝜃&amp;0@0&amp;0&amp;1)]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由公式</a:t>
                </a:r>
                <a:r>
                  <a:rPr lang="en-US" altLang="zh-CN" sz="1200" kern="1200" dirty="0">
                    <a:solidFill>
                      <a:schemeClr val="tx1"/>
                    </a:solidFill>
                    <a:effectLst/>
                    <a:latin typeface="+mn-lt"/>
                    <a:ea typeface="+mn-ea"/>
                    <a:cs typeface="+mn-cs"/>
                  </a:rPr>
                  <a:t>(3-125)</a:t>
                </a:r>
                <a:r>
                  <a:rPr lang="zh-CN" altLang="zh-CN" sz="1200" kern="1200" dirty="0">
                    <a:solidFill>
                      <a:schemeClr val="tx1"/>
                    </a:solidFill>
                    <a:effectLst/>
                    <a:latin typeface="+mn-lt"/>
                    <a:ea typeface="+mn-ea"/>
                    <a:cs typeface="+mn-cs"/>
                  </a:rPr>
                  <a:t>可知，如果两轮的速度相同：</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，那么机器人沿直线向前运动，如果</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，那么机器人将原地打转，无法前行，其他情况下，机器人将做圆弧运动。</a:t>
                </a:r>
              </a:p>
              <a:p>
                <a:r>
                  <a:rPr lang="zh-CN" altLang="zh-CN" sz="1200" kern="1200" dirty="0">
                    <a:solidFill>
                      <a:schemeClr val="tx1"/>
                    </a:solidFill>
                    <a:effectLst/>
                    <a:latin typeface="+mn-lt"/>
                    <a:ea typeface="+mn-ea"/>
                    <a:cs typeface="+mn-cs"/>
                  </a:rPr>
                  <a:t>轮子的转速</a:t>
                </a:r>
                <a:r>
                  <a:rPr lang="en-US" altLang="zh-CN" sz="1200" i="0" kern="1200">
                    <a:solidFill>
                      <a:schemeClr val="tx1"/>
                    </a:solidFill>
                    <a:effectLst/>
                    <a:latin typeface="+mn-lt"/>
                    <a:ea typeface="+mn-ea"/>
                    <a:cs typeface="+mn-cs"/>
                  </a:rPr>
                  <a:t>𝑛( 𝑟/𝑚𝑖𝑛</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与角速度</a:t>
                </a:r>
                <a:r>
                  <a:rPr lang="en-US" altLang="zh-CN" sz="1200" i="0" kern="1200">
                    <a:solidFill>
                      <a:schemeClr val="tx1"/>
                    </a:solidFill>
                    <a:effectLst/>
                    <a:latin typeface="+mn-lt"/>
                    <a:ea typeface="+mn-ea"/>
                    <a:cs typeface="+mn-cs"/>
                  </a:rPr>
                  <a:t>𝜔</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𝑟𝑎𝑑/𝑚𝑖𝑛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之间的关系为：</a:t>
                </a:r>
              </a:p>
              <a:p>
                <a:r>
                  <a:rPr lang="en-US" altLang="zh-CN" sz="1200" i="0" kern="1200">
                    <a:solidFill>
                      <a:schemeClr val="tx1"/>
                    </a:solidFill>
                    <a:effectLst/>
                    <a:latin typeface="+mn-lt"/>
                    <a:ea typeface="+mn-ea"/>
                    <a:cs typeface="+mn-cs"/>
                  </a:rPr>
                  <a:t>𝜔=2𝜋𝑛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两轮差动移动机器人几何尺寸</a:t>
                </a:r>
                <a:r>
                  <a:rPr lang="en-US" altLang="zh-CN" sz="1200" i="0" kern="1200">
                    <a:solidFill>
                      <a:schemeClr val="tx1"/>
                    </a:solidFill>
                    <a:effectLst/>
                    <a:latin typeface="+mn-lt"/>
                    <a:ea typeface="+mn-ea"/>
                    <a:cs typeface="+mn-cs"/>
                  </a:rPr>
                  <a:t>𝑟</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𝑙</a:t>
                </a:r>
                <a:r>
                  <a:rPr lang="zh-CN" altLang="zh-CN" sz="1200" kern="1200" dirty="0">
                    <a:solidFill>
                      <a:schemeClr val="tx1"/>
                    </a:solidFill>
                    <a:effectLst/>
                    <a:latin typeface="+mn-lt"/>
                    <a:ea typeface="+mn-ea"/>
                    <a:cs typeface="+mn-cs"/>
                  </a:rPr>
                  <a:t>为常量，如果</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已知，可以通过</a:t>
                </a:r>
                <a:r>
                  <a:rPr lang="en-US" altLang="zh-CN" sz="1200" kern="1200" dirty="0">
                    <a:solidFill>
                      <a:schemeClr val="tx1"/>
                    </a:solidFill>
                    <a:effectLst/>
                    <a:latin typeface="+mn-lt"/>
                    <a:ea typeface="+mn-ea"/>
                    <a:cs typeface="+mn-cs"/>
                  </a:rPr>
                  <a:t>(3-125)</a:t>
                </a:r>
                <a:r>
                  <a:rPr lang="zh-CN" altLang="zh-CN" sz="1200" kern="1200" dirty="0">
                    <a:solidFill>
                      <a:schemeClr val="tx1"/>
                    </a:solidFill>
                    <a:effectLst/>
                    <a:latin typeface="+mn-lt"/>
                    <a:ea typeface="+mn-ea"/>
                    <a:cs typeface="+mn-cs"/>
                  </a:rPr>
                  <a:t>这个正运动学方程确定机器人整体的速度和角速度：</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𝑐𝑜𝑠𝜃&amp;</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𝑠𝑖𝑛𝜃&amp;0@𝑠𝑖𝑛𝜃&amp;𝑐𝑜𝑠𝜃&amp;0@0&amp;0&amp;1)]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zh-CN" altLang="en-US"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en-US" altLang="zh-CN" sz="1200" kern="1200" dirty="0">
                    <a:solidFill>
                      <a:schemeClr val="tx1"/>
                    </a:solidFill>
                    <a:effectLst/>
                    <a:latin typeface="+mn-lt"/>
                    <a:ea typeface="+mn-ea"/>
                    <a:cs typeface="+mn-cs"/>
                  </a:rPr>
                  <a:t> (3-126)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从公式</a:t>
                </a:r>
                <a:r>
                  <a:rPr lang="en-US" altLang="zh-CN" sz="1200" kern="1200" dirty="0">
                    <a:solidFill>
                      <a:schemeClr val="tx1"/>
                    </a:solidFill>
                    <a:effectLst/>
                    <a:latin typeface="+mn-lt"/>
                    <a:ea typeface="+mn-ea"/>
                    <a:cs typeface="+mn-cs"/>
                  </a:rPr>
                  <a:t>(3-126)</a:t>
                </a:r>
                <a:r>
                  <a:rPr lang="zh-CN" altLang="zh-CN" sz="1200" kern="1200" dirty="0">
                    <a:solidFill>
                      <a:schemeClr val="tx1"/>
                    </a:solidFill>
                    <a:effectLst/>
                    <a:latin typeface="+mn-lt"/>
                    <a:ea typeface="+mn-ea"/>
                    <a:cs typeface="+mn-cs"/>
                  </a:rPr>
                  <a:t>可知，并不能得到正运动学需要求得的机器人的直接位形，这和工业机械臂有所不同，工业机器人由于连杆与关节之间的限制，关节一般不允许重复多圈旋转，机器人的最终位形和运动时间没有关系，而移动机器人可以相对环境无限制地运动，轮子是</a:t>
                </a:r>
                <a:r>
                  <a:rPr lang="en-US" altLang="zh-CN" sz="1200" kern="1200" dirty="0">
                    <a:solidFill>
                      <a:schemeClr val="tx1"/>
                    </a:solidFill>
                    <a:effectLst/>
                    <a:latin typeface="+mn-lt"/>
                    <a:ea typeface="+mn-ea"/>
                    <a:cs typeface="+mn-cs"/>
                  </a:rPr>
                  <a:t>360</a:t>
                </a:r>
                <a:r>
                  <a:rPr lang="zh-CN" altLang="zh-CN" sz="1200" kern="1200" dirty="0">
                    <a:solidFill>
                      <a:schemeClr val="tx1"/>
                    </a:solidFill>
                    <a:effectLst/>
                    <a:latin typeface="+mn-lt"/>
                    <a:ea typeface="+mn-ea"/>
                    <a:cs typeface="+mn-cs"/>
                  </a:rPr>
                  <a:t>度旋转的，一般控制其转速，机器人的位形随着时间的累积而更新，一般只给出这个速度方程，而不是直接的位姿方程（位形随时间变化的方程），位姿方程可以根据质点的直线运动方程以及曲线运动方程来求取，它们是时间、速度以及加速度的函数，所以本章的移动机器人运动学模型只分析这个正运动学速度模型，而位姿计算则归入到移动机器人路径规划的研究范畴，将在后面的运动规划章节进行讲解。</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extLst>
      <p:ext uri="{BB962C8B-B14F-4D97-AF65-F5344CB8AC3E}">
        <p14:creationId xmlns:p14="http://schemas.microsoft.com/office/powerpoint/2010/main" val="3638376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于移动机器人的非完整约束性，研究其运动学的时候一般使用速度方程来代替位姿方程。然而，当移动机器人从一个位置移动到另一个目标位置时，它总是会由于系统控制的不完整性导致产生一些误差，并不能直接通过速度积分来得到实际准确的位姿。因此，移动机器人需要一定的控制律</a:t>
                </a:r>
                <a:r>
                  <a:rPr lang="en-US" altLang="zh-CN" sz="1200" kern="1200" dirty="0">
                    <a:solidFill>
                      <a:schemeClr val="tx1"/>
                    </a:solidFill>
                    <a:effectLst/>
                    <a:latin typeface="+mn-lt"/>
                    <a:ea typeface="+mn-ea"/>
                    <a:cs typeface="+mn-cs"/>
                  </a:rPr>
                  <a:t>(control law)</a:t>
                </a:r>
                <a:r>
                  <a:rPr lang="zh-CN" altLang="zh-CN" sz="1200" kern="1200" dirty="0">
                    <a:solidFill>
                      <a:schemeClr val="tx1"/>
                    </a:solidFill>
                    <a:effectLst/>
                    <a:latin typeface="+mn-lt"/>
                    <a:ea typeface="+mn-ea"/>
                    <a:cs typeface="+mn-cs"/>
                  </a:rPr>
                  <a:t>才能以最小的误差将机器人运动到目标位置。如图</a:t>
                </a:r>
                <a:r>
                  <a:rPr lang="en-US" altLang="zh-CN" sz="1200" kern="1200" dirty="0">
                    <a:solidFill>
                      <a:schemeClr val="tx1"/>
                    </a:solidFill>
                    <a:effectLst/>
                    <a:latin typeface="+mn-lt"/>
                    <a:ea typeface="+mn-ea"/>
                    <a:cs typeface="+mn-cs"/>
                  </a:rPr>
                  <a:t>3.52</a:t>
                </a:r>
                <a:r>
                  <a:rPr lang="zh-CN" altLang="zh-CN" sz="1200" kern="1200" dirty="0">
                    <a:solidFill>
                      <a:schemeClr val="tx1"/>
                    </a:solidFill>
                    <a:effectLst/>
                    <a:latin typeface="+mn-lt"/>
                    <a:ea typeface="+mn-ea"/>
                    <a:cs typeface="+mn-cs"/>
                  </a:rPr>
                  <a:t>所示，这个微分运动学模型（</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代表线速度，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zh-CN" altLang="zh-CN" sz="1200" kern="1200" dirty="0">
                    <a:solidFill>
                      <a:schemeClr val="tx1"/>
                    </a:solidFill>
                    <a:effectLst/>
                    <a:latin typeface="+mn-lt"/>
                    <a:ea typeface="+mn-ea"/>
                    <a:cs typeface="+mn-cs"/>
                  </a:rPr>
                  <a:t>代表角速度），并不能直接通过积分来得到准确的位姿控制，通常需要采用某种反馈控制机制。</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于移动机器人的非完整约束性，我们研究其运动学的时候使用速度方程来代替位姿方程。然而，当移动机器人从一个位置移动到另一个目标位置时，它总是会由于系统控制的不完整性导致产生一些误差，并不能直接通过速度积分来得到实际准确的位姿。因此，移动机器人需要一定的控制律</a:t>
                </a:r>
                <a:r>
                  <a:rPr lang="en-US" altLang="zh-CN" sz="1200" kern="1200" dirty="0">
                    <a:solidFill>
                      <a:schemeClr val="tx1"/>
                    </a:solidFill>
                    <a:effectLst/>
                    <a:latin typeface="+mn-lt"/>
                    <a:ea typeface="+mn-ea"/>
                    <a:cs typeface="+mn-cs"/>
                  </a:rPr>
                  <a:t>(control law)</a:t>
                </a:r>
                <a:r>
                  <a:rPr lang="zh-CN" altLang="zh-CN" sz="1200" kern="1200" dirty="0">
                    <a:solidFill>
                      <a:schemeClr val="tx1"/>
                    </a:solidFill>
                    <a:effectLst/>
                    <a:latin typeface="+mn-lt"/>
                    <a:ea typeface="+mn-ea"/>
                    <a:cs typeface="+mn-cs"/>
                  </a:rPr>
                  <a:t>才能以最小的误差将机器人运动到目标位置。如图</a:t>
                </a:r>
                <a:r>
                  <a:rPr lang="en-US" altLang="zh-CN" sz="1200" kern="1200" dirty="0">
                    <a:solidFill>
                      <a:schemeClr val="tx1"/>
                    </a:solidFill>
                    <a:effectLst/>
                    <a:latin typeface="+mn-lt"/>
                    <a:ea typeface="+mn-ea"/>
                    <a:cs typeface="+mn-cs"/>
                  </a:rPr>
                  <a:t>3.45</a:t>
                </a:r>
                <a:r>
                  <a:rPr lang="zh-CN" altLang="zh-CN" sz="1200" kern="1200" dirty="0">
                    <a:solidFill>
                      <a:schemeClr val="tx1"/>
                    </a:solidFill>
                    <a:effectLst/>
                    <a:latin typeface="+mn-lt"/>
                    <a:ea typeface="+mn-ea"/>
                    <a:cs typeface="+mn-cs"/>
                  </a:rPr>
                  <a:t>所示，这个微分运动学模型（</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代表线速度，</a:t>
                </a:r>
                <a:r>
                  <a:rPr lang="en-US" altLang="zh-CN" sz="1200" i="0" kern="1200">
                    <a:solidFill>
                      <a:schemeClr val="tx1"/>
                    </a:solidFill>
                    <a:effectLst/>
                    <a:latin typeface="+mn-lt"/>
                    <a:ea typeface="+mn-ea"/>
                    <a:cs typeface="+mn-cs"/>
                  </a:rPr>
                  <a:t>𝜔</a:t>
                </a:r>
                <a:r>
                  <a:rPr lang="zh-CN" altLang="zh-CN" sz="1200" kern="1200" dirty="0">
                    <a:solidFill>
                      <a:schemeClr val="tx1"/>
                    </a:solidFill>
                    <a:effectLst/>
                    <a:latin typeface="+mn-lt"/>
                    <a:ea typeface="+mn-ea"/>
                    <a:cs typeface="+mn-cs"/>
                  </a:rPr>
                  <a:t>代表角速度），并不能直接通过积分来得到准确的位姿控制，通常需要采用某种反馈控制机制。</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extLst>
      <p:ext uri="{BB962C8B-B14F-4D97-AF65-F5344CB8AC3E}">
        <p14:creationId xmlns:p14="http://schemas.microsoft.com/office/powerpoint/2010/main" val="805621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3.51</a:t>
            </a:r>
            <a:r>
              <a:rPr lang="zh-CN" altLang="zh-CN" sz="1200" kern="1200" dirty="0" smtClean="0">
                <a:solidFill>
                  <a:schemeClr val="tx1"/>
                </a:solidFill>
                <a:effectLst/>
                <a:latin typeface="+mn-lt"/>
                <a:ea typeface="+mn-ea"/>
                <a:cs typeface="+mn-cs"/>
              </a:rPr>
              <a:t>所示，移动机器人的运动学涉及机器人与环境之间的感知与认知更多一些，运动控制与定位、制图、导航（路径规划，包括全局路径规划，局部路径规划，轨迹生成）等内容密切相关。其中移动机器人定位、制图、导航已发展成为一个专门的领域，被称为同时定位与制图（</a:t>
            </a:r>
            <a:r>
              <a:rPr lang="en-US" altLang="zh-CN" sz="1200" kern="1200" dirty="0" smtClean="0">
                <a:solidFill>
                  <a:schemeClr val="tx1"/>
                </a:solidFill>
                <a:effectLst/>
                <a:latin typeface="+mn-lt"/>
                <a:ea typeface="+mn-ea"/>
                <a:cs typeface="+mn-cs"/>
              </a:rPr>
              <a:t>SLAM</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Simultaneous Localization And Mapping</a:t>
            </a:r>
            <a:r>
              <a:rPr lang="zh-CN" altLang="zh-CN" sz="1200" kern="1200" dirty="0" smtClean="0">
                <a:solidFill>
                  <a:schemeClr val="tx1"/>
                </a:solidFill>
                <a:effectLst/>
                <a:latin typeface="+mn-lt"/>
                <a:ea typeface="+mn-ea"/>
                <a:cs typeface="+mn-cs"/>
              </a:rPr>
              <a:t>），这部分的内容需要开设另外的课程进行讲解。</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extLst>
      <p:ext uri="{BB962C8B-B14F-4D97-AF65-F5344CB8AC3E}">
        <p14:creationId xmlns:p14="http://schemas.microsoft.com/office/powerpoint/2010/main" val="2019178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轮子是移动机器人和人造交通工具中最流行的运动机构，它可达到很高的效率。如图</a:t>
            </a:r>
            <a:r>
              <a:rPr lang="en-US" altLang="zh-CN" sz="1200" kern="1200" dirty="0" smtClean="0">
                <a:solidFill>
                  <a:schemeClr val="tx1"/>
                </a:solidFill>
                <a:effectLst/>
                <a:latin typeface="+mn-lt"/>
                <a:ea typeface="+mn-ea"/>
                <a:cs typeface="+mn-cs"/>
              </a:rPr>
              <a:t>3.53</a:t>
            </a:r>
            <a:r>
              <a:rPr lang="zh-CN" altLang="zh-CN" sz="1200" kern="1200" dirty="0" smtClean="0">
                <a:solidFill>
                  <a:schemeClr val="tx1"/>
                </a:solidFill>
                <a:effectLst/>
                <a:latin typeface="+mn-lt"/>
                <a:ea typeface="+mn-ea"/>
                <a:cs typeface="+mn-cs"/>
              </a:rPr>
              <a:t>所示，目前在移动机器人中，常用的轮子有四种基本类型：（</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标准轮，具有</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个自由度轮轴（电动的）和接触点转动；（</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小脚轮，具有</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个自由度，围绕偏移的操纵结合点旋转；（</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瑞典轮，</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个自由度，围绕轮轴（电动的）、辊子和接触点旋转；</a:t>
            </a:r>
            <a:r>
              <a:rPr lang="en-US" altLang="zh-CN" sz="1200" kern="1200" dirty="0" smtClean="0">
                <a:solidFill>
                  <a:schemeClr val="tx1"/>
                </a:solidFill>
                <a:effectLst/>
                <a:latin typeface="+mn-lt"/>
                <a:ea typeface="+mn-ea"/>
                <a:cs typeface="+mn-cs"/>
              </a:rPr>
              <a:t>(d)</a:t>
            </a:r>
            <a:r>
              <a:rPr lang="zh-CN" altLang="zh-CN" sz="1200" kern="1200" dirty="0" smtClean="0">
                <a:solidFill>
                  <a:schemeClr val="tx1"/>
                </a:solidFill>
                <a:effectLst/>
                <a:latin typeface="+mn-lt"/>
                <a:ea typeface="+mn-ea"/>
                <a:cs typeface="+mn-cs"/>
              </a:rPr>
              <a:t>球形轮，技术上实现较困难。</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extLst>
      <p:ext uri="{BB962C8B-B14F-4D97-AF65-F5344CB8AC3E}">
        <p14:creationId xmlns:p14="http://schemas.microsoft.com/office/powerpoint/2010/main" val="860174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首先，来分析理想轮。理想滚动轮表示为不考虑摩擦或惯性的车轮模型。</a:t>
            </a:r>
            <a:endParaRPr lang="en-US" altLang="zh-CN" dirty="0" smtClean="0"/>
          </a:p>
          <a:p>
            <a:r>
              <a:rPr lang="zh-CN" altLang="en-US" sz="1200" dirty="0" smtClean="0"/>
              <a:t>What will be considered in the kinematics models of WMR：</a:t>
            </a:r>
          </a:p>
          <a:p>
            <a:pPr marL="285750" indent="-285750">
              <a:buFont typeface="Wingdings" panose="05000000000000000000" pitchFamily="2" charset="2"/>
              <a:buChar char="Ø"/>
            </a:pPr>
            <a:r>
              <a:rPr lang="zh-CN" altLang="en-US" sz="1200" dirty="0" smtClean="0"/>
              <a:t>If the wheel is free to rotate about its axis (x axis), the robot exhibits preferential rolling motion in one direction (y axis) and a certain amount of lateral slip.</a:t>
            </a:r>
          </a:p>
          <a:p>
            <a:pPr marL="285750" indent="-285750">
              <a:buFont typeface="Wingdings" panose="05000000000000000000" pitchFamily="2" charset="2"/>
              <a:buChar char="Ø"/>
            </a:pPr>
            <a:r>
              <a:rPr lang="zh-CN" altLang="en-US" sz="1200" dirty="0" smtClean="0"/>
              <a:t>For low velocities, rolling is a reasonable wheel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在上一节分析的两轮差动驱动移动机器人的速度模型中，首先计算单个轮子的约束，然后把它们联合起来计算整个机器人的运动，因此需要讨论不同类型轮子的约束。一般情况下，假设轮子的平面总是保持垂直，始终与地面之间只有一个单独的接触点，且在该点无滑动。在此假设条件下，分析轮子的滑动约束和滚动约束，即运动发生在适当方向上时，轮子必须滚动；在轮子的垂直平面正交方向上，必须无滑动。</a:t>
            </a: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extLst>
      <p:ext uri="{BB962C8B-B14F-4D97-AF65-F5344CB8AC3E}">
        <p14:creationId xmlns:p14="http://schemas.microsoft.com/office/powerpoint/2010/main" val="26470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extLst>
      <p:ext uri="{BB962C8B-B14F-4D97-AF65-F5344CB8AC3E}">
        <p14:creationId xmlns:p14="http://schemas.microsoft.com/office/powerpoint/2010/main" val="1240186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如果轮子只存在纯滚动，根据几何关系，考虑轮的转速对于机器人整体的速度贡献，那么其滚动约束方程为：</a:t>
                </a:r>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如果轮子没有滑动，那么轮子转速对机器人整体相对于轮子平面的正交方向上的分量贡献应为零：</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如果轮子只存在纯滚动，根据几何关系，考虑轮的转速对于机器人整体的速度贡献，那么其滚动约束方程为：</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−𝑙)𝑐𝑜𝑠𝛽)]𝑅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如果轮子没有滑动，那么轮子转速对机器人整体相对于轮子平面的正交方向上的分量贡献应为零：</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𝛼+𝛽)&amp;𝑙𝑠𝑖𝑛𝛽)]𝑅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extLst>
      <p:ext uri="{BB962C8B-B14F-4D97-AF65-F5344CB8AC3E}">
        <p14:creationId xmlns:p14="http://schemas.microsoft.com/office/powerpoint/2010/main" val="3300747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可操纵标准轮与固定标准轮的差别在于前者有一个附加的自由度：通过驱动轮子的中心点以及轮子与地面的接触点，让轮子可以围绕垂直轴转动，改变轮子相对底盘的方向角。</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可操纵标准轮的运动约束和固定标准轮的约束分析几乎一样，区别在于，轮子相对于底盘的方向角不再是固定值，而是随时间变化的函数：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。滑动约束以及滚动约束如下：</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这些约束与固定标准轮的约束是相同的，需要注意的是这个转向角速度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𝛽</m:t>
                        </m:r>
                      </m:e>
                    </m:acc>
                  </m:oMath>
                </a14:m>
                <a:r>
                  <a:rPr lang="zh-CN" altLang="zh-CN" sz="1200" kern="1200" dirty="0">
                    <a:solidFill>
                      <a:schemeClr val="tx1"/>
                    </a:solidFill>
                    <a:effectLst/>
                    <a:latin typeface="+mn-lt"/>
                    <a:ea typeface="+mn-ea"/>
                    <a:cs typeface="+mn-cs"/>
                  </a:rPr>
                  <a:t>对于机器人整体的影响和轮子转速</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oMath>
                </a14:m>
                <a:r>
                  <a:rPr lang="zh-CN" altLang="zh-CN" sz="1200" kern="1200" dirty="0">
                    <a:solidFill>
                      <a:schemeClr val="tx1"/>
                    </a:solidFill>
                    <a:effectLst/>
                    <a:latin typeface="+mn-lt"/>
                    <a:ea typeface="+mn-ea"/>
                    <a:cs typeface="+mn-cs"/>
                  </a:rPr>
                  <a:t>的影响不同，</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𝛽</m:t>
                        </m:r>
                      </m:e>
                    </m:acc>
                  </m:oMath>
                </a14:m>
                <a:r>
                  <a:rPr lang="zh-CN" altLang="zh-CN" sz="1200" kern="1200" dirty="0">
                    <a:solidFill>
                      <a:schemeClr val="tx1"/>
                    </a:solidFill>
                    <a:effectLst/>
                    <a:latin typeface="+mn-lt"/>
                    <a:ea typeface="+mn-ea"/>
                    <a:cs typeface="+mn-cs"/>
                  </a:rPr>
                  <a:t>对于机器人的瞬时速度没有直接影响，只是随着时间的集成，操纵角的变化影响机器人的活动性。</a:t>
                </a: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可操纵标准轮与固定标准轮的差别在于前者有一个附加的自由度：通过驱动轮子的中心点以及轮子与地面的接触点，让轮子可以围绕垂直轴转动，改变轮子相对底盘的方向角。</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可操纵标准轮的运动约束和固定标准轮的约束分析几乎一样，区别在于，轮子相对于底盘的方向角不再是固定值，而是随时间变化的函数：</a:t>
                </a:r>
                <a:r>
                  <a:rPr lang="en-US" altLang="zh-CN" sz="1200" i="0" kern="1200">
                    <a:solidFill>
                      <a:schemeClr val="tx1"/>
                    </a:solidFill>
                    <a:effectLst/>
                    <a:latin typeface="+mn-lt"/>
                    <a:ea typeface="+mn-ea"/>
                    <a:cs typeface="+mn-cs"/>
                  </a:rPr>
                  <a:t>𝛽(𝑡)</a:t>
                </a:r>
                <a:r>
                  <a:rPr lang="zh-CN" altLang="zh-CN" sz="1200" kern="1200" dirty="0">
                    <a:solidFill>
                      <a:schemeClr val="tx1"/>
                    </a:solidFill>
                    <a:effectLst/>
                    <a:latin typeface="+mn-lt"/>
                    <a:ea typeface="+mn-ea"/>
                    <a:cs typeface="+mn-cs"/>
                  </a:rPr>
                  <a:t>。滑动约束以及滚动约束如下：</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−𝑙)𝑐𝑜𝑠𝛽)]𝑅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𝛼+𝛽)&amp;𝑙𝑠𝑖𝑛𝛽)]𝑅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这些约束与固定标准轮的约束是相同的，需要注意的是这个转向角速度</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对于机器人整体的影响和轮子转速</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的影响不同，</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对于机器人的瞬时速度没有直接影响，只是随着时间的集成，操纵角的变化影响机器人的活动性。</a:t>
                </a: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extLst>
      <p:ext uri="{BB962C8B-B14F-4D97-AF65-F5344CB8AC3E}">
        <p14:creationId xmlns:p14="http://schemas.microsoft.com/office/powerpoint/2010/main" val="3064011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小脚轮能绕垂直轴操纵，但和可操纵标准轮不同，小脚轮绕垂直轴的转动不通过与地面的接触点。如图</a:t>
                </a:r>
                <a:r>
                  <a:rPr lang="en-US" altLang="zh-CN" sz="1200" kern="1200" dirty="0">
                    <a:solidFill>
                      <a:schemeClr val="tx1"/>
                    </a:solidFill>
                    <a:effectLst/>
                    <a:latin typeface="+mn-lt"/>
                    <a:ea typeface="+mn-ea"/>
                    <a:cs typeface="+mn-cs"/>
                  </a:rPr>
                  <a:t>3.50</a:t>
                </a:r>
                <a:r>
                  <a:rPr lang="zh-CN" altLang="zh-CN" sz="1200" kern="1200" dirty="0">
                    <a:solidFill>
                      <a:schemeClr val="tx1"/>
                    </a:solidFill>
                    <a:effectLst/>
                    <a:latin typeface="+mn-lt"/>
                    <a:ea typeface="+mn-ea"/>
                    <a:cs typeface="+mn-cs"/>
                  </a:rPr>
                  <a:t>所示，轮子与地面的接触点不在</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点，而在</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点，可以抽象为长度为</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的刚性杆</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将其连接到点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，从而固定了垂直轴的位置。</a:t>
                </a:r>
              </a:p>
              <a:p>
                <a:r>
                  <a:rPr lang="zh-CN" altLang="zh-CN" sz="1200" kern="1200" dirty="0">
                    <a:solidFill>
                      <a:schemeClr val="tx1"/>
                    </a:solidFill>
                    <a:effectLst/>
                    <a:latin typeface="+mn-lt"/>
                    <a:ea typeface="+mn-ea"/>
                    <a:cs typeface="+mn-cs"/>
                  </a:rPr>
                  <a:t>假定在所有的时间里，轮子平面与</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一致。与可操纵标准轮相似，小脚轮也有两个参数随时间变化，</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为轮子随时间的转动，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随时间的操纵角度和方向</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对于滚动约束来说，在</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与轮子平面一致的运动期间，轴的偏移不起作用：</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而小脚轮的几何特征对于滑动约束有较大影响。由于在</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点会有对轮子的横向力发生，所以横向运动约束不为零，垂直轴会产生适当的转动，需要加入，所以滑动变得像一个滚动约束：</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r>
                                      <a:rPr lang="en-US" altLang="zh-CN" sz="1200" i="1" kern="1200">
                                        <a:solidFill>
                                          <a:schemeClr val="tx1"/>
                                        </a:solidFill>
                                        <a:effectLst/>
                                        <a:latin typeface="Cambria Math" panose="02040503050406030204" pitchFamily="18" charset="0"/>
                                        <a:ea typeface="+mn-ea"/>
                                        <a:cs typeface="+mn-cs"/>
                                      </a:rPr>
                                      <m:t>𝑑</m:t>
                                    </m:r>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𝛽</m:t>
                          </m:r>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这个滑动约束方程中，可以分析得到：在正交于轮子平面的任何运动都必须被一个等效且相反的小脚轮操纵运动所平衡。可操纵标准轮其本身的操纵不会带来底盘的运动，而小脚轮不同，由于地面接触点与垂直旋转轴之间有偏移，其本身的操纵会产生机器人底盘的移动。</a:t>
                </a:r>
              </a:p>
              <a:p>
                <a:r>
                  <a:rPr lang="zh-CN" altLang="zh-CN" sz="1200" kern="1200" dirty="0">
                    <a:solidFill>
                      <a:schemeClr val="tx1"/>
                    </a:solidFill>
                    <a:effectLst/>
                    <a:latin typeface="+mn-lt"/>
                    <a:ea typeface="+mn-ea"/>
                    <a:cs typeface="+mn-cs"/>
                  </a:rPr>
                  <a:t>从这两个约束方程中，我们可以发现：对于任意的机器人底盘的运动</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oMath>
                </a14:m>
                <a:r>
                  <a:rPr lang="zh-CN" altLang="zh-CN" sz="1200" kern="1200" dirty="0">
                    <a:solidFill>
                      <a:schemeClr val="tx1"/>
                    </a:solidFill>
                    <a:effectLst/>
                    <a:latin typeface="+mn-lt"/>
                    <a:ea typeface="+mn-ea"/>
                    <a:cs typeface="+mn-cs"/>
                  </a:rPr>
                  <a:t>来说，总存在某个旋转速度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oMath>
                </a14:m>
                <a:r>
                  <a:rPr lang="zh-CN" altLang="zh-CN" sz="1200" kern="1200" dirty="0">
                    <a:solidFill>
                      <a:schemeClr val="tx1"/>
                    </a:solidFill>
                    <a:effectLst/>
                    <a:latin typeface="+mn-lt"/>
                    <a:ea typeface="+mn-ea"/>
                    <a:cs typeface="+mn-cs"/>
                  </a:rPr>
                  <a:t>和操作速度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𝛽</m:t>
                        </m:r>
                      </m:e>
                    </m:acc>
                  </m:oMath>
                </a14:m>
                <a:r>
                  <a:rPr lang="zh-CN" altLang="zh-CN" sz="1200" kern="1200" dirty="0">
                    <a:solidFill>
                      <a:schemeClr val="tx1"/>
                    </a:solidFill>
                    <a:effectLst/>
                    <a:latin typeface="+mn-lt"/>
                    <a:ea typeface="+mn-ea"/>
                    <a:cs typeface="+mn-cs"/>
                  </a:rPr>
                  <a:t>，使得约束可以被满足。因此，如果只带有小脚轮的机器人，理论上是可按任意的速度在可能的机器人运动空间中运动，也就是说此时，系统是全向的。小脚轮的运动约束相对来说比较复杂，但实际并没有给底盘附加约束。</a:t>
                </a:r>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小脚轮能绕垂直轴操纵，但和可操纵标准轮不同，小脚轮绕垂直轴的转动不通过与地面的接触点。如图</a:t>
                </a:r>
                <a:r>
                  <a:rPr lang="en-US" altLang="zh-CN" sz="1200" kern="1200" dirty="0">
                    <a:solidFill>
                      <a:schemeClr val="tx1"/>
                    </a:solidFill>
                    <a:effectLst/>
                    <a:latin typeface="+mn-lt"/>
                    <a:ea typeface="+mn-ea"/>
                    <a:cs typeface="+mn-cs"/>
                  </a:rPr>
                  <a:t>3.50</a:t>
                </a:r>
                <a:r>
                  <a:rPr lang="zh-CN" altLang="zh-CN" sz="1200" kern="1200" dirty="0">
                    <a:solidFill>
                      <a:schemeClr val="tx1"/>
                    </a:solidFill>
                    <a:effectLst/>
                    <a:latin typeface="+mn-lt"/>
                    <a:ea typeface="+mn-ea"/>
                    <a:cs typeface="+mn-cs"/>
                  </a:rPr>
                  <a:t>所示，轮子与地面的接触点不在</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点，而在</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点，可以抽象为长度为</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的刚性杆</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将其连接到点</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，从而固定了垂直轴的位置。</a:t>
                </a:r>
              </a:p>
              <a:p>
                <a:r>
                  <a:rPr lang="zh-CN" altLang="zh-CN" sz="1200" kern="1200" dirty="0">
                    <a:solidFill>
                      <a:schemeClr val="tx1"/>
                    </a:solidFill>
                    <a:effectLst/>
                    <a:latin typeface="+mn-lt"/>
                    <a:ea typeface="+mn-ea"/>
                    <a:cs typeface="+mn-cs"/>
                  </a:rPr>
                  <a:t>假定在所有的时间里，轮子平面与</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一致。与可操纵标准轮相似，小脚轮也有两个参数随时间变化，</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为轮子随时间的转动，</a:t>
                </a:r>
                <a:r>
                  <a:rPr lang="en-US" altLang="zh-CN" sz="1200" i="0" kern="1200">
                    <a:solidFill>
                      <a:schemeClr val="tx1"/>
                    </a:solidFill>
                    <a:effectLst/>
                    <a:latin typeface="+mn-lt"/>
                    <a:ea typeface="+mn-ea"/>
                    <a:cs typeface="+mn-cs"/>
                  </a:rPr>
                  <a:t>𝛽(𝑡)</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随时间的操纵角度和方向</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对于滚动约束来说，在</a:t>
                </a:r>
                <a:r>
                  <a:rPr lang="en-US" altLang="zh-CN" sz="1200" kern="1200" dirty="0">
                    <a:solidFill>
                      <a:schemeClr val="tx1"/>
                    </a:solidFill>
                    <a:effectLst/>
                    <a:latin typeface="+mn-lt"/>
                    <a:ea typeface="+mn-ea"/>
                    <a:cs typeface="+mn-cs"/>
                  </a:rPr>
                  <a:t>AB</a:t>
                </a:r>
                <a:r>
                  <a:rPr lang="zh-CN" altLang="zh-CN" sz="1200" kern="1200" dirty="0">
                    <a:solidFill>
                      <a:schemeClr val="tx1"/>
                    </a:solidFill>
                    <a:effectLst/>
                    <a:latin typeface="+mn-lt"/>
                    <a:ea typeface="+mn-ea"/>
                    <a:cs typeface="+mn-cs"/>
                  </a:rPr>
                  <a:t>与轮子平面一致的运动期间，轴的偏移不起作用：</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−𝑙)𝑐𝑜𝑠𝛽)]𝑅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而小脚轮的几何特征对于滑动约束有较大影响。由于在</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点会有对轮子的横向力发生，所以横向运动约束不为零，垂直轴会产生适当的转动，需要加入，所以滑动变得像一个滚动约束：</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𝛼+𝛽)𝑑&amp;𝑙𝑠𝑖𝑛𝛽)]𝑅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+𝑑𝛽</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这个滑动约束方程中，可以分析得到：在正交于轮子平面的任何运动都必须被一个等效且相反的小脚轮操纵运动所平衡。可操纵标准轮其本身的操纵不会带来底盘的运动，而小脚轮不同，由于地面接触点与垂直旋转轴之间有偏移，其本身的操纵会产生机器人底盘的移动。</a:t>
                </a:r>
              </a:p>
              <a:p>
                <a:r>
                  <a:rPr lang="zh-CN" altLang="zh-CN" sz="1200" kern="1200" dirty="0">
                    <a:solidFill>
                      <a:schemeClr val="tx1"/>
                    </a:solidFill>
                    <a:effectLst/>
                    <a:latin typeface="+mn-lt"/>
                    <a:ea typeface="+mn-ea"/>
                    <a:cs typeface="+mn-cs"/>
                  </a:rPr>
                  <a:t>从这两个约束方程中，我们可以发现：对于任意的机器人底盘的运动</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来说，总存在某个旋转速度</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和操作速度</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使得约束可以被满足。因此，如果只带有小脚轮的机器人，理论上是可按任意的速度在可能的机器人运动空间中运动，也就是说此时，系统是全向的。小脚轮的运动约束相对来说比较复杂，但实际并没有给底盘附加约束。</a:t>
                </a:r>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extLst>
      <p:ext uri="{BB962C8B-B14F-4D97-AF65-F5344CB8AC3E}">
        <p14:creationId xmlns:p14="http://schemas.microsoft.com/office/powerpoint/2010/main" val="2266445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r>
                      <a:rPr lang="en-US" altLang="zh-CN" sz="1200" i="1" kern="1200" smtClean="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表示为主轮平面与辊子旋转轴之间的夹角。主轮转动时，辊子与地面之间的摩擦力会产生与主轮轴呈</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角的反推力，这个斜向推力可以被分为纵向和横向两个分量。因此需要加上这个</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，且其滚动约束成立只是在沿这个辊子的转动方向有效，而不是主轮的平面，因此其滚动约束方程为：</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𝛾</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𝛾</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𝛾</m:t>
                                </m:r>
                                <m:r>
                                  <a:rPr lang="en-US" altLang="zh-CN" sz="1200" i="1" kern="1200">
                                    <a:solidFill>
                                      <a:schemeClr val="tx1"/>
                                    </a:solidFill>
                                    <a:effectLst/>
                                    <a:latin typeface="Cambria Math" panose="02040503050406030204" pitchFamily="18" charset="0"/>
                                    <a:ea typeface="+mn-ea"/>
                                    <a:cs typeface="+mn-cs"/>
                                  </a:rPr>
                                  <m:t>)</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𝛾</m:t>
                      </m:r>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而对于辊子的自由转动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𝑠𝑤</m:t>
                        </m:r>
                      </m:sub>
                    </m:sSub>
                  </m:oMath>
                </a14:m>
                <a:r>
                  <a:rPr lang="zh-CN" altLang="zh-CN" sz="1200" kern="1200" dirty="0">
                    <a:solidFill>
                      <a:schemeClr val="tx1"/>
                    </a:solidFill>
                    <a:effectLst/>
                    <a:latin typeface="+mn-lt"/>
                    <a:ea typeface="+mn-ea"/>
                    <a:cs typeface="+mn-cs"/>
                  </a:rPr>
                  <a:t>，还需要加入到滑动约束：</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𝛾</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𝛾</m:t>
                                        </m:r>
                                      </m:e>
                                    </m:d>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mr>
                          </m:m>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𝛾</m:t>
                          </m:r>
                          <m:r>
                            <a:rPr lang="en-US" altLang="zh-CN" sz="1200" i="1" kern="1200">
                              <a:solidFill>
                                <a:schemeClr val="tx1"/>
                              </a:solidFill>
                              <a:effectLst/>
                              <a:latin typeface="Cambria Math" panose="02040503050406030204" pitchFamily="18" charset="0"/>
                              <a:ea typeface="+mn-ea"/>
                              <a:cs typeface="+mn-cs"/>
                            </a:rPr>
                            <m:t>)</m:t>
                          </m:r>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𝛾</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𝑠𝑤</m:t>
                          </m:r>
                        </m:sub>
                      </m:sSub>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麦克拉姆轮的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一般为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45°</m:t>
                    </m:r>
                  </m:oMath>
                </a14:m>
                <a:r>
                  <a:rPr lang="zh-CN" altLang="zh-CN" sz="1200" kern="1200" dirty="0">
                    <a:solidFill>
                      <a:schemeClr val="tx1"/>
                    </a:solidFill>
                    <a:effectLst/>
                    <a:latin typeface="+mn-lt"/>
                    <a:ea typeface="+mn-ea"/>
                    <a:cs typeface="+mn-cs"/>
                  </a:rPr>
                  <a:t>，从上面这两个约束中可以看到，该种轮子的行为特征将随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值变化而激烈改变。假如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r>
                      <a:rPr lang="en-US" altLang="zh-CN" sz="1200"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，代表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90°</m:t>
                    </m:r>
                  </m:oMath>
                </a14:m>
                <a:r>
                  <a:rPr lang="zh-CN" altLang="zh-CN" sz="1200" kern="1200" dirty="0">
                    <a:solidFill>
                      <a:schemeClr val="tx1"/>
                    </a:solidFill>
                    <a:effectLst/>
                    <a:latin typeface="+mn-lt"/>
                    <a:ea typeface="+mn-ea"/>
                    <a:cs typeface="+mn-cs"/>
                  </a:rPr>
                  <a:t>的麦克拉姆轮。在这种情况下，辊子速度方向和主轮平面一致，滚动约束等同于固定标准轮。然而由于辊子正交于主轮平面，其滑动约束分量为零。我们改变轮子转速</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oMath>
                </a14:m>
                <a:r>
                  <a:rPr lang="zh-CN" altLang="zh-CN" sz="1200" kern="1200" dirty="0">
                    <a:solidFill>
                      <a:schemeClr val="tx1"/>
                    </a:solidFill>
                    <a:effectLst/>
                    <a:latin typeface="+mn-lt"/>
                    <a:ea typeface="+mn-ea"/>
                    <a:cs typeface="+mn-cs"/>
                  </a:rPr>
                  <a:t>，可以产生任何期望的运动向量满足其滚动约束方程，所以这个时候轮子就是全向的。假如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𝜋</m:t>
                    </m:r>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，辊子旋转轴和主轮轴平行，那么其滑动约束方程等同于固定标准轮，辊子与主轮方向一致，主轮的滚动约束消失，主轮无需旋转，这相当于麦克拉姆轮的退化形式，一般不如考虑。</a:t>
                </a:r>
                <a:endParaRPr lang="zh-CN" altLang="en-US" dirty="0"/>
              </a:p>
            </p:txBody>
          </p:sp>
        </mc:Choice>
        <mc:Fallback xmlns="">
          <p:sp>
            <p:nvSpPr>
              <p:cNvPr id="3" name="备注占位符 2"/>
              <p:cNvSpPr>
                <a:spLocks noGrp="1"/>
              </p:cNvSpPr>
              <p:nvPr>
                <p:ph type="body" idx="1"/>
              </p:nvPr>
            </p:nvSpPr>
            <p:spPr/>
            <p:txBody>
              <a:bodyPr/>
              <a:lstStyle/>
              <a:p>
                <a:r>
                  <a:rPr lang="en-US" altLang="zh-CN" sz="1200" i="0" kern="1200" smtClean="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表示为主轮平面与辊子旋转轴之间的夹角。主轮转动时，辊子与地面之间的摩擦力会产生与主轮轴呈</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角的反推力，这个斜向推力可以被分为纵向和横向两个分量。因此需要加上这个</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，且其滚动约束成立只是在沿这个辊子的转动方向有效，而不是主轮的平面，因此其滚动约束方程为：</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𝛼+𝛽+𝛾)&amp;−cos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𝛼+𝛽+𝛾)&amp;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−𝑙)cos⁡(𝛽+𝛾))]𝑅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𝑐𝑜𝑠𝛾=0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而对于辊子的自由转动</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𝑠𝑤</a:t>
                </a:r>
                <a:r>
                  <a:rPr lang="zh-CN" altLang="zh-CN" sz="1200" kern="1200" dirty="0">
                    <a:solidFill>
                      <a:schemeClr val="tx1"/>
                    </a:solidFill>
                    <a:effectLst/>
                    <a:latin typeface="+mn-lt"/>
                    <a:ea typeface="+mn-ea"/>
                    <a:cs typeface="+mn-cs"/>
                  </a:rPr>
                  <a:t>，还需要加入到滑动约束：</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𝛼+𝛽+𝛾)&amp;sin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𝛼+𝛽+𝛾)&amp;𝑙𝑠𝑖𝑛(𝛽)+𝛾)]𝑅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𝑠𝑖𝑛𝛾−𝑟𝜑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𝑠𝑤=0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麦克拉姆轮的</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一般为</a:t>
                </a:r>
                <a:r>
                  <a:rPr lang="en-US" altLang="zh-CN" sz="1200" i="0" kern="120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，从上面这两个约束中可以看到，该种轮子的行为特征将随</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值变化而激烈改变。假如</a:t>
                </a:r>
                <a:r>
                  <a:rPr lang="en-US" altLang="zh-CN" sz="1200" i="0" kern="1200">
                    <a:solidFill>
                      <a:schemeClr val="tx1"/>
                    </a:solidFill>
                    <a:effectLst/>
                    <a:latin typeface="+mn-lt"/>
                    <a:ea typeface="+mn-ea"/>
                    <a:cs typeface="+mn-cs"/>
                  </a:rPr>
                  <a:t>𝛾=0</a:t>
                </a:r>
                <a:r>
                  <a:rPr lang="zh-CN" altLang="zh-CN" sz="1200" kern="1200" dirty="0">
                    <a:solidFill>
                      <a:schemeClr val="tx1"/>
                    </a:solidFill>
                    <a:effectLst/>
                    <a:latin typeface="+mn-lt"/>
                    <a:ea typeface="+mn-ea"/>
                    <a:cs typeface="+mn-cs"/>
                  </a:rPr>
                  <a:t>，代表</a:t>
                </a:r>
                <a:r>
                  <a:rPr lang="en-US" altLang="zh-CN" sz="1200" i="0" kern="120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的麦克拉姆轮。在这种情况下，辊子速度方向和主轮平面一致，滚动约束等同于固定标准轮。然而由于辊子正交于主轮平面，其滑动约束分量为零。我们改变轮子转速</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，可以产生任何期望的运动向量满足其滚动约束方程，所以这个时候轮子就是全向的。假如</a:t>
                </a:r>
                <a:r>
                  <a:rPr lang="en-US" altLang="zh-CN" sz="1200" i="0" kern="1200">
                    <a:solidFill>
                      <a:schemeClr val="tx1"/>
                    </a:solidFill>
                    <a:effectLst/>
                    <a:latin typeface="+mn-lt"/>
                    <a:ea typeface="+mn-ea"/>
                    <a:cs typeface="+mn-cs"/>
                  </a:rPr>
                  <a:t>𝛾=𝜋/2</a:t>
                </a:r>
                <a:r>
                  <a:rPr lang="zh-CN" altLang="zh-CN" sz="1200" kern="1200" dirty="0">
                    <a:solidFill>
                      <a:schemeClr val="tx1"/>
                    </a:solidFill>
                    <a:effectLst/>
                    <a:latin typeface="+mn-lt"/>
                    <a:ea typeface="+mn-ea"/>
                    <a:cs typeface="+mn-cs"/>
                  </a:rPr>
                  <a:t>，辊子旋转轴和主轮轴平行，那么其滑动约束方程等同于固定标准轮，辊子与主轮方向一致，主轮的滚动约束消失，主轮无需旋转，这相当于麦克拉姆轮的退化形式，一般不如考虑。</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extLst>
      <p:ext uri="{BB962C8B-B14F-4D97-AF65-F5344CB8AC3E}">
        <p14:creationId xmlns:p14="http://schemas.microsoft.com/office/powerpoint/2010/main" val="3442286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所谓球形轮，就是轮子为球或球形，它没有转动主轴，所以不存在合适的滚动约束和滑动约束。我们如果要分析，可以将其滚动约束与滑动约束写成和固定标准轮一样的形式：</a:t>
                </a:r>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𝛽</m:t>
                                </m:r>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只是这里</a:t>
                </a:r>
                <a:r>
                  <a:rPr lang="zh-CN" altLang="zh-CN" sz="1200" kern="1200" dirty="0" smtClean="0">
                    <a:solidFill>
                      <a:schemeClr val="tx1"/>
                    </a:solidFill>
                    <a:effectLst/>
                    <a:latin typeface="+mn-lt"/>
                    <a:ea typeface="+mn-ea"/>
                    <a:cs typeface="+mn-cs"/>
                  </a:rPr>
                  <a:t>需要注意的是，球形轮的转动，其旋转轴可以具有任意方向，所以这个</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就会是个自由变量，难以控制。</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所谓球形轮，就是轮子为球或球形，它没有转动主轴，所以不存在合适的滚动约束和滑动约束。我们如果要分析，可以将其滚动约束与滑动约束写成和固定标准轮一样的形式：</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−𝑙)𝑐𝑜𝑠𝛽)]𝑅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𝛼+𝛽)&amp;𝑙𝑠𝑖𝑛𝛽)]𝑅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只是这里</a:t>
                </a:r>
                <a:r>
                  <a:rPr lang="zh-CN" altLang="zh-CN" sz="1200" kern="1200" dirty="0" smtClean="0">
                    <a:solidFill>
                      <a:schemeClr val="tx1"/>
                    </a:solidFill>
                    <a:effectLst/>
                    <a:latin typeface="+mn-lt"/>
                    <a:ea typeface="+mn-ea"/>
                    <a:cs typeface="+mn-cs"/>
                  </a:rPr>
                  <a:t>需要注意的是，球形轮的转动，其旋转轴可以具有任意方向，所以这个</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就会是个自由变量，难以控制。</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extLst>
      <p:ext uri="{BB962C8B-B14F-4D97-AF65-F5344CB8AC3E}">
        <p14:creationId xmlns:p14="http://schemas.microsoft.com/office/powerpoint/2010/main" val="1530464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联合所有轮子的滚动约束，将机器人整体的滚动约束方程表达为：</a:t>
                </a:r>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oMath>
                </a14:m>
                <a:r>
                  <a:rPr lang="zh-CN" altLang="zh-CN" sz="1200" kern="1200" dirty="0">
                    <a:solidFill>
                      <a:schemeClr val="tx1"/>
                    </a:solidFill>
                    <a:effectLst/>
                    <a:latin typeface="+mn-lt"/>
                    <a:ea typeface="+mn-ea"/>
                    <a:cs typeface="+mn-cs"/>
                  </a:rPr>
                  <a:t>可以用各轮的围绕各自水平轴的转动位置矩阵表示，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随时间变化，由固定标准轮的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𝜑</m:t>
                        </m:r>
                      </m:e>
                      <m:sub>
                        <m:r>
                          <a:rPr lang="en-US" altLang="zh-CN" sz="1200" i="1" kern="1200">
                            <a:solidFill>
                              <a:schemeClr val="tx1"/>
                            </a:solidFill>
                            <a:effectLst/>
                            <a:latin typeface="Cambria Math" panose="02040503050406030204" pitchFamily="18" charset="0"/>
                            <a:ea typeface="+mn-ea"/>
                            <a:cs typeface="+mn-cs"/>
                          </a:rPr>
                          <m:t>𝑓</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和可操纵标准轮的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𝜑</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联合表示：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𝜑</m:t>
                                    </m:r>
                                  </m:e>
                                  <m:sub>
                                    <m:r>
                                      <a:rPr lang="en-US" altLang="zh-CN" sz="1200" i="1" kern="1200">
                                        <a:solidFill>
                                          <a:schemeClr val="tx1"/>
                                        </a:solidFill>
                                        <a:effectLst/>
                                        <a:latin typeface="Cambria Math" panose="02040503050406030204" pitchFamily="18" charset="0"/>
                                        <a:ea typeface="+mn-ea"/>
                                        <a:cs typeface="+mn-cs"/>
                                      </a:rPr>
                                      <m:t>𝑓</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𝜑</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e>
                            </m:mr>
                          </m:m>
                        </m:e>
                      </m:d>
                    </m:oMath>
                  </m:oMathPara>
                </a14:m>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为一个</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𝑁</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𝑁</m:t>
                    </m:r>
                  </m:oMath>
                </a14:m>
                <a:r>
                  <a:rPr lang="zh-CN" altLang="zh-CN" sz="1200" kern="1200" dirty="0">
                    <a:solidFill>
                      <a:schemeClr val="tx1"/>
                    </a:solidFill>
                    <a:effectLst/>
                    <a:latin typeface="+mn-lt"/>
                    <a:ea typeface="+mn-ea"/>
                    <a:cs typeface="+mn-cs"/>
                  </a:rPr>
                  <a:t>的常数对角矩阵，对角常数为各标准轮的半径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为各轮运动在各自的轮子平面的投影矩阵： </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仅为固定标准轮的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以及可操纵标准轮的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的函数，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为一个常数，而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则是时间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的函数。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为所有固定标准轮的约束矩阵投影，大小为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𝑓</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，每行为前面描述过固定标准轮滚动约束方程中的三项：</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oMath>
                  </m:oMathPara>
                </a14:m>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大小为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，每行为可操纵标准轮滚动约束方程中的三项</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此时</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为随时间变化的函数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该滚动约束方程表明，所有标准轮都必须轮子平面，绕水平轴运动，滚动只能发生在和地面的接触点。</a:t>
                </a:r>
              </a:p>
              <a:p>
                <a:r>
                  <a:rPr lang="zh-CN" altLang="zh-CN" sz="1200" kern="1200" dirty="0">
                    <a:solidFill>
                      <a:schemeClr val="tx1"/>
                    </a:solidFill>
                    <a:effectLst/>
                    <a:latin typeface="+mn-lt"/>
                    <a:ea typeface="+mn-ea"/>
                    <a:cs typeface="+mn-cs"/>
                  </a:rPr>
                  <a:t>同理，我们将滑动约束方程也统一成一个表达式：</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e>
                            </m:mr>
                          </m:m>
                        </m:e>
                      </m:d>
                    </m:oMath>
                  </m:oMathPara>
                </a14:m>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大小为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𝑓</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，每行为前面描述过的固定标准轮滑动约束方程中的三项：</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𝛽</m:t>
                                </m:r>
                              </m:e>
                            </m:mr>
                          </m:m>
                        </m:e>
                      </m:d>
                    </m:oMath>
                  </m:oMathPara>
                </a14:m>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大小为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，每行为前面描述过的可操纵标准轮滑动约束方程中的三项</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此时</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为随时间变化的函数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e>
                                    </m:d>
                                  </m:e>
                                </m:func>
                              </m:e>
                              <m:e>
                                <m:r>
                                  <a:rPr lang="en-US" altLang="zh-CN" sz="1200" i="1" kern="1200">
                                    <a:solidFill>
                                      <a:schemeClr val="tx1"/>
                                    </a:solidFill>
                                    <a:effectLst/>
                                    <a:latin typeface="Cambria Math" panose="02040503050406030204" pitchFamily="18" charset="0"/>
                                    <a:ea typeface="+mn-ea"/>
                                    <a:cs typeface="+mn-cs"/>
                                  </a:rPr>
                                  <m:t>𝑙𝑠𝑖𝑛</m:t>
                                </m:r>
                                <m:r>
                                  <a:rPr lang="en-US" altLang="zh-CN" sz="1200" i="1" kern="1200">
                                    <a:solidFill>
                                      <a:schemeClr val="tx1"/>
                                    </a:solidFill>
                                    <a:effectLst/>
                                    <a:latin typeface="Cambria Math" panose="02040503050406030204" pitchFamily="18" charset="0"/>
                                    <a:ea typeface="+mn-ea"/>
                                    <a:cs typeface="+mn-cs"/>
                                  </a:rPr>
                                  <m:t>𝛽</m:t>
                                </m:r>
                              </m:e>
                            </m:mr>
                          </m:m>
                        </m:e>
                      </m:d>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联合所有轮子的滚动约束，将机器人整体的滚动约束方程表达为：</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𝜑</a:t>
                </a:r>
                <a:r>
                  <a:rPr lang="zh-CN" altLang="zh-CN" sz="1200" kern="1200" dirty="0">
                    <a:solidFill>
                      <a:schemeClr val="tx1"/>
                    </a:solidFill>
                    <a:effectLst/>
                    <a:latin typeface="+mn-lt"/>
                    <a:ea typeface="+mn-ea"/>
                    <a:cs typeface="+mn-cs"/>
                  </a:rPr>
                  <a:t>可以用各轮的围绕各自水平轴的转动位置矩阵表示，</a:t>
                </a:r>
                <a:r>
                  <a:rPr lang="en-US" altLang="zh-CN" sz="1200" i="0" kern="1200">
                    <a:solidFill>
                      <a:schemeClr val="tx1"/>
                    </a:solidFill>
                    <a:effectLst/>
                    <a:latin typeface="+mn-lt"/>
                    <a:ea typeface="+mn-ea"/>
                    <a:cs typeface="+mn-cs"/>
                  </a:rPr>
                  <a:t>𝜑(𝑡)</a:t>
                </a:r>
                <a:r>
                  <a:rPr lang="zh-CN" altLang="zh-CN" sz="1200" kern="1200" dirty="0">
                    <a:solidFill>
                      <a:schemeClr val="tx1"/>
                    </a:solidFill>
                    <a:effectLst/>
                    <a:latin typeface="+mn-lt"/>
                    <a:ea typeface="+mn-ea"/>
                    <a:cs typeface="+mn-cs"/>
                  </a:rPr>
                  <a:t>随时间变化，由固定标准轮的</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𝑓 (𝑡)</a:t>
                </a:r>
                <a:r>
                  <a:rPr lang="zh-CN" altLang="zh-CN" sz="1200" kern="1200" dirty="0">
                    <a:solidFill>
                      <a:schemeClr val="tx1"/>
                    </a:solidFill>
                    <a:effectLst/>
                    <a:latin typeface="+mn-lt"/>
                    <a:ea typeface="+mn-ea"/>
                    <a:cs typeface="+mn-cs"/>
                  </a:rPr>
                  <a:t>和可操纵标准轮的</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(𝑡)</a:t>
                </a:r>
                <a:r>
                  <a:rPr lang="zh-CN" altLang="zh-CN" sz="1200" kern="1200" dirty="0">
                    <a:solidFill>
                      <a:schemeClr val="tx1"/>
                    </a:solidFill>
                    <a:effectLst/>
                    <a:latin typeface="+mn-lt"/>
                    <a:ea typeface="+mn-ea"/>
                    <a:cs typeface="+mn-cs"/>
                  </a:rPr>
                  <a:t>联合表示：</a:t>
                </a: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𝑓 (𝑡)@𝜑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(𝑡))]</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为一个</a:t>
                </a:r>
                <a:r>
                  <a:rPr lang="en-US" altLang="zh-CN" sz="1200" i="0" kern="1200">
                    <a:solidFill>
                      <a:schemeClr val="tx1"/>
                    </a:solidFill>
                    <a:effectLst/>
                    <a:latin typeface="+mn-lt"/>
                    <a:ea typeface="+mn-ea"/>
                    <a:cs typeface="+mn-cs"/>
                  </a:rPr>
                  <a:t>𝑁×𝑁</a:t>
                </a:r>
                <a:r>
                  <a:rPr lang="zh-CN" altLang="zh-CN" sz="1200" kern="1200" dirty="0">
                    <a:solidFill>
                      <a:schemeClr val="tx1"/>
                    </a:solidFill>
                    <a:effectLst/>
                    <a:latin typeface="+mn-lt"/>
                    <a:ea typeface="+mn-ea"/>
                    <a:cs typeface="+mn-cs"/>
                  </a:rPr>
                  <a:t>的常数对角矩阵，对角常数为各标准轮的半径</a:t>
                </a:r>
                <a:r>
                  <a:rPr lang="en-US" altLang="zh-CN" sz="1200" i="0" kern="1200">
                    <a:solidFill>
                      <a:schemeClr val="tx1"/>
                    </a:solidFill>
                    <a:effectLst/>
                    <a:latin typeface="+mn-lt"/>
                    <a:ea typeface="+mn-ea"/>
                    <a:cs typeface="+mn-cs"/>
                  </a:rPr>
                  <a:t>𝑟</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为各轮运动在各自的轮子平面的投影矩阵： </a:t>
                </a:r>
              </a:p>
              <a:p>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 (𝛽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仅为固定标准轮的</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𝑓</a:t>
                </a:r>
                <a:r>
                  <a:rPr lang="zh-CN" altLang="zh-CN" sz="1200" kern="1200" dirty="0">
                    <a:solidFill>
                      <a:schemeClr val="tx1"/>
                    </a:solidFill>
                    <a:effectLst/>
                    <a:latin typeface="+mn-lt"/>
                    <a:ea typeface="+mn-ea"/>
                    <a:cs typeface="+mn-cs"/>
                  </a:rPr>
                  <a:t>以及可操纵标准轮的</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的函数，</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𝑓</a:t>
                </a:r>
                <a:r>
                  <a:rPr lang="zh-CN" altLang="zh-CN" sz="1200" kern="1200" dirty="0">
                    <a:solidFill>
                      <a:schemeClr val="tx1"/>
                    </a:solidFill>
                    <a:effectLst/>
                    <a:latin typeface="+mn-lt"/>
                    <a:ea typeface="+mn-ea"/>
                    <a:cs typeface="+mn-cs"/>
                  </a:rPr>
                  <a:t>为一个常数，而</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则是时间</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的函数。</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为所有固定标准轮的约束矩阵投影，大小为</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𝑓×3</a:t>
                </a:r>
                <a:r>
                  <a:rPr lang="zh-CN" altLang="zh-CN" sz="1200" kern="1200" dirty="0">
                    <a:solidFill>
                      <a:schemeClr val="tx1"/>
                    </a:solidFill>
                    <a:effectLst/>
                    <a:latin typeface="+mn-lt"/>
                    <a:ea typeface="+mn-ea"/>
                    <a:cs typeface="+mn-cs"/>
                  </a:rPr>
                  <a:t>，每行为前面描述过固定标准轮滚动约束方程中的三项：</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−𝑙)𝑐𝑜𝑠𝛽)]</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 (𝛽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大小为</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𝑠×3</a:t>
                </a:r>
                <a:r>
                  <a:rPr lang="zh-CN" altLang="zh-CN" sz="1200" kern="1200" dirty="0">
                    <a:solidFill>
                      <a:schemeClr val="tx1"/>
                    </a:solidFill>
                    <a:effectLst/>
                    <a:latin typeface="+mn-lt"/>
                    <a:ea typeface="+mn-ea"/>
                    <a:cs typeface="+mn-cs"/>
                  </a:rPr>
                  <a:t>，每行为可操纵标准轮滚动约束方程中的三项</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此时</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为随时间变化的函数</a:t>
                </a:r>
                <a:r>
                  <a:rPr lang="en-US" altLang="zh-CN" sz="1200" i="0" kern="1200">
                    <a:solidFill>
                      <a:schemeClr val="tx1"/>
                    </a:solidFill>
                    <a:effectLst/>
                    <a:latin typeface="+mn-lt"/>
                    <a:ea typeface="+mn-ea"/>
                    <a:cs typeface="+mn-cs"/>
                  </a:rPr>
                  <a:t>𝛽(𝑡)</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−𝑙)𝑐𝑜𝑠𝛽)]</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该滚动约束方程表明，所有标准轮都必须轮子平面，绕水平轴运动，滚动只能发生在和地面的接触点。</a:t>
                </a:r>
              </a:p>
              <a:p>
                <a:r>
                  <a:rPr lang="zh-CN" altLang="zh-CN" sz="1200" kern="1200" dirty="0">
                    <a:solidFill>
                      <a:schemeClr val="tx1"/>
                    </a:solidFill>
                    <a:effectLst/>
                    <a:latin typeface="+mn-lt"/>
                    <a:ea typeface="+mn-ea"/>
                    <a:cs typeface="+mn-cs"/>
                  </a:rPr>
                  <a:t>同理，我们将滑动约束方程也统一成一个表达式：</a:t>
                </a:r>
              </a:p>
              <a:p>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p>
              <a:p>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 (𝛽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endParaRPr lang="zh-CN" altLang="zh-CN" sz="1200" kern="120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大小为</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𝑓×3</a:t>
                </a:r>
                <a:r>
                  <a:rPr lang="zh-CN" altLang="zh-CN" sz="1200" kern="1200" dirty="0">
                    <a:solidFill>
                      <a:schemeClr val="tx1"/>
                    </a:solidFill>
                    <a:effectLst/>
                    <a:latin typeface="+mn-lt"/>
                    <a:ea typeface="+mn-ea"/>
                    <a:cs typeface="+mn-cs"/>
                  </a:rPr>
                  <a:t>，每行为前面描述过的固定标准轮滑动约束方程中的三项：</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𝛼+𝛽)&amp;𝑙𝑠𝑖𝑛𝛽)]</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 (𝛽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大小为</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𝑠×3</a:t>
                </a:r>
                <a:r>
                  <a:rPr lang="zh-CN" altLang="zh-CN" sz="1200" kern="1200" dirty="0">
                    <a:solidFill>
                      <a:schemeClr val="tx1"/>
                    </a:solidFill>
                    <a:effectLst/>
                    <a:latin typeface="+mn-lt"/>
                    <a:ea typeface="+mn-ea"/>
                    <a:cs typeface="+mn-cs"/>
                  </a:rPr>
                  <a:t>，每行为前面描述过的可操纵标准轮滑动约束方程中的三项</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此时</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为随时间变化的函数</a:t>
                </a:r>
                <a:r>
                  <a:rPr lang="en-US" altLang="zh-CN" sz="1200" i="0" kern="1200">
                    <a:solidFill>
                      <a:schemeClr val="tx1"/>
                    </a:solidFill>
                    <a:effectLst/>
                    <a:latin typeface="+mn-lt"/>
                    <a:ea typeface="+mn-ea"/>
                    <a:cs typeface="+mn-cs"/>
                  </a:rPr>
                  <a:t>𝛽(𝑡)</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𝛼+𝛽)&amp;𝑙𝑠𝑖𝑛𝛽)]</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extLst>
      <p:ext uri="{BB962C8B-B14F-4D97-AF65-F5344CB8AC3E}">
        <p14:creationId xmlns:p14="http://schemas.microsoft.com/office/powerpoint/2010/main" val="17021630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对于移动机器人来说，在设计的时候，我们通常需要考察其机动性。移动机器人的机动性表现为机器人整体的</a:t>
            </a:r>
            <a:r>
              <a:rPr lang="zh-CN" altLang="zh-CN" sz="1200" b="1" kern="1200" dirty="0" smtClean="0">
                <a:solidFill>
                  <a:schemeClr val="tx1"/>
                </a:solidFill>
                <a:effectLst/>
                <a:latin typeface="+mn-lt"/>
                <a:ea typeface="+mn-ea"/>
                <a:cs typeface="+mn-cs"/>
              </a:rPr>
              <a:t>活动性</a:t>
            </a:r>
            <a:r>
              <a:rPr lang="zh-CN" altLang="zh-CN" sz="1200" kern="1200" dirty="0" smtClean="0">
                <a:solidFill>
                  <a:schemeClr val="tx1"/>
                </a:solidFill>
                <a:effectLst/>
                <a:latin typeface="+mn-lt"/>
                <a:ea typeface="+mn-ea"/>
                <a:cs typeface="+mn-cs"/>
              </a:rPr>
              <a:t>以及相对应的</a:t>
            </a:r>
            <a:r>
              <a:rPr lang="zh-CN" altLang="zh-CN" sz="1200" b="1" kern="1200" dirty="0" smtClean="0">
                <a:solidFill>
                  <a:schemeClr val="tx1"/>
                </a:solidFill>
                <a:effectLst/>
                <a:latin typeface="+mn-lt"/>
                <a:ea typeface="+mn-ea"/>
                <a:cs typeface="+mn-cs"/>
              </a:rPr>
              <a:t>可操纵性</a:t>
            </a:r>
            <a:r>
              <a:rPr lang="zh-CN" altLang="zh-CN" sz="1200" kern="1200" dirty="0" smtClean="0">
                <a:solidFill>
                  <a:schemeClr val="tx1"/>
                </a:solidFill>
                <a:effectLst/>
                <a:latin typeface="+mn-lt"/>
                <a:ea typeface="+mn-ea"/>
                <a:cs typeface="+mn-cs"/>
              </a:rPr>
              <a:t>的综合，称为移动机器人可操纵的总自由度。移动机器人的活动性定义为通过改变轮子的速度，机器人可直接操纵的自由度；移动机器人的可操纵性则是指通过改变操纵的配置和运动，可间接操纵的自由度。</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22</a:t>
            </a:fld>
            <a:endParaRPr lang="zh-CN" altLang="en-US"/>
          </a:p>
        </p:txBody>
      </p:sp>
    </p:spTree>
    <p:extLst>
      <p:ext uri="{BB962C8B-B14F-4D97-AF65-F5344CB8AC3E}">
        <p14:creationId xmlns:p14="http://schemas.microsoft.com/office/powerpoint/2010/main" val="3284901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活动性指机器人在环境中可以直接运动的能力。对于轮式机器人来说，活动性的约束来自各个轮子的滑动约束。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如上节，滑动约束方程统一表达式为：</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3-139</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其中：</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可以将这个滑动约束等式左边分解为运动向量矩阵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oMath>
                </a14:m>
                <a:r>
                  <a:rPr lang="zh-CN" altLang="zh-CN" sz="1200" kern="1200" dirty="0">
                    <a:solidFill>
                      <a:schemeClr val="tx1"/>
                    </a:solidFill>
                    <a:effectLst/>
                    <a:latin typeface="+mn-lt"/>
                    <a:ea typeface="+mn-ea"/>
                    <a:cs typeface="+mn-cs"/>
                  </a:rPr>
                  <a:t>，以及投影矩阵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。为满足这个滑动约束，等式为零，那么运动向量矩阵肯定得属于投影矩阵的零空间</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。也就是说，对于任何</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中的向量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，机器人的运动始终必须在这个</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N</m:t>
                    </m:r>
                  </m:oMath>
                </a14:m>
                <a:r>
                  <a:rPr lang="zh-CN" altLang="zh-CN" sz="1200" kern="1200" dirty="0">
                    <a:solidFill>
                      <a:schemeClr val="tx1"/>
                    </a:solidFill>
                    <a:effectLst/>
                    <a:latin typeface="+mn-lt"/>
                    <a:ea typeface="+mn-ea"/>
                    <a:cs typeface="+mn-cs"/>
                  </a:rPr>
                  <a:t>空间中。</a:t>
                </a:r>
              </a:p>
              <a:p>
                <a:r>
                  <a:rPr lang="zh-CN" altLang="zh-CN" sz="1200" kern="1200" dirty="0">
                    <a:solidFill>
                      <a:schemeClr val="tx1"/>
                    </a:solidFill>
                    <a:effectLst/>
                    <a:latin typeface="+mn-lt"/>
                    <a:ea typeface="+mn-ea"/>
                    <a:cs typeface="+mn-cs"/>
                  </a:rPr>
                  <a:t>如果从几何上进行分析，可以引入瞬时转动中心</a:t>
                </a:r>
                <a:r>
                  <a:rPr lang="en-US" altLang="zh-CN" sz="1200" kern="1200" dirty="0">
                    <a:solidFill>
                      <a:schemeClr val="tx1"/>
                    </a:solidFill>
                    <a:effectLst/>
                    <a:latin typeface="+mn-lt"/>
                    <a:ea typeface="+mn-ea"/>
                    <a:cs typeface="+mn-cs"/>
                  </a:rPr>
                  <a:t>(ICR: Instantaneous Center of Rotation)</a:t>
                </a:r>
                <a:r>
                  <a:rPr lang="zh-CN" altLang="zh-CN" sz="1200" kern="1200" dirty="0">
                    <a:solidFill>
                      <a:schemeClr val="tx1"/>
                    </a:solidFill>
                    <a:effectLst/>
                    <a:latin typeface="+mn-lt"/>
                    <a:ea typeface="+mn-ea"/>
                    <a:cs typeface="+mn-cs"/>
                  </a:rPr>
                  <a:t>的概念，同样也可以证明这个运动学约束。</a:t>
                </a:r>
              </a:p>
              <a:p>
                <a:r>
                  <a:rPr lang="zh-CN" altLang="zh-CN" sz="1200" kern="1200" dirty="0">
                    <a:solidFill>
                      <a:schemeClr val="tx1"/>
                    </a:solidFill>
                    <a:effectLst/>
                    <a:latin typeface="+mn-lt"/>
                    <a:ea typeface="+mn-ea"/>
                    <a:cs typeface="+mn-cs"/>
                  </a:rPr>
                  <a:t>对于标准论来说，它只能沿垂直于轴线的平面滚动，而不能有滑动。那么，可以通过水平轴，垂直于轮子平面，画一条零运动的直线，在任何时刻，沿这条直线的运动必须为零。如图</a:t>
                </a:r>
                <a:r>
                  <a:rPr lang="en-US" altLang="zh-CN" sz="1200" kern="1200" dirty="0">
                    <a:solidFill>
                      <a:schemeClr val="tx1"/>
                    </a:solidFill>
                    <a:effectLst/>
                    <a:latin typeface="+mn-lt"/>
                    <a:ea typeface="+mn-ea"/>
                    <a:cs typeface="+mn-cs"/>
                  </a:rPr>
                  <a:t>3.60(a)</a:t>
                </a:r>
                <a:r>
                  <a:rPr lang="zh-CN" altLang="zh-CN" sz="1200" kern="1200" dirty="0">
                    <a:solidFill>
                      <a:schemeClr val="tx1"/>
                    </a:solidFill>
                    <a:effectLst/>
                    <a:latin typeface="+mn-lt"/>
                    <a:ea typeface="+mn-ea"/>
                    <a:cs typeface="+mn-cs"/>
                  </a:rPr>
                  <a:t>所示，阿克曼汽车有四个轮子，但只有一个</a:t>
                </a:r>
                <a:r>
                  <a:rPr lang="en-US" altLang="zh-CN" sz="1200" kern="1200" dirty="0">
                    <a:solidFill>
                      <a:schemeClr val="tx1"/>
                    </a:solidFill>
                    <a:effectLst/>
                    <a:latin typeface="+mn-lt"/>
                    <a:ea typeface="+mn-ea"/>
                    <a:cs typeface="+mn-cs"/>
                  </a:rPr>
                  <a:t>ICR</a:t>
                </a:r>
                <a:r>
                  <a:rPr lang="zh-CN" altLang="zh-CN" sz="1200" kern="1200" dirty="0">
                    <a:solidFill>
                      <a:schemeClr val="tx1"/>
                    </a:solidFill>
                    <a:effectLst/>
                    <a:latin typeface="+mn-lt"/>
                    <a:ea typeface="+mn-ea"/>
                    <a:cs typeface="+mn-cs"/>
                  </a:rPr>
                  <a:t>，所有轮子的零运动直线交于单独一点，把</a:t>
                </a:r>
                <a:r>
                  <a:rPr lang="en-US" altLang="zh-CN" sz="1200" kern="1200" dirty="0">
                    <a:solidFill>
                      <a:schemeClr val="tx1"/>
                    </a:solidFill>
                    <a:effectLst/>
                    <a:latin typeface="+mn-lt"/>
                    <a:ea typeface="+mn-ea"/>
                    <a:cs typeface="+mn-cs"/>
                  </a:rPr>
                  <a:t>ICR</a:t>
                </a:r>
                <a:r>
                  <a:rPr lang="zh-CN" altLang="zh-CN" sz="1200" kern="1200" dirty="0">
                    <a:solidFill>
                      <a:schemeClr val="tx1"/>
                    </a:solidFill>
                    <a:effectLst/>
                    <a:latin typeface="+mn-lt"/>
                    <a:ea typeface="+mn-ea"/>
                    <a:cs typeface="+mn-cs"/>
                  </a:rPr>
                  <a:t>放在该点，机器人的运动存在一个单独解</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3.60(b)</a:t>
                </a:r>
                <a:r>
                  <a:rPr lang="zh-CN" altLang="zh-CN" sz="1200" kern="1200" dirty="0" smtClean="0">
                    <a:solidFill>
                      <a:schemeClr val="tx1"/>
                    </a:solidFill>
                    <a:effectLst/>
                    <a:latin typeface="+mn-lt"/>
                    <a:ea typeface="+mn-ea"/>
                    <a:cs typeface="+mn-cs"/>
                  </a:rPr>
                  <a:t>中，自行车有两个轮子，每个轮子都有一个滑动约束，合在一起，这两个零运动线相交点作为</a:t>
                </a:r>
                <a:r>
                  <a:rPr lang="en-US" altLang="zh-CN" sz="1200" kern="1200" dirty="0" smtClean="0">
                    <a:solidFill>
                      <a:schemeClr val="tx1"/>
                    </a:solidFill>
                    <a:effectLst/>
                    <a:latin typeface="+mn-lt"/>
                    <a:ea typeface="+mn-ea"/>
                    <a:cs typeface="+mn-cs"/>
                  </a:rPr>
                  <a:t>ICR</a:t>
                </a:r>
                <a:r>
                  <a:rPr lang="zh-CN" altLang="zh-CN" sz="1200" kern="1200" dirty="0" smtClean="0">
                    <a:solidFill>
                      <a:schemeClr val="tx1"/>
                    </a:solidFill>
                    <a:effectLst/>
                    <a:latin typeface="+mn-lt"/>
                    <a:ea typeface="+mn-ea"/>
                    <a:cs typeface="+mn-cs"/>
                  </a:rPr>
                  <a:t>，限制了整个机器人的运动。</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而图</a:t>
                </a:r>
                <a:r>
                  <a:rPr lang="en-US" altLang="zh-CN" sz="1200" kern="1200" dirty="0" smtClean="0">
                    <a:solidFill>
                      <a:schemeClr val="tx1"/>
                    </a:solidFill>
                    <a:effectLst/>
                    <a:latin typeface="+mn-lt"/>
                    <a:ea typeface="+mn-ea"/>
                    <a:cs typeface="+mn-cs"/>
                  </a:rPr>
                  <a:t>3.61</a:t>
                </a:r>
                <a:r>
                  <a:rPr lang="zh-CN" altLang="zh-CN" sz="1200" kern="1200" dirty="0" smtClean="0">
                    <a:solidFill>
                      <a:schemeClr val="tx1"/>
                    </a:solidFill>
                    <a:effectLst/>
                    <a:latin typeface="+mn-lt"/>
                    <a:ea typeface="+mn-ea"/>
                    <a:cs typeface="+mn-cs"/>
                  </a:rPr>
                  <a:t>所示的两轮差动驱动机器人，两个轮子水平轴重合，零运动线重合，其中一个轮子就等于没有额外附加运动学约束（和另外一个轮子的约束相同），由此可以看到，虽然自行车和差动驱动机器人有同样数目的非全向轮，但运动学约束数目不一样，自行车有两个，差动驱动机器人只有一个。同样的，阿克曼的四个轮子中，有两个可操纵的标准轮，两个固定标准轮，也只有其中一个固定标准轮和一个操纵标准轮提供约束，另外的两个轮受到</a:t>
                </a:r>
                <a:r>
                  <a:rPr lang="en-US" altLang="zh-CN" sz="1200" kern="1200" dirty="0" smtClean="0">
                    <a:solidFill>
                      <a:schemeClr val="tx1"/>
                    </a:solidFill>
                    <a:effectLst/>
                    <a:latin typeface="+mn-lt"/>
                    <a:ea typeface="+mn-ea"/>
                    <a:cs typeface="+mn-cs"/>
                  </a:rPr>
                  <a:t>ICR</a:t>
                </a:r>
                <a:r>
                  <a:rPr lang="zh-CN" altLang="zh-CN" sz="1200" kern="1200" dirty="0" smtClean="0">
                    <a:solidFill>
                      <a:schemeClr val="tx1"/>
                    </a:solidFill>
                    <a:effectLst/>
                    <a:latin typeface="+mn-lt"/>
                    <a:ea typeface="+mn-ea"/>
                    <a:cs typeface="+mn-cs"/>
                  </a:rPr>
                  <a:t>的绝对约束，对机器人的运动不提供独立的约束。</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由此分析可以得出，移动机器人底盘的运动学是由所有标准轮能引起的独立约束集合的函数。所谓独立，也就是等同于矩阵中秩的概念，矩阵中的秩为独立的行或列的最少数目。那么在滑动约束方程中，投影矩阵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的秩即为独立约束的数目。独立约束的数目越多，投影矩阵的秩就越大，机器人的活动性就越受限制。</a:t>
                </a:r>
              </a:p>
              <a:p>
                <a:r>
                  <a:rPr lang="zh-CN" altLang="zh-CN" sz="1200" kern="1200" dirty="0">
                    <a:solidFill>
                      <a:schemeClr val="tx1"/>
                    </a:solidFill>
                    <a:effectLst/>
                    <a:latin typeface="+mn-lt"/>
                    <a:ea typeface="+mn-ea"/>
                    <a:cs typeface="+mn-cs"/>
                  </a:rPr>
                  <a:t>对于轮式移动机器人来说，其投影矩阵的秩最大为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，也就是</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列满秩，此时，机器人在三个自由度上都不能动，既不能向前运动，也不能转弯。机器人受到完全约束，所以是退化的。</a:t>
                </a:r>
              </a:p>
              <a:p>
                <a:r>
                  <a:rPr lang="zh-CN" altLang="zh-CN" sz="1200" kern="1200" dirty="0">
                    <a:solidFill>
                      <a:schemeClr val="tx1"/>
                    </a:solidFill>
                    <a:effectLst/>
                    <a:latin typeface="+mn-lt"/>
                    <a:ea typeface="+mn-ea"/>
                    <a:cs typeface="+mn-cs"/>
                  </a:rPr>
                  <a:t>由以上分析，定义移动机器人的活动性</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𝑚</m:t>
                        </m:r>
                      </m:sub>
                    </m:sSub>
                  </m:oMath>
                </a14:m>
                <a:r>
                  <a:rPr lang="zh-CN" altLang="zh-CN" sz="1200" kern="1200" dirty="0">
                    <a:solidFill>
                      <a:schemeClr val="tx1"/>
                    </a:solidFill>
                    <a:effectLst/>
                    <a:latin typeface="+mn-lt"/>
                    <a:ea typeface="+mn-ea"/>
                    <a:cs typeface="+mn-cs"/>
                  </a:rPr>
                  <a:t>如下：</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𝑚</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𝑑𝑖𝑚𝑁</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𝑟𝑎𝑛𝑘</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3-140</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该表达式代表的含义为，矩阵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的零空间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𝑁</m:t>
                    </m:r>
                  </m:oMath>
                </a14:m>
                <a:r>
                  <a:rPr lang="zh-CN" altLang="zh-CN" sz="1200" kern="1200" dirty="0">
                    <a:solidFill>
                      <a:schemeClr val="tx1"/>
                    </a:solidFill>
                    <a:effectLst/>
                    <a:latin typeface="+mn-lt"/>
                    <a:ea typeface="+mn-ea"/>
                    <a:cs typeface="+mn-cs"/>
                  </a:rPr>
                  <a:t>的维数可以用来度量机器人底盘的活动自由度，该自由度为如果轮子瞬时操纵运动起来后，机器人底盘可以获得的自由度。一般来说</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𝑟𝑎𝑛𝑘</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活动性指机器人在环境中可以直接运动的能力。对于轮式机器人来说，活动性的约束来自各个轮子的滑动约束。</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如上节，滑动约束方程统一表达式为：</a:t>
                </a:r>
              </a:p>
              <a:p>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3-139</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其中：</a:t>
                </a:r>
              </a:p>
              <a:p>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 (𝛽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可以将这个滑动约束等式左边分解为运动向量矩阵</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，以及投影矩阵</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。为满足这个滑动约束，等式为零，那么运动向量矩阵肯定得属于投影矩阵的零空间</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。也就是说，对于任何</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中的向量</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)𝑛=0</a:t>
                </a:r>
                <a:r>
                  <a:rPr lang="zh-CN" altLang="zh-CN" sz="1200" kern="1200" dirty="0">
                    <a:solidFill>
                      <a:schemeClr val="tx1"/>
                    </a:solidFill>
                    <a:effectLst/>
                    <a:latin typeface="+mn-lt"/>
                    <a:ea typeface="+mn-ea"/>
                    <a:cs typeface="+mn-cs"/>
                  </a:rPr>
                  <a:t>，机器人的运动始终必须在这个</a:t>
                </a:r>
                <a:r>
                  <a:rPr lang="en-US" altLang="zh-CN" sz="1200" i="0" kern="120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空间中。</a:t>
                </a:r>
              </a:p>
              <a:p>
                <a:r>
                  <a:rPr lang="zh-CN" altLang="zh-CN" sz="1200" kern="1200" dirty="0">
                    <a:solidFill>
                      <a:schemeClr val="tx1"/>
                    </a:solidFill>
                    <a:effectLst/>
                    <a:latin typeface="+mn-lt"/>
                    <a:ea typeface="+mn-ea"/>
                    <a:cs typeface="+mn-cs"/>
                  </a:rPr>
                  <a:t>如果从几何上进行分析，可以引入瞬时转动中心</a:t>
                </a:r>
                <a:r>
                  <a:rPr lang="en-US" altLang="zh-CN" sz="1200" kern="1200" dirty="0">
                    <a:solidFill>
                      <a:schemeClr val="tx1"/>
                    </a:solidFill>
                    <a:effectLst/>
                    <a:latin typeface="+mn-lt"/>
                    <a:ea typeface="+mn-ea"/>
                    <a:cs typeface="+mn-cs"/>
                  </a:rPr>
                  <a:t>(ICR: Instantaneous Center of Rotation)</a:t>
                </a:r>
                <a:r>
                  <a:rPr lang="zh-CN" altLang="zh-CN" sz="1200" kern="1200" dirty="0">
                    <a:solidFill>
                      <a:schemeClr val="tx1"/>
                    </a:solidFill>
                    <a:effectLst/>
                    <a:latin typeface="+mn-lt"/>
                    <a:ea typeface="+mn-ea"/>
                    <a:cs typeface="+mn-cs"/>
                  </a:rPr>
                  <a:t>的概念，同样也可以证明这个运动学约束。</a:t>
                </a:r>
              </a:p>
              <a:p>
                <a:r>
                  <a:rPr lang="zh-CN" altLang="zh-CN" sz="1200" kern="1200" dirty="0">
                    <a:solidFill>
                      <a:schemeClr val="tx1"/>
                    </a:solidFill>
                    <a:effectLst/>
                    <a:latin typeface="+mn-lt"/>
                    <a:ea typeface="+mn-ea"/>
                    <a:cs typeface="+mn-cs"/>
                  </a:rPr>
                  <a:t>对于标准论来说，它只能沿垂直于轴线的平面滚动，而不能有滑动。那么，可以通过水平轴，垂直于轮子平面，画一条零运动的直线，在任何时刻，沿这条直线的运动必须为零。如图</a:t>
                </a:r>
                <a:r>
                  <a:rPr lang="en-US" altLang="zh-CN" sz="1200" kern="1200" dirty="0">
                    <a:solidFill>
                      <a:schemeClr val="tx1"/>
                    </a:solidFill>
                    <a:effectLst/>
                    <a:latin typeface="+mn-lt"/>
                    <a:ea typeface="+mn-ea"/>
                    <a:cs typeface="+mn-cs"/>
                  </a:rPr>
                  <a:t>3.60(a)</a:t>
                </a:r>
                <a:r>
                  <a:rPr lang="zh-CN" altLang="zh-CN" sz="1200" kern="1200" dirty="0">
                    <a:solidFill>
                      <a:schemeClr val="tx1"/>
                    </a:solidFill>
                    <a:effectLst/>
                    <a:latin typeface="+mn-lt"/>
                    <a:ea typeface="+mn-ea"/>
                    <a:cs typeface="+mn-cs"/>
                  </a:rPr>
                  <a:t>所示，阿克曼汽车有四个轮子，但只有一个</a:t>
                </a:r>
                <a:r>
                  <a:rPr lang="en-US" altLang="zh-CN" sz="1200" kern="1200" dirty="0">
                    <a:solidFill>
                      <a:schemeClr val="tx1"/>
                    </a:solidFill>
                    <a:effectLst/>
                    <a:latin typeface="+mn-lt"/>
                    <a:ea typeface="+mn-ea"/>
                    <a:cs typeface="+mn-cs"/>
                  </a:rPr>
                  <a:t>ICR</a:t>
                </a:r>
                <a:r>
                  <a:rPr lang="zh-CN" altLang="zh-CN" sz="1200" kern="1200" dirty="0">
                    <a:solidFill>
                      <a:schemeClr val="tx1"/>
                    </a:solidFill>
                    <a:effectLst/>
                    <a:latin typeface="+mn-lt"/>
                    <a:ea typeface="+mn-ea"/>
                    <a:cs typeface="+mn-cs"/>
                  </a:rPr>
                  <a:t>，所有轮子的零运动直线交于单独一点，把</a:t>
                </a:r>
                <a:r>
                  <a:rPr lang="en-US" altLang="zh-CN" sz="1200" kern="1200" dirty="0">
                    <a:solidFill>
                      <a:schemeClr val="tx1"/>
                    </a:solidFill>
                    <a:effectLst/>
                    <a:latin typeface="+mn-lt"/>
                    <a:ea typeface="+mn-ea"/>
                    <a:cs typeface="+mn-cs"/>
                  </a:rPr>
                  <a:t>ICR</a:t>
                </a:r>
                <a:r>
                  <a:rPr lang="zh-CN" altLang="zh-CN" sz="1200" kern="1200" dirty="0">
                    <a:solidFill>
                      <a:schemeClr val="tx1"/>
                    </a:solidFill>
                    <a:effectLst/>
                    <a:latin typeface="+mn-lt"/>
                    <a:ea typeface="+mn-ea"/>
                    <a:cs typeface="+mn-cs"/>
                  </a:rPr>
                  <a:t>放在该点，机器人的运动存在一个单独解</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3.60(b)</a:t>
                </a:r>
                <a:r>
                  <a:rPr lang="zh-CN" altLang="zh-CN" sz="1200" kern="1200" dirty="0" smtClean="0">
                    <a:solidFill>
                      <a:schemeClr val="tx1"/>
                    </a:solidFill>
                    <a:effectLst/>
                    <a:latin typeface="+mn-lt"/>
                    <a:ea typeface="+mn-ea"/>
                    <a:cs typeface="+mn-cs"/>
                  </a:rPr>
                  <a:t>中，自行车有两个轮子，每个轮子都有一个滑动约束，合在一起，这两个零运动线相交点作为</a:t>
                </a:r>
                <a:r>
                  <a:rPr lang="en-US" altLang="zh-CN" sz="1200" kern="1200" dirty="0" smtClean="0">
                    <a:solidFill>
                      <a:schemeClr val="tx1"/>
                    </a:solidFill>
                    <a:effectLst/>
                    <a:latin typeface="+mn-lt"/>
                    <a:ea typeface="+mn-ea"/>
                    <a:cs typeface="+mn-cs"/>
                  </a:rPr>
                  <a:t>ICR</a:t>
                </a:r>
                <a:r>
                  <a:rPr lang="zh-CN" altLang="zh-CN" sz="1200" kern="1200" dirty="0" smtClean="0">
                    <a:solidFill>
                      <a:schemeClr val="tx1"/>
                    </a:solidFill>
                    <a:effectLst/>
                    <a:latin typeface="+mn-lt"/>
                    <a:ea typeface="+mn-ea"/>
                    <a:cs typeface="+mn-cs"/>
                  </a:rPr>
                  <a:t>，限制了整个机器人的运动。</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而图</a:t>
                </a:r>
                <a:r>
                  <a:rPr lang="en-US" altLang="zh-CN" sz="1200" kern="1200" dirty="0" smtClean="0">
                    <a:solidFill>
                      <a:schemeClr val="tx1"/>
                    </a:solidFill>
                    <a:effectLst/>
                    <a:latin typeface="+mn-lt"/>
                    <a:ea typeface="+mn-ea"/>
                    <a:cs typeface="+mn-cs"/>
                  </a:rPr>
                  <a:t>3.61</a:t>
                </a:r>
                <a:r>
                  <a:rPr lang="zh-CN" altLang="zh-CN" sz="1200" kern="1200" dirty="0" smtClean="0">
                    <a:solidFill>
                      <a:schemeClr val="tx1"/>
                    </a:solidFill>
                    <a:effectLst/>
                    <a:latin typeface="+mn-lt"/>
                    <a:ea typeface="+mn-ea"/>
                    <a:cs typeface="+mn-cs"/>
                  </a:rPr>
                  <a:t>所示的两轮差动驱动机器人，两个轮子水平轴重合，零运动线重合，其中一个轮子就等于没有额外附加运动学约束（和另外一个轮子的约束相同），由此可以看到，虽然自行车和差动驱动机器人有同样数目的非全向轮，但运动学约束数目不一样，自行车有两个，差动驱动机器人只有一个。同样的，阿克曼的四个轮子中，有两个可操纵的标准轮，两个固定标准轮，也只有其中一个固定标准轮和一个操纵标准轮提供约束，另外的两个轮受到</a:t>
                </a:r>
                <a:r>
                  <a:rPr lang="en-US" altLang="zh-CN" sz="1200" kern="1200" dirty="0" smtClean="0">
                    <a:solidFill>
                      <a:schemeClr val="tx1"/>
                    </a:solidFill>
                    <a:effectLst/>
                    <a:latin typeface="+mn-lt"/>
                    <a:ea typeface="+mn-ea"/>
                    <a:cs typeface="+mn-cs"/>
                  </a:rPr>
                  <a:t>ICR</a:t>
                </a:r>
                <a:r>
                  <a:rPr lang="zh-CN" altLang="zh-CN" sz="1200" kern="1200" dirty="0" smtClean="0">
                    <a:solidFill>
                      <a:schemeClr val="tx1"/>
                    </a:solidFill>
                    <a:effectLst/>
                    <a:latin typeface="+mn-lt"/>
                    <a:ea typeface="+mn-ea"/>
                    <a:cs typeface="+mn-cs"/>
                  </a:rPr>
                  <a:t>的绝对约束，对机器人的运动不提供独立的约束。</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由此分析可以得出，移动机器人底盘的运动学是由所有标准轮能引起的独立约束集合的函数。所谓独立，也就是等同于矩阵中秩的概念，矩阵中的秩为独立的行或列的最少数目。那么在滑动约束方程中，投影矩阵</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的秩即为独立约束的数目。独立约束的数目越多，投影矩阵的秩就越大，机器人的活动性就越受限制。</a:t>
                </a:r>
              </a:p>
              <a:p>
                <a:r>
                  <a:rPr lang="zh-CN" altLang="zh-CN" sz="1200" kern="1200" dirty="0">
                    <a:solidFill>
                      <a:schemeClr val="tx1"/>
                    </a:solidFill>
                    <a:effectLst/>
                    <a:latin typeface="+mn-lt"/>
                    <a:ea typeface="+mn-ea"/>
                    <a:cs typeface="+mn-cs"/>
                  </a:rPr>
                  <a:t>对于轮式移动机器人来说，其投影矩阵的秩最大为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，也就是</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列满秩，此时，机器人在三个自由度上都不能动，既不能向前运动，也不能转弯。机器人受到完全约束，所以是退化的。</a:t>
                </a:r>
              </a:p>
              <a:p>
                <a:r>
                  <a:rPr lang="zh-CN" altLang="zh-CN" sz="1200" kern="1200" dirty="0">
                    <a:solidFill>
                      <a:schemeClr val="tx1"/>
                    </a:solidFill>
                    <a:effectLst/>
                    <a:latin typeface="+mn-lt"/>
                    <a:ea typeface="+mn-ea"/>
                    <a:cs typeface="+mn-cs"/>
                  </a:rPr>
                  <a:t>由以上分析，定义移动机器人的活动性</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𝑚</a:t>
                </a:r>
                <a:r>
                  <a:rPr lang="zh-CN" altLang="zh-CN" sz="1200" kern="1200" dirty="0">
                    <a:solidFill>
                      <a:schemeClr val="tx1"/>
                    </a:solidFill>
                    <a:effectLst/>
                    <a:latin typeface="+mn-lt"/>
                    <a:ea typeface="+mn-ea"/>
                    <a:cs typeface="+mn-cs"/>
                  </a:rPr>
                  <a:t>如下：</a:t>
                </a:r>
              </a:p>
              <a:p>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𝑚=𝑑𝑖𝑚𝑁</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)]=3−𝑟𝑎𝑛𝑘[𝐶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3-140</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该表达式代表的含义为，矩阵</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的零空间</a:t>
                </a:r>
                <a:r>
                  <a:rPr lang="en-US" altLang="zh-CN" sz="1200" i="0" kern="1200">
                    <a:solidFill>
                      <a:schemeClr val="tx1"/>
                    </a:solidFill>
                    <a:effectLst/>
                    <a:latin typeface="+mn-lt"/>
                    <a:ea typeface="+mn-ea"/>
                    <a:cs typeface="+mn-cs"/>
                  </a:rPr>
                  <a:t>𝑁</a:t>
                </a:r>
                <a:r>
                  <a:rPr lang="zh-CN" altLang="zh-CN" sz="1200" kern="1200" dirty="0">
                    <a:solidFill>
                      <a:schemeClr val="tx1"/>
                    </a:solidFill>
                    <a:effectLst/>
                    <a:latin typeface="+mn-lt"/>
                    <a:ea typeface="+mn-ea"/>
                    <a:cs typeface="+mn-cs"/>
                  </a:rPr>
                  <a:t>的维数可以用来度量机器人底盘的活动自由度，该自由度为如果轮子瞬时操纵运动起来后，机器人底盘可以获得的自由度。一般来说</a:t>
                </a:r>
                <a:r>
                  <a:rPr lang="en-US" altLang="zh-CN" sz="1200" i="0" kern="1200">
                    <a:solidFill>
                      <a:schemeClr val="tx1"/>
                    </a:solidFill>
                    <a:effectLst/>
                    <a:latin typeface="+mn-lt"/>
                    <a:ea typeface="+mn-ea"/>
                    <a:cs typeface="+mn-cs"/>
                  </a:rPr>
                  <a:t>0≤𝑟𝑎𝑛𝑘[𝐶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)]≤3</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extLst>
      <p:ext uri="{BB962C8B-B14F-4D97-AF65-F5344CB8AC3E}">
        <p14:creationId xmlns:p14="http://schemas.microsoft.com/office/powerpoint/2010/main" val="3231457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移动机器人活动性程度，根据所有轮子的速度变化，综合对机器人底盘的可控自由度进行度量，这个速度变化对底盘的姿态影响是直接的。而对轮子的操纵，改变了可操纵标准轮的角度后，机器人底盘姿态也将受到影响，虽然这个影响是间接的。</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轮式移动机器人的可操纵度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，定义为可独立操纵的参数数目：</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𝑟𝑎𝑛𝑘</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3-141</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在上式中</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为投影矩阵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中有关可操纵标准轮对应的滑动约束行，由于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包含</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，意味着可操纵标准轮在增加可操纵度的同时，会降低活动性。</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的范围为：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0≤</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时，说明没有可操纵标准轮，</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，但当可操纵标准轮有多个时，一般让</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较为常见，例如目前的四轮汽车，标准轮和可操纵标准轮均为两个，但它们都是两两同轴的，也就是</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rank</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e>
                    </m:d>
                    <m:r>
                      <a:rPr lang="en-US" altLang="zh-CN" sz="1200" i="1" kern="1200">
                        <a:solidFill>
                          <a:schemeClr val="tx1"/>
                        </a:solidFill>
                        <a:effectLst/>
                        <a:latin typeface="Cambria Math" panose="02040503050406030204" pitchFamily="18" charset="0"/>
                        <a:ea typeface="+mn-ea"/>
                        <a:cs typeface="+mn-cs"/>
                      </a:rPr>
                      <m:t>=1</m:t>
                    </m:r>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 </m:t>
                    </m:r>
                    <m:r>
                      <m:rPr>
                        <m:sty m:val="p"/>
                      </m:rPr>
                      <a:rPr lang="en-US" altLang="zh-CN" sz="1200" kern="1200">
                        <a:solidFill>
                          <a:schemeClr val="tx1"/>
                        </a:solidFill>
                        <a:effectLst/>
                        <a:latin typeface="Cambria Math" panose="02040503050406030204" pitchFamily="18" charset="0"/>
                        <a:ea typeface="+mn-ea"/>
                        <a:cs typeface="+mn-cs"/>
                      </a:rPr>
                      <m:t>rank</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𝑠</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e>
                    </m:d>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，第二个固定标准轮以及第二个操纵标准轮都没有独立的运动学约束。在此情况下，</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𝑚</m:t>
                        </m:r>
                      </m:sub>
                    </m:sSub>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移动机器人活动性程度，根据所有轮子的速度变化，综合对机器人底盘的可控自由度进行度量，这个速度变化对底盘的姿态影响是直接的。而对轮子的操纵，改变了可操纵标准轮的角度后，机器人底盘姿态也将受到影响，虽然这个影响是间接的。</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轮式移动机器人的可操纵度</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，定义为可独立操纵的参数数目：</a:t>
                </a:r>
              </a:p>
              <a:p>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𝑠=𝑟𝑎𝑛𝑘[𝐶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在上式中</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矩阵</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为投影矩阵</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中有关可操纵标准轮对应的滑动约束行，由于</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包含</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，意味着可操纵标准轮在增加可操纵度的同时，会降低活动性。</a:t>
                </a:r>
              </a:p>
              <a:p>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的范围为：</a:t>
                </a:r>
                <a:r>
                  <a:rPr lang="en-US" altLang="zh-CN" sz="1200" i="0" kern="1200">
                    <a:solidFill>
                      <a:schemeClr val="tx1"/>
                    </a:solidFill>
                    <a:effectLst/>
                    <a:latin typeface="+mn-lt"/>
                    <a:ea typeface="+mn-ea"/>
                    <a:cs typeface="+mn-cs"/>
                  </a:rPr>
                  <a:t>0≤𝛿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𝑠≤2</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𝑠=0</a:t>
                </a:r>
                <a:r>
                  <a:rPr lang="zh-CN" altLang="zh-CN" sz="1200" kern="1200" dirty="0">
                    <a:solidFill>
                      <a:schemeClr val="tx1"/>
                    </a:solidFill>
                    <a:effectLst/>
                    <a:latin typeface="+mn-lt"/>
                    <a:ea typeface="+mn-ea"/>
                    <a:cs typeface="+mn-cs"/>
                  </a:rPr>
                  <a:t>时，说明没有可操纵标准轮，</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𝑠=0</a:t>
                </a:r>
                <a:r>
                  <a:rPr lang="zh-CN" altLang="zh-CN" sz="1200" kern="1200" dirty="0">
                    <a:solidFill>
                      <a:schemeClr val="tx1"/>
                    </a:solidFill>
                    <a:effectLst/>
                    <a:latin typeface="+mn-lt"/>
                    <a:ea typeface="+mn-ea"/>
                    <a:cs typeface="+mn-cs"/>
                  </a:rPr>
                  <a:t>，但当可操纵标准轮有多个时，一般让</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𝑠=1</a:t>
                </a:r>
                <a:r>
                  <a:rPr lang="zh-CN" altLang="zh-CN" sz="1200" kern="1200" dirty="0">
                    <a:solidFill>
                      <a:schemeClr val="tx1"/>
                    </a:solidFill>
                    <a:effectLst/>
                    <a:latin typeface="+mn-lt"/>
                    <a:ea typeface="+mn-ea"/>
                    <a:cs typeface="+mn-cs"/>
                  </a:rPr>
                  <a:t>较为常见，例如目前的四轮汽车，标准轮和可操纵标准轮均为两个，但它们都是两两同轴的，也就是</a:t>
                </a:r>
                <a:r>
                  <a:rPr lang="en-US" altLang="zh-CN" sz="1200" i="0" kern="1200">
                    <a:solidFill>
                      <a:schemeClr val="tx1"/>
                    </a:solidFill>
                    <a:effectLst/>
                    <a:latin typeface="+mn-lt"/>
                    <a:ea typeface="+mn-ea"/>
                    <a:cs typeface="+mn-cs"/>
                  </a:rPr>
                  <a:t>rank</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 ]=1</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rank</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1𝑠</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)]=1</a:t>
                </a:r>
                <a:r>
                  <a:rPr lang="zh-CN" altLang="zh-CN" sz="1200" kern="1200" dirty="0">
                    <a:solidFill>
                      <a:schemeClr val="tx1"/>
                    </a:solidFill>
                    <a:effectLst/>
                    <a:latin typeface="+mn-lt"/>
                    <a:ea typeface="+mn-ea"/>
                    <a:cs typeface="+mn-cs"/>
                  </a:rPr>
                  <a:t>，第二个固定标准轮以及第二个操纵标准轮都没有独立的运动学约束。在此情况下，</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𝑚=1</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𝑠=1</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24</a:t>
            </a:fld>
            <a:endParaRPr lang="zh-CN" altLang="en-US"/>
          </a:p>
        </p:txBody>
      </p:sp>
    </p:spTree>
    <p:extLst>
      <p:ext uri="{BB962C8B-B14F-4D97-AF65-F5344CB8AC3E}">
        <p14:creationId xmlns:p14="http://schemas.microsoft.com/office/powerpoint/2010/main" val="909358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移动机器人底盘的整体自由度，称为机动性</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zh-CN" altLang="zh-CN" sz="1200" kern="1200">
                            <a:solidFill>
                              <a:schemeClr val="tx1"/>
                            </a:solidFill>
                            <a:effectLst/>
                            <a:latin typeface="Cambria Math" panose="02040503050406030204" pitchFamily="18" charset="0"/>
                            <a:ea typeface="+mn-ea"/>
                            <a:cs typeface="+mn-cs"/>
                          </a:rPr>
                          <m:t>δ</m:t>
                        </m:r>
                      </m:e>
                      <m:sub>
                        <m:r>
                          <m:rPr>
                            <m:sty m:val="p"/>
                          </m:rPr>
                          <a:rPr lang="en-US" altLang="zh-CN" sz="1200" kern="1200">
                            <a:solidFill>
                              <a:schemeClr val="tx1"/>
                            </a:solidFill>
                            <a:effectLst/>
                            <a:latin typeface="Cambria Math" panose="02040503050406030204" pitchFamily="18" charset="0"/>
                            <a:ea typeface="+mn-ea"/>
                            <a:cs typeface="+mn-cs"/>
                          </a:rPr>
                          <m:t>M</m:t>
                        </m:r>
                      </m:sub>
                    </m:sSub>
                  </m:oMath>
                </a14:m>
                <a:r>
                  <a:rPr lang="zh-CN" altLang="zh-CN" sz="1200" kern="1200" dirty="0">
                    <a:solidFill>
                      <a:schemeClr val="tx1"/>
                    </a:solidFill>
                    <a:effectLst/>
                    <a:latin typeface="+mn-lt"/>
                    <a:ea typeface="+mn-ea"/>
                    <a:cs typeface="+mn-cs"/>
                  </a:rPr>
                  <a:t>，它是活动性和可操纵性的综合。</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𝑀</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𝑚</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𝑠</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3-142</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3.62</a:t>
                </a:r>
                <a:r>
                  <a:rPr lang="zh-CN" altLang="zh-CN" sz="1200" kern="1200" dirty="0">
                    <a:solidFill>
                      <a:schemeClr val="tx1"/>
                    </a:solidFill>
                    <a:effectLst/>
                    <a:latin typeface="+mn-lt"/>
                    <a:ea typeface="+mn-ea"/>
                    <a:cs typeface="+mn-cs"/>
                  </a:rPr>
                  <a:t>为三轮移动机器人的五种基本轮子的配置及其机动性，可以用脚轮或瑞典轮代替球形轮，而不会影响机动性。有兴趣的读者可以分析更多带有各种数量车轮的配置</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𝑀</m:t>
                        </m:r>
                      </m:sub>
                    </m:sSub>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时，机器人的瞬时转动中心在一条直线上，而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𝛿</m:t>
                        </m:r>
                      </m:e>
                      <m:sub>
                        <m:r>
                          <a:rPr lang="en-US" altLang="zh-CN" sz="1200" i="1" kern="1200">
                            <a:solidFill>
                              <a:schemeClr val="tx1"/>
                            </a:solidFill>
                            <a:effectLst/>
                            <a:latin typeface="Cambria Math" panose="02040503050406030204" pitchFamily="18" charset="0"/>
                            <a:ea typeface="+mn-ea"/>
                            <a:cs typeface="+mn-cs"/>
                          </a:rPr>
                          <m:t>𝑀</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时，机器人的瞬时转动中心可在平面上任意一点。</a:t>
                </a:r>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i="0" kern="1200">
                    <a:solidFill>
                      <a:schemeClr val="tx1"/>
                    </a:solidFill>
                    <a:effectLst/>
                    <a:latin typeface="+mn-lt"/>
                    <a:ea typeface="+mn-ea"/>
                    <a:cs typeface="+mn-cs"/>
                  </a:rPr>
                  <a:t>𝛿</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𝑀=2</a:t>
                </a:r>
                <a:r>
                  <a:rPr lang="zh-CN" altLang="zh-CN" sz="1200" kern="1200" dirty="0">
                    <a:solidFill>
                      <a:schemeClr val="tx1"/>
                    </a:solidFill>
                    <a:effectLst/>
                    <a:latin typeface="+mn-lt"/>
                    <a:ea typeface="+mn-ea"/>
                    <a:cs typeface="+mn-cs"/>
                  </a:rPr>
                  <a:t>时，机器人的瞬时转动中心在一条直线上，而</a:t>
                </a:r>
                <a:r>
                  <a:rPr lang="en-US" altLang="zh-CN" sz="1200" i="0" kern="1200">
                    <a:solidFill>
                      <a:schemeClr val="tx1"/>
                    </a:solidFill>
                    <a:effectLst/>
                    <a:latin typeface="+mn-lt"/>
                    <a:ea typeface="+mn-ea"/>
                    <a:cs typeface="+mn-cs"/>
                  </a:rPr>
                  <a:t>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𝑀=3</a:t>
                </a:r>
                <a:r>
                  <a:rPr lang="zh-CN" altLang="zh-CN" sz="1200" kern="1200" dirty="0">
                    <a:solidFill>
                      <a:schemeClr val="tx1"/>
                    </a:solidFill>
                    <a:effectLst/>
                    <a:latin typeface="+mn-lt"/>
                    <a:ea typeface="+mn-ea"/>
                    <a:cs typeface="+mn-cs"/>
                  </a:rPr>
                  <a:t>时，机器人的瞬时转动中心可在平面上任意一点。</a:t>
                </a: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25</a:t>
            </a:fld>
            <a:endParaRPr lang="zh-CN" altLang="en-US"/>
          </a:p>
        </p:txBody>
      </p:sp>
    </p:spTree>
    <p:extLst>
      <p:ext uri="{BB962C8B-B14F-4D97-AF65-F5344CB8AC3E}">
        <p14:creationId xmlns:p14="http://schemas.microsoft.com/office/powerpoint/2010/main" val="391403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所示为带小脚轮的两轮差速驱动机器人，下面分析其运动模型及约束。</a:t>
                </a:r>
              </a:p>
              <a:p>
                <a:r>
                  <a:rPr lang="zh-CN" altLang="zh-CN" sz="1200" kern="1200" dirty="0">
                    <a:solidFill>
                      <a:schemeClr val="tx1"/>
                    </a:solidFill>
                    <a:effectLst/>
                    <a:latin typeface="+mn-lt"/>
                    <a:ea typeface="+mn-ea"/>
                    <a:cs typeface="+mn-cs"/>
                  </a:rPr>
                  <a:t>已知：两个轮子半径为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zh-CN" altLang="zh-CN" sz="1200" kern="1200" dirty="0">
                    <a:solidFill>
                      <a:schemeClr val="tx1"/>
                    </a:solidFill>
                    <a:effectLst/>
                    <a:latin typeface="+mn-lt"/>
                    <a:ea typeface="+mn-ea"/>
                    <a:cs typeface="+mn-cs"/>
                  </a:rPr>
                  <a:t>，机器人中心点为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，两轮距中心点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的距离为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𝑙</m:t>
                    </m:r>
                  </m:oMath>
                </a14:m>
                <a:r>
                  <a:rPr lang="zh-CN" altLang="zh-CN" sz="1200" kern="1200" dirty="0">
                    <a:solidFill>
                      <a:schemeClr val="tx1"/>
                    </a:solidFill>
                    <a:effectLst/>
                    <a:latin typeface="+mn-lt"/>
                    <a:ea typeface="+mn-ea"/>
                    <a:cs typeface="+mn-cs"/>
                  </a:rPr>
                  <a:t>，左右轮的速度分别为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，求其正运动学速度表示模型。</a:t>
                </a:r>
              </a:p>
              <a:p>
                <a:r>
                  <a:rPr lang="zh-CN" altLang="zh-CN" sz="1200" kern="1200" dirty="0">
                    <a:solidFill>
                      <a:schemeClr val="tx1"/>
                    </a:solidFill>
                    <a:effectLst/>
                    <a:latin typeface="+mn-lt"/>
                    <a:ea typeface="+mn-ea"/>
                    <a:cs typeface="+mn-cs"/>
                  </a:rPr>
                  <a:t>将上一节分析的滚动约束和滑动约束联合起来，写成如下表达式：</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mr>
                            <m:mr>
                              <m:e>
                                <m:r>
                                  <a:rPr lang="en-US" altLang="zh-CN" sz="1200" i="1" kern="1200">
                                    <a:solidFill>
                                      <a:schemeClr val="tx1"/>
                                    </a:solidFill>
                                    <a:effectLst/>
                                    <a:latin typeface="Cambria Math" panose="02040503050406030204" pitchFamily="18" charset="0"/>
                                    <a:ea typeface="+mn-ea"/>
                                    <a:cs typeface="+mn-cs"/>
                                  </a:rPr>
                                  <m:t>0</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所示的移动机器人，其小脚轮无动力，可在任何方向自由运动，所以可以将其和地面的接触忽略不计。两个固定标准轮均不可操纵，所以</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𝑠</m:t>
                            </m:r>
                          </m:sub>
                        </m:sSub>
                      </m:e>
                    </m:d>
                  </m:oMath>
                </a14:m>
                <a:r>
                  <a:rPr lang="zh-CN" altLang="zh-CN" sz="1200" kern="1200" dirty="0">
                    <a:solidFill>
                      <a:schemeClr val="tx1"/>
                    </a:solidFill>
                    <a:effectLst/>
                    <a:latin typeface="+mn-lt"/>
                    <a:ea typeface="+mn-ea"/>
                    <a:cs typeface="+mn-cs"/>
                  </a:rPr>
                  <a:t>可以直接用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代替。假如机器人如图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sub>
                    </m:sSub>
                  </m:oMath>
                </a14:m>
                <a:r>
                  <a:rPr lang="zh-CN" altLang="zh-CN" sz="1200" kern="1200" dirty="0">
                    <a:solidFill>
                      <a:schemeClr val="tx1"/>
                    </a:solidFill>
                    <a:effectLst/>
                    <a:latin typeface="+mn-lt"/>
                    <a:ea typeface="+mn-ea"/>
                    <a:cs typeface="+mn-cs"/>
                  </a:rPr>
                  <a:t>正方向向前运动，右轮</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𝜋</m:t>
                    </m:r>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𝜋</m:t>
                    </m:r>
                  </m:oMath>
                </a14:m>
                <a:r>
                  <a:rPr lang="zh-CN" altLang="zh-CN" sz="1200" kern="1200" dirty="0">
                    <a:solidFill>
                      <a:schemeClr val="tx1"/>
                    </a:solidFill>
                    <a:effectLst/>
                    <a:latin typeface="+mn-lt"/>
                    <a:ea typeface="+mn-ea"/>
                    <a:cs typeface="+mn-cs"/>
                  </a:rPr>
                  <a:t>，左轮</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𝜋</m:t>
                    </m:r>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，注意，由于右轮的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值，必须保证右轮正转才能沿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𝑅</m:t>
                        </m:r>
                      </m:sub>
                    </m:sSub>
                  </m:oMath>
                </a14:m>
                <a:r>
                  <a:rPr lang="zh-CN" altLang="zh-CN" sz="1200" kern="1200" dirty="0">
                    <a:solidFill>
                      <a:schemeClr val="tx1"/>
                    </a:solidFill>
                    <a:effectLst/>
                    <a:latin typeface="+mn-lt"/>
                    <a:ea typeface="+mn-ea"/>
                    <a:cs typeface="+mn-cs"/>
                  </a:rPr>
                  <a:t>正方向向前运动。根据固定标准轮的约束方程分别计算</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𝑓</m:t>
                        </m:r>
                      </m:sub>
                    </m:sSub>
                  </m:oMath>
                </a14:m>
                <a:r>
                  <a:rPr lang="zh-CN" altLang="zh-CN" sz="1200" kern="1200" dirty="0">
                    <a:solidFill>
                      <a:schemeClr val="tx1"/>
                    </a:solidFill>
                    <a:effectLst/>
                    <a:latin typeface="+mn-lt"/>
                    <a:ea typeface="+mn-ea"/>
                    <a:cs typeface="+mn-cs"/>
                  </a:rPr>
                  <a:t>，由于两个轮子平行，所以滑动约束只需给出一个独立方程：</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𝑙</m:t>
                                                </m:r>
                                              </m:e>
                                            </m:mr>
                                          </m:m>
                                        </m:e>
                                      </m:m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mr>
                                          </m:m>
                                        </m:e>
                                      </m:mr>
                                    </m:m>
                                  </m:e>
                                </m:d>
                              </m:e>
                            </m:mr>
                            <m:m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e>
                            </m:mr>
                          </m:m>
                        </m:e>
                      </m:d>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mr>
                            <m:mr>
                              <m:e>
                                <m:r>
                                  <a:rPr lang="en-US" altLang="zh-CN" sz="1200" i="1" kern="1200">
                                    <a:solidFill>
                                      <a:schemeClr val="tx1"/>
                                    </a:solidFill>
                                    <a:effectLst/>
                                    <a:latin typeface="Cambria Math" panose="02040503050406030204" pitchFamily="18" charset="0"/>
                                    <a:ea typeface="+mn-ea"/>
                                    <a:cs typeface="+mn-cs"/>
                                  </a:rPr>
                                  <m:t>0</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将上式求逆即可得到差动驱动机器人运动学方程：</a:t>
                </a:r>
              </a:p>
              <a:p>
                <a:pPr/>
                <a14:m>
                  <m:oMathPara xmlns:m="http://schemas.openxmlformats.org/officeDocument/2006/math">
                    <m:oMathParaPr>
                      <m:jc m:val="centerGroup"/>
                    </m:oMathParaPr>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e>
                        <m:sup>
                          <m:r>
                            <a:rPr lang="en-US" altLang="zh-CN" sz="1200" i="1" kern="1200">
                              <a:solidFill>
                                <a:schemeClr val="tx1"/>
                              </a:solidFill>
                              <a:effectLst/>
                              <a:latin typeface="Cambria Math" panose="02040503050406030204" pitchFamily="18" charset="0"/>
                              <a:ea typeface="+mn-ea"/>
                              <a:cs typeface="+mn-cs"/>
                            </a:rPr>
                            <m:t>−1</m:t>
                          </m:r>
                        </m:sup>
                      </m:sSup>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𝑙</m:t>
                                                    </m:r>
                                                  </m:e>
                                                </m:mr>
                                              </m:m>
                                            </m:e>
                                          </m:m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e>
                                                </m:mr>
                                              </m:m>
                                            </m:e>
                                          </m:mr>
                                        </m:m>
                                      </m:e>
                                    </m:d>
                                  </m:e>
                                </m:mr>
                                <m:m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e>
                                </m:mr>
                              </m:m>
                            </m:e>
                          </m:d>
                        </m:e>
                        <m:sup>
                          <m:r>
                            <a:rPr lang="en-US" altLang="zh-CN" sz="1200" i="1" kern="1200">
                              <a:solidFill>
                                <a:schemeClr val="tx1"/>
                              </a:solidFill>
                              <a:effectLst/>
                              <a:latin typeface="Cambria Math" panose="02040503050406030204" pitchFamily="18" charset="0"/>
                              <a:ea typeface="+mn-ea"/>
                              <a:cs typeface="+mn-cs"/>
                            </a:rPr>
                            <m:t>−1</m:t>
                          </m:r>
                        </m:sup>
                      </m:sSup>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mr>
                            <m:mr>
                              <m:e>
                                <m:r>
                                  <a:rPr lang="en-US" altLang="zh-CN" sz="1200" i="1" kern="1200">
                                    <a:solidFill>
                                      <a:schemeClr val="tx1"/>
                                    </a:solidFill>
                                    <a:effectLst/>
                                    <a:latin typeface="Cambria Math" panose="02040503050406030204" pitchFamily="18" charset="0"/>
                                    <a:ea typeface="+mn-ea"/>
                                    <a:cs typeface="+mn-cs"/>
                                  </a:rPr>
                                  <m:t>0</m:t>
                                </m:r>
                              </m:e>
                            </m:mr>
                          </m:m>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e>
                        <m:sup>
                          <m:r>
                            <a:rPr lang="en-US" altLang="zh-CN" sz="1200" i="1" kern="1200">
                              <a:solidFill>
                                <a:schemeClr val="tx1"/>
                              </a:solidFill>
                              <a:effectLst/>
                              <a:latin typeface="Cambria Math" panose="02040503050406030204" pitchFamily="18" charset="0"/>
                              <a:ea typeface="+mn-ea"/>
                              <a:cs typeface="+mn-cs"/>
                            </a:rPr>
                            <m:t>−1</m:t>
                          </m:r>
                        </m:sup>
                      </m:sSup>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den>
                                            </m:f>
                                          </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den>
                                            </m:f>
                                          </m:e>
                                          <m:e>
                                            <m:r>
                                              <a:rPr lang="en-US" altLang="zh-CN" sz="1200" i="1" kern="1200">
                                                <a:solidFill>
                                                  <a:schemeClr val="tx1"/>
                                                </a:solidFill>
                                                <a:effectLst/>
                                                <a:latin typeface="Cambria Math" panose="02040503050406030204" pitchFamily="18" charset="0"/>
                                                <a:ea typeface="+mn-ea"/>
                                                <a:cs typeface="+mn-cs"/>
                                              </a:rPr>
                                              <m:t>0</m:t>
                                            </m:r>
                                          </m:e>
                                        </m:mr>
                                      </m:m>
                                    </m:e>
                                  </m:m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m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e>
                                    <m:e>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e>
                                    <m:e>
                                      <m:r>
                                        <a:rPr lang="en-US" altLang="zh-CN" sz="1200" i="1" kern="1200">
                                          <a:solidFill>
                                            <a:schemeClr val="tx1"/>
                                          </a:solidFill>
                                          <a:effectLst/>
                                          <a:latin typeface="Cambria Math" panose="02040503050406030204" pitchFamily="18" charset="0"/>
                                          <a:ea typeface="+mn-ea"/>
                                          <a:cs typeface="+mn-cs"/>
                                        </a:rPr>
                                        <m:t>0</m:t>
                                      </m:r>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mr>
                            <m:mr>
                              <m:e>
                                <m:r>
                                  <a:rPr lang="en-US" altLang="zh-CN" sz="1200" i="1" kern="1200">
                                    <a:solidFill>
                                      <a:schemeClr val="tx1"/>
                                    </a:solidFill>
                                    <a:effectLst/>
                                    <a:latin typeface="Cambria Math" panose="02040503050406030204" pitchFamily="18" charset="0"/>
                                    <a:ea typeface="+mn-ea"/>
                                    <a:cs typeface="+mn-cs"/>
                                  </a:rPr>
                                  <m:t>0</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如果右轮转速为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左轮转速为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，那么</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e>
                          </m:mr>
                          <m:mr>
                            <m:e>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e>
                          </m:mr>
                        </m:m>
                      </m:e>
                    </m:d>
                  </m:oMath>
                </a14:m>
                <a:r>
                  <a:rPr lang="zh-CN" altLang="zh-CN" sz="1200" kern="1200" dirty="0">
                    <a:solidFill>
                      <a:schemeClr val="tx1"/>
                    </a:solidFill>
                    <a:effectLst/>
                    <a:latin typeface="+mn-lt"/>
                    <a:ea typeface="+mn-ea"/>
                    <a:cs typeface="+mn-cs"/>
                  </a:rPr>
                  <a:t>，因此：</a:t>
                </a:r>
              </a:p>
              <a:p>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e>
                          </m:mr>
                          <m:mr>
                            <m:e>
                              <m:r>
                                <a:rPr lang="en-US" altLang="zh-CN" sz="1200" i="1" kern="1200">
                                  <a:solidFill>
                                    <a:schemeClr val="tx1"/>
                                  </a:solidFill>
                                  <a:effectLst/>
                                  <a:latin typeface="Cambria Math" panose="02040503050406030204" pitchFamily="18" charset="0"/>
                                  <a:ea typeface="+mn-ea"/>
                                  <a:cs typeface="+mn-cs"/>
                                </a:rPr>
                                <m:t>0</m:t>
                              </m:r>
                            </m:e>
                          </m:m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r>
                                <a:rPr lang="zh-CN" altLang="en-US"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e>
                          </m:mr>
                        </m:m>
                      </m:e>
                    </m:d>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3-143</a:t>
                </a:r>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e>
                      </m:d>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e>
                      </m:d>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r>
                        <a:rPr lang="zh-CN" altLang="en-US"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𝑟</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𝑙</m:t>
                          </m:r>
                        </m:den>
                      </m:f>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上面公式给出了两轮差速驱动机器人的正运动学速度表示模型，由分轮的转速得到整体的速度分量。如果给出机器人整体的速度，也可以根据上面的公式求解出左右轮的速度：</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num>
                        <m:den>
                          <m:r>
                            <a:rPr lang="en-US" altLang="zh-CN" sz="1200" i="1" kern="1200">
                              <a:solidFill>
                                <a:schemeClr val="tx1"/>
                              </a:solidFill>
                              <a:effectLst/>
                              <a:latin typeface="Cambria Math" panose="02040503050406030204" pitchFamily="18" charset="0"/>
                              <a:ea typeface="+mn-ea"/>
                              <a:cs typeface="+mn-cs"/>
                            </a:rPr>
                            <m:t>𝑟𝑐𝑜𝑠</m:t>
                          </m:r>
                          <m:r>
                            <a:rPr lang="en-US" altLang="zh-CN" sz="1200" i="1" kern="1200">
                              <a:solidFill>
                                <a:schemeClr val="tx1"/>
                              </a:solidFill>
                              <a:effectLst/>
                              <a:latin typeface="Cambria Math" panose="02040503050406030204" pitchFamily="18" charset="0"/>
                              <a:ea typeface="+mn-ea"/>
                              <a:cs typeface="+mn-cs"/>
                            </a:rPr>
                            <m:t>𝜃</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𝑙</m:t>
                          </m:r>
                        </m:num>
                        <m:den>
                          <m:r>
                            <a:rPr lang="en-US" altLang="zh-CN" sz="1200" i="1" kern="1200">
                              <a:solidFill>
                                <a:schemeClr val="tx1"/>
                              </a:solidFill>
                              <a:effectLst/>
                              <a:latin typeface="Cambria Math" panose="02040503050406030204" pitchFamily="18" charset="0"/>
                              <a:ea typeface="+mn-ea"/>
                              <a:cs typeface="+mn-cs"/>
                            </a:rPr>
                            <m:t>𝑟</m:t>
                          </m:r>
                        </m:den>
                      </m:f>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num>
                        <m:den>
                          <m:r>
                            <a:rPr lang="en-US" altLang="zh-CN" sz="1200" i="1" kern="1200">
                              <a:solidFill>
                                <a:schemeClr val="tx1"/>
                              </a:solidFill>
                              <a:effectLst/>
                              <a:latin typeface="Cambria Math" panose="02040503050406030204" pitchFamily="18" charset="0"/>
                              <a:ea typeface="+mn-ea"/>
                              <a:cs typeface="+mn-cs"/>
                            </a:rPr>
                            <m:t>𝑟𝑐𝑜𝑠</m:t>
                          </m:r>
                          <m:r>
                            <a:rPr lang="en-US" altLang="zh-CN" sz="1200" i="1" kern="1200">
                              <a:solidFill>
                                <a:schemeClr val="tx1"/>
                              </a:solidFill>
                              <a:effectLst/>
                              <a:latin typeface="Cambria Math" panose="02040503050406030204" pitchFamily="18" charset="0"/>
                              <a:ea typeface="+mn-ea"/>
                              <a:cs typeface="+mn-cs"/>
                            </a:rPr>
                            <m:t>𝜃</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𝑙</m:t>
                          </m:r>
                        </m:num>
                        <m:den>
                          <m:r>
                            <a:rPr lang="en-US" altLang="zh-CN" sz="1200" i="1" kern="1200">
                              <a:solidFill>
                                <a:schemeClr val="tx1"/>
                              </a:solidFill>
                              <a:effectLst/>
                              <a:latin typeface="Cambria Math" panose="02040503050406030204" pitchFamily="18" charset="0"/>
                              <a:ea typeface="+mn-ea"/>
                              <a:cs typeface="+mn-cs"/>
                            </a:rPr>
                            <m:t>𝑟</m:t>
                          </m:r>
                        </m:den>
                      </m:f>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当然，如果将机器人看成是一个独轮车的话，也可以用机器人底盘的线速度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和角速度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zh-CN" altLang="zh-CN" sz="1200" kern="1200" dirty="0">
                    <a:solidFill>
                      <a:schemeClr val="tx1"/>
                    </a:solidFill>
                    <a:effectLst/>
                    <a:latin typeface="+mn-lt"/>
                    <a:ea typeface="+mn-ea"/>
                    <a:cs typeface="+mn-cs"/>
                  </a:rPr>
                  <a:t>来表示。</a:t>
                </a:r>
              </a:p>
              <a:p>
                <a:r>
                  <a:rPr lang="zh-CN" altLang="zh-CN" sz="1200" kern="1200" dirty="0">
                    <a:solidFill>
                      <a:schemeClr val="tx1"/>
                    </a:solidFill>
                    <a:effectLst/>
                    <a:latin typeface="+mn-lt"/>
                    <a:ea typeface="+mn-ea"/>
                    <a:cs typeface="+mn-cs"/>
                  </a:rPr>
                  <a:t>由于线速度、角速度与</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oMath>
                </a14:m>
                <a:r>
                  <a:rPr lang="zh-CN" altLang="zh-CN" sz="1200" kern="1200" dirty="0">
                    <a:solidFill>
                      <a:schemeClr val="tx1"/>
                    </a:solidFill>
                    <a:effectLst/>
                    <a:latin typeface="+mn-lt"/>
                    <a:ea typeface="+mn-ea"/>
                    <a:cs typeface="+mn-cs"/>
                  </a:rPr>
                  <a:t>之间的关系为</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𝐼</m:t>
                              </m:r>
                            </m:sub>
                          </m:sSub>
                        </m:e>
                      </m:acc>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mr>
                                        <m:mr>
                                          <m:e>
                                            <m:r>
                                              <a:rPr lang="en-US" altLang="zh-CN" sz="1200" i="1" kern="1200">
                                                <a:solidFill>
                                                  <a:schemeClr val="tx1"/>
                                                </a:solidFill>
                                                <a:effectLst/>
                                                <a:latin typeface="Cambria Math" panose="02040503050406030204" pitchFamily="18" charset="0"/>
                                                <a:ea typeface="+mn-ea"/>
                                                <a:cs typeface="+mn-cs"/>
                                              </a:rPr>
                                              <m:t>0</m:t>
                                            </m:r>
                                          </m:e>
                                        </m:mr>
                                      </m:m>
                                    </m:e>
                                  </m:mr>
                                </m:m>
                              </m:e>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1</m:t>
                                            </m:r>
                                          </m:e>
                                        </m:mr>
                                      </m:m>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𝑣</m:t>
                                </m:r>
                              </m:e>
                            </m:mr>
                            <m:mr>
                              <m:e>
                                <m:r>
                                  <a:rPr lang="en-US" altLang="zh-CN" sz="1200" i="1" kern="1200">
                                    <a:solidFill>
                                      <a:schemeClr val="tx1"/>
                                    </a:solidFill>
                                    <a:effectLst/>
                                    <a:latin typeface="Cambria Math" panose="02040503050406030204" pitchFamily="18" charset="0"/>
                                    <a:ea typeface="+mn-ea"/>
                                    <a:cs typeface="+mn-cs"/>
                                  </a:rPr>
                                  <m:t>𝜔</m:t>
                                </m:r>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𝑣𝑐𝑜𝑠</m:t>
                                </m:r>
                                <m:r>
                                  <a:rPr lang="en-US" altLang="zh-CN" sz="1200" i="1" kern="1200">
                                    <a:solidFill>
                                      <a:schemeClr val="tx1"/>
                                    </a:solidFill>
                                    <a:effectLst/>
                                    <a:latin typeface="Cambria Math" panose="02040503050406030204" pitchFamily="18" charset="0"/>
                                    <a:ea typeface="+mn-ea"/>
                                    <a:cs typeface="+mn-cs"/>
                                  </a:rPr>
                                  <m:t>𝜃</m:t>
                                </m:r>
                              </m:e>
                            </m:mr>
                            <m:mr>
                              <m:e>
                                <m:r>
                                  <a:rPr lang="en-US" altLang="zh-CN" sz="1200" i="1" kern="1200">
                                    <a:solidFill>
                                      <a:schemeClr val="tx1"/>
                                    </a:solidFill>
                                    <a:effectLst/>
                                    <a:latin typeface="Cambria Math" panose="02040503050406030204" pitchFamily="18" charset="0"/>
                                    <a:ea typeface="+mn-ea"/>
                                    <a:cs typeface="+mn-cs"/>
                                  </a:rPr>
                                  <m:t>𝑣𝑠𝑖𝑛</m:t>
                                </m:r>
                                <m:r>
                                  <a:rPr lang="en-US" altLang="zh-CN" sz="1200" i="1" kern="1200">
                                    <a:solidFill>
                                      <a:schemeClr val="tx1"/>
                                    </a:solidFill>
                                    <a:effectLst/>
                                    <a:latin typeface="Cambria Math" panose="02040503050406030204" pitchFamily="18" charset="0"/>
                                    <a:ea typeface="+mn-ea"/>
                                    <a:cs typeface="+mn-cs"/>
                                  </a:rPr>
                                  <m:t>𝜃</m:t>
                                </m:r>
                              </m:e>
                            </m:mr>
                            <m:mr>
                              <m:e>
                                <m:r>
                                  <a:rPr lang="en-US" altLang="zh-CN" sz="1200" i="1" kern="1200">
                                    <a:solidFill>
                                      <a:schemeClr val="tx1"/>
                                    </a:solidFill>
                                    <a:effectLst/>
                                    <a:latin typeface="Cambria Math" panose="02040503050406030204" pitchFamily="18" charset="0"/>
                                    <a:ea typeface="+mn-ea"/>
                                    <a:cs typeface="+mn-cs"/>
                                  </a:rPr>
                                  <m:t>𝜔</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那么：</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𝑙</m:t>
                          </m:r>
                        </m:num>
                        <m:den>
                          <m:r>
                            <a:rPr lang="en-US" altLang="zh-CN" sz="1200" i="1" kern="1200">
                              <a:solidFill>
                                <a:schemeClr val="tx1"/>
                              </a:solidFill>
                              <a:effectLst/>
                              <a:latin typeface="Cambria Math" panose="02040503050406030204" pitchFamily="18" charset="0"/>
                              <a:ea typeface="+mn-ea"/>
                              <a:cs typeface="+mn-cs"/>
                            </a:rPr>
                            <m:t>𝑟</m:t>
                          </m:r>
                        </m:den>
                      </m:f>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𝜑</m:t>
                              </m:r>
                            </m:e>
                          </m:acc>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𝑙</m:t>
                          </m:r>
                        </m:num>
                        <m:den>
                          <m:r>
                            <a:rPr lang="en-US" altLang="zh-CN" sz="1200" i="1" kern="1200">
                              <a:solidFill>
                                <a:schemeClr val="tx1"/>
                              </a:solidFill>
                              <a:effectLst/>
                              <a:latin typeface="Cambria Math" panose="02040503050406030204" pitchFamily="18" charset="0"/>
                              <a:ea typeface="+mn-ea"/>
                              <a:cs typeface="+mn-cs"/>
                            </a:rPr>
                            <m:t>𝑟</m:t>
                          </m:r>
                        </m:den>
                      </m:f>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所示为带小脚轮的两轮差速驱动机器人，下面分析其运动模型及约束。</a:t>
                </a:r>
              </a:p>
              <a:p>
                <a:r>
                  <a:rPr lang="zh-CN" altLang="zh-CN" sz="1200" kern="1200" dirty="0">
                    <a:solidFill>
                      <a:schemeClr val="tx1"/>
                    </a:solidFill>
                    <a:effectLst/>
                    <a:latin typeface="+mn-lt"/>
                    <a:ea typeface="+mn-ea"/>
                    <a:cs typeface="+mn-cs"/>
                  </a:rPr>
                  <a:t>已知：两个轮子半径为</a:t>
                </a:r>
                <a:r>
                  <a:rPr lang="en-US" altLang="zh-CN" sz="1200" i="0" kern="1200">
                    <a:solidFill>
                      <a:schemeClr val="tx1"/>
                    </a:solidFill>
                    <a:effectLst/>
                    <a:latin typeface="+mn-lt"/>
                    <a:ea typeface="+mn-ea"/>
                    <a:cs typeface="+mn-cs"/>
                  </a:rPr>
                  <a:t>𝑟</a:t>
                </a:r>
                <a:r>
                  <a:rPr lang="zh-CN" altLang="zh-CN" sz="1200" kern="1200" dirty="0">
                    <a:solidFill>
                      <a:schemeClr val="tx1"/>
                    </a:solidFill>
                    <a:effectLst/>
                    <a:latin typeface="+mn-lt"/>
                    <a:ea typeface="+mn-ea"/>
                    <a:cs typeface="+mn-cs"/>
                  </a:rPr>
                  <a:t>，机器人中心点为</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，两轮距中心点</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的距离为</a:t>
                </a:r>
                <a:r>
                  <a:rPr lang="en-US" altLang="zh-CN" sz="1200" i="0" kern="1200">
                    <a:solidFill>
                      <a:schemeClr val="tx1"/>
                    </a:solidFill>
                    <a:effectLst/>
                    <a:latin typeface="+mn-lt"/>
                    <a:ea typeface="+mn-ea"/>
                    <a:cs typeface="+mn-cs"/>
                  </a:rPr>
                  <a:t>𝑙</a:t>
                </a:r>
                <a:r>
                  <a:rPr lang="zh-CN" altLang="zh-CN" sz="1200" kern="1200" dirty="0">
                    <a:solidFill>
                      <a:schemeClr val="tx1"/>
                    </a:solidFill>
                    <a:effectLst/>
                    <a:latin typeface="+mn-lt"/>
                    <a:ea typeface="+mn-ea"/>
                    <a:cs typeface="+mn-cs"/>
                  </a:rPr>
                  <a:t>，左右轮的速度分别为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，求其正运动学速度表示模型。</a:t>
                </a:r>
              </a:p>
              <a:p>
                <a:r>
                  <a:rPr lang="zh-CN" altLang="zh-CN" sz="1200" kern="1200" dirty="0">
                    <a:solidFill>
                      <a:schemeClr val="tx1"/>
                    </a:solidFill>
                    <a:effectLst/>
                    <a:latin typeface="+mn-lt"/>
                    <a:ea typeface="+mn-ea"/>
                    <a:cs typeface="+mn-cs"/>
                  </a:rPr>
                  <a:t>将上一节分析的滚动约束和滑动约束联合起来，写成如下表达式：</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所示的移动机器人，其小脚轮无动力，可在任何方向自由运动，所以可以将其和地面的接触忽略不计。两个固定标准轮均不可操纵，所以</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可以直接用</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代替。假如机器人如图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正方向向前运动，右轮</a:t>
                </a:r>
                <a:r>
                  <a:rPr lang="en-US" altLang="zh-CN" sz="1200" i="0" kern="1200">
                    <a:solidFill>
                      <a:schemeClr val="tx1"/>
                    </a:solidFill>
                    <a:effectLst/>
                    <a:latin typeface="+mn-lt"/>
                    <a:ea typeface="+mn-ea"/>
                    <a:cs typeface="+mn-cs"/>
                  </a:rPr>
                  <a:t>𝛼=−𝜋/2</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𝛽=𝜋</a:t>
                </a:r>
                <a:r>
                  <a:rPr lang="zh-CN" altLang="zh-CN" sz="1200" kern="1200" dirty="0">
                    <a:solidFill>
                      <a:schemeClr val="tx1"/>
                    </a:solidFill>
                    <a:effectLst/>
                    <a:latin typeface="+mn-lt"/>
                    <a:ea typeface="+mn-ea"/>
                    <a:cs typeface="+mn-cs"/>
                  </a:rPr>
                  <a:t>，左轮</a:t>
                </a:r>
                <a:r>
                  <a:rPr lang="en-US" altLang="zh-CN" sz="1200" i="0" kern="1200">
                    <a:solidFill>
                      <a:schemeClr val="tx1"/>
                    </a:solidFill>
                    <a:effectLst/>
                    <a:latin typeface="+mn-lt"/>
                    <a:ea typeface="+mn-ea"/>
                    <a:cs typeface="+mn-cs"/>
                  </a:rPr>
                  <a:t>𝛼=𝜋/2</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𝛽=0</a:t>
                </a:r>
                <a:r>
                  <a:rPr lang="zh-CN" altLang="zh-CN" sz="1200" kern="1200" dirty="0">
                    <a:solidFill>
                      <a:schemeClr val="tx1"/>
                    </a:solidFill>
                    <a:effectLst/>
                    <a:latin typeface="+mn-lt"/>
                    <a:ea typeface="+mn-ea"/>
                    <a:cs typeface="+mn-cs"/>
                  </a:rPr>
                  <a:t>，注意，由于右轮的</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值，必须保证右轮正转才能沿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正方向向前运动。根据固定标准轮的约束方程分别计算</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，由于两个轮子平行，所以滑动约束只需给出一个独立方程：</a:t>
                </a:r>
              </a:p>
              <a:p>
                <a:r>
                  <a:rPr lang="zh-CN" altLang="zh-CN" sz="1200" i="0" kern="1200">
                    <a:solidFill>
                      <a:schemeClr val="tx1"/>
                    </a:solidFill>
                    <a:effectLst/>
                    <a:latin typeface="+mn-lt"/>
                    <a:ea typeface="+mn-ea"/>
                    <a:cs typeface="+mn-cs"/>
                  </a:rPr>
                  <a:t>[■8([■8(■8(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0&amp;1&amp;0)]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将上式求逆即可得到差动驱动机器人运动学方程：</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[■8([■8(■8(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0&amp;1&amp;0)]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[■8(■8(■8(</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2&amp;1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2&amp;0)@</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0&amp;0&amp;1))@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2𝑙&amp;−1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2𝑙&amp;0))]</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如果右轮转速为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左轮转速为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，那么</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，因此：</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𝑐𝑜𝑠𝜃&amp;</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𝑠𝑖𝑛𝜃&amp;0@𝑠𝑖𝑛𝜃&amp;𝑐𝑜𝑠𝜃&amp;0@0&amp;0&amp;1)]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zh-CN" altLang="en-US"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3-143</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2)𝑐𝑜𝑠𝜃</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2)𝑠𝑖𝑛𝜃</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zh-CN" altLang="en-US"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上面公式给出了两轮差速驱动机器人的正运动学速度表示模型，由分轮的转速得到整体的速度分量。如果给出机器人整体的速度，也可以根据上面的公式求解出左右轮的速度：</a:t>
                </a: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𝑟𝑐𝑜𝑠𝜃+𝑙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𝑟𝑐𝑜𝑠𝜃−𝑙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当然，如果将机器人看成是一个独轮车的话，也可以用机器人底盘的线速度</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和角速度</a:t>
                </a:r>
                <a:r>
                  <a:rPr lang="en-US" altLang="zh-CN" sz="1200" i="0" kern="1200">
                    <a:solidFill>
                      <a:schemeClr val="tx1"/>
                    </a:solidFill>
                    <a:effectLst/>
                    <a:latin typeface="+mn-lt"/>
                    <a:ea typeface="+mn-ea"/>
                    <a:cs typeface="+mn-cs"/>
                  </a:rPr>
                  <a:t>𝜔</a:t>
                </a:r>
                <a:r>
                  <a:rPr lang="zh-CN" altLang="zh-CN" sz="1200" kern="1200" dirty="0">
                    <a:solidFill>
                      <a:schemeClr val="tx1"/>
                    </a:solidFill>
                    <a:effectLst/>
                    <a:latin typeface="+mn-lt"/>
                    <a:ea typeface="+mn-ea"/>
                    <a:cs typeface="+mn-cs"/>
                  </a:rPr>
                  <a:t>来表示。</a:t>
                </a:r>
              </a:p>
              <a:p>
                <a:r>
                  <a:rPr lang="zh-CN" altLang="zh-CN" sz="1200" kern="1200" dirty="0">
                    <a:solidFill>
                      <a:schemeClr val="tx1"/>
                    </a:solidFill>
                    <a:effectLst/>
                    <a:latin typeface="+mn-lt"/>
                    <a:ea typeface="+mn-ea"/>
                    <a:cs typeface="+mn-cs"/>
                  </a:rPr>
                  <a:t>由于线速度、角速度与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之间的关系为</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𝑐𝑜𝑠𝜃@</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𝑠𝑖𝑛𝜃@0))&amp;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𝑣@𝜔)]=</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𝑣𝑐𝑜𝑠𝜃@𝑣𝑠𝑖𝑛𝜃@𝜔)]</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𝑣+𝜔𝑙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𝑣−𝜔𝑙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26</a:t>
            </a:fld>
            <a:endParaRPr lang="zh-CN" altLang="en-US"/>
          </a:p>
        </p:txBody>
      </p:sp>
    </p:spTree>
    <p:extLst>
      <p:ext uri="{BB962C8B-B14F-4D97-AF65-F5344CB8AC3E}">
        <p14:creationId xmlns:p14="http://schemas.microsoft.com/office/powerpoint/2010/main" val="2833627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所示为带小脚轮的两轮差速驱动机器人，下面分析其运动模型及约束。</a:t>
                </a:r>
              </a:p>
              <a:p>
                <a:r>
                  <a:rPr lang="zh-CN" altLang="zh-CN" sz="1200" kern="1200" dirty="0">
                    <a:solidFill>
                      <a:schemeClr val="tx1"/>
                    </a:solidFill>
                    <a:effectLst/>
                    <a:latin typeface="+mn-lt"/>
                    <a:ea typeface="+mn-ea"/>
                    <a:cs typeface="+mn-cs"/>
                  </a:rPr>
                  <a:t>已知：两个轮子半径为</a:t>
                </a:r>
                <a:r>
                  <a:rPr lang="en-US" altLang="zh-CN" sz="1200" i="0" kern="1200">
                    <a:solidFill>
                      <a:schemeClr val="tx1"/>
                    </a:solidFill>
                    <a:effectLst/>
                    <a:latin typeface="+mn-lt"/>
                    <a:ea typeface="+mn-ea"/>
                    <a:cs typeface="+mn-cs"/>
                  </a:rPr>
                  <a:t>𝑟</a:t>
                </a:r>
                <a:r>
                  <a:rPr lang="zh-CN" altLang="zh-CN" sz="1200" kern="1200" dirty="0">
                    <a:solidFill>
                      <a:schemeClr val="tx1"/>
                    </a:solidFill>
                    <a:effectLst/>
                    <a:latin typeface="+mn-lt"/>
                    <a:ea typeface="+mn-ea"/>
                    <a:cs typeface="+mn-cs"/>
                  </a:rPr>
                  <a:t>，机器人中心点为</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，两轮距中心点</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的距离为</a:t>
                </a:r>
                <a:r>
                  <a:rPr lang="en-US" altLang="zh-CN" sz="1200" i="0" kern="1200">
                    <a:solidFill>
                      <a:schemeClr val="tx1"/>
                    </a:solidFill>
                    <a:effectLst/>
                    <a:latin typeface="+mn-lt"/>
                    <a:ea typeface="+mn-ea"/>
                    <a:cs typeface="+mn-cs"/>
                  </a:rPr>
                  <a:t>𝑙</a:t>
                </a:r>
                <a:r>
                  <a:rPr lang="zh-CN" altLang="zh-CN" sz="1200" kern="1200" dirty="0">
                    <a:solidFill>
                      <a:schemeClr val="tx1"/>
                    </a:solidFill>
                    <a:effectLst/>
                    <a:latin typeface="+mn-lt"/>
                    <a:ea typeface="+mn-ea"/>
                    <a:cs typeface="+mn-cs"/>
                  </a:rPr>
                  <a:t>，左右轮的速度分别为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，求其正运动学速度表示模型。</a:t>
                </a:r>
              </a:p>
              <a:p>
                <a:r>
                  <a:rPr lang="zh-CN" altLang="zh-CN" sz="1200" kern="1200" dirty="0">
                    <a:solidFill>
                      <a:schemeClr val="tx1"/>
                    </a:solidFill>
                    <a:effectLst/>
                    <a:latin typeface="+mn-lt"/>
                    <a:ea typeface="+mn-ea"/>
                    <a:cs typeface="+mn-cs"/>
                  </a:rPr>
                  <a:t>将上一节分析的滚动约束和滑动约束联合起来，写成如下表达式：</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所示的移动机器人，其小脚轮无动力，可在任何方向自由运动，所以可以将其和地面的接触忽略不计。两个固定标准轮均不可操纵，所以</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 )</a:t>
                </a:r>
                <a:r>
                  <a:rPr lang="zh-CN" altLang="zh-CN" sz="1200" kern="1200" dirty="0">
                    <a:solidFill>
                      <a:schemeClr val="tx1"/>
                    </a:solidFill>
                    <a:effectLst/>
                    <a:latin typeface="+mn-lt"/>
                    <a:ea typeface="+mn-ea"/>
                    <a:cs typeface="+mn-cs"/>
                  </a:rPr>
                  <a:t>可以直接用</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代替。假如机器人如图</a:t>
                </a:r>
                <a:r>
                  <a:rPr lang="en-US" altLang="zh-CN" sz="1200" kern="1200" dirty="0">
                    <a:solidFill>
                      <a:schemeClr val="tx1"/>
                    </a:solidFill>
                    <a:effectLst/>
                    <a:latin typeface="+mn-lt"/>
                    <a:ea typeface="+mn-ea"/>
                    <a:cs typeface="+mn-cs"/>
                  </a:rPr>
                  <a:t>3.63</a:t>
                </a:r>
                <a:r>
                  <a:rPr lang="zh-CN" altLang="zh-CN" sz="1200" kern="1200" dirty="0">
                    <a:solidFill>
                      <a:schemeClr val="tx1"/>
                    </a:solidFill>
                    <a:effectLst/>
                    <a:latin typeface="+mn-lt"/>
                    <a:ea typeface="+mn-ea"/>
                    <a:cs typeface="+mn-cs"/>
                  </a:rPr>
                  <a:t>所示，沿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正方向向前运动，右轮</a:t>
                </a:r>
                <a:r>
                  <a:rPr lang="en-US" altLang="zh-CN" sz="1200" i="0" kern="1200">
                    <a:solidFill>
                      <a:schemeClr val="tx1"/>
                    </a:solidFill>
                    <a:effectLst/>
                    <a:latin typeface="+mn-lt"/>
                    <a:ea typeface="+mn-ea"/>
                    <a:cs typeface="+mn-cs"/>
                  </a:rPr>
                  <a:t>𝛼=−𝜋/2</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𝛽=𝜋</a:t>
                </a:r>
                <a:r>
                  <a:rPr lang="zh-CN" altLang="zh-CN" sz="1200" kern="1200" dirty="0">
                    <a:solidFill>
                      <a:schemeClr val="tx1"/>
                    </a:solidFill>
                    <a:effectLst/>
                    <a:latin typeface="+mn-lt"/>
                    <a:ea typeface="+mn-ea"/>
                    <a:cs typeface="+mn-cs"/>
                  </a:rPr>
                  <a:t>，左轮</a:t>
                </a:r>
                <a:r>
                  <a:rPr lang="en-US" altLang="zh-CN" sz="1200" i="0" kern="1200">
                    <a:solidFill>
                      <a:schemeClr val="tx1"/>
                    </a:solidFill>
                    <a:effectLst/>
                    <a:latin typeface="+mn-lt"/>
                    <a:ea typeface="+mn-ea"/>
                    <a:cs typeface="+mn-cs"/>
                  </a:rPr>
                  <a:t>𝛼=𝜋/2</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𝛽=0</a:t>
                </a:r>
                <a:r>
                  <a:rPr lang="zh-CN" altLang="zh-CN" sz="1200" kern="1200" dirty="0">
                    <a:solidFill>
                      <a:schemeClr val="tx1"/>
                    </a:solidFill>
                    <a:effectLst/>
                    <a:latin typeface="+mn-lt"/>
                    <a:ea typeface="+mn-ea"/>
                    <a:cs typeface="+mn-cs"/>
                  </a:rPr>
                  <a:t>，注意，由于右轮的</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值，必须保证右轮正转才能沿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正方向向前运动。根据固定标准轮的约束方程分别计算</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1𝑓</a:t>
                </a:r>
                <a:r>
                  <a:rPr lang="zh-CN" altLang="zh-CN" sz="1200" kern="1200" dirty="0">
                    <a:solidFill>
                      <a:schemeClr val="tx1"/>
                    </a:solidFill>
                    <a:effectLst/>
                    <a:latin typeface="+mn-lt"/>
                    <a:ea typeface="+mn-ea"/>
                    <a:cs typeface="+mn-cs"/>
                  </a:rPr>
                  <a:t>，由于两个轮子平行，所以滑动约束只需给出一个独立方程：</a:t>
                </a:r>
              </a:p>
              <a:p>
                <a:r>
                  <a:rPr lang="zh-CN" altLang="zh-CN" sz="1200" i="0" kern="1200">
                    <a:solidFill>
                      <a:schemeClr val="tx1"/>
                    </a:solidFill>
                    <a:effectLst/>
                    <a:latin typeface="+mn-lt"/>
                    <a:ea typeface="+mn-ea"/>
                    <a:cs typeface="+mn-cs"/>
                  </a:rPr>
                  <a:t>[■8([■8(■8(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0&amp;1&amp;0)] )]𝑅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将上式求逆即可得到差动驱动机器人运动学方程：</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[■8([■8(■8(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1&amp;0&amp;−𝑙))]@</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0&amp;1&amp;0)]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[■8(■8(■8(</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2&amp;1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2&amp;0)@</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0&amp;0&amp;1))@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2𝑙&amp;−1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2𝑙&amp;0))]</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如果右轮转速为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左轮转速为</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，那么</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，因此：</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𝑐𝑜𝑠𝜃&amp;</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𝑠𝑖𝑛𝜃&amp;0@𝑠𝑖𝑛𝜃&amp;𝑐𝑜𝑠𝜃&amp;0@0&amp;0&amp;1)]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zh-CN" altLang="en-US"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3-143</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2)𝑐𝑜𝑠𝜃</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2)𝑠𝑖𝑛𝜃</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r>
                  <a:rPr lang="zh-CN" altLang="en-US"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2𝑙</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上面公式给出了两轮差速驱动机器人的正运动学速度表示模型，由分轮的转速得到整体的速度分量。如果给出机器人整体的速度，也可以根据上面的公式求解出左右轮的速度：</a:t>
                </a: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𝑟𝑐𝑜𝑠𝜃+𝑙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𝑟𝑐𝑜𝑠𝜃−𝑙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当然，如果将机器人看成是一个独轮车的话，也可以用机器人底盘的线速度</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和角速度</a:t>
                </a:r>
                <a:r>
                  <a:rPr lang="en-US" altLang="zh-CN" sz="1200" i="0" kern="1200">
                    <a:solidFill>
                      <a:schemeClr val="tx1"/>
                    </a:solidFill>
                    <a:effectLst/>
                    <a:latin typeface="+mn-lt"/>
                    <a:ea typeface="+mn-ea"/>
                    <a:cs typeface="+mn-cs"/>
                  </a:rPr>
                  <a:t>𝜔</a:t>
                </a:r>
                <a:r>
                  <a:rPr lang="zh-CN" altLang="zh-CN" sz="1200" kern="1200" dirty="0">
                    <a:solidFill>
                      <a:schemeClr val="tx1"/>
                    </a:solidFill>
                    <a:effectLst/>
                    <a:latin typeface="+mn-lt"/>
                    <a:ea typeface="+mn-ea"/>
                    <a:cs typeface="+mn-cs"/>
                  </a:rPr>
                  <a:t>来表示。</a:t>
                </a:r>
              </a:p>
              <a:p>
                <a:r>
                  <a:rPr lang="zh-CN" altLang="zh-CN" sz="1200" kern="1200" dirty="0">
                    <a:solidFill>
                      <a:schemeClr val="tx1"/>
                    </a:solidFill>
                    <a:effectLst/>
                    <a:latin typeface="+mn-lt"/>
                    <a:ea typeface="+mn-ea"/>
                    <a:cs typeface="+mn-cs"/>
                  </a:rPr>
                  <a:t>由于线速度、角速度与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之间的关系为</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𝑐𝑜𝑠𝜃@</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𝑠𝑖𝑛𝜃@0))&amp;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𝑣@𝜔)]=</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𝑣𝑐𝑜𝑠𝜃@𝑣𝑠𝑖𝑛𝜃@𝜔)]</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𝑣+𝜔𝑙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𝑣−𝜔𝑙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27</a:t>
            </a:fld>
            <a:endParaRPr lang="zh-CN" altLang="en-US"/>
          </a:p>
        </p:txBody>
      </p:sp>
    </p:spTree>
    <p:extLst>
      <p:ext uri="{BB962C8B-B14F-4D97-AF65-F5344CB8AC3E}">
        <p14:creationId xmlns:p14="http://schemas.microsoft.com/office/powerpoint/2010/main" val="3927973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3.64</a:t>
            </a:r>
            <a:r>
              <a:rPr lang="zh-CN" altLang="zh-CN" sz="1200" kern="1200" dirty="0">
                <a:solidFill>
                  <a:schemeClr val="tx1"/>
                </a:solidFill>
                <a:effectLst/>
                <a:latin typeface="+mn-lt"/>
                <a:ea typeface="+mn-ea"/>
                <a:cs typeface="+mn-cs"/>
              </a:rPr>
              <a:t>所示，俗称的全向轮是通过在典型的车轮外圆增加一组滚轮而构成的一种特殊轮子。这些滚轮围绕各自处于主轮平面的轴线（与主轮外圆周相切）自由旋转，并且当主轮向前或向后滚动时，这些滚轮允许轮子整体侧向滑动。麦克拉姆轮和俗称的全向轮不同之处在于主轮外圆的小滚轮，其旋转轴并不在车轮平面上，其辊子与主轮轴心成一定角度排列，与地面接触。从构型上来说全向轮实际上麦克拉姆轮的一种特殊形式。</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28</a:t>
            </a:fld>
            <a:endParaRPr lang="zh-CN" altLang="en-US"/>
          </a:p>
        </p:txBody>
      </p:sp>
    </p:spTree>
    <p:extLst>
      <p:ext uri="{BB962C8B-B14F-4D97-AF65-F5344CB8AC3E}">
        <p14:creationId xmlns:p14="http://schemas.microsoft.com/office/powerpoint/2010/main" val="40108197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机器人学中，描述移动机器人的路径空间的时候，定义了一个“完整机器人”这样的一个概念。所谓“完整机器人”，指的是没有非完整运动学约束的机器人，反之，一个非完整机器人具有一个或多个非完整运动学约束。</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完整的运动学约束可以被表示为只是位置变量的显函数。例如，只有一个固定标准轮的移动机器人，运动学约束可以只用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𝜑</m:t>
                        </m:r>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zh-CN"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zh-CN"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完整表达，这种约束不能用这些变量的微分，诸如</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m:rPr>
                            <m:sty m:val="p"/>
                          </m:rPr>
                          <a:rPr lang="en-US" altLang="zh-CN" sz="1200" kern="1200">
                            <a:solidFill>
                              <a:schemeClr val="tx1"/>
                            </a:solidFill>
                            <a:effectLst/>
                            <a:latin typeface="Cambria Math" panose="02040503050406030204" pitchFamily="18" charset="0"/>
                            <a:ea typeface="+mn-ea"/>
                            <a:cs typeface="+mn-cs"/>
                          </a:rPr>
                          <m:t>φ</m:t>
                        </m:r>
                      </m:e>
                    </m:acc>
                  </m:oMath>
                </a14:m>
                <a:r>
                  <a:rPr lang="zh-CN" altLang="zh-CN" sz="1200" kern="1200" dirty="0">
                    <a:solidFill>
                      <a:schemeClr val="tx1"/>
                    </a:solidFill>
                    <a:effectLst/>
                    <a:latin typeface="+mn-lt"/>
                    <a:ea typeface="+mn-ea"/>
                    <a:cs typeface="+mn-cs"/>
                  </a:rPr>
                  <a:t>或</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m:rPr>
                            <m:sty m:val="p"/>
                          </m:rPr>
                          <a:rPr lang="en-US" altLang="zh-CN" sz="1200" kern="1200">
                            <a:solidFill>
                              <a:schemeClr val="tx1"/>
                            </a:solidFill>
                            <a:effectLst/>
                            <a:latin typeface="Cambria Math" panose="02040503050406030204" pitchFamily="18" charset="0"/>
                            <a:ea typeface="+mn-ea"/>
                            <a:cs typeface="+mn-cs"/>
                          </a:rPr>
                          <m:t>ξ</m:t>
                        </m:r>
                      </m:e>
                    </m:acc>
                  </m:oMath>
                </a14:m>
                <a:r>
                  <a:rPr lang="zh-CN" altLang="zh-CN" sz="1200" kern="1200" dirty="0">
                    <a:solidFill>
                      <a:schemeClr val="tx1"/>
                    </a:solidFill>
                    <a:effectLst/>
                    <a:latin typeface="+mn-lt"/>
                    <a:ea typeface="+mn-ea"/>
                    <a:cs typeface="+mn-cs"/>
                  </a:rPr>
                  <a:t>。而非完整运动学约束需要微分关系，例如位置变量的微分，而且不能只根据位置变量积分就可以提供约束，也就是说非完整系统通常是非可积的。</a:t>
                </a:r>
              </a:p>
              <a:p>
                <a:r>
                  <a:rPr lang="zh-CN" altLang="zh-CN" sz="1200" kern="1200" dirty="0">
                    <a:solidFill>
                      <a:schemeClr val="tx1"/>
                    </a:solidFill>
                    <a:effectLst/>
                    <a:latin typeface="+mn-lt"/>
                    <a:ea typeface="+mn-ea"/>
                    <a:cs typeface="+mn-cs"/>
                  </a:rPr>
                  <a:t>完整约束和非完整约束的区别在于：当系统受完整约束时，机器人只能在其位形空间的某一光滑流形上运动，可达空间为位形空间的一个子集，并且当系统受到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𝐾</m:t>
                    </m:r>
                  </m:oMath>
                </a14:m>
                <a:r>
                  <a:rPr lang="zh-CN" altLang="zh-CN" sz="1200" kern="1200" dirty="0">
                    <a:solidFill>
                      <a:schemeClr val="tx1"/>
                    </a:solidFill>
                    <a:effectLst/>
                    <a:latin typeface="+mn-lt"/>
                    <a:ea typeface="+mn-ea"/>
                    <a:cs typeface="+mn-cs"/>
                  </a:rPr>
                  <a:t>个完整约束时，机器人被限制在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维流形上，可通过适当的坐标变换，采用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个广义坐标完全描述。如果机器人受非完整约束时，由于其不可积性，无法约束其运动位形，而只能将其瞬时速度限制在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𝑘</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维子空间中，即非完整约束使系统的运动自由度减少，但描述系统的独立广义坐标的自由度并未减少</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本章在</a:t>
                </a:r>
                <a:r>
                  <a:rPr lang="en-US" altLang="zh-CN" sz="1200" kern="1200" dirty="0">
                    <a:solidFill>
                      <a:schemeClr val="tx1"/>
                    </a:solidFill>
                    <a:effectLst/>
                    <a:latin typeface="+mn-lt"/>
                    <a:ea typeface="+mn-ea"/>
                    <a:cs typeface="+mn-cs"/>
                  </a:rPr>
                  <a:t>3.12.1</a:t>
                </a:r>
                <a:r>
                  <a:rPr lang="zh-CN" altLang="zh-CN" sz="1200" kern="1200" dirty="0">
                    <a:solidFill>
                      <a:schemeClr val="tx1"/>
                    </a:solidFill>
                    <a:effectLst/>
                    <a:latin typeface="+mn-lt"/>
                    <a:ea typeface="+mn-ea"/>
                    <a:cs typeface="+mn-cs"/>
                  </a:rPr>
                  <a:t>节介绍了轮式移动机器人的运动学基础模型，该模型并未考虑轮子的类型以及约束。移动机器人运动学涉及完整的运动学约束和非完整的运动学约束，完整的运动学约束可以被表示为只是位形变量的显函数</a:t>
                </a:r>
                <a:r>
                  <a:rPr lang="en-US"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Ƒ</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𝑞</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e>
                    </m:d>
                    <m:r>
                      <a:rPr lang="en-US" altLang="zh-CN" sz="1200"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oMath>
                </a14:m>
                <a:r>
                  <a:rPr lang="zh-CN" altLang="zh-CN" sz="1200" kern="1200" dirty="0">
                    <a:solidFill>
                      <a:schemeClr val="tx1"/>
                    </a:solidFill>
                    <a:effectLst/>
                    <a:latin typeface="+mn-lt"/>
                    <a:ea typeface="+mn-ea"/>
                    <a:cs typeface="+mn-cs"/>
                  </a:rPr>
                  <a:t>为位形变量，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为时间。而非完整约束往往需要微分关系，例如位置变量的微分（速度）来进行表达。据此，可以将轮式移动机器人分成两大类：全向移动机器人</a:t>
                </a:r>
                <a:r>
                  <a:rPr lang="en-US" altLang="zh-CN" sz="1200" kern="1200" dirty="0">
                    <a:solidFill>
                      <a:schemeClr val="tx1"/>
                    </a:solidFill>
                    <a:effectLst/>
                    <a:latin typeface="+mn-lt"/>
                    <a:ea typeface="+mn-ea"/>
                    <a:cs typeface="+mn-cs"/>
                  </a:rPr>
                  <a:t>(Omnidirectional Mobile Robot)</a:t>
                </a:r>
                <a:r>
                  <a:rPr lang="zh-CN" altLang="zh-CN" sz="1200" kern="1200" dirty="0">
                    <a:solidFill>
                      <a:schemeClr val="tx1"/>
                    </a:solidFill>
                    <a:effectLst/>
                    <a:latin typeface="+mn-lt"/>
                    <a:ea typeface="+mn-ea"/>
                    <a:cs typeface="+mn-cs"/>
                  </a:rPr>
                  <a:t>和非完整类型移动机器人</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Nonholonomic</a:t>
                </a:r>
                <a:r>
                  <a:rPr lang="en-US" altLang="zh-CN" sz="1200" kern="1200" dirty="0">
                    <a:solidFill>
                      <a:schemeClr val="tx1"/>
                    </a:solidFill>
                    <a:effectLst/>
                    <a:latin typeface="+mn-lt"/>
                    <a:ea typeface="+mn-ea"/>
                    <a:cs typeface="+mn-cs"/>
                  </a:rPr>
                  <a:t> Mobile Robot)</a:t>
                </a:r>
                <a:r>
                  <a:rPr lang="zh-CN" altLang="zh-CN" sz="1200" kern="1200" dirty="0">
                    <a:solidFill>
                      <a:schemeClr val="tx1"/>
                    </a:solidFill>
                    <a:effectLst/>
                    <a:latin typeface="+mn-lt"/>
                    <a:ea typeface="+mn-ea"/>
                    <a:cs typeface="+mn-cs"/>
                  </a:rPr>
                  <a:t>。非完整类型移动机器人采用传统车轮，车轮一般只能前后滚动但不会侧滑。而全向移动机器人通常采用全向轮</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omniwheel</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或麦克拉姆轮</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Mecanum</a:t>
                </a:r>
                <a:r>
                  <a:rPr lang="en-US" altLang="zh-CN" sz="1200" kern="1200" dirty="0">
                    <a:solidFill>
                      <a:schemeClr val="tx1"/>
                    </a:solidFill>
                    <a:effectLst/>
                    <a:latin typeface="+mn-lt"/>
                    <a:ea typeface="+mn-ea"/>
                    <a:cs typeface="+mn-cs"/>
                  </a:rPr>
                  <a:t> wheel)</a:t>
                </a:r>
                <a:r>
                  <a:rPr lang="zh-CN" altLang="zh-CN" sz="1200" kern="1200" dirty="0">
                    <a:solidFill>
                      <a:schemeClr val="tx1"/>
                    </a:solidFill>
                    <a:effectLst/>
                    <a:latin typeface="+mn-lt"/>
                    <a:ea typeface="+mn-ea"/>
                    <a:cs typeface="+mn-cs"/>
                  </a:rPr>
                  <a:t>，它们都允许侧向滑动，导致机器人的底盘不存在速度约束。</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机器人学中，描述移动机器人的路径空间的时候，定义了一个“完整机器人”这样的一个概念。所谓“完整机器人”，指的是没有非完整运动学约束的机器人，反之，一个非完整机器人具有一个或多个非完整运动学约束。</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完整的运动学约束可以被表示为只是位置变量的显函数。例如，只有一个固定标准轮的移动机器人，运动学约束可以只用</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完整表达，这种约束不能用这些变量的微分，诸如</a:t>
                </a:r>
                <a:r>
                  <a:rPr lang="en-US" altLang="zh-CN" sz="1200" i="0" kern="1200">
                    <a:solidFill>
                      <a:schemeClr val="tx1"/>
                    </a:solidFill>
                    <a:effectLst/>
                    <a:latin typeface="+mn-lt"/>
                    <a:ea typeface="+mn-ea"/>
                    <a:cs typeface="+mn-cs"/>
                  </a:rPr>
                  <a:t>φ</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a:t>
                </a:r>
                <a:r>
                  <a:rPr lang="en-US" altLang="zh-CN" sz="1200" i="0" kern="1200">
                    <a:solidFill>
                      <a:schemeClr val="tx1"/>
                    </a:solidFill>
                    <a:effectLst/>
                    <a:latin typeface="+mn-lt"/>
                    <a:ea typeface="+mn-ea"/>
                    <a:cs typeface="+mn-cs"/>
                  </a:rPr>
                  <a:t>ξ</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。而非完整运动学约束需要微分关系，例如位置变量的微分，而且不能只根据位置变量积分就可以提供约束，也就是说非完整系统通常是非可积的。</a:t>
                </a:r>
              </a:p>
              <a:p>
                <a:r>
                  <a:rPr lang="zh-CN" altLang="zh-CN" sz="1200" kern="1200" dirty="0">
                    <a:solidFill>
                      <a:schemeClr val="tx1"/>
                    </a:solidFill>
                    <a:effectLst/>
                    <a:latin typeface="+mn-lt"/>
                    <a:ea typeface="+mn-ea"/>
                    <a:cs typeface="+mn-cs"/>
                  </a:rPr>
                  <a:t>完整约束和非完整约束的区别在于：当系统受完整约束时，机器人只能在其位形空间的某一光滑流形上运动，可达空间为位形空间的一个子集，并且当系统受到</a:t>
                </a:r>
                <a:r>
                  <a:rPr lang="en-US" altLang="zh-CN" sz="1200" i="0" kern="1200">
                    <a:solidFill>
                      <a:schemeClr val="tx1"/>
                    </a:solidFill>
                    <a:effectLst/>
                    <a:latin typeface="+mn-lt"/>
                    <a:ea typeface="+mn-ea"/>
                    <a:cs typeface="+mn-cs"/>
                  </a:rPr>
                  <a:t>𝐾</a:t>
                </a:r>
                <a:r>
                  <a:rPr lang="zh-CN" altLang="zh-CN" sz="1200" kern="1200" dirty="0">
                    <a:solidFill>
                      <a:schemeClr val="tx1"/>
                    </a:solidFill>
                    <a:effectLst/>
                    <a:latin typeface="+mn-lt"/>
                    <a:ea typeface="+mn-ea"/>
                    <a:cs typeface="+mn-cs"/>
                  </a:rPr>
                  <a:t>个完整约束时，机器人被限制在</a:t>
                </a:r>
                <a:r>
                  <a:rPr lang="en-US" altLang="zh-CN" sz="1200" i="0" kern="1200">
                    <a:solidFill>
                      <a:schemeClr val="tx1"/>
                    </a:solidFill>
                    <a:effectLst/>
                    <a:latin typeface="+mn-lt"/>
                    <a:ea typeface="+mn-ea"/>
                    <a:cs typeface="+mn-cs"/>
                  </a:rPr>
                  <a:t>(𝑛−𝑘)</a:t>
                </a:r>
                <a:r>
                  <a:rPr lang="zh-CN" altLang="zh-CN" sz="1200" kern="1200" dirty="0">
                    <a:solidFill>
                      <a:schemeClr val="tx1"/>
                    </a:solidFill>
                    <a:effectLst/>
                    <a:latin typeface="+mn-lt"/>
                    <a:ea typeface="+mn-ea"/>
                    <a:cs typeface="+mn-cs"/>
                  </a:rPr>
                  <a:t>维流形上，可通过适当的坐标变换，采用</a:t>
                </a:r>
                <a:r>
                  <a:rPr lang="en-US" altLang="zh-CN" sz="1200" i="0" kern="1200">
                    <a:solidFill>
                      <a:schemeClr val="tx1"/>
                    </a:solidFill>
                    <a:effectLst/>
                    <a:latin typeface="+mn-lt"/>
                    <a:ea typeface="+mn-ea"/>
                    <a:cs typeface="+mn-cs"/>
                  </a:rPr>
                  <a:t>(𝑛−𝑘)</a:t>
                </a:r>
                <a:r>
                  <a:rPr lang="zh-CN" altLang="zh-CN" sz="1200" kern="1200" dirty="0">
                    <a:solidFill>
                      <a:schemeClr val="tx1"/>
                    </a:solidFill>
                    <a:effectLst/>
                    <a:latin typeface="+mn-lt"/>
                    <a:ea typeface="+mn-ea"/>
                    <a:cs typeface="+mn-cs"/>
                  </a:rPr>
                  <a:t>个广义坐标完全描述。如果机器人受非完整约束时，由于其不可积性，无法约束其运动位形，而只能将其瞬时速度限制在</a:t>
                </a:r>
                <a:r>
                  <a:rPr lang="en-US" altLang="zh-CN" sz="1200" i="0" kern="1200">
                    <a:solidFill>
                      <a:schemeClr val="tx1"/>
                    </a:solidFill>
                    <a:effectLst/>
                    <a:latin typeface="+mn-lt"/>
                    <a:ea typeface="+mn-ea"/>
                    <a:cs typeface="+mn-cs"/>
                  </a:rPr>
                  <a:t>(𝑛−𝑘)</a:t>
                </a:r>
                <a:r>
                  <a:rPr lang="zh-CN" altLang="zh-CN" sz="1200" kern="1200" dirty="0">
                    <a:solidFill>
                      <a:schemeClr val="tx1"/>
                    </a:solidFill>
                    <a:effectLst/>
                    <a:latin typeface="+mn-lt"/>
                    <a:ea typeface="+mn-ea"/>
                    <a:cs typeface="+mn-cs"/>
                  </a:rPr>
                  <a:t>维子空间中，即非完整约束使系统的运动自由度减少，但描述系统的独立广义坐标的自由度并未减少。</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29</a:t>
            </a:fld>
            <a:endParaRPr lang="zh-CN" altLang="en-US"/>
          </a:p>
        </p:txBody>
      </p:sp>
    </p:spTree>
    <p:extLst>
      <p:ext uri="{BB962C8B-B14F-4D97-AF65-F5344CB8AC3E}">
        <p14:creationId xmlns:p14="http://schemas.microsoft.com/office/powerpoint/2010/main" val="1127838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在前面已经讨论过麦克纳姆轮的运动约束，</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表示为主轮平面与辊子旋转轴之间的夹角。对于全向轮，</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r>
                      <a:rPr lang="en-US" altLang="zh-CN" sz="1200"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；对于麦克纳姆轮，通常</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r>
                      <a:rPr lang="en-US" altLang="zh-CN" sz="1200" kern="1200">
                        <a:solidFill>
                          <a:schemeClr val="tx1"/>
                        </a:solidFill>
                        <a:effectLst/>
                        <a:latin typeface="Cambria Math" panose="02040503050406030204" pitchFamily="18" charset="0"/>
                        <a:ea typeface="+mn-ea"/>
                        <a:cs typeface="+mn-cs"/>
                      </a:rPr>
                      <m:t>=±45°</m:t>
                    </m:r>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3.65</a:t>
                </a:r>
                <a:r>
                  <a:rPr lang="zh-CN" altLang="zh-CN" sz="1200" kern="1200" dirty="0">
                    <a:solidFill>
                      <a:schemeClr val="tx1"/>
                    </a:solidFill>
                    <a:effectLst/>
                    <a:latin typeface="+mn-lt"/>
                    <a:ea typeface="+mn-ea"/>
                    <a:cs typeface="+mn-cs"/>
                  </a:rPr>
                  <a:t>，针对主轮中心坐标系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𝑋</m:t>
                                </m:r>
                              </m:e>
                            </m:acc>
                          </m:e>
                          <m:sub>
                            <m:r>
                              <a:rPr lang="en-US" altLang="zh-CN" sz="1200" i="1" kern="1200">
                                <a:solidFill>
                                  <a:schemeClr val="tx1"/>
                                </a:solidFill>
                                <a:effectLst/>
                                <a:latin typeface="Cambria Math" panose="02040503050406030204" pitchFamily="18" charset="0"/>
                                <a:ea typeface="+mn-ea"/>
                                <a:cs typeface="+mn-cs"/>
                              </a:rPr>
                              <m:t>𝑤</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𝑌</m:t>
                                </m:r>
                              </m:e>
                            </m:acc>
                          </m:e>
                          <m:sub>
                            <m:r>
                              <a:rPr lang="en-US" altLang="zh-CN" sz="1200" i="1" kern="1200">
                                <a:solidFill>
                                  <a:schemeClr val="tx1"/>
                                </a:solidFill>
                                <a:effectLst/>
                                <a:latin typeface="Cambria Math" panose="02040503050406030204" pitchFamily="18" charset="0"/>
                                <a:ea typeface="+mn-ea"/>
                                <a:cs typeface="+mn-cs"/>
                              </a:rPr>
                              <m:t>𝑤</m:t>
                            </m:r>
                          </m:sub>
                        </m:sSub>
                      </m:e>
                    </m:d>
                  </m:oMath>
                </a14:m>
                <a:r>
                  <a:rPr lang="zh-CN" altLang="zh-CN" sz="1200" kern="1200" dirty="0">
                    <a:solidFill>
                      <a:schemeClr val="tx1"/>
                    </a:solidFill>
                    <a:effectLst/>
                    <a:latin typeface="+mn-lt"/>
                    <a:ea typeface="+mn-ea"/>
                    <a:cs typeface="+mn-cs"/>
                  </a:rPr>
                  <a:t>，轮子中心线速度可表示为：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𝑉</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𝑥</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𝑦</m:t>
                                  </m:r>
                                </m:sub>
                              </m:sSub>
                            </m:e>
                          </m:mr>
                        </m:m>
                      </m:e>
                    </m:d>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𝑑</m:t>
                        </m:r>
                      </m:sub>
                    </m:sSub>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mr>
                        </m:m>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𝑠</m:t>
                        </m:r>
                      </m:sub>
                    </m:sSub>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𝛾</m:t>
                              </m:r>
                            </m:e>
                          </m:m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𝛾</m:t>
                              </m:r>
                            </m:e>
                          </m:mr>
                        </m:m>
                      </m:e>
                    </m:d>
                  </m:oMath>
                </a14:m>
                <a:r>
                  <a:rPr lang="en-US" altLang="zh-CN" sz="1200" kern="1200" dirty="0">
                    <a:solidFill>
                      <a:schemeClr val="tx1"/>
                    </a:solidFill>
                    <a:effectLst/>
                    <a:latin typeface="+mn-lt"/>
                    <a:ea typeface="+mn-ea"/>
                    <a:cs typeface="+mn-cs"/>
                  </a:rPr>
                  <a:t> (3-144)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𝑑</m:t>
                        </m:r>
                      </m:sub>
                    </m:sSub>
                  </m:oMath>
                </a14:m>
                <a:r>
                  <a:rPr lang="zh-CN" altLang="zh-CN" sz="1200" kern="1200" dirty="0">
                    <a:solidFill>
                      <a:schemeClr val="tx1"/>
                    </a:solidFill>
                    <a:effectLst/>
                    <a:latin typeface="+mn-lt"/>
                    <a:ea typeface="+mn-ea"/>
                    <a:cs typeface="+mn-cs"/>
                  </a:rPr>
                  <a:t>表示驱动速度，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表示滑动速度</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由式（</a:t>
                </a:r>
                <a:r>
                  <a:rPr lang="en-US" altLang="zh-CN" sz="1200" kern="1200" dirty="0">
                    <a:solidFill>
                      <a:schemeClr val="tx1"/>
                    </a:solidFill>
                    <a:effectLst/>
                    <a:latin typeface="+mn-lt"/>
                    <a:ea typeface="+mn-ea"/>
                    <a:cs typeface="+mn-cs"/>
                  </a:rPr>
                  <a:t>3-144</a:t>
                </a:r>
                <a:r>
                  <a:rPr lang="zh-CN" altLang="zh-CN" sz="1200" kern="1200" dirty="0">
                    <a:solidFill>
                      <a:schemeClr val="tx1"/>
                    </a:solidFill>
                    <a:effectLst/>
                    <a:latin typeface="+mn-lt"/>
                    <a:ea typeface="+mn-ea"/>
                    <a:cs typeface="+mn-cs"/>
                  </a:rPr>
                  <a:t>）可得：</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𝑑</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𝑡𝑎𝑛</m:t>
                      </m:r>
                      <m:r>
                        <a:rPr lang="en-US" altLang="zh-CN" sz="1200" i="1" kern="1200">
                          <a:solidFill>
                            <a:schemeClr val="tx1"/>
                          </a:solidFill>
                          <a:effectLst/>
                          <a:latin typeface="Cambria Math" panose="02040503050406030204" pitchFamily="18" charset="0"/>
                          <a:ea typeface="+mn-ea"/>
                          <a:cs typeface="+mn-cs"/>
                        </a:rPr>
                        <m:t>𝛾</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𝑠</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𝛾</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如果轮子的半径为</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，那么轮子的驱动角速度可表示为：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𝑢</m:t>
                    </m:r>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𝑑</m:t>
                            </m:r>
                          </m:sub>
                        </m:sSub>
                      </m:num>
                      <m:den>
                        <m:r>
                          <a:rPr lang="en-US" altLang="zh-CN" sz="1200" i="1" kern="1200">
                            <a:solidFill>
                              <a:schemeClr val="tx1"/>
                            </a:solidFill>
                            <a:effectLst/>
                            <a:latin typeface="Cambria Math" panose="02040503050406030204" pitchFamily="18" charset="0"/>
                            <a:ea typeface="+mn-ea"/>
                            <a:cs typeface="+mn-cs"/>
                          </a:rPr>
                          <m:t>𝑟</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𝑟</m:t>
                        </m:r>
                      </m:den>
                    </m:f>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𝑡𝑎𝑛</m:t>
                        </m:r>
                        <m:r>
                          <a:rPr lang="en-US" altLang="zh-CN" sz="1200" i="1" kern="1200">
                            <a:solidFill>
                              <a:schemeClr val="tx1"/>
                            </a:solidFill>
                            <a:effectLst/>
                            <a:latin typeface="Cambria Math" panose="02040503050406030204" pitchFamily="18" charset="0"/>
                            <a:ea typeface="+mn-ea"/>
                            <a:cs typeface="+mn-cs"/>
                          </a:rPr>
                          <m:t>𝛾</m:t>
                        </m:r>
                      </m:e>
                    </m:d>
                  </m:oMath>
                </a14:m>
                <a:r>
                  <a:rPr lang="en-US" altLang="zh-CN" sz="1200" i="1"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(3-145)</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在前面已经讨论过麦克纳姆轮的运动约束，</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表示为主轮平面与辊子旋转轴之间的夹角。对于全向轮，</a:t>
                </a:r>
                <a:r>
                  <a:rPr lang="en-US" altLang="zh-CN" sz="1200" i="0" kern="1200">
                    <a:solidFill>
                      <a:schemeClr val="tx1"/>
                    </a:solidFill>
                    <a:effectLst/>
                    <a:latin typeface="+mn-lt"/>
                    <a:ea typeface="+mn-ea"/>
                    <a:cs typeface="+mn-cs"/>
                  </a:rPr>
                  <a:t>𝛾=0</a:t>
                </a:r>
                <a:r>
                  <a:rPr lang="zh-CN" altLang="zh-CN" sz="1200" kern="1200" dirty="0">
                    <a:solidFill>
                      <a:schemeClr val="tx1"/>
                    </a:solidFill>
                    <a:effectLst/>
                    <a:latin typeface="+mn-lt"/>
                    <a:ea typeface="+mn-ea"/>
                    <a:cs typeface="+mn-cs"/>
                  </a:rPr>
                  <a:t>；对于麦克纳姆轮，通常</a:t>
                </a:r>
                <a:r>
                  <a:rPr lang="en-US" altLang="zh-CN" sz="1200" i="0" kern="1200">
                    <a:solidFill>
                      <a:schemeClr val="tx1"/>
                    </a:solidFill>
                    <a:effectLst/>
                    <a:latin typeface="+mn-lt"/>
                    <a:ea typeface="+mn-ea"/>
                    <a:cs typeface="+mn-cs"/>
                  </a:rPr>
                  <a:t>𝛾=±45°</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3.65</a:t>
                </a:r>
                <a:r>
                  <a:rPr lang="zh-CN" altLang="zh-CN" sz="1200" kern="1200" dirty="0">
                    <a:solidFill>
                      <a:schemeClr val="tx1"/>
                    </a:solidFill>
                    <a:effectLst/>
                    <a:latin typeface="+mn-lt"/>
                    <a:ea typeface="+mn-ea"/>
                    <a:cs typeface="+mn-cs"/>
                  </a:rPr>
                  <a:t>，针对主轮中心坐标系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𝑤−𝑌</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𝑤 }</a:t>
                </a:r>
                <a:r>
                  <a:rPr lang="zh-CN" altLang="zh-CN" sz="1200" kern="1200" dirty="0">
                    <a:solidFill>
                      <a:schemeClr val="tx1"/>
                    </a:solidFill>
                    <a:effectLst/>
                    <a:latin typeface="+mn-lt"/>
                    <a:ea typeface="+mn-ea"/>
                    <a:cs typeface="+mn-cs"/>
                  </a:rPr>
                  <a:t>，轮子中心线速度可表示为：</a:t>
                </a:r>
              </a:p>
              <a:p>
                <a:r>
                  <a:rPr lang="en-US" altLang="zh-CN" sz="1200" i="0" kern="1200">
                    <a:solidFill>
                      <a:schemeClr val="tx1"/>
                    </a:solidFill>
                    <a:effectLst/>
                    <a:latin typeface="+mn-lt"/>
                    <a:ea typeface="+mn-ea"/>
                    <a:cs typeface="+mn-cs"/>
                  </a:rPr>
                  <a:t>𝑉=</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1@0)]+𝑣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−𝑠𝑖𝑛𝛾@𝑐𝑜𝑠𝛾)]</a:t>
                </a:r>
                <a:r>
                  <a:rPr lang="en-US" altLang="zh-CN" sz="1200" kern="1200" dirty="0">
                    <a:solidFill>
                      <a:schemeClr val="tx1"/>
                    </a:solidFill>
                    <a:effectLst/>
                    <a:latin typeface="+mn-lt"/>
                    <a:ea typeface="+mn-ea"/>
                    <a:cs typeface="+mn-cs"/>
                  </a:rPr>
                  <a:t> (3-144)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𝑑</a:t>
                </a:r>
                <a:r>
                  <a:rPr lang="zh-CN" altLang="zh-CN" sz="1200" kern="1200" dirty="0">
                    <a:solidFill>
                      <a:schemeClr val="tx1"/>
                    </a:solidFill>
                    <a:effectLst/>
                    <a:latin typeface="+mn-lt"/>
                    <a:ea typeface="+mn-ea"/>
                    <a:cs typeface="+mn-cs"/>
                  </a:rPr>
                  <a:t>表示驱动速度，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表示滑动速度</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由式（</a:t>
                </a:r>
                <a:r>
                  <a:rPr lang="en-US" altLang="zh-CN" sz="1200" kern="1200" dirty="0">
                    <a:solidFill>
                      <a:schemeClr val="tx1"/>
                    </a:solidFill>
                    <a:effectLst/>
                    <a:latin typeface="+mn-lt"/>
                    <a:ea typeface="+mn-ea"/>
                    <a:cs typeface="+mn-cs"/>
                  </a:rPr>
                  <a:t>3-144</a:t>
                </a:r>
                <a:r>
                  <a:rPr lang="zh-CN" altLang="zh-CN" sz="1200" kern="1200" dirty="0">
                    <a:solidFill>
                      <a:schemeClr val="tx1"/>
                    </a:solidFill>
                    <a:effectLst/>
                    <a:latin typeface="+mn-lt"/>
                    <a:ea typeface="+mn-ea"/>
                    <a:cs typeface="+mn-cs"/>
                  </a:rPr>
                  <a:t>）可得：</a:t>
                </a:r>
              </a:p>
              <a:p>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𝑑=𝑣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𝑡𝑎𝑛𝛾</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𝑦/𝑐𝑜𝑠𝛾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如果轮子的半径为</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，那么轮子的驱动角速度可表示为：</a:t>
                </a:r>
              </a:p>
              <a:p>
                <a:r>
                  <a:rPr lang="en-US" altLang="zh-CN" sz="1200" i="0" kern="1200">
                    <a:solidFill>
                      <a:schemeClr val="tx1"/>
                    </a:solidFill>
                    <a:effectLst/>
                    <a:latin typeface="+mn-lt"/>
                    <a:ea typeface="+mn-ea"/>
                    <a:cs typeface="+mn-cs"/>
                  </a:rPr>
                  <a:t>𝑢=𝑣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𝑡𝑎𝑛𝛾)</a:t>
                </a:r>
                <a:r>
                  <a:rPr lang="en-US" altLang="zh-CN" sz="1200" i="1"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(3-145)</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30</a:t>
            </a:fld>
            <a:endParaRPr lang="zh-CN" altLang="en-US"/>
          </a:p>
        </p:txBody>
      </p:sp>
    </p:spTree>
    <p:extLst>
      <p:ext uri="{BB962C8B-B14F-4D97-AF65-F5344CB8AC3E}">
        <p14:creationId xmlns:p14="http://schemas.microsoft.com/office/powerpoint/2010/main" val="2507376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3.66</a:t>
                </a:r>
                <a:r>
                  <a:rPr lang="zh-CN" altLang="zh-CN" sz="1200" kern="1200" dirty="0">
                    <a:solidFill>
                      <a:schemeClr val="tx1"/>
                    </a:solidFill>
                    <a:effectLst/>
                    <a:latin typeface="+mn-lt"/>
                    <a:ea typeface="+mn-ea"/>
                    <a:cs typeface="+mn-cs"/>
                  </a:rPr>
                  <a:t>所示为由全向轮或麦克纳姆轮组成的轮式移动机器人的两种典型结构。在轮式移动机器人运动学基础模型中讨论过，无论是哪种结构，轮式移动机器人的底盘速度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r>
                      <a:rPr lang="en-US" altLang="zh-CN" sz="1200"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kern="1200">
                                <a:solidFill>
                                  <a:schemeClr val="tx1"/>
                                </a:solidFill>
                                <a:effectLst/>
                                <a:latin typeface="Cambria Math" panose="02040503050406030204" pitchFamily="18" charset="0"/>
                                <a:ea typeface="+mn-ea"/>
                                <a:cs typeface="+mn-cs"/>
                              </a:rPr>
                              <m:t>∅</m:t>
                            </m:r>
                          </m:e>
                        </m:acc>
                        <m:r>
                          <a:rPr lang="en-US" altLang="zh-CN" sz="1200"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r>
                          <a:rPr lang="en-US" altLang="zh-CN" sz="1200"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d>
                  </m:oMath>
                </a14:m>
                <a:r>
                  <a:rPr lang="zh-CN" altLang="zh-CN" sz="1200" kern="1200" dirty="0">
                    <a:solidFill>
                      <a:schemeClr val="tx1"/>
                    </a:solidFill>
                    <a:effectLst/>
                    <a:latin typeface="+mn-lt"/>
                    <a:ea typeface="+mn-ea"/>
                    <a:cs typeface="+mn-cs"/>
                  </a:rPr>
                  <a:t>由组成机器人的所有轮子</a:t>
                </a:r>
                <a:r>
                  <a:rPr lang="en-US" altLang="zh-CN" sz="1200" i="1"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的驱动角速度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合成。参考图</a:t>
                </a:r>
                <a:r>
                  <a:rPr lang="en-US" altLang="zh-CN" sz="1200" kern="1200" dirty="0">
                    <a:solidFill>
                      <a:schemeClr val="tx1"/>
                    </a:solidFill>
                    <a:effectLst/>
                    <a:latin typeface="+mn-lt"/>
                    <a:ea typeface="+mn-ea"/>
                    <a:cs typeface="+mn-cs"/>
                  </a:rPr>
                  <a:t>3.67</a:t>
                </a:r>
                <a:r>
                  <a:rPr lang="zh-CN" altLang="zh-CN" sz="1200" kern="1200" dirty="0">
                    <a:solidFill>
                      <a:schemeClr val="tx1"/>
                    </a:solidFill>
                    <a:effectLst/>
                    <a:latin typeface="+mn-lt"/>
                    <a:ea typeface="+mn-ea"/>
                    <a:cs typeface="+mn-cs"/>
                  </a:rPr>
                  <a:t>，建立两个坐标系，全局坐标系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𝑠</m:t>
                        </m:r>
                      </m:e>
                    </m:d>
                  </m:oMath>
                </a14:m>
                <a:r>
                  <a:rPr lang="zh-CN" altLang="zh-CN" sz="1200" kern="1200" dirty="0">
                    <a:solidFill>
                      <a:schemeClr val="tx1"/>
                    </a:solidFill>
                    <a:effectLst/>
                    <a:latin typeface="+mn-lt"/>
                    <a:ea typeface="+mn-ea"/>
                    <a:cs typeface="+mn-cs"/>
                  </a:rPr>
                  <a:t>以及底盘坐标系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。那么在坐标系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中的机器人位形可以表达为：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r>
                      <a:rPr lang="en-US" altLang="zh-CN" sz="1200"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𝑥</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d>
                  </m:oMath>
                </a14:m>
                <a:r>
                  <a:rPr lang="zh-CN" altLang="zh-CN" sz="1200" kern="1200" dirty="0">
                    <a:solidFill>
                      <a:schemeClr val="tx1"/>
                    </a:solidFill>
                    <a:effectLst/>
                    <a:latin typeface="+mn-lt"/>
                    <a:ea typeface="+mn-ea"/>
                    <a:cs typeface="+mn-cs"/>
                  </a:rPr>
                  <a:t>，单个</a:t>
                </a:r>
                <a:r>
                  <a:rPr lang="zh-CN" altLang="zh-CN" sz="1200" kern="1200" dirty="0" smtClean="0">
                    <a:solidFill>
                      <a:schemeClr val="tx1"/>
                    </a:solidFill>
                    <a:effectLst/>
                    <a:latin typeface="+mn-lt"/>
                    <a:ea typeface="+mn-ea"/>
                    <a:cs typeface="+mn-cs"/>
                  </a:rPr>
                  <a:t>轮子在</a:t>
                </a:r>
                <a:r>
                  <a:rPr lang="zh-CN" altLang="zh-CN" sz="1200" kern="1200" dirty="0">
                    <a:solidFill>
                      <a:schemeClr val="tx1"/>
                    </a:solidFill>
                    <a:effectLst/>
                    <a:latin typeface="+mn-lt"/>
                    <a:ea typeface="+mn-ea"/>
                    <a:cs typeface="+mn-cs"/>
                  </a:rPr>
                  <a:t>底盘坐标系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中位形可表示为：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𝑖</m:t>
                            </m:r>
                          </m:sub>
                        </m:sSub>
                      </m:e>
                    </m:d>
                  </m:oMath>
                </a14:m>
                <a:r>
                  <a:rPr lang="zh-CN" altLang="zh-CN" sz="1200" kern="1200" dirty="0">
                    <a:solidFill>
                      <a:schemeClr val="tx1"/>
                    </a:solidFill>
                    <a:effectLst/>
                    <a:latin typeface="+mn-lt"/>
                    <a:ea typeface="+mn-ea"/>
                    <a:cs typeface="+mn-cs"/>
                  </a:rPr>
                  <a:t>。轮子</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的半径为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，其滑动方向由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给出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根据图</a:t>
                </a:r>
                <a:r>
                  <a:rPr lang="en-US" altLang="zh-CN" sz="1200" kern="1200" dirty="0">
                    <a:solidFill>
                      <a:schemeClr val="tx1"/>
                    </a:solidFill>
                    <a:effectLst/>
                    <a:latin typeface="+mn-lt"/>
                    <a:ea typeface="+mn-ea"/>
                    <a:cs typeface="+mn-cs"/>
                  </a:rPr>
                  <a:t>3.67</a:t>
                </a:r>
                <a:r>
                  <a:rPr lang="zh-CN" altLang="zh-CN" sz="1200" kern="1200" dirty="0">
                    <a:solidFill>
                      <a:schemeClr val="tx1"/>
                    </a:solidFill>
                    <a:effectLst/>
                    <a:latin typeface="+mn-lt"/>
                    <a:ea typeface="+mn-ea"/>
                    <a:cs typeface="+mn-cs"/>
                  </a:rPr>
                  <a:t>，可以得到全局坐标系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𝑠</m:t>
                        </m:r>
                      </m:e>
                    </m:d>
                  </m:oMath>
                </a14:m>
                <a:r>
                  <a:rPr lang="zh-CN" altLang="zh-CN" sz="1200" kern="1200" dirty="0">
                    <a:solidFill>
                      <a:schemeClr val="tx1"/>
                    </a:solidFill>
                    <a:effectLst/>
                    <a:latin typeface="+mn-lt"/>
                    <a:ea typeface="+mn-ea"/>
                    <a:cs typeface="+mn-cs"/>
                  </a:rPr>
                  <a:t>下的底盘速度到底盘坐标系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的转换矩阵为：</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进一步将其转换为底盘坐标系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下的线速度，转换矩阵为：</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kern="1200">
                                    <a:solidFill>
                                      <a:schemeClr val="tx1"/>
                                    </a:solidFill>
                                    <a:effectLst/>
                                    <a:latin typeface="Cambria Math" panose="02040503050406030204" pitchFamily="18" charset="0"/>
                                    <a:ea typeface="+mn-ea"/>
                                    <a:cs typeface="+mn-cs"/>
                                  </a:rPr>
                                  <m:t>1</m:t>
                                </m:r>
                              </m:e>
                              <m:e>
                                <m:r>
                                  <a:rPr lang="en-US" altLang="zh-CN" sz="1200" kern="1200">
                                    <a:solidFill>
                                      <a:schemeClr val="tx1"/>
                                    </a:solidFill>
                                    <a:effectLst/>
                                    <a:latin typeface="Cambria Math" panose="02040503050406030204" pitchFamily="18" charset="0"/>
                                    <a:ea typeface="+mn-ea"/>
                                    <a:cs typeface="+mn-cs"/>
                                  </a:rPr>
                                  <m:t>0</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kern="1200">
                                    <a:solidFill>
                                      <a:schemeClr val="tx1"/>
                                    </a:solidFill>
                                    <a:effectLst/>
                                    <a:latin typeface="Cambria Math" panose="02040503050406030204" pitchFamily="18" charset="0"/>
                                    <a:ea typeface="+mn-ea"/>
                                    <a:cs typeface="+mn-cs"/>
                                  </a:rPr>
                                  <m:t>0</m:t>
                                </m:r>
                              </m:e>
                              <m:e>
                                <m:r>
                                  <a:rPr lang="en-US" altLang="zh-CN" sz="1200" kern="1200">
                                    <a:solidFill>
                                      <a:schemeClr val="tx1"/>
                                    </a:solidFill>
                                    <a:effectLst/>
                                    <a:latin typeface="Cambria Math" panose="02040503050406030204" pitchFamily="18" charset="0"/>
                                    <a:ea typeface="+mn-ea"/>
                                    <a:cs typeface="+mn-cs"/>
                                  </a:rPr>
                                  <m:t>1</m:t>
                                </m:r>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再进一步，可将该线速度转换到轮子坐标系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𝑋</m:t>
                                </m:r>
                              </m:e>
                            </m:acc>
                          </m:e>
                          <m:sub>
                            <m:r>
                              <a:rPr lang="en-US" altLang="zh-CN" sz="1200" i="1" kern="1200">
                                <a:solidFill>
                                  <a:schemeClr val="tx1"/>
                                </a:solidFill>
                                <a:effectLst/>
                                <a:latin typeface="Cambria Math" panose="02040503050406030204" pitchFamily="18" charset="0"/>
                                <a:ea typeface="+mn-ea"/>
                                <a:cs typeface="+mn-cs"/>
                              </a:rPr>
                              <m:t>𝑤</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𝑌</m:t>
                                </m:r>
                              </m:e>
                            </m:acc>
                          </m:e>
                          <m:sub>
                            <m:r>
                              <a:rPr lang="en-US" altLang="zh-CN" sz="1200" i="1" kern="1200">
                                <a:solidFill>
                                  <a:schemeClr val="tx1"/>
                                </a:solidFill>
                                <a:effectLst/>
                                <a:latin typeface="Cambria Math" panose="02040503050406030204" pitchFamily="18" charset="0"/>
                                <a:ea typeface="+mn-ea"/>
                                <a:cs typeface="+mn-cs"/>
                              </a:rPr>
                              <m:t>𝑤</m:t>
                            </m:r>
                          </m:sub>
                        </m:sSub>
                      </m:e>
                    </m:d>
                  </m:oMath>
                </a14:m>
                <a:r>
                  <a:rPr lang="zh-CN" altLang="zh-CN" sz="1200" kern="1200" dirty="0">
                    <a:solidFill>
                      <a:schemeClr val="tx1"/>
                    </a:solidFill>
                    <a:effectLst/>
                    <a:latin typeface="+mn-lt"/>
                    <a:ea typeface="+mn-ea"/>
                    <a:cs typeface="+mn-cs"/>
                  </a:rPr>
                  <a:t>中，转换矩阵为：</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最后由式（</a:t>
                </a:r>
                <a:r>
                  <a:rPr lang="en-US" altLang="zh-CN" sz="1200" kern="1200" dirty="0">
                    <a:solidFill>
                      <a:schemeClr val="tx1"/>
                    </a:solidFill>
                    <a:effectLst/>
                    <a:latin typeface="+mn-lt"/>
                    <a:ea typeface="+mn-ea"/>
                    <a:cs typeface="+mn-cs"/>
                  </a:rPr>
                  <a:t>3-145</a:t>
                </a:r>
                <a:r>
                  <a:rPr lang="zh-CN" altLang="zh-CN" sz="1200" kern="1200" dirty="0">
                    <a:solidFill>
                      <a:schemeClr val="tx1"/>
                    </a:solidFill>
                    <a:effectLst/>
                    <a:latin typeface="+mn-lt"/>
                    <a:ea typeface="+mn-ea"/>
                    <a:cs typeface="+mn-cs"/>
                  </a:rPr>
                  <a:t>）可以求出轮子的驱动角速度，转换矩阵为：</a:t>
                </a:r>
              </a:p>
              <a:p>
                <a:pPr/>
                <a14:m>
                  <m:oMathPara xmlns:m="http://schemas.openxmlformats.org/officeDocument/2006/math">
                    <m:oMathParaPr>
                      <m:jc m:val="centerGroup"/>
                    </m:oMathParaPr>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den>
                                </m:f>
                              </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𝑡𝑎𝑛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den>
                                </m:f>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经过以上系列转换后，即可由全局坐标系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𝑠</m:t>
                        </m:r>
                      </m:e>
                    </m:d>
                  </m:oMath>
                </a14:m>
                <a:r>
                  <a:rPr lang="zh-CN" altLang="zh-CN" sz="1200" kern="1200" dirty="0">
                    <a:solidFill>
                      <a:schemeClr val="tx1"/>
                    </a:solidFill>
                    <a:effectLst/>
                    <a:latin typeface="+mn-lt"/>
                    <a:ea typeface="+mn-ea"/>
                    <a:cs typeface="+mn-cs"/>
                  </a:rPr>
                  <a:t>下的底盘速度推导出轮子的驱动角速度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den>
                                  </m:f>
                                </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𝑡𝑎𝑛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den>
                                  </m:f>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kern="1200">
                                      <a:solidFill>
                                        <a:schemeClr val="tx1"/>
                                      </a:solidFill>
                                      <a:effectLst/>
                                      <a:latin typeface="Cambria Math" panose="02040503050406030204" pitchFamily="18" charset="0"/>
                                      <a:ea typeface="+mn-ea"/>
                                      <a:cs typeface="+mn-cs"/>
                                    </a:rPr>
                                    <m:t>1</m:t>
                                  </m:r>
                                </m:e>
                                <m:e>
                                  <m:r>
                                    <a:rPr lang="en-US" altLang="zh-CN" sz="1200" kern="1200">
                                      <a:solidFill>
                                        <a:schemeClr val="tx1"/>
                                      </a:solidFill>
                                      <a:effectLst/>
                                      <a:latin typeface="Cambria Math" panose="02040503050406030204" pitchFamily="18" charset="0"/>
                                      <a:ea typeface="+mn-ea"/>
                                      <a:cs typeface="+mn-cs"/>
                                    </a:rPr>
                                    <m:t>0</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kern="1200">
                                      <a:solidFill>
                                        <a:schemeClr val="tx1"/>
                                      </a:solidFill>
                                      <a:effectLst/>
                                      <a:latin typeface="Cambria Math" panose="02040503050406030204" pitchFamily="18" charset="0"/>
                                      <a:ea typeface="+mn-ea"/>
                                      <a:cs typeface="+mn-cs"/>
                                    </a:rPr>
                                    <m:t>0</m:t>
                                  </m:r>
                                </m:e>
                                <m:e>
                                  <m:r>
                                    <a:rPr lang="en-US" altLang="zh-CN" sz="1200"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kern="1200">
                                      <a:solidFill>
                                        <a:schemeClr val="tx1"/>
                                      </a:solidFill>
                                      <a:effectLst/>
                                      <a:latin typeface="Cambria Math" panose="02040503050406030204" pitchFamily="18" charset="0"/>
                                      <a:ea typeface="+mn-ea"/>
                                      <a:cs typeface="+mn-cs"/>
                                    </a:rPr>
                                    <m:t>1</m:t>
                                  </m:r>
                                </m:e>
                                <m:e>
                                  <m:r>
                                    <a:rPr lang="en-US" altLang="zh-CN" sz="1200" kern="1200">
                                      <a:solidFill>
                                        <a:schemeClr val="tx1"/>
                                      </a:solidFill>
                                      <a:effectLst/>
                                      <a:latin typeface="Cambria Math" panose="02040503050406030204" pitchFamily="18" charset="0"/>
                                      <a:ea typeface="+mn-ea"/>
                                      <a:cs typeface="+mn-cs"/>
                                    </a:rPr>
                                    <m:t>0</m:t>
                                  </m:r>
                                </m:e>
                                <m:e>
                                  <m:r>
                                    <a:rPr lang="en-US" altLang="zh-CN" sz="1200" kern="1200">
                                      <a:solidFill>
                                        <a:schemeClr val="tx1"/>
                                      </a:solidFill>
                                      <a:effectLst/>
                                      <a:latin typeface="Cambria Math" panose="02040503050406030204" pitchFamily="18" charset="0"/>
                                      <a:ea typeface="+mn-ea"/>
                                      <a:cs typeface="+mn-cs"/>
                                    </a:rPr>
                                    <m:t>0</m:t>
                                  </m:r>
                                </m:e>
                              </m:mr>
                              <m:mr>
                                <m:e>
                                  <m:r>
                                    <a:rPr lang="en-US" altLang="zh-CN" sz="1200"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𝑠𝑖𝑛</m:t>
                                  </m:r>
                                  <m:r>
                                    <a:rPr lang="en-US" altLang="zh-CN" sz="1200" kern="1200">
                                      <a:solidFill>
                                        <a:schemeClr val="tx1"/>
                                      </a:solidFill>
                                      <a:effectLst/>
                                      <a:latin typeface="Cambria Math" panose="02040503050406030204" pitchFamily="18" charset="0"/>
                                      <a:ea typeface="+mn-ea"/>
                                      <a:cs typeface="+mn-cs"/>
                                    </a:rPr>
                                    <m:t>∅</m:t>
                                  </m:r>
                                </m:e>
                              </m:mr>
                              <m:mr>
                                <m:e>
                                  <m:r>
                                    <a:rPr lang="en-US" altLang="zh-CN" sz="1200"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kern="1200">
                                      <a:solidFill>
                                        <a:schemeClr val="tx1"/>
                                      </a:solidFill>
                                      <a:effectLst/>
                                      <a:latin typeface="Cambria Math" panose="02040503050406030204" pitchFamily="18" charset="0"/>
                                      <a:ea typeface="+mn-ea"/>
                                      <a:cs typeface="+mn-cs"/>
                                    </a:rPr>
                                    <m:t>∅</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kern="1200">
                                          <a:solidFill>
                                            <a:schemeClr val="tx1"/>
                                          </a:solidFill>
                                          <a:effectLst/>
                                          <a:latin typeface="Cambria Math" panose="02040503050406030204" pitchFamily="18" charset="0"/>
                                          <a:ea typeface="+mn-ea"/>
                                          <a:cs typeface="+mn-cs"/>
                                        </a:rPr>
                                        <m:t>∅</m:t>
                                      </m:r>
                                    </m:e>
                                  </m:acc>
                                </m:e>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mr>
                            </m:m>
                          </m:e>
                        </m:d>
                      </m:e>
                      <m:sup>
                        <m:r>
                          <a:rPr lang="en-US" altLang="zh-CN" sz="1200" i="1" kern="1200">
                            <a:solidFill>
                              <a:schemeClr val="tx1"/>
                            </a:solidFill>
                            <a:effectLst/>
                            <a:latin typeface="Cambria Math" panose="02040503050406030204" pitchFamily="18" charset="0"/>
                            <a:ea typeface="+mn-ea"/>
                            <a:cs typeface="+mn-cs"/>
                          </a:rPr>
                          <m:t>𝑇</m:t>
                        </m:r>
                      </m:sup>
                    </m:sSup>
                  </m:oMath>
                </a14:m>
                <a:r>
                  <a:rPr lang="en-US" altLang="zh-CN" sz="1200" kern="1200" dirty="0">
                    <a:solidFill>
                      <a:schemeClr val="tx1"/>
                    </a:solidFill>
                    <a:effectLst/>
                    <a:latin typeface="+mn-lt"/>
                    <a:ea typeface="+mn-ea"/>
                    <a:cs typeface="+mn-cs"/>
                  </a:rPr>
                  <a:t> (3-146)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将式</a:t>
                </a:r>
                <a:r>
                  <a:rPr lang="en-US" altLang="zh-CN" sz="1200" kern="1200" dirty="0">
                    <a:solidFill>
                      <a:schemeClr val="tx1"/>
                    </a:solidFill>
                    <a:effectLst/>
                    <a:latin typeface="+mn-lt"/>
                    <a:ea typeface="+mn-ea"/>
                    <a:cs typeface="+mn-cs"/>
                  </a:rPr>
                  <a:t>(3-146)</a:t>
                </a:r>
                <a:r>
                  <a:rPr lang="zh-CN" altLang="zh-CN" sz="1200" kern="1200" dirty="0">
                    <a:solidFill>
                      <a:schemeClr val="tx1"/>
                    </a:solidFill>
                    <a:effectLst/>
                    <a:latin typeface="+mn-lt"/>
                    <a:ea typeface="+mn-ea"/>
                    <a:cs typeface="+mn-cs"/>
                  </a:rPr>
                  <a:t>表示为一个行向量右乘一个列向量</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kern="1200">
                                          <a:solidFill>
                                            <a:schemeClr val="tx1"/>
                                          </a:solidFill>
                                          <a:effectLst/>
                                          <a:latin typeface="Cambria Math" panose="02040503050406030204" pitchFamily="18" charset="0"/>
                                          <a:ea typeface="+mn-ea"/>
                                          <a:cs typeface="+mn-cs"/>
                                        </a:rPr>
                                        <m:t>∅</m:t>
                                      </m:r>
                                    </m:e>
                                  </m:acc>
                                </m:e>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mr>
                            </m:m>
                          </m:e>
                        </m:d>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的形式：</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oMath>
                </a14:m>
                <a:r>
                  <a:rPr lang="en-US" altLang="zh-CN" sz="1200" kern="1200" dirty="0">
                    <a:solidFill>
                      <a:schemeClr val="tx1"/>
                    </a:solidFill>
                    <a:effectLst/>
                    <a:latin typeface="+mn-lt"/>
                    <a:ea typeface="+mn-ea"/>
                    <a:cs typeface="+mn-cs"/>
                  </a:rPr>
                  <a:t> (3-147)</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𝑖</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m:t>
                        </m:r>
                      </m:e>
                    </m:d>
                    <m:r>
                      <a:rPr lang="en-US" altLang="zh-CN" sz="1200"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den>
                    </m:f>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𝑖</m:t>
                                      </m:r>
                                    </m:sub>
                                  </m:sSub>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e>
                                      </m:d>
                                    </m:e>
                                  </m:func>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𝑖</m:t>
                                      </m:r>
                                    </m:sub>
                                  </m:sSub>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e>
                                      </m:d>
                                    </m:e>
                                  </m:func>
                                </m:e>
                              </m:m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e>
                                      </m:d>
                                    </m:e>
                                  </m:func>
                                </m:e>
                              </m:m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𝛽</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𝛾</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e>
                                      </m:d>
                                    </m:e>
                                  </m:func>
                                </m:e>
                              </m:mr>
                            </m:m>
                          </m:e>
                        </m:d>
                      </m:e>
                      <m:sup>
                        <m:r>
                          <a:rPr lang="en-US" altLang="zh-CN" sz="1200" i="1" kern="1200">
                            <a:solidFill>
                              <a:schemeClr val="tx1"/>
                            </a:solidFill>
                            <a:effectLst/>
                            <a:latin typeface="Cambria Math" panose="02040503050406030204" pitchFamily="18" charset="0"/>
                            <a:ea typeface="+mn-ea"/>
                            <a:cs typeface="+mn-cs"/>
                          </a:rPr>
                          <m:t>𝑇</m:t>
                        </m:r>
                      </m:sup>
                    </m:sSup>
                  </m:oMath>
                </a14:m>
                <a:r>
                  <a:rPr lang="en-US" altLang="zh-CN" sz="1200" kern="1200" dirty="0">
                    <a:solidFill>
                      <a:schemeClr val="tx1"/>
                    </a:solidFill>
                    <a:effectLst/>
                    <a:latin typeface="+mn-lt"/>
                    <a:ea typeface="+mn-ea"/>
                    <a:cs typeface="+mn-cs"/>
                  </a:rPr>
                  <a:t> (3-148)</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对于全向移动机器人，其车轮数</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m</m:t>
                    </m:r>
                    <m:r>
                      <a:rPr lang="en-US" altLang="zh-CN" sz="1200"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，按照式（</a:t>
                </a:r>
                <a:r>
                  <a:rPr lang="en-US" altLang="zh-CN" sz="1200" kern="1200" dirty="0">
                    <a:solidFill>
                      <a:schemeClr val="tx1"/>
                    </a:solidFill>
                    <a:effectLst/>
                    <a:latin typeface="+mn-lt"/>
                    <a:ea typeface="+mn-ea"/>
                    <a:cs typeface="+mn-cs"/>
                  </a:rPr>
                  <a:t>3-146</a:t>
                </a:r>
                <a:r>
                  <a:rPr lang="zh-CN" altLang="zh-CN" sz="1200" kern="1200" dirty="0">
                    <a:solidFill>
                      <a:schemeClr val="tx1"/>
                    </a:solidFill>
                    <a:effectLst/>
                    <a:latin typeface="+mn-lt"/>
                    <a:ea typeface="+mn-ea"/>
                    <a:cs typeface="+mn-cs"/>
                  </a:rPr>
                  <a:t>）有</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m</m:t>
                    </m:r>
                  </m:oMath>
                </a14:m>
                <a:r>
                  <a:rPr lang="zh-CN" altLang="zh-CN" sz="1200" kern="1200" dirty="0">
                    <a:solidFill>
                      <a:schemeClr val="tx1"/>
                    </a:solidFill>
                    <a:effectLst/>
                    <a:latin typeface="+mn-lt"/>
                    <a:ea typeface="+mn-ea"/>
                    <a:cs typeface="+mn-cs"/>
                  </a:rPr>
                  <a:t>个</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可以将底盘速度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oMath>
                </a14:m>
                <a:r>
                  <a:rPr lang="zh-CN" altLang="zh-CN" sz="1200" kern="1200" dirty="0">
                    <a:solidFill>
                      <a:schemeClr val="tx1"/>
                    </a:solidFill>
                    <a:effectLst/>
                    <a:latin typeface="+mn-lt"/>
                    <a:ea typeface="+mn-ea"/>
                    <a:cs typeface="+mn-cs"/>
                  </a:rPr>
                  <a:t>映射到每个轮子的驱动角速度，由此可以得到一个全向移动机器人轮子驱动速度向量</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U</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𝑚</m:t>
                        </m:r>
                      </m:sup>
                    </m:sSup>
                  </m:oMath>
                </a14:m>
                <a:r>
                  <a:rPr lang="zh-CN" altLang="zh-CN" sz="1200" kern="1200" dirty="0">
                    <a:solidFill>
                      <a:schemeClr val="tx1"/>
                    </a:solidFill>
                    <a:effectLst/>
                    <a:latin typeface="+mn-lt"/>
                    <a:ea typeface="+mn-ea"/>
                    <a:cs typeface="+mn-cs"/>
                  </a:rPr>
                  <a:t>与底盘速度之间的联合表达式：</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𝑈</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m:t>
                        </m:r>
                      </m:e>
                    </m:d>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m:t>
                                        </m:r>
                                      </m:e>
                                    </m:d>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kern="1200">
                                            <a:solidFill>
                                              <a:schemeClr val="tx1"/>
                                            </a:solidFill>
                                            <a:effectLst/>
                                            <a:latin typeface="Cambria Math" panose="02040503050406030204" pitchFamily="18" charset="0"/>
                                            <a:ea typeface="+mn-ea"/>
                                            <a:cs typeface="+mn-cs"/>
                                          </a:rPr>
                                          <m:t>2</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m:t>
                                        </m:r>
                                      </m:e>
                                    </m:d>
                                  </m:e>
                                </m:mr>
                              </m:m>
                            </m:e>
                          </m:mr>
                          <m:mr>
                            <m:e>
                              <m:r>
                                <a:rPr lang="en-US" altLang="zh-CN" sz="1200" kern="1200">
                                  <a:solidFill>
                                    <a:schemeClr val="tx1"/>
                                  </a:solidFill>
                                  <a:effectLst/>
                                  <a:latin typeface="Cambria Math" panose="02040503050406030204" pitchFamily="18" charset="0"/>
                                  <a:ea typeface="+mn-ea"/>
                                  <a:cs typeface="+mn-cs"/>
                                </a:rPr>
                                <m:t>⋮</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m:t>
                                  </m:r>
                                </m:e>
                              </m:d>
                            </m:e>
                          </m:mr>
                        </m:m>
                      </m:e>
                    </m:d>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kern="1200">
                                          <a:solidFill>
                                            <a:schemeClr val="tx1"/>
                                          </a:solidFill>
                                          <a:effectLst/>
                                          <a:latin typeface="Cambria Math" panose="02040503050406030204" pitchFamily="18" charset="0"/>
                                          <a:ea typeface="+mn-ea"/>
                                          <a:cs typeface="+mn-cs"/>
                                        </a:rPr>
                                        <m:t>∅</m:t>
                                      </m:r>
                                    </m:e>
                                  </m:acc>
                                </m:e>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𝑦</m:t>
                                      </m:r>
                                    </m:e>
                                  </m:acc>
                                </m:e>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mr>
                            </m:m>
                          </m:e>
                        </m:d>
                      </m:e>
                      <m:sup>
                        <m:r>
                          <a:rPr lang="en-US" altLang="zh-CN" sz="1200" i="1" kern="1200">
                            <a:solidFill>
                              <a:schemeClr val="tx1"/>
                            </a:solidFill>
                            <a:effectLst/>
                            <a:latin typeface="Cambria Math" panose="02040503050406030204" pitchFamily="18" charset="0"/>
                            <a:ea typeface="+mn-ea"/>
                            <a:cs typeface="+mn-cs"/>
                          </a:rPr>
                          <m:t>𝑇</m:t>
                        </m:r>
                      </m:sup>
                    </m:sSup>
                  </m:oMath>
                </a14:m>
                <a:r>
                  <a:rPr lang="en-US" altLang="zh-CN" sz="1200" kern="1200" dirty="0">
                    <a:solidFill>
                      <a:schemeClr val="tx1"/>
                    </a:solidFill>
                    <a:effectLst/>
                    <a:latin typeface="+mn-lt"/>
                    <a:ea typeface="+mn-ea"/>
                    <a:cs typeface="+mn-cs"/>
                  </a:rPr>
                  <a:t> (3-149)</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对于式（</a:t>
                </a:r>
                <a:r>
                  <a:rPr lang="en-US" altLang="zh-CN" sz="1200" kern="1200" dirty="0">
                    <a:solidFill>
                      <a:schemeClr val="tx1"/>
                    </a:solidFill>
                    <a:effectLst/>
                    <a:latin typeface="+mn-lt"/>
                    <a:ea typeface="+mn-ea"/>
                    <a:cs typeface="+mn-cs"/>
                  </a:rPr>
                  <a:t>3-149</a:t>
                </a:r>
                <a:r>
                  <a:rPr lang="zh-CN" altLang="zh-CN" sz="1200" kern="1200" dirty="0">
                    <a:solidFill>
                      <a:schemeClr val="tx1"/>
                    </a:solidFill>
                    <a:effectLst/>
                    <a:latin typeface="+mn-lt"/>
                    <a:ea typeface="+mn-ea"/>
                    <a:cs typeface="+mn-cs"/>
                  </a:rPr>
                  <a:t>），也可以采用刚体运动旋量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e>
                          </m:mr>
                        </m:m>
                      </m:e>
                    </m:d>
                  </m:oMath>
                </a14:m>
                <a:r>
                  <a:rPr lang="zh-CN" altLang="zh-CN" sz="1200" kern="1200" dirty="0">
                    <a:solidFill>
                      <a:schemeClr val="tx1"/>
                    </a:solidFill>
                    <a:effectLst/>
                    <a:latin typeface="+mn-lt"/>
                    <a:ea typeface="+mn-ea"/>
                    <a:cs typeface="+mn-cs"/>
                  </a:rPr>
                  <a:t>来表达：</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𝑈</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0</m:t>
                        </m:r>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0</m:t>
                                        </m:r>
                                      </m:e>
                                    </m:d>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kern="1200">
                                            <a:solidFill>
                                              <a:schemeClr val="tx1"/>
                                            </a:solidFill>
                                            <a:effectLst/>
                                            <a:latin typeface="Cambria Math" panose="02040503050406030204" pitchFamily="18" charset="0"/>
                                            <a:ea typeface="+mn-ea"/>
                                            <a:cs typeface="+mn-cs"/>
                                          </a:rPr>
                                          <m:t>2</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0</m:t>
                                        </m:r>
                                      </m:e>
                                    </m:d>
                                  </m:e>
                                </m:mr>
                              </m:m>
                            </m:e>
                          </m:mr>
                          <m:mr>
                            <m:e>
                              <m:r>
                                <a:rPr lang="en-US" altLang="zh-CN" sz="1200" kern="1200">
                                  <a:solidFill>
                                    <a:schemeClr val="tx1"/>
                                  </a:solidFill>
                                  <a:effectLst/>
                                  <a:latin typeface="Cambria Math" panose="02040503050406030204" pitchFamily="18" charset="0"/>
                                  <a:ea typeface="+mn-ea"/>
                                  <a:cs typeface="+mn-cs"/>
                                </a:rPr>
                                <m:t>⋮</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0</m:t>
                                  </m:r>
                                </m:e>
                              </m:d>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𝑏𝑧</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𝑏𝑥</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𝑏𝑦</m:t>
                                  </m:r>
                                </m:sub>
                              </m:sSub>
                            </m:e>
                          </m:mr>
                        </m:m>
                      </m:e>
                    </m:d>
                  </m:oMath>
                </a14:m>
                <a:r>
                  <a:rPr lang="en-US" altLang="zh-CN" sz="1200" kern="1200" dirty="0">
                    <a:solidFill>
                      <a:schemeClr val="tx1"/>
                    </a:solidFill>
                    <a:effectLst/>
                    <a:latin typeface="+mn-lt"/>
                    <a:ea typeface="+mn-ea"/>
                    <a:cs typeface="+mn-cs"/>
                  </a:rPr>
                  <a:t>  (3-150)</a:t>
                </a:r>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3.66</a:t>
                </a:r>
                <a:r>
                  <a:rPr lang="zh-CN" altLang="zh-CN" sz="1200" kern="1200" dirty="0">
                    <a:solidFill>
                      <a:schemeClr val="tx1"/>
                    </a:solidFill>
                    <a:effectLst/>
                    <a:latin typeface="+mn-lt"/>
                    <a:ea typeface="+mn-ea"/>
                    <a:cs typeface="+mn-cs"/>
                  </a:rPr>
                  <a:t>所示为由全向轮或麦克纳姆轮组成的轮式移动机器人的两种典型结构。在轮式移动机器人运动学基础模型中讨论过，无论是哪种结构，轮式移动机器人的底盘速度</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由组成机器人的所有轮子</a:t>
                </a:r>
                <a:r>
                  <a:rPr lang="en-US" altLang="zh-CN" sz="1200" i="1"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的驱动角速度</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合成。参考图</a:t>
                </a:r>
                <a:r>
                  <a:rPr lang="en-US" altLang="zh-CN" sz="1200" kern="1200" dirty="0">
                    <a:solidFill>
                      <a:schemeClr val="tx1"/>
                    </a:solidFill>
                    <a:effectLst/>
                    <a:latin typeface="+mn-lt"/>
                    <a:ea typeface="+mn-ea"/>
                    <a:cs typeface="+mn-cs"/>
                  </a:rPr>
                  <a:t>3.67</a:t>
                </a:r>
                <a:r>
                  <a:rPr lang="zh-CN" altLang="zh-CN" sz="1200" kern="1200" dirty="0">
                    <a:solidFill>
                      <a:schemeClr val="tx1"/>
                    </a:solidFill>
                    <a:effectLst/>
                    <a:latin typeface="+mn-lt"/>
                    <a:ea typeface="+mn-ea"/>
                    <a:cs typeface="+mn-cs"/>
                  </a:rPr>
                  <a:t>，建立两个坐标系，全局坐标系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以及底盘坐标系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。那么在坐标系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中的机器人位形可以表达为：</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𝑥,𝑦)</a:t>
                </a:r>
                <a:r>
                  <a:rPr lang="zh-CN" altLang="zh-CN" sz="1200" kern="1200" dirty="0">
                    <a:solidFill>
                      <a:schemeClr val="tx1"/>
                    </a:solidFill>
                    <a:effectLst/>
                    <a:latin typeface="+mn-lt"/>
                    <a:ea typeface="+mn-ea"/>
                    <a:cs typeface="+mn-cs"/>
                  </a:rPr>
                  <a:t>，单个</a:t>
                </a:r>
                <a:r>
                  <a:rPr lang="zh-CN" altLang="zh-CN" sz="1200" kern="1200" dirty="0" smtClean="0">
                    <a:solidFill>
                      <a:schemeClr val="tx1"/>
                    </a:solidFill>
                    <a:effectLst/>
                    <a:latin typeface="+mn-lt"/>
                    <a:ea typeface="+mn-ea"/>
                    <a:cs typeface="+mn-cs"/>
                  </a:rPr>
                  <a:t>轮子在</a:t>
                </a:r>
                <a:r>
                  <a:rPr lang="zh-CN" altLang="zh-CN" sz="1200" kern="1200" dirty="0">
                    <a:solidFill>
                      <a:schemeClr val="tx1"/>
                    </a:solidFill>
                    <a:effectLst/>
                    <a:latin typeface="+mn-lt"/>
                    <a:ea typeface="+mn-ea"/>
                    <a:cs typeface="+mn-cs"/>
                  </a:rPr>
                  <a:t>底盘坐标系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中位形可表示为：</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。轮子</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的半径为</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，其滑动方向由</a:t>
                </a:r>
                <a:r>
                  <a:rPr lang="en-US" altLang="zh-CN" sz="1200" i="0" kern="1200">
                    <a:solidFill>
                      <a:schemeClr val="tx1"/>
                    </a:solidFill>
                    <a:effectLst/>
                    <a:latin typeface="+mn-lt"/>
                    <a:ea typeface="+mn-ea"/>
                    <a:cs typeface="+mn-cs"/>
                  </a:rPr>
                  <a:t>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给出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根据图</a:t>
                </a:r>
                <a:r>
                  <a:rPr lang="en-US" altLang="zh-CN" sz="1200" kern="1200" dirty="0">
                    <a:solidFill>
                      <a:schemeClr val="tx1"/>
                    </a:solidFill>
                    <a:effectLst/>
                    <a:latin typeface="+mn-lt"/>
                    <a:ea typeface="+mn-ea"/>
                    <a:cs typeface="+mn-cs"/>
                  </a:rPr>
                  <a:t>3.67</a:t>
                </a:r>
                <a:r>
                  <a:rPr lang="zh-CN" altLang="zh-CN" sz="1200" kern="1200" dirty="0">
                    <a:solidFill>
                      <a:schemeClr val="tx1"/>
                    </a:solidFill>
                    <a:effectLst/>
                    <a:latin typeface="+mn-lt"/>
                    <a:ea typeface="+mn-ea"/>
                    <a:cs typeface="+mn-cs"/>
                  </a:rPr>
                  <a:t>，可以得到全局坐标系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下的底盘速度到底盘坐标系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的转换矩阵为：</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1&amp;0&amp;0@0&amp;𝑐𝑜𝑠∅&amp;𝑠𝑖𝑛∅@0&amp;−𝑠𝑖𝑛∅&amp;𝑐𝑜𝑠∅)]</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进一步将其转换为底盘坐标系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下的线速度，转换矩阵为：</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𝑖&amp;1&amp;0@𝑥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𝑖&amp;0&amp;1)]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再进一步，可将该线速度转换到轮子坐标系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𝑤−𝑌</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𝑤 }</a:t>
                </a:r>
                <a:r>
                  <a:rPr lang="zh-CN" altLang="zh-CN" sz="1200" kern="1200" dirty="0">
                    <a:solidFill>
                      <a:schemeClr val="tx1"/>
                    </a:solidFill>
                    <a:effectLst/>
                    <a:latin typeface="+mn-lt"/>
                    <a:ea typeface="+mn-ea"/>
                    <a:cs typeface="+mn-cs"/>
                  </a:rPr>
                  <a:t>中，转换矩阵为：</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𝑖&amp;𝑠𝑖𝑛𝛽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𝑖@−𝑠𝑖𝑛𝛽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𝑖&amp;𝑐𝑜𝑠𝛽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最后由式（</a:t>
                </a:r>
                <a:r>
                  <a:rPr lang="en-US" altLang="zh-CN" sz="1200" kern="1200" dirty="0">
                    <a:solidFill>
                      <a:schemeClr val="tx1"/>
                    </a:solidFill>
                    <a:effectLst/>
                    <a:latin typeface="+mn-lt"/>
                    <a:ea typeface="+mn-ea"/>
                    <a:cs typeface="+mn-cs"/>
                  </a:rPr>
                  <a:t>3-145</a:t>
                </a:r>
                <a:r>
                  <a:rPr lang="zh-CN" altLang="zh-CN" sz="1200" kern="1200" dirty="0">
                    <a:solidFill>
                      <a:schemeClr val="tx1"/>
                    </a:solidFill>
                    <a:effectLst/>
                    <a:latin typeface="+mn-lt"/>
                    <a:ea typeface="+mn-ea"/>
                    <a:cs typeface="+mn-cs"/>
                  </a:rPr>
                  <a:t>）可以求出轮子的驱动角速度，转换矩阵为：</a:t>
                </a:r>
              </a:p>
              <a:p>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𝑡𝑎𝑛𝛾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经过以上系列转换后，即可由全局坐标系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下的底盘速度推导出轮子的驱动角速度</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𝑡𝑎𝑛𝛾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𝑐𝑜𝑠𝛽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𝑖&amp;𝑠𝑖𝑛𝛽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𝑖@−𝑠𝑖𝑛𝛽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𝑖&amp;𝑐𝑜𝑠𝛽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𝑖&amp;1&amp;0@𝑥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𝑖&amp;0&amp;1)]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1&amp;0&amp;0@0&amp;𝑐𝑜𝑠∅&amp;𝑠𝑖𝑛∅@0&amp;−𝑠𝑖𝑛∅&amp;𝑐𝑜𝑠∅)]</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&amp;𝑦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&amp;𝑥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en-US" altLang="zh-CN" sz="1200" kern="1200" dirty="0">
                    <a:solidFill>
                      <a:schemeClr val="tx1"/>
                    </a:solidFill>
                    <a:effectLst/>
                    <a:latin typeface="+mn-lt"/>
                    <a:ea typeface="+mn-ea"/>
                    <a:cs typeface="+mn-cs"/>
                  </a:rPr>
                  <a:t> (3-146)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将式</a:t>
                </a:r>
                <a:r>
                  <a:rPr lang="en-US" altLang="zh-CN" sz="1200" kern="1200" dirty="0">
                    <a:solidFill>
                      <a:schemeClr val="tx1"/>
                    </a:solidFill>
                    <a:effectLst/>
                    <a:latin typeface="+mn-lt"/>
                    <a:ea typeface="+mn-ea"/>
                    <a:cs typeface="+mn-cs"/>
                  </a:rPr>
                  <a:t>(3-146)</a:t>
                </a:r>
                <a:r>
                  <a:rPr lang="zh-CN" altLang="zh-CN" sz="1200" kern="1200" dirty="0">
                    <a:solidFill>
                      <a:schemeClr val="tx1"/>
                    </a:solidFill>
                    <a:effectLst/>
                    <a:latin typeface="+mn-lt"/>
                    <a:ea typeface="+mn-ea"/>
                    <a:cs typeface="+mn-cs"/>
                  </a:rPr>
                  <a:t>表示为一个行向量右乘一个列向量</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&amp;𝑦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&amp;𝑥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的形式：</a:t>
                </a:r>
              </a:p>
              <a:p>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(∅)𝑞</a:t>
                </a:r>
                <a:r>
                  <a:rPr lang="zh-CN"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(3-147)</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p>
              <a:p>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𝑐𝑜𝑠𝛾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𝑖+𝛾</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en-US" altLang="zh-CN" sz="1200" kern="1200" dirty="0">
                    <a:solidFill>
                      <a:schemeClr val="tx1"/>
                    </a:solidFill>
                    <a:effectLst/>
                    <a:latin typeface="+mn-lt"/>
                    <a:ea typeface="+mn-ea"/>
                    <a:cs typeface="+mn-cs"/>
                  </a:rPr>
                  <a:t> (3-148)</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对于全向移动机器人，其车轮数</a:t>
                </a:r>
                <a:r>
                  <a:rPr lang="en-US" altLang="zh-CN" sz="1200" i="0" kern="1200">
                    <a:solidFill>
                      <a:schemeClr val="tx1"/>
                    </a:solidFill>
                    <a:effectLst/>
                    <a:latin typeface="+mn-lt"/>
                    <a:ea typeface="+mn-ea"/>
                    <a:cs typeface="+mn-cs"/>
                  </a:rPr>
                  <a:t>m≥3</a:t>
                </a:r>
                <a:r>
                  <a:rPr lang="zh-CN" altLang="zh-CN" sz="1200" kern="1200" dirty="0">
                    <a:solidFill>
                      <a:schemeClr val="tx1"/>
                    </a:solidFill>
                    <a:effectLst/>
                    <a:latin typeface="+mn-lt"/>
                    <a:ea typeface="+mn-ea"/>
                    <a:cs typeface="+mn-cs"/>
                  </a:rPr>
                  <a:t>，按照式（</a:t>
                </a:r>
                <a:r>
                  <a:rPr lang="en-US" altLang="zh-CN" sz="1200" kern="1200" dirty="0">
                    <a:solidFill>
                      <a:schemeClr val="tx1"/>
                    </a:solidFill>
                    <a:effectLst/>
                    <a:latin typeface="+mn-lt"/>
                    <a:ea typeface="+mn-ea"/>
                    <a:cs typeface="+mn-cs"/>
                  </a:rPr>
                  <a:t>3-146</a:t>
                </a:r>
                <a:r>
                  <a:rPr lang="zh-CN" altLang="zh-CN" sz="1200" kern="1200" dirty="0">
                    <a:solidFill>
                      <a:schemeClr val="tx1"/>
                    </a:solidFill>
                    <a:effectLst/>
                    <a:latin typeface="+mn-lt"/>
                    <a:ea typeface="+mn-ea"/>
                    <a:cs typeface="+mn-cs"/>
                  </a:rPr>
                  <a:t>）有</a:t>
                </a:r>
                <a:r>
                  <a:rPr lang="en-US" altLang="zh-CN" sz="1200" i="0" kern="1200">
                    <a:solidFill>
                      <a:schemeClr val="tx1"/>
                    </a:solidFill>
                    <a:effectLst/>
                    <a:latin typeface="+mn-lt"/>
                    <a:ea typeface="+mn-ea"/>
                    <a:cs typeface="+mn-cs"/>
                  </a:rPr>
                  <a:t>m</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可以将底盘速度</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映射到每个轮子的驱动角速度，由此可以得到一个全向移动机器人轮子驱动速度向量</a:t>
                </a:r>
                <a:r>
                  <a:rPr lang="en-US" altLang="zh-CN" sz="1200" i="0" kern="1200">
                    <a:solidFill>
                      <a:schemeClr val="tx1"/>
                    </a:solidFill>
                    <a:effectLst/>
                    <a:latin typeface="+mn-lt"/>
                    <a:ea typeface="+mn-ea"/>
                    <a:cs typeface="+mn-cs"/>
                  </a:rPr>
                  <a:t>U∈ℝ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𝑚</a:t>
                </a:r>
                <a:r>
                  <a:rPr lang="zh-CN" altLang="zh-CN" sz="1200" kern="1200" dirty="0">
                    <a:solidFill>
                      <a:schemeClr val="tx1"/>
                    </a:solidFill>
                    <a:effectLst/>
                    <a:latin typeface="+mn-lt"/>
                    <a:ea typeface="+mn-ea"/>
                    <a:cs typeface="+mn-cs"/>
                  </a:rPr>
                  <a:t>与底盘速度之间的联合表达式：</a:t>
                </a:r>
              </a:p>
              <a:p>
                <a:r>
                  <a:rPr lang="en-US" altLang="zh-CN" sz="1200" i="0" kern="1200">
                    <a:solidFill>
                      <a:schemeClr val="tx1"/>
                    </a:solidFill>
                    <a:effectLst/>
                    <a:latin typeface="+mn-lt"/>
                    <a:ea typeface="+mn-ea"/>
                    <a:cs typeface="+mn-cs"/>
                  </a:rPr>
                  <a:t>𝑈=𝐻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&amp;𝑦</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&amp;𝑥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en-US" altLang="zh-CN" sz="1200" kern="1200" dirty="0">
                    <a:solidFill>
                      <a:schemeClr val="tx1"/>
                    </a:solidFill>
                    <a:effectLst/>
                    <a:latin typeface="+mn-lt"/>
                    <a:ea typeface="+mn-ea"/>
                    <a:cs typeface="+mn-cs"/>
                  </a:rPr>
                  <a:t> (3-149)</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对于式（</a:t>
                </a:r>
                <a:r>
                  <a:rPr lang="en-US" altLang="zh-CN" sz="1200" kern="1200" dirty="0">
                    <a:solidFill>
                      <a:schemeClr val="tx1"/>
                    </a:solidFill>
                    <a:effectLst/>
                    <a:latin typeface="+mn-lt"/>
                    <a:ea typeface="+mn-ea"/>
                    <a:cs typeface="+mn-cs"/>
                  </a:rPr>
                  <a:t>3-149</a:t>
                </a:r>
                <a:r>
                  <a:rPr lang="zh-CN" altLang="zh-CN" sz="1200" kern="1200" dirty="0">
                    <a:solidFill>
                      <a:schemeClr val="tx1"/>
                    </a:solidFill>
                    <a:effectLst/>
                    <a:latin typeface="+mn-lt"/>
                    <a:ea typeface="+mn-ea"/>
                    <a:cs typeface="+mn-cs"/>
                  </a:rPr>
                  <a:t>），也可以采用刚体运动旋量</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kern="1200" dirty="0">
                    <a:solidFill>
                      <a:schemeClr val="tx1"/>
                    </a:solidFill>
                    <a:effectLst/>
                    <a:latin typeface="+mn-lt"/>
                    <a:ea typeface="+mn-ea"/>
                    <a:cs typeface="+mn-cs"/>
                  </a:rPr>
                  <a:t>来表达：</a:t>
                </a:r>
              </a:p>
              <a:p>
                <a:r>
                  <a:rPr lang="en-US" altLang="zh-CN" sz="1200" i="0" kern="1200">
                    <a:solidFill>
                      <a:schemeClr val="tx1"/>
                    </a:solidFill>
                    <a:effectLst/>
                    <a:latin typeface="+mn-lt"/>
                    <a:ea typeface="+mn-ea"/>
                    <a:cs typeface="+mn-cs"/>
                  </a:rPr>
                  <a:t>𝑈=𝐻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 )@⋮@ℎ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0)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𝑏𝑧@𝑣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𝑏𝑦 )]</a:t>
                </a:r>
                <a:r>
                  <a:rPr lang="en-US" altLang="zh-CN" sz="1200" kern="1200" dirty="0">
                    <a:solidFill>
                      <a:schemeClr val="tx1"/>
                    </a:solidFill>
                    <a:effectLst/>
                    <a:latin typeface="+mn-lt"/>
                    <a:ea typeface="+mn-ea"/>
                    <a:cs typeface="+mn-cs"/>
                  </a:rPr>
                  <a:t>  (3-150)</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31</a:t>
            </a:fld>
            <a:endParaRPr lang="zh-CN" altLang="en-US"/>
          </a:p>
        </p:txBody>
      </p:sp>
    </p:spTree>
    <p:extLst>
      <p:ext uri="{BB962C8B-B14F-4D97-AF65-F5344CB8AC3E}">
        <p14:creationId xmlns:p14="http://schemas.microsoft.com/office/powerpoint/2010/main" val="35151912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依据式</a:t>
                </a:r>
                <a:r>
                  <a:rPr lang="en-US" altLang="zh-CN" sz="1200" kern="1200" dirty="0">
                    <a:solidFill>
                      <a:schemeClr val="tx1"/>
                    </a:solidFill>
                    <a:effectLst/>
                    <a:latin typeface="+mn-lt"/>
                    <a:ea typeface="+mn-ea"/>
                    <a:cs typeface="+mn-cs"/>
                  </a:rPr>
                  <a:t>(3-148)</a:t>
                </a:r>
                <a:r>
                  <a:rPr lang="zh-CN" altLang="zh-CN" sz="1200" kern="1200" dirty="0">
                    <a:solidFill>
                      <a:schemeClr val="tx1"/>
                    </a:solidFill>
                    <a:effectLst/>
                    <a:latin typeface="+mn-lt"/>
                    <a:ea typeface="+mn-ea"/>
                    <a:cs typeface="+mn-cs"/>
                  </a:rPr>
                  <a:t>以及</a:t>
                </a:r>
                <a:r>
                  <a:rPr lang="en-US" altLang="zh-CN" sz="1200" kern="1200" dirty="0">
                    <a:solidFill>
                      <a:schemeClr val="tx1"/>
                    </a:solidFill>
                    <a:effectLst/>
                    <a:latin typeface="+mn-lt"/>
                    <a:ea typeface="+mn-ea"/>
                    <a:cs typeface="+mn-cs"/>
                  </a:rPr>
                  <a:t>(3-150)</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3.68</a:t>
                </a:r>
                <a:r>
                  <a:rPr lang="zh-CN" altLang="zh-CN" sz="1200" kern="1200" dirty="0">
                    <a:solidFill>
                      <a:schemeClr val="tx1"/>
                    </a:solidFill>
                    <a:effectLst/>
                    <a:latin typeface="+mn-lt"/>
                    <a:ea typeface="+mn-ea"/>
                    <a:cs typeface="+mn-cs"/>
                  </a:rPr>
                  <a:t>中的三轮全向移动机器人的运动学模型可写成：</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𝑈</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1</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2</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3</m:t>
                                  </m:r>
                                </m:sub>
                              </m:sSub>
                            </m:e>
                          </m:mr>
                        </m:m>
                      </m:e>
                    </m:d>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0</m:t>
                        </m:r>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𝑟</m:t>
                        </m:r>
                      </m:den>
                    </m:f>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e>
                            <m:e>
                              <m:r>
                                <a:rPr lang="en-US" altLang="zh-CN" sz="1200" kern="1200">
                                  <a:solidFill>
                                    <a:schemeClr val="tx1"/>
                                  </a:solidFill>
                                  <a:effectLst/>
                                  <a:latin typeface="Cambria Math" panose="02040503050406030204" pitchFamily="18" charset="0"/>
                                  <a:ea typeface="+mn-ea"/>
                                  <a:cs typeface="+mn-cs"/>
                                </a:rPr>
                                <m:t>1</m:t>
                              </m:r>
                            </m:e>
                            <m:e>
                              <m:r>
                                <a:rPr lang="en-US" altLang="zh-CN" sz="1200"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e>
                            <m:e>
                              <m:r>
                                <a:rPr lang="en-US" altLang="zh-CN" sz="1200" i="1" kern="1200">
                                  <a:solidFill>
                                    <a:schemeClr val="tx1"/>
                                  </a:solidFill>
                                  <a:effectLst/>
                                  <a:latin typeface="Cambria Math" panose="02040503050406030204" pitchFamily="18" charset="0"/>
                                  <a:ea typeface="+mn-ea"/>
                                  <a:cs typeface="+mn-cs"/>
                                </a:rPr>
                                <m:t>−</m:t>
                              </m:r>
                              <m:f>
                                <m:fPr>
                                  <m:type m:val="skw"/>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r>
                                    <a:rPr lang="en-US" altLang="zh-CN" sz="1200" kern="1200">
                                      <a:solidFill>
                                        <a:schemeClr val="tx1"/>
                                      </a:solidFill>
                                      <a:effectLst/>
                                      <a:latin typeface="Cambria Math" panose="02040503050406030204" pitchFamily="18" charset="0"/>
                                      <a:ea typeface="+mn-ea"/>
                                      <a:cs typeface="+mn-cs"/>
                                    </a:rPr>
                                    <m:t>2</m:t>
                                  </m:r>
                                </m:den>
                              </m:f>
                            </m:e>
                            <m:e>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sin</m:t>
                              </m:r>
                              <m:r>
                                <a:rPr lang="en-US" altLang="zh-CN" sz="1200" kern="1200">
                                  <a:solidFill>
                                    <a:schemeClr val="tx1"/>
                                  </a:solidFill>
                                  <a:effectLst/>
                                  <a:latin typeface="Cambria Math" panose="02040503050406030204" pitchFamily="18" charset="0"/>
                                  <a:ea typeface="+mn-ea"/>
                                  <a:cs typeface="+mn-cs"/>
                                </a:rPr>
                                <m:t>⁡(</m:t>
                              </m:r>
                              <m:f>
                                <m:fPr>
                                  <m:type m:val="skw"/>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𝜋</m:t>
                                  </m:r>
                                </m:num>
                                <m:den>
                                  <m:r>
                                    <a:rPr lang="en-US" altLang="zh-CN" sz="1200" kern="1200">
                                      <a:solidFill>
                                        <a:schemeClr val="tx1"/>
                                      </a:solidFill>
                                      <a:effectLst/>
                                      <a:latin typeface="Cambria Math" panose="02040503050406030204" pitchFamily="18" charset="0"/>
                                      <a:ea typeface="+mn-ea"/>
                                      <a:cs typeface="+mn-cs"/>
                                    </a:rPr>
                                    <m:t>3</m:t>
                                  </m:r>
                                </m:den>
                              </m:f>
                              <m:r>
                                <a:rPr lang="en-US" altLang="zh-CN" sz="1200" kern="1200">
                                  <a:solidFill>
                                    <a:schemeClr val="tx1"/>
                                  </a:solidFill>
                                  <a:effectLst/>
                                  <a:latin typeface="Cambria Math" panose="02040503050406030204" pitchFamily="18" charset="0"/>
                                  <a:ea typeface="+mn-ea"/>
                                  <a:cs typeface="+mn-cs"/>
                                </a:rPr>
                                <m:t>)</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e>
                            <m:e>
                              <m:r>
                                <a:rPr lang="en-US" altLang="zh-CN" sz="1200" i="1" kern="1200">
                                  <a:solidFill>
                                    <a:schemeClr val="tx1"/>
                                  </a:solidFill>
                                  <a:effectLst/>
                                  <a:latin typeface="Cambria Math" panose="02040503050406030204" pitchFamily="18" charset="0"/>
                                  <a:ea typeface="+mn-ea"/>
                                  <a:cs typeface="+mn-cs"/>
                                </a:rPr>
                                <m:t>−</m:t>
                              </m:r>
                              <m:f>
                                <m:fPr>
                                  <m:type m:val="skw"/>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r>
                                    <a:rPr lang="en-US" altLang="zh-CN" sz="1200" kern="1200">
                                      <a:solidFill>
                                        <a:schemeClr val="tx1"/>
                                      </a:solidFill>
                                      <a:effectLst/>
                                      <a:latin typeface="Cambria Math" panose="02040503050406030204" pitchFamily="18" charset="0"/>
                                      <a:ea typeface="+mn-ea"/>
                                      <a:cs typeface="+mn-cs"/>
                                    </a:rPr>
                                    <m:t>2</m:t>
                                  </m:r>
                                </m:den>
                              </m:f>
                            </m:e>
                            <m:e>
                              <m:r>
                                <m:rPr>
                                  <m:sty m:val="p"/>
                                </m:rPr>
                                <a:rPr lang="en-US" altLang="zh-CN" sz="1200" kern="1200">
                                  <a:solidFill>
                                    <a:schemeClr val="tx1"/>
                                  </a:solidFill>
                                  <a:effectLst/>
                                  <a:latin typeface="Cambria Math" panose="02040503050406030204" pitchFamily="18" charset="0"/>
                                  <a:ea typeface="+mn-ea"/>
                                  <a:cs typeface="+mn-cs"/>
                                </a:rPr>
                                <m:t>sin</m:t>
                              </m:r>
                              <m:r>
                                <a:rPr lang="en-US" altLang="zh-CN" sz="1200" kern="1200">
                                  <a:solidFill>
                                    <a:schemeClr val="tx1"/>
                                  </a:solidFill>
                                  <a:effectLst/>
                                  <a:latin typeface="Cambria Math" panose="02040503050406030204" pitchFamily="18" charset="0"/>
                                  <a:ea typeface="+mn-ea"/>
                                  <a:cs typeface="+mn-cs"/>
                                </a:rPr>
                                <m:t>⁡(</m:t>
                              </m:r>
                              <m:f>
                                <m:fPr>
                                  <m:type m:val="skw"/>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𝜋</m:t>
                                  </m:r>
                                </m:num>
                                <m:den>
                                  <m:r>
                                    <a:rPr lang="en-US" altLang="zh-CN" sz="1200" kern="1200">
                                      <a:solidFill>
                                        <a:schemeClr val="tx1"/>
                                      </a:solidFill>
                                      <a:effectLst/>
                                      <a:latin typeface="Cambria Math" panose="02040503050406030204" pitchFamily="18" charset="0"/>
                                      <a:ea typeface="+mn-ea"/>
                                      <a:cs typeface="+mn-cs"/>
                                    </a:rPr>
                                    <m:t>3</m:t>
                                  </m:r>
                                </m:den>
                              </m:f>
                              <m:r>
                                <a:rPr lang="en-US" altLang="zh-CN" sz="1200" kern="1200">
                                  <a:solidFill>
                                    <a:schemeClr val="tx1"/>
                                  </a:solidFill>
                                  <a:effectLst/>
                                  <a:latin typeface="Cambria Math" panose="02040503050406030204" pitchFamily="18" charset="0"/>
                                  <a:ea typeface="+mn-ea"/>
                                  <a:cs typeface="+mn-cs"/>
                                </a:rPr>
                                <m:t>)</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𝑏𝑧</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𝑏𝑥</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𝑏𝑦</m:t>
                                  </m:r>
                                </m:sub>
                              </m:sSub>
                            </m:e>
                          </m:mr>
                        </m:m>
                      </m:e>
                    </m:d>
                  </m:oMath>
                </a14:m>
                <a:r>
                  <a:rPr lang="en-US" altLang="zh-CN" sz="1200" kern="1200" dirty="0">
                    <a:solidFill>
                      <a:schemeClr val="tx1"/>
                    </a:solidFill>
                    <a:effectLst/>
                    <a:latin typeface="+mn-lt"/>
                    <a:ea typeface="+mn-ea"/>
                    <a:cs typeface="+mn-cs"/>
                  </a:rPr>
                  <a:t> (3-151)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3.67</a:t>
                </a:r>
                <a:r>
                  <a:rPr lang="zh-CN" altLang="zh-CN" sz="1200" kern="1200" dirty="0">
                    <a:solidFill>
                      <a:schemeClr val="tx1"/>
                    </a:solidFill>
                    <a:effectLst/>
                    <a:latin typeface="+mn-lt"/>
                    <a:ea typeface="+mn-ea"/>
                    <a:cs typeface="+mn-cs"/>
                  </a:rPr>
                  <a:t>中的四轮全向移动机器人的运动学模型可写成：</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𝑈</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1</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2</m:t>
                                  </m:r>
                                </m:sub>
                              </m:sSub>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3</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kern="1200">
                                            <a:solidFill>
                                              <a:schemeClr val="tx1"/>
                                            </a:solidFill>
                                            <a:effectLst/>
                                            <a:latin typeface="Cambria Math" panose="02040503050406030204" pitchFamily="18" charset="0"/>
                                            <a:ea typeface="+mn-ea"/>
                                            <a:cs typeface="+mn-cs"/>
                                          </a:rPr>
                                          <m:t>4</m:t>
                                        </m:r>
                                      </m:sub>
                                    </m:sSub>
                                  </m:e>
                                </m:mr>
                              </m:m>
                            </m:e>
                          </m:mr>
                        </m:m>
                      </m:e>
                    </m:d>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0</m:t>
                        </m:r>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𝑟</m:t>
                        </m:r>
                      </m:den>
                    </m:f>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𝑤</m:t>
                              </m:r>
                            </m:e>
                            <m:e>
                              <m:r>
                                <a:rPr lang="en-US" altLang="zh-CN" sz="1200"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𝑙</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𝑤</m:t>
                              </m:r>
                            </m:e>
                            <m:e>
                              <m:r>
                                <a:rPr lang="en-US" altLang="zh-CN" sz="1200" kern="1200">
                                  <a:solidFill>
                                    <a:schemeClr val="tx1"/>
                                  </a:solidFill>
                                  <a:effectLst/>
                                  <a:latin typeface="Cambria Math" panose="02040503050406030204" pitchFamily="18" charset="0"/>
                                  <a:ea typeface="+mn-ea"/>
                                  <a:cs typeface="+mn-cs"/>
                                </a:rPr>
                                <m:t>1</m:t>
                              </m:r>
                            </m:e>
                            <m:e>
                              <m:r>
                                <a:rPr lang="en-US" altLang="zh-CN" sz="1200" kern="1200">
                                  <a:solidFill>
                                    <a:schemeClr val="tx1"/>
                                  </a:solidFill>
                                  <a:effectLst/>
                                  <a:latin typeface="Cambria Math" panose="02040503050406030204" pitchFamily="18" charset="0"/>
                                  <a:ea typeface="+mn-ea"/>
                                  <a:cs typeface="+mn-cs"/>
                                </a:rPr>
                                <m:t>1</m:t>
                              </m:r>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𝑙</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𝑤</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𝑙</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𝑤</m:t>
                                    </m:r>
                                  </m:e>
                                </m:mr>
                              </m:m>
                            </m:e>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kern="1200">
                                        <a:solidFill>
                                          <a:schemeClr val="tx1"/>
                                        </a:solidFill>
                                        <a:effectLst/>
                                        <a:latin typeface="Cambria Math" panose="02040503050406030204" pitchFamily="18" charset="0"/>
                                        <a:ea typeface="+mn-ea"/>
                                        <a:cs typeface="+mn-cs"/>
                                      </a:rPr>
                                      <m:t>1</m:t>
                                    </m:r>
                                  </m:e>
                                </m:mr>
                                <m:mr>
                                  <m:e>
                                    <m:r>
                                      <a:rPr lang="en-US" altLang="zh-CN" sz="1200" kern="1200">
                                        <a:solidFill>
                                          <a:schemeClr val="tx1"/>
                                        </a:solidFill>
                                        <a:effectLst/>
                                        <a:latin typeface="Cambria Math" panose="02040503050406030204" pitchFamily="18" charset="0"/>
                                        <a:ea typeface="+mn-ea"/>
                                        <a:cs typeface="+mn-cs"/>
                                      </a:rPr>
                                      <m:t>1</m:t>
                                    </m:r>
                                  </m:e>
                                </m:mr>
                              </m:m>
                            </m:e>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m:t>
                                    </m:r>
                                  </m:e>
                                </m:mr>
                                <m:mr>
                                  <m:e>
                                    <m:r>
                                      <a:rPr lang="en-US" altLang="zh-CN" sz="1200" kern="1200">
                                        <a:solidFill>
                                          <a:schemeClr val="tx1"/>
                                        </a:solidFill>
                                        <a:effectLst/>
                                        <a:latin typeface="Cambria Math" panose="02040503050406030204" pitchFamily="18" charset="0"/>
                                        <a:ea typeface="+mn-ea"/>
                                        <a:cs typeface="+mn-cs"/>
                                      </a:rPr>
                                      <m:t>1</m:t>
                                    </m:r>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𝑏𝑧</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𝑏𝑥</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𝑏𝑦</m:t>
                                  </m:r>
                                </m:sub>
                              </m:sSub>
                            </m:e>
                          </m:mr>
                        </m:m>
                      </m:e>
                    </m:d>
                  </m:oMath>
                </a14:m>
                <a:r>
                  <a:rPr lang="en-US" altLang="zh-CN" sz="1200" kern="1200" dirty="0">
                    <a:solidFill>
                      <a:schemeClr val="tx1"/>
                    </a:solidFill>
                    <a:effectLst/>
                    <a:latin typeface="+mn-lt"/>
                    <a:ea typeface="+mn-ea"/>
                    <a:cs typeface="+mn-cs"/>
                  </a:rPr>
                  <a:t> (3-152)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对于图</a:t>
                </a:r>
                <a:r>
                  <a:rPr lang="en-US" altLang="zh-CN" sz="1200" kern="1200" dirty="0">
                    <a:solidFill>
                      <a:schemeClr val="tx1"/>
                    </a:solidFill>
                    <a:effectLst/>
                    <a:latin typeface="+mn-lt"/>
                    <a:ea typeface="+mn-ea"/>
                    <a:cs typeface="+mn-cs"/>
                  </a:rPr>
                  <a:t>3.68</a:t>
                </a:r>
                <a:r>
                  <a:rPr lang="zh-CN" altLang="zh-CN" sz="1200" kern="1200" dirty="0">
                    <a:solidFill>
                      <a:schemeClr val="tx1"/>
                    </a:solidFill>
                    <a:effectLst/>
                    <a:latin typeface="+mn-lt"/>
                    <a:ea typeface="+mn-ea"/>
                    <a:cs typeface="+mn-cs"/>
                  </a:rPr>
                  <a:t>中的麦克纳姆四轮机器人来说，如果机器人要往</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𝑋</m:t>
                            </m:r>
                          </m:e>
                        </m:acc>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方向移动，那么所有的轮子都需要以相同的速度向前运动；如果要往</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𝑌</m:t>
                            </m:r>
                          </m:e>
                        </m:acc>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方向移动，轮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向后运动，轮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以相同速度向前驱动；为了沿逆时针方向旋转，轮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向后驱动，轮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以相同速度向前驱动。一般情况下，可以据此推出机器人底盘沿前后左右以及对角线八个方向的运动学驱动模型，简化对于此类全向移动机器人的方向控制。</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依据式</a:t>
                </a:r>
                <a:r>
                  <a:rPr lang="en-US" altLang="zh-CN" sz="1200" kern="1200" dirty="0">
                    <a:solidFill>
                      <a:schemeClr val="tx1"/>
                    </a:solidFill>
                    <a:effectLst/>
                    <a:latin typeface="+mn-lt"/>
                    <a:ea typeface="+mn-ea"/>
                    <a:cs typeface="+mn-cs"/>
                  </a:rPr>
                  <a:t>(3-148)</a:t>
                </a:r>
                <a:r>
                  <a:rPr lang="zh-CN" altLang="zh-CN" sz="1200" kern="1200" dirty="0">
                    <a:solidFill>
                      <a:schemeClr val="tx1"/>
                    </a:solidFill>
                    <a:effectLst/>
                    <a:latin typeface="+mn-lt"/>
                    <a:ea typeface="+mn-ea"/>
                    <a:cs typeface="+mn-cs"/>
                  </a:rPr>
                  <a:t>以及</a:t>
                </a:r>
                <a:r>
                  <a:rPr lang="en-US" altLang="zh-CN" sz="1200" kern="1200" dirty="0">
                    <a:solidFill>
                      <a:schemeClr val="tx1"/>
                    </a:solidFill>
                    <a:effectLst/>
                    <a:latin typeface="+mn-lt"/>
                    <a:ea typeface="+mn-ea"/>
                    <a:cs typeface="+mn-cs"/>
                  </a:rPr>
                  <a:t>(3-150)</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3.68</a:t>
                </a:r>
                <a:r>
                  <a:rPr lang="zh-CN" altLang="zh-CN" sz="1200" kern="1200" dirty="0">
                    <a:solidFill>
                      <a:schemeClr val="tx1"/>
                    </a:solidFill>
                    <a:effectLst/>
                    <a:latin typeface="+mn-lt"/>
                    <a:ea typeface="+mn-ea"/>
                    <a:cs typeface="+mn-cs"/>
                  </a:rPr>
                  <a:t>中的三轮全向移动机器人的运动学模型可写成：</a:t>
                </a:r>
              </a:p>
              <a:p>
                <a:r>
                  <a:rPr lang="en-US" altLang="zh-CN" sz="1200" i="0" kern="1200">
                    <a:solidFill>
                      <a:schemeClr val="tx1"/>
                    </a:solidFill>
                    <a:effectLst/>
                    <a:latin typeface="+mn-lt"/>
                    <a:ea typeface="+mn-ea"/>
                    <a:cs typeface="+mn-cs"/>
                  </a:rPr>
                  <a:t>𝑈=</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−𝑑&amp;1&amp;0@−𝑑&amp;−1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2&amp;−sin⁡(𝜋</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3)@−𝑑&amp;−1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2&amp;sin⁡(𝜋</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𝑏𝑧@𝑣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𝑏𝑦 )]</a:t>
                </a:r>
                <a:r>
                  <a:rPr lang="en-US" altLang="zh-CN" sz="1200" kern="1200" dirty="0">
                    <a:solidFill>
                      <a:schemeClr val="tx1"/>
                    </a:solidFill>
                    <a:effectLst/>
                    <a:latin typeface="+mn-lt"/>
                    <a:ea typeface="+mn-ea"/>
                    <a:cs typeface="+mn-cs"/>
                  </a:rPr>
                  <a:t> (3-151)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3.67</a:t>
                </a:r>
                <a:r>
                  <a:rPr lang="zh-CN" altLang="zh-CN" sz="1200" kern="1200" dirty="0">
                    <a:solidFill>
                      <a:schemeClr val="tx1"/>
                    </a:solidFill>
                    <a:effectLst/>
                    <a:latin typeface="+mn-lt"/>
                    <a:ea typeface="+mn-ea"/>
                    <a:cs typeface="+mn-cs"/>
                  </a:rPr>
                  <a:t>中的四轮全向移动机器人的运动学模型可写成：</a:t>
                </a:r>
              </a:p>
              <a:p>
                <a:r>
                  <a:rPr lang="en-US" altLang="zh-CN" sz="1200" i="0" kern="1200">
                    <a:solidFill>
                      <a:schemeClr val="tx1"/>
                    </a:solidFill>
                    <a:effectLst/>
                    <a:latin typeface="+mn-lt"/>
                    <a:ea typeface="+mn-ea"/>
                    <a:cs typeface="+mn-cs"/>
                  </a:rPr>
                  <a:t>𝑈=</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4 ))]=𝐻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[■8(</a:t>
                </a:r>
                <a:r>
                  <a:rPr lang="en-US" altLang="zh-CN" sz="1200" i="0" kern="1200">
                    <a:solidFill>
                      <a:schemeClr val="tx1"/>
                    </a:solidFill>
                    <a:effectLst/>
                    <a:latin typeface="+mn-lt"/>
                    <a:ea typeface="+mn-ea"/>
                    <a:cs typeface="+mn-cs"/>
                  </a:rPr>
                  <a:t>−𝑙−𝑤&amp;1&amp;−1@𝑙+𝑤&amp;1&amp;1@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𝑙+𝑤@−𝑙−𝑤)&amp;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1@1)&amp;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𝑏𝑧@𝑣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𝑏𝑦 )]</a:t>
                </a:r>
                <a:r>
                  <a:rPr lang="en-US" altLang="zh-CN" sz="1200" kern="1200" dirty="0">
                    <a:solidFill>
                      <a:schemeClr val="tx1"/>
                    </a:solidFill>
                    <a:effectLst/>
                    <a:latin typeface="+mn-lt"/>
                    <a:ea typeface="+mn-ea"/>
                    <a:cs typeface="+mn-cs"/>
                  </a:rPr>
                  <a:t> (3-152)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对于图</a:t>
                </a:r>
                <a:r>
                  <a:rPr lang="en-US" altLang="zh-CN" sz="1200" kern="1200" dirty="0">
                    <a:solidFill>
                      <a:schemeClr val="tx1"/>
                    </a:solidFill>
                    <a:effectLst/>
                    <a:latin typeface="+mn-lt"/>
                    <a:ea typeface="+mn-ea"/>
                    <a:cs typeface="+mn-cs"/>
                  </a:rPr>
                  <a:t>3.68</a:t>
                </a:r>
                <a:r>
                  <a:rPr lang="zh-CN" altLang="zh-CN" sz="1200" kern="1200" dirty="0">
                    <a:solidFill>
                      <a:schemeClr val="tx1"/>
                    </a:solidFill>
                    <a:effectLst/>
                    <a:latin typeface="+mn-lt"/>
                    <a:ea typeface="+mn-ea"/>
                    <a:cs typeface="+mn-cs"/>
                  </a:rPr>
                  <a:t>中的麦克纳姆四轮机器人来说，如果机器人要往</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方向移动，那么所有的轮子都需要以相同的速度向前运动；如果要往</a:t>
                </a:r>
                <a:r>
                  <a:rPr lang="en-US" altLang="zh-CN" sz="1200" i="0" kern="1200">
                    <a:solidFill>
                      <a:schemeClr val="tx1"/>
                    </a:solidFill>
                    <a:effectLst/>
                    <a:latin typeface="+mn-lt"/>
                    <a:ea typeface="+mn-ea"/>
                    <a:cs typeface="+mn-cs"/>
                  </a:rPr>
                  <a:t>+𝑌</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方向移动，轮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向后运动，轮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以相同速度向前驱动；为了沿逆时针方向旋转，轮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向后驱动，轮</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以相同速度向前驱动。一般情况下，可以据此推出机器人底盘沿前后左右以及对角线八个方向的运动学驱动模型，简化对于此类全向移动机器人的方向控制。</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32</a:t>
            </a:fld>
            <a:endParaRPr lang="zh-CN" altLang="en-US"/>
          </a:p>
        </p:txBody>
      </p:sp>
    </p:spTree>
    <p:extLst>
      <p:ext uri="{BB962C8B-B14F-4D97-AF65-F5344CB8AC3E}">
        <p14:creationId xmlns:p14="http://schemas.microsoft.com/office/powerpoint/2010/main" val="35275255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在第</a:t>
            </a:r>
            <a:r>
              <a:rPr lang="en-US" altLang="zh-CN" dirty="0" smtClean="0"/>
              <a:t>5</a:t>
            </a:r>
            <a:r>
              <a:rPr lang="zh-CN" altLang="en-US" dirty="0" smtClean="0"/>
              <a:t>章讨论运动规划</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35</a:t>
            </a:fld>
            <a:endParaRPr lang="zh-CN" altLang="en-US"/>
          </a:p>
        </p:txBody>
      </p:sp>
    </p:spTree>
    <p:extLst>
      <p:ext uri="{BB962C8B-B14F-4D97-AF65-F5344CB8AC3E}">
        <p14:creationId xmlns:p14="http://schemas.microsoft.com/office/powerpoint/2010/main" val="3262252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移动机器人通常是非完整的，且为多入多出（</a:t>
                </a:r>
                <a:r>
                  <a:rPr lang="en-US" altLang="zh-CN" sz="1200" kern="1200" dirty="0">
                    <a:solidFill>
                      <a:schemeClr val="tx1"/>
                    </a:solidFill>
                    <a:effectLst/>
                    <a:latin typeface="+mn-lt"/>
                    <a:ea typeface="+mn-ea"/>
                    <a:cs typeface="+mn-cs"/>
                  </a:rPr>
                  <a:t>MIMO</a:t>
                </a:r>
                <a:r>
                  <a:rPr lang="zh-CN" altLang="zh-CN" sz="1200" kern="1200" dirty="0">
                    <a:solidFill>
                      <a:schemeClr val="tx1"/>
                    </a:solidFill>
                    <a:effectLst/>
                    <a:latin typeface="+mn-lt"/>
                    <a:ea typeface="+mn-ea"/>
                    <a:cs typeface="+mn-cs"/>
                  </a:rPr>
                  <a:t>）系统，其运动控制比较困难。移动机器人的运动控制，可以分为开环控制与反馈控制两种类型，通过控制其某种输入，使机器人能精确、快速、平稳地从初始位形到达期望位形，如果地图中存在障碍物，还要求机器人在运动的过程中不发生碰撞。</a:t>
                </a:r>
              </a:p>
              <a:p>
                <a:r>
                  <a:rPr lang="zh-CN" altLang="zh-CN" sz="1200" kern="1200" dirty="0">
                    <a:solidFill>
                      <a:schemeClr val="tx1"/>
                    </a:solidFill>
                    <a:effectLst/>
                    <a:latin typeface="+mn-lt"/>
                    <a:ea typeface="+mn-ea"/>
                    <a:cs typeface="+mn-cs"/>
                  </a:rPr>
                  <a:t>这其中，在移动机器人学的发展过程中，形成了三个基本的运动控制问题，即点镇定、路径跟随、轨迹跟踪。</a:t>
                </a:r>
              </a:p>
              <a:p>
                <a:r>
                  <a:rPr lang="zh-CN" altLang="zh-CN" sz="1200" kern="1200" dirty="0">
                    <a:solidFill>
                      <a:schemeClr val="tx1"/>
                    </a:solidFill>
                    <a:effectLst/>
                    <a:latin typeface="+mn-lt"/>
                    <a:ea typeface="+mn-ea"/>
                    <a:cs typeface="+mn-cs"/>
                  </a:rPr>
                  <a:t>所谓点镇定，也称为位姿镇定、姿态跟踪或设定点调节，简称镇定控制。也就是说我们需要为非完整移动机器人设计一个输入控制策略即控制律</a:t>
                </a:r>
                <a:r>
                  <a:rPr lang="en-US" altLang="zh-CN" sz="1200" kern="1200" dirty="0">
                    <a:solidFill>
                      <a:schemeClr val="tx1"/>
                    </a:solidFill>
                    <a:effectLst/>
                    <a:latin typeface="+mn-lt"/>
                    <a:ea typeface="+mn-ea"/>
                    <a:cs typeface="+mn-cs"/>
                  </a:rPr>
                  <a:t>(control law)</a:t>
                </a:r>
                <a:r>
                  <a:rPr lang="zh-CN" altLang="zh-CN" sz="1200" kern="1200" dirty="0">
                    <a:solidFill>
                      <a:schemeClr val="tx1"/>
                    </a:solidFill>
                    <a:effectLst/>
                    <a:latin typeface="+mn-lt"/>
                    <a:ea typeface="+mn-ea"/>
                    <a:cs typeface="+mn-cs"/>
                  </a:rPr>
                  <a:t>，使机器人能够到达任意给定的点，并在目标点保持稳定。</a:t>
                </a:r>
              </a:p>
              <a:p>
                <a:r>
                  <a:rPr lang="zh-CN" altLang="zh-CN" sz="1200" kern="1200" dirty="0">
                    <a:solidFill>
                      <a:schemeClr val="tx1"/>
                    </a:solidFill>
                    <a:effectLst/>
                    <a:latin typeface="+mn-lt"/>
                    <a:ea typeface="+mn-ea"/>
                    <a:cs typeface="+mn-cs"/>
                  </a:rPr>
                  <a:t>同样的，移动机器人的路径跟随、轨迹跟踪控制，也是为机器人设计某种输入控制策略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控制律。路径跟随控制，参考控制输入一般用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𝑢</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𝜔</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表示，一般选取两个输入量中的前进量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为任意的常量或时变量，而另一个输入量作为控制量。因此路径跟随控制问题可以转换为关于路径跟随误差的一个标量函数的零点稳定问题，控制的目标是使机器人运动与给定路径之间的距离为零。轨迹跟踪控制与路径跟随控制的最大区别在于： 控制轨迹与时间相关，这条几何曲线</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𝑓</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𝑦</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𝜃</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，其自变量为时间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的函数，曲线方程为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的隐函数，此时，参考控制输入为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𝑢</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，机器人必须跟踪满足特定时间规律的笛卡尔轨迹。</a:t>
                </a:r>
              </a:p>
              <a:p>
                <a:r>
                  <a:rPr lang="zh-CN" altLang="zh-CN" sz="1200" kern="1200" dirty="0">
                    <a:solidFill>
                      <a:schemeClr val="tx1"/>
                    </a:solidFill>
                    <a:effectLst/>
                    <a:latin typeface="+mn-lt"/>
                    <a:ea typeface="+mn-ea"/>
                    <a:cs typeface="+mn-cs"/>
                  </a:rPr>
                  <a:t>移动机器人的控制问题将</a:t>
                </a:r>
                <a:r>
                  <a:rPr lang="zh-CN" altLang="zh-CN" sz="1200" kern="1200" dirty="0" smtClean="0">
                    <a:solidFill>
                      <a:schemeClr val="tx1"/>
                    </a:solidFill>
                    <a:effectLst/>
                    <a:latin typeface="+mn-lt"/>
                    <a:ea typeface="+mn-ea"/>
                    <a:cs typeface="+mn-cs"/>
                  </a:rPr>
                  <a:t>在</a:t>
                </a:r>
                <a:r>
                  <a:rPr lang="zh-CN" altLang="en-US" sz="1200" kern="1200" dirty="0" smtClean="0">
                    <a:solidFill>
                      <a:schemeClr val="tx1"/>
                    </a:solidFill>
                    <a:effectLst/>
                    <a:latin typeface="+mn-lt"/>
                    <a:ea typeface="+mn-ea"/>
                    <a:cs typeface="+mn-cs"/>
                  </a:rPr>
                  <a:t>第</a:t>
                </a:r>
                <a:r>
                  <a:rPr lang="en-US" altLang="zh-CN" sz="1200" kern="1200" dirty="0" smtClean="0">
                    <a:solidFill>
                      <a:schemeClr val="tx1"/>
                    </a:solidFill>
                    <a:effectLst/>
                    <a:latin typeface="+mn-lt"/>
                    <a:ea typeface="+mn-ea"/>
                    <a:cs typeface="+mn-cs"/>
                  </a:rPr>
                  <a:t>6</a:t>
                </a:r>
                <a:r>
                  <a:rPr lang="zh-CN" altLang="en-US" sz="1200" kern="1200" dirty="0" smtClean="0">
                    <a:solidFill>
                      <a:schemeClr val="tx1"/>
                    </a:solidFill>
                    <a:effectLst/>
                    <a:latin typeface="+mn-lt"/>
                    <a:ea typeface="+mn-ea"/>
                    <a:cs typeface="+mn-cs"/>
                  </a:rPr>
                  <a:t>章</a:t>
                </a:r>
                <a:r>
                  <a:rPr lang="zh-CN" altLang="zh-CN" sz="1200" kern="1200" dirty="0" smtClean="0">
                    <a:solidFill>
                      <a:schemeClr val="tx1"/>
                    </a:solidFill>
                    <a:effectLst/>
                    <a:latin typeface="+mn-lt"/>
                    <a:ea typeface="+mn-ea"/>
                    <a:cs typeface="+mn-cs"/>
                  </a:rPr>
                  <a:t>专门</a:t>
                </a:r>
                <a:r>
                  <a:rPr lang="zh-CN" altLang="zh-CN" sz="1200" kern="1200" dirty="0">
                    <a:solidFill>
                      <a:schemeClr val="tx1"/>
                    </a:solidFill>
                    <a:effectLst/>
                    <a:latin typeface="+mn-lt"/>
                    <a:ea typeface="+mn-ea"/>
                    <a:cs typeface="+mn-cs"/>
                  </a:rPr>
                  <a:t>的机器人控制章节进行详细的描述。</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移动机器人通常是非完整的，且为多入多出（</a:t>
                </a:r>
                <a:r>
                  <a:rPr lang="en-US" altLang="zh-CN" sz="1200" kern="1200" dirty="0">
                    <a:solidFill>
                      <a:schemeClr val="tx1"/>
                    </a:solidFill>
                    <a:effectLst/>
                    <a:latin typeface="+mn-lt"/>
                    <a:ea typeface="+mn-ea"/>
                    <a:cs typeface="+mn-cs"/>
                  </a:rPr>
                  <a:t>MIMO</a:t>
                </a:r>
                <a:r>
                  <a:rPr lang="zh-CN" altLang="zh-CN" sz="1200" kern="1200" dirty="0">
                    <a:solidFill>
                      <a:schemeClr val="tx1"/>
                    </a:solidFill>
                    <a:effectLst/>
                    <a:latin typeface="+mn-lt"/>
                    <a:ea typeface="+mn-ea"/>
                    <a:cs typeface="+mn-cs"/>
                  </a:rPr>
                  <a:t>）系统，其运动控制比较困难。移动机器人的运动控制，可以分为开环控制与反馈控制两种类型，通过控制其某种输入，使机器人能精确、快速、平稳地从初始位形到达期望位形，如果地图中存在障碍物，还要求机器人在运动的过程中不发生碰撞。</a:t>
                </a:r>
              </a:p>
              <a:p>
                <a:r>
                  <a:rPr lang="zh-CN" altLang="zh-CN" sz="1200" kern="1200" dirty="0">
                    <a:solidFill>
                      <a:schemeClr val="tx1"/>
                    </a:solidFill>
                    <a:effectLst/>
                    <a:latin typeface="+mn-lt"/>
                    <a:ea typeface="+mn-ea"/>
                    <a:cs typeface="+mn-cs"/>
                  </a:rPr>
                  <a:t>这其中，在移动机器人学的发展过程中，形成了三个基本的运动控制问题，即点镇定、路径跟随、轨迹跟踪。</a:t>
                </a:r>
              </a:p>
              <a:p>
                <a:r>
                  <a:rPr lang="zh-CN" altLang="zh-CN" sz="1200" kern="1200" dirty="0">
                    <a:solidFill>
                      <a:schemeClr val="tx1"/>
                    </a:solidFill>
                    <a:effectLst/>
                    <a:latin typeface="+mn-lt"/>
                    <a:ea typeface="+mn-ea"/>
                    <a:cs typeface="+mn-cs"/>
                  </a:rPr>
                  <a:t>所谓点镇定，也称为位姿镇定、姿态跟踪或设定点调节，简称镇定控制。也就是说我们需要为非完整移动机器人设计一个输入控制策略即控制律</a:t>
                </a:r>
                <a:r>
                  <a:rPr lang="en-US" altLang="zh-CN" sz="1200" kern="1200" dirty="0">
                    <a:solidFill>
                      <a:schemeClr val="tx1"/>
                    </a:solidFill>
                    <a:effectLst/>
                    <a:latin typeface="+mn-lt"/>
                    <a:ea typeface="+mn-ea"/>
                    <a:cs typeface="+mn-cs"/>
                  </a:rPr>
                  <a:t>(control law)</a:t>
                </a:r>
                <a:r>
                  <a:rPr lang="zh-CN" altLang="zh-CN" sz="1200" kern="1200" dirty="0">
                    <a:solidFill>
                      <a:schemeClr val="tx1"/>
                    </a:solidFill>
                    <a:effectLst/>
                    <a:latin typeface="+mn-lt"/>
                    <a:ea typeface="+mn-ea"/>
                    <a:cs typeface="+mn-cs"/>
                  </a:rPr>
                  <a:t>，使机器人能够到达任意给定的点，并在目标点保持稳定。</a:t>
                </a:r>
              </a:p>
              <a:p>
                <a:r>
                  <a:rPr lang="zh-CN" altLang="zh-CN" sz="1200" kern="1200" dirty="0">
                    <a:solidFill>
                      <a:schemeClr val="tx1"/>
                    </a:solidFill>
                    <a:effectLst/>
                    <a:latin typeface="+mn-lt"/>
                    <a:ea typeface="+mn-ea"/>
                    <a:cs typeface="+mn-cs"/>
                  </a:rPr>
                  <a:t>同样的，移动机器人的路径跟随、轨迹跟踪控制，也是为机器人设计某种输入控制策略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控制律。路径跟随控制，参考控制输入一般用</a:t>
                </a:r>
                <a:r>
                  <a:rPr lang="en-US" altLang="zh-CN" sz="1200" i="0" kern="1200">
                    <a:solidFill>
                      <a:schemeClr val="tx1"/>
                    </a:solidFill>
                    <a:effectLst/>
                    <a:latin typeface="+mn-lt"/>
                    <a:ea typeface="+mn-ea"/>
                    <a:cs typeface="+mn-cs"/>
                  </a:rPr>
                  <a:t>𝑢=[𝑣 𝜔]</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表示，一般选取两个输入量中的前进量</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为任意的常量或时变量，而另一个输入量作为控制量。因此路径跟随控制问题可以转换为关于路径跟随误差的一个标量函数的零点稳定问题，控制的目标是使机器人运动与给定路径之间的距离为零。轨迹跟踪控制与路径跟随控制的最大区别在于： 控制轨迹与时间相关，这条几何曲线</a:t>
                </a:r>
                <a:r>
                  <a:rPr lang="en-US" altLang="zh-CN" sz="1200" i="0" kern="1200">
                    <a:solidFill>
                      <a:schemeClr val="tx1"/>
                    </a:solidFill>
                    <a:effectLst/>
                    <a:latin typeface="+mn-lt"/>
                    <a:ea typeface="+mn-ea"/>
                    <a:cs typeface="+mn-cs"/>
                  </a:rPr>
                  <a:t>𝑓(𝑥</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 𝑦</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 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，其自变量为时间</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的函数，曲线方程为</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的隐函数，此时，参考控制输入为</a:t>
                </a:r>
                <a:r>
                  <a:rPr lang="en-US" altLang="zh-CN" sz="1200" i="0" kern="1200">
                    <a:solidFill>
                      <a:schemeClr val="tx1"/>
                    </a:solidFill>
                    <a:effectLst/>
                    <a:latin typeface="+mn-lt"/>
                    <a:ea typeface="+mn-ea"/>
                    <a:cs typeface="+mn-cs"/>
                  </a:rPr>
                  <a:t>𝑢(𝑡)=[𝑣(𝑡) 𝜔(𝑡)]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，机器人必须跟踪满足特定时间规律的笛卡尔轨迹。</a:t>
                </a:r>
              </a:p>
              <a:p>
                <a:r>
                  <a:rPr lang="zh-CN" altLang="zh-CN" sz="1200" kern="1200" dirty="0">
                    <a:solidFill>
                      <a:schemeClr val="tx1"/>
                    </a:solidFill>
                    <a:effectLst/>
                    <a:latin typeface="+mn-lt"/>
                    <a:ea typeface="+mn-ea"/>
                    <a:cs typeface="+mn-cs"/>
                  </a:rPr>
                  <a:t>移动机器人的控制问题将在专门的机器人控制章节进行详细的描述。</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36</a:t>
            </a:fld>
            <a:endParaRPr lang="zh-CN" altLang="en-US"/>
          </a:p>
        </p:txBody>
      </p:sp>
    </p:spTree>
    <p:extLst>
      <p:ext uri="{BB962C8B-B14F-4D97-AF65-F5344CB8AC3E}">
        <p14:creationId xmlns:p14="http://schemas.microsoft.com/office/powerpoint/2010/main" val="3513847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37</a:t>
            </a:fld>
            <a:endParaRPr lang="zh-CN" altLang="en-US"/>
          </a:p>
        </p:txBody>
      </p:sp>
    </p:spTree>
    <p:extLst>
      <p:ext uri="{BB962C8B-B14F-4D97-AF65-F5344CB8AC3E}">
        <p14:creationId xmlns:p14="http://schemas.microsoft.com/office/powerpoint/2010/main" val="17364978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有关机器人运动学的问题被分为正运动学与逆运动学，其中逆运动学问题相对复杂一些。</a:t>
                </a:r>
              </a:p>
              <a:p>
                <a:r>
                  <a:rPr lang="zh-CN" altLang="zh-CN" sz="1200" kern="1200" dirty="0" smtClean="0">
                    <a:solidFill>
                      <a:schemeClr val="tx1"/>
                    </a:solidFill>
                    <a:effectLst/>
                    <a:latin typeface="+mn-lt"/>
                    <a:ea typeface="+mn-ea"/>
                    <a:cs typeface="+mn-cs"/>
                  </a:rPr>
                  <a:t>在前面的章节中介绍了多种正运动学建模方法，包括几何建模方法、</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表示法（包含</a:t>
                </a:r>
                <a:r>
                  <a:rPr lang="en-US" altLang="zh-CN" sz="1200" i="1" kern="1200" dirty="0" smtClean="0">
                    <a:solidFill>
                      <a:schemeClr val="tx1"/>
                    </a:solidFill>
                    <a:effectLst/>
                    <a:latin typeface="+mn-lt"/>
                    <a:ea typeface="+mn-ea"/>
                    <a:cs typeface="+mn-cs"/>
                  </a:rPr>
                  <a:t>SDH</a:t>
                </a:r>
                <a:r>
                  <a:rPr lang="zh-CN" altLang="zh-CN" sz="1200" kern="1200" dirty="0" smtClean="0">
                    <a:solidFill>
                      <a:schemeClr val="tx1"/>
                    </a:solidFill>
                    <a:effectLst/>
                    <a:latin typeface="+mn-lt"/>
                    <a:ea typeface="+mn-ea"/>
                    <a:cs typeface="+mn-cs"/>
                  </a:rPr>
                  <a:t>和</a:t>
                </a:r>
                <a:r>
                  <a:rPr lang="en-US" altLang="zh-CN" sz="1200" i="1"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模型）、旋量法、四元数法、罗德里格斯参数法、对偶四元数法等。这些正运动学建模方法，理论上都可以由模型得到机器人精确的正解。但在实际的应用中，正解的精度取决于模型参数的精度，因此在实际的应用中需要对运动学参数进行标定与校正。</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机器人运动学逆解分为解析解与数值解。解析解又称封闭解，意味着可以通过某种确定的解析式计算得到逆解，但是针对不同构型与自由度的机器人，这个求解的过程往往难以通用。</a:t>
                </a:r>
              </a:p>
              <a:p>
                <a:r>
                  <a:rPr lang="zh-CN" altLang="zh-CN" sz="1200" kern="1200" dirty="0">
                    <a:solidFill>
                      <a:schemeClr val="tx1"/>
                    </a:solidFill>
                    <a:effectLst/>
                    <a:latin typeface="+mn-lt"/>
                    <a:ea typeface="+mn-ea"/>
                    <a:cs typeface="+mn-cs"/>
                  </a:rPr>
                  <a:t>在</a:t>
                </a:r>
                <a:r>
                  <a:rPr lang="en-US" altLang="zh-CN" sz="1200" kern="1200" dirty="0" err="1">
                    <a:solidFill>
                      <a:schemeClr val="tx1"/>
                    </a:solidFill>
                    <a:effectLst/>
                    <a:latin typeface="+mn-lt"/>
                    <a:ea typeface="+mn-ea"/>
                    <a:cs typeface="+mn-cs"/>
                  </a:rPr>
                  <a:t>OpenRAVE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ROS</a:t>
                </a:r>
                <a:r>
                  <a:rPr lang="zh-CN" altLang="zh-CN" sz="1200" kern="1200" dirty="0">
                    <a:solidFill>
                      <a:schemeClr val="tx1"/>
                    </a:solidFill>
                    <a:effectLst/>
                    <a:latin typeface="+mn-lt"/>
                    <a:ea typeface="+mn-ea"/>
                    <a:cs typeface="+mn-cs"/>
                  </a:rPr>
                  <a:t>等平台上，支持一种通用的机器人逆运动学解析解：</a:t>
                </a:r>
                <a:r>
                  <a:rPr lang="en-US" altLang="zh-CN" sz="1200" kern="1200" dirty="0" err="1">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是由</a:t>
                </a:r>
                <a:r>
                  <a:rPr lang="en-US" altLang="zh-CN" sz="1200" kern="1200" dirty="0">
                    <a:solidFill>
                      <a:schemeClr val="tx1"/>
                    </a:solidFill>
                    <a:effectLst/>
                    <a:latin typeface="+mn-lt"/>
                    <a:ea typeface="+mn-ea"/>
                    <a:cs typeface="+mn-cs"/>
                  </a:rPr>
                  <a:t>Rosen </a:t>
                </a:r>
                <a:r>
                  <a:rPr lang="en-US" altLang="zh-CN" sz="1200" kern="1200" dirty="0" err="1">
                    <a:solidFill>
                      <a:schemeClr val="tx1"/>
                    </a:solidFill>
                    <a:effectLst/>
                    <a:latin typeface="+mn-lt"/>
                    <a:ea typeface="+mn-ea"/>
                    <a:cs typeface="+mn-cs"/>
                  </a:rPr>
                  <a:t>Diankov</a:t>
                </a:r>
                <a:r>
                  <a:rPr lang="zh-CN" altLang="zh-CN" sz="1200" kern="1200" dirty="0">
                    <a:solidFill>
                      <a:schemeClr val="tx1"/>
                    </a:solidFill>
                    <a:effectLst/>
                    <a:latin typeface="+mn-lt"/>
                    <a:ea typeface="+mn-ea"/>
                    <a:cs typeface="+mn-cs"/>
                  </a:rPr>
                  <a:t>编写的一种机器人通用运动规划库算法，可生成</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自由度以下机器人的逆运动学解析解。如图</a:t>
                </a:r>
                <a:r>
                  <a:rPr lang="en-US" altLang="zh-CN" sz="1200" kern="1200" dirty="0">
                    <a:solidFill>
                      <a:schemeClr val="tx1"/>
                    </a:solidFill>
                    <a:effectLst/>
                    <a:latin typeface="+mn-lt"/>
                    <a:ea typeface="+mn-ea"/>
                    <a:cs typeface="+mn-cs"/>
                  </a:rPr>
                  <a:t>3.66</a:t>
                </a:r>
                <a:r>
                  <a:rPr lang="zh-CN" altLang="zh-CN" sz="1200" kern="1200" dirty="0">
                    <a:solidFill>
                      <a:schemeClr val="tx1"/>
                    </a:solidFill>
                    <a:effectLst/>
                    <a:latin typeface="+mn-lt"/>
                    <a:ea typeface="+mn-ea"/>
                    <a:cs typeface="+mn-cs"/>
                  </a:rPr>
                  <a:t>，其将</a:t>
                </a:r>
                <a:r>
                  <a:rPr lang="en-US" altLang="zh-CN" sz="1200" kern="1200" dirty="0">
                    <a:solidFill>
                      <a:schemeClr val="tx1"/>
                    </a:solidFill>
                    <a:effectLst/>
                    <a:latin typeface="+mn-lt"/>
                    <a:ea typeface="+mn-ea"/>
                    <a:cs typeface="+mn-cs"/>
                  </a:rPr>
                  <a:t>6DOM</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Degree of Motion</a:t>
                </a:r>
                <a:r>
                  <a:rPr lang="zh-CN" altLang="zh-CN" sz="1200" kern="1200" dirty="0">
                    <a:solidFill>
                      <a:schemeClr val="tx1"/>
                    </a:solidFill>
                    <a:effectLst/>
                    <a:latin typeface="+mn-lt"/>
                    <a:ea typeface="+mn-ea"/>
                    <a:cs typeface="+mn-cs"/>
                  </a:rPr>
                  <a:t>）运动进行参数化，将</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自由度的空间变换（旋转</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平移）分解为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自由度的平移变换以及</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自由度的旋转变换参数，并设置了</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自由度的射线变换</a:t>
                </a:r>
                <a:r>
                  <a:rPr lang="en-US" altLang="zh-CN" sz="1200" kern="1200" dirty="0">
                    <a:solidFill>
                      <a:schemeClr val="tx1"/>
                    </a:solidFill>
                    <a:effectLst/>
                    <a:latin typeface="+mn-lt"/>
                    <a:ea typeface="+mn-ea"/>
                    <a:cs typeface="+mn-cs"/>
                  </a:rPr>
                  <a:t>(look-at Ray)</a:t>
                </a:r>
                <a:r>
                  <a:rPr lang="zh-CN" altLang="zh-CN" sz="1200" kern="1200" dirty="0">
                    <a:solidFill>
                      <a:schemeClr val="tx1"/>
                    </a:solidFill>
                    <a:effectLst/>
                    <a:latin typeface="+mn-lt"/>
                    <a:ea typeface="+mn-ea"/>
                    <a:cs typeface="+mn-cs"/>
                  </a:rPr>
                  <a:t>参数。可根据机器人的</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模型或</a:t>
                </a:r>
                <a:r>
                  <a:rPr lang="en-US" altLang="zh-CN" sz="1200" kern="1200" dirty="0">
                    <a:solidFill>
                      <a:schemeClr val="tx1"/>
                    </a:solidFill>
                    <a:effectLst/>
                    <a:latin typeface="+mn-lt"/>
                    <a:ea typeface="+mn-ea"/>
                    <a:cs typeface="+mn-cs"/>
                  </a:rPr>
                  <a:t>URDF</a:t>
                </a:r>
                <a:r>
                  <a:rPr lang="zh-CN" altLang="zh-CN" sz="1200" kern="1200" dirty="0">
                    <a:solidFill>
                      <a:schemeClr val="tx1"/>
                    </a:solidFill>
                    <a:effectLst/>
                    <a:latin typeface="+mn-lt"/>
                    <a:ea typeface="+mn-ea"/>
                    <a:cs typeface="+mn-cs"/>
                  </a:rPr>
                  <a:t>模型，通过复杂的解等式过程，直到找到符合指定构型机器人的逆解方程，并生成特定语言（例如</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）的程序代码文件供工程使用。对于</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轴及以下的串联机器人</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基于算法搜索的方法，自动生成最小的、数值稳定的逆运动学解析解求解器。而针对</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轴冗余机器人，</a:t>
                </a:r>
                <a:r>
                  <a:rPr lang="en-US" altLang="zh-CN" sz="1200" kern="1200" dirty="0" err="1">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将其中一个关节指定为自由关节，然后按</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轴机器人进行求解。</a:t>
                </a:r>
                <a:r>
                  <a:rPr lang="en-US" altLang="zh-CN" sz="1200" kern="1200" dirty="0" err="1" smtClean="0">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已在较多的串联机器人上得到验证，可以得到正确稳定的解析解代码，编译后求解速度比较快，但并未得到完全验证，在某些构型上可能无法找到解。</a:t>
                </a:r>
              </a:p>
              <a:p>
                <a:r>
                  <a:rPr lang="zh-CN" altLang="zh-CN" sz="1200" kern="1200" dirty="0">
                    <a:solidFill>
                      <a:schemeClr val="tx1"/>
                    </a:solidFill>
                    <a:effectLst/>
                    <a:latin typeface="+mn-lt"/>
                    <a:ea typeface="+mn-ea"/>
                    <a:cs typeface="+mn-cs"/>
                  </a:rPr>
                  <a:t>工业机器人在设计的时候，一般遵循</a:t>
                </a:r>
                <a:r>
                  <a:rPr lang="en-US" altLang="zh-CN" sz="1200" kern="1200" dirty="0">
                    <a:solidFill>
                      <a:schemeClr val="tx1"/>
                    </a:solidFill>
                    <a:effectLst/>
                    <a:latin typeface="+mn-lt"/>
                    <a:ea typeface="+mn-ea"/>
                    <a:cs typeface="+mn-cs"/>
                  </a:rPr>
                  <a:t>Pieper</a:t>
                </a:r>
                <a:r>
                  <a:rPr lang="zh-CN" altLang="zh-CN" sz="1200" kern="1200" dirty="0">
                    <a:solidFill>
                      <a:schemeClr val="tx1"/>
                    </a:solidFill>
                    <a:effectLst/>
                    <a:latin typeface="+mn-lt"/>
                    <a:ea typeface="+mn-ea"/>
                    <a:cs typeface="+mn-cs"/>
                  </a:rPr>
                  <a:t>准则，方便采用</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表示法进行建模以及能用矩阵运算求取逆运动学解析解，这样做的目的是为了简单化逆运动学的求解，得到尽可能高的运动学解算精度以及良好的解算实时性。解析解是一种精确解。</a:t>
                </a:r>
              </a:p>
              <a:p>
                <a:r>
                  <a:rPr lang="zh-CN" altLang="zh-CN" sz="1200" kern="1200" dirty="0">
                    <a:solidFill>
                      <a:schemeClr val="tx1"/>
                    </a:solidFill>
                    <a:effectLst/>
                    <a:latin typeface="+mn-lt"/>
                    <a:ea typeface="+mn-ea"/>
                    <a:cs typeface="+mn-cs"/>
                  </a:rPr>
                  <a:t>数值解是一种近似解，数值解方法不依赖于机器人的结构。目前机器人常用仿真平台支持的</a:t>
                </a:r>
                <a:r>
                  <a:rPr lang="en-US" altLang="zh-CN" sz="1200" kern="1200" dirty="0">
                    <a:solidFill>
                      <a:schemeClr val="tx1"/>
                    </a:solidFill>
                    <a:effectLst/>
                    <a:latin typeface="+mn-lt"/>
                    <a:ea typeface="+mn-ea"/>
                    <a:cs typeface="+mn-cs"/>
                  </a:rPr>
                  <a:t>KDL(Kinematics and Dynamics Library)</a:t>
                </a:r>
                <a:r>
                  <a:rPr lang="zh-CN" altLang="zh-CN" sz="1200" kern="1200" dirty="0">
                    <a:solidFill>
                      <a:schemeClr val="tx1"/>
                    </a:solidFill>
                    <a:effectLst/>
                    <a:latin typeface="+mn-lt"/>
                    <a:ea typeface="+mn-ea"/>
                    <a:cs typeface="+mn-cs"/>
                  </a:rPr>
                  <a:t>库中，其逆解算法为雅可比伪逆矩阵迭代算法。雅可比伪逆矩阵迭代算法会由于关节的限制，导致雅可比伪逆矩阵的退化，或由于初始位姿的选择不当及迭代步长的不合适，从而陷入局部最小值而无法得到满足条件的迭代近似解。</a:t>
                </a:r>
                <a:r>
                  <a:rPr lang="en-US" altLang="zh-CN" sz="1200" kern="1200" dirty="0" err="1">
                    <a:solidFill>
                      <a:schemeClr val="tx1"/>
                    </a:solidFill>
                    <a:effectLst/>
                    <a:latin typeface="+mn-lt"/>
                    <a:ea typeface="+mn-ea"/>
                    <a:cs typeface="+mn-cs"/>
                  </a:rPr>
                  <a:t>Trac</a:t>
                </a:r>
                <a:r>
                  <a:rPr lang="en-US" altLang="zh-CN" sz="1200" kern="1200" dirty="0">
                    <a:solidFill>
                      <a:schemeClr val="tx1"/>
                    </a:solidFill>
                    <a:effectLst/>
                    <a:latin typeface="+mn-lt"/>
                    <a:ea typeface="+mn-ea"/>
                    <a:cs typeface="+mn-cs"/>
                  </a:rPr>
                  <a:t>-IK</a:t>
                </a:r>
                <a:r>
                  <a:rPr lang="zh-CN" altLang="zh-CN" sz="1200" kern="1200" dirty="0">
                    <a:solidFill>
                      <a:schemeClr val="tx1"/>
                    </a:solidFill>
                    <a:effectLst/>
                    <a:latin typeface="+mn-lt"/>
                    <a:ea typeface="+mn-ea"/>
                    <a:cs typeface="+mn-cs"/>
                  </a:rPr>
                  <a:t>也是一种常用的数值解算法，相比于</a:t>
                </a:r>
                <a:r>
                  <a:rPr lang="en-US" altLang="zh-CN" sz="1200" kern="1200" dirty="0">
                    <a:solidFill>
                      <a:schemeClr val="tx1"/>
                    </a:solidFill>
                    <a:effectLst/>
                    <a:latin typeface="+mn-lt"/>
                    <a:ea typeface="+mn-ea"/>
                    <a:cs typeface="+mn-cs"/>
                  </a:rPr>
                  <a:t>KDL</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Trac</a:t>
                </a:r>
                <a:r>
                  <a:rPr lang="en-US" altLang="zh-CN" sz="1200" kern="1200" dirty="0">
                    <a:solidFill>
                      <a:schemeClr val="tx1"/>
                    </a:solidFill>
                    <a:effectLst/>
                    <a:latin typeface="+mn-lt"/>
                    <a:ea typeface="+mn-ea"/>
                    <a:cs typeface="+mn-cs"/>
                  </a:rPr>
                  <a:t>-IK</a:t>
                </a:r>
                <a:r>
                  <a:rPr lang="zh-CN" altLang="zh-CN" sz="1200" kern="1200" dirty="0">
                    <a:solidFill>
                      <a:schemeClr val="tx1"/>
                    </a:solidFill>
                    <a:effectLst/>
                    <a:latin typeface="+mn-lt"/>
                    <a:ea typeface="+mn-ea"/>
                    <a:cs typeface="+mn-cs"/>
                  </a:rPr>
                  <a:t>算法可以在陷入局部最小值时，随机重启迭代，并引入了</a:t>
                </a:r>
                <a:r>
                  <a:rPr lang="en-US" altLang="zh-CN" sz="1200" kern="1200" dirty="0">
                    <a:solidFill>
                      <a:schemeClr val="tx1"/>
                    </a:solidFill>
                    <a:effectLst/>
                    <a:latin typeface="+mn-lt"/>
                    <a:ea typeface="+mn-ea"/>
                    <a:cs typeface="+mn-cs"/>
                  </a:rPr>
                  <a:t>SQP</a:t>
                </a:r>
                <a:r>
                  <a:rPr lang="zh-CN" altLang="zh-CN" sz="1200" kern="1200" dirty="0">
                    <a:solidFill>
                      <a:schemeClr val="tx1"/>
                    </a:solidFill>
                    <a:effectLst/>
                    <a:latin typeface="+mn-lt"/>
                    <a:ea typeface="+mn-ea"/>
                    <a:cs typeface="+mn-cs"/>
                  </a:rPr>
                  <a:t>（顺序二次规划：</a:t>
                </a:r>
                <a:r>
                  <a:rPr lang="en-US" altLang="zh-CN" sz="1200" kern="1200" dirty="0">
                    <a:solidFill>
                      <a:schemeClr val="tx1"/>
                    </a:solidFill>
                    <a:effectLst/>
                    <a:latin typeface="+mn-lt"/>
                    <a:ea typeface="+mn-ea"/>
                    <a:cs typeface="+mn-cs"/>
                  </a:rPr>
                  <a:t>Sequential Quadratic Programming</a:t>
                </a:r>
                <a:r>
                  <a:rPr lang="zh-CN" altLang="zh-CN" sz="1200" kern="1200" dirty="0">
                    <a:solidFill>
                      <a:schemeClr val="tx1"/>
                    </a:solidFill>
                    <a:effectLst/>
                    <a:latin typeface="+mn-lt"/>
                    <a:ea typeface="+mn-ea"/>
                    <a:cs typeface="+mn-cs"/>
                  </a:rPr>
                  <a:t>）的并行算法，求解速度要比</a:t>
                </a:r>
                <a:r>
                  <a:rPr lang="en-US" altLang="zh-CN" sz="1200" kern="1200" dirty="0">
                    <a:solidFill>
                      <a:schemeClr val="tx1"/>
                    </a:solidFill>
                    <a:effectLst/>
                    <a:latin typeface="+mn-lt"/>
                    <a:ea typeface="+mn-ea"/>
                    <a:cs typeface="+mn-cs"/>
                  </a:rPr>
                  <a:t>KDL</a:t>
                </a:r>
                <a:r>
                  <a:rPr lang="zh-CN" altLang="zh-CN" sz="1200" kern="1200" dirty="0">
                    <a:solidFill>
                      <a:schemeClr val="tx1"/>
                    </a:solidFill>
                    <a:effectLst/>
                    <a:latin typeface="+mn-lt"/>
                    <a:ea typeface="+mn-ea"/>
                    <a:cs typeface="+mn-cs"/>
                  </a:rPr>
                  <a:t>更快。除此之外，也可以采用神经网络、遗传算法等智能化算法求解逆运动学的数值解。这些算法都有自己的优缺点，数值解只是解析解的近似，如果可用且计算效率高，解析解总是优于数值解。</a:t>
                </a:r>
              </a:p>
              <a:p>
                <a:r>
                  <a:rPr lang="zh-CN" altLang="zh-CN" sz="1200" kern="1200" dirty="0">
                    <a:solidFill>
                      <a:schemeClr val="tx1"/>
                    </a:solidFill>
                    <a:effectLst/>
                    <a:latin typeface="+mn-lt"/>
                    <a:ea typeface="+mn-ea"/>
                    <a:cs typeface="+mn-cs"/>
                  </a:rPr>
                  <a:t>目前在智能制造、新零售等领域大量出现了轮式移动机器人安装机械臂的形式，这种形式的机器人又被称为复合机器人。一般来说，移动底盘的运动学属于非完全约束，其运动控制并不精确，而机械臂属于完全约束机器人，可以更精确控制其运动，所以移动操作一般将其底盘的运动与机械臂的运动分开控制，在底盘运动到目的地附近后停止移动，采用定位算法对机器人整体进行自定位，然后再控制机械臂进行作业。而某些情况下，如果其运动控制需要将底盘运动与机械臂关节运动同时进行，且能精确控制末端执行器到达期望的位姿，就需要进行二者之间的协调。此时可通过雅可比矩阵表示的速度运动学来表达末端执行器位形与轮式移动底盘以及关节速度之间的关系。</a:t>
                </a:r>
              </a:p>
              <a:p>
                <a:r>
                  <a:rPr lang="zh-CN" altLang="zh-CN" sz="1200" kern="1200" dirty="0">
                    <a:solidFill>
                      <a:schemeClr val="tx1"/>
                    </a:solidFill>
                    <a:effectLst/>
                    <a:latin typeface="+mn-lt"/>
                    <a:ea typeface="+mn-ea"/>
                    <a:cs typeface="+mn-cs"/>
                  </a:rPr>
                  <a:t>定义全局坐标系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𝑠</m:t>
                        </m:r>
                      </m:e>
                    </m:d>
                  </m:oMath>
                </a14:m>
                <a:r>
                  <a:rPr lang="zh-CN" altLang="zh-CN" sz="1200" kern="1200" dirty="0">
                    <a:solidFill>
                      <a:schemeClr val="tx1"/>
                    </a:solidFill>
                    <a:effectLst/>
                    <a:latin typeface="+mn-lt"/>
                    <a:ea typeface="+mn-ea"/>
                    <a:cs typeface="+mn-cs"/>
                  </a:rPr>
                  <a:t>，移动底盘坐标系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，机械臂底座坐标系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𝑜</m:t>
                        </m:r>
                      </m:e>
                    </m:d>
                  </m:oMath>
                </a14:m>
                <a:r>
                  <a:rPr lang="zh-CN" altLang="zh-CN" sz="1200" kern="1200" dirty="0">
                    <a:solidFill>
                      <a:schemeClr val="tx1"/>
                    </a:solidFill>
                    <a:effectLst/>
                    <a:latin typeface="+mn-lt"/>
                    <a:ea typeface="+mn-ea"/>
                    <a:cs typeface="+mn-cs"/>
                  </a:rPr>
                  <a:t>，末端坐标系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𝑒</m:t>
                        </m:r>
                      </m:e>
                    </m:d>
                  </m:oMath>
                </a14:m>
                <a:r>
                  <a:rPr lang="zh-CN" altLang="zh-CN" sz="1200" kern="1200" dirty="0">
                    <a:solidFill>
                      <a:schemeClr val="tx1"/>
                    </a:solidFill>
                    <a:effectLst/>
                    <a:latin typeface="+mn-lt"/>
                    <a:ea typeface="+mn-ea"/>
                    <a:cs typeface="+mn-cs"/>
                  </a:rPr>
                  <a:t>，末端位形在全局坐标系可表达为：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𝑋</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𝑠𝑒</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𝑠𝑏</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𝑏𝑜</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𝑜𝑒</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e>
                    </m:d>
                  </m:oMath>
                </a14:m>
                <a:r>
                  <a:rPr lang="zh-CN" altLang="zh-CN" sz="1200" kern="1200" dirty="0">
                    <a:solidFill>
                      <a:schemeClr val="tx1"/>
                    </a:solidFill>
                    <a:effectLst/>
                    <a:latin typeface="+mn-lt"/>
                    <a:ea typeface="+mn-ea"/>
                    <a:cs typeface="+mn-cs"/>
                  </a:rPr>
                  <a:t>为机械臂的关节变量，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𝑜𝑒</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为机械臂正运动学，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d>
                  </m:oMath>
                </a14:m>
                <a:r>
                  <a:rPr lang="zh-CN" altLang="zh-CN" sz="1200" kern="1200" dirty="0">
                    <a:solidFill>
                      <a:schemeClr val="tx1"/>
                    </a:solidFill>
                    <a:effectLst/>
                    <a:latin typeface="+mn-lt"/>
                    <a:ea typeface="+mn-ea"/>
                    <a:cs typeface="+mn-cs"/>
                  </a:rPr>
                  <a:t>为平面移动机器人的位形，</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𝑏𝑜</m:t>
                        </m:r>
                      </m:sub>
                    </m:sSub>
                  </m:oMath>
                </a14:m>
                <a:r>
                  <a:rPr lang="zh-CN" altLang="zh-CN" sz="1200" kern="1200" dirty="0">
                    <a:solidFill>
                      <a:schemeClr val="tx1"/>
                    </a:solidFill>
                    <a:effectLst/>
                    <a:latin typeface="+mn-lt"/>
                    <a:ea typeface="+mn-ea"/>
                    <a:cs typeface="+mn-cs"/>
                  </a:rPr>
                  <a:t>表示从坐标系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到坐标系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𝑜</m:t>
                        </m:r>
                      </m:e>
                    </m:d>
                  </m:oMath>
                </a14:m>
                <a:r>
                  <a:rPr lang="zh-CN" altLang="zh-CN" sz="1200" kern="1200" dirty="0">
                    <a:solidFill>
                      <a:schemeClr val="tx1"/>
                    </a:solidFill>
                    <a:effectLst/>
                    <a:latin typeface="+mn-lt"/>
                    <a:ea typeface="+mn-ea"/>
                    <a:cs typeface="+mn-cs"/>
                  </a:rPr>
                  <a:t>的变换。那么：</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𝑠𝑏</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𝑞</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m:t>
                                      </m:r>
                                    </m:e>
                                  </m:mr>
                                  <m:m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𝑥</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𝑦</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𝑧</m:t>
                                      </m:r>
                                    </m:e>
                                  </m:mr>
                                  <m:mr>
                                    <m:e/>
                                    <m:e>
                                      <m:r>
                                        <a:rPr lang="en-US" altLang="zh-CN" sz="1200" i="1" kern="1200">
                                          <a:solidFill>
                                            <a:schemeClr val="tx1"/>
                                          </a:solidFill>
                                          <a:effectLst/>
                                          <a:latin typeface="Cambria Math" panose="02040503050406030204" pitchFamily="18" charset="0"/>
                                          <a:ea typeface="+mn-ea"/>
                                          <a:cs typeface="+mn-cs"/>
                                        </a:rPr>
                                        <m:t>1</m:t>
                                      </m:r>
                                    </m:e>
                                  </m:mr>
                                </m:m>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为坐标系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oMath>
                </a14:m>
                <a:r>
                  <a:rPr lang="zh-CN" altLang="zh-CN" sz="1200" kern="1200" dirty="0">
                    <a:solidFill>
                      <a:schemeClr val="tx1"/>
                    </a:solidFill>
                    <a:effectLst/>
                    <a:latin typeface="+mn-lt"/>
                    <a:ea typeface="+mn-ea"/>
                    <a:cs typeface="+mn-cs"/>
                  </a:rPr>
                  <a:t>的高度，假定地板是水平的，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为一个常数。</a:t>
                </a:r>
              </a:p>
              <a:p>
                <a:r>
                  <a:rPr lang="zh-CN" altLang="zh-CN" sz="1200" kern="1200" dirty="0">
                    <a:solidFill>
                      <a:schemeClr val="tx1"/>
                    </a:solidFill>
                    <a:effectLst/>
                    <a:latin typeface="+mn-lt"/>
                    <a:ea typeface="+mn-ea"/>
                    <a:cs typeface="+mn-cs"/>
                  </a:rPr>
                  <a:t>根据雅可比矩阵的定义，将末端执行器的运动速度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𝑒</m:t>
                        </m:r>
                      </m:sub>
                    </m:sSub>
                  </m:oMath>
                </a14:m>
                <a:r>
                  <a:rPr lang="zh-CN" altLang="zh-CN" sz="1200" kern="1200" dirty="0">
                    <a:solidFill>
                      <a:schemeClr val="tx1"/>
                    </a:solidFill>
                    <a:effectLst/>
                    <a:latin typeface="+mn-lt"/>
                    <a:ea typeface="+mn-ea"/>
                    <a:cs typeface="+mn-cs"/>
                  </a:rPr>
                  <a:t>用底盘速度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𝑢</m:t>
                    </m:r>
                  </m:oMath>
                </a14:m>
                <a:r>
                  <a:rPr lang="zh-CN" altLang="zh-CN" sz="1200" kern="1200" dirty="0">
                    <a:solidFill>
                      <a:schemeClr val="tx1"/>
                    </a:solidFill>
                    <a:effectLst/>
                    <a:latin typeface="+mn-lt"/>
                    <a:ea typeface="+mn-ea"/>
                    <a:cs typeface="+mn-cs"/>
                  </a:rPr>
                  <a:t>与关节速度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进行逼近：</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𝑉</m:t>
                          </m:r>
                        </m:e>
                        <m:sub>
                          <m:r>
                            <a:rPr lang="en-US" altLang="zh-CN" sz="1200" i="1" kern="1200">
                              <a:solidFill>
                                <a:schemeClr val="tx1"/>
                              </a:solidFill>
                              <a:effectLst/>
                              <a:latin typeface="Cambria Math" panose="02040503050406030204" pitchFamily="18" charset="0"/>
                              <a:ea typeface="+mn-ea"/>
                              <a:cs typeface="+mn-cs"/>
                            </a:rPr>
                            <m:t>𝑒</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𝑒</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𝑢</m:t>
                                </m:r>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mr>
                          </m:m>
                        </m:e>
                      </m:d>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𝑏𝑎𝑠𝑒</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𝑎𝑟𝑚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𝑢</m:t>
                                </m:r>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此时将复合机器人的运动学表达成了底盘与关节速度综合的速度方程，雅可比矩阵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𝑒</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可分解成</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𝑏𝑎𝑠𝑒</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𝑎𝑟𝑚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𝑏𝑎𝑠𝑒</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𝑢</m:t>
                    </m:r>
                  </m:oMath>
                </a14:m>
                <a:r>
                  <a:rPr lang="zh-CN" altLang="zh-CN" sz="1200" kern="1200" dirty="0">
                    <a:solidFill>
                      <a:schemeClr val="tx1"/>
                    </a:solidFill>
                    <a:effectLst/>
                    <a:latin typeface="+mn-lt"/>
                    <a:ea typeface="+mn-ea"/>
                    <a:cs typeface="+mn-cs"/>
                  </a:rPr>
                  <a:t>表示轮子转速</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𝑢</m:t>
                    </m:r>
                  </m:oMath>
                </a14:m>
                <a:r>
                  <a:rPr lang="zh-CN" altLang="zh-CN" sz="1200" kern="1200" dirty="0">
                    <a:solidFill>
                      <a:schemeClr val="tx1"/>
                    </a:solidFill>
                    <a:effectLst/>
                    <a:latin typeface="+mn-lt"/>
                    <a:ea typeface="+mn-ea"/>
                    <a:cs typeface="+mn-cs"/>
                  </a:rPr>
                  <a:t>对末端执行器的贡献，</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𝑎𝑟𝑚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表示关节速度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对末端执行器的贡献。</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𝑎𝑟𝑚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在本章中已介绍过，由于参考坐标系为末端坐标系，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𝑎𝑟𝑚</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为机械臂的物理雅可比矩阵。而轮式移动机器人的雅可比矩阵可根据滑动约束与滚动约束方程确定，表达为每个轮子对底盘整体速度的贡献。为了和机械臂的雅可比矩阵维数统一，可将移动机器人的雅可比矩阵按一定规则扩充和机械臂雅可比矩阵维数一致。根据此雅可比速度运动学方程，后续可以设计控制律进行相关运动控制。有关移动操作的运动学及控制，有兴趣的读者可参考《现代机器人学》第</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章的描述以及最近相关研究论文。</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有关机器人运动学的问题被分为正运动学与逆运动学，其中逆运动学问题相对复杂一些。</a:t>
                </a:r>
              </a:p>
              <a:p>
                <a:r>
                  <a:rPr lang="zh-CN" altLang="zh-CN" sz="1200" kern="1200" dirty="0" smtClean="0">
                    <a:solidFill>
                      <a:schemeClr val="tx1"/>
                    </a:solidFill>
                    <a:effectLst/>
                    <a:latin typeface="+mn-lt"/>
                    <a:ea typeface="+mn-ea"/>
                    <a:cs typeface="+mn-cs"/>
                  </a:rPr>
                  <a:t>在前面的章节中介绍了多种正运动学建模方法，包括几何建模方法、</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表示法（包含</a:t>
                </a:r>
                <a:r>
                  <a:rPr lang="en-US" altLang="zh-CN" sz="1200" i="1" kern="1200" dirty="0" smtClean="0">
                    <a:solidFill>
                      <a:schemeClr val="tx1"/>
                    </a:solidFill>
                    <a:effectLst/>
                    <a:latin typeface="+mn-lt"/>
                    <a:ea typeface="+mn-ea"/>
                    <a:cs typeface="+mn-cs"/>
                  </a:rPr>
                  <a:t>SDH</a:t>
                </a:r>
                <a:r>
                  <a:rPr lang="zh-CN" altLang="zh-CN" sz="1200" kern="1200" dirty="0" smtClean="0">
                    <a:solidFill>
                      <a:schemeClr val="tx1"/>
                    </a:solidFill>
                    <a:effectLst/>
                    <a:latin typeface="+mn-lt"/>
                    <a:ea typeface="+mn-ea"/>
                    <a:cs typeface="+mn-cs"/>
                  </a:rPr>
                  <a:t>和</a:t>
                </a:r>
                <a:r>
                  <a:rPr lang="en-US" altLang="zh-CN" sz="1200" i="1"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模型）、旋量法、四元数法、罗德里格斯参数法、对偶四元数法等。这些正运动学建模方法，理论上都可以由模型得到机器人精确的正解。但在实际的应用中，正解的精度取决于模型参数的精度，因此在实际的应用中需要对运动学参数进行标定与校正。</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机器人运动学逆解分为解析解与数值解。解析解又称封闭解，意味着可以通过某种确定的解析式计算得到逆解，但是针对不同构型与自由度的机器人，这个求解的过程往往难以通用。</a:t>
                </a:r>
              </a:p>
              <a:p>
                <a:r>
                  <a:rPr lang="zh-CN" altLang="zh-CN" sz="1200" kern="1200" dirty="0">
                    <a:solidFill>
                      <a:schemeClr val="tx1"/>
                    </a:solidFill>
                    <a:effectLst/>
                    <a:latin typeface="+mn-lt"/>
                    <a:ea typeface="+mn-ea"/>
                    <a:cs typeface="+mn-cs"/>
                  </a:rPr>
                  <a:t>在</a:t>
                </a:r>
                <a:r>
                  <a:rPr lang="en-US" altLang="zh-CN" sz="1200" kern="1200" dirty="0" err="1">
                    <a:solidFill>
                      <a:schemeClr val="tx1"/>
                    </a:solidFill>
                    <a:effectLst/>
                    <a:latin typeface="+mn-lt"/>
                    <a:ea typeface="+mn-ea"/>
                    <a:cs typeface="+mn-cs"/>
                  </a:rPr>
                  <a:t>OpenRAVE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ROS</a:t>
                </a:r>
                <a:r>
                  <a:rPr lang="zh-CN" altLang="zh-CN" sz="1200" kern="1200" dirty="0">
                    <a:solidFill>
                      <a:schemeClr val="tx1"/>
                    </a:solidFill>
                    <a:effectLst/>
                    <a:latin typeface="+mn-lt"/>
                    <a:ea typeface="+mn-ea"/>
                    <a:cs typeface="+mn-cs"/>
                  </a:rPr>
                  <a:t>等平台上，支持一种通用的机器人逆运动学解析解：</a:t>
                </a:r>
                <a:r>
                  <a:rPr lang="en-US" altLang="zh-CN" sz="1200" kern="1200" dirty="0" err="1">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是由</a:t>
                </a:r>
                <a:r>
                  <a:rPr lang="en-US" altLang="zh-CN" sz="1200" kern="1200" dirty="0">
                    <a:solidFill>
                      <a:schemeClr val="tx1"/>
                    </a:solidFill>
                    <a:effectLst/>
                    <a:latin typeface="+mn-lt"/>
                    <a:ea typeface="+mn-ea"/>
                    <a:cs typeface="+mn-cs"/>
                  </a:rPr>
                  <a:t>Rosen </a:t>
                </a:r>
                <a:r>
                  <a:rPr lang="en-US" altLang="zh-CN" sz="1200" kern="1200" dirty="0" err="1">
                    <a:solidFill>
                      <a:schemeClr val="tx1"/>
                    </a:solidFill>
                    <a:effectLst/>
                    <a:latin typeface="+mn-lt"/>
                    <a:ea typeface="+mn-ea"/>
                    <a:cs typeface="+mn-cs"/>
                  </a:rPr>
                  <a:t>Diankov</a:t>
                </a:r>
                <a:r>
                  <a:rPr lang="zh-CN" altLang="zh-CN" sz="1200" kern="1200" dirty="0">
                    <a:solidFill>
                      <a:schemeClr val="tx1"/>
                    </a:solidFill>
                    <a:effectLst/>
                    <a:latin typeface="+mn-lt"/>
                    <a:ea typeface="+mn-ea"/>
                    <a:cs typeface="+mn-cs"/>
                  </a:rPr>
                  <a:t>编写的一种机器人通用运动规划库算法，可生成</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自由度以下机器人的逆运动学解析解。如图</a:t>
                </a:r>
                <a:r>
                  <a:rPr lang="en-US" altLang="zh-CN" sz="1200" kern="1200" dirty="0">
                    <a:solidFill>
                      <a:schemeClr val="tx1"/>
                    </a:solidFill>
                    <a:effectLst/>
                    <a:latin typeface="+mn-lt"/>
                    <a:ea typeface="+mn-ea"/>
                    <a:cs typeface="+mn-cs"/>
                  </a:rPr>
                  <a:t>3.66</a:t>
                </a:r>
                <a:r>
                  <a:rPr lang="zh-CN" altLang="zh-CN" sz="1200" kern="1200" dirty="0">
                    <a:solidFill>
                      <a:schemeClr val="tx1"/>
                    </a:solidFill>
                    <a:effectLst/>
                    <a:latin typeface="+mn-lt"/>
                    <a:ea typeface="+mn-ea"/>
                    <a:cs typeface="+mn-cs"/>
                  </a:rPr>
                  <a:t>，其将</a:t>
                </a:r>
                <a:r>
                  <a:rPr lang="en-US" altLang="zh-CN" sz="1200" kern="1200" dirty="0">
                    <a:solidFill>
                      <a:schemeClr val="tx1"/>
                    </a:solidFill>
                    <a:effectLst/>
                    <a:latin typeface="+mn-lt"/>
                    <a:ea typeface="+mn-ea"/>
                    <a:cs typeface="+mn-cs"/>
                  </a:rPr>
                  <a:t>6DOM</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Degree of Motion</a:t>
                </a:r>
                <a:r>
                  <a:rPr lang="zh-CN" altLang="zh-CN" sz="1200" kern="1200" dirty="0">
                    <a:solidFill>
                      <a:schemeClr val="tx1"/>
                    </a:solidFill>
                    <a:effectLst/>
                    <a:latin typeface="+mn-lt"/>
                    <a:ea typeface="+mn-ea"/>
                    <a:cs typeface="+mn-cs"/>
                  </a:rPr>
                  <a:t>）运动进行参数化，将</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自由度的空间变换（旋转</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平移）分解为</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自由度的平移变换以及</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自由度的旋转变换参数，并设置了</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自由度的射线变换</a:t>
                </a:r>
                <a:r>
                  <a:rPr lang="en-US" altLang="zh-CN" sz="1200" kern="1200" dirty="0">
                    <a:solidFill>
                      <a:schemeClr val="tx1"/>
                    </a:solidFill>
                    <a:effectLst/>
                    <a:latin typeface="+mn-lt"/>
                    <a:ea typeface="+mn-ea"/>
                    <a:cs typeface="+mn-cs"/>
                  </a:rPr>
                  <a:t>(look-at Ray)</a:t>
                </a:r>
                <a:r>
                  <a:rPr lang="zh-CN" altLang="zh-CN" sz="1200" kern="1200" dirty="0">
                    <a:solidFill>
                      <a:schemeClr val="tx1"/>
                    </a:solidFill>
                    <a:effectLst/>
                    <a:latin typeface="+mn-lt"/>
                    <a:ea typeface="+mn-ea"/>
                    <a:cs typeface="+mn-cs"/>
                  </a:rPr>
                  <a:t>参数。可根据机器人的</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模型或</a:t>
                </a:r>
                <a:r>
                  <a:rPr lang="en-US" altLang="zh-CN" sz="1200" kern="1200" dirty="0">
                    <a:solidFill>
                      <a:schemeClr val="tx1"/>
                    </a:solidFill>
                    <a:effectLst/>
                    <a:latin typeface="+mn-lt"/>
                    <a:ea typeface="+mn-ea"/>
                    <a:cs typeface="+mn-cs"/>
                  </a:rPr>
                  <a:t>URDF</a:t>
                </a:r>
                <a:r>
                  <a:rPr lang="zh-CN" altLang="zh-CN" sz="1200" kern="1200" dirty="0">
                    <a:solidFill>
                      <a:schemeClr val="tx1"/>
                    </a:solidFill>
                    <a:effectLst/>
                    <a:latin typeface="+mn-lt"/>
                    <a:ea typeface="+mn-ea"/>
                    <a:cs typeface="+mn-cs"/>
                  </a:rPr>
                  <a:t>模型，通过复杂的解等式过程，直到找到符合指定构型机器人的逆解方程，并生成特定语言（例如</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）的程序代码文件供工程使用。对于</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轴及以下的串联机器人</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基于算法搜索的方法，自动生成最小的、数值稳定的逆运动学解析解求解器。而针对</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轴冗余机器人，</a:t>
                </a:r>
                <a:r>
                  <a:rPr lang="en-US" altLang="zh-CN" sz="1200" kern="1200" dirty="0" err="1">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将其中一个关节指定为自由关节，然后按</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轴机器人进行求解。</a:t>
                </a:r>
                <a:r>
                  <a:rPr lang="en-US" altLang="zh-CN" sz="1200" kern="1200" dirty="0" err="1" smtClean="0">
                    <a:solidFill>
                      <a:schemeClr val="tx1"/>
                    </a:solidFill>
                    <a:effectLst/>
                    <a:latin typeface="+mn-lt"/>
                    <a:ea typeface="+mn-ea"/>
                    <a:cs typeface="+mn-cs"/>
                  </a:rPr>
                  <a:t>IKFast</a:t>
                </a:r>
                <a:r>
                  <a:rPr lang="zh-CN" altLang="zh-CN" sz="1200" kern="1200" dirty="0">
                    <a:solidFill>
                      <a:schemeClr val="tx1"/>
                    </a:solidFill>
                    <a:effectLst/>
                    <a:latin typeface="+mn-lt"/>
                    <a:ea typeface="+mn-ea"/>
                    <a:cs typeface="+mn-cs"/>
                  </a:rPr>
                  <a:t>已在较多的串联机器人上得到验证，可以得到正确稳定的解析解代码，编译后求解速度比较快，但并未得到完全验证，在某些构型上可能无法找到解。</a:t>
                </a:r>
              </a:p>
              <a:p>
                <a:r>
                  <a:rPr lang="zh-CN" altLang="zh-CN" sz="1200" kern="1200" dirty="0">
                    <a:solidFill>
                      <a:schemeClr val="tx1"/>
                    </a:solidFill>
                    <a:effectLst/>
                    <a:latin typeface="+mn-lt"/>
                    <a:ea typeface="+mn-ea"/>
                    <a:cs typeface="+mn-cs"/>
                  </a:rPr>
                  <a:t>工业机器人在设计的时候，一般遵循</a:t>
                </a:r>
                <a:r>
                  <a:rPr lang="en-US" altLang="zh-CN" sz="1200" kern="1200" dirty="0">
                    <a:solidFill>
                      <a:schemeClr val="tx1"/>
                    </a:solidFill>
                    <a:effectLst/>
                    <a:latin typeface="+mn-lt"/>
                    <a:ea typeface="+mn-ea"/>
                    <a:cs typeface="+mn-cs"/>
                  </a:rPr>
                  <a:t>Pieper</a:t>
                </a:r>
                <a:r>
                  <a:rPr lang="zh-CN" altLang="zh-CN" sz="1200" kern="1200" dirty="0">
                    <a:solidFill>
                      <a:schemeClr val="tx1"/>
                    </a:solidFill>
                    <a:effectLst/>
                    <a:latin typeface="+mn-lt"/>
                    <a:ea typeface="+mn-ea"/>
                    <a:cs typeface="+mn-cs"/>
                  </a:rPr>
                  <a:t>准则，方便采用</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表示法进行建模以及能用矩阵运算求取逆运动学解析解，这样做的目的是为了简单化逆运动学的求解，得到尽可能高的运动学解算精度以及良好的解算实时性。解析解是一种精确解。</a:t>
                </a:r>
              </a:p>
              <a:p>
                <a:r>
                  <a:rPr lang="zh-CN" altLang="zh-CN" sz="1200" kern="1200" dirty="0">
                    <a:solidFill>
                      <a:schemeClr val="tx1"/>
                    </a:solidFill>
                    <a:effectLst/>
                    <a:latin typeface="+mn-lt"/>
                    <a:ea typeface="+mn-ea"/>
                    <a:cs typeface="+mn-cs"/>
                  </a:rPr>
                  <a:t>数值解是一种近似解，数值解方法不依赖于机器人的结构。目前机器人常用仿真平台支持的</a:t>
                </a:r>
                <a:r>
                  <a:rPr lang="en-US" altLang="zh-CN" sz="1200" kern="1200" dirty="0">
                    <a:solidFill>
                      <a:schemeClr val="tx1"/>
                    </a:solidFill>
                    <a:effectLst/>
                    <a:latin typeface="+mn-lt"/>
                    <a:ea typeface="+mn-ea"/>
                    <a:cs typeface="+mn-cs"/>
                  </a:rPr>
                  <a:t>KDL(Kinematics and Dynamics Library)</a:t>
                </a:r>
                <a:r>
                  <a:rPr lang="zh-CN" altLang="zh-CN" sz="1200" kern="1200" dirty="0">
                    <a:solidFill>
                      <a:schemeClr val="tx1"/>
                    </a:solidFill>
                    <a:effectLst/>
                    <a:latin typeface="+mn-lt"/>
                    <a:ea typeface="+mn-ea"/>
                    <a:cs typeface="+mn-cs"/>
                  </a:rPr>
                  <a:t>库中，其逆解算法为雅可比伪逆矩阵迭代算法。雅可比伪逆矩阵迭代算法会由于关节的限制，导致雅可比伪逆矩阵的退化，或由于初始位姿的选择不当及迭代步长的不合适，从而陷入局部最小值而无法得到满足条件的迭代近似解。</a:t>
                </a:r>
                <a:r>
                  <a:rPr lang="en-US" altLang="zh-CN" sz="1200" kern="1200" dirty="0" err="1">
                    <a:solidFill>
                      <a:schemeClr val="tx1"/>
                    </a:solidFill>
                    <a:effectLst/>
                    <a:latin typeface="+mn-lt"/>
                    <a:ea typeface="+mn-ea"/>
                    <a:cs typeface="+mn-cs"/>
                  </a:rPr>
                  <a:t>Trac</a:t>
                </a:r>
                <a:r>
                  <a:rPr lang="en-US" altLang="zh-CN" sz="1200" kern="1200" dirty="0">
                    <a:solidFill>
                      <a:schemeClr val="tx1"/>
                    </a:solidFill>
                    <a:effectLst/>
                    <a:latin typeface="+mn-lt"/>
                    <a:ea typeface="+mn-ea"/>
                    <a:cs typeface="+mn-cs"/>
                  </a:rPr>
                  <a:t>-IK</a:t>
                </a:r>
                <a:r>
                  <a:rPr lang="zh-CN" altLang="zh-CN" sz="1200" kern="1200" dirty="0">
                    <a:solidFill>
                      <a:schemeClr val="tx1"/>
                    </a:solidFill>
                    <a:effectLst/>
                    <a:latin typeface="+mn-lt"/>
                    <a:ea typeface="+mn-ea"/>
                    <a:cs typeface="+mn-cs"/>
                  </a:rPr>
                  <a:t>也是一种常用的数值解算法，相比于</a:t>
                </a:r>
                <a:r>
                  <a:rPr lang="en-US" altLang="zh-CN" sz="1200" kern="1200" dirty="0">
                    <a:solidFill>
                      <a:schemeClr val="tx1"/>
                    </a:solidFill>
                    <a:effectLst/>
                    <a:latin typeface="+mn-lt"/>
                    <a:ea typeface="+mn-ea"/>
                    <a:cs typeface="+mn-cs"/>
                  </a:rPr>
                  <a:t>KDL</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Trac</a:t>
                </a:r>
                <a:r>
                  <a:rPr lang="en-US" altLang="zh-CN" sz="1200" kern="1200" dirty="0">
                    <a:solidFill>
                      <a:schemeClr val="tx1"/>
                    </a:solidFill>
                    <a:effectLst/>
                    <a:latin typeface="+mn-lt"/>
                    <a:ea typeface="+mn-ea"/>
                    <a:cs typeface="+mn-cs"/>
                  </a:rPr>
                  <a:t>-IK</a:t>
                </a:r>
                <a:r>
                  <a:rPr lang="zh-CN" altLang="zh-CN" sz="1200" kern="1200" dirty="0">
                    <a:solidFill>
                      <a:schemeClr val="tx1"/>
                    </a:solidFill>
                    <a:effectLst/>
                    <a:latin typeface="+mn-lt"/>
                    <a:ea typeface="+mn-ea"/>
                    <a:cs typeface="+mn-cs"/>
                  </a:rPr>
                  <a:t>算法可以在陷入局部最小值时，随机重启迭代，并引入了</a:t>
                </a:r>
                <a:r>
                  <a:rPr lang="en-US" altLang="zh-CN" sz="1200" kern="1200" dirty="0">
                    <a:solidFill>
                      <a:schemeClr val="tx1"/>
                    </a:solidFill>
                    <a:effectLst/>
                    <a:latin typeface="+mn-lt"/>
                    <a:ea typeface="+mn-ea"/>
                    <a:cs typeface="+mn-cs"/>
                  </a:rPr>
                  <a:t>SQP</a:t>
                </a:r>
                <a:r>
                  <a:rPr lang="zh-CN" altLang="zh-CN" sz="1200" kern="1200" dirty="0">
                    <a:solidFill>
                      <a:schemeClr val="tx1"/>
                    </a:solidFill>
                    <a:effectLst/>
                    <a:latin typeface="+mn-lt"/>
                    <a:ea typeface="+mn-ea"/>
                    <a:cs typeface="+mn-cs"/>
                  </a:rPr>
                  <a:t>（顺序二次规划：</a:t>
                </a:r>
                <a:r>
                  <a:rPr lang="en-US" altLang="zh-CN" sz="1200" kern="1200" dirty="0">
                    <a:solidFill>
                      <a:schemeClr val="tx1"/>
                    </a:solidFill>
                    <a:effectLst/>
                    <a:latin typeface="+mn-lt"/>
                    <a:ea typeface="+mn-ea"/>
                    <a:cs typeface="+mn-cs"/>
                  </a:rPr>
                  <a:t>Sequential Quadratic Programming</a:t>
                </a:r>
                <a:r>
                  <a:rPr lang="zh-CN" altLang="zh-CN" sz="1200" kern="1200" dirty="0">
                    <a:solidFill>
                      <a:schemeClr val="tx1"/>
                    </a:solidFill>
                    <a:effectLst/>
                    <a:latin typeface="+mn-lt"/>
                    <a:ea typeface="+mn-ea"/>
                    <a:cs typeface="+mn-cs"/>
                  </a:rPr>
                  <a:t>）的并行算法，求解速度要比</a:t>
                </a:r>
                <a:r>
                  <a:rPr lang="en-US" altLang="zh-CN" sz="1200" kern="1200" dirty="0">
                    <a:solidFill>
                      <a:schemeClr val="tx1"/>
                    </a:solidFill>
                    <a:effectLst/>
                    <a:latin typeface="+mn-lt"/>
                    <a:ea typeface="+mn-ea"/>
                    <a:cs typeface="+mn-cs"/>
                  </a:rPr>
                  <a:t>KDL</a:t>
                </a:r>
                <a:r>
                  <a:rPr lang="zh-CN" altLang="zh-CN" sz="1200" kern="1200" dirty="0">
                    <a:solidFill>
                      <a:schemeClr val="tx1"/>
                    </a:solidFill>
                    <a:effectLst/>
                    <a:latin typeface="+mn-lt"/>
                    <a:ea typeface="+mn-ea"/>
                    <a:cs typeface="+mn-cs"/>
                  </a:rPr>
                  <a:t>更快。除此之外，也可以采用神经网络、遗传算法等智能化算法求解逆运动学的数值解。这些算法都有自己的优缺点，数值解只是解析解的近似，如果可用且计算效率高，解析解总是优于数值解。</a:t>
                </a:r>
              </a:p>
              <a:p>
                <a:r>
                  <a:rPr lang="zh-CN" altLang="zh-CN" sz="1200" kern="1200" dirty="0">
                    <a:solidFill>
                      <a:schemeClr val="tx1"/>
                    </a:solidFill>
                    <a:effectLst/>
                    <a:latin typeface="+mn-lt"/>
                    <a:ea typeface="+mn-ea"/>
                    <a:cs typeface="+mn-cs"/>
                  </a:rPr>
                  <a:t>目前在智能制造、新零售等领域大量出现了轮式移动机器人安装机械臂的形式，这种形式的机器人又被称为复合机器人。一般来说，移动底盘的运动学属于非完全约束，其运动控制并不精确，而机械臂属于完全约束机器人，可以更精确控制其运动，所以移动操作一般将其底盘的运动与机械臂的运动分开控制，在底盘运动到目的地附近后停止移动，采用定位算法对机器人整体进行自定位，然后再控制机械臂进行作业。而某些情况下，如果其运动控制需要将底盘运动与机械臂关节运动同时进行，且能精确控制末端执行器到达期望的位姿，就需要进行二者之间的协调。此时可通过雅可比矩阵表示的速度运动学来表达末端执行器位形与轮式移动底盘以及关节速度之间的关系。</a:t>
                </a:r>
              </a:p>
              <a:p>
                <a:r>
                  <a:rPr lang="zh-CN" altLang="zh-CN" sz="1200" kern="1200" dirty="0">
                    <a:solidFill>
                      <a:schemeClr val="tx1"/>
                    </a:solidFill>
                    <a:effectLst/>
                    <a:latin typeface="+mn-lt"/>
                    <a:ea typeface="+mn-ea"/>
                    <a:cs typeface="+mn-cs"/>
                  </a:rPr>
                  <a:t>定义全局坐标系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a:t>
                </a:r>
                <a:r>
                  <a:rPr lang="zh-CN" altLang="zh-CN" sz="1200" kern="1200" dirty="0">
                    <a:solidFill>
                      <a:schemeClr val="tx1"/>
                    </a:solidFill>
                    <a:effectLst/>
                    <a:latin typeface="+mn-lt"/>
                    <a:ea typeface="+mn-ea"/>
                    <a:cs typeface="+mn-cs"/>
                  </a:rPr>
                  <a:t>，移动底盘坐标系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，机械臂底座坐标系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，末端坐标系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kern="1200" dirty="0">
                    <a:solidFill>
                      <a:schemeClr val="tx1"/>
                    </a:solidFill>
                    <a:effectLst/>
                    <a:latin typeface="+mn-lt"/>
                    <a:ea typeface="+mn-ea"/>
                    <a:cs typeface="+mn-cs"/>
                  </a:rPr>
                  <a:t>，末端位形在全局坐标系可表达为：</a:t>
                </a:r>
              </a:p>
              <a:p>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𝑞,𝜃)=𝑇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𝑠𝑒</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𝑞,𝜃)=𝑇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𝑠𝑏 (𝑞)𝑇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𝑏𝑜</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𝑜𝑒 (𝜃)</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 )</a:t>
                </a:r>
                <a:r>
                  <a:rPr lang="zh-CN" altLang="zh-CN" sz="1200" kern="1200" dirty="0">
                    <a:solidFill>
                      <a:schemeClr val="tx1"/>
                    </a:solidFill>
                    <a:effectLst/>
                    <a:latin typeface="+mn-lt"/>
                    <a:ea typeface="+mn-ea"/>
                    <a:cs typeface="+mn-cs"/>
                  </a:rPr>
                  <a:t>为机械臂的关节变量，</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𝑜𝑒 (𝜃)</a:t>
                </a:r>
                <a:r>
                  <a:rPr lang="zh-CN" altLang="zh-CN" sz="1200" kern="1200" dirty="0">
                    <a:solidFill>
                      <a:schemeClr val="tx1"/>
                    </a:solidFill>
                    <a:effectLst/>
                    <a:latin typeface="+mn-lt"/>
                    <a:ea typeface="+mn-ea"/>
                    <a:cs typeface="+mn-cs"/>
                  </a:rPr>
                  <a:t>为机械臂正运动学，</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∅,𝑥,𝑦)</a:t>
                </a:r>
                <a:r>
                  <a:rPr lang="zh-CN" altLang="zh-CN" sz="1200" kern="1200" dirty="0">
                    <a:solidFill>
                      <a:schemeClr val="tx1"/>
                    </a:solidFill>
                    <a:effectLst/>
                    <a:latin typeface="+mn-lt"/>
                    <a:ea typeface="+mn-ea"/>
                    <a:cs typeface="+mn-cs"/>
                  </a:rPr>
                  <a:t>为平面移动机器人的位形，</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𝑏𝑜</a:t>
                </a:r>
                <a:r>
                  <a:rPr lang="zh-CN" altLang="zh-CN" sz="1200" kern="1200" dirty="0">
                    <a:solidFill>
                      <a:schemeClr val="tx1"/>
                    </a:solidFill>
                    <a:effectLst/>
                    <a:latin typeface="+mn-lt"/>
                    <a:ea typeface="+mn-ea"/>
                    <a:cs typeface="+mn-cs"/>
                  </a:rPr>
                  <a:t>表示从坐标系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到坐标系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的变换。那么：</a:t>
                </a:r>
              </a:p>
              <a:p>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𝑠𝑏</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𝑐𝑜𝑠∅&amp;−𝑠𝑖𝑛∅@𝑠𝑖𝑛∅&amp;𝑐𝑜𝑠∅)&amp;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0&amp;𝑥@0&amp;𝑦)@</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0&amp;0@0&amp;0)&amp;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1&amp;𝑧@&amp;1))]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为坐标系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的高度，假定地板是水平的，</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为一个常数。</a:t>
                </a:r>
              </a:p>
              <a:p>
                <a:r>
                  <a:rPr lang="zh-CN" altLang="zh-CN" sz="1200" kern="1200" dirty="0">
                    <a:solidFill>
                      <a:schemeClr val="tx1"/>
                    </a:solidFill>
                    <a:effectLst/>
                    <a:latin typeface="+mn-lt"/>
                    <a:ea typeface="+mn-ea"/>
                    <a:cs typeface="+mn-cs"/>
                  </a:rPr>
                  <a:t>根据雅可比矩阵的定义，将末端执行器的运动速度</a:t>
                </a:r>
                <a:r>
                  <a:rPr lang="en-US" altLang="zh-CN" sz="1200" i="0" kern="1200">
                    <a:solidFill>
                      <a:schemeClr val="tx1"/>
                    </a:solidFill>
                    <a:effectLst/>
                    <a:latin typeface="+mn-lt"/>
                    <a:ea typeface="+mn-ea"/>
                    <a:cs typeface="+mn-cs"/>
                  </a:rPr>
                  <a:t>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a:t>
                </a:r>
                <a:r>
                  <a:rPr lang="zh-CN" altLang="zh-CN" sz="1200" kern="1200" dirty="0">
                    <a:solidFill>
                      <a:schemeClr val="tx1"/>
                    </a:solidFill>
                    <a:effectLst/>
                    <a:latin typeface="+mn-lt"/>
                    <a:ea typeface="+mn-ea"/>
                    <a:cs typeface="+mn-cs"/>
                  </a:rPr>
                  <a:t>用底盘速度</a:t>
                </a:r>
                <a:r>
                  <a:rPr lang="en-US" altLang="zh-CN" sz="1200" i="0" kern="1200">
                    <a:solidFill>
                      <a:schemeClr val="tx1"/>
                    </a:solidFill>
                    <a:effectLst/>
                    <a:latin typeface="+mn-lt"/>
                    <a:ea typeface="+mn-ea"/>
                    <a:cs typeface="+mn-cs"/>
                  </a:rPr>
                  <a:t>𝑢</a:t>
                </a:r>
                <a:r>
                  <a:rPr lang="zh-CN" altLang="zh-CN" sz="1200" kern="1200" dirty="0">
                    <a:solidFill>
                      <a:schemeClr val="tx1"/>
                    </a:solidFill>
                    <a:effectLst/>
                    <a:latin typeface="+mn-lt"/>
                    <a:ea typeface="+mn-ea"/>
                    <a:cs typeface="+mn-cs"/>
                  </a:rPr>
                  <a:t>与关节速度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进行逼近：</a:t>
                </a:r>
              </a:p>
              <a:p>
                <a:r>
                  <a:rPr lang="en-US" altLang="zh-CN" sz="1200" i="0" kern="1200">
                    <a:solidFill>
                      <a:schemeClr val="tx1"/>
                    </a:solidFill>
                    <a:effectLst/>
                    <a:latin typeface="+mn-lt"/>
                    <a:ea typeface="+mn-ea"/>
                    <a:cs typeface="+mn-cs"/>
                  </a:rPr>
                  <a:t>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𝑢@𝜃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𝑏𝑎𝑠𝑒</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𝑎𝑟𝑚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𝑢@𝜃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此时将复合机器人的运动学表达成了底盘与关节速度综合的速度方程，雅可比矩阵</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可分解成</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𝑏𝑎𝑠𝑒</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𝑎𝑟𝑚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𝑏𝑎𝑠𝑒</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𝜃)𝑢</a:t>
                </a:r>
                <a:r>
                  <a:rPr lang="zh-CN" altLang="zh-CN" sz="1200" kern="1200" dirty="0">
                    <a:solidFill>
                      <a:schemeClr val="tx1"/>
                    </a:solidFill>
                    <a:effectLst/>
                    <a:latin typeface="+mn-lt"/>
                    <a:ea typeface="+mn-ea"/>
                    <a:cs typeface="+mn-cs"/>
                  </a:rPr>
                  <a:t>表示轮子转速</a:t>
                </a:r>
                <a:r>
                  <a:rPr lang="en-US" altLang="zh-CN" sz="1200" i="0" kern="1200">
                    <a:solidFill>
                      <a:schemeClr val="tx1"/>
                    </a:solidFill>
                    <a:effectLst/>
                    <a:latin typeface="+mn-lt"/>
                    <a:ea typeface="+mn-ea"/>
                    <a:cs typeface="+mn-cs"/>
                  </a:rPr>
                  <a:t>𝑢</a:t>
                </a:r>
                <a:r>
                  <a:rPr lang="zh-CN" altLang="zh-CN" sz="1200" kern="1200" dirty="0">
                    <a:solidFill>
                      <a:schemeClr val="tx1"/>
                    </a:solidFill>
                    <a:effectLst/>
                    <a:latin typeface="+mn-lt"/>
                    <a:ea typeface="+mn-ea"/>
                    <a:cs typeface="+mn-cs"/>
                  </a:rPr>
                  <a:t>对末端执行器的贡献，</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𝑎𝑟𝑚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表示关节速度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对末端执行器的贡献。</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𝑎𝑟𝑚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在本章中已介绍过，由于参考坐标系为末端坐标系，</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𝑎𝑟𝑚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为机械臂的物理雅可比矩阵。而轮式移动机器人的雅可比矩阵可根据滑动约束与滚动约束方程确定，表达为每个轮子对底盘整体速度的贡献。为了和机械臂的雅可比矩阵维数统一，可将移动机器人的雅可比矩阵按一定规则扩充和机械臂雅可比矩阵维数一致。根据此雅可比速度运动学方程，后续可以设计控制律进行相关运动控制。有关移动操作的运动学及控制，有兴趣的读者可参考《现代机器人学》第</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章的描述以及最近相关研究论文。</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38</a:t>
            </a:fld>
            <a:endParaRPr lang="zh-CN" altLang="en-US"/>
          </a:p>
        </p:txBody>
      </p:sp>
    </p:spTree>
    <p:extLst>
      <p:ext uri="{BB962C8B-B14F-4D97-AF65-F5344CB8AC3E}">
        <p14:creationId xmlns:p14="http://schemas.microsoft.com/office/powerpoint/2010/main" val="1699529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39</a:t>
            </a:fld>
            <a:endParaRPr lang="zh-CN" altLang="en-US"/>
          </a:p>
        </p:txBody>
      </p:sp>
    </p:spTree>
    <p:extLst>
      <p:ext uri="{BB962C8B-B14F-4D97-AF65-F5344CB8AC3E}">
        <p14:creationId xmlns:p14="http://schemas.microsoft.com/office/powerpoint/2010/main" val="41479834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2024/4/2</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2024/4/2</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huasong@wust.edu.c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mhuasong/Basics-of-Robotics-Theory-and-Technology" TargetMode="Externa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gif"/><Relationship Id="rId7" Type="http://schemas.openxmlformats.org/officeDocument/2006/relationships/image" Target="../media/image29.gi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8.gif"/><Relationship Id="rId5" Type="http://schemas.openxmlformats.org/officeDocument/2006/relationships/image" Target="../media/image27.gif"/><Relationship Id="rId4" Type="http://schemas.openxmlformats.org/officeDocument/2006/relationships/image" Target="../media/image26.gif"/></Relationships>
</file>

<file path=ppt/slides/_rels/slide7.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8.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tags" Target="../tags/tag29.xml"/></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notesSlide" Target="../notesSlides/notesSlide9.xml"/><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emf"/><Relationship Id="rId10" Type="http://schemas.openxmlformats.org/officeDocument/2006/relationships/image" Target="../media/image43.png"/><Relationship Id="rId4" Type="http://schemas.openxmlformats.org/officeDocument/2006/relationships/oleObject" Target="../embeddings/oleObject1.bin"/><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10.xml"/><Relationship Id="rId7" Type="http://schemas.openxmlformats.org/officeDocument/2006/relationships/image" Target="../media/image49.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8.png"/><Relationship Id="rId5" Type="http://schemas.openxmlformats.org/officeDocument/2006/relationships/image" Target="../media/image39.emf"/><Relationship Id="rId10" Type="http://schemas.openxmlformats.org/officeDocument/2006/relationships/image" Target="../media/image52.png"/><Relationship Id="rId4" Type="http://schemas.openxmlformats.org/officeDocument/2006/relationships/oleObject" Target="../embeddings/oleObject2.bin"/><Relationship Id="rId9"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48.e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1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png"/></Relationships>
</file>

<file path=ppt/slides/_rels/slide19.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64.png"/><Relationship Id="rId7" Type="http://schemas.openxmlformats.org/officeDocument/2006/relationships/image" Target="../media/image75.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1.png"/><Relationship Id="rId10" Type="http://schemas.openxmlformats.org/officeDocument/2006/relationships/image" Target="../media/image78.png"/><Relationship Id="rId4" Type="http://schemas.openxmlformats.org/officeDocument/2006/relationships/image" Target="../media/image68.png"/><Relationship Id="rId9" Type="http://schemas.openxmlformats.org/officeDocument/2006/relationships/image" Target="../media/image77.png"/></Relationships>
</file>

<file path=ppt/slides/_rel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3.emf"/></Relationships>
</file>

<file path=ppt/slides/_rels/slide2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5.png"/><Relationship Id="rId4" Type="http://schemas.openxmlformats.org/officeDocument/2006/relationships/image" Target="../media/image84.png"/></Relationships>
</file>

<file path=ppt/slides/_rels/slide22.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notesSlide" Target="../notesSlides/notesSlide22.xml"/><Relationship Id="rId2" Type="http://schemas.openxmlformats.org/officeDocument/2006/relationships/tags" Target="../tags/tag31.xml"/><Relationship Id="rId16"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tags" Target="../tags/tag44.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s/_rels/slide23.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5.png"/><Relationship Id="rId3" Type="http://schemas.openxmlformats.org/officeDocument/2006/relationships/tags" Target="../tags/tag47.xml"/><Relationship Id="rId7" Type="http://schemas.openxmlformats.org/officeDocument/2006/relationships/image" Target="../media/image82.png"/><Relationship Id="rId12" Type="http://schemas.openxmlformats.org/officeDocument/2006/relationships/image" Target="../media/image9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notesSlide" Target="../notesSlides/notesSlide23.xml"/><Relationship Id="rId11" Type="http://schemas.openxmlformats.org/officeDocument/2006/relationships/image" Target="../media/image93.png"/><Relationship Id="rId5" Type="http://schemas.openxmlformats.org/officeDocument/2006/relationships/slideLayout" Target="../slideLayouts/slideLayout7.xml"/><Relationship Id="rId10" Type="http://schemas.openxmlformats.org/officeDocument/2006/relationships/image" Target="../media/image92.png"/><Relationship Id="rId4" Type="http://schemas.openxmlformats.org/officeDocument/2006/relationships/tags" Target="../tags/tag48.xml"/><Relationship Id="rId9" Type="http://schemas.openxmlformats.org/officeDocument/2006/relationships/image" Target="../media/image89.png"/></Relationships>
</file>

<file path=ppt/slides/_rels/slide24.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100.png"/><Relationship Id="rId3" Type="http://schemas.openxmlformats.org/officeDocument/2006/relationships/tags" Target="../tags/tag51.xml"/><Relationship Id="rId7" Type="http://schemas.openxmlformats.org/officeDocument/2006/relationships/image" Target="../media/image90.png"/><Relationship Id="rId12" Type="http://schemas.openxmlformats.org/officeDocument/2006/relationships/image" Target="../media/image99.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notesSlide" Target="../notesSlides/notesSlide24.xml"/><Relationship Id="rId11" Type="http://schemas.openxmlformats.org/officeDocument/2006/relationships/image" Target="../media/image98.png"/><Relationship Id="rId5" Type="http://schemas.openxmlformats.org/officeDocument/2006/relationships/slideLayout" Target="../slideLayouts/slideLayout7.xml"/><Relationship Id="rId10" Type="http://schemas.openxmlformats.org/officeDocument/2006/relationships/image" Target="../media/image97.png"/><Relationship Id="rId4" Type="http://schemas.openxmlformats.org/officeDocument/2006/relationships/tags" Target="../tags/tag52.xml"/><Relationship Id="rId9" Type="http://schemas.openxmlformats.org/officeDocument/2006/relationships/image" Target="../media/image96.png"/></Relationships>
</file>

<file path=ppt/slides/_rels/slide25.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tags" Target="../tags/tag55.xml"/><Relationship Id="rId7" Type="http://schemas.openxmlformats.org/officeDocument/2006/relationships/image" Target="../media/image103.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tags" Target="../tags/tag56.xml"/></Relationships>
</file>

<file path=ppt/slides/_rels/slide26.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02.emf"/><Relationship Id="rId3" Type="http://schemas.openxmlformats.org/officeDocument/2006/relationships/notesSlide" Target="../notesSlides/notesSlide26.xml"/><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oleObject" Target="../embeddings/oleObject4.bin"/><Relationship Id="rId2" Type="http://schemas.openxmlformats.org/officeDocument/2006/relationships/slideLayout" Target="../slideLayouts/slideLayout7.xml"/><Relationship Id="rId16" Type="http://schemas.openxmlformats.org/officeDocument/2006/relationships/image" Target="../media/image120.png"/><Relationship Id="rId1" Type="http://schemas.openxmlformats.org/officeDocument/2006/relationships/vmlDrawing" Target="../drawings/vmlDrawing4.v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27.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04.png"/><Relationship Id="rId7" Type="http://schemas.openxmlformats.org/officeDocument/2006/relationships/hyperlink" Target="https://github.com/mhuasong/Basics-of-Robotics-Theory-and-Technology/tree/main/ch3/differential_wmr"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07.gif"/><Relationship Id="rId5" Type="http://schemas.openxmlformats.org/officeDocument/2006/relationships/image" Target="../media/image106.png"/><Relationship Id="rId4" Type="http://schemas.openxmlformats.org/officeDocument/2006/relationships/image" Target="../media/image105.png"/></Relationships>
</file>

<file path=ppt/slides/_rels/slide28.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23.jpeg"/></Relationships>
</file>

<file path=ppt/slides/_rels/slide2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25.png"/></Relationships>
</file>

<file path=ppt/slides/_rels/slide30.xml.rels><?xml version="1.0" encoding="UTF-8" standalone="yes"?>
<Relationships xmlns="http://schemas.openxmlformats.org/package/2006/relationships"><Relationship Id="rId3" Type="http://schemas.openxmlformats.org/officeDocument/2006/relationships/image" Target="../media/image126.png"/><Relationship Id="rId7" Type="http://schemas.openxmlformats.org/officeDocument/2006/relationships/image" Target="../media/image1241.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0.png"/></Relationships>
</file>

<file path=ppt/slides/_rels/slide31.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7.png"/><Relationship Id="rId7" Type="http://schemas.openxmlformats.org/officeDocument/2006/relationships/image" Target="../media/image129.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281.png"/><Relationship Id="rId5" Type="http://schemas.openxmlformats.org/officeDocument/2006/relationships/image" Target="../media/image1271.png"/><Relationship Id="rId4" Type="http://schemas.openxmlformats.org/officeDocument/2006/relationships/image" Target="../media/image128.png"/><Relationship Id="rId9" Type="http://schemas.openxmlformats.org/officeDocument/2006/relationships/image" Target="../media/image131.png"/></Relationships>
</file>

<file path=ppt/slides/_rels/slide3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134.png"/><Relationship Id="rId4" Type="http://schemas.openxmlformats.org/officeDocument/2006/relationships/image" Target="../media/image133.png"/></Relationships>
</file>

<file path=ppt/slides/_rels/slide33.xml.rels><?xml version="1.0" encoding="UTF-8" standalone="yes"?>
<Relationships xmlns="http://schemas.openxmlformats.org/package/2006/relationships"><Relationship Id="rId8" Type="http://schemas.openxmlformats.org/officeDocument/2006/relationships/hyperlink" Target="https://github.com/mhuasong/Basics-of-Robotics-Theory-and-Technology/tree/main/ch3/omni_robot" TargetMode="External"/><Relationship Id="rId3" Type="http://schemas.openxmlformats.org/officeDocument/2006/relationships/image" Target="../media/image135.png"/><Relationship Id="rId7" Type="http://schemas.openxmlformats.org/officeDocument/2006/relationships/image" Target="../media/image137.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36.png"/><Relationship Id="rId5" Type="http://schemas.openxmlformats.org/officeDocument/2006/relationships/image" Target="../media/image133.emf"/><Relationship Id="rId4"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hyperlink" Target="https://github.com/mhuasong/Basics-of-Robotics-Theory-and-Technology/tree/main/ch3/mecanum_robot" TargetMode="External"/><Relationship Id="rId1" Type="http://schemas.openxmlformats.org/officeDocument/2006/relationships/slideLayout" Target="../slideLayouts/slideLayout7.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1260.png"/><Relationship Id="rId13" Type="http://schemas.openxmlformats.org/officeDocument/2006/relationships/image" Target="../media/image143.png"/><Relationship Id="rId3" Type="http://schemas.openxmlformats.org/officeDocument/2006/relationships/image" Target="../media/image142.png"/><Relationship Id="rId7" Type="http://schemas.openxmlformats.org/officeDocument/2006/relationships/image" Target="../media/image1250.png"/><Relationship Id="rId12" Type="http://schemas.openxmlformats.org/officeDocument/2006/relationships/image" Target="../media/image1300.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1240.png"/><Relationship Id="rId11" Type="http://schemas.openxmlformats.org/officeDocument/2006/relationships/image" Target="../media/image1290.png"/><Relationship Id="rId5" Type="http://schemas.openxmlformats.org/officeDocument/2006/relationships/image" Target="../media/image1230.png"/><Relationship Id="rId10" Type="http://schemas.openxmlformats.org/officeDocument/2006/relationships/image" Target="../media/image1280.png"/><Relationship Id="rId4" Type="http://schemas.openxmlformats.org/officeDocument/2006/relationships/image" Target="../media/image1220.png"/><Relationship Id="rId9" Type="http://schemas.openxmlformats.org/officeDocument/2006/relationships/image" Target="../media/image1270.png"/><Relationship Id="rId14" Type="http://schemas.openxmlformats.org/officeDocument/2006/relationships/image" Target="../media/image14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390.png"/><Relationship Id="rId5" Type="http://schemas.openxmlformats.org/officeDocument/2006/relationships/image" Target="../media/image145.emf"/><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a:t>Instructor:</a:t>
            </a:r>
            <a:r>
              <a:rPr lang="zh-CN" altLang="en-US" sz="1600" dirty="0">
                <a:ea typeface="楷体_GB2312" pitchFamily="49" charset="-122"/>
              </a:rPr>
              <a:t> </a:t>
            </a:r>
            <a:r>
              <a:rPr lang="en-US" altLang="zh-CN" sz="1600" dirty="0">
                <a:ea typeface="楷体_GB2312" pitchFamily="49" charset="-122"/>
              </a:rPr>
              <a:t>Dr. </a:t>
            </a:r>
            <a:r>
              <a:rPr lang="zh-CN" altLang="en-US" sz="1600" dirty="0" smtClean="0">
                <a:latin typeface="楷体" panose="02010609060101010101" pitchFamily="49" charset="-122"/>
                <a:ea typeface="楷体" panose="02010609060101010101" pitchFamily="49" charset="-122"/>
              </a:rPr>
              <a:t>闵华松</a:t>
            </a:r>
            <a:r>
              <a:rPr lang="en-US" altLang="zh-CN" sz="1600" dirty="0" smtClean="0">
                <a:ea typeface="楷体_GB2312" pitchFamily="49" charset="-122"/>
              </a:rPr>
              <a:t>(</a:t>
            </a:r>
            <a:r>
              <a:rPr lang="en-US" altLang="zh-CN" sz="1600" dirty="0" err="1" smtClean="0">
                <a:ea typeface="楷体_GB2312" pitchFamily="49" charset="-122"/>
              </a:rPr>
              <a:t>Huasong</a:t>
            </a:r>
            <a:r>
              <a:rPr lang="en-US" altLang="zh-CN" sz="1600" dirty="0" smtClean="0">
                <a:ea typeface="楷体_GB2312" pitchFamily="49" charset="-122"/>
              </a:rPr>
              <a:t> Min)</a:t>
            </a:r>
            <a:r>
              <a:rPr lang="en-US" altLang="zh-CN" sz="1600" dirty="0">
                <a:ea typeface="楷体_GB2312" pitchFamily="49" charset="-122"/>
              </a:rPr>
              <a:t>.</a:t>
            </a:r>
            <a:r>
              <a:rPr lang="en-US" altLang="zh-CN" sz="1600" dirty="0" smtClean="0">
                <a:ea typeface="楷体_GB2312" pitchFamily="49" charset="-122"/>
              </a:rPr>
              <a:t> Professor </a:t>
            </a:r>
            <a:endParaRPr lang="zh-CN" altLang="en-US" sz="1600" dirty="0">
              <a:ea typeface="楷体_GB2312" pitchFamily="49" charset="-122"/>
            </a:endParaRPr>
          </a:p>
          <a:p>
            <a:pPr eaLnBrk="1" hangingPunct="1">
              <a:spcBef>
                <a:spcPct val="0"/>
              </a:spcBef>
              <a:buFontTx/>
              <a:buNone/>
            </a:pPr>
            <a:r>
              <a:rPr lang="en-US" altLang="zh-CN" sz="1600" b="1" dirty="0"/>
              <a:t>Office Location</a:t>
            </a:r>
            <a:r>
              <a:rPr lang="zh-CN" altLang="en-US" sz="1600" dirty="0" smtClean="0">
                <a:ea typeface="楷体_GB2312" pitchFamily="49" charset="-122"/>
              </a:rPr>
              <a:t>：</a:t>
            </a:r>
            <a:r>
              <a:rPr lang="zh-CN" altLang="en-US" sz="1600" dirty="0" smtClean="0">
                <a:latin typeface="楷体" panose="02010609060101010101" pitchFamily="49" charset="-122"/>
                <a:ea typeface="楷体" panose="02010609060101010101" pitchFamily="49" charset="-122"/>
              </a:rPr>
              <a:t>钢铁楼</a:t>
            </a:r>
            <a:r>
              <a:rPr lang="en-US" altLang="zh-CN" sz="1600" dirty="0" smtClean="0">
                <a:ea typeface="楷体_GB2312" pitchFamily="49" charset="-122"/>
              </a:rPr>
              <a:t>1110</a:t>
            </a:r>
            <a:r>
              <a:rPr lang="en-US" altLang="zh-CN" sz="1600" dirty="0">
                <a:ea typeface="楷体_GB2312" pitchFamily="49" charset="-122"/>
              </a:rPr>
              <a:t>(</a:t>
            </a:r>
            <a:r>
              <a:rPr lang="en-US" altLang="zh-CN" sz="1600" dirty="0" smtClean="0">
                <a:ea typeface="楷体_GB2312" pitchFamily="49" charset="-122"/>
              </a:rPr>
              <a:t>Room </a:t>
            </a:r>
            <a:r>
              <a:rPr lang="en-US" altLang="zh-CN" sz="1600" dirty="0">
                <a:ea typeface="楷体_GB2312" pitchFamily="49" charset="-122"/>
              </a:rPr>
              <a:t>No. 1110, </a:t>
            </a:r>
            <a:r>
              <a:rPr lang="en-US" altLang="zh-CN" sz="1600" dirty="0" smtClean="0">
                <a:ea typeface="楷体_GB2312" pitchFamily="49" charset="-122"/>
              </a:rPr>
              <a:t>GANGTIE Building)</a:t>
            </a:r>
          </a:p>
          <a:p>
            <a:pPr eaLnBrk="1" hangingPunct="1">
              <a:spcBef>
                <a:spcPct val="0"/>
              </a:spcBef>
              <a:buFontTx/>
              <a:buNone/>
            </a:pPr>
            <a:r>
              <a:rPr lang="en-US" altLang="zh-CN" sz="1600" b="1" dirty="0" smtClean="0"/>
              <a:t>Class </a:t>
            </a:r>
            <a:r>
              <a:rPr lang="en-US" altLang="zh-CN" sz="1600" b="1" dirty="0"/>
              <a:t>venue:  </a:t>
            </a:r>
            <a:r>
              <a:rPr lang="en-US" altLang="zh-CN" sz="1600" dirty="0">
                <a:ea typeface="楷体_GB2312" pitchFamily="49" charset="-122"/>
              </a:rPr>
              <a:t>Room No. </a:t>
            </a:r>
            <a:r>
              <a:rPr lang="en-US" altLang="zh-CN" sz="1600" dirty="0" smtClean="0">
                <a:ea typeface="楷体_GB2312" pitchFamily="49" charset="-122"/>
              </a:rPr>
              <a:t>F4201</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Email:  </a:t>
            </a:r>
            <a:r>
              <a:rPr lang="en-US" altLang="zh-CN" sz="1600" dirty="0" smtClean="0">
                <a:ea typeface="楷体_GB2312" pitchFamily="49" charset="-122"/>
                <a:hlinkClick r:id="rId3"/>
              </a:rPr>
              <a:t>mhuasong@wust.edu.cn</a:t>
            </a:r>
            <a:r>
              <a:rPr lang="en-US" altLang="zh-CN" sz="1600" dirty="0">
                <a:ea typeface="楷体_GB2312" pitchFamily="49" charset="-122"/>
              </a:rPr>
              <a:t> </a:t>
            </a:r>
            <a:endParaRPr lang="en-US" altLang="zh-CN" sz="1600" dirty="0" smtClean="0">
              <a:ea typeface="楷体_GB2312" pitchFamily="49" charset="-122"/>
            </a:endParaRPr>
          </a:p>
          <a:p>
            <a:pPr eaLnBrk="1" hangingPunct="1">
              <a:spcBef>
                <a:spcPct val="0"/>
              </a:spcBef>
              <a:buFontTx/>
              <a:buNone/>
            </a:pPr>
            <a:r>
              <a:rPr lang="en-US" altLang="zh-CN" sz="1600" b="1" dirty="0" smtClean="0">
                <a:ea typeface="楷体_GB2312" pitchFamily="49" charset="-122"/>
              </a:rPr>
              <a:t>Website</a:t>
            </a:r>
            <a:r>
              <a:rPr lang="en-US" altLang="zh-CN" sz="1600" dirty="0">
                <a:ea typeface="楷体_GB2312" pitchFamily="49" charset="-122"/>
              </a:rPr>
              <a:t>: </a:t>
            </a:r>
            <a:r>
              <a:rPr lang="en-US" altLang="zh-CN" sz="1600" dirty="0">
                <a:ea typeface="楷体_GB2312" pitchFamily="49" charset="-122"/>
                <a:hlinkClick r:id="rId4"/>
              </a:rPr>
              <a:t>https://</a:t>
            </a:r>
            <a:r>
              <a:rPr lang="en-US" altLang="zh-CN" sz="1600" dirty="0" smtClean="0">
                <a:ea typeface="楷体_GB2312" pitchFamily="49" charset="-122"/>
                <a:hlinkClick r:id="rId4"/>
              </a:rPr>
              <a:t>github.com/mhuasong/Basics-of-Robotics-Theory-and-Technology</a:t>
            </a:r>
            <a:r>
              <a:rPr lang="en-US" altLang="zh-CN" sz="1600" dirty="0" smtClean="0">
                <a:ea typeface="楷体_GB2312" pitchFamily="49" charset="-122"/>
              </a:rPr>
              <a:t> </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Mobile</a:t>
            </a:r>
            <a:r>
              <a:rPr lang="en-US" altLang="zh-CN" sz="1600" b="1" dirty="0" smtClean="0">
                <a:ea typeface="楷体_GB2312" pitchFamily="49" charset="-122"/>
              </a:rPr>
              <a:t>:</a:t>
            </a:r>
            <a:endParaRPr lang="en-US" altLang="zh-CN" sz="1600" dirty="0">
              <a:ea typeface="楷体_GB2312" pitchFamily="49" charset="-122"/>
            </a:endParaRPr>
          </a:p>
        </p:txBody>
      </p:sp>
    </p:spTree>
    <p:extLst>
      <p:ext uri="{BB962C8B-B14F-4D97-AF65-F5344CB8AC3E}">
        <p14:creationId xmlns:p14="http://schemas.microsoft.com/office/powerpoint/2010/main" val="21724470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chemeClr val="tx2"/>
                </a:solidFill>
                <a:latin typeface="Arial" panose="020B0604020202020204" pitchFamily="34" charset="0"/>
                <a:ea typeface="微软雅黑" panose="020B0503020204020204" charset="-122"/>
                <a:sym typeface="Arial" panose="020B0604020202020204" pitchFamily="34" charset="0"/>
              </a:rPr>
              <a:t>System </a:t>
            </a:r>
            <a:r>
              <a:rPr lang="en-US" altLang="zh-CN" sz="1200" spc="150" dirty="0" smtClean="0">
                <a:solidFill>
                  <a:schemeClr val="tx2"/>
                </a:solidFill>
                <a:latin typeface="Arial" panose="020B0604020202020204" pitchFamily="34" charset="0"/>
                <a:ea typeface="微软雅黑" panose="020B0503020204020204" charset="-122"/>
                <a:sym typeface="Arial" panose="020B0604020202020204" pitchFamily="34" charset="0"/>
              </a:rPr>
              <a:t>Model of </a:t>
            </a:r>
            <a:r>
              <a:rPr lang="en-US" altLang="zh-CN" sz="1200" spc="150" dirty="0">
                <a:solidFill>
                  <a:schemeClr val="tx2"/>
                </a:solidFill>
                <a:latin typeface="Arial" panose="020B0604020202020204" pitchFamily="34" charset="0"/>
                <a:ea typeface="微软雅黑" panose="020B0503020204020204" charset="-122"/>
                <a:sym typeface="Arial" panose="020B0604020202020204" pitchFamily="34" charset="0"/>
              </a:rPr>
              <a:t>Robot</a:t>
            </a:r>
            <a:endParaRPr lang="zh-CN" altLang="en-US" sz="1200" spc="150" dirty="0">
              <a:solidFill>
                <a:schemeClr val="tx2"/>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chemeClr val="tx2"/>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FF000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FF000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157544998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1797576"/>
            <a:ext cx="3849370" cy="2308324"/>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工业机器人运动学</a:t>
            </a:r>
            <a:endParaRPr lang="en-US" altLang="zh-CN" sz="12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串联机械臂运动学</a:t>
            </a:r>
            <a:endParaRPr lang="en-US" altLang="zh-CN" sz="1200" dirty="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并联机器人运动学</a:t>
            </a:r>
            <a:endParaRPr lang="en-US" altLang="zh-CN" sz="1200" dirty="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smtClean="0">
                <a:solidFill>
                  <a:srgbClr val="FF0000"/>
                </a:solidFill>
                <a:latin typeface="Arial" panose="020B0604020202020204" pitchFamily="34" charset="0"/>
                <a:ea typeface="微软雅黑" panose="020B0503020204020204" charset="-122"/>
                <a:sym typeface="+mn-ea"/>
              </a:rPr>
              <a:t>移动机器人运动学</a:t>
            </a:r>
            <a:endParaRPr lang="en-US" altLang="zh-CN" sz="1200" dirty="0" smtClean="0">
              <a:solidFill>
                <a:srgbClr val="FF0000"/>
              </a:solidFill>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轮式机器人</a:t>
            </a:r>
            <a:endParaRPr lang="en-US" altLang="zh-CN" sz="12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solidFill>
                  <a:schemeClr val="bg1">
                    <a:lumMod val="75000"/>
                  </a:schemeClr>
                </a:solidFill>
                <a:latin typeface="Arial" panose="020B0604020202020204" pitchFamily="34" charset="0"/>
                <a:ea typeface="微软雅黑" panose="020B0503020204020204" charset="-122"/>
                <a:sym typeface="+mn-ea"/>
              </a:rPr>
              <a:t>足式机器人</a:t>
            </a:r>
            <a:endParaRPr lang="en-US" altLang="zh-CN" sz="1200" dirty="0" smtClean="0">
              <a:solidFill>
                <a:schemeClr val="bg1">
                  <a:lumMod val="75000"/>
                </a:schemeClr>
              </a:solidFill>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solidFill>
                  <a:schemeClr val="bg1">
                    <a:lumMod val="75000"/>
                  </a:schemeClr>
                </a:solidFill>
                <a:latin typeface="Arial" panose="020B0604020202020204" pitchFamily="34" charset="0"/>
                <a:ea typeface="微软雅黑" panose="020B0503020204020204" charset="-122"/>
                <a:sym typeface="+mn-ea"/>
              </a:rPr>
              <a:t>飞行机器人</a:t>
            </a:r>
            <a:endParaRPr lang="en-US" altLang="zh-CN" sz="1200" dirty="0" smtClean="0">
              <a:solidFill>
                <a:schemeClr val="bg1">
                  <a:lumMod val="75000"/>
                </a:schemeClr>
              </a:solidFill>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solidFill>
                  <a:schemeClr val="bg1">
                    <a:lumMod val="75000"/>
                  </a:schemeClr>
                </a:solidFill>
                <a:latin typeface="Arial" panose="020B0604020202020204" pitchFamily="34" charset="0"/>
                <a:ea typeface="微软雅黑" panose="020B0503020204020204" charset="-122"/>
                <a:sym typeface="+mn-ea"/>
              </a:rPr>
              <a:t>水下机器人</a:t>
            </a:r>
            <a:r>
              <a:rPr lang="en-US" altLang="zh-CN" sz="1200" dirty="0" smtClean="0">
                <a:latin typeface="Arial" panose="020B0604020202020204" pitchFamily="34" charset="0"/>
                <a:ea typeface="微软雅黑" panose="020B0503020204020204" charset="-122"/>
                <a:sym typeface="+mn-ea"/>
              </a:rPr>
              <a:t>	</a:t>
            </a:r>
            <a:endParaRPr lang="en-US" altLang="zh-CN"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319270" y="1275606"/>
            <a:ext cx="3335655" cy="461665"/>
          </a:xfrm>
          <a:prstGeom prst="rect">
            <a:avLst/>
          </a:prstGeom>
          <a:noFill/>
        </p:spPr>
        <p:txBody>
          <a:bodyPr wrap="square" rtlCol="0" anchor="t">
            <a:spAutoFit/>
          </a:bodyPr>
          <a:lstStyle/>
          <a:p>
            <a:pPr algn="l"/>
            <a:r>
              <a:rPr lang="zh-CN" altLang="en-US" sz="2400" b="1" dirty="0">
                <a:latin typeface="Arial" panose="020B0604020202020204" pitchFamily="34" charset="0"/>
                <a:ea typeface="微软雅黑" panose="020B0503020204020204" charset="-122"/>
                <a:sym typeface="+mn-ea"/>
              </a:rPr>
              <a:t>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sp>
        <p:nvSpPr>
          <p:cNvPr id="4" name="圆角矩形 3"/>
          <p:cNvSpPr/>
          <p:nvPr/>
        </p:nvSpPr>
        <p:spPr>
          <a:xfrm>
            <a:off x="4788024" y="3264153"/>
            <a:ext cx="1224136" cy="841747"/>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97245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92202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长期以来，工业机械臂被固定在某个操作工位，替代人工作业，其运动范围有限。相反，移动机器人能够行走，有着更大的作业空间。</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781122"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轮式移动</a:t>
            </a:r>
            <a:r>
              <a:rPr lang="zh-CN" altLang="en-US" sz="2800" b="1" dirty="0">
                <a:latin typeface="Arial" panose="020B0604020202020204" pitchFamily="34" charset="0"/>
                <a:ea typeface="微软雅黑" panose="020B0503020204020204" charset="-122"/>
                <a:sym typeface="+mn-ea"/>
              </a:rPr>
              <a:t>机器人运动学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12</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p:cNvPicPr>
            <a:picLocks noChangeAspect="1"/>
          </p:cNvPicPr>
          <p:nvPr/>
        </p:nvPicPr>
        <p:blipFill>
          <a:blip r:embed="rId3"/>
          <a:stretch>
            <a:fillRect/>
          </a:stretch>
        </p:blipFill>
        <p:spPr>
          <a:xfrm>
            <a:off x="6588224" y="2183696"/>
            <a:ext cx="1390008" cy="1579001"/>
          </a:xfrm>
          <a:prstGeom prst="rect">
            <a:avLst/>
          </a:prstGeom>
        </p:spPr>
      </p:pic>
      <p:pic>
        <p:nvPicPr>
          <p:cNvPr id="7" name="图片 6"/>
          <p:cNvPicPr>
            <a:picLocks noChangeAspect="1"/>
          </p:cNvPicPr>
          <p:nvPr/>
        </p:nvPicPr>
        <p:blipFill>
          <a:blip r:embed="rId4"/>
          <a:stretch>
            <a:fillRect/>
          </a:stretch>
        </p:blipFill>
        <p:spPr>
          <a:xfrm>
            <a:off x="1475656" y="888566"/>
            <a:ext cx="4438650" cy="3762375"/>
          </a:xfrm>
          <a:prstGeom prst="rect">
            <a:avLst/>
          </a:prstGeom>
        </p:spPr>
      </p:pic>
      <p:sp>
        <p:nvSpPr>
          <p:cNvPr id="8" name="矩形 7"/>
          <p:cNvSpPr/>
          <p:nvPr/>
        </p:nvSpPr>
        <p:spPr>
          <a:xfrm>
            <a:off x="2255078" y="4650941"/>
            <a:ext cx="2646878" cy="338554"/>
          </a:xfrm>
          <a:prstGeom prst="rect">
            <a:avLst/>
          </a:prstGeom>
        </p:spPr>
        <p:txBody>
          <a:bodyPr wrap="none">
            <a:spAutoFit/>
          </a:bodyPr>
          <a:lstStyle/>
          <a:p>
            <a:r>
              <a:rPr lang="zh-CN" altLang="zh-CN" sz="1600" kern="100" dirty="0">
                <a:solidFill>
                  <a:srgbClr val="002060"/>
                </a:solidFill>
                <a:cs typeface="Times New Roman" panose="02020603050405020304" pitchFamily="18" charset="0"/>
              </a:rPr>
              <a:t>生物系统中用到的运动装置</a:t>
            </a:r>
            <a:endParaRPr lang="zh-CN" altLang="en-US" sz="1600" dirty="0">
              <a:solidFill>
                <a:srgbClr val="002060"/>
              </a:solidFill>
            </a:endParaRPr>
          </a:p>
        </p:txBody>
      </p:sp>
      <p:sp>
        <p:nvSpPr>
          <p:cNvPr id="9" name="矩形 8"/>
          <p:cNvSpPr/>
          <p:nvPr/>
        </p:nvSpPr>
        <p:spPr>
          <a:xfrm>
            <a:off x="6012160" y="3867894"/>
            <a:ext cx="2852063" cy="338554"/>
          </a:xfrm>
          <a:prstGeom prst="rect">
            <a:avLst/>
          </a:prstGeom>
        </p:spPr>
        <p:txBody>
          <a:bodyPr wrap="none">
            <a:spAutoFit/>
          </a:bodyPr>
          <a:lstStyle/>
          <a:p>
            <a:r>
              <a:rPr lang="zh-CN" altLang="zh-CN" sz="1600" kern="100" dirty="0">
                <a:solidFill>
                  <a:srgbClr val="002060"/>
                </a:solidFill>
                <a:cs typeface="Times New Roman" panose="02020603050405020304" pitchFamily="18" charset="0"/>
              </a:rPr>
              <a:t>两足行走机构近似为轮式机构</a:t>
            </a:r>
            <a:endParaRPr lang="zh-CN" altLang="en-US" sz="1600" dirty="0">
              <a:solidFill>
                <a:srgbClr val="002060"/>
              </a:solidFill>
            </a:endParaRPr>
          </a:p>
        </p:txBody>
      </p:sp>
    </p:spTree>
    <p:extLst>
      <p:ext uri="{BB962C8B-B14F-4D97-AF65-F5344CB8AC3E}">
        <p14:creationId xmlns:p14="http://schemas.microsoft.com/office/powerpoint/2010/main" val="30011006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158981" y="483518"/>
            <a:ext cx="2045753" cy="338554"/>
          </a:xfrm>
          <a:prstGeom prst="rect">
            <a:avLst/>
          </a:prstGeom>
        </p:spPr>
        <p:txBody>
          <a:bodyPr wrap="none">
            <a:spAutoFit/>
          </a:bodyPr>
          <a:lstStyle/>
          <a:p>
            <a:r>
              <a:rPr lang="zh-CN" altLang="en-US" sz="1600" b="1" dirty="0">
                <a:solidFill>
                  <a:srgbClr val="002060"/>
                </a:solidFill>
              </a:rPr>
              <a:t>移动机器人</a:t>
            </a:r>
            <a:r>
              <a:rPr lang="zh-CN" altLang="en-US" sz="1600" b="1" dirty="0" smtClean="0">
                <a:solidFill>
                  <a:srgbClr val="002060"/>
                </a:solidFill>
              </a:rPr>
              <a:t>主要类型</a:t>
            </a:r>
            <a:endParaRPr lang="zh-CN" altLang="en-US" sz="1600" b="1" dirty="0">
              <a:solidFill>
                <a:srgbClr val="002060"/>
              </a:solidFill>
            </a:endParaRPr>
          </a:p>
        </p:txBody>
      </p:sp>
      <p:sp>
        <p:nvSpPr>
          <p:cNvPr id="10" name="矩形 9"/>
          <p:cNvSpPr/>
          <p:nvPr/>
        </p:nvSpPr>
        <p:spPr>
          <a:xfrm>
            <a:off x="976197" y="3176562"/>
            <a:ext cx="1219539" cy="1077218"/>
          </a:xfrm>
          <a:prstGeom prst="rect">
            <a:avLst/>
          </a:prstGeom>
        </p:spPr>
        <p:txBody>
          <a:bodyPr wrap="square">
            <a:spAutoFit/>
          </a:bodyPr>
          <a:lstStyle/>
          <a:p>
            <a:r>
              <a:rPr lang="zh-CN" altLang="en-US" sz="1600" dirty="0" smtClean="0"/>
              <a:t>仿生</a:t>
            </a:r>
            <a:r>
              <a:rPr lang="zh-CN" altLang="en-US" sz="1600" dirty="0"/>
              <a:t>结构的足式</a:t>
            </a:r>
            <a:r>
              <a:rPr lang="zh-CN" altLang="en-US" sz="1600" dirty="0" smtClean="0"/>
              <a:t>机器人</a:t>
            </a:r>
            <a:r>
              <a:rPr lang="en-US" altLang="zh-CN" sz="1600" dirty="0"/>
              <a:t>(Legged </a:t>
            </a:r>
            <a:r>
              <a:rPr lang="en-US" altLang="zh-CN" sz="1600" dirty="0" smtClean="0"/>
              <a:t>robots)</a:t>
            </a:r>
            <a:endParaRPr lang="zh-CN" altLang="en-US" sz="1600" dirty="0"/>
          </a:p>
        </p:txBody>
      </p:sp>
      <p:sp>
        <p:nvSpPr>
          <p:cNvPr id="11" name="矩形 10"/>
          <p:cNvSpPr/>
          <p:nvPr/>
        </p:nvSpPr>
        <p:spPr>
          <a:xfrm>
            <a:off x="1323657" y="852210"/>
            <a:ext cx="1687580" cy="830997"/>
          </a:xfrm>
          <a:prstGeom prst="rect">
            <a:avLst/>
          </a:prstGeom>
        </p:spPr>
        <p:txBody>
          <a:bodyPr wrap="square">
            <a:spAutoFit/>
          </a:bodyPr>
          <a:lstStyle/>
          <a:p>
            <a:r>
              <a:rPr lang="zh-CN" altLang="en-US" sz="1600" dirty="0"/>
              <a:t>自动导引车（AGV,Automated Guided Vehicles）</a:t>
            </a:r>
            <a:endParaRPr lang="en-US" altLang="zh-CN" sz="1600" dirty="0"/>
          </a:p>
        </p:txBody>
      </p:sp>
      <p:sp>
        <p:nvSpPr>
          <p:cNvPr id="12" name="矩形 11"/>
          <p:cNvSpPr/>
          <p:nvPr/>
        </p:nvSpPr>
        <p:spPr>
          <a:xfrm>
            <a:off x="3318950" y="852210"/>
            <a:ext cx="1868819" cy="830997"/>
          </a:xfrm>
          <a:prstGeom prst="rect">
            <a:avLst/>
          </a:prstGeom>
        </p:spPr>
        <p:txBody>
          <a:bodyPr wrap="square">
            <a:spAutoFit/>
          </a:bodyPr>
          <a:lstStyle/>
          <a:p>
            <a:r>
              <a:rPr lang="zh-CN" altLang="en-US" sz="1600" dirty="0"/>
              <a:t>无人机（UAV，Unmanned Aerial Vehicles）</a:t>
            </a:r>
            <a:endParaRPr lang="en-US" altLang="zh-CN" sz="1600" dirty="0"/>
          </a:p>
        </p:txBody>
      </p:sp>
      <p:sp>
        <p:nvSpPr>
          <p:cNvPr id="13" name="矩形 12"/>
          <p:cNvSpPr/>
          <p:nvPr/>
        </p:nvSpPr>
        <p:spPr>
          <a:xfrm>
            <a:off x="5469948" y="855809"/>
            <a:ext cx="2194495" cy="830997"/>
          </a:xfrm>
          <a:prstGeom prst="rect">
            <a:avLst/>
          </a:prstGeom>
        </p:spPr>
        <p:txBody>
          <a:bodyPr wrap="square">
            <a:spAutoFit/>
          </a:bodyPr>
          <a:lstStyle/>
          <a:p>
            <a:r>
              <a:rPr lang="zh-CN" altLang="en-US" sz="1600" dirty="0"/>
              <a:t>水下无人潜航器（AUV，Unmanned Underwater Vehicle）</a:t>
            </a:r>
            <a:endParaRPr lang="en-US" altLang="zh-CN" sz="1600" dirty="0"/>
          </a:p>
        </p:txBody>
      </p:sp>
      <p:pic>
        <p:nvPicPr>
          <p:cNvPr id="1026" name="Picture 2" descr="Smart Logistics, What Is AGV?"/>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51323" y="1763912"/>
            <a:ext cx="2232248" cy="12556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5G无人机到底是什么？（简明易懂版）_应用"/>
          <p:cNvPicPr>
            <a:picLocks noChangeAspect="1" noChangeArrowheads="1" noCrop="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41005" y="1763913"/>
            <a:ext cx="2219915" cy="12556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水下机器人在潜水运动中有什么用途吗？ - 知乎"/>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67641" y="1763913"/>
            <a:ext cx="2244719" cy="12556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波士顿动力双足机器人Atlas放出逆天体操表演，网友：可怕| 量子位"/>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298382" y="3250635"/>
            <a:ext cx="2713385" cy="1528540"/>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p:cNvSpPr/>
          <p:nvPr/>
        </p:nvSpPr>
        <p:spPr>
          <a:xfrm>
            <a:off x="3283571" y="4789677"/>
            <a:ext cx="1346331" cy="369332"/>
          </a:xfrm>
          <a:prstGeom prst="rect">
            <a:avLst/>
          </a:prstGeom>
        </p:spPr>
        <p:txBody>
          <a:bodyPr wrap="none">
            <a:spAutoFit/>
          </a:bodyPr>
          <a:lstStyle/>
          <a:p>
            <a:r>
              <a:rPr lang="en-US" altLang="zh-CN" dirty="0"/>
              <a:t>Biped </a:t>
            </a:r>
            <a:r>
              <a:rPr lang="en-US" altLang="zh-CN" dirty="0" smtClean="0"/>
              <a:t>robot </a:t>
            </a:r>
            <a:endParaRPr lang="zh-CN" altLang="en-US" dirty="0"/>
          </a:p>
        </p:txBody>
      </p:sp>
      <p:sp>
        <p:nvSpPr>
          <p:cNvPr id="15" name="矩形 14"/>
          <p:cNvSpPr/>
          <p:nvPr/>
        </p:nvSpPr>
        <p:spPr>
          <a:xfrm>
            <a:off x="5680869" y="4757669"/>
            <a:ext cx="2197525" cy="369332"/>
          </a:xfrm>
          <a:prstGeom prst="rect">
            <a:avLst/>
          </a:prstGeom>
        </p:spPr>
        <p:txBody>
          <a:bodyPr wrap="none">
            <a:spAutoFit/>
          </a:bodyPr>
          <a:lstStyle/>
          <a:p>
            <a:r>
              <a:rPr lang="en-US" altLang="zh-CN" dirty="0"/>
              <a:t>Quadruped Bio-robot</a:t>
            </a:r>
            <a:endParaRPr lang="zh-CN" altLang="en-US" dirty="0"/>
          </a:p>
        </p:txBody>
      </p:sp>
      <p:pic>
        <p:nvPicPr>
          <p:cNvPr id="1034" name="Picture 10" descr="波士顿动力机器人舞蹈大片火爆全球！工程VP 揭秘：我们将经典和前沿相融合| 雷锋网"/>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5011767" y="3240133"/>
            <a:ext cx="3019982" cy="1549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0041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158981" y="483518"/>
            <a:ext cx="2045753" cy="338554"/>
          </a:xfrm>
          <a:prstGeom prst="rect">
            <a:avLst/>
          </a:prstGeom>
        </p:spPr>
        <p:txBody>
          <a:bodyPr wrap="none">
            <a:spAutoFit/>
          </a:bodyPr>
          <a:lstStyle/>
          <a:p>
            <a:r>
              <a:rPr lang="zh-CN" altLang="en-US" sz="1600" b="1" dirty="0">
                <a:solidFill>
                  <a:srgbClr val="002060"/>
                </a:solidFill>
              </a:rPr>
              <a:t>移动机器人</a:t>
            </a:r>
            <a:r>
              <a:rPr lang="zh-CN" altLang="en-US" sz="1600" b="1" dirty="0" smtClean="0">
                <a:solidFill>
                  <a:srgbClr val="002060"/>
                </a:solidFill>
              </a:rPr>
              <a:t>主要类型</a:t>
            </a:r>
            <a:endParaRPr lang="zh-CN" altLang="en-US" sz="1600" b="1" dirty="0">
              <a:solidFill>
                <a:srgbClr val="002060"/>
              </a:solidFill>
            </a:endParaRPr>
          </a:p>
        </p:txBody>
      </p:sp>
      <p:pic>
        <p:nvPicPr>
          <p:cNvPr id="18" name="图片 17"/>
          <p:cNvPicPr/>
          <p:nvPr/>
        </p:nvPicPr>
        <p:blipFill>
          <a:blip r:embed="rId3">
            <a:extLst>
              <a:ext uri="{28A0092B-C50C-407E-A947-70E740481C1C}">
                <a14:useLocalDpi xmlns:a14="http://schemas.microsoft.com/office/drawing/2010/main" val="0"/>
              </a:ext>
            </a:extLst>
          </a:blip>
          <a:srcRect/>
          <a:stretch>
            <a:fillRect/>
          </a:stretch>
        </p:blipFill>
        <p:spPr>
          <a:xfrm>
            <a:off x="323528" y="1078431"/>
            <a:ext cx="1905000" cy="1743075"/>
          </a:xfrm>
          <a:prstGeom prst="rect">
            <a:avLst/>
          </a:prstGeom>
          <a:noFill/>
          <a:ln>
            <a:noFill/>
          </a:ln>
        </p:spPr>
      </p:pic>
      <p:sp>
        <p:nvSpPr>
          <p:cNvPr id="6" name="矩形 5"/>
          <p:cNvSpPr/>
          <p:nvPr/>
        </p:nvSpPr>
        <p:spPr>
          <a:xfrm>
            <a:off x="610811" y="2821506"/>
            <a:ext cx="1107996" cy="338554"/>
          </a:xfrm>
          <a:prstGeom prst="rect">
            <a:avLst/>
          </a:prstGeom>
        </p:spPr>
        <p:txBody>
          <a:bodyPr wrap="none">
            <a:spAutoFit/>
          </a:bodyPr>
          <a:lstStyle/>
          <a:p>
            <a:r>
              <a:rPr lang="en-US" altLang="zh-CN" sz="1600" kern="100" dirty="0">
                <a:latin typeface="宋体" panose="02010600030101010101" pitchFamily="2" charset="-122"/>
                <a:cs typeface="Times New Roman" panose="02020603050405020304" pitchFamily="18" charset="0"/>
              </a:rPr>
              <a:t>Sojourner</a:t>
            </a:r>
            <a:endParaRPr lang="zh-CN" altLang="en-US" sz="1600" dirty="0"/>
          </a:p>
        </p:txBody>
      </p:sp>
      <p:pic>
        <p:nvPicPr>
          <p:cNvPr id="20" name="图片 19"/>
          <p:cNvPicPr/>
          <p:nvPr/>
        </p:nvPicPr>
        <p:blipFill>
          <a:blip r:embed="rId4">
            <a:extLst>
              <a:ext uri="{28A0092B-C50C-407E-A947-70E740481C1C}">
                <a14:useLocalDpi xmlns:a14="http://schemas.microsoft.com/office/drawing/2010/main" val="0"/>
              </a:ext>
            </a:extLst>
          </a:blip>
          <a:srcRect/>
          <a:stretch>
            <a:fillRect/>
          </a:stretch>
        </p:blipFill>
        <p:spPr>
          <a:xfrm>
            <a:off x="2228528" y="1078431"/>
            <a:ext cx="2243783" cy="1743075"/>
          </a:xfrm>
          <a:prstGeom prst="rect">
            <a:avLst/>
          </a:prstGeom>
          <a:noFill/>
          <a:ln>
            <a:noFill/>
          </a:ln>
        </p:spPr>
      </p:pic>
      <p:sp>
        <p:nvSpPr>
          <p:cNvPr id="7" name="矩形 6"/>
          <p:cNvSpPr/>
          <p:nvPr/>
        </p:nvSpPr>
        <p:spPr>
          <a:xfrm>
            <a:off x="2461046" y="2821506"/>
            <a:ext cx="1826141" cy="338554"/>
          </a:xfrm>
          <a:prstGeom prst="rect">
            <a:avLst/>
          </a:prstGeom>
        </p:spPr>
        <p:txBody>
          <a:bodyPr wrap="none">
            <a:spAutoFit/>
          </a:bodyPr>
          <a:lstStyle/>
          <a:p>
            <a:r>
              <a:rPr lang="zh-CN" altLang="zh-CN" sz="1600" kern="100" dirty="0">
                <a:cs typeface="Times New Roman" panose="02020603050405020304" pitchFamily="18" charset="0"/>
              </a:rPr>
              <a:t>勇气号火星探测器</a:t>
            </a:r>
            <a:endParaRPr lang="zh-CN" altLang="en-US" sz="1600" dirty="0"/>
          </a:p>
        </p:txBody>
      </p:sp>
      <p:pic>
        <p:nvPicPr>
          <p:cNvPr id="22" name="图片 21"/>
          <p:cNvPicPr/>
          <p:nvPr/>
        </p:nvPicPr>
        <p:blipFill>
          <a:blip r:embed="rId5">
            <a:extLst>
              <a:ext uri="{28A0092B-C50C-407E-A947-70E740481C1C}">
                <a14:useLocalDpi xmlns:a14="http://schemas.microsoft.com/office/drawing/2010/main" val="0"/>
              </a:ext>
            </a:extLst>
          </a:blip>
          <a:srcRect/>
          <a:stretch>
            <a:fillRect/>
          </a:stretch>
        </p:blipFill>
        <p:spPr>
          <a:xfrm>
            <a:off x="4482512" y="1076936"/>
            <a:ext cx="2595283" cy="1744570"/>
          </a:xfrm>
          <a:prstGeom prst="rect">
            <a:avLst/>
          </a:prstGeom>
          <a:noFill/>
          <a:ln>
            <a:noFill/>
          </a:ln>
        </p:spPr>
      </p:pic>
      <p:sp>
        <p:nvSpPr>
          <p:cNvPr id="8" name="矩形 7"/>
          <p:cNvSpPr/>
          <p:nvPr/>
        </p:nvSpPr>
        <p:spPr>
          <a:xfrm>
            <a:off x="5156969" y="2809643"/>
            <a:ext cx="1313180" cy="338554"/>
          </a:xfrm>
          <a:prstGeom prst="rect">
            <a:avLst/>
          </a:prstGeom>
        </p:spPr>
        <p:txBody>
          <a:bodyPr wrap="none">
            <a:spAutoFit/>
          </a:bodyPr>
          <a:lstStyle/>
          <a:p>
            <a:r>
              <a:rPr lang="en-US" altLang="zh-CN" sz="1600" kern="100" dirty="0">
                <a:latin typeface="宋体" panose="02010600030101010101" pitchFamily="2" charset="-122"/>
                <a:cs typeface="Times New Roman" panose="02020603050405020304" pitchFamily="18" charset="0"/>
              </a:rPr>
              <a:t>Opportunity</a:t>
            </a:r>
            <a:endParaRPr lang="zh-CN" altLang="en-US" sz="1600" dirty="0"/>
          </a:p>
        </p:txBody>
      </p:sp>
      <p:pic>
        <p:nvPicPr>
          <p:cNvPr id="24" name="图片 23"/>
          <p:cNvPicPr/>
          <p:nvPr/>
        </p:nvPicPr>
        <p:blipFill>
          <a:blip r:embed="rId6">
            <a:extLst>
              <a:ext uri="{28A0092B-C50C-407E-A947-70E740481C1C}">
                <a14:useLocalDpi xmlns:a14="http://schemas.microsoft.com/office/drawing/2010/main" val="0"/>
              </a:ext>
            </a:extLst>
          </a:blip>
          <a:srcRect/>
          <a:stretch>
            <a:fillRect/>
          </a:stretch>
        </p:blipFill>
        <p:spPr>
          <a:xfrm>
            <a:off x="7080895" y="1076936"/>
            <a:ext cx="1242122" cy="1744570"/>
          </a:xfrm>
          <a:prstGeom prst="rect">
            <a:avLst/>
          </a:prstGeom>
          <a:noFill/>
          <a:ln>
            <a:noFill/>
          </a:ln>
        </p:spPr>
      </p:pic>
      <p:sp>
        <p:nvSpPr>
          <p:cNvPr id="9" name="矩形 8"/>
          <p:cNvSpPr/>
          <p:nvPr/>
        </p:nvSpPr>
        <p:spPr>
          <a:xfrm>
            <a:off x="7285670" y="2821506"/>
            <a:ext cx="877163" cy="338554"/>
          </a:xfrm>
          <a:prstGeom prst="rect">
            <a:avLst/>
          </a:prstGeom>
        </p:spPr>
        <p:txBody>
          <a:bodyPr wrap="square">
            <a:spAutoFit/>
          </a:bodyPr>
          <a:lstStyle/>
          <a:p>
            <a:r>
              <a:rPr lang="zh-CN" altLang="zh-CN" sz="1600" kern="100" dirty="0">
                <a:cs typeface="Times New Roman" panose="02020603050405020304" pitchFamily="18" charset="0"/>
              </a:rPr>
              <a:t>好奇号</a:t>
            </a:r>
            <a:endParaRPr lang="zh-CN" altLang="en-US" sz="1600" dirty="0"/>
          </a:p>
        </p:txBody>
      </p:sp>
      <p:pic>
        <p:nvPicPr>
          <p:cNvPr id="26" name="图片 25" descr="Robot | WorkPartner | Robotics Today"/>
          <p:cNvPicPr/>
          <p:nvPr/>
        </p:nvPicPr>
        <p:blipFill>
          <a:blip r:embed="rId7" cstate="print">
            <a:extLst>
              <a:ext uri="{28A0092B-C50C-407E-A947-70E740481C1C}">
                <a14:useLocalDpi xmlns:a14="http://schemas.microsoft.com/office/drawing/2010/main" val="0"/>
              </a:ext>
            </a:extLst>
          </a:blip>
          <a:srcRect/>
          <a:stretch>
            <a:fillRect/>
          </a:stretch>
        </p:blipFill>
        <p:spPr>
          <a:xfrm>
            <a:off x="323528" y="3160060"/>
            <a:ext cx="2132829" cy="1517455"/>
          </a:xfrm>
          <a:prstGeom prst="rect">
            <a:avLst/>
          </a:prstGeom>
          <a:noFill/>
          <a:ln>
            <a:noFill/>
          </a:ln>
        </p:spPr>
      </p:pic>
      <p:sp>
        <p:nvSpPr>
          <p:cNvPr id="16" name="矩形 15"/>
          <p:cNvSpPr/>
          <p:nvPr/>
        </p:nvSpPr>
        <p:spPr>
          <a:xfrm>
            <a:off x="684113" y="4696238"/>
            <a:ext cx="1313180" cy="338554"/>
          </a:xfrm>
          <a:prstGeom prst="rect">
            <a:avLst/>
          </a:prstGeom>
        </p:spPr>
        <p:txBody>
          <a:bodyPr wrap="none">
            <a:spAutoFit/>
          </a:bodyPr>
          <a:lstStyle/>
          <a:p>
            <a:r>
              <a:rPr lang="en-US" altLang="zh-CN" sz="1600" kern="100" dirty="0" err="1">
                <a:latin typeface="宋体" panose="02010600030101010101" pitchFamily="2" charset="-122"/>
                <a:cs typeface="Times New Roman" panose="02020603050405020304" pitchFamily="18" charset="0"/>
              </a:rPr>
              <a:t>Workpartner</a:t>
            </a:r>
            <a:endParaRPr lang="zh-CN" altLang="en-US" sz="1600" dirty="0"/>
          </a:p>
        </p:txBody>
      </p:sp>
      <p:pic>
        <p:nvPicPr>
          <p:cNvPr id="28" name="图片 27"/>
          <p:cNvPicPr/>
          <p:nvPr/>
        </p:nvPicPr>
        <p:blipFill>
          <a:blip r:embed="rId8">
            <a:extLst>
              <a:ext uri="{28A0092B-C50C-407E-A947-70E740481C1C}">
                <a14:useLocalDpi xmlns:a14="http://schemas.microsoft.com/office/drawing/2010/main" val="0"/>
              </a:ext>
            </a:extLst>
          </a:blip>
          <a:srcRect/>
          <a:stretch>
            <a:fillRect/>
          </a:stretch>
        </p:blipFill>
        <p:spPr>
          <a:xfrm>
            <a:off x="2513594" y="3148197"/>
            <a:ext cx="2127859" cy="1529318"/>
          </a:xfrm>
          <a:prstGeom prst="rect">
            <a:avLst/>
          </a:prstGeom>
          <a:noFill/>
          <a:ln>
            <a:noFill/>
          </a:ln>
        </p:spPr>
      </p:pic>
      <p:sp>
        <p:nvSpPr>
          <p:cNvPr id="17" name="矩形 16"/>
          <p:cNvSpPr/>
          <p:nvPr/>
        </p:nvSpPr>
        <p:spPr>
          <a:xfrm>
            <a:off x="3057375" y="4663514"/>
            <a:ext cx="902811" cy="338554"/>
          </a:xfrm>
          <a:prstGeom prst="rect">
            <a:avLst/>
          </a:prstGeom>
        </p:spPr>
        <p:txBody>
          <a:bodyPr wrap="none">
            <a:spAutoFit/>
          </a:bodyPr>
          <a:lstStyle/>
          <a:p>
            <a:r>
              <a:rPr lang="en-US" altLang="zh-CN" sz="1600" kern="100" dirty="0">
                <a:latin typeface="宋体" panose="02010600030101010101" pitchFamily="2" charset="-122"/>
                <a:cs typeface="Times New Roman" panose="02020603050405020304" pitchFamily="18" charset="0"/>
              </a:rPr>
              <a:t>ATHLETE</a:t>
            </a:r>
            <a:endParaRPr lang="zh-CN" altLang="en-US" sz="1600" dirty="0"/>
          </a:p>
        </p:txBody>
      </p:sp>
      <p:pic>
        <p:nvPicPr>
          <p:cNvPr id="30" name="图片 29" descr="Handle Robot Boston Dynamics 3D Model $79 - .blend .stl .obj .fbx .dae .3ds  - Free3D"/>
          <p:cNvPicPr/>
          <p:nvPr/>
        </p:nvPicPr>
        <p:blipFill>
          <a:blip r:embed="rId9" cstate="print">
            <a:extLst>
              <a:ext uri="{28A0092B-C50C-407E-A947-70E740481C1C}">
                <a14:useLocalDpi xmlns:a14="http://schemas.microsoft.com/office/drawing/2010/main" val="0"/>
              </a:ext>
            </a:extLst>
          </a:blip>
          <a:srcRect/>
          <a:stretch>
            <a:fillRect/>
          </a:stretch>
        </p:blipFill>
        <p:spPr>
          <a:xfrm>
            <a:off x="6439049" y="3148197"/>
            <a:ext cx="1949375" cy="1548041"/>
          </a:xfrm>
          <a:prstGeom prst="rect">
            <a:avLst/>
          </a:prstGeom>
          <a:noFill/>
          <a:ln>
            <a:noFill/>
          </a:ln>
        </p:spPr>
      </p:pic>
      <p:sp>
        <p:nvSpPr>
          <p:cNvPr id="19" name="矩形 18"/>
          <p:cNvSpPr/>
          <p:nvPr/>
        </p:nvSpPr>
        <p:spPr>
          <a:xfrm>
            <a:off x="7030548" y="4653597"/>
            <a:ext cx="800219" cy="338554"/>
          </a:xfrm>
          <a:prstGeom prst="rect">
            <a:avLst/>
          </a:prstGeom>
        </p:spPr>
        <p:txBody>
          <a:bodyPr wrap="none">
            <a:spAutoFit/>
          </a:bodyPr>
          <a:lstStyle/>
          <a:p>
            <a:r>
              <a:rPr lang="en-US" altLang="zh-CN" sz="1600" kern="100" dirty="0">
                <a:latin typeface="宋体" panose="02010600030101010101" pitchFamily="2" charset="-122"/>
                <a:cs typeface="Times New Roman" panose="02020603050405020304" pitchFamily="18" charset="0"/>
              </a:rPr>
              <a:t>handle</a:t>
            </a:r>
            <a:endParaRPr lang="zh-CN" altLang="en-US" sz="1600" dirty="0"/>
          </a:p>
        </p:txBody>
      </p:sp>
      <p:pic>
        <p:nvPicPr>
          <p:cNvPr id="32" name="图片 31"/>
          <p:cNvPicPr/>
          <p:nvPr/>
        </p:nvPicPr>
        <p:blipFill>
          <a:blip r:embed="rId10">
            <a:extLst>
              <a:ext uri="{28A0092B-C50C-407E-A947-70E740481C1C}">
                <a14:useLocalDpi xmlns:a14="http://schemas.microsoft.com/office/drawing/2010/main" val="0"/>
              </a:ext>
            </a:extLst>
          </a:blip>
          <a:srcRect/>
          <a:stretch>
            <a:fillRect/>
          </a:stretch>
        </p:blipFill>
        <p:spPr>
          <a:xfrm>
            <a:off x="4656783" y="3158036"/>
            <a:ext cx="2148174" cy="1528363"/>
          </a:xfrm>
          <a:prstGeom prst="rect">
            <a:avLst/>
          </a:prstGeom>
          <a:noFill/>
          <a:ln>
            <a:noFill/>
          </a:ln>
        </p:spPr>
      </p:pic>
      <p:sp>
        <p:nvSpPr>
          <p:cNvPr id="21" name="矩形 20"/>
          <p:cNvSpPr/>
          <p:nvPr/>
        </p:nvSpPr>
        <p:spPr>
          <a:xfrm>
            <a:off x="5185234" y="4649513"/>
            <a:ext cx="800219" cy="338554"/>
          </a:xfrm>
          <a:prstGeom prst="rect">
            <a:avLst/>
          </a:prstGeom>
        </p:spPr>
        <p:txBody>
          <a:bodyPr wrap="none">
            <a:spAutoFit/>
          </a:bodyPr>
          <a:lstStyle/>
          <a:p>
            <a:r>
              <a:rPr lang="en-US" altLang="zh-CN" sz="1600" kern="100" dirty="0" err="1">
                <a:latin typeface="宋体" panose="02010600030101010101" pitchFamily="2" charset="-122"/>
                <a:cs typeface="Times New Roman" panose="02020603050405020304" pitchFamily="18" charset="0"/>
              </a:rPr>
              <a:t>ANYmal</a:t>
            </a:r>
            <a:endParaRPr lang="zh-CN" altLang="en-US" sz="1600" dirty="0"/>
          </a:p>
        </p:txBody>
      </p:sp>
      <p:sp>
        <p:nvSpPr>
          <p:cNvPr id="23" name="矩形 22"/>
          <p:cNvSpPr/>
          <p:nvPr/>
        </p:nvSpPr>
        <p:spPr>
          <a:xfrm>
            <a:off x="3206091" y="747695"/>
            <a:ext cx="1620957" cy="338554"/>
          </a:xfrm>
          <a:prstGeom prst="rect">
            <a:avLst/>
          </a:prstGeom>
        </p:spPr>
        <p:txBody>
          <a:bodyPr wrap="none">
            <a:spAutoFit/>
          </a:bodyPr>
          <a:lstStyle/>
          <a:p>
            <a:r>
              <a:rPr lang="zh-CN" altLang="en-US" sz="1600" kern="100" dirty="0" smtClean="0">
                <a:solidFill>
                  <a:srgbClr val="002060"/>
                </a:solidFill>
                <a:cs typeface="Times New Roman" panose="02020603050405020304" pitchFamily="18" charset="0"/>
              </a:rPr>
              <a:t>地面</a:t>
            </a:r>
            <a:r>
              <a:rPr lang="zh-CN" altLang="zh-CN" sz="1600" kern="100" dirty="0" smtClean="0">
                <a:solidFill>
                  <a:srgbClr val="002060"/>
                </a:solidFill>
                <a:cs typeface="Times New Roman" panose="02020603050405020304" pitchFamily="18" charset="0"/>
              </a:rPr>
              <a:t>移动</a:t>
            </a:r>
            <a:r>
              <a:rPr lang="zh-CN" altLang="zh-CN" sz="1600" kern="100" dirty="0">
                <a:solidFill>
                  <a:srgbClr val="002060"/>
                </a:solidFill>
                <a:cs typeface="Times New Roman" panose="02020603050405020304" pitchFamily="18" charset="0"/>
              </a:rPr>
              <a:t>机器人</a:t>
            </a:r>
            <a:endParaRPr lang="zh-CN" altLang="en-US" sz="1600" dirty="0">
              <a:solidFill>
                <a:srgbClr val="002060"/>
              </a:solidFill>
            </a:endParaRPr>
          </a:p>
        </p:txBody>
      </p:sp>
    </p:spTree>
    <p:extLst>
      <p:ext uri="{BB962C8B-B14F-4D97-AF65-F5344CB8AC3E}">
        <p14:creationId xmlns:p14="http://schemas.microsoft.com/office/powerpoint/2010/main" val="136465887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3570042" y="502517"/>
            <a:ext cx="2044149" cy="369332"/>
          </a:xfrm>
          <a:prstGeom prst="rect">
            <a:avLst/>
          </a:prstGeom>
        </p:spPr>
        <p:txBody>
          <a:bodyPr wrap="none">
            <a:spAutoFit/>
          </a:bodyPr>
          <a:lstStyle/>
          <a:p>
            <a:r>
              <a:rPr lang="zh-CN" altLang="en-US" b="1" dirty="0">
                <a:solidFill>
                  <a:srgbClr val="002060"/>
                </a:solidFill>
              </a:rPr>
              <a:t>移动</a:t>
            </a:r>
            <a:r>
              <a:rPr lang="zh-CN" altLang="en-US" b="1" dirty="0" smtClean="0">
                <a:solidFill>
                  <a:srgbClr val="002060"/>
                </a:solidFill>
              </a:rPr>
              <a:t>机器人运动学</a:t>
            </a:r>
            <a:endParaRPr lang="zh-CN" altLang="en-US" b="1" dirty="0">
              <a:solidFill>
                <a:srgbClr val="002060"/>
              </a:solidFill>
            </a:endParaRPr>
          </a:p>
        </p:txBody>
      </p:sp>
      <p:cxnSp>
        <p:nvCxnSpPr>
          <p:cNvPr id="15" name="直接连接符 14"/>
          <p:cNvCxnSpPr/>
          <p:nvPr/>
        </p:nvCxnSpPr>
        <p:spPr>
          <a:xfrm>
            <a:off x="3673652" y="1743736"/>
            <a:ext cx="1518284" cy="363198"/>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765345" y="2349859"/>
            <a:ext cx="1505185" cy="563253"/>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673652" y="3216770"/>
            <a:ext cx="1592115" cy="257215"/>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809468" y="1203598"/>
            <a:ext cx="2353232" cy="1075337"/>
            <a:chOff x="1481200" y="4382357"/>
            <a:chExt cx="3137152" cy="1433557"/>
          </a:xfrm>
        </p:grpSpPr>
        <p:sp>
          <p:nvSpPr>
            <p:cNvPr id="21" name="矩形 20"/>
            <p:cNvSpPr/>
            <p:nvPr/>
          </p:nvSpPr>
          <p:spPr>
            <a:xfrm>
              <a:off x="1481200" y="4806566"/>
              <a:ext cx="2841876" cy="100934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en-US" altLang="zh-CN" sz="900" dirty="0">
                  <a:latin typeface="微软雅黑" panose="020B0503020204020204" charset="-122"/>
                  <a:ea typeface="微软雅黑" panose="020B0503020204020204" charset="-122"/>
                  <a:cs typeface="+mn-ea"/>
                  <a:sym typeface="Arial" panose="020B0604020202020204" pitchFamily="34" charset="0"/>
                </a:rPr>
                <a:t>study of the mathematics of motion </a:t>
              </a:r>
              <a:r>
                <a:rPr lang="en-US" altLang="zh-CN" sz="900" dirty="0">
                  <a:solidFill>
                    <a:srgbClr val="FF0000"/>
                  </a:solidFill>
                  <a:latin typeface="微软雅黑" panose="020B0503020204020204" charset="-122"/>
                  <a:ea typeface="微软雅黑" panose="020B0503020204020204" charset="-122"/>
                  <a:cs typeface="+mn-ea"/>
                  <a:sym typeface="Arial" panose="020B0604020202020204" pitchFamily="34" charset="0"/>
                </a:rPr>
                <a:t>without</a:t>
              </a:r>
              <a:r>
                <a:rPr lang="en-US" altLang="zh-CN" sz="900" dirty="0">
                  <a:latin typeface="微软雅黑" panose="020B0503020204020204" charset="-122"/>
                  <a:ea typeface="微软雅黑" panose="020B0503020204020204" charset="-122"/>
                  <a:cs typeface="+mn-ea"/>
                  <a:sym typeface="Arial" panose="020B0604020202020204" pitchFamily="34" charset="0"/>
                </a:rPr>
                <a:t> considering the forces that affect the </a:t>
              </a:r>
              <a:r>
                <a:rPr lang="en-US" altLang="zh-CN" sz="900" b="1" dirty="0">
                  <a:solidFill>
                    <a:srgbClr val="FF0000"/>
                  </a:solidFill>
                  <a:latin typeface="微软雅黑" panose="020B0503020204020204" charset="-122"/>
                  <a:ea typeface="微软雅黑" panose="020B0503020204020204" charset="-122"/>
                  <a:cs typeface="+mn-ea"/>
                  <a:sym typeface="Arial" panose="020B0604020202020204" pitchFamily="34" charset="0"/>
                </a:rPr>
                <a:t>motion</a:t>
              </a:r>
              <a:r>
                <a:rPr lang="en-US" altLang="zh-CN" sz="900" dirty="0" smtClean="0">
                  <a:latin typeface="微软雅黑" panose="020B0503020204020204" charset="-122"/>
                  <a:ea typeface="微软雅黑" panose="020B0503020204020204" charset="-122"/>
                  <a:cs typeface="+mn-ea"/>
                  <a:sym typeface="Arial" panose="020B0604020202020204" pitchFamily="34" charset="0"/>
                </a:rPr>
                <a:t>.</a:t>
              </a:r>
            </a:p>
            <a:p>
              <a:pPr algn="r">
                <a:lnSpc>
                  <a:spcPct val="120000"/>
                </a:lnSpc>
              </a:pPr>
              <a:r>
                <a:rPr lang="en-US" altLang="zh-CN" sz="900" b="1" dirty="0" smtClean="0">
                  <a:solidFill>
                    <a:schemeClr val="tx1"/>
                  </a:solidFill>
                  <a:latin typeface="微软雅黑" panose="020B0503020204020204" charset="-122"/>
                  <a:ea typeface="微软雅黑" panose="020B0503020204020204" charset="-122"/>
                  <a:cs typeface="+mn-ea"/>
                  <a:sym typeface="Arial" panose="020B0604020202020204" pitchFamily="34" charset="0"/>
                </a:rPr>
                <a:t>Examples: Manipulator</a:t>
              </a:r>
              <a:endParaRPr lang="zh-CN" altLang="en-US" sz="900" b="1" dirty="0" smtClean="0">
                <a:solidFill>
                  <a:schemeClr val="tx1"/>
                </a:solidFill>
                <a:latin typeface="微软雅黑" panose="020B0503020204020204" charset="-122"/>
                <a:ea typeface="微软雅黑" panose="020B0503020204020204" charset="-122"/>
                <a:cs typeface="+mn-ea"/>
                <a:sym typeface="Arial" panose="020B0604020202020204" pitchFamily="34" charset="0"/>
              </a:endParaRPr>
            </a:p>
          </p:txBody>
        </p:sp>
        <p:sp>
          <p:nvSpPr>
            <p:cNvPr id="22" name="Rectangle 84"/>
            <p:cNvSpPr>
              <a:spLocks noChangeArrowheads="1"/>
            </p:cNvSpPr>
            <p:nvPr/>
          </p:nvSpPr>
          <p:spPr bwMode="auto">
            <a:xfrm>
              <a:off x="2723706" y="4382357"/>
              <a:ext cx="1894646"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pPr algn="r"/>
              <a:r>
                <a:rPr lang="en-US" altLang="zh-CN" sz="1350" b="1" dirty="0" smtClean="0">
                  <a:solidFill>
                    <a:schemeClr val="tx1"/>
                  </a:solidFill>
                  <a:latin typeface="微软雅黑" panose="020B0503020204020204" charset="-122"/>
                  <a:ea typeface="微软雅黑" panose="020B0503020204020204" charset="-122"/>
                  <a:sym typeface="Impact" panose="020B0806030902050204" pitchFamily="34" charset="0"/>
                </a:rPr>
                <a:t>Kinematics</a:t>
              </a:r>
            </a:p>
            <a:p>
              <a:pPr algn="r"/>
              <a:r>
                <a:rPr lang="zh-CN" altLang="en-US" sz="1350" b="1" dirty="0">
                  <a:solidFill>
                    <a:schemeClr val="tx1"/>
                  </a:solidFill>
                  <a:latin typeface="微软雅黑" panose="020B0503020204020204" charset="-122"/>
                  <a:ea typeface="微软雅黑" panose="020B0503020204020204" charset="-122"/>
                  <a:sym typeface="Impact" panose="020B0806030902050204" pitchFamily="34" charset="0"/>
                </a:rPr>
                <a:t>运动学</a:t>
              </a:r>
              <a:endParaRPr lang="zh-CN" altLang="en-US" sz="1350" b="1" dirty="0" smtClean="0">
                <a:solidFill>
                  <a:schemeClr val="tx1"/>
                </a:solidFill>
                <a:latin typeface="微软雅黑" panose="020B0503020204020204" charset="-122"/>
                <a:ea typeface="微软雅黑" panose="020B0503020204020204" charset="-122"/>
                <a:sym typeface="Impact" panose="020B0806030902050204" pitchFamily="34" charset="0"/>
              </a:endParaRPr>
            </a:p>
          </p:txBody>
        </p:sp>
      </p:grpSp>
      <p:grpSp>
        <p:nvGrpSpPr>
          <p:cNvPr id="23" name="组合 22"/>
          <p:cNvGrpSpPr/>
          <p:nvPr/>
        </p:nvGrpSpPr>
        <p:grpSpPr>
          <a:xfrm>
            <a:off x="6040889" y="1388873"/>
            <a:ext cx="2160320" cy="1223540"/>
            <a:chOff x="1443100" y="4406349"/>
            <a:chExt cx="2879976" cy="1631129"/>
          </a:xfrm>
        </p:grpSpPr>
        <p:sp>
          <p:nvSpPr>
            <p:cNvPr id="24" name="矩形 23"/>
            <p:cNvSpPr/>
            <p:nvPr/>
          </p:nvSpPr>
          <p:spPr>
            <a:xfrm>
              <a:off x="1481199" y="4806566"/>
              <a:ext cx="2841877" cy="123091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900" dirty="0">
                  <a:latin typeface="微软雅黑" panose="020B0503020204020204" charset="-122"/>
                  <a:ea typeface="微软雅黑" panose="020B0503020204020204" charset="-122"/>
                  <a:cs typeface="+mn-ea"/>
                  <a:sym typeface="Arial" panose="020B0604020202020204" pitchFamily="34" charset="0"/>
                </a:rPr>
                <a:t>the study of motion in which these forces are </a:t>
              </a:r>
              <a:r>
                <a:rPr lang="en-US" altLang="zh-CN" sz="900" dirty="0" smtClean="0">
                  <a:latin typeface="微软雅黑" panose="020B0503020204020204" charset="-122"/>
                  <a:ea typeface="微软雅黑" panose="020B0503020204020204" charset="-122"/>
                  <a:cs typeface="+mn-ea"/>
                  <a:sym typeface="Arial" panose="020B0604020202020204" pitchFamily="34" charset="0"/>
                </a:rPr>
                <a:t>modeled. </a:t>
              </a:r>
              <a:r>
                <a:rPr lang="en-US" altLang="zh-CN" sz="900" dirty="0" smtClean="0"/>
                <a:t>Includes </a:t>
              </a:r>
              <a:r>
                <a:rPr lang="en-US" altLang="zh-CN" sz="900" dirty="0"/>
                <a:t>the energies and speeds associated </a:t>
              </a:r>
              <a:r>
                <a:rPr lang="en-US" altLang="zh-CN" sz="900" b="1" dirty="0">
                  <a:solidFill>
                    <a:srgbClr val="FF0000"/>
                  </a:solidFill>
                </a:rPr>
                <a:t>with</a:t>
              </a:r>
              <a:r>
                <a:rPr lang="en-US" altLang="zh-CN" sz="900" dirty="0"/>
                <a:t> these </a:t>
              </a:r>
              <a:r>
                <a:rPr lang="en-US" altLang="zh-CN" sz="900" b="1" dirty="0" smtClean="0">
                  <a:solidFill>
                    <a:srgbClr val="FF0000"/>
                  </a:solidFill>
                </a:rPr>
                <a:t>motion</a:t>
              </a:r>
              <a:r>
                <a:rPr lang="en-US" altLang="zh-CN" sz="900" dirty="0" smtClean="0"/>
                <a:t>s</a:t>
              </a:r>
              <a:endParaRPr lang="en-US" altLang="zh-CN" sz="900" dirty="0" smtClean="0">
                <a:latin typeface="微软雅黑" panose="020B0503020204020204" charset="-122"/>
                <a:ea typeface="微软雅黑" panose="020B0503020204020204" charset="-122"/>
                <a:cs typeface="+mn-ea"/>
                <a:sym typeface="Arial" panose="020B0604020202020204" pitchFamily="34" charset="0"/>
              </a:endParaRPr>
            </a:p>
            <a:p>
              <a:pPr>
                <a:lnSpc>
                  <a:spcPct val="120000"/>
                </a:lnSpc>
              </a:pPr>
              <a:r>
                <a:rPr lang="en-US" altLang="zh-CN" sz="900" b="1" dirty="0" smtClean="0">
                  <a:solidFill>
                    <a:schemeClr val="tx1"/>
                  </a:solidFill>
                  <a:latin typeface="微软雅黑" panose="020B0503020204020204" charset="-122"/>
                  <a:ea typeface="微软雅黑" panose="020B0503020204020204" charset="-122"/>
                  <a:cs typeface="+mn-ea"/>
                  <a:sym typeface="Arial" panose="020B0604020202020204" pitchFamily="34" charset="0"/>
                </a:rPr>
                <a:t>Examples: Manipulator</a:t>
              </a:r>
              <a:endParaRPr lang="zh-CN" altLang="en-US" sz="900" b="1" dirty="0" smtClean="0">
                <a:solidFill>
                  <a:schemeClr val="tx1"/>
                </a:solidFill>
                <a:latin typeface="微软雅黑" panose="020B0503020204020204" charset="-122"/>
                <a:ea typeface="微软雅黑" panose="020B0503020204020204" charset="-122"/>
                <a:cs typeface="+mn-ea"/>
                <a:sym typeface="Arial" panose="020B0604020202020204" pitchFamily="34" charset="0"/>
              </a:endParaRPr>
            </a:p>
          </p:txBody>
        </p:sp>
        <p:sp>
          <p:nvSpPr>
            <p:cNvPr id="25" name="Rectangle 84"/>
            <p:cNvSpPr>
              <a:spLocks noChangeArrowheads="1"/>
            </p:cNvSpPr>
            <p:nvPr/>
          </p:nvSpPr>
          <p:spPr bwMode="auto">
            <a:xfrm>
              <a:off x="1443100" y="4406349"/>
              <a:ext cx="1894646"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r>
                <a:rPr lang="en-US" altLang="zh-CN" sz="1350" b="1" dirty="0" smtClean="0">
                  <a:solidFill>
                    <a:schemeClr val="tx1"/>
                  </a:solidFill>
                  <a:latin typeface="微软雅黑" panose="020B0503020204020204" charset="-122"/>
                  <a:ea typeface="微软雅黑" panose="020B0503020204020204" charset="-122"/>
                  <a:sym typeface="Impact" panose="020B0806030902050204" pitchFamily="34" charset="0"/>
                </a:rPr>
                <a:t>Dynamics</a:t>
              </a:r>
            </a:p>
            <a:p>
              <a:r>
                <a:rPr lang="zh-CN" altLang="en-US" sz="1350" b="1" dirty="0">
                  <a:solidFill>
                    <a:schemeClr val="tx1"/>
                  </a:solidFill>
                  <a:latin typeface="微软雅黑" panose="020B0503020204020204" charset="-122"/>
                  <a:ea typeface="微软雅黑" panose="020B0503020204020204" charset="-122"/>
                  <a:sym typeface="Impact" panose="020B0806030902050204" pitchFamily="34" charset="0"/>
                </a:rPr>
                <a:t>动力学</a:t>
              </a:r>
              <a:endParaRPr lang="zh-CN" altLang="en-US" sz="1350" b="1" dirty="0" smtClean="0">
                <a:solidFill>
                  <a:schemeClr val="tx1"/>
                </a:solidFill>
                <a:latin typeface="微软雅黑" panose="020B0503020204020204" charset="-122"/>
                <a:ea typeface="微软雅黑" panose="020B0503020204020204" charset="-122"/>
                <a:sym typeface="Impact" panose="020B0806030902050204" pitchFamily="34" charset="0"/>
              </a:endParaRPr>
            </a:p>
          </p:txBody>
        </p:sp>
      </p:grpSp>
      <p:grpSp>
        <p:nvGrpSpPr>
          <p:cNvPr id="26" name="组合 25"/>
          <p:cNvGrpSpPr/>
          <p:nvPr/>
        </p:nvGrpSpPr>
        <p:grpSpPr>
          <a:xfrm>
            <a:off x="779792" y="2472958"/>
            <a:ext cx="2353234" cy="1075338"/>
            <a:chOff x="1481200" y="4382357"/>
            <a:chExt cx="3137154" cy="1433559"/>
          </a:xfrm>
        </p:grpSpPr>
        <p:sp>
          <p:nvSpPr>
            <p:cNvPr id="27" name="矩形 26"/>
            <p:cNvSpPr/>
            <p:nvPr/>
          </p:nvSpPr>
          <p:spPr>
            <a:xfrm>
              <a:off x="1481200" y="4806567"/>
              <a:ext cx="2841876" cy="100934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en-US" altLang="zh-CN" sz="900" dirty="0">
                  <a:latin typeface="微软雅黑" panose="020B0503020204020204" charset="-122"/>
                  <a:ea typeface="微软雅黑" panose="020B0503020204020204" charset="-122"/>
                  <a:cs typeface="+mn-ea"/>
                  <a:sym typeface="Arial" panose="020B0604020202020204" pitchFamily="34" charset="0"/>
                </a:rPr>
                <a:t>A mobile robot, is a robot that is capable of moving in the surrounding (</a:t>
              </a:r>
              <a:r>
                <a:rPr lang="en-US" altLang="zh-CN" sz="900" dirty="0">
                  <a:solidFill>
                    <a:srgbClr val="FF0000"/>
                  </a:solidFill>
                  <a:latin typeface="微软雅黑" panose="020B0503020204020204" charset="-122"/>
                  <a:ea typeface="微软雅黑" panose="020B0503020204020204" charset="-122"/>
                  <a:cs typeface="+mn-ea"/>
                  <a:sym typeface="Arial" panose="020B0604020202020204" pitchFamily="34" charset="0"/>
                </a:rPr>
                <a:t>locomotion</a:t>
              </a:r>
              <a:r>
                <a:rPr lang="en-US" altLang="zh-CN" sz="900" dirty="0" smtClean="0">
                  <a:latin typeface="微软雅黑" panose="020B0503020204020204" charset="-122"/>
                  <a:ea typeface="微软雅黑" panose="020B0503020204020204" charset="-122"/>
                  <a:cs typeface="+mn-ea"/>
                  <a:sym typeface="Arial" panose="020B0604020202020204" pitchFamily="34" charset="0"/>
                </a:rPr>
                <a:t>).</a:t>
              </a:r>
            </a:p>
            <a:p>
              <a:pPr algn="r">
                <a:lnSpc>
                  <a:spcPct val="120000"/>
                </a:lnSpc>
              </a:pPr>
              <a:r>
                <a:rPr lang="en-US" altLang="zh-CN" sz="900" b="1" dirty="0" smtClean="0">
                  <a:latin typeface="微软雅黑" panose="020B0503020204020204" charset="-122"/>
                  <a:ea typeface="微软雅黑" panose="020B0503020204020204" charset="-122"/>
                  <a:cs typeface="+mn-ea"/>
                  <a:sym typeface="Arial" panose="020B0604020202020204" pitchFamily="34" charset="0"/>
                </a:rPr>
                <a:t>Motion of Mobile Robots </a:t>
              </a:r>
              <a:endParaRPr lang="zh-CN" altLang="en-US" sz="900" b="1" dirty="0" smtClean="0">
                <a:solidFill>
                  <a:schemeClr val="tx1"/>
                </a:solidFill>
                <a:latin typeface="微软雅黑" panose="020B0503020204020204" charset="-122"/>
                <a:ea typeface="微软雅黑" panose="020B0503020204020204" charset="-122"/>
                <a:cs typeface="+mn-ea"/>
                <a:sym typeface="Arial" panose="020B0604020202020204" pitchFamily="34" charset="0"/>
              </a:endParaRPr>
            </a:p>
          </p:txBody>
        </p:sp>
        <p:sp>
          <p:nvSpPr>
            <p:cNvPr id="28" name="Rectangle 84"/>
            <p:cNvSpPr>
              <a:spLocks noChangeArrowheads="1"/>
            </p:cNvSpPr>
            <p:nvPr/>
          </p:nvSpPr>
          <p:spPr bwMode="auto">
            <a:xfrm>
              <a:off x="2504871" y="4382357"/>
              <a:ext cx="2113483"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pPr algn="r"/>
              <a:r>
                <a:rPr lang="en-US" altLang="zh-CN" sz="1350" b="1" dirty="0" smtClean="0">
                  <a:solidFill>
                    <a:schemeClr val="tx1"/>
                  </a:solidFill>
                  <a:latin typeface="微软雅黑" panose="020B0503020204020204" charset="-122"/>
                  <a:ea typeface="微软雅黑" panose="020B0503020204020204" charset="-122"/>
                  <a:sym typeface="Impact" panose="020B0806030902050204" pitchFamily="34" charset="0"/>
                </a:rPr>
                <a:t>Mobile Robots</a:t>
              </a:r>
            </a:p>
            <a:p>
              <a:pPr algn="r"/>
              <a:r>
                <a:rPr lang="zh-CN" altLang="en-US" sz="1350" b="1" dirty="0" smtClean="0">
                  <a:solidFill>
                    <a:schemeClr val="tx1"/>
                  </a:solidFill>
                  <a:latin typeface="微软雅黑" panose="020B0503020204020204" charset="-122"/>
                  <a:ea typeface="微软雅黑" panose="020B0503020204020204" charset="-122"/>
                  <a:sym typeface="Impact" panose="020B0806030902050204" pitchFamily="34" charset="0"/>
                </a:rPr>
                <a:t>移动机器人</a:t>
              </a:r>
            </a:p>
          </p:txBody>
        </p:sp>
      </p:grpSp>
      <p:grpSp>
        <p:nvGrpSpPr>
          <p:cNvPr id="29" name="组合 28"/>
          <p:cNvGrpSpPr/>
          <p:nvPr/>
        </p:nvGrpSpPr>
        <p:grpSpPr>
          <a:xfrm>
            <a:off x="6012310" y="2787774"/>
            <a:ext cx="2160320" cy="1495530"/>
            <a:chOff x="1443100" y="4406349"/>
            <a:chExt cx="2879976" cy="1388064"/>
          </a:xfrm>
        </p:grpSpPr>
        <p:sp>
          <p:nvSpPr>
            <p:cNvPr id="30" name="矩形 29"/>
            <p:cNvSpPr/>
            <p:nvPr/>
          </p:nvSpPr>
          <p:spPr>
            <a:xfrm>
              <a:off x="1481199" y="4937432"/>
              <a:ext cx="2841877" cy="85698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900" dirty="0"/>
                <a:t>the process of causing an autonomous robot to move</a:t>
              </a:r>
              <a:r>
                <a:rPr lang="en-US" altLang="zh-CN" sz="900" dirty="0" smtClean="0"/>
                <a:t>. </a:t>
              </a:r>
              <a:r>
                <a:rPr lang="en-US" altLang="zh-CN" sz="900" dirty="0"/>
                <a:t>In order to produce </a:t>
              </a:r>
              <a:r>
                <a:rPr lang="en-US" altLang="zh-CN" sz="900" b="1" dirty="0">
                  <a:solidFill>
                    <a:srgbClr val="FF0000"/>
                  </a:solidFill>
                </a:rPr>
                <a:t>motion</a:t>
              </a:r>
              <a:r>
                <a:rPr lang="en-US" altLang="zh-CN" sz="900" dirty="0"/>
                <a:t>, </a:t>
              </a:r>
              <a:r>
                <a:rPr lang="en-US" altLang="zh-CN" sz="900" b="1" dirty="0">
                  <a:solidFill>
                    <a:srgbClr val="FF0000"/>
                  </a:solidFill>
                </a:rPr>
                <a:t>forces</a:t>
              </a:r>
              <a:r>
                <a:rPr lang="en-US" altLang="zh-CN" sz="900" dirty="0"/>
                <a:t> must be applied to the </a:t>
              </a:r>
              <a:r>
                <a:rPr lang="en-US" altLang="zh-CN" sz="900" dirty="0" smtClean="0"/>
                <a:t>vehicle.</a:t>
              </a:r>
              <a:endParaRPr lang="en-US" altLang="zh-CN" sz="900" dirty="0"/>
            </a:p>
            <a:p>
              <a:pPr>
                <a:lnSpc>
                  <a:spcPct val="120000"/>
                </a:lnSpc>
              </a:pPr>
              <a:endParaRPr lang="zh-CN" altLang="en-US" sz="900" dirty="0" smtClean="0">
                <a:solidFill>
                  <a:schemeClr val="tx1"/>
                </a:solidFill>
                <a:latin typeface="微软雅黑" panose="020B0503020204020204" charset="-122"/>
                <a:ea typeface="微软雅黑" panose="020B0503020204020204" charset="-122"/>
                <a:cs typeface="+mn-ea"/>
                <a:sym typeface="Arial" panose="020B0604020202020204" pitchFamily="34" charset="0"/>
              </a:endParaRPr>
            </a:p>
          </p:txBody>
        </p:sp>
        <p:sp>
          <p:nvSpPr>
            <p:cNvPr id="31" name="Rectangle 84"/>
            <p:cNvSpPr>
              <a:spLocks noChangeArrowheads="1"/>
            </p:cNvSpPr>
            <p:nvPr/>
          </p:nvSpPr>
          <p:spPr bwMode="auto">
            <a:xfrm>
              <a:off x="1443100" y="4406349"/>
              <a:ext cx="2879976"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r>
                <a:rPr lang="en-US" altLang="zh-CN" sz="1350" b="1" dirty="0" smtClean="0">
                  <a:solidFill>
                    <a:schemeClr val="tx1"/>
                  </a:solidFill>
                  <a:latin typeface="微软雅黑" panose="020B0503020204020204" charset="-122"/>
                  <a:ea typeface="微软雅黑" panose="020B0503020204020204" charset="-122"/>
                  <a:sym typeface="Impact" panose="020B0806030902050204" pitchFamily="34" charset="0"/>
                </a:rPr>
                <a:t>Locomotion of Mobile Robot</a:t>
              </a:r>
            </a:p>
            <a:p>
              <a:r>
                <a:rPr lang="zh-CN" altLang="en-US" sz="1350" b="1" dirty="0" smtClean="0">
                  <a:solidFill>
                    <a:schemeClr val="tx1"/>
                  </a:solidFill>
                  <a:latin typeface="微软雅黑" panose="020B0503020204020204" charset="-122"/>
                  <a:ea typeface="微软雅黑" panose="020B0503020204020204" charset="-122"/>
                  <a:sym typeface="Impact" panose="020B0806030902050204" pitchFamily="34" charset="0"/>
                </a:rPr>
                <a:t>移动机器人运动学</a:t>
              </a:r>
              <a:endParaRPr lang="en-US" altLang="zh-CN" sz="1350" b="1" dirty="0">
                <a:solidFill>
                  <a:schemeClr val="tx1"/>
                </a:solidFill>
                <a:latin typeface="微软雅黑" panose="020B0503020204020204" charset="-122"/>
                <a:ea typeface="微软雅黑" panose="020B0503020204020204" charset="-122"/>
                <a:sym typeface="Impact" panose="020B0806030902050204" pitchFamily="34" charset="0"/>
              </a:endParaRPr>
            </a:p>
          </p:txBody>
        </p:sp>
      </p:grpSp>
      <p:sp>
        <p:nvSpPr>
          <p:cNvPr id="32" name="椭圆 31"/>
          <p:cNvSpPr/>
          <p:nvPr>
            <p:custDataLst>
              <p:tags r:id="rId1"/>
            </p:custDataLst>
          </p:nvPr>
        </p:nvSpPr>
        <p:spPr>
          <a:xfrm>
            <a:off x="3303905" y="1146552"/>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33" name="椭圆 32"/>
          <p:cNvSpPr/>
          <p:nvPr>
            <p:custDataLst>
              <p:tags r:id="rId2"/>
            </p:custDataLst>
          </p:nvPr>
        </p:nvSpPr>
        <p:spPr>
          <a:xfrm>
            <a:off x="4906010" y="1911727"/>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34" name="椭圆 33"/>
          <p:cNvSpPr/>
          <p:nvPr>
            <p:custDataLst>
              <p:tags r:id="rId3"/>
            </p:custDataLst>
          </p:nvPr>
        </p:nvSpPr>
        <p:spPr>
          <a:xfrm>
            <a:off x="3303905" y="2704207"/>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35" name="文本框 45"/>
          <p:cNvSpPr txBox="1"/>
          <p:nvPr/>
        </p:nvSpPr>
        <p:spPr>
          <a:xfrm>
            <a:off x="3376687" y="1253290"/>
            <a:ext cx="464820" cy="368300"/>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01</a:t>
            </a:r>
          </a:p>
        </p:txBody>
      </p:sp>
      <p:sp>
        <p:nvSpPr>
          <p:cNvPr id="36" name="文本框 45"/>
          <p:cNvSpPr txBox="1"/>
          <p:nvPr/>
        </p:nvSpPr>
        <p:spPr>
          <a:xfrm>
            <a:off x="3369702" y="2819200"/>
            <a:ext cx="464820" cy="368300"/>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03</a:t>
            </a:r>
          </a:p>
        </p:txBody>
      </p:sp>
      <p:sp>
        <p:nvSpPr>
          <p:cNvPr id="37" name="文本框 45"/>
          <p:cNvSpPr txBox="1"/>
          <p:nvPr/>
        </p:nvSpPr>
        <p:spPr>
          <a:xfrm>
            <a:off x="4971807" y="2009575"/>
            <a:ext cx="464820" cy="368300"/>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02</a:t>
            </a:r>
          </a:p>
        </p:txBody>
      </p:sp>
      <p:sp>
        <p:nvSpPr>
          <p:cNvPr id="38" name="椭圆 37"/>
          <p:cNvSpPr/>
          <p:nvPr>
            <p:custDataLst>
              <p:tags r:id="rId4"/>
            </p:custDataLst>
          </p:nvPr>
        </p:nvSpPr>
        <p:spPr>
          <a:xfrm>
            <a:off x="4932040" y="3159735"/>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39" name="文本框 45"/>
          <p:cNvSpPr txBox="1"/>
          <p:nvPr/>
        </p:nvSpPr>
        <p:spPr>
          <a:xfrm>
            <a:off x="4983334" y="3276959"/>
            <a:ext cx="470000" cy="369332"/>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04</a:t>
            </a:r>
          </a:p>
        </p:txBody>
      </p:sp>
      <p:sp>
        <p:nvSpPr>
          <p:cNvPr id="2" name="矩形 1"/>
          <p:cNvSpPr/>
          <p:nvPr/>
        </p:nvSpPr>
        <p:spPr>
          <a:xfrm>
            <a:off x="556470" y="4202858"/>
            <a:ext cx="7752648" cy="738664"/>
          </a:xfrm>
          <a:prstGeom prst="rect">
            <a:avLst/>
          </a:prstGeom>
        </p:spPr>
        <p:txBody>
          <a:bodyPr wrap="square">
            <a:spAutoFit/>
          </a:bodyPr>
          <a:lstStyle/>
          <a:p>
            <a:r>
              <a:rPr lang="zh-CN" altLang="zh-CN" sz="1400" kern="100" dirty="0">
                <a:solidFill>
                  <a:schemeClr val="tx2"/>
                </a:solidFill>
                <a:cs typeface="Times New Roman" panose="02020603050405020304" pitchFamily="18" charset="0"/>
              </a:rPr>
              <a:t>移动机器人同样需要研究其运动学和动力学，如果将机器人本体称为小车，那么需要施加力，才能让小车产生自主的移动</a:t>
            </a:r>
            <a:r>
              <a:rPr lang="en-US" altLang="zh-CN" sz="1400" kern="100" dirty="0">
                <a:solidFill>
                  <a:schemeClr val="tx2"/>
                </a:solidFill>
                <a:cs typeface="Times New Roman" panose="02020603050405020304" pitchFamily="18" charset="0"/>
              </a:rPr>
              <a:t>(Locomotion)</a:t>
            </a:r>
            <a:r>
              <a:rPr lang="zh-CN" altLang="zh-CN" sz="1400" kern="100" dirty="0">
                <a:solidFill>
                  <a:schemeClr val="tx2"/>
                </a:solidFill>
                <a:cs typeface="Times New Roman" panose="02020603050405020304" pitchFamily="18" charset="0"/>
              </a:rPr>
              <a:t>。移动机器人的运动学主要研究在不考虑力对运动的影响前提下，如何求解系统的位形（空间位姿）以及系统状态空间中的行为与控制参数之间的关系。</a:t>
            </a:r>
            <a:endParaRPr lang="zh-CN" altLang="en-US" sz="1400" dirty="0">
              <a:solidFill>
                <a:schemeClr val="tx2"/>
              </a:solidFill>
            </a:endParaRPr>
          </a:p>
        </p:txBody>
      </p:sp>
      <p:sp>
        <p:nvSpPr>
          <p:cNvPr id="6" name="圆角矩形 5"/>
          <p:cNvSpPr/>
          <p:nvPr/>
        </p:nvSpPr>
        <p:spPr>
          <a:xfrm>
            <a:off x="467544" y="4202858"/>
            <a:ext cx="7920880" cy="7386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36301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par>
                                <p:cTn id="12" presetID="14" presetClass="entr" presetSubtype="10" fill="hold"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randombar(horizontal)">
                                      <p:cBhvr>
                                        <p:cTn id="14" dur="500"/>
                                        <p:tgtEl>
                                          <p:spTgt spid="23"/>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up)">
                                      <p:cBhvr>
                                        <p:cTn id="18" dur="500"/>
                                        <p:tgtEl>
                                          <p:spTgt spid="16"/>
                                        </p:tgtEl>
                                      </p:cBhvr>
                                    </p:animEffect>
                                  </p:childTnLst>
                                </p:cTn>
                              </p:par>
                              <p:par>
                                <p:cTn id="19" presetID="14" presetClass="entr" presetSubtype="1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randombar(horizontal)">
                                      <p:cBhvr>
                                        <p:cTn id="21" dur="500"/>
                                        <p:tgtEl>
                                          <p:spTgt spid="26"/>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500"/>
                                        <p:tgtEl>
                                          <p:spTgt spid="17"/>
                                        </p:tgtEl>
                                      </p:cBhvr>
                                    </p:animEffect>
                                  </p:childTnLst>
                                </p:cTn>
                              </p:par>
                              <p:par>
                                <p:cTn id="26" presetID="14" presetClass="entr" presetSubtype="1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randombar(horizontal)">
                                      <p:cBhvr>
                                        <p:cTn id="2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p:nvSpPr>
        <p:spPr>
          <a:xfrm>
            <a:off x="2599372" y="339942"/>
            <a:ext cx="4512774" cy="400110"/>
          </a:xfrm>
          <a:prstGeom prst="rect">
            <a:avLst/>
          </a:prstGeom>
        </p:spPr>
        <p:txBody>
          <a:bodyPr wrap="none">
            <a:spAutoFit/>
          </a:bodyPr>
          <a:lstStyle/>
          <a:p>
            <a:r>
              <a:rPr lang="en-US" altLang="zh-CN" sz="2000" b="1" dirty="0" smtClean="0">
                <a:solidFill>
                  <a:srgbClr val="002060"/>
                </a:solidFill>
              </a:rPr>
              <a:t>3.12.1 </a:t>
            </a:r>
            <a:r>
              <a:rPr lang="zh-CN" altLang="en-US" sz="2000" b="1" dirty="0" smtClean="0">
                <a:solidFill>
                  <a:srgbClr val="002060"/>
                </a:solidFill>
              </a:rPr>
              <a:t>轮式</a:t>
            </a:r>
            <a:r>
              <a:rPr lang="zh-CN" altLang="en-US" sz="2000" b="1" dirty="0">
                <a:solidFill>
                  <a:srgbClr val="002060"/>
                </a:solidFill>
              </a:rPr>
              <a:t>移动机器人运动学基础模型</a:t>
            </a:r>
          </a:p>
        </p:txBody>
      </p:sp>
      <p:sp>
        <p:nvSpPr>
          <p:cNvPr id="11" name="文本框 10"/>
          <p:cNvSpPr txBox="1"/>
          <p:nvPr/>
        </p:nvSpPr>
        <p:spPr>
          <a:xfrm>
            <a:off x="2771800" y="1275606"/>
            <a:ext cx="931734" cy="584775"/>
          </a:xfrm>
          <a:prstGeom prst="rect">
            <a:avLst/>
          </a:prstGeom>
          <a:noFill/>
          <a:ln>
            <a:solidFill>
              <a:srgbClr val="C00000"/>
            </a:solidFill>
          </a:ln>
        </p:spPr>
        <p:txBody>
          <a:bodyPr wrap="square" rtlCol="0">
            <a:spAutoFit/>
          </a:bodyPr>
          <a:lstStyle/>
          <a:p>
            <a:pPr algn="ctr"/>
            <a:r>
              <a:rPr lang="en-US" altLang="zh-CN" sz="1600" dirty="0" smtClean="0">
                <a:solidFill>
                  <a:srgbClr val="002060"/>
                </a:solidFill>
              </a:rPr>
              <a:t>Force</a:t>
            </a:r>
          </a:p>
          <a:p>
            <a:pPr algn="ctr"/>
            <a:r>
              <a:rPr lang="zh-CN" altLang="en-US" sz="1600" dirty="0">
                <a:solidFill>
                  <a:srgbClr val="002060"/>
                </a:solidFill>
              </a:rPr>
              <a:t>力</a:t>
            </a:r>
          </a:p>
        </p:txBody>
      </p:sp>
      <p:cxnSp>
        <p:nvCxnSpPr>
          <p:cNvPr id="13" name="直接箭头连接符 12"/>
          <p:cNvCxnSpPr>
            <a:stCxn id="11" idx="3"/>
            <a:endCxn id="29" idx="1"/>
          </p:cNvCxnSpPr>
          <p:nvPr/>
        </p:nvCxnSpPr>
        <p:spPr>
          <a:xfrm flipV="1">
            <a:off x="3703534" y="1567993"/>
            <a:ext cx="86846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572000" y="1275605"/>
            <a:ext cx="1199367" cy="584775"/>
          </a:xfrm>
          <a:prstGeom prst="rect">
            <a:avLst/>
          </a:prstGeom>
          <a:noFill/>
          <a:ln>
            <a:solidFill>
              <a:srgbClr val="C00000"/>
            </a:solidFill>
          </a:ln>
        </p:spPr>
        <p:txBody>
          <a:bodyPr wrap="none" rtlCol="0">
            <a:spAutoFit/>
          </a:bodyPr>
          <a:lstStyle/>
          <a:p>
            <a:pPr algn="ctr"/>
            <a:r>
              <a:rPr lang="en-US" altLang="zh-CN" sz="1600" dirty="0" smtClean="0">
                <a:solidFill>
                  <a:srgbClr val="002060"/>
                </a:solidFill>
              </a:rPr>
              <a:t>Locomotion</a:t>
            </a:r>
          </a:p>
          <a:p>
            <a:pPr algn="ctr"/>
            <a:r>
              <a:rPr lang="zh-CN" altLang="en-US" sz="1600" dirty="0" smtClean="0">
                <a:solidFill>
                  <a:srgbClr val="002060"/>
                </a:solidFill>
              </a:rPr>
              <a:t>自主移动</a:t>
            </a:r>
            <a:endParaRPr lang="zh-CN" altLang="en-US" sz="1600" dirty="0">
              <a:solidFill>
                <a:srgbClr val="002060"/>
              </a:solidFill>
            </a:endParaRPr>
          </a:p>
        </p:txBody>
      </p:sp>
      <p:graphicFrame>
        <p:nvGraphicFramePr>
          <p:cNvPr id="35" name="对象 34"/>
          <p:cNvGraphicFramePr>
            <a:graphicFrameLocks noChangeAspect="1"/>
          </p:cNvGraphicFramePr>
          <p:nvPr>
            <p:extLst>
              <p:ext uri="{D42A27DB-BD31-4B8C-83A1-F6EECF244321}">
                <p14:modId xmlns:p14="http://schemas.microsoft.com/office/powerpoint/2010/main" val="4224738166"/>
              </p:ext>
            </p:extLst>
          </p:nvPr>
        </p:nvGraphicFramePr>
        <p:xfrm>
          <a:off x="704069" y="2146088"/>
          <a:ext cx="3008014" cy="1872208"/>
        </p:xfrm>
        <a:graphic>
          <a:graphicData uri="http://schemas.openxmlformats.org/presentationml/2006/ole">
            <mc:AlternateContent xmlns:mc="http://schemas.openxmlformats.org/markup-compatibility/2006">
              <mc:Choice xmlns:v="urn:schemas-microsoft-com:vml" Requires="v">
                <p:oleObj spid="_x0000_s1065" name="Visio" r:id="rId4" imgW="4924530" imgH="3168860" progId="Visio.Drawing.11">
                  <p:embed/>
                </p:oleObj>
              </mc:Choice>
              <mc:Fallback>
                <p:oleObj name="Visio" r:id="rId4" imgW="4924530" imgH="316886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069" y="2146088"/>
                        <a:ext cx="3008014" cy="1872208"/>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36" name="矩形 35"/>
              <p:cNvSpPr/>
              <p:nvPr/>
            </p:nvSpPr>
            <p:spPr>
              <a:xfrm>
                <a:off x="3485367" y="2057554"/>
                <a:ext cx="4572000" cy="584775"/>
              </a:xfrm>
              <a:prstGeom prst="rect">
                <a:avLst/>
              </a:prstGeom>
            </p:spPr>
            <p:txBody>
              <a:bodyPr>
                <a:spAutoFit/>
              </a:bodyPr>
              <a:lstStyle/>
              <a:p>
                <a:r>
                  <a:rPr lang="zh-CN" altLang="zh-CN" sz="1600" kern="100" dirty="0" smtClean="0">
                    <a:solidFill>
                      <a:srgbClr val="002060"/>
                    </a:solidFill>
                    <a:cs typeface="Times New Roman" panose="02020603050405020304" pitchFamily="18" charset="0"/>
                  </a:rPr>
                  <a:t> </a:t>
                </a:r>
                <a14:m>
                  <m:oMath xmlns:m="http://schemas.openxmlformats.org/officeDocument/2006/math">
                    <m:r>
                      <a:rPr lang="en-US" altLang="zh-CN" sz="1600" kern="100">
                        <a:solidFill>
                          <a:srgbClr val="002060"/>
                        </a:solidFill>
                        <a:latin typeface="Cambria Math" panose="02040503050406030204" pitchFamily="18" charset="0"/>
                        <a:cs typeface="Times New Roman" panose="02020603050405020304" pitchFamily="18" charset="0"/>
                      </a:rPr>
                      <m:t>{</m:t>
                    </m:r>
                    <m:r>
                      <a:rPr lang="en-US" altLang="zh-CN" sz="1600" i="1" kern="100">
                        <a:solidFill>
                          <a:srgbClr val="002060"/>
                        </a:solidFill>
                        <a:latin typeface="Cambria Math" panose="02040503050406030204" pitchFamily="18" charset="0"/>
                        <a:cs typeface="Times New Roman" panose="02020603050405020304" pitchFamily="18" charset="0"/>
                      </a:rPr>
                      <m:t>𝑂</m:t>
                    </m:r>
                    <m:r>
                      <a:rPr lang="en-US" altLang="zh-CN" sz="1600" kern="100">
                        <a:solidFill>
                          <a:srgbClr val="002060"/>
                        </a:solidFill>
                        <a:latin typeface="Cambria Math" panose="02040503050406030204" pitchFamily="18" charset="0"/>
                        <a:cs typeface="Times New Roman" panose="02020603050405020304" pitchFamily="18" charset="0"/>
                      </a:rPr>
                      <m:t>:</m:t>
                    </m:r>
                    <m:sSub>
                      <m:sSubPr>
                        <m:ctrlPr>
                          <a:rPr lang="zh-CN" altLang="zh-CN" sz="1600" i="1">
                            <a:solidFill>
                              <a:srgbClr val="002060"/>
                            </a:solidFill>
                            <a:latin typeface="Cambria Math" panose="02040503050406030204" pitchFamily="18" charset="0"/>
                            <a:ea typeface="Cambria Math" panose="02040503050406030204" pitchFamily="18" charset="0"/>
                          </a:rPr>
                        </m:ctrlPr>
                      </m:sSubPr>
                      <m:e>
                        <m:r>
                          <a:rPr lang="en-US" altLang="zh-CN" sz="1600" i="1" kern="100">
                            <a:solidFill>
                              <a:srgbClr val="002060"/>
                            </a:solidFill>
                            <a:latin typeface="Cambria Math" panose="02040503050406030204" pitchFamily="18" charset="0"/>
                            <a:cs typeface="Times New Roman" panose="02020603050405020304" pitchFamily="18" charset="0"/>
                          </a:rPr>
                          <m:t>𝑋</m:t>
                        </m:r>
                      </m:e>
                      <m:sub>
                        <m:r>
                          <a:rPr lang="en-US" altLang="zh-CN" sz="1600" i="1" kern="100">
                            <a:solidFill>
                              <a:srgbClr val="002060"/>
                            </a:solidFill>
                            <a:latin typeface="Cambria Math" panose="02040503050406030204" pitchFamily="18" charset="0"/>
                            <a:cs typeface="Times New Roman" panose="02020603050405020304" pitchFamily="18" charset="0"/>
                          </a:rPr>
                          <m:t>𝐼</m:t>
                        </m:r>
                      </m:sub>
                    </m:sSub>
                    <m:sSub>
                      <m:sSubPr>
                        <m:ctrlPr>
                          <a:rPr lang="zh-CN" altLang="zh-CN" sz="1600" i="1">
                            <a:solidFill>
                              <a:srgbClr val="002060"/>
                            </a:solidFill>
                            <a:latin typeface="Cambria Math" panose="02040503050406030204" pitchFamily="18" charset="0"/>
                            <a:ea typeface="Cambria Math" panose="02040503050406030204" pitchFamily="18" charset="0"/>
                          </a:rPr>
                        </m:ctrlPr>
                      </m:sSubPr>
                      <m:e>
                        <m:r>
                          <a:rPr lang="en-US" altLang="zh-CN" sz="1600" i="1" kern="100">
                            <a:solidFill>
                              <a:srgbClr val="002060"/>
                            </a:solidFill>
                            <a:latin typeface="Cambria Math" panose="02040503050406030204" pitchFamily="18" charset="0"/>
                            <a:cs typeface="Times New Roman" panose="02020603050405020304" pitchFamily="18" charset="0"/>
                          </a:rPr>
                          <m:t>𝑌</m:t>
                        </m:r>
                      </m:e>
                      <m:sub>
                        <m:r>
                          <a:rPr lang="en-US" altLang="zh-CN" sz="1600" i="1" kern="100">
                            <a:solidFill>
                              <a:srgbClr val="002060"/>
                            </a:solidFill>
                            <a:latin typeface="Cambria Math" panose="02040503050406030204" pitchFamily="18" charset="0"/>
                            <a:cs typeface="Times New Roman" panose="02020603050405020304" pitchFamily="18" charset="0"/>
                          </a:rPr>
                          <m:t>𝐼</m:t>
                        </m:r>
                      </m:sub>
                    </m:sSub>
                    <m:r>
                      <a:rPr lang="en-US" altLang="zh-CN" sz="1600" kern="100">
                        <a:solidFill>
                          <a:srgbClr val="002060"/>
                        </a:solidFill>
                        <a:latin typeface="Cambria Math" panose="02040503050406030204" pitchFamily="18" charset="0"/>
                        <a:cs typeface="Times New Roman" panose="02020603050405020304" pitchFamily="18" charset="0"/>
                      </a:rPr>
                      <m:t>}</m:t>
                    </m:r>
                  </m:oMath>
                </a14:m>
                <a:r>
                  <a:rPr lang="zh-CN" altLang="zh-CN" sz="1600" kern="100" dirty="0">
                    <a:solidFill>
                      <a:srgbClr val="002060"/>
                    </a:solidFill>
                    <a:cs typeface="Times New Roman" panose="02020603050405020304" pitchFamily="18" charset="0"/>
                  </a:rPr>
                  <a:t>为全局参考坐标系（又称惯性坐标系</a:t>
                </a:r>
                <a:r>
                  <a:rPr lang="en-US" altLang="zh-CN" sz="1600" kern="100" dirty="0">
                    <a:solidFill>
                      <a:srgbClr val="002060"/>
                    </a:solidFill>
                    <a:cs typeface="Times New Roman" panose="02020603050405020304" pitchFamily="18" charset="0"/>
                  </a:rPr>
                  <a:t>: Inertial coordinate system</a:t>
                </a:r>
                <a:r>
                  <a:rPr lang="zh-CN" altLang="zh-CN" sz="1600" kern="100" dirty="0">
                    <a:solidFill>
                      <a:srgbClr val="002060"/>
                    </a:solidFill>
                    <a:cs typeface="Times New Roman" panose="02020603050405020304" pitchFamily="18" charset="0"/>
                  </a:rPr>
                  <a:t>）</a:t>
                </a:r>
                <a:endParaRPr lang="zh-CN" altLang="en-US" sz="1600" dirty="0">
                  <a:solidFill>
                    <a:srgbClr val="002060"/>
                  </a:solidFill>
                </a:endParaRPr>
              </a:p>
            </p:txBody>
          </p:sp>
        </mc:Choice>
        <mc:Fallback xmlns="">
          <p:sp>
            <p:nvSpPr>
              <p:cNvPr id="36" name="矩形 35"/>
              <p:cNvSpPr>
                <a:spLocks noRot="1" noChangeAspect="1" noMove="1" noResize="1" noEditPoints="1" noAdjustHandles="1" noChangeArrowheads="1" noChangeShapeType="1" noTextEdit="1"/>
              </p:cNvSpPr>
              <p:nvPr/>
            </p:nvSpPr>
            <p:spPr>
              <a:xfrm>
                <a:off x="3485367" y="2057554"/>
                <a:ext cx="4572000" cy="584775"/>
              </a:xfrm>
              <a:prstGeom prst="rect">
                <a:avLst/>
              </a:prstGeom>
              <a:blipFill>
                <a:blip r:embed="rId6"/>
                <a:stretch>
                  <a:fillRect l="-800" t="-5263" b="-14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3485367" y="2642329"/>
                <a:ext cx="4572000" cy="584775"/>
              </a:xfrm>
              <a:prstGeom prst="rect">
                <a:avLst/>
              </a:prstGeom>
            </p:spPr>
            <p:txBody>
              <a:bodyPr>
                <a:spAutoFit/>
              </a:bodyPr>
              <a:lstStyle/>
              <a:p>
                <a14:m>
                  <m:oMath xmlns:m="http://schemas.openxmlformats.org/officeDocument/2006/math">
                    <m:r>
                      <a:rPr lang="en-US" altLang="zh-CN" sz="1600" kern="100" smtClean="0">
                        <a:solidFill>
                          <a:srgbClr val="002060"/>
                        </a:solidFill>
                        <a:latin typeface="Cambria Math" panose="02040503050406030204" pitchFamily="18" charset="0"/>
                        <a:cs typeface="Times New Roman" panose="02020603050405020304" pitchFamily="18" charset="0"/>
                      </a:rPr>
                      <m:t>{</m:t>
                    </m:r>
                    <m:sSub>
                      <m:sSubPr>
                        <m:ctrlPr>
                          <a:rPr lang="zh-CN" altLang="zh-CN" sz="1600" i="1">
                            <a:solidFill>
                              <a:srgbClr val="002060"/>
                            </a:solidFill>
                            <a:latin typeface="Cambria Math" panose="02040503050406030204" pitchFamily="18" charset="0"/>
                            <a:ea typeface="Cambria Math" panose="02040503050406030204" pitchFamily="18" charset="0"/>
                          </a:rPr>
                        </m:ctrlPr>
                      </m:sSubPr>
                      <m:e>
                        <m:r>
                          <a:rPr lang="en-US" altLang="zh-CN" sz="1600" i="1" kern="100">
                            <a:solidFill>
                              <a:srgbClr val="002060"/>
                            </a:solidFill>
                            <a:latin typeface="Cambria Math" panose="02040503050406030204" pitchFamily="18" charset="0"/>
                            <a:cs typeface="Times New Roman" panose="02020603050405020304" pitchFamily="18" charset="0"/>
                          </a:rPr>
                          <m:t>𝑀</m:t>
                        </m:r>
                        <m:r>
                          <a:rPr lang="en-US" altLang="zh-CN" sz="1600" kern="100">
                            <a:solidFill>
                              <a:srgbClr val="002060"/>
                            </a:solidFill>
                            <a:latin typeface="Cambria Math" panose="02040503050406030204" pitchFamily="18" charset="0"/>
                            <a:cs typeface="Times New Roman" panose="02020603050405020304" pitchFamily="18" charset="0"/>
                          </a:rPr>
                          <m:t>:</m:t>
                        </m:r>
                        <m:r>
                          <a:rPr lang="en-US" altLang="zh-CN" sz="1600" i="1" kern="100">
                            <a:solidFill>
                              <a:srgbClr val="002060"/>
                            </a:solidFill>
                            <a:latin typeface="Cambria Math" panose="02040503050406030204" pitchFamily="18" charset="0"/>
                            <a:cs typeface="Times New Roman" panose="02020603050405020304" pitchFamily="18" charset="0"/>
                          </a:rPr>
                          <m:t>𝑋</m:t>
                        </m:r>
                      </m:e>
                      <m:sub>
                        <m:r>
                          <a:rPr lang="en-US" altLang="zh-CN" sz="1600" i="1" kern="100">
                            <a:solidFill>
                              <a:srgbClr val="002060"/>
                            </a:solidFill>
                            <a:latin typeface="Cambria Math" panose="02040503050406030204" pitchFamily="18" charset="0"/>
                            <a:cs typeface="Times New Roman" panose="02020603050405020304" pitchFamily="18" charset="0"/>
                          </a:rPr>
                          <m:t>𝑅</m:t>
                        </m:r>
                      </m:sub>
                    </m:sSub>
                    <m:sSub>
                      <m:sSubPr>
                        <m:ctrlPr>
                          <a:rPr lang="zh-CN" altLang="zh-CN" sz="1600" i="1">
                            <a:solidFill>
                              <a:srgbClr val="002060"/>
                            </a:solidFill>
                            <a:latin typeface="Cambria Math" panose="02040503050406030204" pitchFamily="18" charset="0"/>
                            <a:ea typeface="Cambria Math" panose="02040503050406030204" pitchFamily="18" charset="0"/>
                          </a:rPr>
                        </m:ctrlPr>
                      </m:sSubPr>
                      <m:e>
                        <m:r>
                          <a:rPr lang="en-US" altLang="zh-CN" sz="1600" i="1" kern="100">
                            <a:solidFill>
                              <a:srgbClr val="002060"/>
                            </a:solidFill>
                            <a:latin typeface="Cambria Math" panose="02040503050406030204" pitchFamily="18" charset="0"/>
                            <a:cs typeface="Times New Roman" panose="02020603050405020304" pitchFamily="18" charset="0"/>
                          </a:rPr>
                          <m:t>𝑌</m:t>
                        </m:r>
                      </m:e>
                      <m:sub>
                        <m:r>
                          <a:rPr lang="en-US" altLang="zh-CN" sz="1600" i="1" kern="100">
                            <a:solidFill>
                              <a:srgbClr val="002060"/>
                            </a:solidFill>
                            <a:latin typeface="Cambria Math" panose="02040503050406030204" pitchFamily="18" charset="0"/>
                            <a:cs typeface="Times New Roman" panose="02020603050405020304" pitchFamily="18" charset="0"/>
                          </a:rPr>
                          <m:t>𝑅</m:t>
                        </m:r>
                      </m:sub>
                    </m:sSub>
                    <m:r>
                      <a:rPr lang="en-US" altLang="zh-CN" sz="1600" kern="100">
                        <a:solidFill>
                          <a:srgbClr val="002060"/>
                        </a:solidFill>
                        <a:latin typeface="Cambria Math" panose="02040503050406030204" pitchFamily="18" charset="0"/>
                        <a:cs typeface="Times New Roman" panose="02020603050405020304" pitchFamily="18" charset="0"/>
                      </a:rPr>
                      <m:t>}</m:t>
                    </m:r>
                  </m:oMath>
                </a14:m>
                <a:r>
                  <a:rPr lang="zh-CN" altLang="zh-CN" sz="1600" kern="100" dirty="0">
                    <a:solidFill>
                      <a:srgbClr val="002060"/>
                    </a:solidFill>
                    <a:cs typeface="Times New Roman" panose="02020603050405020304" pitchFamily="18" charset="0"/>
                  </a:rPr>
                  <a:t>为机器人的局部参考坐标系（又称机器人坐标系</a:t>
                </a:r>
                <a:r>
                  <a:rPr lang="en-US" altLang="zh-CN" sz="1600" kern="100" dirty="0">
                    <a:solidFill>
                      <a:srgbClr val="002060"/>
                    </a:solidFill>
                    <a:cs typeface="Times New Roman" panose="02020603050405020304" pitchFamily="18" charset="0"/>
                  </a:rPr>
                  <a:t>: Robot coordinate system</a:t>
                </a:r>
                <a:r>
                  <a:rPr lang="zh-CN" altLang="zh-CN" sz="1600" kern="100" dirty="0">
                    <a:solidFill>
                      <a:srgbClr val="002060"/>
                    </a:solidFill>
                    <a:cs typeface="Times New Roman" panose="02020603050405020304" pitchFamily="18" charset="0"/>
                  </a:rPr>
                  <a:t>）</a:t>
                </a:r>
                <a:endParaRPr lang="zh-CN" altLang="en-US" sz="1600" dirty="0">
                  <a:solidFill>
                    <a:srgbClr val="002060"/>
                  </a:solidFill>
                </a:endParaRPr>
              </a:p>
            </p:txBody>
          </p:sp>
        </mc:Choice>
        <mc:Fallback xmlns="">
          <p:sp>
            <p:nvSpPr>
              <p:cNvPr id="37" name="矩形 36"/>
              <p:cNvSpPr>
                <a:spLocks noRot="1" noChangeAspect="1" noMove="1" noResize="1" noEditPoints="1" noAdjustHandles="1" noChangeArrowheads="1" noChangeShapeType="1" noTextEdit="1"/>
              </p:cNvSpPr>
              <p:nvPr/>
            </p:nvSpPr>
            <p:spPr>
              <a:xfrm>
                <a:off x="3485367" y="2642329"/>
                <a:ext cx="4572000" cy="584775"/>
              </a:xfrm>
              <a:prstGeom prst="rect">
                <a:avLst/>
              </a:prstGeom>
              <a:blipFill>
                <a:blip r:embed="rId7"/>
                <a:stretch>
                  <a:fillRect l="-800" t="-4167" b="-135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3794019" y="3253368"/>
                <a:ext cx="141961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latin typeface="Cambria Math" panose="02040503050406030204" pitchFamily="18" charset="0"/>
                            </a:rPr>
                          </m:ctrlPr>
                        </m:sSubPr>
                        <m:e>
                          <m:r>
                            <a:rPr lang="zh-CN" altLang="en-US" sz="1600" i="1">
                              <a:latin typeface="Cambria Math" panose="02040503050406030204" pitchFamily="18" charset="0"/>
                            </a:rPr>
                            <m:t>𝜉</m:t>
                          </m:r>
                        </m:e>
                        <m:sub>
                          <m:r>
                            <a:rPr lang="zh-CN" altLang="en-US" sz="1600" i="1">
                              <a:latin typeface="Cambria Math" panose="02040503050406030204" pitchFamily="18" charset="0"/>
                            </a:rPr>
                            <m:t>𝐼</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𝑥</m:t>
                              </m:r>
                              <m:r>
                                <a:rPr lang="zh-CN" altLang="en-US" sz="1600" i="0">
                                  <a:latin typeface="Cambria Math" panose="02040503050406030204" pitchFamily="18" charset="0"/>
                                </a:rPr>
                                <m:t>,</m:t>
                              </m:r>
                              <m:r>
                                <a:rPr lang="zh-CN" altLang="en-US" sz="1600" i="1">
                                  <a:latin typeface="Cambria Math" panose="02040503050406030204" pitchFamily="18" charset="0"/>
                                </a:rPr>
                                <m:t>𝑦</m:t>
                              </m:r>
                              <m:r>
                                <a:rPr lang="zh-CN" altLang="en-US" sz="1600" i="0">
                                  <a:latin typeface="Cambria Math" panose="02040503050406030204" pitchFamily="18" charset="0"/>
                                </a:rPr>
                                <m:t>,</m:t>
                              </m:r>
                              <m:r>
                                <a:rPr lang="zh-CN" altLang="en-US" sz="1600" i="1">
                                  <a:latin typeface="Cambria Math" panose="02040503050406030204" pitchFamily="18" charset="0"/>
                                </a:rPr>
                                <m:t>𝜃</m:t>
                              </m:r>
                            </m:e>
                          </m:d>
                        </m:e>
                        <m:sup>
                          <m:r>
                            <a:rPr lang="zh-CN" altLang="en-US" sz="1600" i="1">
                              <a:latin typeface="Cambria Math" panose="02040503050406030204" pitchFamily="18" charset="0"/>
                            </a:rPr>
                            <m:t>𝑇</m:t>
                          </m:r>
                        </m:sup>
                      </m:sSup>
                    </m:oMath>
                  </m:oMathPara>
                </a14:m>
                <a:endParaRPr lang="zh-CN" altLang="en-US" sz="1600" dirty="0"/>
              </a:p>
            </p:txBody>
          </p:sp>
        </mc:Choice>
        <mc:Fallback xmlns="">
          <p:sp>
            <p:nvSpPr>
              <p:cNvPr id="38" name="矩形 37"/>
              <p:cNvSpPr>
                <a:spLocks noRot="1" noChangeAspect="1" noMove="1" noResize="1" noEditPoints="1" noAdjustHandles="1" noChangeArrowheads="1" noChangeShapeType="1" noTextEdit="1"/>
              </p:cNvSpPr>
              <p:nvPr/>
            </p:nvSpPr>
            <p:spPr>
              <a:xfrm>
                <a:off x="3794019" y="3253368"/>
                <a:ext cx="1419619" cy="338554"/>
              </a:xfrm>
              <a:prstGeom prst="rect">
                <a:avLst/>
              </a:prstGeom>
              <a:blipFill>
                <a:blip r:embed="rId8"/>
                <a:stretch>
                  <a:fillRect b="-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3779912" y="3623696"/>
                <a:ext cx="129650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𝜉</m:t>
                          </m:r>
                        </m:e>
                        <m:sub>
                          <m:r>
                            <a:rPr lang="zh-CN" altLang="en-US" sz="1600" i="1">
                              <a:latin typeface="Cambria Math" panose="02040503050406030204" pitchFamily="18" charset="0"/>
                            </a:rPr>
                            <m:t>𝑅</m:t>
                          </m:r>
                        </m:sub>
                      </m:sSub>
                      <m:r>
                        <a:rPr lang="zh-CN" altLang="en-US" sz="1600" i="0">
                          <a:latin typeface="Cambria Math" panose="02040503050406030204" pitchFamily="18" charset="0"/>
                        </a:rPr>
                        <m:t>=</m:t>
                      </m:r>
                      <m:r>
                        <a:rPr lang="zh-CN" altLang="en-US" sz="1600" i="1">
                          <a:latin typeface="Cambria Math" panose="02040503050406030204" pitchFamily="18" charset="0"/>
                        </a:rPr>
                        <m:t>𝑅</m:t>
                      </m:r>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𝜉</m:t>
                          </m:r>
                        </m:e>
                        <m:sub>
                          <m:r>
                            <a:rPr lang="zh-CN" altLang="en-US" sz="1600" i="1">
                              <a:latin typeface="Cambria Math" panose="02040503050406030204" pitchFamily="18" charset="0"/>
                            </a:rPr>
                            <m:t>𝐼</m:t>
                          </m:r>
                        </m:sub>
                      </m:sSub>
                    </m:oMath>
                  </m:oMathPara>
                </a14:m>
                <a:endParaRPr lang="zh-CN" altLang="en-US" sz="1600" dirty="0"/>
              </a:p>
            </p:txBody>
          </p:sp>
        </mc:Choice>
        <mc:Fallback xmlns="">
          <p:sp>
            <p:nvSpPr>
              <p:cNvPr id="39" name="矩形 38"/>
              <p:cNvSpPr>
                <a:spLocks noRot="1" noChangeAspect="1" noMove="1" noResize="1" noEditPoints="1" noAdjustHandles="1" noChangeArrowheads="1" noChangeShapeType="1" noTextEdit="1"/>
              </p:cNvSpPr>
              <p:nvPr/>
            </p:nvSpPr>
            <p:spPr>
              <a:xfrm>
                <a:off x="3779912" y="3623696"/>
                <a:ext cx="1296509" cy="338554"/>
              </a:xfrm>
              <a:prstGeom prst="rect">
                <a:avLst/>
              </a:prstGeom>
              <a:blipFill>
                <a:blip r:embed="rId9"/>
                <a:stretch>
                  <a:fillRect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5178270" y="3201823"/>
                <a:ext cx="2588465" cy="7456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𝑅</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𝑐𝑜𝑠</m:t>
                                </m:r>
                                <m:r>
                                  <a:rPr lang="zh-CN" altLang="en-US" sz="1600" i="1">
                                    <a:latin typeface="Cambria Math" panose="02040503050406030204" pitchFamily="18" charset="0"/>
                                  </a:rPr>
                                  <m:t>𝜃</m:t>
                                </m:r>
                              </m:e>
                              <m:e>
                                <m:r>
                                  <a:rPr lang="zh-CN" altLang="en-US" sz="1600" i="1">
                                    <a:latin typeface="Cambria Math" panose="02040503050406030204" pitchFamily="18" charset="0"/>
                                  </a:rPr>
                                  <m:t>𝑠𝑖𝑛</m:t>
                                </m:r>
                                <m:r>
                                  <a:rPr lang="zh-CN" altLang="en-US" sz="1600" i="1">
                                    <a:latin typeface="Cambria Math" panose="02040503050406030204" pitchFamily="18" charset="0"/>
                                  </a:rPr>
                                  <m:t>𝜃</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m:t>
                                </m:r>
                                <m:r>
                                  <a:rPr lang="zh-CN" altLang="en-US" sz="1600" i="1">
                                    <a:latin typeface="Cambria Math" panose="02040503050406030204" pitchFamily="18" charset="0"/>
                                  </a:rPr>
                                  <m:t>𝑠𝑖𝑛</m:t>
                                </m:r>
                                <m:r>
                                  <a:rPr lang="zh-CN" altLang="en-US" sz="1600" i="1">
                                    <a:latin typeface="Cambria Math" panose="02040503050406030204" pitchFamily="18" charset="0"/>
                                  </a:rPr>
                                  <m:t>𝜃</m:t>
                                </m:r>
                              </m:e>
                              <m:e>
                                <m:r>
                                  <a:rPr lang="zh-CN" altLang="en-US" sz="1600" i="1">
                                    <a:latin typeface="Cambria Math" panose="02040503050406030204" pitchFamily="18" charset="0"/>
                                  </a:rPr>
                                  <m:t>𝑐𝑜𝑠</m:t>
                                </m:r>
                                <m:r>
                                  <a:rPr lang="zh-CN" altLang="en-US" sz="1600" i="1">
                                    <a:latin typeface="Cambria Math" panose="02040503050406030204" pitchFamily="18" charset="0"/>
                                  </a:rPr>
                                  <m:t>𝜃</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40" name="矩形 39"/>
              <p:cNvSpPr>
                <a:spLocks noRot="1" noChangeAspect="1" noMove="1" noResize="1" noEditPoints="1" noAdjustHandles="1" noChangeArrowheads="1" noChangeShapeType="1" noTextEdit="1"/>
              </p:cNvSpPr>
              <p:nvPr/>
            </p:nvSpPr>
            <p:spPr>
              <a:xfrm>
                <a:off x="5178270" y="3201823"/>
                <a:ext cx="2588465" cy="745653"/>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p:cNvSpPr/>
              <p:nvPr/>
            </p:nvSpPr>
            <p:spPr>
              <a:xfrm>
                <a:off x="3640440" y="4182741"/>
                <a:ext cx="3055900" cy="4642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𝜉</m:t>
                                  </m:r>
                                </m:e>
                              </m:acc>
                            </m:e>
                            <m:sub>
                              <m:r>
                                <a:rPr lang="zh-CN" altLang="en-US" sz="1600" i="1">
                                  <a:latin typeface="Cambria Math" panose="02040503050406030204" pitchFamily="18" charset="0"/>
                                </a:rPr>
                                <m:t>𝐼</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𝑦</m:t>
                                      </m:r>
                                    </m:e>
                                  </m:acc>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e>
                            <m:sup>
                              <m:r>
                                <a:rPr lang="zh-CN" altLang="en-US" sz="1600" i="1">
                                  <a:latin typeface="Cambria Math" panose="02040503050406030204" pitchFamily="18" charset="0"/>
                                </a:rPr>
                                <m:t>𝑇</m:t>
                              </m:r>
                            </m:sup>
                          </m:sSup>
                          <m:r>
                            <a:rPr lang="zh-CN" altLang="en-US" sz="1600" i="0">
                              <a:latin typeface="Cambria Math" panose="02040503050406030204" pitchFamily="18" charset="0"/>
                            </a:rPr>
                            <m:t>=</m:t>
                          </m:r>
                          <m:r>
                            <a:rPr lang="zh-CN" altLang="en-US" sz="1600" i="1">
                              <a:latin typeface="Cambria Math" panose="02040503050406030204" pitchFamily="18" charset="0"/>
                            </a:rPr>
                            <m:t>𝑓</m:t>
                          </m:r>
                          <m:r>
                            <a:rPr lang="zh-CN" altLang="en-US" sz="1600" i="0">
                              <a:latin typeface="Cambria Math" panose="02040503050406030204" pitchFamily="18" charset="0"/>
                            </a:rPr>
                            <m:t>(</m:t>
                          </m:r>
                          <m:r>
                            <a:rPr lang="zh-CN" altLang="en-US" sz="1600" i="1">
                              <a:latin typeface="Cambria Math" panose="02040503050406030204" pitchFamily="18" charset="0"/>
                            </a:rPr>
                            <m:t>𝑙</m:t>
                          </m:r>
                          <m:r>
                            <a:rPr lang="zh-CN" altLang="en-US" sz="1600" i="0">
                              <a:latin typeface="Cambria Math" panose="02040503050406030204" pitchFamily="18" charset="0"/>
                            </a:rPr>
                            <m:t>,</m:t>
                          </m:r>
                          <m:r>
                            <a:rPr lang="zh-CN" altLang="en-US" sz="1600" i="1">
                              <a:latin typeface="Cambria Math" panose="02040503050406030204" pitchFamily="18" charset="0"/>
                            </a:rPr>
                            <m:t>𝑟</m:t>
                          </m:r>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2</m:t>
                              </m:r>
                            </m:sub>
                          </m:sSub>
                        </m:e>
                      </m:d>
                    </m:oMath>
                  </m:oMathPara>
                </a14:m>
                <a:endParaRPr lang="zh-CN" altLang="en-US" sz="1600" dirty="0"/>
              </a:p>
            </p:txBody>
          </p:sp>
        </mc:Choice>
        <mc:Fallback xmlns="">
          <p:sp>
            <p:nvSpPr>
              <p:cNvPr id="41" name="矩形 40"/>
              <p:cNvSpPr>
                <a:spLocks noRot="1" noChangeAspect="1" noMove="1" noResize="1" noEditPoints="1" noAdjustHandles="1" noChangeArrowheads="1" noChangeShapeType="1" noTextEdit="1"/>
              </p:cNvSpPr>
              <p:nvPr/>
            </p:nvSpPr>
            <p:spPr>
              <a:xfrm>
                <a:off x="3640440" y="4182741"/>
                <a:ext cx="3055900" cy="464294"/>
              </a:xfrm>
              <a:prstGeom prst="rect">
                <a:avLst/>
              </a:prstGeom>
              <a:blipFill>
                <a:blip r:embed="rId11"/>
                <a:stretch>
                  <a:fillRect t="-163158" r="-25150" b="-244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6804248" y="4238493"/>
                <a:ext cx="1500795" cy="3527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𝜉</m:t>
                              </m:r>
                            </m:e>
                          </m:acc>
                        </m:e>
                        <m:sub>
                          <m:r>
                            <a:rPr lang="zh-CN" altLang="en-US" sz="1600" i="1">
                              <a:latin typeface="Cambria Math" panose="02040503050406030204" pitchFamily="18" charset="0"/>
                            </a:rPr>
                            <m:t>𝐼</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𝑅</m:t>
                              </m:r>
                              <m:r>
                                <a:rPr lang="zh-CN" altLang="en-US" sz="1600" i="0">
                                  <a:latin typeface="Cambria Math" panose="02040503050406030204" pitchFamily="18" charset="0"/>
                                </a:rPr>
                                <m:t>(</m:t>
                              </m:r>
                              <m:r>
                                <a:rPr lang="zh-CN" altLang="en-US" sz="1600" i="1">
                                  <a:latin typeface="Cambria Math" panose="02040503050406030204" pitchFamily="18" charset="0"/>
                                </a:rPr>
                                <m:t>𝜃</m:t>
                              </m:r>
                            </m:e>
                          </m:d>
                        </m:e>
                        <m:sup>
                          <m:r>
                            <a:rPr lang="zh-CN" altLang="en-US" sz="1600" i="0">
                              <a:latin typeface="Cambria Math" panose="02040503050406030204" pitchFamily="18" charset="0"/>
                            </a:rPr>
                            <m:t>−1</m:t>
                          </m:r>
                        </m:sup>
                      </m:sSup>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𝜉</m:t>
                              </m:r>
                            </m:e>
                          </m:acc>
                        </m:e>
                        <m:sub>
                          <m:r>
                            <a:rPr lang="zh-CN" altLang="en-US" sz="1600" i="1">
                              <a:latin typeface="Cambria Math" panose="02040503050406030204" pitchFamily="18" charset="0"/>
                            </a:rPr>
                            <m:t>𝑅</m:t>
                          </m:r>
                        </m:sub>
                      </m:sSub>
                    </m:oMath>
                  </m:oMathPara>
                </a14:m>
                <a:endParaRPr lang="zh-CN" altLang="en-US" sz="1600" dirty="0"/>
              </a:p>
            </p:txBody>
          </p:sp>
        </mc:Choice>
        <mc:Fallback xmlns="">
          <p:sp>
            <p:nvSpPr>
              <p:cNvPr id="42" name="矩形 41"/>
              <p:cNvSpPr>
                <a:spLocks noRot="1" noChangeAspect="1" noMove="1" noResize="1" noEditPoints="1" noAdjustHandles="1" noChangeArrowheads="1" noChangeShapeType="1" noTextEdit="1"/>
              </p:cNvSpPr>
              <p:nvPr/>
            </p:nvSpPr>
            <p:spPr>
              <a:xfrm>
                <a:off x="6804248" y="4238493"/>
                <a:ext cx="1500795" cy="352789"/>
              </a:xfrm>
              <a:prstGeom prst="rect">
                <a:avLst/>
              </a:prstGeom>
              <a:blipFill>
                <a:blip r:embed="rId12"/>
                <a:stretch>
                  <a:fillRect t="-100000" r="-2439" b="-1637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3839288" y="4705905"/>
                <a:ext cx="2354170" cy="3527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𝜉</m:t>
                              </m:r>
                            </m:e>
                          </m:acc>
                        </m:e>
                        <m:sub>
                          <m:r>
                            <a:rPr lang="zh-CN" altLang="en-US" sz="1600" i="1">
                              <a:latin typeface="Cambria Math" panose="02040503050406030204" pitchFamily="18" charset="0"/>
                            </a:rPr>
                            <m:t>𝐼</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𝑅</m:t>
                              </m:r>
                              <m:r>
                                <a:rPr lang="zh-CN" altLang="en-US" sz="1600" i="0">
                                  <a:latin typeface="Cambria Math" panose="02040503050406030204" pitchFamily="18" charset="0"/>
                                </a:rPr>
                                <m:t>(</m:t>
                              </m:r>
                              <m:r>
                                <a:rPr lang="zh-CN" altLang="en-US" sz="1600" i="1">
                                  <a:latin typeface="Cambria Math" panose="02040503050406030204" pitchFamily="18" charset="0"/>
                                </a:rPr>
                                <m:t>𝜃</m:t>
                              </m:r>
                            </m:e>
                          </m:d>
                        </m:e>
                        <m:sup>
                          <m:r>
                            <a:rPr lang="zh-CN" altLang="en-US" sz="1600" i="0">
                              <a:latin typeface="Cambria Math" panose="02040503050406030204" pitchFamily="18" charset="0"/>
                            </a:rPr>
                            <m:t>−1</m:t>
                          </m:r>
                        </m:sup>
                      </m:sSup>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𝑥</m:t>
                                  </m:r>
                                </m:e>
                                <m:sub>
                                  <m:r>
                                    <a:rPr lang="zh-CN" altLang="en-US" sz="1600" i="1">
                                      <a:latin typeface="Cambria Math" panose="02040503050406030204" pitchFamily="18" charset="0"/>
                                    </a:rPr>
                                    <m:t>𝑅</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𝑅</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𝑅</m:t>
                                  </m:r>
                                </m:sub>
                              </m:sSub>
                            </m:e>
                          </m:d>
                        </m:e>
                        <m:sup>
                          <m:r>
                            <a:rPr lang="zh-CN" altLang="en-US" sz="1600" i="1">
                              <a:latin typeface="Cambria Math" panose="02040503050406030204" pitchFamily="18" charset="0"/>
                            </a:rPr>
                            <m:t>𝑇</m:t>
                          </m:r>
                        </m:sup>
                      </m:sSup>
                    </m:oMath>
                  </m:oMathPara>
                </a14:m>
                <a:endParaRPr lang="zh-CN" altLang="en-US" sz="1600" dirty="0"/>
              </a:p>
            </p:txBody>
          </p:sp>
        </mc:Choice>
        <mc:Fallback xmlns="">
          <p:sp>
            <p:nvSpPr>
              <p:cNvPr id="43" name="矩形 42"/>
              <p:cNvSpPr>
                <a:spLocks noRot="1" noChangeAspect="1" noMove="1" noResize="1" noEditPoints="1" noAdjustHandles="1" noChangeArrowheads="1" noChangeShapeType="1" noTextEdit="1"/>
              </p:cNvSpPr>
              <p:nvPr/>
            </p:nvSpPr>
            <p:spPr>
              <a:xfrm>
                <a:off x="3839288" y="4705905"/>
                <a:ext cx="2354170" cy="352789"/>
              </a:xfrm>
              <a:prstGeom prst="rect">
                <a:avLst/>
              </a:prstGeom>
              <a:blipFill>
                <a:blip r:embed="rId13"/>
                <a:stretch>
                  <a:fillRect t="-100000" b="-163793"/>
                </a:stretch>
              </a:blipFill>
            </p:spPr>
            <p:txBody>
              <a:bodyPr/>
              <a:lstStyle/>
              <a:p>
                <a:r>
                  <a:rPr lang="zh-CN" altLang="en-US">
                    <a:noFill/>
                  </a:rPr>
                  <a:t> </a:t>
                </a:r>
              </a:p>
            </p:txBody>
          </p:sp>
        </mc:Fallback>
      </mc:AlternateContent>
      <p:sp>
        <p:nvSpPr>
          <p:cNvPr id="44" name="圆角矩形 43"/>
          <p:cNvSpPr/>
          <p:nvPr/>
        </p:nvSpPr>
        <p:spPr>
          <a:xfrm>
            <a:off x="3794019" y="4705905"/>
            <a:ext cx="2399439" cy="35278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819348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6" name="对象 5"/>
          <p:cNvGraphicFramePr>
            <a:graphicFrameLocks noChangeAspect="1"/>
          </p:cNvGraphicFramePr>
          <p:nvPr>
            <p:extLst>
              <p:ext uri="{D42A27DB-BD31-4B8C-83A1-F6EECF244321}">
                <p14:modId xmlns:p14="http://schemas.microsoft.com/office/powerpoint/2010/main" val="1541058827"/>
              </p:ext>
            </p:extLst>
          </p:nvPr>
        </p:nvGraphicFramePr>
        <p:xfrm>
          <a:off x="6034123" y="760679"/>
          <a:ext cx="2409825" cy="1495425"/>
        </p:xfrm>
        <a:graphic>
          <a:graphicData uri="http://schemas.openxmlformats.org/presentationml/2006/ole">
            <mc:AlternateContent xmlns:mc="http://schemas.openxmlformats.org/markup-compatibility/2006">
              <mc:Choice xmlns:v="urn:schemas-microsoft-com:vml" Requires="v">
                <p:oleObj spid="_x0000_s2088" name="Visio" r:id="rId4" imgW="3299130" imgH="2628900" progId="Visio.Drawing.11">
                  <p:embed/>
                </p:oleObj>
              </mc:Choice>
              <mc:Fallback>
                <p:oleObj name="Visio" r:id="rId4" imgW="3299130" imgH="26289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4123" y="760679"/>
                        <a:ext cx="2409825" cy="149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矩形 6"/>
              <p:cNvSpPr/>
              <p:nvPr/>
            </p:nvSpPr>
            <p:spPr>
              <a:xfrm>
                <a:off x="2895590" y="1419623"/>
                <a:ext cx="1091068" cy="5559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𝑅</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1</m:t>
                              </m:r>
                            </m:sub>
                          </m:sSub>
                        </m:num>
                        <m:den>
                          <m:r>
                            <a:rPr lang="zh-CN" altLang="en-US" sz="1600" i="0">
                              <a:latin typeface="Cambria Math" panose="02040503050406030204" pitchFamily="18" charset="0"/>
                            </a:rPr>
                            <m:t>2</m:t>
                          </m:r>
                          <m:r>
                            <a:rPr lang="zh-CN" altLang="en-US" sz="1600" i="1">
                              <a:latin typeface="Cambria Math" panose="02040503050406030204" pitchFamily="18" charset="0"/>
                            </a:rPr>
                            <m:t>𝑙</m:t>
                          </m:r>
                        </m:den>
                      </m:f>
                    </m:oMath>
                  </m:oMathPara>
                </a14:m>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2895590" y="1419623"/>
                <a:ext cx="1091068" cy="55592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4067944" y="1419622"/>
                <a:ext cx="1233158" cy="5559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𝐿</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2</m:t>
                              </m:r>
                            </m:sub>
                          </m:sSub>
                        </m:num>
                        <m:den>
                          <m:r>
                            <a:rPr lang="zh-CN" altLang="en-US" sz="1600" i="0">
                              <a:latin typeface="Cambria Math" panose="02040503050406030204" pitchFamily="18" charset="0"/>
                            </a:rPr>
                            <m:t>2</m:t>
                          </m:r>
                          <m:r>
                            <a:rPr lang="zh-CN" altLang="en-US" sz="1600" i="1">
                              <a:latin typeface="Cambria Math" panose="02040503050406030204" pitchFamily="18" charset="0"/>
                            </a:rPr>
                            <m:t>𝑙</m:t>
                          </m:r>
                        </m:den>
                      </m:f>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4067944" y="1419622"/>
                <a:ext cx="1233158" cy="55592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547664" y="2008613"/>
                <a:ext cx="2389116" cy="1258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𝜉</m:t>
                              </m:r>
                            </m:e>
                          </m:acc>
                        </m:e>
                        <m:sub>
                          <m:r>
                            <a:rPr lang="zh-CN" altLang="en-US" sz="1600" i="1">
                              <a:latin typeface="Cambria Math" panose="02040503050406030204" pitchFamily="18" charset="0"/>
                            </a:rPr>
                            <m:t>𝐼</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𝑅</m:t>
                              </m:r>
                              <m:r>
                                <a:rPr lang="zh-CN" altLang="en-US" sz="1600" i="0">
                                  <a:latin typeface="Cambria Math" panose="02040503050406030204" pitchFamily="18" charset="0"/>
                                </a:rPr>
                                <m:t>(</m:t>
                              </m:r>
                              <m:r>
                                <a:rPr lang="zh-CN" altLang="en-US" sz="1600" i="1">
                                  <a:latin typeface="Cambria Math" panose="02040503050406030204" pitchFamily="18" charset="0"/>
                                </a:rPr>
                                <m:t>𝜃</m:t>
                              </m:r>
                            </m:e>
                          </m:d>
                        </m:e>
                        <m:sup>
                          <m:r>
                            <a:rPr lang="zh-CN" altLang="en-US" sz="1600" i="0">
                              <a:latin typeface="Cambria Math" panose="02040503050406030204" pitchFamily="18" charset="0"/>
                            </a:rPr>
                            <m:t>−1</m:t>
                          </m:r>
                        </m:sup>
                      </m:sSup>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1</m:t>
                                        </m:r>
                                      </m:sub>
                                    </m:sSub>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2</m:t>
                                        </m:r>
                                      </m:sub>
                                    </m:sSub>
                                  </m:num>
                                  <m:den>
                                    <m:r>
                                      <a:rPr lang="zh-CN" altLang="en-US" sz="1600" i="0">
                                        <a:latin typeface="Cambria Math" panose="02040503050406030204" pitchFamily="18" charset="0"/>
                                      </a:rPr>
                                      <m:t>2</m:t>
                                    </m:r>
                                  </m:den>
                                </m:f>
                              </m:e>
                            </m:mr>
                            <m:mr>
                              <m:e>
                                <m:r>
                                  <a:rPr lang="zh-CN" altLang="en-US" sz="1600" i="0">
                                    <a:latin typeface="Cambria Math" panose="02040503050406030204" pitchFamily="18" charset="0"/>
                                  </a:rPr>
                                  <m:t>0</m:t>
                                </m:r>
                              </m:e>
                            </m:mr>
                            <m:m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1</m:t>
                                        </m:r>
                                      </m:sub>
                                    </m:sSub>
                                  </m:num>
                                  <m:den>
                                    <m:r>
                                      <a:rPr lang="zh-CN" altLang="en-US" sz="1600" i="0">
                                        <a:latin typeface="Cambria Math" panose="02040503050406030204" pitchFamily="18" charset="0"/>
                                      </a:rPr>
                                      <m:t>2</m:t>
                                    </m:r>
                                    <m:r>
                                      <a:rPr lang="zh-CN" altLang="en-US" sz="1600" i="1">
                                        <a:latin typeface="Cambria Math" panose="02040503050406030204" pitchFamily="18" charset="0"/>
                                      </a:rPr>
                                      <m:t>𝑙</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2</m:t>
                                        </m:r>
                                      </m:sub>
                                    </m:sSub>
                                  </m:num>
                                  <m:den>
                                    <m:r>
                                      <a:rPr lang="zh-CN" altLang="en-US" sz="1600" i="0">
                                        <a:latin typeface="Cambria Math" panose="02040503050406030204" pitchFamily="18" charset="0"/>
                                      </a:rPr>
                                      <m:t>2</m:t>
                                    </m:r>
                                    <m:r>
                                      <a:rPr lang="zh-CN" altLang="en-US" sz="1600" i="1">
                                        <a:latin typeface="Cambria Math" panose="02040503050406030204" pitchFamily="18" charset="0"/>
                                      </a:rPr>
                                      <m:t>𝑙</m:t>
                                    </m:r>
                                  </m:den>
                                </m:f>
                              </m:e>
                            </m:mr>
                          </m:m>
                        </m:e>
                      </m:d>
                    </m:oMath>
                  </m:oMathPara>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1547664" y="2008613"/>
                <a:ext cx="2389116" cy="1258743"/>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690733" y="2265157"/>
                <a:ext cx="3630546" cy="745653"/>
              </a:xfrm>
              <a:prstGeom prst="rect">
                <a:avLst/>
              </a:prstGeom>
            </p:spPr>
            <p:txBody>
              <a:bodyPr wrap="none">
                <a:spAutoFit/>
              </a:bodyPr>
              <a:lstStyle/>
              <a:p>
                <a:pPr indent="266700" algn="just">
                  <a:spcAft>
                    <a:spcPts val="0"/>
                  </a:spcAft>
                </a:pPr>
                <a:r>
                  <a:rPr lang="zh-CN" altLang="zh-CN" sz="1600" kern="100" dirty="0">
                    <a:latin typeface="等线" panose="02010600030101010101" pitchFamily="2" charset="-122"/>
                    <a:cs typeface="Times New Roman" panose="02020603050405020304" pitchFamily="18" charset="0"/>
                  </a:rPr>
                  <a:t>其中，</a:t>
                </a:r>
                <a14:m>
                  <m:oMath xmlns:m="http://schemas.openxmlformats.org/officeDocument/2006/math">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cs typeface="Times New Roman" panose="02020603050405020304" pitchFamily="18" charset="0"/>
                          </a:rPr>
                          <m:t>𝑅</m:t>
                        </m:r>
                        <m:r>
                          <a:rPr lang="en-US" altLang="zh-CN" sz="1600" i="1" kern="100">
                            <a:latin typeface="Cambria Math" panose="02040503050406030204" pitchFamily="18" charset="0"/>
                            <a:cs typeface="Times New Roman" panose="02020603050405020304" pitchFamily="18" charset="0"/>
                          </a:rPr>
                          <m:t>(</m:t>
                        </m:r>
                        <m:r>
                          <a:rPr lang="en-US" altLang="zh-CN" sz="1600" i="1" kern="100">
                            <a:latin typeface="Cambria Math" panose="02040503050406030204" pitchFamily="18" charset="0"/>
                            <a:cs typeface="Times New Roman" panose="02020603050405020304" pitchFamily="18" charset="0"/>
                          </a:rPr>
                          <m:t>𝜃</m:t>
                        </m:r>
                        <m:r>
                          <a:rPr lang="en-US" altLang="zh-CN" sz="1600" i="1" kern="100">
                            <a:latin typeface="Cambria Math" panose="02040503050406030204" pitchFamily="18" charset="0"/>
                            <a:cs typeface="Times New Roman" panose="02020603050405020304" pitchFamily="18" charset="0"/>
                          </a:rPr>
                          <m:t>)</m:t>
                        </m:r>
                      </m:e>
                      <m:sup>
                        <m:r>
                          <a:rPr lang="zh-CN" altLang="en-US" sz="16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1600" i="1" kern="100">
                            <a:latin typeface="Cambria Math" panose="02040503050406030204" pitchFamily="18" charset="0"/>
                            <a:cs typeface="Times New Roman" panose="02020603050405020304" pitchFamily="18" charset="0"/>
                          </a:rPr>
                          <m:t>1</m:t>
                        </m:r>
                      </m:sup>
                    </m:sSup>
                    <m:r>
                      <a:rPr lang="en-US" altLang="zh-CN" sz="1600" i="1" kern="100">
                        <a:latin typeface="Cambria Math" panose="02040503050406030204" pitchFamily="18" charset="0"/>
                        <a:cs typeface="Times New Roman" panose="02020603050405020304" pitchFamily="18" charset="0"/>
                      </a:rPr>
                      <m:t>=</m:t>
                    </m:r>
                    <m:d>
                      <m:dPr>
                        <m:begChr m:val="["/>
                        <m:end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3"/>
                                  <m:mcJc m:val="center"/>
                                </m:mcPr>
                              </m:mc>
                            </m:mcs>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1600" i="1" kern="100">
                                  <a:latin typeface="Cambria Math" panose="02040503050406030204" pitchFamily="18" charset="0"/>
                                  <a:cs typeface="Times New Roman" panose="02020603050405020304" pitchFamily="18" charset="0"/>
                                </a:rPr>
                                <m:t>𝑐𝑜𝑠</m:t>
                              </m:r>
                              <m:r>
                                <a:rPr lang="en-US" altLang="zh-CN" sz="1600" i="1" kern="100">
                                  <a:latin typeface="Cambria Math" panose="02040503050406030204" pitchFamily="18" charset="0"/>
                                  <a:cs typeface="Times New Roman" panose="02020603050405020304" pitchFamily="18" charset="0"/>
                                </a:rPr>
                                <m:t>𝜃</m:t>
                              </m:r>
                            </m:e>
                            <m:e>
                              <m:r>
                                <a:rPr lang="zh-CN" altLang="en-US" sz="16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1600" i="1" kern="100">
                                  <a:latin typeface="Cambria Math" panose="02040503050406030204" pitchFamily="18" charset="0"/>
                                  <a:cs typeface="Times New Roman" panose="02020603050405020304" pitchFamily="18" charset="0"/>
                                </a:rPr>
                                <m:t>𝑠𝑖𝑛</m:t>
                              </m:r>
                              <m:r>
                                <a:rPr lang="en-US" altLang="zh-CN" sz="1600" i="1" kern="100">
                                  <a:latin typeface="Cambria Math" panose="02040503050406030204" pitchFamily="18" charset="0"/>
                                  <a:cs typeface="Times New Roman" panose="02020603050405020304" pitchFamily="18" charset="0"/>
                                </a:rPr>
                                <m:t>𝜃</m:t>
                              </m:r>
                            </m:e>
                            <m:e>
                              <m:r>
                                <a:rPr lang="en-US" altLang="zh-CN" sz="1600" i="1" kern="100">
                                  <a:latin typeface="Cambria Math" panose="02040503050406030204" pitchFamily="18" charset="0"/>
                                  <a:cs typeface="Times New Roman" panose="02020603050405020304" pitchFamily="18" charset="0"/>
                                </a:rPr>
                                <m:t>0</m:t>
                              </m:r>
                            </m:e>
                          </m:mr>
                          <m:mr>
                            <m:e>
                              <m:r>
                                <a:rPr lang="en-US" altLang="zh-CN" sz="1600" i="1" kern="100">
                                  <a:latin typeface="Cambria Math" panose="02040503050406030204" pitchFamily="18" charset="0"/>
                                  <a:cs typeface="Times New Roman" panose="02020603050405020304" pitchFamily="18" charset="0"/>
                                </a:rPr>
                                <m:t>𝑠𝑖𝑛</m:t>
                              </m:r>
                              <m:r>
                                <a:rPr lang="en-US" altLang="zh-CN" sz="1600" i="1" kern="100">
                                  <a:latin typeface="Cambria Math" panose="02040503050406030204" pitchFamily="18" charset="0"/>
                                  <a:cs typeface="Times New Roman" panose="02020603050405020304" pitchFamily="18" charset="0"/>
                                </a:rPr>
                                <m:t>𝜃</m:t>
                              </m:r>
                            </m:e>
                            <m:e>
                              <m:r>
                                <a:rPr lang="en-US" altLang="zh-CN" sz="1600" i="1" kern="100">
                                  <a:latin typeface="Cambria Math" panose="02040503050406030204" pitchFamily="18" charset="0"/>
                                  <a:cs typeface="Times New Roman" panose="02020603050405020304" pitchFamily="18" charset="0"/>
                                </a:rPr>
                                <m:t>𝑐𝑜𝑠</m:t>
                              </m:r>
                              <m:r>
                                <a:rPr lang="en-US" altLang="zh-CN" sz="1600" i="1" kern="100">
                                  <a:latin typeface="Cambria Math" panose="02040503050406030204" pitchFamily="18" charset="0"/>
                                  <a:cs typeface="Times New Roman" panose="02020603050405020304" pitchFamily="18" charset="0"/>
                                </a:rPr>
                                <m:t>𝜃</m:t>
                              </m:r>
                            </m:e>
                            <m:e>
                              <m:r>
                                <a:rPr lang="en-US" altLang="zh-CN" sz="1600" i="1" kern="100">
                                  <a:latin typeface="Cambria Math" panose="02040503050406030204" pitchFamily="18" charset="0"/>
                                  <a:cs typeface="Times New Roman" panose="02020603050405020304" pitchFamily="18" charset="0"/>
                                </a:rPr>
                                <m:t>0</m:t>
                              </m:r>
                            </m:e>
                          </m:mr>
                          <m:mr>
                            <m:e>
                              <m:r>
                                <a:rPr lang="en-US" altLang="zh-CN" sz="1600" i="1" kern="100">
                                  <a:latin typeface="Cambria Math" panose="02040503050406030204" pitchFamily="18" charset="0"/>
                                  <a:cs typeface="Times New Roman" panose="02020603050405020304" pitchFamily="18" charset="0"/>
                                </a:rPr>
                                <m:t>0</m:t>
                              </m:r>
                            </m:e>
                            <m:e>
                              <m:r>
                                <a:rPr lang="en-US" altLang="zh-CN" sz="1600" i="1" kern="100">
                                  <a:latin typeface="Cambria Math" panose="02040503050406030204" pitchFamily="18" charset="0"/>
                                  <a:cs typeface="Times New Roman" panose="02020603050405020304" pitchFamily="18" charset="0"/>
                                </a:rPr>
                                <m:t>0</m:t>
                              </m:r>
                            </m:e>
                            <m:e>
                              <m:r>
                                <a:rPr lang="en-US" altLang="zh-CN" sz="1600" i="1" kern="100">
                                  <a:latin typeface="Cambria Math" panose="02040503050406030204" pitchFamily="18" charset="0"/>
                                  <a:cs typeface="Times New Roman" panose="02020603050405020304" pitchFamily="18" charset="0"/>
                                </a:rPr>
                                <m:t>1</m:t>
                              </m:r>
                            </m:e>
                          </m:mr>
                        </m:m>
                      </m:e>
                    </m:d>
                  </m:oMath>
                </a14:m>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2" name="矩形 11"/>
              <p:cNvSpPr>
                <a:spLocks noRot="1" noChangeAspect="1" noMove="1" noResize="1" noEditPoints="1" noAdjustHandles="1" noChangeArrowheads="1" noChangeShapeType="1" noTextEdit="1"/>
              </p:cNvSpPr>
              <p:nvPr/>
            </p:nvSpPr>
            <p:spPr>
              <a:xfrm>
                <a:off x="3690733" y="2265157"/>
                <a:ext cx="3630546" cy="74565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656101" y="3280207"/>
                <a:ext cx="3536224" cy="1258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e>
                            </m:m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𝑦</m:t>
                                    </m:r>
                                  </m:e>
                                </m:acc>
                              </m:e>
                            </m:m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mr>
                          </m:m>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𝑐𝑜𝑠</m:t>
                                </m:r>
                                <m:r>
                                  <a:rPr lang="zh-CN" altLang="en-US" sz="1600" i="1">
                                    <a:latin typeface="Cambria Math" panose="02040503050406030204" pitchFamily="18" charset="0"/>
                                  </a:rPr>
                                  <m:t>𝜃</m:t>
                                </m:r>
                              </m:e>
                              <m:e>
                                <m:r>
                                  <a:rPr lang="zh-CN" altLang="en-US" sz="1600" i="0">
                                    <a:latin typeface="Cambria Math" panose="02040503050406030204" pitchFamily="18" charset="0"/>
                                  </a:rPr>
                                  <m:t>−</m:t>
                                </m:r>
                                <m:r>
                                  <a:rPr lang="zh-CN" altLang="en-US" sz="1600" i="1">
                                    <a:latin typeface="Cambria Math" panose="02040503050406030204" pitchFamily="18" charset="0"/>
                                  </a:rPr>
                                  <m:t>𝑠𝑖𝑛</m:t>
                                </m:r>
                                <m:r>
                                  <a:rPr lang="zh-CN" altLang="en-US" sz="1600" i="1">
                                    <a:latin typeface="Cambria Math" panose="02040503050406030204" pitchFamily="18" charset="0"/>
                                  </a:rPr>
                                  <m:t>𝜃</m:t>
                                </m:r>
                              </m:e>
                              <m:e>
                                <m:r>
                                  <a:rPr lang="zh-CN" altLang="en-US" sz="1600" i="0">
                                    <a:latin typeface="Cambria Math" panose="02040503050406030204" pitchFamily="18" charset="0"/>
                                  </a:rPr>
                                  <m:t>0</m:t>
                                </m:r>
                              </m:e>
                            </m:mr>
                            <m:mr>
                              <m:e>
                                <m:r>
                                  <a:rPr lang="zh-CN" altLang="en-US" sz="1600" i="1">
                                    <a:latin typeface="Cambria Math" panose="02040503050406030204" pitchFamily="18" charset="0"/>
                                  </a:rPr>
                                  <m:t>𝑠𝑖𝑛</m:t>
                                </m:r>
                                <m:r>
                                  <a:rPr lang="zh-CN" altLang="en-US" sz="1600" i="1">
                                    <a:latin typeface="Cambria Math" panose="02040503050406030204" pitchFamily="18" charset="0"/>
                                  </a:rPr>
                                  <m:t>𝜃</m:t>
                                </m:r>
                              </m:e>
                              <m:e>
                                <m:r>
                                  <a:rPr lang="zh-CN" altLang="en-US" sz="1600" i="1">
                                    <a:latin typeface="Cambria Math" panose="02040503050406030204" pitchFamily="18" charset="0"/>
                                  </a:rPr>
                                  <m:t>𝑐𝑜𝑠</m:t>
                                </m:r>
                                <m:r>
                                  <a:rPr lang="zh-CN" altLang="en-US" sz="1600" i="1">
                                    <a:latin typeface="Cambria Math" panose="02040503050406030204" pitchFamily="18" charset="0"/>
                                  </a:rPr>
                                  <m:t>𝜃</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1</m:t>
                                        </m:r>
                                      </m:sub>
                                    </m:sSub>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2</m:t>
                                        </m:r>
                                      </m:sub>
                                    </m:sSub>
                                  </m:num>
                                  <m:den>
                                    <m:r>
                                      <a:rPr lang="zh-CN" altLang="en-US" sz="1600" i="0">
                                        <a:latin typeface="Cambria Math" panose="02040503050406030204" pitchFamily="18" charset="0"/>
                                      </a:rPr>
                                      <m:t>2</m:t>
                                    </m:r>
                                  </m:den>
                                </m:f>
                              </m:e>
                            </m:mr>
                            <m:mr>
                              <m:e>
                                <m:r>
                                  <a:rPr lang="zh-CN" altLang="en-US" sz="1600" i="0">
                                    <a:latin typeface="Cambria Math" panose="02040503050406030204" pitchFamily="18" charset="0"/>
                                  </a:rPr>
                                  <m:t>0</m:t>
                                </m:r>
                              </m:e>
                            </m:mr>
                            <m:m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1</m:t>
                                        </m:r>
                                      </m:sub>
                                    </m:sSub>
                                  </m:num>
                                  <m:den>
                                    <m:r>
                                      <a:rPr lang="zh-CN" altLang="en-US" sz="1600" i="0">
                                        <a:latin typeface="Cambria Math" panose="02040503050406030204" pitchFamily="18" charset="0"/>
                                      </a:rPr>
                                      <m:t>2</m:t>
                                    </m:r>
                                    <m:r>
                                      <a:rPr lang="zh-CN" altLang="en-US" sz="1600" i="1">
                                        <a:latin typeface="Cambria Math" panose="02040503050406030204" pitchFamily="18" charset="0"/>
                                      </a:rPr>
                                      <m:t>𝑙</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𝑟</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𝜑</m:t>
                                            </m:r>
                                          </m:e>
                                        </m:acc>
                                      </m:e>
                                      <m:sub>
                                        <m:r>
                                          <a:rPr lang="zh-CN" altLang="en-US" sz="1600" i="0">
                                            <a:latin typeface="Cambria Math" panose="02040503050406030204" pitchFamily="18" charset="0"/>
                                          </a:rPr>
                                          <m:t>2</m:t>
                                        </m:r>
                                      </m:sub>
                                    </m:sSub>
                                  </m:num>
                                  <m:den>
                                    <m:r>
                                      <a:rPr lang="zh-CN" altLang="en-US" sz="1600" i="0">
                                        <a:latin typeface="Cambria Math" panose="02040503050406030204" pitchFamily="18" charset="0"/>
                                      </a:rPr>
                                      <m:t>2</m:t>
                                    </m:r>
                                    <m:r>
                                      <a:rPr lang="zh-CN" altLang="en-US" sz="1600" i="1">
                                        <a:latin typeface="Cambria Math" panose="02040503050406030204" pitchFamily="18" charset="0"/>
                                      </a:rPr>
                                      <m:t>𝑙</m:t>
                                    </m:r>
                                  </m:den>
                                </m:f>
                              </m:e>
                            </m:mr>
                          </m:m>
                        </m:e>
                      </m:d>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2656101" y="3280207"/>
                <a:ext cx="3536224" cy="1258743"/>
              </a:xfrm>
              <a:prstGeom prst="rect">
                <a:avLst/>
              </a:prstGeom>
              <a:blipFill>
                <a:blip r:embed="rId10"/>
                <a:stretch>
                  <a:fillRect/>
                </a:stretch>
              </a:blipFill>
            </p:spPr>
            <p:txBody>
              <a:bodyPr/>
              <a:lstStyle/>
              <a:p>
                <a:r>
                  <a:rPr lang="zh-CN" altLang="en-US">
                    <a:noFill/>
                  </a:rPr>
                  <a:t> </a:t>
                </a:r>
              </a:p>
            </p:txBody>
          </p:sp>
        </mc:Fallback>
      </mc:AlternateContent>
      <p:sp>
        <p:nvSpPr>
          <p:cNvPr id="13" name="矩形 12"/>
          <p:cNvSpPr/>
          <p:nvPr/>
        </p:nvSpPr>
        <p:spPr>
          <a:xfrm>
            <a:off x="2599372" y="339942"/>
            <a:ext cx="4512774" cy="400110"/>
          </a:xfrm>
          <a:prstGeom prst="rect">
            <a:avLst/>
          </a:prstGeom>
        </p:spPr>
        <p:txBody>
          <a:bodyPr wrap="none">
            <a:spAutoFit/>
          </a:bodyPr>
          <a:lstStyle/>
          <a:p>
            <a:r>
              <a:rPr lang="en-US" altLang="zh-CN" sz="2000" b="1" dirty="0" smtClean="0">
                <a:solidFill>
                  <a:srgbClr val="002060"/>
                </a:solidFill>
              </a:rPr>
              <a:t>3.12.1 </a:t>
            </a:r>
            <a:r>
              <a:rPr lang="zh-CN" altLang="en-US" sz="2000" b="1" dirty="0" smtClean="0">
                <a:solidFill>
                  <a:srgbClr val="002060"/>
                </a:solidFill>
              </a:rPr>
              <a:t>轮式</a:t>
            </a:r>
            <a:r>
              <a:rPr lang="zh-CN" altLang="en-US" sz="2000" b="1" dirty="0">
                <a:solidFill>
                  <a:srgbClr val="002060"/>
                </a:solidFill>
              </a:rPr>
              <a:t>移动机器人运动学基础模型</a:t>
            </a:r>
          </a:p>
        </p:txBody>
      </p:sp>
    </p:spTree>
    <p:extLst>
      <p:ext uri="{BB962C8B-B14F-4D97-AF65-F5344CB8AC3E}">
        <p14:creationId xmlns:p14="http://schemas.microsoft.com/office/powerpoint/2010/main" val="38939278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a:xfrm>
            <a:off x="2025820" y="2355726"/>
            <a:ext cx="5086350" cy="1466850"/>
          </a:xfrm>
          <a:prstGeom prst="rect">
            <a:avLst/>
          </a:prstGeom>
          <a:noFill/>
          <a:ln>
            <a:noFill/>
          </a:ln>
        </p:spPr>
      </p:pic>
      <p:sp>
        <p:nvSpPr>
          <p:cNvPr id="2" name="矩形 1"/>
          <p:cNvSpPr/>
          <p:nvPr/>
        </p:nvSpPr>
        <p:spPr>
          <a:xfrm>
            <a:off x="3204853" y="3939902"/>
            <a:ext cx="2693366" cy="338554"/>
          </a:xfrm>
          <a:prstGeom prst="rect">
            <a:avLst/>
          </a:prstGeom>
        </p:spPr>
        <p:txBody>
          <a:bodyPr wrap="none">
            <a:spAutoFit/>
          </a:bodyPr>
          <a:lstStyle/>
          <a:p>
            <a:r>
              <a:rPr lang="zh-CN" altLang="zh-CN" sz="1600" kern="100" dirty="0">
                <a:solidFill>
                  <a:srgbClr val="002060"/>
                </a:solidFill>
                <a:cs typeface="Times New Roman" panose="02020603050405020304" pitchFamily="18" charset="0"/>
              </a:rPr>
              <a:t> 移动机器人微分运动学模型</a:t>
            </a:r>
            <a:endParaRPr lang="zh-CN" altLang="en-US" sz="1600" dirty="0">
              <a:solidFill>
                <a:srgbClr val="002060"/>
              </a:solidFill>
            </a:endParaRPr>
          </a:p>
        </p:txBody>
      </p:sp>
      <p:sp>
        <p:nvSpPr>
          <p:cNvPr id="9" name="矩形 8"/>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26490732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6" name="对象 5"/>
          <p:cNvGraphicFramePr>
            <a:graphicFrameLocks noChangeAspect="1"/>
          </p:cNvGraphicFramePr>
          <p:nvPr>
            <p:extLst>
              <p:ext uri="{D42A27DB-BD31-4B8C-83A1-F6EECF244321}">
                <p14:modId xmlns:p14="http://schemas.microsoft.com/office/powerpoint/2010/main" val="2198048837"/>
              </p:ext>
            </p:extLst>
          </p:nvPr>
        </p:nvGraphicFramePr>
        <p:xfrm>
          <a:off x="1763688" y="1635646"/>
          <a:ext cx="4714875" cy="2476500"/>
        </p:xfrm>
        <a:graphic>
          <a:graphicData uri="http://schemas.openxmlformats.org/presentationml/2006/ole">
            <mc:AlternateContent xmlns:mc="http://schemas.openxmlformats.org/markup-compatibility/2006">
              <mc:Choice xmlns:v="urn:schemas-microsoft-com:vml" Requires="v">
                <p:oleObj spid="_x0000_s3111" name="Visio" r:id="rId4" imgW="4715010" imgH="2477129" progId="Visio.Drawing.11">
                  <p:embed/>
                </p:oleObj>
              </mc:Choice>
              <mc:Fallback>
                <p:oleObj name="Visio" r:id="rId4" imgW="4715010" imgH="247712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1635646"/>
                        <a:ext cx="4714875" cy="2476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2599372" y="339942"/>
            <a:ext cx="4512774" cy="400110"/>
          </a:xfrm>
          <a:prstGeom prst="rect">
            <a:avLst/>
          </a:prstGeom>
        </p:spPr>
        <p:txBody>
          <a:bodyPr wrap="none">
            <a:spAutoFit/>
          </a:bodyPr>
          <a:lstStyle/>
          <a:p>
            <a:r>
              <a:rPr lang="en-US" altLang="zh-CN" sz="2000" b="1" dirty="0" smtClean="0">
                <a:solidFill>
                  <a:srgbClr val="002060"/>
                </a:solidFill>
              </a:rPr>
              <a:t>3.12.1 </a:t>
            </a:r>
            <a:r>
              <a:rPr lang="zh-CN" altLang="en-US" sz="2000" b="1" dirty="0" smtClean="0">
                <a:solidFill>
                  <a:srgbClr val="002060"/>
                </a:solidFill>
              </a:rPr>
              <a:t>轮式</a:t>
            </a:r>
            <a:r>
              <a:rPr lang="zh-CN" altLang="en-US" sz="2000" b="1" dirty="0">
                <a:solidFill>
                  <a:srgbClr val="002060"/>
                </a:solidFill>
              </a:rPr>
              <a:t>移动机器人运动学基础模型</a:t>
            </a:r>
          </a:p>
        </p:txBody>
      </p:sp>
    </p:spTree>
    <p:extLst>
      <p:ext uri="{BB962C8B-B14F-4D97-AF65-F5344CB8AC3E}">
        <p14:creationId xmlns:p14="http://schemas.microsoft.com/office/powerpoint/2010/main" val="31665083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a:xfrm>
            <a:off x="827584" y="1300433"/>
            <a:ext cx="5274310" cy="3331845"/>
          </a:xfrm>
          <a:prstGeom prst="rect">
            <a:avLst/>
          </a:prstGeom>
          <a:noFill/>
          <a:ln>
            <a:noFill/>
          </a:ln>
        </p:spPr>
      </p:pic>
      <p:sp>
        <p:nvSpPr>
          <p:cNvPr id="6" name="矩形 5"/>
          <p:cNvSpPr/>
          <p:nvPr/>
        </p:nvSpPr>
        <p:spPr>
          <a:xfrm>
            <a:off x="3141830" y="4744754"/>
            <a:ext cx="3467616" cy="338554"/>
          </a:xfrm>
          <a:prstGeom prst="rect">
            <a:avLst/>
          </a:prstGeom>
        </p:spPr>
        <p:txBody>
          <a:bodyPr wrap="none">
            <a:spAutoFit/>
          </a:bodyPr>
          <a:lstStyle/>
          <a:p>
            <a:r>
              <a:rPr lang="zh-CN" altLang="zh-CN" sz="1600" dirty="0" smtClean="0">
                <a:solidFill>
                  <a:srgbClr val="002060"/>
                </a:solidFill>
              </a:rPr>
              <a:t>分析</a:t>
            </a:r>
            <a:r>
              <a:rPr lang="zh-CN" altLang="en-US" sz="1600" dirty="0" smtClean="0">
                <a:solidFill>
                  <a:srgbClr val="002060"/>
                </a:solidFill>
              </a:rPr>
              <a:t>不同</a:t>
            </a:r>
            <a:r>
              <a:rPr lang="zh-CN" altLang="zh-CN" sz="1600" dirty="0" smtClean="0">
                <a:solidFill>
                  <a:srgbClr val="002060"/>
                </a:solidFill>
              </a:rPr>
              <a:t>轮子</a:t>
            </a:r>
            <a:r>
              <a:rPr lang="zh-CN" altLang="zh-CN" sz="1600" dirty="0">
                <a:solidFill>
                  <a:srgbClr val="002060"/>
                </a:solidFill>
              </a:rPr>
              <a:t>的滑动约束和滚动约束</a:t>
            </a:r>
            <a:endParaRPr lang="zh-CN" altLang="en-US" sz="1600" dirty="0">
              <a:solidFill>
                <a:srgbClr val="002060"/>
              </a:solidFill>
            </a:endParaRPr>
          </a:p>
        </p:txBody>
      </p:sp>
      <p:pic>
        <p:nvPicPr>
          <p:cNvPr id="2" name="图片 1"/>
          <p:cNvPicPr>
            <a:picLocks noChangeAspect="1"/>
          </p:cNvPicPr>
          <p:nvPr/>
        </p:nvPicPr>
        <p:blipFill>
          <a:blip r:embed="rId4"/>
          <a:stretch>
            <a:fillRect/>
          </a:stretch>
        </p:blipFill>
        <p:spPr>
          <a:xfrm>
            <a:off x="6626999" y="1300433"/>
            <a:ext cx="1274174" cy="883997"/>
          </a:xfrm>
          <a:prstGeom prst="rect">
            <a:avLst/>
          </a:prstGeom>
        </p:spPr>
      </p:pic>
      <p:sp>
        <p:nvSpPr>
          <p:cNvPr id="11" name="矩形 10"/>
          <p:cNvSpPr/>
          <p:nvPr/>
        </p:nvSpPr>
        <p:spPr>
          <a:xfrm>
            <a:off x="6492688" y="2184430"/>
            <a:ext cx="1542795" cy="276999"/>
          </a:xfrm>
          <a:prstGeom prst="rect">
            <a:avLst/>
          </a:prstGeom>
        </p:spPr>
        <p:txBody>
          <a:bodyPr wrap="none">
            <a:spAutoFit/>
          </a:bodyPr>
          <a:lstStyle/>
          <a:p>
            <a:r>
              <a:rPr lang="en-US" altLang="zh-CN" sz="1200" dirty="0" err="1" smtClean="0"/>
              <a:t>v</a:t>
            </a:r>
            <a:r>
              <a:rPr lang="en-US" altLang="zh-CN" sz="1200" baseline="-25000" dirty="0" err="1" smtClean="0"/>
              <a:t>c</a:t>
            </a:r>
            <a:r>
              <a:rPr lang="en-US" altLang="zh-CN" sz="1200" dirty="0" smtClean="0"/>
              <a:t> </a:t>
            </a:r>
            <a:r>
              <a:rPr lang="en-US" altLang="zh-CN" sz="1200" dirty="0"/>
              <a:t>= 0 at contact point</a:t>
            </a:r>
            <a:endParaRPr lang="zh-CN" altLang="en-US" sz="1200" dirty="0"/>
          </a:p>
        </p:txBody>
      </p:sp>
      <p:sp>
        <p:nvSpPr>
          <p:cNvPr id="12" name="矩形 11"/>
          <p:cNvSpPr/>
          <p:nvPr/>
        </p:nvSpPr>
        <p:spPr>
          <a:xfrm>
            <a:off x="6101894" y="2573905"/>
            <a:ext cx="2654761" cy="830997"/>
          </a:xfrm>
          <a:prstGeom prst="rect">
            <a:avLst/>
          </a:prstGeom>
        </p:spPr>
        <p:txBody>
          <a:bodyPr wrap="square">
            <a:spAutoFit/>
          </a:bodyPr>
          <a:lstStyle/>
          <a:p>
            <a:r>
              <a:rPr lang="en-US" altLang="zh-CN" sz="1200" dirty="0" smtClean="0">
                <a:solidFill>
                  <a:srgbClr val="FF0000"/>
                </a:solidFill>
              </a:rPr>
              <a:t>■</a:t>
            </a:r>
            <a:r>
              <a:rPr lang="en-US" altLang="zh-CN" sz="1200" dirty="0" smtClean="0"/>
              <a:t>Movement </a:t>
            </a:r>
            <a:r>
              <a:rPr lang="en-US" altLang="zh-CN" sz="1200" dirty="0"/>
              <a:t>on a horizontal plane</a:t>
            </a:r>
          </a:p>
          <a:p>
            <a:r>
              <a:rPr lang="en-US" altLang="zh-CN" sz="1200" dirty="0">
                <a:solidFill>
                  <a:srgbClr val="FF0000"/>
                </a:solidFill>
              </a:rPr>
              <a:t>■ </a:t>
            </a:r>
            <a:r>
              <a:rPr lang="en-US" altLang="zh-CN" sz="1200" dirty="0" smtClean="0"/>
              <a:t>Point </a:t>
            </a:r>
            <a:r>
              <a:rPr lang="en-US" altLang="zh-CN" sz="1200" dirty="0"/>
              <a:t>contact of the wheels</a:t>
            </a:r>
          </a:p>
          <a:p>
            <a:r>
              <a:rPr lang="en-US" altLang="zh-CN" sz="1200" dirty="0">
                <a:solidFill>
                  <a:srgbClr val="FF0000"/>
                </a:solidFill>
              </a:rPr>
              <a:t>■ </a:t>
            </a:r>
            <a:r>
              <a:rPr lang="en-US" altLang="zh-CN" sz="1200" dirty="0" smtClean="0"/>
              <a:t>Wheel </a:t>
            </a:r>
            <a:r>
              <a:rPr lang="en-US" altLang="zh-CN" sz="1200" dirty="0"/>
              <a:t>is not deformable</a:t>
            </a:r>
          </a:p>
          <a:p>
            <a:r>
              <a:rPr lang="en-US" altLang="zh-CN" sz="1200" dirty="0">
                <a:solidFill>
                  <a:srgbClr val="FF0000"/>
                </a:solidFill>
              </a:rPr>
              <a:t>■ </a:t>
            </a:r>
            <a:r>
              <a:rPr lang="en-US" altLang="zh-CN" sz="1200" dirty="0" smtClean="0"/>
              <a:t>Pure </a:t>
            </a:r>
            <a:r>
              <a:rPr lang="en-US" altLang="zh-CN" sz="1200" dirty="0"/>
              <a:t>rolling</a:t>
            </a:r>
            <a:endParaRPr lang="zh-CN" altLang="en-US" sz="1200" dirty="0"/>
          </a:p>
        </p:txBody>
      </p:sp>
      <p:sp>
        <p:nvSpPr>
          <p:cNvPr id="13" name="矩形 12"/>
          <p:cNvSpPr/>
          <p:nvPr/>
        </p:nvSpPr>
        <p:spPr>
          <a:xfrm>
            <a:off x="6104288" y="3319402"/>
            <a:ext cx="2652367" cy="1384995"/>
          </a:xfrm>
          <a:prstGeom prst="rect">
            <a:avLst/>
          </a:prstGeom>
        </p:spPr>
        <p:txBody>
          <a:bodyPr wrap="square">
            <a:spAutoFit/>
          </a:bodyPr>
          <a:lstStyle/>
          <a:p>
            <a:r>
              <a:rPr lang="en-US" altLang="zh-CN" sz="1200" dirty="0">
                <a:solidFill>
                  <a:srgbClr val="FF0000"/>
                </a:solidFill>
              </a:rPr>
              <a:t>■ </a:t>
            </a:r>
            <a:r>
              <a:rPr lang="en-US" altLang="zh-CN" sz="1200" dirty="0" smtClean="0"/>
              <a:t>No </a:t>
            </a:r>
            <a:r>
              <a:rPr lang="en-US" altLang="zh-CN" sz="1200" dirty="0"/>
              <a:t>slipping, skidding or sliding</a:t>
            </a:r>
          </a:p>
          <a:p>
            <a:r>
              <a:rPr lang="en-US" altLang="zh-CN" sz="1200" dirty="0">
                <a:solidFill>
                  <a:srgbClr val="FF0000"/>
                </a:solidFill>
              </a:rPr>
              <a:t>■ </a:t>
            </a:r>
            <a:r>
              <a:rPr lang="en-US" altLang="zh-CN" sz="1200" dirty="0" smtClean="0"/>
              <a:t>No </a:t>
            </a:r>
            <a:r>
              <a:rPr lang="en-US" altLang="zh-CN" sz="1200" dirty="0"/>
              <a:t>friction for rotation around contact point</a:t>
            </a:r>
          </a:p>
          <a:p>
            <a:r>
              <a:rPr lang="en-US" altLang="zh-CN" sz="1200" dirty="0">
                <a:solidFill>
                  <a:srgbClr val="FF0000"/>
                </a:solidFill>
              </a:rPr>
              <a:t>■ </a:t>
            </a:r>
            <a:r>
              <a:rPr lang="en-US" altLang="zh-CN" sz="1200" dirty="0" smtClean="0"/>
              <a:t>Steering </a:t>
            </a:r>
            <a:r>
              <a:rPr lang="en-US" altLang="zh-CN" sz="1200" dirty="0"/>
              <a:t>axes orthogonal to the surface</a:t>
            </a:r>
          </a:p>
          <a:p>
            <a:r>
              <a:rPr lang="en-US" altLang="zh-CN" sz="1200" dirty="0">
                <a:solidFill>
                  <a:srgbClr val="FF0000"/>
                </a:solidFill>
              </a:rPr>
              <a:t>■ </a:t>
            </a:r>
            <a:r>
              <a:rPr lang="en-US" altLang="zh-CN" sz="1200" dirty="0" smtClean="0"/>
              <a:t>Wheels </a:t>
            </a:r>
            <a:r>
              <a:rPr lang="en-US" altLang="zh-CN" sz="1200" dirty="0"/>
              <a:t>connected by rigid frame (chassis)</a:t>
            </a:r>
            <a:endParaRPr lang="zh-CN" altLang="en-US" sz="1200" dirty="0"/>
          </a:p>
        </p:txBody>
      </p:sp>
      <p:sp>
        <p:nvSpPr>
          <p:cNvPr id="14" name="矩形 13"/>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5511832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3227197" y="1563638"/>
            <a:ext cx="2712955" cy="2615411"/>
          </a:xfrm>
          <a:prstGeom prst="rect">
            <a:avLst/>
          </a:prstGeom>
        </p:spPr>
      </p:pic>
      <p:sp>
        <p:nvSpPr>
          <p:cNvPr id="11" name="矩形 10"/>
          <p:cNvSpPr/>
          <p:nvPr/>
        </p:nvSpPr>
        <p:spPr>
          <a:xfrm>
            <a:off x="3227197" y="582951"/>
            <a:ext cx="2634054" cy="646331"/>
          </a:xfrm>
          <a:prstGeom prst="rect">
            <a:avLst/>
          </a:prstGeom>
        </p:spPr>
        <p:txBody>
          <a:bodyPr wrap="none">
            <a:spAutoFit/>
          </a:bodyPr>
          <a:lstStyle/>
          <a:p>
            <a:pPr algn="ctr"/>
            <a:r>
              <a:rPr lang="zh-CN" altLang="en-US" dirty="0" smtClean="0">
                <a:latin typeface="Arial" panose="020B0604020202020204" pitchFamily="34" charset="0"/>
                <a:cs typeface="Arial" panose="020B0604020202020204" pitchFamily="34" charset="0"/>
              </a:rPr>
              <a:t>轮式移动机器人</a:t>
            </a:r>
            <a:endParaRPr lang="en-US" altLang="zh-CN" dirty="0" smtClean="0">
              <a:latin typeface="Arial" panose="020B0604020202020204" pitchFamily="34" charset="0"/>
              <a:cs typeface="Arial" panose="020B0604020202020204" pitchFamily="34" charset="0"/>
            </a:endParaRPr>
          </a:p>
          <a:p>
            <a:r>
              <a:rPr lang="en-US" altLang="zh-CN" dirty="0" smtClean="0">
                <a:latin typeface="Arial" panose="020B0604020202020204" pitchFamily="34" charset="0"/>
                <a:cs typeface="Arial" panose="020B0604020202020204" pitchFamily="34" charset="0"/>
              </a:rPr>
              <a:t>Wheeled </a:t>
            </a:r>
            <a:r>
              <a:rPr lang="en-US" altLang="zh-CN" dirty="0">
                <a:latin typeface="Arial" panose="020B0604020202020204" pitchFamily="34" charset="0"/>
                <a:cs typeface="Arial" panose="020B0604020202020204" pitchFamily="34" charset="0"/>
              </a:rPr>
              <a:t>Mobile Robots</a:t>
            </a:r>
            <a:endParaRPr lang="zh-CN" altLang="en-US" dirty="0">
              <a:latin typeface="Arial" panose="020B0604020202020204" pitchFamily="34" charset="0"/>
              <a:cs typeface="Arial" panose="020B0604020202020204" pitchFamily="34" charset="0"/>
            </a:endParaRPr>
          </a:p>
        </p:txBody>
      </p:sp>
      <p:sp>
        <p:nvSpPr>
          <p:cNvPr id="12" name="矩形 11"/>
          <p:cNvSpPr/>
          <p:nvPr/>
        </p:nvSpPr>
        <p:spPr>
          <a:xfrm>
            <a:off x="6216182" y="1861857"/>
            <a:ext cx="2703443" cy="830997"/>
          </a:xfrm>
          <a:prstGeom prst="rect">
            <a:avLst/>
          </a:prstGeom>
        </p:spPr>
        <p:txBody>
          <a:bodyPr wrap="square">
            <a:spAutoFit/>
          </a:bodyPr>
          <a:lstStyle/>
          <a:p>
            <a:r>
              <a:rPr lang="en-US" altLang="zh-CN" sz="1600" dirty="0"/>
              <a:t>r = wheel radius</a:t>
            </a:r>
          </a:p>
          <a:p>
            <a:r>
              <a:rPr lang="el-GR" altLang="zh-CN" sz="1600" dirty="0" smtClean="0"/>
              <a:t>ν</a:t>
            </a:r>
            <a:r>
              <a:rPr lang="en-US" altLang="zh-CN" sz="1600" dirty="0" smtClean="0"/>
              <a:t> </a:t>
            </a:r>
            <a:r>
              <a:rPr lang="en-US" altLang="zh-CN" sz="1600" dirty="0"/>
              <a:t>= wheel linear velocity</a:t>
            </a:r>
          </a:p>
          <a:p>
            <a:r>
              <a:rPr lang="el-GR" altLang="zh-CN" sz="1600" dirty="0" smtClean="0"/>
              <a:t>ω</a:t>
            </a:r>
            <a:r>
              <a:rPr lang="en-US" altLang="zh-CN" sz="1600" dirty="0" smtClean="0"/>
              <a:t> </a:t>
            </a:r>
            <a:r>
              <a:rPr lang="en-US" altLang="zh-CN" sz="1600" dirty="0"/>
              <a:t>= wheel angular velocity</a:t>
            </a:r>
            <a:endParaRPr lang="zh-CN" altLang="en-US" sz="1600" dirty="0"/>
          </a:p>
        </p:txBody>
      </p:sp>
      <p:sp>
        <p:nvSpPr>
          <p:cNvPr id="13" name="矩形 12"/>
          <p:cNvSpPr/>
          <p:nvPr/>
        </p:nvSpPr>
        <p:spPr>
          <a:xfrm>
            <a:off x="6163125" y="1516077"/>
            <a:ext cx="1781450" cy="338554"/>
          </a:xfrm>
          <a:prstGeom prst="rect">
            <a:avLst/>
          </a:prstGeom>
        </p:spPr>
        <p:txBody>
          <a:bodyPr wrap="none">
            <a:spAutoFit/>
          </a:bodyPr>
          <a:lstStyle/>
          <a:p>
            <a:r>
              <a:rPr lang="en-US" altLang="zh-CN" sz="1600" dirty="0"/>
              <a:t>Wheel parameters:</a:t>
            </a:r>
            <a:endParaRPr lang="zh-CN" altLang="en-US" sz="1600" dirty="0"/>
          </a:p>
        </p:txBody>
      </p:sp>
      <p:sp>
        <p:nvSpPr>
          <p:cNvPr id="14" name="矩形 13"/>
          <p:cNvSpPr/>
          <p:nvPr/>
        </p:nvSpPr>
        <p:spPr>
          <a:xfrm>
            <a:off x="2265542" y="4434228"/>
            <a:ext cx="5176322" cy="553998"/>
          </a:xfrm>
          <a:prstGeom prst="rect">
            <a:avLst/>
          </a:prstGeom>
        </p:spPr>
        <p:txBody>
          <a:bodyPr wrap="square">
            <a:spAutoFit/>
          </a:bodyPr>
          <a:lstStyle/>
          <a:p>
            <a:r>
              <a:rPr lang="zh-CN" altLang="en-US" sz="1600" b="1" dirty="0" smtClean="0">
                <a:solidFill>
                  <a:srgbClr val="002060"/>
                </a:solidFill>
              </a:rPr>
              <a:t>理想轮</a:t>
            </a:r>
            <a:r>
              <a:rPr lang="en-US" altLang="zh-CN" sz="1600" b="1" dirty="0" smtClean="0">
                <a:solidFill>
                  <a:srgbClr val="002060"/>
                </a:solidFill>
              </a:rPr>
              <a:t>(Idealized </a:t>
            </a:r>
            <a:r>
              <a:rPr lang="en-US" altLang="zh-CN" sz="1600" b="1" dirty="0">
                <a:solidFill>
                  <a:srgbClr val="002060"/>
                </a:solidFill>
              </a:rPr>
              <a:t>rolling wheel) </a:t>
            </a:r>
            <a:r>
              <a:rPr lang="en-US" altLang="zh-CN" sz="1400" b="1" dirty="0">
                <a:solidFill>
                  <a:srgbClr val="FF0000"/>
                </a:solidFill>
              </a:rPr>
              <a:t>The Ideal Rolling Wheel component models a wheel without friction or inertia.</a:t>
            </a:r>
            <a:endParaRPr lang="zh-CN" altLang="en-US" sz="1400" b="1" dirty="0">
              <a:solidFill>
                <a:srgbClr val="FF0000"/>
              </a:solidFill>
            </a:endParaRPr>
          </a:p>
        </p:txBody>
      </p:sp>
      <p:sp>
        <p:nvSpPr>
          <p:cNvPr id="6" name="矩形 5"/>
          <p:cNvSpPr/>
          <p:nvPr/>
        </p:nvSpPr>
        <p:spPr>
          <a:xfrm>
            <a:off x="283310" y="1231169"/>
            <a:ext cx="3020379" cy="369332"/>
          </a:xfrm>
          <a:prstGeom prst="rect">
            <a:avLst/>
          </a:prstGeom>
        </p:spPr>
        <p:txBody>
          <a:bodyPr wrap="none">
            <a:spAutoFit/>
          </a:bodyPr>
          <a:lstStyle/>
          <a:p>
            <a:r>
              <a:rPr lang="zh-CN" altLang="en-US" dirty="0"/>
              <a:t>WMR运动学模型需要考虑：</a:t>
            </a:r>
          </a:p>
        </p:txBody>
      </p:sp>
      <p:sp>
        <p:nvSpPr>
          <p:cNvPr id="8" name="矩形 7"/>
          <p:cNvSpPr/>
          <p:nvPr/>
        </p:nvSpPr>
        <p:spPr>
          <a:xfrm>
            <a:off x="361398" y="1855680"/>
            <a:ext cx="2510767" cy="2031325"/>
          </a:xfrm>
          <a:prstGeom prst="rect">
            <a:avLst/>
          </a:prstGeom>
        </p:spPr>
        <p:txBody>
          <a:bodyPr wrap="square">
            <a:spAutoFit/>
          </a:bodyPr>
          <a:lstStyle/>
          <a:p>
            <a:pPr marL="285750" indent="-285750">
              <a:buFont typeface="Wingdings" panose="05000000000000000000" pitchFamily="2" charset="2"/>
              <a:buChar char="Ø"/>
            </a:pPr>
            <a:r>
              <a:rPr lang="zh-CN" altLang="en-US" sz="1400" b="1" dirty="0">
                <a:solidFill>
                  <a:schemeClr val="tx2"/>
                </a:solidFill>
              </a:rPr>
              <a:t>如果轮子可以绕其轴线（x轴）自由旋转，机器人就会在一个方向（y轴）上表现出优先的滚动运动和一定量的横向滑动</a:t>
            </a:r>
            <a:r>
              <a:rPr lang="zh-CN" altLang="en-US" sz="1400" b="1" dirty="0" smtClean="0">
                <a:solidFill>
                  <a:schemeClr val="tx2"/>
                </a:solidFill>
              </a:rPr>
              <a:t>。</a:t>
            </a:r>
            <a:endParaRPr lang="en-US" altLang="zh-CN" sz="1400" b="1" dirty="0" smtClean="0">
              <a:solidFill>
                <a:schemeClr val="tx2"/>
              </a:solidFill>
            </a:endParaRPr>
          </a:p>
          <a:p>
            <a:pPr marL="285750" indent="-285750">
              <a:buFont typeface="Wingdings" panose="05000000000000000000" pitchFamily="2" charset="2"/>
              <a:buChar char="Ø"/>
            </a:pPr>
            <a:endParaRPr lang="zh-CN" altLang="en-US" sz="1400" b="1" dirty="0">
              <a:solidFill>
                <a:schemeClr val="tx2"/>
              </a:solidFill>
            </a:endParaRPr>
          </a:p>
          <a:p>
            <a:pPr marL="285750" indent="-285750">
              <a:buFont typeface="Wingdings" panose="05000000000000000000" pitchFamily="2" charset="2"/>
              <a:buChar char="Ø"/>
            </a:pPr>
            <a:r>
              <a:rPr lang="zh-CN" altLang="en-US" sz="1400" b="1" dirty="0">
                <a:solidFill>
                  <a:schemeClr val="tx2"/>
                </a:solidFill>
              </a:rPr>
              <a:t>但对于低速来说，滚动才是理想车轮模型的合理表现。</a:t>
            </a:r>
          </a:p>
        </p:txBody>
      </p:sp>
      <p:sp>
        <p:nvSpPr>
          <p:cNvPr id="9" name="矩形 8"/>
          <p:cNvSpPr/>
          <p:nvPr/>
        </p:nvSpPr>
        <p:spPr>
          <a:xfrm>
            <a:off x="6058159" y="2794054"/>
            <a:ext cx="2879160" cy="1384995"/>
          </a:xfrm>
          <a:prstGeom prst="rect">
            <a:avLst/>
          </a:prstGeom>
        </p:spPr>
        <p:txBody>
          <a:bodyPr wrap="square">
            <a:spAutoFit/>
          </a:bodyPr>
          <a:lstStyle/>
          <a:p>
            <a:pPr lvl="0">
              <a:defRPr/>
            </a:pPr>
            <a:r>
              <a:rPr lang="zh-CN" altLang="zh-CN" sz="1200" dirty="0"/>
              <a:t>一般情况下，假设轮子的平面总是保持垂直，始终与地面之间只有一个单独的接触点，且在该点无滑动。在此假设条件下，分析轮子的滑动约束和滚动约束，即运动发生在适当方向上时，轮子必须滚动；在轮子的垂直平面正交方向上，必须无滑动。</a:t>
            </a:r>
          </a:p>
        </p:txBody>
      </p:sp>
      <p:sp>
        <p:nvSpPr>
          <p:cNvPr id="10" name="圆角矩形 9"/>
          <p:cNvSpPr/>
          <p:nvPr/>
        </p:nvSpPr>
        <p:spPr>
          <a:xfrm>
            <a:off x="6058159" y="2794054"/>
            <a:ext cx="2762313" cy="13849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2123728" y="4434228"/>
            <a:ext cx="4824536" cy="55399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61398" y="1685354"/>
            <a:ext cx="2510767" cy="2493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37189168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3299" y="1040474"/>
            <a:ext cx="5059141" cy="3726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3563888" y="546234"/>
            <a:ext cx="5053435" cy="369332"/>
          </a:xfrm>
          <a:prstGeom prst="rect">
            <a:avLst/>
          </a:prstGeom>
        </p:spPr>
        <p:txBody>
          <a:bodyPr wrap="none">
            <a:spAutoFit/>
          </a:bodyPr>
          <a:lstStyle/>
          <a:p>
            <a:r>
              <a:rPr lang="en-US" altLang="zh-CN" dirty="0"/>
              <a:t>Wheel Kinematic Constraints: Fixed Standard Wheel</a:t>
            </a:r>
            <a:endParaRPr lang="zh-CN" altLang="en-US" dirty="0"/>
          </a:p>
        </p:txBody>
      </p:sp>
      <p:sp>
        <p:nvSpPr>
          <p:cNvPr id="16" name="矩形 15"/>
          <p:cNvSpPr/>
          <p:nvPr/>
        </p:nvSpPr>
        <p:spPr>
          <a:xfrm>
            <a:off x="395536" y="1419622"/>
            <a:ext cx="3077763" cy="2308324"/>
          </a:xfrm>
          <a:prstGeom prst="rect">
            <a:avLst/>
          </a:prstGeom>
        </p:spPr>
        <p:txBody>
          <a:bodyPr wrap="square">
            <a:spAutoFit/>
          </a:bodyPr>
          <a:lstStyle/>
          <a:p>
            <a:r>
              <a:rPr lang="zh-CN" altLang="en-US" sz="1600" b="1" dirty="0">
                <a:solidFill>
                  <a:srgbClr val="002060"/>
                </a:solidFill>
              </a:rPr>
              <a:t>固定标准轮</a:t>
            </a:r>
          </a:p>
          <a:p>
            <a:r>
              <a:rPr lang="zh-CN" altLang="en-US" sz="1600" dirty="0"/>
              <a:t>轮子的中心点</a:t>
            </a:r>
            <a:r>
              <a:rPr lang="en-US" altLang="zh-CN" sz="1600" dirty="0"/>
              <a:t>A</a:t>
            </a:r>
            <a:r>
              <a:rPr lang="zh-CN" altLang="en-US" sz="1600" dirty="0"/>
              <a:t>在机器人局部</a:t>
            </a:r>
            <a:r>
              <a:rPr lang="zh-CN" altLang="en-US" sz="1600" dirty="0" smtClean="0"/>
              <a:t>参考坐标系</a:t>
            </a:r>
            <a:r>
              <a:rPr lang="zh-CN" altLang="en-US" sz="1600" dirty="0"/>
              <a:t>下的位置可用极坐标</a:t>
            </a:r>
            <a:r>
              <a:rPr lang="zh-CN" altLang="en-US" sz="1600" dirty="0" smtClean="0"/>
              <a:t>表示为长度</a:t>
            </a:r>
            <a:r>
              <a:rPr lang="en-US" altLang="zh-CN" sz="1600" dirty="0" smtClean="0"/>
              <a:t>PA=l </a:t>
            </a:r>
            <a:r>
              <a:rPr lang="zh-CN" altLang="en-US" sz="1600" dirty="0"/>
              <a:t>和角度</a:t>
            </a:r>
            <a:r>
              <a:rPr lang="en-US" altLang="zh-CN" sz="1600" dirty="0"/>
              <a:t>α</a:t>
            </a:r>
            <a:r>
              <a:rPr lang="zh-CN" altLang="en-US" sz="1600" dirty="0"/>
              <a:t>，轮子</a:t>
            </a:r>
            <a:r>
              <a:rPr lang="zh-CN" altLang="en-US" sz="1600" dirty="0" smtClean="0"/>
              <a:t>平面相对于</a:t>
            </a:r>
            <a:r>
              <a:rPr lang="en-US" altLang="zh-CN" sz="1600" dirty="0" smtClean="0"/>
              <a:t>PA</a:t>
            </a:r>
            <a:r>
              <a:rPr lang="zh-CN" altLang="en-US" sz="1600" dirty="0"/>
              <a:t>的方向用固定角</a:t>
            </a:r>
            <a:r>
              <a:rPr lang="en-US" altLang="zh-CN" sz="1600" dirty="0"/>
              <a:t>β</a:t>
            </a:r>
            <a:r>
              <a:rPr lang="zh-CN" altLang="en-US" sz="1600" dirty="0"/>
              <a:t>表示。</a:t>
            </a:r>
          </a:p>
          <a:p>
            <a:r>
              <a:rPr lang="zh-CN" altLang="en-US" sz="1600" dirty="0"/>
              <a:t>半径为</a:t>
            </a:r>
            <a:r>
              <a:rPr lang="en-US" altLang="zh-CN" sz="1600" dirty="0"/>
              <a:t>r</a:t>
            </a:r>
            <a:r>
              <a:rPr lang="zh-CN" altLang="en-US" sz="1600" dirty="0"/>
              <a:t>的轮子在轮子平面内可</a:t>
            </a:r>
            <a:r>
              <a:rPr lang="zh-CN" altLang="en-US" sz="1600" dirty="0" smtClean="0"/>
              <a:t>自由</a:t>
            </a:r>
            <a:r>
              <a:rPr lang="zh-CN" altLang="en-US" sz="1600" dirty="0"/>
              <a:t>转动，转动的角度用 </a:t>
            </a:r>
            <a:r>
              <a:rPr lang="en-US" altLang="zh-CN" sz="1600" dirty="0"/>
              <a:t>ϕ(t)</a:t>
            </a:r>
            <a:r>
              <a:rPr lang="zh-CN" altLang="en-US" sz="1600" dirty="0"/>
              <a:t>表示</a:t>
            </a:r>
          </a:p>
        </p:txBody>
      </p:sp>
      <p:cxnSp>
        <p:nvCxnSpPr>
          <p:cNvPr id="8" name="直接连接符 7"/>
          <p:cNvCxnSpPr/>
          <p:nvPr/>
        </p:nvCxnSpPr>
        <p:spPr>
          <a:xfrm>
            <a:off x="395536" y="915566"/>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781532" y="237631"/>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255659280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3563888" y="546234"/>
            <a:ext cx="5053435" cy="369332"/>
          </a:xfrm>
          <a:prstGeom prst="rect">
            <a:avLst/>
          </a:prstGeom>
        </p:spPr>
        <p:txBody>
          <a:bodyPr wrap="none">
            <a:spAutoFit/>
          </a:bodyPr>
          <a:lstStyle/>
          <a:p>
            <a:r>
              <a:rPr lang="en-US" altLang="zh-CN" dirty="0"/>
              <a:t>Wheel Kinematic Constraints: Fixed Standard Wheel</a:t>
            </a:r>
            <a:endParaRPr lang="zh-CN" altLang="en-US" dirty="0"/>
          </a:p>
        </p:txBody>
      </p:sp>
      <p:cxnSp>
        <p:nvCxnSpPr>
          <p:cNvPr id="8" name="直接连接符 7"/>
          <p:cNvCxnSpPr/>
          <p:nvPr/>
        </p:nvCxnSpPr>
        <p:spPr>
          <a:xfrm>
            <a:off x="395536" y="915566"/>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2772" y="939511"/>
            <a:ext cx="3819018" cy="300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372756" y="975472"/>
            <a:ext cx="4444294" cy="584775"/>
          </a:xfrm>
          <a:prstGeom prst="rect">
            <a:avLst/>
          </a:prstGeom>
        </p:spPr>
        <p:txBody>
          <a:bodyPr wrap="square">
            <a:spAutoFit/>
          </a:bodyPr>
          <a:lstStyle/>
          <a:p>
            <a:r>
              <a:rPr lang="en-US" altLang="zh-CN" sz="1600" dirty="0">
                <a:solidFill>
                  <a:srgbClr val="002060"/>
                </a:solidFill>
              </a:rPr>
              <a:t>Relation between wheel speed and robot speed:</a:t>
            </a:r>
          </a:p>
          <a:p>
            <a:r>
              <a:rPr lang="en-US" altLang="zh-CN" sz="1600" dirty="0">
                <a:solidFill>
                  <a:srgbClr val="002060"/>
                </a:solidFill>
              </a:rPr>
              <a:t>–Rolling without slipping:</a:t>
            </a:r>
            <a:endParaRPr lang="zh-CN" altLang="en-US" sz="1600" dirty="0">
              <a:solidFill>
                <a:srgbClr val="002060"/>
              </a:solidFill>
            </a:endParaRP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567137"/>
            <a:ext cx="3192571" cy="516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2103975"/>
            <a:ext cx="3267075"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756" y="2730652"/>
            <a:ext cx="3429000" cy="552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矩形 17"/>
          <p:cNvSpPr/>
          <p:nvPr/>
        </p:nvSpPr>
        <p:spPr>
          <a:xfrm>
            <a:off x="299951" y="3276353"/>
            <a:ext cx="2424766" cy="338554"/>
          </a:xfrm>
          <a:prstGeom prst="rect">
            <a:avLst/>
          </a:prstGeom>
        </p:spPr>
        <p:txBody>
          <a:bodyPr wrap="none">
            <a:spAutoFit/>
          </a:bodyPr>
          <a:lstStyle/>
          <a:p>
            <a:r>
              <a:rPr lang="en-US" altLang="zh-CN" sz="1600" dirty="0">
                <a:solidFill>
                  <a:srgbClr val="002060"/>
                </a:solidFill>
              </a:rPr>
              <a:t>Linear constraint equation:</a:t>
            </a:r>
            <a:endParaRPr lang="zh-CN" altLang="en-US" sz="1600" dirty="0">
              <a:solidFill>
                <a:srgbClr val="002060"/>
              </a:solidFill>
            </a:endParaRPr>
          </a:p>
        </p:txBody>
      </p:sp>
      <p:pic>
        <p:nvPicPr>
          <p:cNvPr id="1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756" y="3591623"/>
            <a:ext cx="3863864" cy="636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 name="矩形 1"/>
              <p:cNvSpPr/>
              <p:nvPr/>
            </p:nvSpPr>
            <p:spPr>
              <a:xfrm>
                <a:off x="372756" y="4551928"/>
                <a:ext cx="4297997" cy="2877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r>
                                      <a:rPr lang="zh-CN" altLang="en-US" sz="1200" i="1">
                                        <a:latin typeface="Cambria Math" panose="02040503050406030204" pitchFamily="18" charset="0"/>
                                      </a:rPr>
                                      <m:t>𝑙</m:t>
                                    </m:r>
                                  </m:e>
                                </m:d>
                                <m:r>
                                  <a:rPr lang="zh-CN" altLang="en-US" sz="1200" i="1">
                                    <a:latin typeface="Cambria Math" panose="02040503050406030204" pitchFamily="18" charset="0"/>
                                  </a:rPr>
                                  <m:t>𝑐𝑜𝑠</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𝑟</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0">
                          <a:latin typeface="Cambria Math" panose="02040503050406030204" pitchFamily="18" charset="0"/>
                        </a:rPr>
                        <m:t>=0</m:t>
                      </m:r>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372756" y="4551928"/>
                <a:ext cx="4297997" cy="287707"/>
              </a:xfrm>
              <a:prstGeom prst="rect">
                <a:avLst/>
              </a:prstGeom>
              <a:blipFill>
                <a:blip r:embed="rId8"/>
                <a:stretch>
                  <a:fillRect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670753" y="4526334"/>
                <a:ext cx="3140795" cy="287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1">
                                    <a:latin typeface="Cambria Math" panose="02040503050406030204" pitchFamily="18" charset="0"/>
                                  </a:rPr>
                                  <m:t>𝑙𝑠𝑖𝑛</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=0</m:t>
                      </m:r>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4670753" y="4526334"/>
                <a:ext cx="3140795" cy="287707"/>
              </a:xfrm>
              <a:prstGeom prst="rect">
                <a:avLst/>
              </a:prstGeom>
              <a:blipFill>
                <a:blip r:embed="rId9"/>
                <a:stretch>
                  <a:fillRect b="-4255"/>
                </a:stretch>
              </a:blipFill>
            </p:spPr>
            <p:txBody>
              <a:bodyPr/>
              <a:lstStyle/>
              <a:p>
                <a:r>
                  <a:rPr lang="zh-CN" altLang="en-US">
                    <a:noFill/>
                  </a:rPr>
                  <a:t> </a:t>
                </a:r>
              </a:p>
            </p:txBody>
          </p:sp>
        </mc:Fallback>
      </mc:AlternateContent>
      <p:sp>
        <p:nvSpPr>
          <p:cNvPr id="20" name="矩形 19"/>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28561962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3347864" y="618242"/>
            <a:ext cx="5395451" cy="369332"/>
          </a:xfrm>
          <a:prstGeom prst="rect">
            <a:avLst/>
          </a:prstGeom>
        </p:spPr>
        <p:txBody>
          <a:bodyPr wrap="none">
            <a:spAutoFit/>
          </a:bodyPr>
          <a:lstStyle/>
          <a:p>
            <a:r>
              <a:rPr lang="en-US" altLang="zh-CN" dirty="0"/>
              <a:t> Wheel Kinematic Constraints: Steered Standard Wheel </a:t>
            </a:r>
            <a:endParaRPr lang="zh-CN" altLang="en-US" dirty="0"/>
          </a:p>
        </p:txBody>
      </p:sp>
      <p:cxnSp>
        <p:nvCxnSpPr>
          <p:cNvPr id="8" name="直接连接符 7"/>
          <p:cNvCxnSpPr/>
          <p:nvPr/>
        </p:nvCxnSpPr>
        <p:spPr>
          <a:xfrm>
            <a:off x="395536" y="915566"/>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419622"/>
            <a:ext cx="4104456" cy="3007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 name="矩形 1"/>
              <p:cNvSpPr/>
              <p:nvPr/>
            </p:nvSpPr>
            <p:spPr>
              <a:xfrm>
                <a:off x="467544" y="2139702"/>
                <a:ext cx="3888432" cy="2877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r>
                                      <a:rPr lang="zh-CN" altLang="en-US" sz="1200" i="1">
                                        <a:latin typeface="Cambria Math" panose="02040503050406030204" pitchFamily="18" charset="0"/>
                                      </a:rPr>
                                      <m:t>𝑙</m:t>
                                    </m:r>
                                  </m:e>
                                </m:d>
                                <m:r>
                                  <a:rPr lang="zh-CN" altLang="en-US" sz="1200" i="1">
                                    <a:latin typeface="Cambria Math" panose="02040503050406030204" pitchFamily="18" charset="0"/>
                                  </a:rPr>
                                  <m:t>𝑐𝑜𝑠</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𝑟</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0">
                          <a:latin typeface="Cambria Math" panose="02040503050406030204" pitchFamily="18" charset="0"/>
                        </a:rPr>
                        <m:t>=0</m:t>
                      </m:r>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467544" y="2139702"/>
                <a:ext cx="3888432" cy="287707"/>
              </a:xfrm>
              <a:prstGeom prst="rect">
                <a:avLst/>
              </a:prstGeom>
              <a:blipFill>
                <a:blip r:embed="rId4"/>
                <a:stretch>
                  <a:fillRect b="-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67544" y="2459820"/>
                <a:ext cx="3140795" cy="287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1">
                                    <a:latin typeface="Cambria Math" panose="02040503050406030204" pitchFamily="18" charset="0"/>
                                  </a:rPr>
                                  <m:t>𝑙𝑠𝑖𝑛</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=0</m:t>
                      </m:r>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467544" y="2459820"/>
                <a:ext cx="3140795" cy="287707"/>
              </a:xfrm>
              <a:prstGeom prst="rect">
                <a:avLst/>
              </a:prstGeom>
              <a:blipFill>
                <a:blip r:embed="rId5"/>
                <a:stretch>
                  <a:fillRect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95537" y="2991059"/>
                <a:ext cx="3960440" cy="1352165"/>
              </a:xfrm>
              <a:prstGeom prst="rect">
                <a:avLst/>
              </a:prstGeom>
            </p:spPr>
            <p:txBody>
              <a:bodyPr wrap="square">
                <a:spAutoFit/>
              </a:bodyPr>
              <a:lstStyle/>
              <a:p>
                <a:r>
                  <a:rPr lang="zh-CN" altLang="zh-CN" sz="1600" dirty="0" smtClean="0">
                    <a:solidFill>
                      <a:srgbClr val="002060"/>
                    </a:solidFill>
                  </a:rPr>
                  <a:t>注意</a:t>
                </a:r>
                <a:r>
                  <a:rPr lang="zh-CN" altLang="en-US" sz="1600" dirty="0" smtClean="0">
                    <a:solidFill>
                      <a:srgbClr val="002060"/>
                    </a:solidFill>
                  </a:rPr>
                  <a:t>：</a:t>
                </a:r>
                <a:r>
                  <a:rPr lang="zh-CN" altLang="zh-CN" sz="1600" dirty="0" smtClean="0">
                    <a:solidFill>
                      <a:srgbClr val="002060"/>
                    </a:solidFill>
                  </a:rPr>
                  <a:t>这个</a:t>
                </a:r>
                <a:r>
                  <a:rPr lang="zh-CN" altLang="zh-CN" sz="1600" dirty="0">
                    <a:solidFill>
                      <a:srgbClr val="002060"/>
                    </a:solidFill>
                  </a:rPr>
                  <a:t>转向角速度</a:t>
                </a:r>
                <a14:m>
                  <m:oMath xmlns:m="http://schemas.openxmlformats.org/officeDocument/2006/math">
                    <m:acc>
                      <m:accPr>
                        <m:chr m:val="̇"/>
                        <m:ctrlPr>
                          <a:rPr lang="zh-CN" altLang="zh-CN" sz="1600" i="1">
                            <a:solidFill>
                              <a:srgbClr val="002060"/>
                            </a:solidFill>
                            <a:latin typeface="Cambria Math" panose="02040503050406030204" pitchFamily="18" charset="0"/>
                          </a:rPr>
                        </m:ctrlPr>
                      </m:accPr>
                      <m:e>
                        <m:r>
                          <a:rPr lang="en-US" altLang="zh-CN" sz="1600" i="1">
                            <a:solidFill>
                              <a:srgbClr val="002060"/>
                            </a:solidFill>
                            <a:latin typeface="Cambria Math" panose="02040503050406030204" pitchFamily="18" charset="0"/>
                          </a:rPr>
                          <m:t>𝛽</m:t>
                        </m:r>
                      </m:e>
                    </m:acc>
                  </m:oMath>
                </a14:m>
                <a:r>
                  <a:rPr lang="zh-CN" altLang="zh-CN" sz="1600" dirty="0">
                    <a:solidFill>
                      <a:srgbClr val="002060"/>
                    </a:solidFill>
                  </a:rPr>
                  <a:t>对于机器人整体的影响和轮子转速</a:t>
                </a:r>
                <a14:m>
                  <m:oMath xmlns:m="http://schemas.openxmlformats.org/officeDocument/2006/math">
                    <m:acc>
                      <m:accPr>
                        <m:chr m:val="̇"/>
                        <m:ctrlPr>
                          <a:rPr lang="zh-CN" altLang="zh-CN" sz="1600" i="1">
                            <a:solidFill>
                              <a:srgbClr val="002060"/>
                            </a:solidFill>
                            <a:latin typeface="Cambria Math" panose="02040503050406030204" pitchFamily="18" charset="0"/>
                          </a:rPr>
                        </m:ctrlPr>
                      </m:accPr>
                      <m:e>
                        <m:r>
                          <a:rPr lang="en-US" altLang="zh-CN" sz="1600" i="1">
                            <a:solidFill>
                              <a:srgbClr val="002060"/>
                            </a:solidFill>
                            <a:latin typeface="Cambria Math" panose="02040503050406030204" pitchFamily="18" charset="0"/>
                          </a:rPr>
                          <m:t>𝜑</m:t>
                        </m:r>
                      </m:e>
                    </m:acc>
                  </m:oMath>
                </a14:m>
                <a:r>
                  <a:rPr lang="zh-CN" altLang="zh-CN" sz="1600" dirty="0">
                    <a:solidFill>
                      <a:srgbClr val="002060"/>
                    </a:solidFill>
                  </a:rPr>
                  <a:t>的影响不同，</a:t>
                </a:r>
                <a14:m>
                  <m:oMath xmlns:m="http://schemas.openxmlformats.org/officeDocument/2006/math">
                    <m:acc>
                      <m:accPr>
                        <m:chr m:val="̇"/>
                        <m:ctrlPr>
                          <a:rPr lang="zh-CN" altLang="zh-CN" sz="1600" i="1">
                            <a:solidFill>
                              <a:srgbClr val="002060"/>
                            </a:solidFill>
                            <a:latin typeface="Cambria Math" panose="02040503050406030204" pitchFamily="18" charset="0"/>
                          </a:rPr>
                        </m:ctrlPr>
                      </m:accPr>
                      <m:e>
                        <m:r>
                          <a:rPr lang="en-US" altLang="zh-CN" sz="1600" i="1">
                            <a:solidFill>
                              <a:srgbClr val="002060"/>
                            </a:solidFill>
                            <a:latin typeface="Cambria Math" panose="02040503050406030204" pitchFamily="18" charset="0"/>
                          </a:rPr>
                          <m:t>𝛽</m:t>
                        </m:r>
                      </m:e>
                    </m:acc>
                  </m:oMath>
                </a14:m>
                <a:r>
                  <a:rPr lang="zh-CN" altLang="zh-CN" sz="1600" dirty="0">
                    <a:solidFill>
                      <a:srgbClr val="002060"/>
                    </a:solidFill>
                  </a:rPr>
                  <a:t>对于机器人的瞬时速度没有直接影响，只是随着时间的集成，操纵角的变化影响机器人的活动性。</a:t>
                </a:r>
              </a:p>
            </p:txBody>
          </p:sp>
        </mc:Choice>
        <mc:Fallback xmlns="">
          <p:sp>
            <p:nvSpPr>
              <p:cNvPr id="7" name="矩形 6"/>
              <p:cNvSpPr>
                <a:spLocks noRot="1" noChangeAspect="1" noMove="1" noResize="1" noEditPoints="1" noAdjustHandles="1" noChangeArrowheads="1" noChangeShapeType="1" noTextEdit="1"/>
              </p:cNvSpPr>
              <p:nvPr/>
            </p:nvSpPr>
            <p:spPr>
              <a:xfrm>
                <a:off x="395537" y="2991059"/>
                <a:ext cx="3960440" cy="1352165"/>
              </a:xfrm>
              <a:prstGeom prst="rect">
                <a:avLst/>
              </a:prstGeom>
              <a:blipFill>
                <a:blip r:embed="rId6"/>
                <a:stretch>
                  <a:fillRect l="-923" t="-905" b="-4525"/>
                </a:stretch>
              </a:blipFill>
            </p:spPr>
            <p:txBody>
              <a:bodyPr/>
              <a:lstStyle/>
              <a:p>
                <a:r>
                  <a:rPr lang="zh-CN" altLang="en-US">
                    <a:noFill/>
                  </a:rPr>
                  <a:t> </a:t>
                </a:r>
              </a:p>
            </p:txBody>
          </p:sp>
        </mc:Fallback>
      </mc:AlternateContent>
      <p:sp>
        <p:nvSpPr>
          <p:cNvPr id="9" name="矩形 8"/>
          <p:cNvSpPr/>
          <p:nvPr/>
        </p:nvSpPr>
        <p:spPr>
          <a:xfrm>
            <a:off x="1147389" y="1373156"/>
            <a:ext cx="1579278" cy="369332"/>
          </a:xfrm>
          <a:prstGeom prst="rect">
            <a:avLst/>
          </a:prstGeom>
        </p:spPr>
        <p:txBody>
          <a:bodyPr wrap="none">
            <a:spAutoFit/>
          </a:bodyPr>
          <a:lstStyle/>
          <a:p>
            <a:r>
              <a:rPr lang="zh-CN" altLang="zh-CN" b="1" kern="100" dirty="0">
                <a:cs typeface="Times New Roman" panose="02020603050405020304" pitchFamily="18" charset="0"/>
              </a:rPr>
              <a:t>可操纵标准</a:t>
            </a:r>
            <a:r>
              <a:rPr lang="zh-CN" altLang="zh-CN" b="1" kern="100" dirty="0" smtClean="0">
                <a:cs typeface="Times New Roman" panose="02020603050405020304" pitchFamily="18" charset="0"/>
              </a:rPr>
              <a:t>轮</a:t>
            </a:r>
            <a:endParaRPr lang="zh-CN" altLang="en-US" dirty="0"/>
          </a:p>
        </p:txBody>
      </p:sp>
      <p:sp>
        <p:nvSpPr>
          <p:cNvPr id="13" name="矩形 12"/>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40958831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4213950" y="618242"/>
            <a:ext cx="4318490" cy="369332"/>
          </a:xfrm>
          <a:prstGeom prst="rect">
            <a:avLst/>
          </a:prstGeom>
        </p:spPr>
        <p:txBody>
          <a:bodyPr wrap="none">
            <a:spAutoFit/>
          </a:bodyPr>
          <a:lstStyle/>
          <a:p>
            <a:r>
              <a:rPr lang="en-US" altLang="zh-CN" dirty="0"/>
              <a:t> Wheel Kinematic Constraints: Castor Wheel</a:t>
            </a:r>
            <a:endParaRPr lang="zh-CN" altLang="en-US" dirty="0"/>
          </a:p>
        </p:txBody>
      </p:sp>
      <p:cxnSp>
        <p:nvCxnSpPr>
          <p:cNvPr id="8" name="直接连接符 7"/>
          <p:cNvCxnSpPr/>
          <p:nvPr/>
        </p:nvCxnSpPr>
        <p:spPr>
          <a:xfrm>
            <a:off x="395536" y="915566"/>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9250" y="1275606"/>
            <a:ext cx="4203190" cy="3049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矩形 8"/>
              <p:cNvSpPr/>
              <p:nvPr/>
            </p:nvSpPr>
            <p:spPr>
              <a:xfrm>
                <a:off x="395536" y="1779662"/>
                <a:ext cx="3894524" cy="2877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r>
                                      <a:rPr lang="zh-CN" altLang="en-US" sz="1200" i="1">
                                        <a:latin typeface="Cambria Math" panose="02040503050406030204" pitchFamily="18" charset="0"/>
                                      </a:rPr>
                                      <m:t>𝑙</m:t>
                                    </m:r>
                                  </m:e>
                                </m:d>
                                <m:r>
                                  <a:rPr lang="zh-CN" altLang="en-US" sz="1200" i="1">
                                    <a:latin typeface="Cambria Math" panose="02040503050406030204" pitchFamily="18" charset="0"/>
                                  </a:rPr>
                                  <m:t>𝑐𝑜𝑠</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𝑟</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0">
                          <a:latin typeface="Cambria Math" panose="02040503050406030204" pitchFamily="18" charset="0"/>
                        </a:rPr>
                        <m:t>=0</m:t>
                      </m:r>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395536" y="1779662"/>
                <a:ext cx="3894524" cy="287707"/>
              </a:xfrm>
              <a:prstGeom prst="rect">
                <a:avLst/>
              </a:prstGeom>
              <a:blipFill>
                <a:blip r:embed="rId4"/>
                <a:stretch>
                  <a:fillRect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95535" y="2098541"/>
                <a:ext cx="3611929" cy="28777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r>
                                      <a:rPr lang="zh-CN" altLang="en-US" sz="1200" i="1">
                                        <a:latin typeface="Cambria Math" panose="02040503050406030204" pitchFamily="18" charset="0"/>
                                      </a:rPr>
                                      <m:t>𝑑</m:t>
                                    </m:r>
                                  </m:e>
                                </m:func>
                              </m:e>
                              <m:e>
                                <m:r>
                                  <a:rPr lang="zh-CN" altLang="en-US" sz="1200" i="1">
                                    <a:latin typeface="Cambria Math" panose="02040503050406030204" pitchFamily="18" charset="0"/>
                                  </a:rPr>
                                  <m:t>𝑙𝑠𝑖𝑛</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𝑑</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𝛽</m:t>
                          </m:r>
                        </m:e>
                      </m:acc>
                      <m:r>
                        <a:rPr lang="zh-CN" altLang="en-US" sz="1200" i="0">
                          <a:latin typeface="Cambria Math" panose="02040503050406030204" pitchFamily="18" charset="0"/>
                        </a:rPr>
                        <m:t>=0</m:t>
                      </m:r>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395535" y="2098541"/>
                <a:ext cx="3611929" cy="287771"/>
              </a:xfrm>
              <a:prstGeom prst="rect">
                <a:avLst/>
              </a:prstGeom>
              <a:blipFill>
                <a:blip r:embed="rId5"/>
                <a:stretch>
                  <a:fillRect b="-6383"/>
                </a:stretch>
              </a:blipFill>
            </p:spPr>
            <p:txBody>
              <a:bodyPr/>
              <a:lstStyle/>
              <a:p>
                <a:r>
                  <a:rPr lang="zh-CN" altLang="en-US">
                    <a:noFill/>
                  </a:rPr>
                  <a:t> </a:t>
                </a:r>
              </a:p>
            </p:txBody>
          </p:sp>
        </mc:Fallback>
      </mc:AlternateContent>
      <p:sp>
        <p:nvSpPr>
          <p:cNvPr id="13" name="矩形 12"/>
          <p:cNvSpPr/>
          <p:nvPr/>
        </p:nvSpPr>
        <p:spPr>
          <a:xfrm>
            <a:off x="395535" y="2733883"/>
            <a:ext cx="3818415" cy="830997"/>
          </a:xfrm>
          <a:prstGeom prst="rect">
            <a:avLst/>
          </a:prstGeom>
        </p:spPr>
        <p:txBody>
          <a:bodyPr wrap="square">
            <a:spAutoFit/>
          </a:bodyPr>
          <a:lstStyle/>
          <a:p>
            <a:r>
              <a:rPr lang="zh-CN" altLang="en-US" sz="1600" dirty="0">
                <a:solidFill>
                  <a:srgbClr val="002060"/>
                </a:solidFill>
              </a:rPr>
              <a:t>小脚轮的运动约束相对来说比较复杂，但实际并没有给底盘附加约束，它可以全向运动。</a:t>
            </a:r>
          </a:p>
        </p:txBody>
      </p:sp>
      <p:sp>
        <p:nvSpPr>
          <p:cNvPr id="2" name="矩形 1"/>
          <p:cNvSpPr/>
          <p:nvPr/>
        </p:nvSpPr>
        <p:spPr>
          <a:xfrm>
            <a:off x="1760512" y="1212749"/>
            <a:ext cx="881973" cy="369332"/>
          </a:xfrm>
          <a:prstGeom prst="rect">
            <a:avLst/>
          </a:prstGeom>
        </p:spPr>
        <p:txBody>
          <a:bodyPr wrap="none">
            <a:spAutoFit/>
          </a:bodyPr>
          <a:lstStyle/>
          <a:p>
            <a:r>
              <a:rPr lang="zh-CN" altLang="zh-CN" b="1" kern="100" dirty="0">
                <a:cs typeface="Times New Roman" panose="02020603050405020304" pitchFamily="18" charset="0"/>
              </a:rPr>
              <a:t>小脚轮</a:t>
            </a:r>
            <a:endParaRPr lang="zh-CN" altLang="en-US" dirty="0"/>
          </a:p>
        </p:txBody>
      </p:sp>
      <p:sp>
        <p:nvSpPr>
          <p:cNvPr id="14" name="矩形 13"/>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10112996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3563888" y="618242"/>
            <a:ext cx="4436343" cy="369332"/>
          </a:xfrm>
          <a:prstGeom prst="rect">
            <a:avLst/>
          </a:prstGeom>
        </p:spPr>
        <p:txBody>
          <a:bodyPr wrap="none">
            <a:spAutoFit/>
          </a:bodyPr>
          <a:lstStyle/>
          <a:p>
            <a:r>
              <a:rPr lang="en-US" altLang="zh-CN" dirty="0"/>
              <a:t>Wheel Kinematic Constraints: Swedish Wheel</a:t>
            </a:r>
            <a:endParaRPr lang="zh-CN" altLang="en-US" dirty="0"/>
          </a:p>
        </p:txBody>
      </p:sp>
      <p:cxnSp>
        <p:nvCxnSpPr>
          <p:cNvPr id="8" name="直接连接符 7"/>
          <p:cNvCxnSpPr/>
          <p:nvPr/>
        </p:nvCxnSpPr>
        <p:spPr>
          <a:xfrm>
            <a:off x="395536" y="915566"/>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4734246" y="3473647"/>
            <a:ext cx="1676545" cy="1670449"/>
          </a:xfrm>
          <a:prstGeom prst="rect">
            <a:avLst/>
          </a:prstGeom>
        </p:spPr>
      </p:pic>
      <p:pic>
        <p:nvPicPr>
          <p:cNvPr id="1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304" y="3723083"/>
            <a:ext cx="895350"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7472" y="987776"/>
            <a:ext cx="3574968" cy="2560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矩形 16"/>
          <p:cNvSpPr/>
          <p:nvPr/>
        </p:nvSpPr>
        <p:spPr>
          <a:xfrm>
            <a:off x="6744956" y="4774764"/>
            <a:ext cx="1839512" cy="369332"/>
          </a:xfrm>
          <a:prstGeom prst="rect">
            <a:avLst/>
          </a:prstGeom>
        </p:spPr>
        <p:txBody>
          <a:bodyPr wrap="square">
            <a:spAutoFit/>
          </a:bodyPr>
          <a:lstStyle/>
          <a:p>
            <a:r>
              <a:rPr lang="en-US" altLang="zh-CN" sz="1800" dirty="0" err="1" smtClean="0">
                <a:solidFill>
                  <a:srgbClr val="00B0F0"/>
                </a:solidFill>
              </a:rPr>
              <a:t>Mecanum</a:t>
            </a:r>
            <a:r>
              <a:rPr lang="en-US" altLang="zh-CN" sz="1800" dirty="0" smtClean="0">
                <a:solidFill>
                  <a:srgbClr val="00B0F0"/>
                </a:solidFill>
              </a:rPr>
              <a:t> Wheel</a:t>
            </a:r>
            <a:endParaRPr lang="zh-CN" altLang="en-US" sz="1800" dirty="0">
              <a:solidFill>
                <a:srgbClr val="00B0F0"/>
              </a:solidFill>
            </a:endParaRPr>
          </a:p>
        </p:txBody>
      </p:sp>
      <mc:AlternateContent xmlns:mc="http://schemas.openxmlformats.org/markup-compatibility/2006" xmlns:a14="http://schemas.microsoft.com/office/drawing/2010/main">
        <mc:Choice Requires="a14">
          <p:sp>
            <p:nvSpPr>
              <p:cNvPr id="7" name="矩形 6"/>
              <p:cNvSpPr/>
              <p:nvPr/>
            </p:nvSpPr>
            <p:spPr>
              <a:xfrm>
                <a:off x="395536" y="1722233"/>
                <a:ext cx="4450323" cy="4723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𝛾</m:t>
                                        </m:r>
                                      </m:e>
                                    </m:d>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𝛾</m:t>
                                        </m:r>
                                      </m:e>
                                    </m:d>
                                  </m:e>
                                </m:func>
                              </m:e>
                              <m:e>
                                <m:d>
                                  <m:dPr>
                                    <m:begChr m:val=""/>
                                    <m:ctrlPr>
                                      <a:rPr lang="zh-CN" altLang="en-US" sz="1200" i="1">
                                        <a:latin typeface="Cambria Math" panose="02040503050406030204" pitchFamily="18" charset="0"/>
                                      </a:rPr>
                                    </m:ctrlPr>
                                  </m:dPr>
                                  <m:e>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r>
                                          <a:rPr lang="zh-CN" altLang="en-US" sz="1200" i="1">
                                            <a:latin typeface="Cambria Math" panose="02040503050406030204" pitchFamily="18" charset="0"/>
                                          </a:rPr>
                                          <m:t>𝑙</m:t>
                                        </m:r>
                                      </m:e>
                                    </m:d>
                                    <m:r>
                                      <m:rPr>
                                        <m:sty m:val="p"/>
                                      </m:rPr>
                                      <a:rPr lang="zh-CN" altLang="en-US" sz="1200" i="0">
                                        <a:latin typeface="Cambria Math" panose="02040503050406030204" pitchFamily="18" charset="0"/>
                                      </a:rPr>
                                      <m:t>co</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m:t>
                                        </m:r>
                                      </m:fName>
                                      <m:e>
                                        <m:r>
                                          <a:rPr lang="zh-CN" altLang="en-US" sz="1200" i="0">
                                            <a:latin typeface="Cambria Math" panose="02040503050406030204" pitchFamily="18" charset="0"/>
                                          </a:rPr>
                                          <m:t>(</m:t>
                                        </m:r>
                                      </m:e>
                                    </m:func>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𝛾</m:t>
                                    </m:r>
                                  </m:e>
                                </m:d>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𝑟</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1">
                          <a:latin typeface="Cambria Math" panose="02040503050406030204" pitchFamily="18" charset="0"/>
                        </a:rPr>
                        <m:t>𝑐𝑜𝑠</m:t>
                      </m:r>
                      <m:r>
                        <a:rPr lang="zh-CN" altLang="en-US" sz="1200" i="1">
                          <a:latin typeface="Cambria Math" panose="02040503050406030204" pitchFamily="18" charset="0"/>
                        </a:rPr>
                        <m:t>𝛾</m:t>
                      </m:r>
                      <m:r>
                        <a:rPr lang="zh-CN" altLang="en-US" sz="1200" i="0">
                          <a:latin typeface="Cambria Math" panose="02040503050406030204" pitchFamily="18" charset="0"/>
                        </a:rPr>
                        <m:t>=0</m:t>
                      </m:r>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395536" y="1722233"/>
                <a:ext cx="4450323" cy="472373"/>
              </a:xfrm>
              <a:prstGeom prst="rect">
                <a:avLst/>
              </a:prstGeom>
              <a:blipFill>
                <a:blip r:embed="rId6"/>
                <a:stretch>
                  <a:fillRect t="-61039" b="-584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95536" y="2284158"/>
                <a:ext cx="4032448" cy="47237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d>
                            <m:dPr>
                              <m:beg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𝛾</m:t>
                                            </m:r>
                                          </m:e>
                                        </m:d>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𝛾</m:t>
                                            </m:r>
                                          </m:e>
                                        </m:d>
                                      </m:e>
                                    </m:func>
                                  </m:e>
                                  <m:e>
                                    <m:r>
                                      <a:rPr lang="zh-CN" altLang="en-US" sz="1200" i="1">
                                        <a:latin typeface="Cambria Math" panose="02040503050406030204" pitchFamily="18" charset="0"/>
                                      </a:rPr>
                                      <m:t>𝑙𝑠𝑖𝑛</m:t>
                                    </m:r>
                                    <m:r>
                                      <a:rPr lang="zh-CN" altLang="en-US" sz="1200" i="0">
                                        <a:latin typeface="Cambria Math" panose="02040503050406030204" pitchFamily="18" charset="0"/>
                                      </a:rPr>
                                      <m:t>(</m:t>
                                    </m:r>
                                    <m:r>
                                      <a:rPr lang="zh-CN" altLang="en-US" sz="1200" i="1">
                                        <a:latin typeface="Cambria Math" panose="02040503050406030204" pitchFamily="18" charset="0"/>
                                      </a:rPr>
                                      <m:t>𝛽</m:t>
                                    </m:r>
                                  </m:e>
                                </m:mr>
                              </m:m>
                              <m:r>
                                <a:rPr lang="zh-CN" altLang="en-US" sz="1200" i="0">
                                  <a:latin typeface="Cambria Math" panose="02040503050406030204" pitchFamily="18" charset="0"/>
                                </a:rPr>
                                <m:t>+</m:t>
                              </m:r>
                              <m:r>
                                <a:rPr lang="zh-CN" altLang="en-US" sz="1200" i="1">
                                  <a:latin typeface="Cambria Math" panose="02040503050406030204" pitchFamily="18" charset="0"/>
                                </a:rPr>
                                <m:t>𝛾</m:t>
                              </m:r>
                            </m:e>
                          </m:d>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𝑟</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1">
                          <a:latin typeface="Cambria Math" panose="02040503050406030204" pitchFamily="18" charset="0"/>
                        </a:rPr>
                        <m:t>𝑠𝑖𝑛</m:t>
                      </m:r>
                      <m:r>
                        <a:rPr lang="zh-CN" altLang="en-US" sz="1200" i="1">
                          <a:latin typeface="Cambria Math" panose="02040503050406030204" pitchFamily="18" charset="0"/>
                        </a:rPr>
                        <m:t>𝛾</m:t>
                      </m:r>
                      <m:r>
                        <a:rPr lang="zh-CN" altLang="en-US" sz="1200" i="0">
                          <a:latin typeface="Cambria Math" panose="02040503050406030204" pitchFamily="18" charset="0"/>
                        </a:rPr>
                        <m:t>−</m:t>
                      </m:r>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1">
                              <a:latin typeface="Cambria Math" panose="02040503050406030204" pitchFamily="18" charset="0"/>
                            </a:rPr>
                            <m:t>𝑠𝑤</m:t>
                          </m:r>
                        </m:sub>
                      </m:sSub>
                      <m:r>
                        <a:rPr lang="zh-CN" altLang="en-US" sz="1200" i="0">
                          <a:latin typeface="Cambria Math" panose="02040503050406030204" pitchFamily="18" charset="0"/>
                        </a:rPr>
                        <m:t>=0</m:t>
                      </m:r>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395536" y="2284158"/>
                <a:ext cx="4032448" cy="472373"/>
              </a:xfrm>
              <a:prstGeom prst="rect">
                <a:avLst/>
              </a:prstGeom>
              <a:blipFill>
                <a:blip r:embed="rId7"/>
                <a:stretch>
                  <a:fillRect t="-59740" b="-59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611555" y="3492718"/>
                <a:ext cx="1217706" cy="338554"/>
              </a:xfrm>
              <a:prstGeom prst="rect">
                <a:avLst/>
              </a:prstGeom>
            </p:spPr>
            <p:txBody>
              <a:bodyPr wrap="none">
                <a:spAutoFit/>
              </a:bodyPr>
              <a:lstStyle/>
              <a:p>
                <a14:m>
                  <m:oMath xmlns:m="http://schemas.openxmlformats.org/officeDocument/2006/math">
                    <m:r>
                      <a:rPr lang="en-US" altLang="zh-CN" sz="1600" i="1" smtClean="0">
                        <a:solidFill>
                          <a:srgbClr val="002060"/>
                        </a:solidFill>
                        <a:latin typeface="Cambria Math" panose="02040503050406030204" pitchFamily="18" charset="0"/>
                      </a:rPr>
                      <m:t>𝛾</m:t>
                    </m:r>
                  </m:oMath>
                </a14:m>
                <a:r>
                  <a:rPr lang="zh-CN" altLang="zh-CN" sz="1600" dirty="0">
                    <a:solidFill>
                      <a:srgbClr val="002060"/>
                    </a:solidFill>
                  </a:rPr>
                  <a:t>一般为</a:t>
                </a:r>
                <a14:m>
                  <m:oMath xmlns:m="http://schemas.openxmlformats.org/officeDocument/2006/math">
                    <m:r>
                      <a:rPr lang="en-US" altLang="zh-CN" sz="1600" i="1">
                        <a:solidFill>
                          <a:srgbClr val="002060"/>
                        </a:solidFill>
                        <a:latin typeface="Cambria Math" panose="02040503050406030204" pitchFamily="18" charset="0"/>
                      </a:rPr>
                      <m:t>45°</m:t>
                    </m:r>
                  </m:oMath>
                </a14:m>
                <a:endParaRPr lang="zh-CN" altLang="en-US" sz="1600"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1611555" y="3492718"/>
                <a:ext cx="1217706" cy="338554"/>
              </a:xfrm>
              <a:prstGeom prst="rect">
                <a:avLst/>
              </a:prstGeom>
              <a:blipFill>
                <a:blip r:embed="rId8"/>
                <a:stretch>
                  <a:fillRect t="-9091"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616542" y="3831272"/>
                <a:ext cx="725775"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rgbClr val="002060"/>
                          </a:solidFill>
                          <a:latin typeface="Cambria Math" panose="02040503050406030204" pitchFamily="18" charset="0"/>
                        </a:rPr>
                        <m:t>𝛾</m:t>
                      </m:r>
                      <m:r>
                        <a:rPr lang="en-US" altLang="zh-CN" sz="1600">
                          <a:solidFill>
                            <a:srgbClr val="002060"/>
                          </a:solidFill>
                          <a:latin typeface="Cambria Math" panose="02040503050406030204" pitchFamily="18" charset="0"/>
                        </a:rPr>
                        <m:t>=0</m:t>
                      </m:r>
                    </m:oMath>
                  </m:oMathPara>
                </a14:m>
                <a:endParaRPr lang="zh-CN" altLang="en-US" sz="1600" dirty="0">
                  <a:solidFill>
                    <a:srgbClr val="00206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1616542" y="3831272"/>
                <a:ext cx="725775" cy="33855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570474" y="4198127"/>
                <a:ext cx="95301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rgbClr val="002060"/>
                          </a:solidFill>
                          <a:latin typeface="Cambria Math" panose="02040503050406030204" pitchFamily="18" charset="0"/>
                        </a:rPr>
                        <m:t>𝛾</m:t>
                      </m:r>
                      <m:r>
                        <a:rPr lang="en-US" altLang="zh-CN" sz="1600" i="1" smtClean="0">
                          <a:solidFill>
                            <a:srgbClr val="002060"/>
                          </a:solidFill>
                          <a:latin typeface="Cambria Math" panose="02040503050406030204" pitchFamily="18" charset="0"/>
                        </a:rPr>
                        <m:t>=</m:t>
                      </m:r>
                      <m:r>
                        <a:rPr lang="en-US" altLang="zh-CN" sz="1600" i="1" smtClean="0">
                          <a:solidFill>
                            <a:srgbClr val="002060"/>
                          </a:solidFill>
                          <a:latin typeface="Cambria Math" panose="02040503050406030204" pitchFamily="18" charset="0"/>
                        </a:rPr>
                        <m:t>𝜋</m:t>
                      </m:r>
                      <m:r>
                        <a:rPr lang="en-US" altLang="zh-CN" sz="1600" i="1" smtClean="0">
                          <a:solidFill>
                            <a:srgbClr val="002060"/>
                          </a:solidFill>
                          <a:latin typeface="Cambria Math" panose="02040503050406030204" pitchFamily="18" charset="0"/>
                        </a:rPr>
                        <m:t>/2</m:t>
                      </m:r>
                    </m:oMath>
                  </m:oMathPara>
                </a14:m>
                <a:endParaRPr lang="zh-CN" altLang="en-US" sz="1600" dirty="0">
                  <a:solidFill>
                    <a:srgbClr val="002060"/>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1570474" y="4198127"/>
                <a:ext cx="953018" cy="338554"/>
              </a:xfrm>
              <a:prstGeom prst="rect">
                <a:avLst/>
              </a:prstGeom>
              <a:blipFill>
                <a:blip r:embed="rId10"/>
                <a:stretch>
                  <a:fillRect b="-10909"/>
                </a:stretch>
              </a:blipFill>
            </p:spPr>
            <p:txBody>
              <a:bodyPr/>
              <a:lstStyle/>
              <a:p>
                <a:r>
                  <a:rPr lang="zh-CN" altLang="en-US">
                    <a:noFill/>
                  </a:rPr>
                  <a:t> </a:t>
                </a:r>
              </a:p>
            </p:txBody>
          </p:sp>
        </mc:Fallback>
      </mc:AlternateContent>
      <p:sp>
        <p:nvSpPr>
          <p:cNvPr id="19" name="动作按钮: 帮助 18">
            <a:hlinkClick r:id="" action="ppaction://noaction" highlightClick="1"/>
          </p:cNvPr>
          <p:cNvSpPr/>
          <p:nvPr/>
        </p:nvSpPr>
        <p:spPr>
          <a:xfrm>
            <a:off x="2523492" y="3971745"/>
            <a:ext cx="504056" cy="452763"/>
          </a:xfrm>
          <a:prstGeom prst="actionButtonHel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925950" y="1199504"/>
            <a:ext cx="1346844" cy="369332"/>
          </a:xfrm>
          <a:prstGeom prst="rect">
            <a:avLst/>
          </a:prstGeom>
        </p:spPr>
        <p:txBody>
          <a:bodyPr wrap="none">
            <a:spAutoFit/>
          </a:bodyPr>
          <a:lstStyle/>
          <a:p>
            <a:r>
              <a:rPr lang="zh-CN" altLang="zh-CN" b="1" kern="100" dirty="0">
                <a:cs typeface="Times New Roman" panose="02020603050405020304" pitchFamily="18" charset="0"/>
              </a:rPr>
              <a:t>麦克纳姆轮</a:t>
            </a:r>
            <a:endParaRPr lang="zh-CN" altLang="en-US" dirty="0"/>
          </a:p>
        </p:txBody>
      </p:sp>
      <p:sp>
        <p:nvSpPr>
          <p:cNvPr id="20" name="矩形 19"/>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11004575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3901685" y="618242"/>
            <a:ext cx="4630755" cy="369332"/>
          </a:xfrm>
          <a:prstGeom prst="rect">
            <a:avLst/>
          </a:prstGeom>
        </p:spPr>
        <p:txBody>
          <a:bodyPr wrap="none">
            <a:spAutoFit/>
          </a:bodyPr>
          <a:lstStyle/>
          <a:p>
            <a:r>
              <a:rPr lang="en-US" altLang="zh-CN" dirty="0"/>
              <a:t> Wheel Kinematic Constraints: Spherical  Wheel</a:t>
            </a:r>
            <a:endParaRPr lang="zh-CN" altLang="en-US" dirty="0"/>
          </a:p>
        </p:txBody>
      </p:sp>
      <p:cxnSp>
        <p:nvCxnSpPr>
          <p:cNvPr id="8" name="直接连接符 7"/>
          <p:cNvCxnSpPr/>
          <p:nvPr/>
        </p:nvCxnSpPr>
        <p:spPr>
          <a:xfrm>
            <a:off x="395536" y="915566"/>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758" y="1079211"/>
            <a:ext cx="4026682" cy="2955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934" y="1550051"/>
            <a:ext cx="2429496" cy="1604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矩形 8"/>
              <p:cNvSpPr/>
              <p:nvPr/>
            </p:nvSpPr>
            <p:spPr>
              <a:xfrm>
                <a:off x="395536" y="3547426"/>
                <a:ext cx="4025721" cy="2877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r>
                                      <a:rPr lang="zh-CN" altLang="en-US" sz="1200" i="1">
                                        <a:latin typeface="Cambria Math" panose="02040503050406030204" pitchFamily="18" charset="0"/>
                                      </a:rPr>
                                      <m:t>𝑙</m:t>
                                    </m:r>
                                  </m:e>
                                </m:d>
                                <m:r>
                                  <a:rPr lang="zh-CN" altLang="en-US" sz="1200" i="1">
                                    <a:latin typeface="Cambria Math" panose="02040503050406030204" pitchFamily="18" charset="0"/>
                                  </a:rPr>
                                  <m:t>𝑐𝑜𝑠</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r>
                        <a:rPr lang="zh-CN" altLang="en-US" sz="1200" i="1">
                          <a:latin typeface="Cambria Math" panose="02040503050406030204" pitchFamily="18" charset="0"/>
                        </a:rPr>
                        <m:t>𝑟</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0">
                          <a:latin typeface="Cambria Math" panose="02040503050406030204" pitchFamily="18" charset="0"/>
                        </a:rPr>
                        <m:t>=0</m:t>
                      </m:r>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395536" y="3547426"/>
                <a:ext cx="4025721" cy="287707"/>
              </a:xfrm>
              <a:prstGeom prst="rect">
                <a:avLst/>
              </a:prstGeom>
              <a:blipFill>
                <a:blip r:embed="rId5"/>
                <a:stretch>
                  <a:fillRect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67544" y="3940227"/>
                <a:ext cx="3140795" cy="287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a:latin typeface="Cambria Math" panose="02040503050406030204" pitchFamily="18" charset="0"/>
                                      </a:rPr>
                                      <m:t>cos</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r>
                                          <a:rPr lang="zh-CN" altLang="en-US" sz="1200" i="1">
                                            <a:latin typeface="Cambria Math" panose="02040503050406030204" pitchFamily="18" charset="0"/>
                                          </a:rPr>
                                          <m:t>𝛼</m:t>
                                        </m:r>
                                        <m:r>
                                          <a:rPr lang="zh-CN" altLang="en-US" sz="1200" i="0">
                                            <a:latin typeface="Cambria Math" panose="02040503050406030204" pitchFamily="18" charset="0"/>
                                          </a:rPr>
                                          <m:t>+</m:t>
                                        </m:r>
                                        <m:r>
                                          <a:rPr lang="zh-CN" altLang="en-US" sz="1200" i="1">
                                            <a:latin typeface="Cambria Math" panose="02040503050406030204" pitchFamily="18" charset="0"/>
                                          </a:rPr>
                                          <m:t>𝛽</m:t>
                                        </m:r>
                                      </m:e>
                                    </m:d>
                                  </m:e>
                                </m:func>
                              </m:e>
                              <m:e>
                                <m:r>
                                  <a:rPr lang="zh-CN" altLang="en-US" sz="1200" i="1">
                                    <a:latin typeface="Cambria Math" panose="02040503050406030204" pitchFamily="18" charset="0"/>
                                  </a:rPr>
                                  <m:t>𝑙𝑠𝑖𝑛</m:t>
                                </m:r>
                                <m:r>
                                  <a:rPr lang="zh-CN" altLang="en-US" sz="1200" i="1">
                                    <a:latin typeface="Cambria Math" panose="02040503050406030204" pitchFamily="18" charset="0"/>
                                  </a:rPr>
                                  <m:t>𝛽</m:t>
                                </m:r>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=0</m:t>
                      </m:r>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467544" y="3940227"/>
                <a:ext cx="3140795" cy="287707"/>
              </a:xfrm>
              <a:prstGeom prst="rect">
                <a:avLst/>
              </a:prstGeom>
              <a:blipFill>
                <a:blip r:embed="rId6"/>
                <a:stretch>
                  <a:fillRect b="-4167"/>
                </a:stretch>
              </a:blipFill>
            </p:spPr>
            <p:txBody>
              <a:bodyPr/>
              <a:lstStyle/>
              <a:p>
                <a:r>
                  <a:rPr lang="zh-CN" altLang="en-US">
                    <a:noFill/>
                  </a:rPr>
                  <a:t> </a:t>
                </a:r>
              </a:p>
            </p:txBody>
          </p:sp>
        </mc:Fallback>
      </mc:AlternateContent>
      <p:sp>
        <p:nvSpPr>
          <p:cNvPr id="14" name="矩形 13"/>
          <p:cNvSpPr/>
          <p:nvPr/>
        </p:nvSpPr>
        <p:spPr>
          <a:xfrm>
            <a:off x="827584" y="4427445"/>
            <a:ext cx="7920880" cy="307777"/>
          </a:xfrm>
          <a:prstGeom prst="rect">
            <a:avLst/>
          </a:prstGeom>
        </p:spPr>
        <p:txBody>
          <a:bodyPr wrap="square">
            <a:spAutoFit/>
          </a:bodyPr>
          <a:lstStyle/>
          <a:p>
            <a:r>
              <a:rPr lang="zh-CN" altLang="en-US" sz="1400" dirty="0">
                <a:solidFill>
                  <a:srgbClr val="002060"/>
                </a:solidFill>
              </a:rPr>
              <a:t>注意：球形轮的转动，其旋转轴可以具有任意方向，所以这个𝛽就会是个自由变量，难以控制。</a:t>
            </a:r>
          </a:p>
        </p:txBody>
      </p:sp>
      <p:sp>
        <p:nvSpPr>
          <p:cNvPr id="2" name="矩形 1"/>
          <p:cNvSpPr/>
          <p:nvPr/>
        </p:nvSpPr>
        <p:spPr>
          <a:xfrm>
            <a:off x="1997739" y="1045437"/>
            <a:ext cx="881973" cy="369332"/>
          </a:xfrm>
          <a:prstGeom prst="rect">
            <a:avLst/>
          </a:prstGeom>
        </p:spPr>
        <p:txBody>
          <a:bodyPr wrap="none">
            <a:spAutoFit/>
          </a:bodyPr>
          <a:lstStyle/>
          <a:p>
            <a:r>
              <a:rPr lang="zh-CN" altLang="zh-CN" b="1" kern="100" dirty="0">
                <a:cs typeface="Times New Roman" panose="02020603050405020304" pitchFamily="18" charset="0"/>
              </a:rPr>
              <a:t>球形轮</a:t>
            </a:r>
            <a:endParaRPr lang="zh-CN" altLang="en-US" dirty="0"/>
          </a:p>
        </p:txBody>
      </p:sp>
      <p:sp>
        <p:nvSpPr>
          <p:cNvPr id="16" name="矩形 15"/>
          <p:cNvSpPr/>
          <p:nvPr/>
        </p:nvSpPr>
        <p:spPr>
          <a:xfrm>
            <a:off x="2985735" y="303036"/>
            <a:ext cx="2448106" cy="400110"/>
          </a:xfrm>
          <a:prstGeom prst="rect">
            <a:avLst/>
          </a:prstGeom>
        </p:spPr>
        <p:txBody>
          <a:bodyPr wrap="none">
            <a:spAutoFit/>
          </a:bodyPr>
          <a:lstStyle/>
          <a:p>
            <a:r>
              <a:rPr lang="en-US" altLang="zh-CN" sz="2000" b="1" dirty="0" smtClean="0">
                <a:solidFill>
                  <a:srgbClr val="002060"/>
                </a:solidFill>
              </a:rPr>
              <a:t>3.12.2 </a:t>
            </a:r>
            <a:r>
              <a:rPr lang="zh-CN" altLang="en-US" sz="2000" b="1" dirty="0" smtClean="0">
                <a:solidFill>
                  <a:srgbClr val="002060"/>
                </a:solidFill>
              </a:rPr>
              <a:t>轮子运动约束</a:t>
            </a:r>
            <a:endParaRPr lang="zh-CN" altLang="en-US" sz="2000" b="1" dirty="0">
              <a:solidFill>
                <a:srgbClr val="002060"/>
              </a:solidFill>
            </a:endParaRPr>
          </a:p>
        </p:txBody>
      </p:sp>
    </p:spTree>
    <p:extLst>
      <p:ext uri="{BB962C8B-B14F-4D97-AF65-F5344CB8AC3E}">
        <p14:creationId xmlns:p14="http://schemas.microsoft.com/office/powerpoint/2010/main" val="3239425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395536"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430299" y="724152"/>
            <a:ext cx="4754571" cy="369332"/>
          </a:xfrm>
          <a:prstGeom prst="rect">
            <a:avLst/>
          </a:prstGeom>
        </p:spPr>
        <p:txBody>
          <a:bodyPr wrap="none">
            <a:spAutoFit/>
          </a:bodyPr>
          <a:lstStyle/>
          <a:p>
            <a:r>
              <a:rPr lang="en-US" altLang="zh-CN" dirty="0">
                <a:solidFill>
                  <a:srgbClr val="002060"/>
                </a:solidFill>
              </a:rPr>
              <a:t>Kinematic Constraints of </a:t>
            </a:r>
            <a:r>
              <a:rPr lang="en-US" altLang="zh-CN" dirty="0" smtClean="0">
                <a:solidFill>
                  <a:srgbClr val="002060"/>
                </a:solidFill>
              </a:rPr>
              <a:t>Wheeled Mobile </a:t>
            </a:r>
            <a:r>
              <a:rPr lang="en-US" altLang="zh-CN" dirty="0">
                <a:solidFill>
                  <a:srgbClr val="002060"/>
                </a:solidFill>
              </a:rPr>
              <a:t>Robot </a:t>
            </a:r>
            <a:endParaRPr lang="zh-CN" altLang="en-US" sz="1800" dirty="0">
              <a:solidFill>
                <a:srgbClr val="002060"/>
              </a:solidFill>
            </a:endParaRPr>
          </a:p>
        </p:txBody>
      </p:sp>
      <p:sp>
        <p:nvSpPr>
          <p:cNvPr id="17" name="矩形 16"/>
          <p:cNvSpPr/>
          <p:nvPr/>
        </p:nvSpPr>
        <p:spPr>
          <a:xfrm>
            <a:off x="395536" y="1309688"/>
            <a:ext cx="8136903" cy="1815882"/>
          </a:xfrm>
          <a:prstGeom prst="rect">
            <a:avLst/>
          </a:prstGeom>
        </p:spPr>
        <p:txBody>
          <a:bodyPr wrap="square">
            <a:spAutoFit/>
          </a:bodyPr>
          <a:lstStyle/>
          <a:p>
            <a:pPr marL="285750" indent="-285750">
              <a:buFont typeface="Wingdings" panose="05000000000000000000" pitchFamily="2" charset="2"/>
              <a:buChar char="Ø"/>
            </a:pPr>
            <a:r>
              <a:rPr lang="en-US" altLang="zh-CN" sz="1600" dirty="0" smtClean="0"/>
              <a:t>Given </a:t>
            </a:r>
            <a:r>
              <a:rPr lang="en-US" altLang="zh-CN" sz="1600" dirty="0"/>
              <a:t>a robot with M wheels</a:t>
            </a:r>
          </a:p>
          <a:p>
            <a:pPr marL="742950" lvl="1" indent="-285750">
              <a:buFont typeface="Wingdings" panose="05000000000000000000" pitchFamily="2" charset="2"/>
              <a:buChar char="p"/>
            </a:pPr>
            <a:r>
              <a:rPr lang="en-US" altLang="zh-CN" sz="1600" dirty="0" smtClean="0"/>
              <a:t>each </a:t>
            </a:r>
            <a:r>
              <a:rPr lang="en-US" altLang="zh-CN" sz="1600" dirty="0"/>
              <a:t>wheel imposes zero or more constraints on the robot motion</a:t>
            </a:r>
          </a:p>
          <a:p>
            <a:pPr marL="742950" lvl="1" indent="-285750">
              <a:buFont typeface="Wingdings" panose="05000000000000000000" pitchFamily="2" charset="2"/>
              <a:buChar char="p"/>
            </a:pPr>
            <a:r>
              <a:rPr lang="en-US" altLang="zh-CN" sz="1600" dirty="0" smtClean="0"/>
              <a:t>only </a:t>
            </a:r>
            <a:r>
              <a:rPr lang="en-US" altLang="zh-CN" sz="1600" dirty="0"/>
              <a:t>fixed and steerable standard wheels impose constraints</a:t>
            </a:r>
          </a:p>
          <a:p>
            <a:pPr marL="285750" indent="-285750">
              <a:buFont typeface="Wingdings" panose="05000000000000000000" pitchFamily="2" charset="2"/>
              <a:buChar char="Ø"/>
            </a:pPr>
            <a:r>
              <a:rPr lang="en-US" altLang="zh-CN" sz="1600" dirty="0" smtClean="0"/>
              <a:t>What </a:t>
            </a:r>
            <a:r>
              <a:rPr lang="en-US" altLang="zh-CN" sz="1600" dirty="0"/>
              <a:t>is the maneuverability of a robot considering a combination of different wheels?</a:t>
            </a:r>
          </a:p>
          <a:p>
            <a:pPr marL="285750" indent="-285750">
              <a:buFont typeface="Wingdings" panose="05000000000000000000" pitchFamily="2" charset="2"/>
              <a:buChar char="Ø"/>
            </a:pPr>
            <a:r>
              <a:rPr lang="en-US" altLang="zh-CN" sz="1600" dirty="0" smtClean="0"/>
              <a:t>Suppose </a:t>
            </a:r>
            <a:r>
              <a:rPr lang="en-US" altLang="zh-CN" sz="1600" dirty="0"/>
              <a:t>we have a total of </a:t>
            </a:r>
            <a:r>
              <a:rPr lang="en-US" altLang="zh-CN" sz="1600" b="1" i="1" dirty="0">
                <a:solidFill>
                  <a:srgbClr val="002060"/>
                </a:solidFill>
              </a:rPr>
              <a:t>N=N</a:t>
            </a:r>
            <a:r>
              <a:rPr lang="en-US" altLang="zh-CN" sz="1600" b="1" i="1" baseline="-25000" dirty="0">
                <a:solidFill>
                  <a:srgbClr val="002060"/>
                </a:solidFill>
              </a:rPr>
              <a:t>f </a:t>
            </a:r>
            <a:r>
              <a:rPr lang="en-US" altLang="zh-CN" sz="1600" b="1" i="1" dirty="0">
                <a:solidFill>
                  <a:srgbClr val="002060"/>
                </a:solidFill>
              </a:rPr>
              <a:t>+ N</a:t>
            </a:r>
            <a:r>
              <a:rPr lang="en-US" altLang="zh-CN" sz="1600" b="1" i="1" baseline="-25000" dirty="0">
                <a:solidFill>
                  <a:srgbClr val="002060"/>
                </a:solidFill>
              </a:rPr>
              <a:t>s</a:t>
            </a:r>
            <a:r>
              <a:rPr lang="en-US" altLang="zh-CN" sz="1600" b="1" i="1" dirty="0">
                <a:solidFill>
                  <a:srgbClr val="002060"/>
                </a:solidFill>
              </a:rPr>
              <a:t> </a:t>
            </a:r>
            <a:r>
              <a:rPr lang="en-US" altLang="zh-CN" sz="1600" dirty="0"/>
              <a:t>standard wheels</a:t>
            </a:r>
          </a:p>
          <a:p>
            <a:pPr marL="742950" lvl="1" indent="-285750">
              <a:buFont typeface="Wingdings" panose="05000000000000000000" pitchFamily="2" charset="2"/>
              <a:buChar char="p"/>
            </a:pPr>
            <a:r>
              <a:rPr lang="en-US" altLang="zh-CN" sz="1600" dirty="0" smtClean="0"/>
              <a:t>We </a:t>
            </a:r>
            <a:r>
              <a:rPr lang="en-US" altLang="zh-CN" sz="1600" dirty="0"/>
              <a:t>can develop the equations for the constraints in matrix forms</a:t>
            </a:r>
            <a:r>
              <a:rPr lang="en-US" altLang="zh-CN" sz="1600" dirty="0" smtClean="0"/>
              <a:t>:</a:t>
            </a:r>
          </a:p>
          <a:p>
            <a:r>
              <a:rPr lang="en-US" altLang="zh-CN" sz="1600" dirty="0" smtClean="0">
                <a:solidFill>
                  <a:schemeClr val="bg2"/>
                </a:solidFill>
              </a:rPr>
              <a:t>	</a:t>
            </a:r>
            <a:endParaRPr lang="zh-CN" altLang="en-US" sz="1600" dirty="0"/>
          </a:p>
        </p:txBody>
      </p:sp>
      <mc:AlternateContent xmlns:mc="http://schemas.openxmlformats.org/markup-compatibility/2006" xmlns:a14="http://schemas.microsoft.com/office/drawing/2010/main">
        <mc:Choice Requires="a14">
          <p:sp>
            <p:nvSpPr>
              <p:cNvPr id="2" name="矩形 1"/>
              <p:cNvSpPr/>
              <p:nvPr/>
            </p:nvSpPr>
            <p:spPr>
              <a:xfrm>
                <a:off x="1407941" y="2981716"/>
                <a:ext cx="1755481" cy="287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sub>
                      </m:sSub>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0">
                          <a:latin typeface="Cambria Math" panose="02040503050406030204" pitchFamily="18" charset="0"/>
                        </a:rPr>
                        <m:t>=0</m:t>
                      </m:r>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1407941" y="2981716"/>
                <a:ext cx="1755481" cy="287707"/>
              </a:xfrm>
              <a:prstGeom prst="rect">
                <a:avLst/>
              </a:prstGeom>
              <a:blipFill>
                <a:blip r:embed="rId3"/>
                <a:stretch>
                  <a:fillRect b="-63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249930" y="2873897"/>
                <a:ext cx="1211806" cy="5033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𝜑</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𝑡</m:t>
                          </m:r>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𝜑</m:t>
                                        </m:r>
                                      </m:e>
                                      <m:sub>
                                        <m:r>
                                          <a:rPr lang="zh-CN" altLang="en-US" sz="1200" i="1">
                                            <a:latin typeface="Cambria Math" panose="02040503050406030204" pitchFamily="18" charset="0"/>
                                          </a:rPr>
                                          <m:t>𝑓</m:t>
                                        </m:r>
                                      </m:sub>
                                    </m:sSub>
                                    <m:r>
                                      <a:rPr lang="zh-CN" altLang="en-US" sz="1200" i="0">
                                        <a:latin typeface="Cambria Math" panose="02040503050406030204" pitchFamily="18" charset="0"/>
                                      </a:rPr>
                                      <m:t>(</m:t>
                                    </m:r>
                                    <m:r>
                                      <a:rPr lang="zh-CN" altLang="en-US" sz="1200" i="1">
                                        <a:latin typeface="Cambria Math" panose="02040503050406030204" pitchFamily="18" charset="0"/>
                                      </a:rPr>
                                      <m:t>𝑡</m:t>
                                    </m:r>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𝜑</m:t>
                                        </m:r>
                                      </m:e>
                                      <m:sub>
                                        <m:r>
                                          <a:rPr lang="zh-CN" altLang="en-US" sz="1200" i="1">
                                            <a:latin typeface="Cambria Math" panose="02040503050406030204" pitchFamily="18" charset="0"/>
                                          </a:rPr>
                                          <m:t>𝑠</m:t>
                                        </m:r>
                                      </m:sub>
                                    </m:sSub>
                                    <m:r>
                                      <a:rPr lang="zh-CN" altLang="en-US" sz="1200" i="0">
                                        <a:latin typeface="Cambria Math" panose="02040503050406030204" pitchFamily="18" charset="0"/>
                                      </a:rPr>
                                      <m:t>(</m:t>
                                    </m:r>
                                    <m:r>
                                      <a:rPr lang="zh-CN" altLang="en-US" sz="1200" i="1">
                                        <a:latin typeface="Cambria Math" panose="02040503050406030204" pitchFamily="18" charset="0"/>
                                      </a:rPr>
                                      <m:t>𝑡</m:t>
                                    </m:r>
                                  </m:e>
                                </m:d>
                              </m:e>
                            </m:mr>
                          </m:m>
                        </m:e>
                      </m:d>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3249930" y="2873897"/>
                <a:ext cx="1211806" cy="503343"/>
              </a:xfrm>
              <a:prstGeom prst="rect">
                <a:avLst/>
              </a:prstGeom>
              <a:blipFill>
                <a:blip r:embed="rId4"/>
                <a:stretch>
                  <a:fillRect t="-77108" r="-29146" b="-903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637310" y="2883585"/>
                <a:ext cx="1380506" cy="4690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r>
                                      <a:rPr lang="zh-CN" altLang="en-US" sz="1200" i="1">
                                        <a:latin typeface="Cambria Math" panose="02040503050406030204" pitchFamily="18" charset="0"/>
                                      </a:rPr>
                                      <m:t>𝑓</m:t>
                                    </m:r>
                                  </m:sub>
                                </m:sSub>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r>
                                          <a:rPr lang="zh-CN" altLang="en-US" sz="1200" i="1">
                                            <a:latin typeface="Cambria Math" panose="02040503050406030204" pitchFamily="18" charset="0"/>
                                          </a:rPr>
                                          <m:t>𝑠</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e>
                            </m:mr>
                          </m:m>
                        </m:e>
                      </m:d>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4637310" y="2883585"/>
                <a:ext cx="1380506" cy="469039"/>
              </a:xfrm>
              <a:prstGeom prst="rect">
                <a:avLst/>
              </a:prstGeom>
              <a:blipFill>
                <a:blip r:embed="rId5"/>
                <a:stretch>
                  <a:fillRect t="-20779" r="-20354" b="-98701"/>
                </a:stretch>
              </a:blipFill>
            </p:spPr>
            <p:txBody>
              <a:bodyPr/>
              <a:lstStyle/>
              <a:p>
                <a:r>
                  <a:rPr lang="zh-CN" altLang="en-US">
                    <a:noFill/>
                  </a:rPr>
                  <a:t> </a:t>
                </a:r>
              </a:p>
            </p:txBody>
          </p:sp>
        </mc:Fallback>
      </mc:AlternateContent>
      <p:pic>
        <p:nvPicPr>
          <p:cNvPr id="10" name="图片 9"/>
          <p:cNvPicPr>
            <a:picLocks noChangeAspect="1"/>
          </p:cNvPicPr>
          <p:nvPr/>
        </p:nvPicPr>
        <p:blipFill>
          <a:blip r:embed="rId6"/>
          <a:stretch>
            <a:fillRect/>
          </a:stretch>
        </p:blipFill>
        <p:spPr>
          <a:xfrm>
            <a:off x="6193390" y="2946675"/>
            <a:ext cx="1552381" cy="342857"/>
          </a:xfrm>
          <a:prstGeom prst="rect">
            <a:avLst/>
          </a:prstGeom>
        </p:spPr>
      </p:pic>
      <mc:AlternateContent xmlns:mc="http://schemas.openxmlformats.org/markup-compatibility/2006" xmlns:a14="http://schemas.microsoft.com/office/drawing/2010/main">
        <mc:Choice Requires="a14">
          <p:sp>
            <p:nvSpPr>
              <p:cNvPr id="18" name="矩形 17"/>
              <p:cNvSpPr/>
              <p:nvPr/>
            </p:nvSpPr>
            <p:spPr>
              <a:xfrm>
                <a:off x="1407941" y="3939902"/>
                <a:ext cx="1572738" cy="3202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smtClean="0">
                              <a:solidFill>
                                <a:srgbClr val="002060"/>
                              </a:solidFill>
                              <a:latin typeface="Cambria Math" panose="02040503050406030204" pitchFamily="18" charset="0"/>
                            </a:rPr>
                          </m:ctrlPr>
                        </m:sSubPr>
                        <m:e>
                          <m:r>
                            <a:rPr lang="zh-CN" altLang="en-US" sz="1400" i="1">
                              <a:solidFill>
                                <a:srgbClr val="002060"/>
                              </a:solidFill>
                              <a:latin typeface="Cambria Math" panose="02040503050406030204" pitchFamily="18" charset="0"/>
                            </a:rPr>
                            <m:t>𝐶</m:t>
                          </m:r>
                        </m:e>
                        <m:sub>
                          <m:r>
                            <a:rPr lang="zh-CN" altLang="en-US" sz="1400" i="0">
                              <a:solidFill>
                                <a:srgbClr val="002060"/>
                              </a:solidFill>
                              <a:latin typeface="Cambria Math" panose="02040503050406030204" pitchFamily="18" charset="0"/>
                            </a:rPr>
                            <m:t>1</m:t>
                          </m:r>
                        </m:sub>
                      </m:sSub>
                      <m:d>
                        <m:dPr>
                          <m:ctrlPr>
                            <a:rPr lang="zh-CN" altLang="en-US" sz="1400" i="1">
                              <a:solidFill>
                                <a:srgbClr val="002060"/>
                              </a:solidFill>
                              <a:latin typeface="Cambria Math" panose="02040503050406030204" pitchFamily="18" charset="0"/>
                            </a:rPr>
                          </m:ctrlPr>
                        </m:dPr>
                        <m:e>
                          <m:sSub>
                            <m:sSubPr>
                              <m:ctrlPr>
                                <a:rPr lang="zh-CN" altLang="en-US" sz="1400" i="1">
                                  <a:solidFill>
                                    <a:srgbClr val="002060"/>
                                  </a:solidFill>
                                  <a:latin typeface="Cambria Math" panose="02040503050406030204" pitchFamily="18" charset="0"/>
                                </a:rPr>
                              </m:ctrlPr>
                            </m:sSubPr>
                            <m:e>
                              <m:r>
                                <a:rPr lang="zh-CN" altLang="en-US" sz="1400" i="1">
                                  <a:solidFill>
                                    <a:srgbClr val="002060"/>
                                  </a:solidFill>
                                  <a:latin typeface="Cambria Math" panose="02040503050406030204" pitchFamily="18" charset="0"/>
                                </a:rPr>
                                <m:t>𝛽</m:t>
                              </m:r>
                            </m:e>
                            <m:sub>
                              <m:r>
                                <a:rPr lang="zh-CN" altLang="en-US" sz="1400" i="1">
                                  <a:solidFill>
                                    <a:srgbClr val="002060"/>
                                  </a:solidFill>
                                  <a:latin typeface="Cambria Math" panose="02040503050406030204" pitchFamily="18" charset="0"/>
                                </a:rPr>
                                <m:t>𝑠</m:t>
                              </m:r>
                            </m:sub>
                          </m:sSub>
                        </m:e>
                      </m:d>
                      <m:r>
                        <a:rPr lang="zh-CN" altLang="en-US" sz="1400" i="1">
                          <a:solidFill>
                            <a:srgbClr val="002060"/>
                          </a:solidFill>
                          <a:latin typeface="Cambria Math" panose="02040503050406030204" pitchFamily="18" charset="0"/>
                        </a:rPr>
                        <m:t>𝑅</m:t>
                      </m:r>
                      <m:d>
                        <m:dPr>
                          <m:ctrlPr>
                            <a:rPr lang="zh-CN" altLang="en-US" sz="1400" i="1">
                              <a:solidFill>
                                <a:srgbClr val="002060"/>
                              </a:solidFill>
                              <a:latin typeface="Cambria Math" panose="02040503050406030204" pitchFamily="18" charset="0"/>
                            </a:rPr>
                          </m:ctrlPr>
                        </m:dPr>
                        <m:e>
                          <m:r>
                            <a:rPr lang="zh-CN" altLang="en-US" sz="1400" i="1">
                              <a:solidFill>
                                <a:srgbClr val="002060"/>
                              </a:solidFill>
                              <a:latin typeface="Cambria Math" panose="02040503050406030204" pitchFamily="18" charset="0"/>
                            </a:rPr>
                            <m:t>𝜃</m:t>
                          </m:r>
                        </m:e>
                      </m:d>
                      <m:acc>
                        <m:accPr>
                          <m:chr m:val="̇"/>
                          <m:ctrlPr>
                            <a:rPr lang="zh-CN" altLang="en-US" sz="1400" i="1">
                              <a:solidFill>
                                <a:srgbClr val="002060"/>
                              </a:solidFill>
                              <a:latin typeface="Cambria Math" panose="02040503050406030204" pitchFamily="18" charset="0"/>
                            </a:rPr>
                          </m:ctrlPr>
                        </m:accPr>
                        <m:e>
                          <m:sSub>
                            <m:sSubPr>
                              <m:ctrlPr>
                                <a:rPr lang="zh-CN" altLang="en-US" sz="1400" i="1">
                                  <a:solidFill>
                                    <a:srgbClr val="002060"/>
                                  </a:solidFill>
                                  <a:latin typeface="Cambria Math" panose="02040503050406030204" pitchFamily="18" charset="0"/>
                                </a:rPr>
                              </m:ctrlPr>
                            </m:sSubPr>
                            <m:e>
                              <m:r>
                                <a:rPr lang="zh-CN" altLang="en-US" sz="1400" i="1">
                                  <a:solidFill>
                                    <a:srgbClr val="002060"/>
                                  </a:solidFill>
                                  <a:latin typeface="Cambria Math" panose="02040503050406030204" pitchFamily="18" charset="0"/>
                                </a:rPr>
                                <m:t>𝜉</m:t>
                              </m:r>
                            </m:e>
                            <m:sub>
                              <m:r>
                                <a:rPr lang="zh-CN" altLang="en-US" sz="1400" i="1">
                                  <a:solidFill>
                                    <a:srgbClr val="002060"/>
                                  </a:solidFill>
                                  <a:latin typeface="Cambria Math" panose="02040503050406030204" pitchFamily="18" charset="0"/>
                                </a:rPr>
                                <m:t>𝐼</m:t>
                              </m:r>
                            </m:sub>
                          </m:sSub>
                        </m:e>
                      </m:acc>
                      <m:r>
                        <a:rPr lang="zh-CN" altLang="en-US" sz="1400" i="0">
                          <a:solidFill>
                            <a:srgbClr val="002060"/>
                          </a:solidFill>
                          <a:latin typeface="Cambria Math" panose="02040503050406030204" pitchFamily="18" charset="0"/>
                        </a:rPr>
                        <m:t>=0</m:t>
                      </m:r>
                    </m:oMath>
                  </m:oMathPara>
                </a14:m>
                <a:endParaRPr lang="zh-CN" altLang="en-US" sz="1400" dirty="0">
                  <a:solidFill>
                    <a:srgbClr val="002060"/>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1407941" y="3939902"/>
                <a:ext cx="1572738" cy="320280"/>
              </a:xfrm>
              <a:prstGeom prst="rect">
                <a:avLst/>
              </a:prstGeom>
              <a:blipFill>
                <a:blip r:embed="rId7"/>
                <a:stretch>
                  <a:fillRect b="-75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980679" y="3848402"/>
                <a:ext cx="1446165" cy="503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r>
                                      <a:rPr lang="zh-CN" altLang="en-US" sz="1200" i="1">
                                        <a:latin typeface="Cambria Math" panose="02040503050406030204" pitchFamily="18" charset="0"/>
                                      </a:rPr>
                                      <m:t>𝑓</m:t>
                                    </m:r>
                                  </m:sub>
                                </m:sSub>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r>
                                          <a:rPr lang="zh-CN" altLang="en-US" sz="1200" i="1">
                                            <a:latin typeface="Cambria Math" panose="02040503050406030204" pitchFamily="18" charset="0"/>
                                          </a:rPr>
                                          <m:t>𝑠</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e>
                            </m:mr>
                          </m:m>
                        </m:e>
                      </m:d>
                    </m:oMath>
                  </m:oMathPara>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2980679" y="3848402"/>
                <a:ext cx="1446165" cy="503279"/>
              </a:xfrm>
              <a:prstGeom prst="rect">
                <a:avLst/>
              </a:prstGeom>
              <a:blipFill>
                <a:blip r:embed="rId8"/>
                <a:stretch>
                  <a:fillRect t="-16867" r="-18987" b="-86747"/>
                </a:stretch>
              </a:blipFill>
            </p:spPr>
            <p:txBody>
              <a:bodyPr/>
              <a:lstStyle/>
              <a:p>
                <a:r>
                  <a:rPr lang="zh-CN" altLang="en-US">
                    <a:noFill/>
                  </a:rPr>
                  <a:t> </a:t>
                </a:r>
              </a:p>
            </p:txBody>
          </p:sp>
        </mc:Fallback>
      </mc:AlternateContent>
      <p:sp>
        <p:nvSpPr>
          <p:cNvPr id="20" name="圆角矩形 19"/>
          <p:cNvSpPr/>
          <p:nvPr/>
        </p:nvSpPr>
        <p:spPr>
          <a:xfrm>
            <a:off x="1259632" y="2873897"/>
            <a:ext cx="6624736" cy="63395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1259632" y="3723878"/>
            <a:ext cx="3377678"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985735" y="303036"/>
            <a:ext cx="3738524" cy="400110"/>
          </a:xfrm>
          <a:prstGeom prst="rect">
            <a:avLst/>
          </a:prstGeom>
        </p:spPr>
        <p:txBody>
          <a:bodyPr wrap="none">
            <a:spAutoFit/>
          </a:bodyPr>
          <a:lstStyle/>
          <a:p>
            <a:r>
              <a:rPr lang="en-US" altLang="zh-CN" sz="2000" b="1" dirty="0" smtClean="0">
                <a:solidFill>
                  <a:srgbClr val="002060"/>
                </a:solidFill>
              </a:rPr>
              <a:t>3.12.3 </a:t>
            </a:r>
            <a:r>
              <a:rPr lang="zh-CN" altLang="en-US" sz="2000" b="1" dirty="0" smtClean="0">
                <a:solidFill>
                  <a:srgbClr val="002060"/>
                </a:solidFill>
              </a:rPr>
              <a:t>轮式</a:t>
            </a:r>
            <a:r>
              <a:rPr lang="zh-CN" altLang="en-US" sz="2000" b="1" dirty="0">
                <a:solidFill>
                  <a:srgbClr val="002060"/>
                </a:solidFill>
              </a:rPr>
              <a:t>移动机器人运动约束</a:t>
            </a:r>
          </a:p>
        </p:txBody>
      </p:sp>
    </p:spTree>
    <p:extLst>
      <p:ext uri="{BB962C8B-B14F-4D97-AF65-F5344CB8AC3E}">
        <p14:creationId xmlns:p14="http://schemas.microsoft.com/office/powerpoint/2010/main" val="42019257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3059304" y="1197869"/>
            <a:ext cx="3114955" cy="369332"/>
          </a:xfrm>
          <a:prstGeom prst="rect">
            <a:avLst/>
          </a:prstGeom>
        </p:spPr>
        <p:txBody>
          <a:bodyPr wrap="none">
            <a:spAutoFit/>
          </a:bodyPr>
          <a:lstStyle/>
          <a:p>
            <a:r>
              <a:rPr lang="en-US" altLang="zh-CN" b="1" dirty="0">
                <a:solidFill>
                  <a:srgbClr val="002060"/>
                </a:solidFill>
              </a:rPr>
              <a:t>Mobile Robot Maneuverability</a:t>
            </a:r>
            <a:endParaRPr lang="zh-CN" altLang="en-US" sz="1800" b="1" dirty="0">
              <a:solidFill>
                <a:srgbClr val="002060"/>
              </a:solidFill>
            </a:endParaRPr>
          </a:p>
        </p:txBody>
      </p:sp>
      <p:sp>
        <p:nvSpPr>
          <p:cNvPr id="22" name="椭圆 21"/>
          <p:cNvSpPr/>
          <p:nvPr>
            <p:custDataLst>
              <p:tags r:id="rId1"/>
            </p:custDataLst>
          </p:nvPr>
        </p:nvSpPr>
        <p:spPr>
          <a:xfrm>
            <a:off x="1910275" y="1716987"/>
            <a:ext cx="1329162" cy="1329162"/>
          </a:xfrm>
          <a:prstGeom prst="ellipse">
            <a:avLst/>
          </a:prstGeom>
          <a:solidFill>
            <a:srgbClr val="0065B0"/>
          </a:solidFill>
          <a:ln w="63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24" name="椭圆 23"/>
          <p:cNvSpPr/>
          <p:nvPr>
            <p:custDataLst>
              <p:tags r:id="rId2"/>
            </p:custDataLst>
          </p:nvPr>
        </p:nvSpPr>
        <p:spPr>
          <a:xfrm>
            <a:off x="3801503" y="1716987"/>
            <a:ext cx="1329162" cy="1329162"/>
          </a:xfrm>
          <a:prstGeom prst="ellipse">
            <a:avLst/>
          </a:prstGeom>
          <a:solidFill>
            <a:srgbClr val="0065B0"/>
          </a:solidFill>
          <a:ln w="63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26" name="椭圆 25"/>
          <p:cNvSpPr/>
          <p:nvPr>
            <p:custDataLst>
              <p:tags r:id="rId3"/>
            </p:custDataLst>
          </p:nvPr>
        </p:nvSpPr>
        <p:spPr>
          <a:xfrm>
            <a:off x="5723739" y="1716987"/>
            <a:ext cx="1329162" cy="1329162"/>
          </a:xfrm>
          <a:prstGeom prst="ellipse">
            <a:avLst/>
          </a:prstGeom>
          <a:solidFill>
            <a:srgbClr val="0065B0"/>
          </a:solidFill>
          <a:ln w="63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27" name="Shape 647"/>
          <p:cNvSpPr/>
          <p:nvPr>
            <p:custDataLst>
              <p:tags r:id="rId4"/>
            </p:custDataLst>
          </p:nvPr>
        </p:nvSpPr>
        <p:spPr>
          <a:xfrm>
            <a:off x="2258818" y="2141088"/>
            <a:ext cx="639397" cy="480960"/>
          </a:xfrm>
          <a:custGeom>
            <a:avLst/>
            <a:gdLst/>
            <a:ahLst/>
            <a:cxnLst/>
            <a:rect l="0" t="0" r="0" b="0"/>
            <a:pathLst>
              <a:path w="120000" h="120000" extrusionOk="0">
                <a:moveTo>
                  <a:pt x="117073" y="28695"/>
                </a:moveTo>
                <a:cubicBezTo>
                  <a:pt x="98536" y="2608"/>
                  <a:pt x="98536" y="2608"/>
                  <a:pt x="98536" y="2608"/>
                </a:cubicBezTo>
                <a:cubicBezTo>
                  <a:pt x="97560" y="1304"/>
                  <a:pt x="95609" y="0"/>
                  <a:pt x="93658" y="0"/>
                </a:cubicBezTo>
                <a:cubicBezTo>
                  <a:pt x="26341" y="0"/>
                  <a:pt x="26341" y="0"/>
                  <a:pt x="26341" y="0"/>
                </a:cubicBezTo>
                <a:cubicBezTo>
                  <a:pt x="24390" y="0"/>
                  <a:pt x="22439" y="1304"/>
                  <a:pt x="21463" y="2608"/>
                </a:cubicBezTo>
                <a:cubicBezTo>
                  <a:pt x="1951" y="28695"/>
                  <a:pt x="1951" y="28695"/>
                  <a:pt x="1951" y="28695"/>
                </a:cubicBezTo>
                <a:cubicBezTo>
                  <a:pt x="975" y="30000"/>
                  <a:pt x="0" y="32608"/>
                  <a:pt x="0" y="35217"/>
                </a:cubicBezTo>
                <a:cubicBezTo>
                  <a:pt x="0" y="37826"/>
                  <a:pt x="975" y="40434"/>
                  <a:pt x="1951" y="41739"/>
                </a:cubicBezTo>
                <a:cubicBezTo>
                  <a:pt x="54634" y="117391"/>
                  <a:pt x="54634" y="117391"/>
                  <a:pt x="54634" y="117391"/>
                </a:cubicBezTo>
                <a:cubicBezTo>
                  <a:pt x="55609" y="118695"/>
                  <a:pt x="57560" y="120000"/>
                  <a:pt x="59512" y="120000"/>
                </a:cubicBezTo>
                <a:cubicBezTo>
                  <a:pt x="62439" y="120000"/>
                  <a:pt x="64390" y="118695"/>
                  <a:pt x="65365" y="117391"/>
                </a:cubicBezTo>
                <a:cubicBezTo>
                  <a:pt x="118048" y="41739"/>
                  <a:pt x="118048" y="41739"/>
                  <a:pt x="118048" y="41739"/>
                </a:cubicBezTo>
                <a:cubicBezTo>
                  <a:pt x="119024" y="40434"/>
                  <a:pt x="120000" y="37826"/>
                  <a:pt x="120000" y="35217"/>
                </a:cubicBezTo>
                <a:cubicBezTo>
                  <a:pt x="120000" y="32608"/>
                  <a:pt x="119024" y="30000"/>
                  <a:pt x="117073" y="28695"/>
                </a:cubicBezTo>
                <a:close/>
                <a:moveTo>
                  <a:pt x="90731" y="10434"/>
                </a:moveTo>
                <a:cubicBezTo>
                  <a:pt x="83902" y="18260"/>
                  <a:pt x="83902" y="18260"/>
                  <a:pt x="83902" y="18260"/>
                </a:cubicBezTo>
                <a:cubicBezTo>
                  <a:pt x="77073" y="10434"/>
                  <a:pt x="77073" y="10434"/>
                  <a:pt x="77073" y="10434"/>
                </a:cubicBezTo>
                <a:lnTo>
                  <a:pt x="90731" y="10434"/>
                </a:lnTo>
                <a:close/>
                <a:moveTo>
                  <a:pt x="90731" y="35217"/>
                </a:moveTo>
                <a:cubicBezTo>
                  <a:pt x="74146" y="35217"/>
                  <a:pt x="74146" y="35217"/>
                  <a:pt x="74146" y="35217"/>
                </a:cubicBezTo>
                <a:cubicBezTo>
                  <a:pt x="82926" y="24782"/>
                  <a:pt x="82926" y="24782"/>
                  <a:pt x="82926" y="24782"/>
                </a:cubicBezTo>
                <a:lnTo>
                  <a:pt x="90731" y="35217"/>
                </a:lnTo>
                <a:close/>
                <a:moveTo>
                  <a:pt x="80975" y="20869"/>
                </a:moveTo>
                <a:cubicBezTo>
                  <a:pt x="71219" y="32608"/>
                  <a:pt x="71219" y="32608"/>
                  <a:pt x="71219" y="32608"/>
                </a:cubicBezTo>
                <a:cubicBezTo>
                  <a:pt x="62439" y="22173"/>
                  <a:pt x="62439" y="22173"/>
                  <a:pt x="62439" y="22173"/>
                </a:cubicBezTo>
                <a:cubicBezTo>
                  <a:pt x="73170" y="11739"/>
                  <a:pt x="73170" y="11739"/>
                  <a:pt x="73170" y="11739"/>
                </a:cubicBezTo>
                <a:lnTo>
                  <a:pt x="80975" y="20869"/>
                </a:lnTo>
                <a:close/>
                <a:moveTo>
                  <a:pt x="68292" y="35217"/>
                </a:moveTo>
                <a:cubicBezTo>
                  <a:pt x="51707" y="35217"/>
                  <a:pt x="51707" y="35217"/>
                  <a:pt x="51707" y="35217"/>
                </a:cubicBezTo>
                <a:cubicBezTo>
                  <a:pt x="59512" y="26086"/>
                  <a:pt x="59512" y="26086"/>
                  <a:pt x="59512" y="26086"/>
                </a:cubicBezTo>
                <a:lnTo>
                  <a:pt x="68292" y="35217"/>
                </a:lnTo>
                <a:close/>
                <a:moveTo>
                  <a:pt x="68292" y="10434"/>
                </a:moveTo>
                <a:cubicBezTo>
                  <a:pt x="59512" y="19565"/>
                  <a:pt x="59512" y="19565"/>
                  <a:pt x="59512" y="19565"/>
                </a:cubicBezTo>
                <a:cubicBezTo>
                  <a:pt x="51707" y="10434"/>
                  <a:pt x="51707" y="10434"/>
                  <a:pt x="51707" y="10434"/>
                </a:cubicBezTo>
                <a:lnTo>
                  <a:pt x="68292" y="10434"/>
                </a:lnTo>
                <a:close/>
                <a:moveTo>
                  <a:pt x="56585" y="22173"/>
                </a:moveTo>
                <a:cubicBezTo>
                  <a:pt x="48780" y="32608"/>
                  <a:pt x="48780" y="32608"/>
                  <a:pt x="48780" y="32608"/>
                </a:cubicBezTo>
                <a:cubicBezTo>
                  <a:pt x="39024" y="20869"/>
                  <a:pt x="39024" y="20869"/>
                  <a:pt x="39024" y="20869"/>
                </a:cubicBezTo>
                <a:cubicBezTo>
                  <a:pt x="46829" y="11739"/>
                  <a:pt x="46829" y="11739"/>
                  <a:pt x="46829" y="11739"/>
                </a:cubicBezTo>
                <a:lnTo>
                  <a:pt x="56585" y="22173"/>
                </a:lnTo>
                <a:close/>
                <a:moveTo>
                  <a:pt x="45853" y="35217"/>
                </a:moveTo>
                <a:cubicBezTo>
                  <a:pt x="29268" y="35217"/>
                  <a:pt x="29268" y="35217"/>
                  <a:pt x="29268" y="35217"/>
                </a:cubicBezTo>
                <a:cubicBezTo>
                  <a:pt x="36097" y="24782"/>
                  <a:pt x="36097" y="24782"/>
                  <a:pt x="36097" y="24782"/>
                </a:cubicBezTo>
                <a:lnTo>
                  <a:pt x="45853" y="35217"/>
                </a:lnTo>
                <a:close/>
                <a:moveTo>
                  <a:pt x="41951" y="10434"/>
                </a:moveTo>
                <a:cubicBezTo>
                  <a:pt x="36097" y="18260"/>
                  <a:pt x="36097" y="18260"/>
                  <a:pt x="36097" y="18260"/>
                </a:cubicBezTo>
                <a:cubicBezTo>
                  <a:pt x="29268" y="10434"/>
                  <a:pt x="29268" y="10434"/>
                  <a:pt x="29268" y="10434"/>
                </a:cubicBezTo>
                <a:lnTo>
                  <a:pt x="41951" y="10434"/>
                </a:lnTo>
                <a:close/>
                <a:moveTo>
                  <a:pt x="25365" y="11739"/>
                </a:moveTo>
                <a:cubicBezTo>
                  <a:pt x="33170" y="22173"/>
                  <a:pt x="33170" y="22173"/>
                  <a:pt x="33170" y="22173"/>
                </a:cubicBezTo>
                <a:cubicBezTo>
                  <a:pt x="23414" y="35217"/>
                  <a:pt x="23414" y="35217"/>
                  <a:pt x="23414" y="35217"/>
                </a:cubicBezTo>
                <a:cubicBezTo>
                  <a:pt x="7804" y="35217"/>
                  <a:pt x="7804" y="35217"/>
                  <a:pt x="7804" y="35217"/>
                </a:cubicBezTo>
                <a:lnTo>
                  <a:pt x="25365" y="11739"/>
                </a:lnTo>
                <a:close/>
                <a:moveTo>
                  <a:pt x="10731" y="40434"/>
                </a:moveTo>
                <a:cubicBezTo>
                  <a:pt x="24390" y="40434"/>
                  <a:pt x="24390" y="40434"/>
                  <a:pt x="24390" y="40434"/>
                </a:cubicBezTo>
                <a:cubicBezTo>
                  <a:pt x="47804" y="92608"/>
                  <a:pt x="47804" y="92608"/>
                  <a:pt x="47804" y="92608"/>
                </a:cubicBezTo>
                <a:lnTo>
                  <a:pt x="10731" y="40434"/>
                </a:lnTo>
                <a:close/>
                <a:moveTo>
                  <a:pt x="28292" y="40434"/>
                </a:moveTo>
                <a:cubicBezTo>
                  <a:pt x="46829" y="40434"/>
                  <a:pt x="46829" y="40434"/>
                  <a:pt x="46829" y="40434"/>
                </a:cubicBezTo>
                <a:cubicBezTo>
                  <a:pt x="55609" y="101739"/>
                  <a:pt x="55609" y="101739"/>
                  <a:pt x="55609" y="101739"/>
                </a:cubicBezTo>
                <a:lnTo>
                  <a:pt x="28292" y="40434"/>
                </a:lnTo>
                <a:close/>
                <a:moveTo>
                  <a:pt x="50731" y="40434"/>
                </a:moveTo>
                <a:cubicBezTo>
                  <a:pt x="69268" y="40434"/>
                  <a:pt x="69268" y="40434"/>
                  <a:pt x="69268" y="40434"/>
                </a:cubicBezTo>
                <a:cubicBezTo>
                  <a:pt x="59512" y="103043"/>
                  <a:pt x="59512" y="103043"/>
                  <a:pt x="59512" y="103043"/>
                </a:cubicBezTo>
                <a:lnTo>
                  <a:pt x="50731" y="40434"/>
                </a:lnTo>
                <a:close/>
                <a:moveTo>
                  <a:pt x="63414" y="101739"/>
                </a:moveTo>
                <a:cubicBezTo>
                  <a:pt x="73170" y="40434"/>
                  <a:pt x="73170" y="40434"/>
                  <a:pt x="73170" y="40434"/>
                </a:cubicBezTo>
                <a:cubicBezTo>
                  <a:pt x="91707" y="40434"/>
                  <a:pt x="91707" y="40434"/>
                  <a:pt x="91707" y="40434"/>
                </a:cubicBezTo>
                <a:lnTo>
                  <a:pt x="63414" y="101739"/>
                </a:lnTo>
                <a:close/>
                <a:moveTo>
                  <a:pt x="72195" y="92608"/>
                </a:moveTo>
                <a:cubicBezTo>
                  <a:pt x="95609" y="40434"/>
                  <a:pt x="95609" y="40434"/>
                  <a:pt x="95609" y="40434"/>
                </a:cubicBezTo>
                <a:cubicBezTo>
                  <a:pt x="109268" y="40434"/>
                  <a:pt x="109268" y="40434"/>
                  <a:pt x="109268" y="40434"/>
                </a:cubicBezTo>
                <a:lnTo>
                  <a:pt x="72195" y="92608"/>
                </a:lnTo>
                <a:close/>
                <a:moveTo>
                  <a:pt x="96585" y="35217"/>
                </a:moveTo>
                <a:cubicBezTo>
                  <a:pt x="85853" y="22173"/>
                  <a:pt x="85853" y="22173"/>
                  <a:pt x="85853" y="22173"/>
                </a:cubicBezTo>
                <a:cubicBezTo>
                  <a:pt x="94634" y="11739"/>
                  <a:pt x="94634" y="11739"/>
                  <a:pt x="94634" y="11739"/>
                </a:cubicBezTo>
                <a:cubicBezTo>
                  <a:pt x="112195" y="35217"/>
                  <a:pt x="112195" y="35217"/>
                  <a:pt x="112195" y="35217"/>
                </a:cubicBezTo>
                <a:lnTo>
                  <a:pt x="96585" y="35217"/>
                </a:lnTo>
                <a:close/>
                <a:moveTo>
                  <a:pt x="96585" y="35217"/>
                </a:moveTo>
                <a:cubicBezTo>
                  <a:pt x="96585" y="35217"/>
                  <a:pt x="96585" y="35217"/>
                  <a:pt x="96585" y="35217"/>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28" name="Shape 649"/>
          <p:cNvSpPr/>
          <p:nvPr>
            <p:custDataLst>
              <p:tags r:id="rId5"/>
            </p:custDataLst>
          </p:nvPr>
        </p:nvSpPr>
        <p:spPr>
          <a:xfrm>
            <a:off x="6179750" y="2103066"/>
            <a:ext cx="417140" cy="557004"/>
          </a:xfrm>
          <a:custGeom>
            <a:avLst/>
            <a:gdLst/>
            <a:ahLst/>
            <a:cxnLst/>
            <a:rect l="0" t="0" r="0" b="0"/>
            <a:pathLst>
              <a:path w="120000" h="120000" extrusionOk="0">
                <a:moveTo>
                  <a:pt x="104347" y="48780"/>
                </a:moveTo>
                <a:cubicBezTo>
                  <a:pt x="104347" y="34146"/>
                  <a:pt x="104347" y="34146"/>
                  <a:pt x="104347" y="34146"/>
                </a:cubicBezTo>
                <a:cubicBezTo>
                  <a:pt x="104347" y="15609"/>
                  <a:pt x="84782" y="0"/>
                  <a:pt x="60000" y="0"/>
                </a:cubicBezTo>
                <a:cubicBezTo>
                  <a:pt x="35217" y="0"/>
                  <a:pt x="14347" y="15609"/>
                  <a:pt x="14347" y="34146"/>
                </a:cubicBezTo>
                <a:cubicBezTo>
                  <a:pt x="14347" y="48780"/>
                  <a:pt x="14347" y="48780"/>
                  <a:pt x="14347" y="48780"/>
                </a:cubicBezTo>
                <a:cubicBezTo>
                  <a:pt x="6521" y="48780"/>
                  <a:pt x="0" y="53658"/>
                  <a:pt x="0" y="59512"/>
                </a:cubicBezTo>
                <a:cubicBezTo>
                  <a:pt x="0" y="85853"/>
                  <a:pt x="0" y="85853"/>
                  <a:pt x="0" y="85853"/>
                </a:cubicBezTo>
                <a:cubicBezTo>
                  <a:pt x="0" y="104390"/>
                  <a:pt x="19565" y="120000"/>
                  <a:pt x="44347" y="120000"/>
                </a:cubicBezTo>
                <a:cubicBezTo>
                  <a:pt x="74347" y="120000"/>
                  <a:pt x="74347" y="120000"/>
                  <a:pt x="74347" y="120000"/>
                </a:cubicBezTo>
                <a:cubicBezTo>
                  <a:pt x="99130" y="120000"/>
                  <a:pt x="120000" y="104390"/>
                  <a:pt x="120000" y="85853"/>
                </a:cubicBezTo>
                <a:cubicBezTo>
                  <a:pt x="120000" y="59512"/>
                  <a:pt x="120000" y="59512"/>
                  <a:pt x="120000" y="59512"/>
                </a:cubicBezTo>
                <a:cubicBezTo>
                  <a:pt x="120000" y="53658"/>
                  <a:pt x="113478" y="48780"/>
                  <a:pt x="104347" y="48780"/>
                </a:cubicBezTo>
                <a:close/>
                <a:moveTo>
                  <a:pt x="24782" y="34146"/>
                </a:moveTo>
                <a:cubicBezTo>
                  <a:pt x="24782" y="19512"/>
                  <a:pt x="40434" y="7804"/>
                  <a:pt x="60000" y="7804"/>
                </a:cubicBezTo>
                <a:cubicBezTo>
                  <a:pt x="79565" y="7804"/>
                  <a:pt x="95217" y="19512"/>
                  <a:pt x="95217" y="34146"/>
                </a:cubicBezTo>
                <a:cubicBezTo>
                  <a:pt x="95217" y="48780"/>
                  <a:pt x="95217" y="48780"/>
                  <a:pt x="95217" y="48780"/>
                </a:cubicBezTo>
                <a:cubicBezTo>
                  <a:pt x="84782" y="48780"/>
                  <a:pt x="84782" y="48780"/>
                  <a:pt x="84782" y="48780"/>
                </a:cubicBezTo>
                <a:cubicBezTo>
                  <a:pt x="84782" y="34146"/>
                  <a:pt x="84782" y="34146"/>
                  <a:pt x="84782" y="34146"/>
                </a:cubicBezTo>
                <a:cubicBezTo>
                  <a:pt x="84782" y="23414"/>
                  <a:pt x="73043" y="14634"/>
                  <a:pt x="60000" y="14634"/>
                </a:cubicBezTo>
                <a:cubicBezTo>
                  <a:pt x="45652" y="14634"/>
                  <a:pt x="35217" y="23414"/>
                  <a:pt x="35217" y="34146"/>
                </a:cubicBezTo>
                <a:cubicBezTo>
                  <a:pt x="35217" y="48780"/>
                  <a:pt x="35217" y="48780"/>
                  <a:pt x="35217" y="48780"/>
                </a:cubicBezTo>
                <a:cubicBezTo>
                  <a:pt x="24782" y="48780"/>
                  <a:pt x="24782" y="48780"/>
                  <a:pt x="24782" y="48780"/>
                </a:cubicBezTo>
                <a:lnTo>
                  <a:pt x="24782" y="34146"/>
                </a:lnTo>
                <a:close/>
                <a:moveTo>
                  <a:pt x="79565" y="34146"/>
                </a:moveTo>
                <a:cubicBezTo>
                  <a:pt x="79565" y="48780"/>
                  <a:pt x="79565" y="48780"/>
                  <a:pt x="79565" y="48780"/>
                </a:cubicBezTo>
                <a:cubicBezTo>
                  <a:pt x="40434" y="48780"/>
                  <a:pt x="40434" y="48780"/>
                  <a:pt x="40434" y="48780"/>
                </a:cubicBezTo>
                <a:cubicBezTo>
                  <a:pt x="40434" y="34146"/>
                  <a:pt x="40434" y="34146"/>
                  <a:pt x="40434" y="34146"/>
                </a:cubicBezTo>
                <a:cubicBezTo>
                  <a:pt x="40434" y="25365"/>
                  <a:pt x="48260" y="18536"/>
                  <a:pt x="60000" y="18536"/>
                </a:cubicBezTo>
                <a:cubicBezTo>
                  <a:pt x="70434" y="18536"/>
                  <a:pt x="79565" y="25365"/>
                  <a:pt x="79565" y="34146"/>
                </a:cubicBezTo>
                <a:close/>
                <a:moveTo>
                  <a:pt x="109565" y="71219"/>
                </a:moveTo>
                <a:cubicBezTo>
                  <a:pt x="109565" y="85853"/>
                  <a:pt x="109565" y="85853"/>
                  <a:pt x="109565" y="85853"/>
                </a:cubicBezTo>
                <a:cubicBezTo>
                  <a:pt x="109565" y="100487"/>
                  <a:pt x="93913" y="112195"/>
                  <a:pt x="74347" y="112195"/>
                </a:cubicBezTo>
                <a:cubicBezTo>
                  <a:pt x="44347" y="112195"/>
                  <a:pt x="44347" y="112195"/>
                  <a:pt x="44347" y="112195"/>
                </a:cubicBezTo>
                <a:cubicBezTo>
                  <a:pt x="26086" y="112195"/>
                  <a:pt x="10434" y="100487"/>
                  <a:pt x="10434" y="85853"/>
                </a:cubicBezTo>
                <a:cubicBezTo>
                  <a:pt x="10434" y="59512"/>
                  <a:pt x="10434" y="59512"/>
                  <a:pt x="10434" y="59512"/>
                </a:cubicBezTo>
                <a:cubicBezTo>
                  <a:pt x="10434" y="57560"/>
                  <a:pt x="11739" y="56585"/>
                  <a:pt x="14347" y="56585"/>
                </a:cubicBezTo>
                <a:cubicBezTo>
                  <a:pt x="104347" y="56585"/>
                  <a:pt x="104347" y="56585"/>
                  <a:pt x="104347" y="56585"/>
                </a:cubicBezTo>
                <a:cubicBezTo>
                  <a:pt x="108260" y="56585"/>
                  <a:pt x="109565" y="57560"/>
                  <a:pt x="109565" y="59512"/>
                </a:cubicBezTo>
                <a:lnTo>
                  <a:pt x="109565" y="71219"/>
                </a:lnTo>
                <a:close/>
                <a:moveTo>
                  <a:pt x="109565" y="71219"/>
                </a:moveTo>
                <a:cubicBezTo>
                  <a:pt x="109565" y="71219"/>
                  <a:pt x="109565" y="71219"/>
                  <a:pt x="109565" y="71219"/>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29" name="Shape 650"/>
          <p:cNvSpPr/>
          <p:nvPr>
            <p:custDataLst>
              <p:tags r:id="rId6"/>
            </p:custDataLst>
          </p:nvPr>
        </p:nvSpPr>
        <p:spPr>
          <a:xfrm>
            <a:off x="6351514" y="2434324"/>
            <a:ext cx="73613" cy="103056"/>
          </a:xfrm>
          <a:custGeom>
            <a:avLst/>
            <a:gdLst/>
            <a:ahLst/>
            <a:cxnLst/>
            <a:rect l="0" t="0" r="0" b="0"/>
            <a:pathLst>
              <a:path w="120000" h="120000" extrusionOk="0">
                <a:moveTo>
                  <a:pt x="60000" y="0"/>
                </a:moveTo>
                <a:cubicBezTo>
                  <a:pt x="30000" y="0"/>
                  <a:pt x="0" y="15652"/>
                  <a:pt x="0" y="41739"/>
                </a:cubicBezTo>
                <a:cubicBezTo>
                  <a:pt x="0" y="52173"/>
                  <a:pt x="7500" y="73043"/>
                  <a:pt x="22500" y="93913"/>
                </a:cubicBezTo>
                <a:cubicBezTo>
                  <a:pt x="30000" y="109565"/>
                  <a:pt x="37500" y="120000"/>
                  <a:pt x="60000" y="120000"/>
                </a:cubicBezTo>
                <a:cubicBezTo>
                  <a:pt x="82500" y="120000"/>
                  <a:pt x="90000" y="109565"/>
                  <a:pt x="97500" y="93913"/>
                </a:cubicBezTo>
                <a:cubicBezTo>
                  <a:pt x="105000" y="73043"/>
                  <a:pt x="120000" y="52173"/>
                  <a:pt x="120000" y="41739"/>
                </a:cubicBezTo>
                <a:cubicBezTo>
                  <a:pt x="120000" y="15652"/>
                  <a:pt x="90000" y="0"/>
                  <a:pt x="60000" y="0"/>
                </a:cubicBezTo>
                <a:close/>
                <a:moveTo>
                  <a:pt x="60000" y="0"/>
                </a:moveTo>
                <a:cubicBezTo>
                  <a:pt x="60000" y="0"/>
                  <a:pt x="60000" y="0"/>
                  <a:pt x="60000" y="0"/>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0" name="Shape 652"/>
          <p:cNvSpPr/>
          <p:nvPr>
            <p:custDataLst>
              <p:tags r:id="rId7"/>
            </p:custDataLst>
          </p:nvPr>
        </p:nvSpPr>
        <p:spPr>
          <a:xfrm>
            <a:off x="4309551" y="2252988"/>
            <a:ext cx="313069" cy="315866"/>
          </a:xfrm>
          <a:custGeom>
            <a:avLst/>
            <a:gdLst/>
            <a:ahLst/>
            <a:cxnLst/>
            <a:rect l="0" t="0" r="0" b="0"/>
            <a:pathLst>
              <a:path w="120000" h="120000" extrusionOk="0">
                <a:moveTo>
                  <a:pt x="60983" y="0"/>
                </a:moveTo>
                <a:cubicBezTo>
                  <a:pt x="27540" y="0"/>
                  <a:pt x="0" y="25573"/>
                  <a:pt x="0" y="59016"/>
                </a:cubicBezTo>
                <a:cubicBezTo>
                  <a:pt x="0" y="92459"/>
                  <a:pt x="27540" y="120000"/>
                  <a:pt x="60983" y="120000"/>
                </a:cubicBezTo>
                <a:cubicBezTo>
                  <a:pt x="94426" y="120000"/>
                  <a:pt x="120000" y="92459"/>
                  <a:pt x="120000" y="59016"/>
                </a:cubicBezTo>
                <a:cubicBezTo>
                  <a:pt x="120000" y="25573"/>
                  <a:pt x="94426" y="0"/>
                  <a:pt x="60983" y="0"/>
                </a:cubicBezTo>
                <a:close/>
                <a:moveTo>
                  <a:pt x="94426" y="88524"/>
                </a:moveTo>
                <a:cubicBezTo>
                  <a:pt x="78688" y="108196"/>
                  <a:pt x="49180" y="110163"/>
                  <a:pt x="31475" y="94426"/>
                </a:cubicBezTo>
                <a:cubicBezTo>
                  <a:pt x="11803" y="76721"/>
                  <a:pt x="9836" y="49180"/>
                  <a:pt x="25573" y="29508"/>
                </a:cubicBezTo>
                <a:cubicBezTo>
                  <a:pt x="43278" y="11803"/>
                  <a:pt x="70819" y="9836"/>
                  <a:pt x="90491" y="25573"/>
                </a:cubicBezTo>
                <a:cubicBezTo>
                  <a:pt x="108196" y="41311"/>
                  <a:pt x="112131" y="70819"/>
                  <a:pt x="94426" y="88524"/>
                </a:cubicBezTo>
                <a:close/>
                <a:moveTo>
                  <a:pt x="94426" y="88524"/>
                </a:moveTo>
                <a:cubicBezTo>
                  <a:pt x="94426" y="88524"/>
                  <a:pt x="94426" y="88524"/>
                  <a:pt x="94426" y="88524"/>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1" name="Shape 653"/>
          <p:cNvSpPr/>
          <p:nvPr>
            <p:custDataLst>
              <p:tags r:id="rId8"/>
            </p:custDataLst>
          </p:nvPr>
        </p:nvSpPr>
        <p:spPr>
          <a:xfrm>
            <a:off x="4385022" y="2331255"/>
            <a:ext cx="95037" cy="89447"/>
          </a:xfrm>
          <a:custGeom>
            <a:avLst/>
            <a:gdLst/>
            <a:ahLst/>
            <a:cxnLst/>
            <a:rect l="0" t="0" r="0" b="0"/>
            <a:pathLst>
              <a:path w="120000" h="120000" extrusionOk="0">
                <a:moveTo>
                  <a:pt x="106666" y="0"/>
                </a:moveTo>
                <a:cubicBezTo>
                  <a:pt x="46666" y="0"/>
                  <a:pt x="0" y="49411"/>
                  <a:pt x="0" y="105882"/>
                </a:cubicBezTo>
                <a:cubicBezTo>
                  <a:pt x="0" y="112941"/>
                  <a:pt x="6666" y="120000"/>
                  <a:pt x="13333" y="120000"/>
                </a:cubicBezTo>
                <a:cubicBezTo>
                  <a:pt x="20000" y="120000"/>
                  <a:pt x="26666" y="112941"/>
                  <a:pt x="26666" y="105882"/>
                </a:cubicBezTo>
                <a:cubicBezTo>
                  <a:pt x="26666" y="63529"/>
                  <a:pt x="60000" y="28235"/>
                  <a:pt x="106666" y="28235"/>
                </a:cubicBezTo>
                <a:cubicBezTo>
                  <a:pt x="113333" y="28235"/>
                  <a:pt x="120000" y="21176"/>
                  <a:pt x="120000" y="14117"/>
                </a:cubicBezTo>
                <a:cubicBezTo>
                  <a:pt x="120000" y="7058"/>
                  <a:pt x="113333" y="0"/>
                  <a:pt x="106666" y="0"/>
                </a:cubicBezTo>
                <a:close/>
                <a:moveTo>
                  <a:pt x="106666" y="0"/>
                </a:moveTo>
                <a:cubicBezTo>
                  <a:pt x="106666" y="0"/>
                  <a:pt x="106666" y="0"/>
                  <a:pt x="106666" y="0"/>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2" name="Shape 654"/>
          <p:cNvSpPr/>
          <p:nvPr>
            <p:custDataLst>
              <p:tags r:id="rId9"/>
            </p:custDataLst>
          </p:nvPr>
        </p:nvSpPr>
        <p:spPr>
          <a:xfrm>
            <a:off x="4150220" y="2116019"/>
            <a:ext cx="631729" cy="531098"/>
          </a:xfrm>
          <a:custGeom>
            <a:avLst/>
            <a:gdLst/>
            <a:ahLst/>
            <a:cxnLst/>
            <a:rect l="0" t="0" r="0" b="0"/>
            <a:pathLst>
              <a:path w="120000" h="120000" extrusionOk="0">
                <a:moveTo>
                  <a:pt x="111219" y="26796"/>
                </a:moveTo>
                <a:cubicBezTo>
                  <a:pt x="94634" y="23300"/>
                  <a:pt x="94634" y="23300"/>
                  <a:pt x="94634" y="23300"/>
                </a:cubicBezTo>
                <a:cubicBezTo>
                  <a:pt x="89756" y="8155"/>
                  <a:pt x="89756" y="8155"/>
                  <a:pt x="89756" y="8155"/>
                </a:cubicBezTo>
                <a:cubicBezTo>
                  <a:pt x="87804" y="3495"/>
                  <a:pt x="83902" y="0"/>
                  <a:pt x="79024" y="0"/>
                </a:cubicBezTo>
                <a:cubicBezTo>
                  <a:pt x="41951" y="0"/>
                  <a:pt x="41951" y="0"/>
                  <a:pt x="41951" y="0"/>
                </a:cubicBezTo>
                <a:cubicBezTo>
                  <a:pt x="37073" y="0"/>
                  <a:pt x="33170" y="3495"/>
                  <a:pt x="31219" y="8155"/>
                </a:cubicBezTo>
                <a:cubicBezTo>
                  <a:pt x="26341" y="23300"/>
                  <a:pt x="26341" y="23300"/>
                  <a:pt x="26341" y="23300"/>
                </a:cubicBezTo>
                <a:cubicBezTo>
                  <a:pt x="9756" y="26796"/>
                  <a:pt x="9756" y="26796"/>
                  <a:pt x="9756" y="26796"/>
                </a:cubicBezTo>
                <a:cubicBezTo>
                  <a:pt x="3902" y="27961"/>
                  <a:pt x="0" y="33786"/>
                  <a:pt x="0" y="39611"/>
                </a:cubicBezTo>
                <a:cubicBezTo>
                  <a:pt x="0" y="107184"/>
                  <a:pt x="0" y="107184"/>
                  <a:pt x="0" y="107184"/>
                </a:cubicBezTo>
                <a:cubicBezTo>
                  <a:pt x="0" y="114174"/>
                  <a:pt x="5853" y="120000"/>
                  <a:pt x="11707" y="120000"/>
                </a:cubicBezTo>
                <a:cubicBezTo>
                  <a:pt x="109268" y="120000"/>
                  <a:pt x="109268" y="120000"/>
                  <a:pt x="109268" y="120000"/>
                </a:cubicBezTo>
                <a:cubicBezTo>
                  <a:pt x="115121" y="120000"/>
                  <a:pt x="120000" y="114174"/>
                  <a:pt x="120000" y="107184"/>
                </a:cubicBezTo>
                <a:cubicBezTo>
                  <a:pt x="120000" y="39611"/>
                  <a:pt x="120000" y="39611"/>
                  <a:pt x="120000" y="39611"/>
                </a:cubicBezTo>
                <a:cubicBezTo>
                  <a:pt x="120000" y="33786"/>
                  <a:pt x="116097" y="27961"/>
                  <a:pt x="111219" y="26796"/>
                </a:cubicBezTo>
                <a:close/>
                <a:moveTo>
                  <a:pt x="112195" y="107184"/>
                </a:moveTo>
                <a:cubicBezTo>
                  <a:pt x="112195" y="109514"/>
                  <a:pt x="111219" y="111844"/>
                  <a:pt x="109268" y="111844"/>
                </a:cubicBezTo>
                <a:cubicBezTo>
                  <a:pt x="11707" y="111844"/>
                  <a:pt x="11707" y="111844"/>
                  <a:pt x="11707" y="111844"/>
                </a:cubicBezTo>
                <a:cubicBezTo>
                  <a:pt x="9756" y="111844"/>
                  <a:pt x="7804" y="109514"/>
                  <a:pt x="7804" y="107184"/>
                </a:cubicBezTo>
                <a:cubicBezTo>
                  <a:pt x="7804" y="39611"/>
                  <a:pt x="7804" y="39611"/>
                  <a:pt x="7804" y="39611"/>
                </a:cubicBezTo>
                <a:cubicBezTo>
                  <a:pt x="7804" y="37281"/>
                  <a:pt x="8780" y="36116"/>
                  <a:pt x="10731" y="34951"/>
                </a:cubicBezTo>
                <a:cubicBezTo>
                  <a:pt x="31219" y="31456"/>
                  <a:pt x="31219" y="31456"/>
                  <a:pt x="31219" y="31456"/>
                </a:cubicBezTo>
                <a:cubicBezTo>
                  <a:pt x="38048" y="11650"/>
                  <a:pt x="38048" y="11650"/>
                  <a:pt x="38048" y="11650"/>
                </a:cubicBezTo>
                <a:cubicBezTo>
                  <a:pt x="39024" y="9320"/>
                  <a:pt x="40000" y="8155"/>
                  <a:pt x="41951" y="8155"/>
                </a:cubicBezTo>
                <a:cubicBezTo>
                  <a:pt x="79024" y="8155"/>
                  <a:pt x="79024" y="8155"/>
                  <a:pt x="79024" y="8155"/>
                </a:cubicBezTo>
                <a:cubicBezTo>
                  <a:pt x="80975" y="8155"/>
                  <a:pt x="81951" y="9320"/>
                  <a:pt x="82926" y="11650"/>
                </a:cubicBezTo>
                <a:cubicBezTo>
                  <a:pt x="88780" y="31456"/>
                  <a:pt x="88780" y="31456"/>
                  <a:pt x="88780" y="31456"/>
                </a:cubicBezTo>
                <a:cubicBezTo>
                  <a:pt x="109268" y="34951"/>
                  <a:pt x="109268" y="34951"/>
                  <a:pt x="109268" y="34951"/>
                </a:cubicBezTo>
                <a:cubicBezTo>
                  <a:pt x="111219" y="36116"/>
                  <a:pt x="112195" y="37281"/>
                  <a:pt x="112195" y="39611"/>
                </a:cubicBezTo>
                <a:lnTo>
                  <a:pt x="112195" y="107184"/>
                </a:lnTo>
                <a:close/>
                <a:moveTo>
                  <a:pt x="112195" y="107184"/>
                </a:moveTo>
                <a:cubicBezTo>
                  <a:pt x="112195" y="107184"/>
                  <a:pt x="112195" y="107184"/>
                  <a:pt x="112195" y="107184"/>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9" name="文本框 38"/>
          <p:cNvSpPr txBox="1"/>
          <p:nvPr>
            <p:custDataLst>
              <p:tags r:id="rId10"/>
            </p:custDataLst>
          </p:nvPr>
        </p:nvSpPr>
        <p:spPr>
          <a:xfrm>
            <a:off x="1907704" y="3127254"/>
            <a:ext cx="1334305" cy="302775"/>
          </a:xfrm>
          <a:prstGeom prst="rect">
            <a:avLst/>
          </a:prstGeom>
          <a:noFill/>
        </p:spPr>
        <p:txBody>
          <a:bodyPr wrap="square" bIns="0" rtlCol="0" anchor="b" anchorCtr="0">
            <a:noAutofit/>
          </a:bodyPr>
          <a:lstStyle/>
          <a:p>
            <a:pPr algn="ctr">
              <a:lnSpc>
                <a:spcPct val="120000"/>
              </a:lnSpc>
            </a:pPr>
            <a:r>
              <a:rPr lang="zh-CN" altLang="en-US" sz="1600" b="1" spc="300" dirty="0">
                <a:latin typeface="Arial" panose="020B0604020202020204" pitchFamily="34" charset="0"/>
                <a:ea typeface="微软雅黑" panose="020B0503020204020204" charset="-122"/>
                <a:sym typeface="Arial" panose="020B0604020202020204" pitchFamily="34" charset="0"/>
              </a:rPr>
              <a:t>活动性</a:t>
            </a:r>
          </a:p>
        </p:txBody>
      </p:sp>
      <p:sp>
        <p:nvSpPr>
          <p:cNvPr id="42" name="文本框 18"/>
          <p:cNvSpPr txBox="1"/>
          <p:nvPr>
            <p:custDataLst>
              <p:tags r:id="rId11"/>
            </p:custDataLst>
          </p:nvPr>
        </p:nvSpPr>
        <p:spPr>
          <a:xfrm>
            <a:off x="1835696" y="3468988"/>
            <a:ext cx="1279220" cy="656521"/>
          </a:xfrm>
          <a:prstGeom prst="rect">
            <a:avLst/>
          </a:prstGeom>
          <a:noFill/>
        </p:spPr>
        <p:txBody>
          <a:bodyPr wrap="square" lIns="67500" tIns="0" rIns="67500" bIns="35100">
            <a:no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20000"/>
              </a:lnSpc>
            </a:pPr>
            <a:r>
              <a:rPr lang="en-US" altLang="zh-CN" sz="1600" spc="150" dirty="0">
                <a:sym typeface="Arial" panose="020B0604020202020204" pitchFamily="34" charset="0"/>
              </a:rPr>
              <a:t>Degree of mobility</a:t>
            </a:r>
            <a:endParaRPr lang="zh-CN" altLang="en-US" sz="1600" spc="150" dirty="0">
              <a:sym typeface="Arial" panose="020B0604020202020204" pitchFamily="34" charset="0"/>
            </a:endParaRPr>
          </a:p>
        </p:txBody>
      </p:sp>
      <p:sp>
        <p:nvSpPr>
          <p:cNvPr id="43" name="文本框 42"/>
          <p:cNvSpPr txBox="1"/>
          <p:nvPr>
            <p:custDataLst>
              <p:tags r:id="rId12"/>
            </p:custDataLst>
          </p:nvPr>
        </p:nvSpPr>
        <p:spPr>
          <a:xfrm>
            <a:off x="5718596" y="3226019"/>
            <a:ext cx="1334305" cy="302775"/>
          </a:xfrm>
          <a:prstGeom prst="rect">
            <a:avLst/>
          </a:prstGeom>
          <a:noFill/>
        </p:spPr>
        <p:txBody>
          <a:bodyPr wrap="square" bIns="0" rtlCol="0" anchor="b" anchorCtr="0">
            <a:noAutofit/>
          </a:bodyPr>
          <a:lstStyle/>
          <a:p>
            <a:pPr algn="ctr">
              <a:lnSpc>
                <a:spcPct val="120000"/>
              </a:lnSpc>
            </a:pPr>
            <a:r>
              <a:rPr lang="zh-CN" altLang="en-US" sz="1600" b="1" spc="300" dirty="0">
                <a:latin typeface="Arial" panose="020B0604020202020204" pitchFamily="34" charset="0"/>
                <a:ea typeface="微软雅黑" panose="020B0503020204020204" charset="-122"/>
                <a:sym typeface="Arial" panose="020B0604020202020204" pitchFamily="34" charset="0"/>
              </a:rPr>
              <a:t>机动性</a:t>
            </a:r>
          </a:p>
        </p:txBody>
      </p:sp>
      <p:sp>
        <p:nvSpPr>
          <p:cNvPr id="44" name="文本框 18"/>
          <p:cNvSpPr txBox="1"/>
          <p:nvPr>
            <p:custDataLst>
              <p:tags r:id="rId13"/>
            </p:custDataLst>
          </p:nvPr>
        </p:nvSpPr>
        <p:spPr>
          <a:xfrm>
            <a:off x="5394971" y="3567753"/>
            <a:ext cx="1944216" cy="656521"/>
          </a:xfrm>
          <a:prstGeom prst="rect">
            <a:avLst/>
          </a:prstGeom>
          <a:noFill/>
        </p:spPr>
        <p:txBody>
          <a:bodyPr wrap="square" lIns="67500" tIns="0" rIns="67500" bIns="35100">
            <a:norm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20000"/>
              </a:lnSpc>
            </a:pPr>
            <a:r>
              <a:rPr lang="en-US" altLang="zh-CN" sz="1600" spc="150" dirty="0">
                <a:sym typeface="Arial" panose="020B0604020202020204" pitchFamily="34" charset="0"/>
              </a:rPr>
              <a:t>maneuverability</a:t>
            </a:r>
            <a:endParaRPr lang="zh-CN" altLang="en-US" sz="1600" spc="150" dirty="0">
              <a:sym typeface="Arial" panose="020B0604020202020204" pitchFamily="34" charset="0"/>
            </a:endParaRPr>
          </a:p>
        </p:txBody>
      </p:sp>
      <p:sp>
        <p:nvSpPr>
          <p:cNvPr id="45" name="文本框 44"/>
          <p:cNvSpPr txBox="1"/>
          <p:nvPr>
            <p:custDataLst>
              <p:tags r:id="rId14"/>
            </p:custDataLst>
          </p:nvPr>
        </p:nvSpPr>
        <p:spPr>
          <a:xfrm>
            <a:off x="3808197" y="3159367"/>
            <a:ext cx="1334305" cy="302775"/>
          </a:xfrm>
          <a:prstGeom prst="rect">
            <a:avLst/>
          </a:prstGeom>
          <a:noFill/>
        </p:spPr>
        <p:txBody>
          <a:bodyPr wrap="square" bIns="0" rtlCol="0" anchor="b" anchorCtr="0">
            <a:noAutofit/>
          </a:bodyPr>
          <a:lstStyle/>
          <a:p>
            <a:pPr algn="ctr">
              <a:lnSpc>
                <a:spcPct val="120000"/>
              </a:lnSpc>
            </a:pPr>
            <a:r>
              <a:rPr lang="zh-CN" altLang="en-US" sz="1600" b="1" spc="300" dirty="0">
                <a:latin typeface="Arial" panose="020B0604020202020204" pitchFamily="34" charset="0"/>
                <a:ea typeface="微软雅黑" panose="020B0503020204020204" charset="-122"/>
                <a:sym typeface="Arial" panose="020B0604020202020204" pitchFamily="34" charset="0"/>
              </a:rPr>
              <a:t>可操纵度</a:t>
            </a:r>
          </a:p>
        </p:txBody>
      </p:sp>
      <p:sp>
        <p:nvSpPr>
          <p:cNvPr id="46" name="文本框 18"/>
          <p:cNvSpPr txBox="1"/>
          <p:nvPr>
            <p:custDataLst>
              <p:tags r:id="rId15"/>
            </p:custDataLst>
          </p:nvPr>
        </p:nvSpPr>
        <p:spPr>
          <a:xfrm>
            <a:off x="3885767" y="3445181"/>
            <a:ext cx="1334305" cy="656521"/>
          </a:xfrm>
          <a:prstGeom prst="rect">
            <a:avLst/>
          </a:prstGeom>
          <a:noFill/>
        </p:spPr>
        <p:txBody>
          <a:bodyPr wrap="square" lIns="67500" tIns="0" rIns="67500" bIns="35100">
            <a:norm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20000"/>
              </a:lnSpc>
            </a:pPr>
            <a:r>
              <a:rPr lang="en-US" altLang="zh-CN" sz="1600" spc="150" dirty="0">
                <a:sym typeface="Arial" panose="020B0604020202020204" pitchFamily="34" charset="0"/>
              </a:rPr>
              <a:t>Degree of </a:t>
            </a:r>
            <a:r>
              <a:rPr lang="en-US" altLang="zh-CN" sz="1600" spc="150" dirty="0" err="1">
                <a:sym typeface="Arial" panose="020B0604020202020204" pitchFamily="34" charset="0"/>
              </a:rPr>
              <a:t>steerability</a:t>
            </a:r>
            <a:endParaRPr lang="zh-CN" altLang="en-US" sz="1600" spc="150" dirty="0">
              <a:sym typeface="Arial" panose="020B0604020202020204" pitchFamily="34" charset="0"/>
            </a:endParaRPr>
          </a:p>
        </p:txBody>
      </p:sp>
      <p:sp>
        <p:nvSpPr>
          <p:cNvPr id="25" name="矩形 24"/>
          <p:cNvSpPr/>
          <p:nvPr/>
        </p:nvSpPr>
        <p:spPr>
          <a:xfrm>
            <a:off x="2985735" y="303036"/>
            <a:ext cx="3222357" cy="400110"/>
          </a:xfrm>
          <a:prstGeom prst="rect">
            <a:avLst/>
          </a:prstGeom>
        </p:spPr>
        <p:txBody>
          <a:bodyPr wrap="none">
            <a:spAutoFit/>
          </a:bodyPr>
          <a:lstStyle/>
          <a:p>
            <a:r>
              <a:rPr lang="en-US" altLang="zh-CN" sz="2000" b="1" dirty="0">
                <a:solidFill>
                  <a:srgbClr val="002060"/>
                </a:solidFill>
              </a:rPr>
              <a:t>3.12.4 </a:t>
            </a:r>
            <a:r>
              <a:rPr lang="zh-CN" altLang="en-US" sz="2000" b="1" dirty="0">
                <a:solidFill>
                  <a:srgbClr val="002060"/>
                </a:solidFill>
              </a:rPr>
              <a:t>移动机器人的机动性</a:t>
            </a:r>
          </a:p>
        </p:txBody>
      </p:sp>
    </p:spTree>
    <p:extLst>
      <p:ext uri="{BB962C8B-B14F-4D97-AF65-F5344CB8AC3E}">
        <p14:creationId xmlns:p14="http://schemas.microsoft.com/office/powerpoint/2010/main" val="32591168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880743" y="651014"/>
            <a:ext cx="3114955" cy="369332"/>
          </a:xfrm>
          <a:prstGeom prst="rect">
            <a:avLst/>
          </a:prstGeom>
        </p:spPr>
        <p:txBody>
          <a:bodyPr wrap="none">
            <a:spAutoFit/>
          </a:bodyPr>
          <a:lstStyle/>
          <a:p>
            <a:r>
              <a:rPr lang="en-US" altLang="zh-CN" b="1" dirty="0">
                <a:solidFill>
                  <a:srgbClr val="002060"/>
                </a:solidFill>
              </a:rPr>
              <a:t>Mobile Robot Maneuverability</a:t>
            </a:r>
            <a:endParaRPr lang="zh-CN" altLang="en-US" sz="1800" b="1" dirty="0">
              <a:solidFill>
                <a:srgbClr val="002060"/>
              </a:solidFill>
            </a:endParaRPr>
          </a:p>
        </p:txBody>
      </p:sp>
      <p:sp>
        <p:nvSpPr>
          <p:cNvPr id="22" name="椭圆 21"/>
          <p:cNvSpPr/>
          <p:nvPr>
            <p:custDataLst>
              <p:tags r:id="rId1"/>
            </p:custDataLst>
          </p:nvPr>
        </p:nvSpPr>
        <p:spPr>
          <a:xfrm>
            <a:off x="614131" y="1716987"/>
            <a:ext cx="1329162" cy="1329162"/>
          </a:xfrm>
          <a:prstGeom prst="ellipse">
            <a:avLst/>
          </a:prstGeom>
          <a:solidFill>
            <a:srgbClr val="0065B0"/>
          </a:solidFill>
          <a:ln w="63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27" name="Shape 647"/>
          <p:cNvSpPr/>
          <p:nvPr>
            <p:custDataLst>
              <p:tags r:id="rId2"/>
            </p:custDataLst>
          </p:nvPr>
        </p:nvSpPr>
        <p:spPr>
          <a:xfrm>
            <a:off x="962674" y="2141088"/>
            <a:ext cx="639397" cy="480960"/>
          </a:xfrm>
          <a:custGeom>
            <a:avLst/>
            <a:gdLst/>
            <a:ahLst/>
            <a:cxnLst/>
            <a:rect l="0" t="0" r="0" b="0"/>
            <a:pathLst>
              <a:path w="120000" h="120000" extrusionOk="0">
                <a:moveTo>
                  <a:pt x="117073" y="28695"/>
                </a:moveTo>
                <a:cubicBezTo>
                  <a:pt x="98536" y="2608"/>
                  <a:pt x="98536" y="2608"/>
                  <a:pt x="98536" y="2608"/>
                </a:cubicBezTo>
                <a:cubicBezTo>
                  <a:pt x="97560" y="1304"/>
                  <a:pt x="95609" y="0"/>
                  <a:pt x="93658" y="0"/>
                </a:cubicBezTo>
                <a:cubicBezTo>
                  <a:pt x="26341" y="0"/>
                  <a:pt x="26341" y="0"/>
                  <a:pt x="26341" y="0"/>
                </a:cubicBezTo>
                <a:cubicBezTo>
                  <a:pt x="24390" y="0"/>
                  <a:pt x="22439" y="1304"/>
                  <a:pt x="21463" y="2608"/>
                </a:cubicBezTo>
                <a:cubicBezTo>
                  <a:pt x="1951" y="28695"/>
                  <a:pt x="1951" y="28695"/>
                  <a:pt x="1951" y="28695"/>
                </a:cubicBezTo>
                <a:cubicBezTo>
                  <a:pt x="975" y="30000"/>
                  <a:pt x="0" y="32608"/>
                  <a:pt x="0" y="35217"/>
                </a:cubicBezTo>
                <a:cubicBezTo>
                  <a:pt x="0" y="37826"/>
                  <a:pt x="975" y="40434"/>
                  <a:pt x="1951" y="41739"/>
                </a:cubicBezTo>
                <a:cubicBezTo>
                  <a:pt x="54634" y="117391"/>
                  <a:pt x="54634" y="117391"/>
                  <a:pt x="54634" y="117391"/>
                </a:cubicBezTo>
                <a:cubicBezTo>
                  <a:pt x="55609" y="118695"/>
                  <a:pt x="57560" y="120000"/>
                  <a:pt x="59512" y="120000"/>
                </a:cubicBezTo>
                <a:cubicBezTo>
                  <a:pt x="62439" y="120000"/>
                  <a:pt x="64390" y="118695"/>
                  <a:pt x="65365" y="117391"/>
                </a:cubicBezTo>
                <a:cubicBezTo>
                  <a:pt x="118048" y="41739"/>
                  <a:pt x="118048" y="41739"/>
                  <a:pt x="118048" y="41739"/>
                </a:cubicBezTo>
                <a:cubicBezTo>
                  <a:pt x="119024" y="40434"/>
                  <a:pt x="120000" y="37826"/>
                  <a:pt x="120000" y="35217"/>
                </a:cubicBezTo>
                <a:cubicBezTo>
                  <a:pt x="120000" y="32608"/>
                  <a:pt x="119024" y="30000"/>
                  <a:pt x="117073" y="28695"/>
                </a:cubicBezTo>
                <a:close/>
                <a:moveTo>
                  <a:pt x="90731" y="10434"/>
                </a:moveTo>
                <a:cubicBezTo>
                  <a:pt x="83902" y="18260"/>
                  <a:pt x="83902" y="18260"/>
                  <a:pt x="83902" y="18260"/>
                </a:cubicBezTo>
                <a:cubicBezTo>
                  <a:pt x="77073" y="10434"/>
                  <a:pt x="77073" y="10434"/>
                  <a:pt x="77073" y="10434"/>
                </a:cubicBezTo>
                <a:lnTo>
                  <a:pt x="90731" y="10434"/>
                </a:lnTo>
                <a:close/>
                <a:moveTo>
                  <a:pt x="90731" y="35217"/>
                </a:moveTo>
                <a:cubicBezTo>
                  <a:pt x="74146" y="35217"/>
                  <a:pt x="74146" y="35217"/>
                  <a:pt x="74146" y="35217"/>
                </a:cubicBezTo>
                <a:cubicBezTo>
                  <a:pt x="82926" y="24782"/>
                  <a:pt x="82926" y="24782"/>
                  <a:pt x="82926" y="24782"/>
                </a:cubicBezTo>
                <a:lnTo>
                  <a:pt x="90731" y="35217"/>
                </a:lnTo>
                <a:close/>
                <a:moveTo>
                  <a:pt x="80975" y="20869"/>
                </a:moveTo>
                <a:cubicBezTo>
                  <a:pt x="71219" y="32608"/>
                  <a:pt x="71219" y="32608"/>
                  <a:pt x="71219" y="32608"/>
                </a:cubicBezTo>
                <a:cubicBezTo>
                  <a:pt x="62439" y="22173"/>
                  <a:pt x="62439" y="22173"/>
                  <a:pt x="62439" y="22173"/>
                </a:cubicBezTo>
                <a:cubicBezTo>
                  <a:pt x="73170" y="11739"/>
                  <a:pt x="73170" y="11739"/>
                  <a:pt x="73170" y="11739"/>
                </a:cubicBezTo>
                <a:lnTo>
                  <a:pt x="80975" y="20869"/>
                </a:lnTo>
                <a:close/>
                <a:moveTo>
                  <a:pt x="68292" y="35217"/>
                </a:moveTo>
                <a:cubicBezTo>
                  <a:pt x="51707" y="35217"/>
                  <a:pt x="51707" y="35217"/>
                  <a:pt x="51707" y="35217"/>
                </a:cubicBezTo>
                <a:cubicBezTo>
                  <a:pt x="59512" y="26086"/>
                  <a:pt x="59512" y="26086"/>
                  <a:pt x="59512" y="26086"/>
                </a:cubicBezTo>
                <a:lnTo>
                  <a:pt x="68292" y="35217"/>
                </a:lnTo>
                <a:close/>
                <a:moveTo>
                  <a:pt x="68292" y="10434"/>
                </a:moveTo>
                <a:cubicBezTo>
                  <a:pt x="59512" y="19565"/>
                  <a:pt x="59512" y="19565"/>
                  <a:pt x="59512" y="19565"/>
                </a:cubicBezTo>
                <a:cubicBezTo>
                  <a:pt x="51707" y="10434"/>
                  <a:pt x="51707" y="10434"/>
                  <a:pt x="51707" y="10434"/>
                </a:cubicBezTo>
                <a:lnTo>
                  <a:pt x="68292" y="10434"/>
                </a:lnTo>
                <a:close/>
                <a:moveTo>
                  <a:pt x="56585" y="22173"/>
                </a:moveTo>
                <a:cubicBezTo>
                  <a:pt x="48780" y="32608"/>
                  <a:pt x="48780" y="32608"/>
                  <a:pt x="48780" y="32608"/>
                </a:cubicBezTo>
                <a:cubicBezTo>
                  <a:pt x="39024" y="20869"/>
                  <a:pt x="39024" y="20869"/>
                  <a:pt x="39024" y="20869"/>
                </a:cubicBezTo>
                <a:cubicBezTo>
                  <a:pt x="46829" y="11739"/>
                  <a:pt x="46829" y="11739"/>
                  <a:pt x="46829" y="11739"/>
                </a:cubicBezTo>
                <a:lnTo>
                  <a:pt x="56585" y="22173"/>
                </a:lnTo>
                <a:close/>
                <a:moveTo>
                  <a:pt x="45853" y="35217"/>
                </a:moveTo>
                <a:cubicBezTo>
                  <a:pt x="29268" y="35217"/>
                  <a:pt x="29268" y="35217"/>
                  <a:pt x="29268" y="35217"/>
                </a:cubicBezTo>
                <a:cubicBezTo>
                  <a:pt x="36097" y="24782"/>
                  <a:pt x="36097" y="24782"/>
                  <a:pt x="36097" y="24782"/>
                </a:cubicBezTo>
                <a:lnTo>
                  <a:pt x="45853" y="35217"/>
                </a:lnTo>
                <a:close/>
                <a:moveTo>
                  <a:pt x="41951" y="10434"/>
                </a:moveTo>
                <a:cubicBezTo>
                  <a:pt x="36097" y="18260"/>
                  <a:pt x="36097" y="18260"/>
                  <a:pt x="36097" y="18260"/>
                </a:cubicBezTo>
                <a:cubicBezTo>
                  <a:pt x="29268" y="10434"/>
                  <a:pt x="29268" y="10434"/>
                  <a:pt x="29268" y="10434"/>
                </a:cubicBezTo>
                <a:lnTo>
                  <a:pt x="41951" y="10434"/>
                </a:lnTo>
                <a:close/>
                <a:moveTo>
                  <a:pt x="25365" y="11739"/>
                </a:moveTo>
                <a:cubicBezTo>
                  <a:pt x="33170" y="22173"/>
                  <a:pt x="33170" y="22173"/>
                  <a:pt x="33170" y="22173"/>
                </a:cubicBezTo>
                <a:cubicBezTo>
                  <a:pt x="23414" y="35217"/>
                  <a:pt x="23414" y="35217"/>
                  <a:pt x="23414" y="35217"/>
                </a:cubicBezTo>
                <a:cubicBezTo>
                  <a:pt x="7804" y="35217"/>
                  <a:pt x="7804" y="35217"/>
                  <a:pt x="7804" y="35217"/>
                </a:cubicBezTo>
                <a:lnTo>
                  <a:pt x="25365" y="11739"/>
                </a:lnTo>
                <a:close/>
                <a:moveTo>
                  <a:pt x="10731" y="40434"/>
                </a:moveTo>
                <a:cubicBezTo>
                  <a:pt x="24390" y="40434"/>
                  <a:pt x="24390" y="40434"/>
                  <a:pt x="24390" y="40434"/>
                </a:cubicBezTo>
                <a:cubicBezTo>
                  <a:pt x="47804" y="92608"/>
                  <a:pt x="47804" y="92608"/>
                  <a:pt x="47804" y="92608"/>
                </a:cubicBezTo>
                <a:lnTo>
                  <a:pt x="10731" y="40434"/>
                </a:lnTo>
                <a:close/>
                <a:moveTo>
                  <a:pt x="28292" y="40434"/>
                </a:moveTo>
                <a:cubicBezTo>
                  <a:pt x="46829" y="40434"/>
                  <a:pt x="46829" y="40434"/>
                  <a:pt x="46829" y="40434"/>
                </a:cubicBezTo>
                <a:cubicBezTo>
                  <a:pt x="55609" y="101739"/>
                  <a:pt x="55609" y="101739"/>
                  <a:pt x="55609" y="101739"/>
                </a:cubicBezTo>
                <a:lnTo>
                  <a:pt x="28292" y="40434"/>
                </a:lnTo>
                <a:close/>
                <a:moveTo>
                  <a:pt x="50731" y="40434"/>
                </a:moveTo>
                <a:cubicBezTo>
                  <a:pt x="69268" y="40434"/>
                  <a:pt x="69268" y="40434"/>
                  <a:pt x="69268" y="40434"/>
                </a:cubicBezTo>
                <a:cubicBezTo>
                  <a:pt x="59512" y="103043"/>
                  <a:pt x="59512" y="103043"/>
                  <a:pt x="59512" y="103043"/>
                </a:cubicBezTo>
                <a:lnTo>
                  <a:pt x="50731" y="40434"/>
                </a:lnTo>
                <a:close/>
                <a:moveTo>
                  <a:pt x="63414" y="101739"/>
                </a:moveTo>
                <a:cubicBezTo>
                  <a:pt x="73170" y="40434"/>
                  <a:pt x="73170" y="40434"/>
                  <a:pt x="73170" y="40434"/>
                </a:cubicBezTo>
                <a:cubicBezTo>
                  <a:pt x="91707" y="40434"/>
                  <a:pt x="91707" y="40434"/>
                  <a:pt x="91707" y="40434"/>
                </a:cubicBezTo>
                <a:lnTo>
                  <a:pt x="63414" y="101739"/>
                </a:lnTo>
                <a:close/>
                <a:moveTo>
                  <a:pt x="72195" y="92608"/>
                </a:moveTo>
                <a:cubicBezTo>
                  <a:pt x="95609" y="40434"/>
                  <a:pt x="95609" y="40434"/>
                  <a:pt x="95609" y="40434"/>
                </a:cubicBezTo>
                <a:cubicBezTo>
                  <a:pt x="109268" y="40434"/>
                  <a:pt x="109268" y="40434"/>
                  <a:pt x="109268" y="40434"/>
                </a:cubicBezTo>
                <a:lnTo>
                  <a:pt x="72195" y="92608"/>
                </a:lnTo>
                <a:close/>
                <a:moveTo>
                  <a:pt x="96585" y="35217"/>
                </a:moveTo>
                <a:cubicBezTo>
                  <a:pt x="85853" y="22173"/>
                  <a:pt x="85853" y="22173"/>
                  <a:pt x="85853" y="22173"/>
                </a:cubicBezTo>
                <a:cubicBezTo>
                  <a:pt x="94634" y="11739"/>
                  <a:pt x="94634" y="11739"/>
                  <a:pt x="94634" y="11739"/>
                </a:cubicBezTo>
                <a:cubicBezTo>
                  <a:pt x="112195" y="35217"/>
                  <a:pt x="112195" y="35217"/>
                  <a:pt x="112195" y="35217"/>
                </a:cubicBezTo>
                <a:lnTo>
                  <a:pt x="96585" y="35217"/>
                </a:lnTo>
                <a:close/>
                <a:moveTo>
                  <a:pt x="96585" y="35217"/>
                </a:moveTo>
                <a:cubicBezTo>
                  <a:pt x="96585" y="35217"/>
                  <a:pt x="96585" y="35217"/>
                  <a:pt x="96585" y="35217"/>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9" name="文本框 38"/>
          <p:cNvSpPr txBox="1"/>
          <p:nvPr>
            <p:custDataLst>
              <p:tags r:id="rId3"/>
            </p:custDataLst>
          </p:nvPr>
        </p:nvSpPr>
        <p:spPr>
          <a:xfrm>
            <a:off x="611560" y="3127254"/>
            <a:ext cx="1334305" cy="302775"/>
          </a:xfrm>
          <a:prstGeom prst="rect">
            <a:avLst/>
          </a:prstGeom>
          <a:noFill/>
        </p:spPr>
        <p:txBody>
          <a:bodyPr wrap="square" bIns="0" rtlCol="0" anchor="b" anchorCtr="0">
            <a:noAutofit/>
          </a:bodyPr>
          <a:lstStyle/>
          <a:p>
            <a:pPr algn="ctr">
              <a:lnSpc>
                <a:spcPct val="120000"/>
              </a:lnSpc>
            </a:pPr>
            <a:r>
              <a:rPr lang="zh-CN" altLang="en-US" sz="1600" b="1" spc="300" dirty="0">
                <a:latin typeface="Arial" panose="020B0604020202020204" pitchFamily="34" charset="0"/>
                <a:ea typeface="微软雅黑" panose="020B0503020204020204" charset="-122"/>
                <a:sym typeface="Arial" panose="020B0604020202020204" pitchFamily="34" charset="0"/>
              </a:rPr>
              <a:t>活动性</a:t>
            </a:r>
          </a:p>
        </p:txBody>
      </p:sp>
      <p:sp>
        <p:nvSpPr>
          <p:cNvPr id="42" name="文本框 18"/>
          <p:cNvSpPr txBox="1"/>
          <p:nvPr>
            <p:custDataLst>
              <p:tags r:id="rId4"/>
            </p:custDataLst>
          </p:nvPr>
        </p:nvSpPr>
        <p:spPr>
          <a:xfrm>
            <a:off x="700492" y="3468988"/>
            <a:ext cx="1279220" cy="656521"/>
          </a:xfrm>
          <a:prstGeom prst="rect">
            <a:avLst/>
          </a:prstGeom>
          <a:noFill/>
        </p:spPr>
        <p:txBody>
          <a:bodyPr wrap="square" lIns="67500" tIns="0" rIns="67500" bIns="35100">
            <a:no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20000"/>
              </a:lnSpc>
            </a:pPr>
            <a:r>
              <a:rPr lang="en-US" altLang="zh-CN" sz="1600" spc="150" dirty="0">
                <a:sym typeface="Arial" panose="020B0604020202020204" pitchFamily="34" charset="0"/>
              </a:rPr>
              <a:t>Degree of mobility</a:t>
            </a:r>
            <a:endParaRPr lang="zh-CN" altLang="en-US" sz="1600" spc="150" dirty="0">
              <a:sym typeface="Arial" panose="020B0604020202020204" pitchFamily="34" charset="0"/>
            </a:endParaRPr>
          </a:p>
        </p:txBody>
      </p:sp>
      <p:grpSp>
        <p:nvGrpSpPr>
          <p:cNvPr id="2" name="组合 1"/>
          <p:cNvGrpSpPr/>
          <p:nvPr/>
        </p:nvGrpSpPr>
        <p:grpSpPr>
          <a:xfrm>
            <a:off x="2104605" y="1242836"/>
            <a:ext cx="3216268" cy="1773174"/>
            <a:chOff x="2291836" y="1265093"/>
            <a:chExt cx="3703862" cy="2746375"/>
          </a:xfrm>
        </p:grpSpPr>
        <p:pic>
          <p:nvPicPr>
            <p:cNvPr id="2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1836" y="1265093"/>
              <a:ext cx="1714500"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1648" y="1296843"/>
              <a:ext cx="192405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3" name="图片 32"/>
          <p:cNvPicPr/>
          <p:nvPr/>
        </p:nvPicPr>
        <p:blipFill>
          <a:blip r:embed="rId9"/>
          <a:stretch>
            <a:fillRect/>
          </a:stretch>
        </p:blipFill>
        <p:spPr>
          <a:xfrm>
            <a:off x="2112597" y="3127254"/>
            <a:ext cx="5274310" cy="1887220"/>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5983350" y="1332343"/>
                <a:ext cx="1373838" cy="287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=0</m:t>
                      </m:r>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5983350" y="1332343"/>
                <a:ext cx="1373838" cy="287707"/>
              </a:xfrm>
              <a:prstGeom prst="rect">
                <a:avLst/>
              </a:prstGeom>
              <a:blipFill>
                <a:blip r:embed="rId10"/>
                <a:stretch>
                  <a:fillRect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7308304" y="1225845"/>
                <a:ext cx="1446165" cy="503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r>
                                      <a:rPr lang="zh-CN" altLang="en-US" sz="1200" i="1">
                                        <a:latin typeface="Cambria Math" panose="02040503050406030204" pitchFamily="18" charset="0"/>
                                      </a:rPr>
                                      <m:t>𝑓</m:t>
                                    </m:r>
                                  </m:sub>
                                </m:sSub>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r>
                                          <a:rPr lang="zh-CN" altLang="en-US" sz="1200" i="1">
                                            <a:latin typeface="Cambria Math" panose="02040503050406030204" pitchFamily="18" charset="0"/>
                                          </a:rPr>
                                          <m:t>𝑠</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e>
                            </m:mr>
                          </m:m>
                        </m:e>
                      </m:d>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7308304" y="1225845"/>
                <a:ext cx="1446165" cy="503279"/>
              </a:xfrm>
              <a:prstGeom prst="rect">
                <a:avLst/>
              </a:prstGeom>
              <a:blipFill>
                <a:blip r:embed="rId11"/>
                <a:stretch>
                  <a:fillRect t="-16867" r="-18987" b="-867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5309826" y="2313352"/>
                <a:ext cx="3505190" cy="3387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400" b="1" i="1" smtClean="0">
                              <a:solidFill>
                                <a:srgbClr val="002060"/>
                              </a:solidFill>
                              <a:latin typeface="Cambria Math" panose="02040503050406030204" pitchFamily="18" charset="0"/>
                            </a:rPr>
                          </m:ctrlPr>
                        </m:dPr>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𝜹</m:t>
                              </m:r>
                            </m:e>
                            <m:sub>
                              <m:r>
                                <a:rPr lang="zh-CN" altLang="en-US" sz="1400" b="1" i="1">
                                  <a:solidFill>
                                    <a:srgbClr val="002060"/>
                                  </a:solidFill>
                                  <a:latin typeface="Cambria Math" panose="02040503050406030204" pitchFamily="18" charset="0"/>
                                </a:rPr>
                                <m:t>𝒎</m:t>
                              </m:r>
                            </m:sub>
                          </m:sSub>
                          <m:r>
                            <a:rPr lang="zh-CN" altLang="en-US" sz="1400" b="1" i="0">
                              <a:solidFill>
                                <a:srgbClr val="002060"/>
                              </a:solidFill>
                              <a:latin typeface="Cambria Math" panose="02040503050406030204" pitchFamily="18" charset="0"/>
                            </a:rPr>
                            <m:t>=</m:t>
                          </m:r>
                          <m:r>
                            <a:rPr lang="zh-CN" altLang="en-US" sz="1400" b="1" i="1">
                              <a:solidFill>
                                <a:srgbClr val="002060"/>
                              </a:solidFill>
                              <a:latin typeface="Cambria Math" panose="02040503050406030204" pitchFamily="18" charset="0"/>
                            </a:rPr>
                            <m:t>𝒅𝒊𝒎𝑵</m:t>
                          </m:r>
                          <m:sSub>
                            <m:sSubPr>
                              <m:ctrlPr>
                                <a:rPr lang="zh-CN" altLang="en-US" sz="1400" b="1" i="1">
                                  <a:solidFill>
                                    <a:srgbClr val="002060"/>
                                  </a:solidFill>
                                  <a:latin typeface="Cambria Math" panose="02040503050406030204" pitchFamily="18" charset="0"/>
                                </a:rPr>
                              </m:ctrlPr>
                            </m:sSubPr>
                            <m:e>
                              <m:d>
                                <m:dPr>
                                  <m:begChr m:val="["/>
                                  <m:endChr m:val=""/>
                                  <m:ctrlPr>
                                    <a:rPr lang="zh-CN" altLang="en-US" sz="1400" b="1" i="1">
                                      <a:solidFill>
                                        <a:srgbClr val="002060"/>
                                      </a:solidFill>
                                      <a:latin typeface="Cambria Math" panose="02040503050406030204" pitchFamily="18" charset="0"/>
                                    </a:rPr>
                                  </m:ctrlPr>
                                </m:dPr>
                                <m:e>
                                  <m:r>
                                    <a:rPr lang="zh-CN" altLang="en-US" sz="1400" b="1" i="1">
                                      <a:solidFill>
                                        <a:srgbClr val="002060"/>
                                      </a:solidFill>
                                      <a:latin typeface="Cambria Math" panose="02040503050406030204" pitchFamily="18" charset="0"/>
                                    </a:rPr>
                                    <m:t>𝑪</m:t>
                                  </m:r>
                                </m:e>
                              </m:d>
                            </m:e>
                            <m:sub>
                              <m:r>
                                <a:rPr lang="zh-CN" altLang="en-US" sz="1400" b="1" i="0">
                                  <a:solidFill>
                                    <a:srgbClr val="002060"/>
                                  </a:solidFill>
                                  <a:latin typeface="Cambria Math" panose="02040503050406030204" pitchFamily="18" charset="0"/>
                                </a:rPr>
                                <m:t>𝟏</m:t>
                              </m:r>
                            </m:sub>
                          </m:sSub>
                          <m:d>
                            <m:dPr>
                              <m:ctrlPr>
                                <a:rPr lang="zh-CN" altLang="en-US" sz="1400" b="1" i="1">
                                  <a:solidFill>
                                    <a:srgbClr val="002060"/>
                                  </a:solidFill>
                                  <a:latin typeface="Cambria Math" panose="02040503050406030204" pitchFamily="18" charset="0"/>
                                </a:rPr>
                              </m:ctrlPr>
                            </m:dPr>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𝜷</m:t>
                                  </m:r>
                                </m:e>
                                <m:sub>
                                  <m:r>
                                    <a:rPr lang="zh-CN" altLang="en-US" sz="1400" b="1" i="1">
                                      <a:solidFill>
                                        <a:srgbClr val="002060"/>
                                      </a:solidFill>
                                      <a:latin typeface="Cambria Math" panose="02040503050406030204" pitchFamily="18" charset="0"/>
                                    </a:rPr>
                                    <m:t>𝒔</m:t>
                                  </m:r>
                                </m:sub>
                              </m:sSub>
                            </m:e>
                          </m:d>
                          <m:r>
                            <a:rPr lang="zh-CN" altLang="en-US" sz="1400" b="1" i="0">
                              <a:solidFill>
                                <a:srgbClr val="002060"/>
                              </a:solidFill>
                              <a:latin typeface="Cambria Math" panose="02040503050406030204" pitchFamily="18" charset="0"/>
                            </a:rPr>
                            <m:t>]=</m:t>
                          </m:r>
                          <m:r>
                            <a:rPr lang="zh-CN" altLang="en-US" sz="1400" b="1" i="0">
                              <a:solidFill>
                                <a:srgbClr val="002060"/>
                              </a:solidFill>
                              <a:latin typeface="Cambria Math" panose="02040503050406030204" pitchFamily="18" charset="0"/>
                            </a:rPr>
                            <m:t>𝟑</m:t>
                          </m:r>
                          <m:r>
                            <a:rPr lang="zh-CN" altLang="en-US" sz="1400" b="1" i="0">
                              <a:solidFill>
                                <a:srgbClr val="002060"/>
                              </a:solidFill>
                              <a:latin typeface="Cambria Math" panose="02040503050406030204" pitchFamily="18" charset="0"/>
                            </a:rPr>
                            <m:t>−</m:t>
                          </m:r>
                          <m:r>
                            <a:rPr lang="zh-CN" altLang="en-US" sz="1400" b="1" i="1">
                              <a:solidFill>
                                <a:srgbClr val="002060"/>
                              </a:solidFill>
                              <a:latin typeface="Cambria Math" panose="02040503050406030204" pitchFamily="18" charset="0"/>
                            </a:rPr>
                            <m:t>𝒓𝒂𝒏𝒌</m:t>
                          </m:r>
                          <m:r>
                            <a:rPr lang="zh-CN" altLang="en-US" sz="1400" b="1" i="0">
                              <a:solidFill>
                                <a:srgbClr val="002060"/>
                              </a:solidFill>
                              <a:latin typeface="Cambria Math" panose="02040503050406030204" pitchFamily="18" charset="0"/>
                            </a:rPr>
                            <m:t>[</m:t>
                          </m:r>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𝑪</m:t>
                              </m:r>
                            </m:e>
                            <m:sub>
                              <m:r>
                                <a:rPr lang="zh-CN" altLang="en-US" sz="1400" b="1" i="0">
                                  <a:solidFill>
                                    <a:srgbClr val="002060"/>
                                  </a:solidFill>
                                  <a:latin typeface="Cambria Math" panose="02040503050406030204" pitchFamily="18" charset="0"/>
                                </a:rPr>
                                <m:t>𝟏</m:t>
                              </m:r>
                            </m:sub>
                          </m:sSub>
                          <m:d>
                            <m:dPr>
                              <m:ctrlPr>
                                <a:rPr lang="zh-CN" altLang="en-US" sz="1400" b="1" i="1">
                                  <a:solidFill>
                                    <a:srgbClr val="002060"/>
                                  </a:solidFill>
                                  <a:latin typeface="Cambria Math" panose="02040503050406030204" pitchFamily="18" charset="0"/>
                                </a:rPr>
                              </m:ctrlPr>
                            </m:dPr>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𝜷</m:t>
                                  </m:r>
                                </m:e>
                                <m:sub>
                                  <m:r>
                                    <a:rPr lang="zh-CN" altLang="en-US" sz="1400" b="1" i="1">
                                      <a:solidFill>
                                        <a:srgbClr val="002060"/>
                                      </a:solidFill>
                                      <a:latin typeface="Cambria Math" panose="02040503050406030204" pitchFamily="18" charset="0"/>
                                    </a:rPr>
                                    <m:t>𝒔</m:t>
                                  </m:r>
                                </m:sub>
                              </m:sSub>
                            </m:e>
                          </m:d>
                        </m:e>
                      </m:d>
                    </m:oMath>
                  </m:oMathPara>
                </a14:m>
                <a:endParaRPr lang="zh-CN" altLang="en-US" sz="1400" b="1" dirty="0">
                  <a:solidFill>
                    <a:srgbClr val="00206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5309826" y="2313352"/>
                <a:ext cx="3505190" cy="338747"/>
              </a:xfrm>
              <a:prstGeom prst="rect">
                <a:avLst/>
              </a:prstGeom>
              <a:blipFill>
                <a:blip r:embed="rId12"/>
                <a:stretch>
                  <a:fillRect t="-133929" r="-12522" b="-205357"/>
                </a:stretch>
              </a:blipFill>
            </p:spPr>
            <p:txBody>
              <a:bodyPr/>
              <a:lstStyle/>
              <a:p>
                <a:r>
                  <a:rPr lang="zh-CN" altLang="en-US">
                    <a:noFill/>
                  </a:rPr>
                  <a:t> </a:t>
                </a:r>
              </a:p>
            </p:txBody>
          </p:sp>
        </mc:Fallback>
      </mc:AlternateContent>
      <p:sp>
        <p:nvSpPr>
          <p:cNvPr id="10" name="圆角矩形 9"/>
          <p:cNvSpPr/>
          <p:nvPr/>
        </p:nvSpPr>
        <p:spPr>
          <a:xfrm>
            <a:off x="5436096" y="2313352"/>
            <a:ext cx="3378920" cy="4024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矩形 10"/>
              <p:cNvSpPr/>
              <p:nvPr/>
            </p:nvSpPr>
            <p:spPr>
              <a:xfrm>
                <a:off x="6943397" y="2823160"/>
                <a:ext cx="16621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0</m:t>
                      </m:r>
                      <m:r>
                        <a:rPr lang="zh-CN" altLang="en-US" sz="1200" i="0">
                          <a:latin typeface="Cambria Math" panose="02040503050406030204" pitchFamily="18" charset="0"/>
                        </a:rPr>
                        <m:t>≤</m:t>
                      </m:r>
                      <m:r>
                        <a:rPr lang="zh-CN" altLang="en-US" sz="1200" i="1">
                          <a:latin typeface="Cambria Math" panose="02040503050406030204" pitchFamily="18" charset="0"/>
                        </a:rPr>
                        <m:t>𝑟𝑎𝑛𝑘</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]≤3</m:t>
                      </m:r>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6943397" y="2823160"/>
                <a:ext cx="1662122" cy="276999"/>
              </a:xfrm>
              <a:prstGeom prst="rect">
                <a:avLst/>
              </a:prstGeom>
              <a:blipFill>
                <a:blip r:embed="rId13"/>
                <a:stretch>
                  <a:fillRect b="-6522"/>
                </a:stretch>
              </a:blipFill>
            </p:spPr>
            <p:txBody>
              <a:bodyPr/>
              <a:lstStyle/>
              <a:p>
                <a:r>
                  <a:rPr lang="zh-CN" altLang="en-US">
                    <a:noFill/>
                  </a:rPr>
                  <a:t> </a:t>
                </a:r>
              </a:p>
            </p:txBody>
          </p:sp>
        </mc:Fallback>
      </mc:AlternateContent>
      <p:sp>
        <p:nvSpPr>
          <p:cNvPr id="12" name="矩形 11"/>
          <p:cNvSpPr/>
          <p:nvPr/>
        </p:nvSpPr>
        <p:spPr>
          <a:xfrm>
            <a:off x="3142044" y="2820902"/>
            <a:ext cx="612668" cy="276999"/>
          </a:xfrm>
          <a:prstGeom prst="rect">
            <a:avLst/>
          </a:prstGeom>
        </p:spPr>
        <p:txBody>
          <a:bodyPr wrap="none">
            <a:spAutoFit/>
          </a:bodyPr>
          <a:lstStyle/>
          <a:p>
            <a:r>
              <a:rPr lang="zh-CN" altLang="zh-CN" sz="1200" dirty="0"/>
              <a:t>图</a:t>
            </a:r>
            <a:r>
              <a:rPr lang="en-US" altLang="zh-CN" sz="1200" dirty="0"/>
              <a:t>3.60</a:t>
            </a:r>
            <a:endParaRPr lang="zh-CN" altLang="en-US" sz="1200" dirty="0"/>
          </a:p>
        </p:txBody>
      </p:sp>
      <p:sp>
        <p:nvSpPr>
          <p:cNvPr id="24" name="矩形 23"/>
          <p:cNvSpPr/>
          <p:nvPr/>
        </p:nvSpPr>
        <p:spPr>
          <a:xfrm>
            <a:off x="3983726" y="4764570"/>
            <a:ext cx="612668" cy="276999"/>
          </a:xfrm>
          <a:prstGeom prst="rect">
            <a:avLst/>
          </a:prstGeom>
        </p:spPr>
        <p:txBody>
          <a:bodyPr wrap="none">
            <a:spAutoFit/>
          </a:bodyPr>
          <a:lstStyle/>
          <a:p>
            <a:r>
              <a:rPr lang="zh-CN" altLang="zh-CN" sz="1200" dirty="0"/>
              <a:t>图</a:t>
            </a:r>
            <a:r>
              <a:rPr lang="en-US" altLang="zh-CN" sz="1200" dirty="0" smtClean="0"/>
              <a:t>3.61</a:t>
            </a:r>
            <a:endParaRPr lang="zh-CN" altLang="en-US" sz="1200" dirty="0"/>
          </a:p>
        </p:txBody>
      </p:sp>
      <p:sp>
        <p:nvSpPr>
          <p:cNvPr id="26" name="矩形 25"/>
          <p:cNvSpPr/>
          <p:nvPr/>
        </p:nvSpPr>
        <p:spPr>
          <a:xfrm>
            <a:off x="2985735" y="303036"/>
            <a:ext cx="3222357" cy="400110"/>
          </a:xfrm>
          <a:prstGeom prst="rect">
            <a:avLst/>
          </a:prstGeom>
        </p:spPr>
        <p:txBody>
          <a:bodyPr wrap="none">
            <a:spAutoFit/>
          </a:bodyPr>
          <a:lstStyle/>
          <a:p>
            <a:r>
              <a:rPr lang="en-US" altLang="zh-CN" sz="2000" b="1" dirty="0">
                <a:solidFill>
                  <a:srgbClr val="002060"/>
                </a:solidFill>
              </a:rPr>
              <a:t>3.12.4 </a:t>
            </a:r>
            <a:r>
              <a:rPr lang="zh-CN" altLang="en-US" sz="2000" b="1" dirty="0">
                <a:solidFill>
                  <a:srgbClr val="002060"/>
                </a:solidFill>
              </a:rPr>
              <a:t>移动机器人的机动性</a:t>
            </a:r>
          </a:p>
        </p:txBody>
      </p:sp>
    </p:spTree>
    <p:extLst>
      <p:ext uri="{BB962C8B-B14F-4D97-AF65-F5344CB8AC3E}">
        <p14:creationId xmlns:p14="http://schemas.microsoft.com/office/powerpoint/2010/main" val="13659269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880743" y="651014"/>
            <a:ext cx="3114955" cy="369332"/>
          </a:xfrm>
          <a:prstGeom prst="rect">
            <a:avLst/>
          </a:prstGeom>
        </p:spPr>
        <p:txBody>
          <a:bodyPr wrap="none">
            <a:spAutoFit/>
          </a:bodyPr>
          <a:lstStyle/>
          <a:p>
            <a:r>
              <a:rPr lang="en-US" altLang="zh-CN" b="1" dirty="0">
                <a:solidFill>
                  <a:srgbClr val="002060"/>
                </a:solidFill>
              </a:rPr>
              <a:t>Mobile Robot Maneuverability</a:t>
            </a:r>
            <a:endParaRPr lang="zh-CN" altLang="en-US" sz="1800" b="1" dirty="0">
              <a:solidFill>
                <a:srgbClr val="002060"/>
              </a:solidFill>
            </a:endParaRPr>
          </a:p>
        </p:txBody>
      </p:sp>
      <p:sp>
        <p:nvSpPr>
          <p:cNvPr id="22" name="椭圆 21"/>
          <p:cNvSpPr/>
          <p:nvPr>
            <p:custDataLst>
              <p:tags r:id="rId1"/>
            </p:custDataLst>
          </p:nvPr>
        </p:nvSpPr>
        <p:spPr>
          <a:xfrm>
            <a:off x="614131" y="1716987"/>
            <a:ext cx="1329162" cy="1329162"/>
          </a:xfrm>
          <a:prstGeom prst="ellipse">
            <a:avLst/>
          </a:prstGeom>
          <a:solidFill>
            <a:srgbClr val="0065B0"/>
          </a:solidFill>
          <a:ln w="63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27" name="Shape 647"/>
          <p:cNvSpPr/>
          <p:nvPr>
            <p:custDataLst>
              <p:tags r:id="rId2"/>
            </p:custDataLst>
          </p:nvPr>
        </p:nvSpPr>
        <p:spPr>
          <a:xfrm>
            <a:off x="962674" y="2141088"/>
            <a:ext cx="639397" cy="480960"/>
          </a:xfrm>
          <a:custGeom>
            <a:avLst/>
            <a:gdLst/>
            <a:ahLst/>
            <a:cxnLst/>
            <a:rect l="0" t="0" r="0" b="0"/>
            <a:pathLst>
              <a:path w="120000" h="120000" extrusionOk="0">
                <a:moveTo>
                  <a:pt x="117073" y="28695"/>
                </a:moveTo>
                <a:cubicBezTo>
                  <a:pt x="98536" y="2608"/>
                  <a:pt x="98536" y="2608"/>
                  <a:pt x="98536" y="2608"/>
                </a:cubicBezTo>
                <a:cubicBezTo>
                  <a:pt x="97560" y="1304"/>
                  <a:pt x="95609" y="0"/>
                  <a:pt x="93658" y="0"/>
                </a:cubicBezTo>
                <a:cubicBezTo>
                  <a:pt x="26341" y="0"/>
                  <a:pt x="26341" y="0"/>
                  <a:pt x="26341" y="0"/>
                </a:cubicBezTo>
                <a:cubicBezTo>
                  <a:pt x="24390" y="0"/>
                  <a:pt x="22439" y="1304"/>
                  <a:pt x="21463" y="2608"/>
                </a:cubicBezTo>
                <a:cubicBezTo>
                  <a:pt x="1951" y="28695"/>
                  <a:pt x="1951" y="28695"/>
                  <a:pt x="1951" y="28695"/>
                </a:cubicBezTo>
                <a:cubicBezTo>
                  <a:pt x="975" y="30000"/>
                  <a:pt x="0" y="32608"/>
                  <a:pt x="0" y="35217"/>
                </a:cubicBezTo>
                <a:cubicBezTo>
                  <a:pt x="0" y="37826"/>
                  <a:pt x="975" y="40434"/>
                  <a:pt x="1951" y="41739"/>
                </a:cubicBezTo>
                <a:cubicBezTo>
                  <a:pt x="54634" y="117391"/>
                  <a:pt x="54634" y="117391"/>
                  <a:pt x="54634" y="117391"/>
                </a:cubicBezTo>
                <a:cubicBezTo>
                  <a:pt x="55609" y="118695"/>
                  <a:pt x="57560" y="120000"/>
                  <a:pt x="59512" y="120000"/>
                </a:cubicBezTo>
                <a:cubicBezTo>
                  <a:pt x="62439" y="120000"/>
                  <a:pt x="64390" y="118695"/>
                  <a:pt x="65365" y="117391"/>
                </a:cubicBezTo>
                <a:cubicBezTo>
                  <a:pt x="118048" y="41739"/>
                  <a:pt x="118048" y="41739"/>
                  <a:pt x="118048" y="41739"/>
                </a:cubicBezTo>
                <a:cubicBezTo>
                  <a:pt x="119024" y="40434"/>
                  <a:pt x="120000" y="37826"/>
                  <a:pt x="120000" y="35217"/>
                </a:cubicBezTo>
                <a:cubicBezTo>
                  <a:pt x="120000" y="32608"/>
                  <a:pt x="119024" y="30000"/>
                  <a:pt x="117073" y="28695"/>
                </a:cubicBezTo>
                <a:close/>
                <a:moveTo>
                  <a:pt x="90731" y="10434"/>
                </a:moveTo>
                <a:cubicBezTo>
                  <a:pt x="83902" y="18260"/>
                  <a:pt x="83902" y="18260"/>
                  <a:pt x="83902" y="18260"/>
                </a:cubicBezTo>
                <a:cubicBezTo>
                  <a:pt x="77073" y="10434"/>
                  <a:pt x="77073" y="10434"/>
                  <a:pt x="77073" y="10434"/>
                </a:cubicBezTo>
                <a:lnTo>
                  <a:pt x="90731" y="10434"/>
                </a:lnTo>
                <a:close/>
                <a:moveTo>
                  <a:pt x="90731" y="35217"/>
                </a:moveTo>
                <a:cubicBezTo>
                  <a:pt x="74146" y="35217"/>
                  <a:pt x="74146" y="35217"/>
                  <a:pt x="74146" y="35217"/>
                </a:cubicBezTo>
                <a:cubicBezTo>
                  <a:pt x="82926" y="24782"/>
                  <a:pt x="82926" y="24782"/>
                  <a:pt x="82926" y="24782"/>
                </a:cubicBezTo>
                <a:lnTo>
                  <a:pt x="90731" y="35217"/>
                </a:lnTo>
                <a:close/>
                <a:moveTo>
                  <a:pt x="80975" y="20869"/>
                </a:moveTo>
                <a:cubicBezTo>
                  <a:pt x="71219" y="32608"/>
                  <a:pt x="71219" y="32608"/>
                  <a:pt x="71219" y="32608"/>
                </a:cubicBezTo>
                <a:cubicBezTo>
                  <a:pt x="62439" y="22173"/>
                  <a:pt x="62439" y="22173"/>
                  <a:pt x="62439" y="22173"/>
                </a:cubicBezTo>
                <a:cubicBezTo>
                  <a:pt x="73170" y="11739"/>
                  <a:pt x="73170" y="11739"/>
                  <a:pt x="73170" y="11739"/>
                </a:cubicBezTo>
                <a:lnTo>
                  <a:pt x="80975" y="20869"/>
                </a:lnTo>
                <a:close/>
                <a:moveTo>
                  <a:pt x="68292" y="35217"/>
                </a:moveTo>
                <a:cubicBezTo>
                  <a:pt x="51707" y="35217"/>
                  <a:pt x="51707" y="35217"/>
                  <a:pt x="51707" y="35217"/>
                </a:cubicBezTo>
                <a:cubicBezTo>
                  <a:pt x="59512" y="26086"/>
                  <a:pt x="59512" y="26086"/>
                  <a:pt x="59512" y="26086"/>
                </a:cubicBezTo>
                <a:lnTo>
                  <a:pt x="68292" y="35217"/>
                </a:lnTo>
                <a:close/>
                <a:moveTo>
                  <a:pt x="68292" y="10434"/>
                </a:moveTo>
                <a:cubicBezTo>
                  <a:pt x="59512" y="19565"/>
                  <a:pt x="59512" y="19565"/>
                  <a:pt x="59512" y="19565"/>
                </a:cubicBezTo>
                <a:cubicBezTo>
                  <a:pt x="51707" y="10434"/>
                  <a:pt x="51707" y="10434"/>
                  <a:pt x="51707" y="10434"/>
                </a:cubicBezTo>
                <a:lnTo>
                  <a:pt x="68292" y="10434"/>
                </a:lnTo>
                <a:close/>
                <a:moveTo>
                  <a:pt x="56585" y="22173"/>
                </a:moveTo>
                <a:cubicBezTo>
                  <a:pt x="48780" y="32608"/>
                  <a:pt x="48780" y="32608"/>
                  <a:pt x="48780" y="32608"/>
                </a:cubicBezTo>
                <a:cubicBezTo>
                  <a:pt x="39024" y="20869"/>
                  <a:pt x="39024" y="20869"/>
                  <a:pt x="39024" y="20869"/>
                </a:cubicBezTo>
                <a:cubicBezTo>
                  <a:pt x="46829" y="11739"/>
                  <a:pt x="46829" y="11739"/>
                  <a:pt x="46829" y="11739"/>
                </a:cubicBezTo>
                <a:lnTo>
                  <a:pt x="56585" y="22173"/>
                </a:lnTo>
                <a:close/>
                <a:moveTo>
                  <a:pt x="45853" y="35217"/>
                </a:moveTo>
                <a:cubicBezTo>
                  <a:pt x="29268" y="35217"/>
                  <a:pt x="29268" y="35217"/>
                  <a:pt x="29268" y="35217"/>
                </a:cubicBezTo>
                <a:cubicBezTo>
                  <a:pt x="36097" y="24782"/>
                  <a:pt x="36097" y="24782"/>
                  <a:pt x="36097" y="24782"/>
                </a:cubicBezTo>
                <a:lnTo>
                  <a:pt x="45853" y="35217"/>
                </a:lnTo>
                <a:close/>
                <a:moveTo>
                  <a:pt x="41951" y="10434"/>
                </a:moveTo>
                <a:cubicBezTo>
                  <a:pt x="36097" y="18260"/>
                  <a:pt x="36097" y="18260"/>
                  <a:pt x="36097" y="18260"/>
                </a:cubicBezTo>
                <a:cubicBezTo>
                  <a:pt x="29268" y="10434"/>
                  <a:pt x="29268" y="10434"/>
                  <a:pt x="29268" y="10434"/>
                </a:cubicBezTo>
                <a:lnTo>
                  <a:pt x="41951" y="10434"/>
                </a:lnTo>
                <a:close/>
                <a:moveTo>
                  <a:pt x="25365" y="11739"/>
                </a:moveTo>
                <a:cubicBezTo>
                  <a:pt x="33170" y="22173"/>
                  <a:pt x="33170" y="22173"/>
                  <a:pt x="33170" y="22173"/>
                </a:cubicBezTo>
                <a:cubicBezTo>
                  <a:pt x="23414" y="35217"/>
                  <a:pt x="23414" y="35217"/>
                  <a:pt x="23414" y="35217"/>
                </a:cubicBezTo>
                <a:cubicBezTo>
                  <a:pt x="7804" y="35217"/>
                  <a:pt x="7804" y="35217"/>
                  <a:pt x="7804" y="35217"/>
                </a:cubicBezTo>
                <a:lnTo>
                  <a:pt x="25365" y="11739"/>
                </a:lnTo>
                <a:close/>
                <a:moveTo>
                  <a:pt x="10731" y="40434"/>
                </a:moveTo>
                <a:cubicBezTo>
                  <a:pt x="24390" y="40434"/>
                  <a:pt x="24390" y="40434"/>
                  <a:pt x="24390" y="40434"/>
                </a:cubicBezTo>
                <a:cubicBezTo>
                  <a:pt x="47804" y="92608"/>
                  <a:pt x="47804" y="92608"/>
                  <a:pt x="47804" y="92608"/>
                </a:cubicBezTo>
                <a:lnTo>
                  <a:pt x="10731" y="40434"/>
                </a:lnTo>
                <a:close/>
                <a:moveTo>
                  <a:pt x="28292" y="40434"/>
                </a:moveTo>
                <a:cubicBezTo>
                  <a:pt x="46829" y="40434"/>
                  <a:pt x="46829" y="40434"/>
                  <a:pt x="46829" y="40434"/>
                </a:cubicBezTo>
                <a:cubicBezTo>
                  <a:pt x="55609" y="101739"/>
                  <a:pt x="55609" y="101739"/>
                  <a:pt x="55609" y="101739"/>
                </a:cubicBezTo>
                <a:lnTo>
                  <a:pt x="28292" y="40434"/>
                </a:lnTo>
                <a:close/>
                <a:moveTo>
                  <a:pt x="50731" y="40434"/>
                </a:moveTo>
                <a:cubicBezTo>
                  <a:pt x="69268" y="40434"/>
                  <a:pt x="69268" y="40434"/>
                  <a:pt x="69268" y="40434"/>
                </a:cubicBezTo>
                <a:cubicBezTo>
                  <a:pt x="59512" y="103043"/>
                  <a:pt x="59512" y="103043"/>
                  <a:pt x="59512" y="103043"/>
                </a:cubicBezTo>
                <a:lnTo>
                  <a:pt x="50731" y="40434"/>
                </a:lnTo>
                <a:close/>
                <a:moveTo>
                  <a:pt x="63414" y="101739"/>
                </a:moveTo>
                <a:cubicBezTo>
                  <a:pt x="73170" y="40434"/>
                  <a:pt x="73170" y="40434"/>
                  <a:pt x="73170" y="40434"/>
                </a:cubicBezTo>
                <a:cubicBezTo>
                  <a:pt x="91707" y="40434"/>
                  <a:pt x="91707" y="40434"/>
                  <a:pt x="91707" y="40434"/>
                </a:cubicBezTo>
                <a:lnTo>
                  <a:pt x="63414" y="101739"/>
                </a:lnTo>
                <a:close/>
                <a:moveTo>
                  <a:pt x="72195" y="92608"/>
                </a:moveTo>
                <a:cubicBezTo>
                  <a:pt x="95609" y="40434"/>
                  <a:pt x="95609" y="40434"/>
                  <a:pt x="95609" y="40434"/>
                </a:cubicBezTo>
                <a:cubicBezTo>
                  <a:pt x="109268" y="40434"/>
                  <a:pt x="109268" y="40434"/>
                  <a:pt x="109268" y="40434"/>
                </a:cubicBezTo>
                <a:lnTo>
                  <a:pt x="72195" y="92608"/>
                </a:lnTo>
                <a:close/>
                <a:moveTo>
                  <a:pt x="96585" y="35217"/>
                </a:moveTo>
                <a:cubicBezTo>
                  <a:pt x="85853" y="22173"/>
                  <a:pt x="85853" y="22173"/>
                  <a:pt x="85853" y="22173"/>
                </a:cubicBezTo>
                <a:cubicBezTo>
                  <a:pt x="94634" y="11739"/>
                  <a:pt x="94634" y="11739"/>
                  <a:pt x="94634" y="11739"/>
                </a:cubicBezTo>
                <a:cubicBezTo>
                  <a:pt x="112195" y="35217"/>
                  <a:pt x="112195" y="35217"/>
                  <a:pt x="112195" y="35217"/>
                </a:cubicBezTo>
                <a:lnTo>
                  <a:pt x="96585" y="35217"/>
                </a:lnTo>
                <a:close/>
                <a:moveTo>
                  <a:pt x="96585" y="35217"/>
                </a:moveTo>
                <a:cubicBezTo>
                  <a:pt x="96585" y="35217"/>
                  <a:pt x="96585" y="35217"/>
                  <a:pt x="96585" y="35217"/>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9" name="文本框 38"/>
          <p:cNvSpPr txBox="1"/>
          <p:nvPr>
            <p:custDataLst>
              <p:tags r:id="rId3"/>
            </p:custDataLst>
          </p:nvPr>
        </p:nvSpPr>
        <p:spPr>
          <a:xfrm>
            <a:off x="611560" y="3127254"/>
            <a:ext cx="1334305" cy="302775"/>
          </a:xfrm>
          <a:prstGeom prst="rect">
            <a:avLst/>
          </a:prstGeom>
          <a:noFill/>
        </p:spPr>
        <p:txBody>
          <a:bodyPr wrap="square" bIns="0" rtlCol="0" anchor="b" anchorCtr="0">
            <a:noAutofit/>
          </a:bodyPr>
          <a:lstStyle/>
          <a:p>
            <a:pPr algn="ctr">
              <a:lnSpc>
                <a:spcPct val="120000"/>
              </a:lnSpc>
            </a:pPr>
            <a:r>
              <a:rPr lang="zh-CN" altLang="en-US" sz="1600" b="1" spc="300" dirty="0">
                <a:latin typeface="Arial" panose="020B0604020202020204" pitchFamily="34" charset="0"/>
                <a:ea typeface="微软雅黑" panose="020B0503020204020204" charset="-122"/>
                <a:sym typeface="Arial" panose="020B0604020202020204" pitchFamily="34" charset="0"/>
              </a:rPr>
              <a:t>可操纵度</a:t>
            </a:r>
          </a:p>
        </p:txBody>
      </p:sp>
      <p:sp>
        <p:nvSpPr>
          <p:cNvPr id="42" name="文本框 18"/>
          <p:cNvSpPr txBox="1"/>
          <p:nvPr>
            <p:custDataLst>
              <p:tags r:id="rId4"/>
            </p:custDataLst>
          </p:nvPr>
        </p:nvSpPr>
        <p:spPr>
          <a:xfrm>
            <a:off x="611560" y="3468988"/>
            <a:ext cx="1368152" cy="656521"/>
          </a:xfrm>
          <a:prstGeom prst="rect">
            <a:avLst/>
          </a:prstGeom>
          <a:noFill/>
        </p:spPr>
        <p:txBody>
          <a:bodyPr wrap="square" lIns="67500" tIns="0" rIns="67500" bIns="35100">
            <a:no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20000"/>
              </a:lnSpc>
            </a:pPr>
            <a:r>
              <a:rPr lang="en-US" altLang="zh-CN" sz="1600" spc="150" dirty="0">
                <a:sym typeface="Arial" panose="020B0604020202020204" pitchFamily="34" charset="0"/>
              </a:rPr>
              <a:t>Degree of </a:t>
            </a:r>
            <a:r>
              <a:rPr lang="en-US" altLang="zh-CN" sz="1600" spc="150" dirty="0" err="1">
                <a:sym typeface="Arial" panose="020B0604020202020204" pitchFamily="34" charset="0"/>
              </a:rPr>
              <a:t>steerability</a:t>
            </a:r>
            <a:endParaRPr lang="zh-CN" altLang="en-US" sz="1600" spc="150" dirty="0">
              <a:sym typeface="Arial" panose="020B0604020202020204" pitchFamily="34" charset="0"/>
            </a:endParaRPr>
          </a:p>
        </p:txBody>
      </p:sp>
      <mc:AlternateContent xmlns:mc="http://schemas.openxmlformats.org/markup-compatibility/2006" xmlns:a14="http://schemas.microsoft.com/office/drawing/2010/main">
        <mc:Choice Requires="a14">
          <p:sp>
            <p:nvSpPr>
              <p:cNvPr id="12" name="矩形 11"/>
              <p:cNvSpPr/>
              <p:nvPr/>
            </p:nvSpPr>
            <p:spPr>
              <a:xfrm>
                <a:off x="3369370" y="1649536"/>
                <a:ext cx="213770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𝛿</m:t>
                              </m:r>
                            </m:e>
                            <m:sub>
                              <m:r>
                                <a:rPr lang="zh-CN" altLang="en-US" i="1">
                                  <a:latin typeface="Cambria Math" panose="02040503050406030204" pitchFamily="18" charset="0"/>
                                </a:rPr>
                                <m:t>𝑠</m:t>
                              </m:r>
                            </m:sub>
                          </m:sSub>
                          <m:r>
                            <a:rPr lang="zh-CN" altLang="en-US" i="0">
                              <a:latin typeface="Cambria Math" panose="02040503050406030204" pitchFamily="18" charset="0"/>
                            </a:rPr>
                            <m:t>=</m:t>
                          </m:r>
                          <m:r>
                            <a:rPr lang="zh-CN" altLang="en-US" i="1">
                              <a:latin typeface="Cambria Math" panose="02040503050406030204" pitchFamily="18" charset="0"/>
                            </a:rPr>
                            <m:t>𝑟𝑎𝑛𝑘</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zh-CN" altLang="en-US" i="0">
                                  <a:latin typeface="Cambria Math" panose="02040503050406030204" pitchFamily="18" charset="0"/>
                                </a:rPr>
                                <m:t>1</m:t>
                              </m:r>
                              <m:r>
                                <a:rPr lang="zh-CN" altLang="en-US" i="1">
                                  <a:latin typeface="Cambria Math" panose="02040503050406030204" pitchFamily="18" charset="0"/>
                                </a:rPr>
                                <m:t>𝑠</m:t>
                              </m:r>
                            </m:sub>
                          </m:sSub>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𝛽</m:t>
                                  </m:r>
                                </m:e>
                                <m:sub>
                                  <m:r>
                                    <a:rPr lang="zh-CN" altLang="en-US" i="1">
                                      <a:latin typeface="Cambria Math" panose="02040503050406030204" pitchFamily="18" charset="0"/>
                                    </a:rPr>
                                    <m:t>𝑠</m:t>
                                  </m:r>
                                </m:sub>
                              </m:sSub>
                            </m:e>
                          </m:d>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3369370" y="1649536"/>
                <a:ext cx="2137700" cy="369332"/>
              </a:xfrm>
              <a:prstGeom prst="rect">
                <a:avLst/>
              </a:prstGeom>
              <a:blipFill>
                <a:blip r:embed="rId7"/>
                <a:stretch>
                  <a:fillRect t="-128333" r="-20571" b="-19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868144" y="1635646"/>
                <a:ext cx="130824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0</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𝛿</m:t>
                          </m:r>
                        </m:e>
                        <m:sub>
                          <m:r>
                            <a:rPr lang="zh-CN" altLang="en-US" i="1">
                              <a:latin typeface="Cambria Math" panose="02040503050406030204" pitchFamily="18" charset="0"/>
                            </a:rPr>
                            <m:t>𝑠</m:t>
                          </m:r>
                        </m:sub>
                      </m:sSub>
                      <m:r>
                        <a:rPr lang="zh-CN" altLang="en-US" i="0">
                          <a:latin typeface="Cambria Math" panose="02040503050406030204" pitchFamily="18" charset="0"/>
                        </a:rPr>
                        <m:t>≤2</m:t>
                      </m:r>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5868144" y="1635646"/>
                <a:ext cx="1308242"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359602" y="2074682"/>
                <a:ext cx="4500078" cy="369332"/>
              </a:xfrm>
              <a:prstGeom prst="rect">
                <a:avLst/>
              </a:prstGeom>
            </p:spPr>
            <p:txBody>
              <a:bodyPr wrap="none">
                <a:spAutoFit/>
              </a:bodyPr>
              <a:lstStyle/>
              <a:p>
                <a14:m>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cs typeface="Times New Roman" panose="02020603050405020304" pitchFamily="18" charset="0"/>
                          </a:rPr>
                          <m:t>𝛿</m:t>
                        </m:r>
                      </m:e>
                      <m:sub>
                        <m:r>
                          <a:rPr lang="en-US" altLang="zh-CN" i="1" kern="100">
                            <a:latin typeface="Cambria Math" panose="02040503050406030204" pitchFamily="18" charset="0"/>
                            <a:cs typeface="Times New Roman" panose="02020603050405020304" pitchFamily="18" charset="0"/>
                          </a:rPr>
                          <m:t>𝑠</m:t>
                        </m:r>
                      </m:sub>
                    </m:sSub>
                    <m:r>
                      <a:rPr lang="en-US" altLang="zh-CN" i="1" kern="100">
                        <a:latin typeface="Cambria Math" panose="02040503050406030204" pitchFamily="18" charset="0"/>
                        <a:cs typeface="Times New Roman" panose="02020603050405020304" pitchFamily="18" charset="0"/>
                      </a:rPr>
                      <m:t>=0</m:t>
                    </m:r>
                  </m:oMath>
                </a14:m>
                <a:r>
                  <a:rPr lang="zh-CN" altLang="zh-CN" kern="100" dirty="0">
                    <a:cs typeface="Times New Roman" panose="02020603050405020304" pitchFamily="18" charset="0"/>
                  </a:rPr>
                  <a:t>时，说明没有可操纵标准轮，</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cs typeface="Times New Roman" panose="02020603050405020304" pitchFamily="18" charset="0"/>
                          </a:rPr>
                          <m:t>𝑁</m:t>
                        </m:r>
                      </m:e>
                      <m:sub>
                        <m:r>
                          <a:rPr lang="en-US" altLang="zh-CN" i="1" kern="100">
                            <a:latin typeface="Cambria Math" panose="02040503050406030204" pitchFamily="18" charset="0"/>
                            <a:cs typeface="Times New Roman" panose="02020603050405020304" pitchFamily="18" charset="0"/>
                          </a:rPr>
                          <m:t>𝑠</m:t>
                        </m:r>
                      </m:sub>
                    </m:sSub>
                    <m:r>
                      <a:rPr lang="en-US" altLang="zh-CN" i="1" kern="100">
                        <a:latin typeface="Cambria Math" panose="02040503050406030204" pitchFamily="18" charset="0"/>
                        <a:cs typeface="Times New Roman" panose="02020603050405020304" pitchFamily="18" charset="0"/>
                      </a:rPr>
                      <m:t>=0</m:t>
                    </m:r>
                  </m:oMath>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3359602" y="2074682"/>
                <a:ext cx="4500078" cy="369332"/>
              </a:xfrm>
              <a:prstGeom prst="rect">
                <a:avLst/>
              </a:prstGeom>
              <a:blipFill>
                <a:blip r:embed="rId9"/>
                <a:stretch>
                  <a:fillRect t="-13115" b="-196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400710" y="2513718"/>
                <a:ext cx="4572000" cy="646331"/>
              </a:xfrm>
              <a:prstGeom prst="rect">
                <a:avLst/>
              </a:prstGeom>
            </p:spPr>
            <p:txBody>
              <a:bodyPr>
                <a:spAutoFit/>
              </a:bodyPr>
              <a:lstStyle/>
              <a:p>
                <a:r>
                  <a:rPr lang="zh-CN" altLang="zh-CN" kern="100" dirty="0">
                    <a:cs typeface="Times New Roman" panose="02020603050405020304" pitchFamily="18" charset="0"/>
                  </a:rPr>
                  <a:t>当可操纵标准轮有多个时，一般让</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cs typeface="Times New Roman" panose="02020603050405020304" pitchFamily="18" charset="0"/>
                          </a:rPr>
                          <m:t>𝛿</m:t>
                        </m:r>
                      </m:e>
                      <m:sub>
                        <m:r>
                          <a:rPr lang="en-US" altLang="zh-CN" i="1" kern="100">
                            <a:latin typeface="Cambria Math" panose="02040503050406030204" pitchFamily="18" charset="0"/>
                            <a:cs typeface="Times New Roman" panose="02020603050405020304" pitchFamily="18" charset="0"/>
                          </a:rPr>
                          <m:t>𝑠</m:t>
                        </m:r>
                      </m:sub>
                    </m:sSub>
                    <m:r>
                      <a:rPr lang="en-US" altLang="zh-CN" i="1" kern="100">
                        <a:latin typeface="Cambria Math" panose="02040503050406030204" pitchFamily="18" charset="0"/>
                        <a:cs typeface="Times New Roman" panose="02020603050405020304" pitchFamily="18" charset="0"/>
                      </a:rPr>
                      <m:t>=1</m:t>
                    </m:r>
                  </m:oMath>
                </a14:m>
                <a:r>
                  <a:rPr lang="zh-CN" altLang="zh-CN" kern="100" dirty="0">
                    <a:cs typeface="Times New Roman" panose="02020603050405020304" pitchFamily="18" charset="0"/>
                  </a:rPr>
                  <a:t>较为常见</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3400710" y="2513718"/>
                <a:ext cx="4572000" cy="646331"/>
              </a:xfrm>
              <a:prstGeom prst="rect">
                <a:avLst/>
              </a:prstGeom>
              <a:blipFill>
                <a:blip r:embed="rId10"/>
                <a:stretch>
                  <a:fillRect l="-1200" t="-6604" b="-11321"/>
                </a:stretch>
              </a:blipFill>
            </p:spPr>
            <p:txBody>
              <a:bodyPr/>
              <a:lstStyle/>
              <a:p>
                <a:r>
                  <a:rPr lang="zh-CN" altLang="en-US">
                    <a:noFill/>
                  </a:rPr>
                  <a:t> </a:t>
                </a:r>
              </a:p>
            </p:txBody>
          </p:sp>
        </mc:Fallback>
      </mc:AlternateContent>
      <p:pic>
        <p:nvPicPr>
          <p:cNvPr id="17" name="图片 16"/>
          <p:cNvPicPr>
            <a:picLocks noChangeAspect="1"/>
          </p:cNvPicPr>
          <p:nvPr/>
        </p:nvPicPr>
        <p:blipFill>
          <a:blip r:embed="rId11"/>
          <a:stretch>
            <a:fillRect/>
          </a:stretch>
        </p:blipFill>
        <p:spPr>
          <a:xfrm>
            <a:off x="3520846" y="3174612"/>
            <a:ext cx="1834748" cy="1374290"/>
          </a:xfrm>
          <a:prstGeom prst="rect">
            <a:avLst/>
          </a:prstGeom>
        </p:spPr>
      </p:pic>
      <mc:AlternateContent xmlns:mc="http://schemas.openxmlformats.org/markup-compatibility/2006" xmlns:a14="http://schemas.microsoft.com/office/drawing/2010/main">
        <mc:Choice Requires="a14">
          <p:sp>
            <p:nvSpPr>
              <p:cNvPr id="18" name="矩形 17"/>
              <p:cNvSpPr/>
              <p:nvPr/>
            </p:nvSpPr>
            <p:spPr>
              <a:xfrm>
                <a:off x="5379340" y="3310769"/>
                <a:ext cx="2366097" cy="305020"/>
              </a:xfrm>
              <a:prstGeom prst="rect">
                <a:avLst/>
              </a:prstGeom>
            </p:spPr>
            <p:txBody>
              <a:bodyPr wrap="none">
                <a:spAutoFit/>
              </a:bodyPr>
              <a:lstStyle/>
              <a:p>
                <a14:m>
                  <m:oMath xmlns:m="http://schemas.openxmlformats.org/officeDocument/2006/math">
                    <m:r>
                      <m:rPr>
                        <m:sty m:val="p"/>
                      </m:rPr>
                      <a:rPr lang="en-US" altLang="zh-CN" sz="1200" kern="100">
                        <a:latin typeface="Cambria Math" panose="02040503050406030204" pitchFamily="18" charset="0"/>
                        <a:cs typeface="Times New Roman" panose="02020603050405020304" pitchFamily="18" charset="0"/>
                      </a:rPr>
                      <m:t>rank</m:t>
                    </m:r>
                    <m:d>
                      <m:dPr>
                        <m:begChr m:val="["/>
                        <m:endChr m:val="]"/>
                        <m:ctrlPr>
                          <a:rPr lang="zh-CN" altLang="zh-CN" sz="1200" i="1">
                            <a:latin typeface="Cambria Math" panose="02040503050406030204" pitchFamily="18" charset="0"/>
                            <a:ea typeface="Cambria Math" panose="02040503050406030204" pitchFamily="18" charset="0"/>
                          </a:rPr>
                        </m:ctrlPr>
                      </m:dPr>
                      <m:e>
                        <m:sSub>
                          <m:sSubPr>
                            <m:ctrlPr>
                              <a:rPr lang="zh-CN" altLang="zh-CN" sz="1200" i="1">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cs typeface="Times New Roman" panose="02020603050405020304" pitchFamily="18" charset="0"/>
                              </a:rPr>
                              <m:t>𝐶</m:t>
                            </m:r>
                          </m:e>
                          <m:sub>
                            <m:r>
                              <a:rPr lang="en-US" altLang="zh-CN" sz="1200" i="1" kern="100">
                                <a:latin typeface="Cambria Math" panose="02040503050406030204" pitchFamily="18" charset="0"/>
                                <a:cs typeface="Times New Roman" panose="02020603050405020304" pitchFamily="18" charset="0"/>
                              </a:rPr>
                              <m:t>1</m:t>
                            </m:r>
                            <m:r>
                              <a:rPr lang="en-US" altLang="zh-CN" sz="1200" i="1" kern="100">
                                <a:latin typeface="Cambria Math" panose="02040503050406030204" pitchFamily="18" charset="0"/>
                                <a:cs typeface="Times New Roman" panose="02020603050405020304" pitchFamily="18" charset="0"/>
                              </a:rPr>
                              <m:t>𝑓</m:t>
                            </m:r>
                          </m:sub>
                        </m:sSub>
                      </m:e>
                    </m:d>
                    <m:r>
                      <a:rPr lang="en-US" altLang="zh-CN" sz="1200" i="1" kern="100">
                        <a:latin typeface="Cambria Math" panose="02040503050406030204" pitchFamily="18" charset="0"/>
                        <a:cs typeface="Times New Roman" panose="02020603050405020304" pitchFamily="18" charset="0"/>
                      </a:rPr>
                      <m:t>=1</m:t>
                    </m:r>
                  </m:oMath>
                </a14:m>
                <a:r>
                  <a:rPr lang="en-US" altLang="zh-CN" sz="1200" kern="100" dirty="0">
                    <a:latin typeface="宋体" panose="02010600030101010101" pitchFamily="2" charset="-122"/>
                    <a:cs typeface="Times New Roman" panose="02020603050405020304" pitchFamily="18" charset="0"/>
                  </a:rPr>
                  <a:t>,</a:t>
                </a:r>
                <a14:m>
                  <m:oMath xmlns:m="http://schemas.openxmlformats.org/officeDocument/2006/math">
                    <m:r>
                      <a:rPr lang="en-US" altLang="zh-CN" sz="1200" kern="100">
                        <a:latin typeface="Cambria Math" panose="02040503050406030204" pitchFamily="18" charset="0"/>
                        <a:cs typeface="Times New Roman" panose="02020603050405020304" pitchFamily="18" charset="0"/>
                      </a:rPr>
                      <m:t> </m:t>
                    </m:r>
                    <m:r>
                      <m:rPr>
                        <m:sty m:val="p"/>
                      </m:rPr>
                      <a:rPr lang="en-US" altLang="zh-CN" sz="1200" kern="100">
                        <a:latin typeface="Cambria Math" panose="02040503050406030204" pitchFamily="18" charset="0"/>
                        <a:cs typeface="Times New Roman" panose="02020603050405020304" pitchFamily="18" charset="0"/>
                      </a:rPr>
                      <m:t>rank</m:t>
                    </m:r>
                    <m:d>
                      <m:dPr>
                        <m:begChr m:val="["/>
                        <m:endChr m:val="]"/>
                        <m:ctrlPr>
                          <a:rPr lang="zh-CN" altLang="zh-CN" sz="1200" i="1">
                            <a:latin typeface="Cambria Math" panose="02040503050406030204" pitchFamily="18" charset="0"/>
                            <a:ea typeface="Cambria Math" panose="02040503050406030204" pitchFamily="18" charset="0"/>
                          </a:rPr>
                        </m:ctrlPr>
                      </m:dPr>
                      <m:e>
                        <m:sSub>
                          <m:sSubPr>
                            <m:ctrlPr>
                              <a:rPr lang="zh-CN" altLang="zh-CN" sz="1200" i="1">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cs typeface="Times New Roman" panose="02020603050405020304" pitchFamily="18" charset="0"/>
                              </a:rPr>
                              <m:t>𝐶</m:t>
                            </m:r>
                          </m:e>
                          <m:sub>
                            <m:r>
                              <a:rPr lang="en-US" altLang="zh-CN" sz="1200" i="1" kern="100">
                                <a:latin typeface="Cambria Math" panose="02040503050406030204" pitchFamily="18" charset="0"/>
                                <a:cs typeface="Times New Roman" panose="02020603050405020304" pitchFamily="18" charset="0"/>
                              </a:rPr>
                              <m:t>1</m:t>
                            </m:r>
                            <m:r>
                              <a:rPr lang="en-US" altLang="zh-CN" sz="1200" i="1" kern="100">
                                <a:latin typeface="Cambria Math" panose="02040503050406030204" pitchFamily="18" charset="0"/>
                                <a:cs typeface="Times New Roman" panose="02020603050405020304" pitchFamily="18" charset="0"/>
                              </a:rPr>
                              <m:t>𝑠</m:t>
                            </m:r>
                          </m:sub>
                        </m:sSub>
                        <m:d>
                          <m:dPr>
                            <m:ctrlPr>
                              <a:rPr lang="zh-CN" altLang="zh-CN" sz="1200" i="1">
                                <a:latin typeface="Cambria Math" panose="02040503050406030204" pitchFamily="18" charset="0"/>
                                <a:ea typeface="Cambria Math" panose="02040503050406030204" pitchFamily="18" charset="0"/>
                              </a:rPr>
                            </m:ctrlPr>
                          </m:dPr>
                          <m:e>
                            <m:sSub>
                              <m:sSubPr>
                                <m:ctrlPr>
                                  <a:rPr lang="zh-CN" altLang="zh-CN" sz="1200" i="1">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cs typeface="Times New Roman" panose="02020603050405020304" pitchFamily="18" charset="0"/>
                                  </a:rPr>
                                  <m:t>𝛽</m:t>
                                </m:r>
                              </m:e>
                              <m:sub>
                                <m:r>
                                  <a:rPr lang="en-US" altLang="zh-CN" sz="1200" i="1" kern="100">
                                    <a:latin typeface="Cambria Math" panose="02040503050406030204" pitchFamily="18" charset="0"/>
                                    <a:cs typeface="Times New Roman" panose="02020603050405020304" pitchFamily="18" charset="0"/>
                                  </a:rPr>
                                  <m:t>𝑠</m:t>
                                </m:r>
                              </m:sub>
                            </m:sSub>
                          </m:e>
                        </m:d>
                      </m:e>
                    </m:d>
                    <m:r>
                      <a:rPr lang="en-US" altLang="zh-CN" sz="1200" i="1" kern="100">
                        <a:latin typeface="Cambria Math" panose="02040503050406030204" pitchFamily="18" charset="0"/>
                        <a:cs typeface="Times New Roman" panose="02020603050405020304" pitchFamily="18" charset="0"/>
                      </a:rPr>
                      <m:t>=1</m:t>
                    </m:r>
                  </m:oMath>
                </a14:m>
                <a:endParaRPr lang="zh-CN" altLang="en-US" sz="1200" dirty="0"/>
              </a:p>
            </p:txBody>
          </p:sp>
        </mc:Choice>
        <mc:Fallback xmlns="">
          <p:sp>
            <p:nvSpPr>
              <p:cNvPr id="18" name="矩形 17"/>
              <p:cNvSpPr>
                <a:spLocks noRot="1" noChangeAspect="1" noMove="1" noResize="1" noEditPoints="1" noAdjustHandles="1" noChangeArrowheads="1" noChangeShapeType="1" noTextEdit="1"/>
              </p:cNvSpPr>
              <p:nvPr/>
            </p:nvSpPr>
            <p:spPr>
              <a:xfrm>
                <a:off x="5379340" y="3310769"/>
                <a:ext cx="2366097" cy="305020"/>
              </a:xfrm>
              <a:prstGeom prst="rect">
                <a:avLst/>
              </a:prstGeom>
              <a:blipFill>
                <a:blip r:embed="rId12"/>
                <a:stretch>
                  <a:fillRect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5393444" y="3860128"/>
                <a:ext cx="1245469" cy="276999"/>
              </a:xfrm>
              <a:prstGeom prst="rect">
                <a:avLst/>
              </a:prstGeom>
            </p:spPr>
            <p:txBody>
              <a:bodyPr wrap="none">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cs typeface="Times New Roman" panose="02020603050405020304" pitchFamily="18" charset="0"/>
                          </a:rPr>
                          <m:t>𝛿</m:t>
                        </m:r>
                      </m:e>
                      <m:sub>
                        <m:r>
                          <a:rPr lang="en-US" altLang="zh-CN" sz="1200" i="1" kern="100">
                            <a:latin typeface="Cambria Math" panose="02040503050406030204" pitchFamily="18" charset="0"/>
                            <a:cs typeface="Times New Roman" panose="02020603050405020304" pitchFamily="18" charset="0"/>
                          </a:rPr>
                          <m:t>𝑚</m:t>
                        </m:r>
                      </m:sub>
                    </m:sSub>
                    <m:r>
                      <a:rPr lang="en-US" altLang="zh-CN" sz="1200" i="1" kern="100">
                        <a:latin typeface="Cambria Math" panose="02040503050406030204" pitchFamily="18" charset="0"/>
                        <a:cs typeface="Times New Roman" panose="02020603050405020304" pitchFamily="18" charset="0"/>
                      </a:rPr>
                      <m:t>=1</m:t>
                    </m:r>
                  </m:oMath>
                </a14:m>
                <a:r>
                  <a:rPr lang="zh-CN" altLang="zh-CN" sz="1200" kern="100" dirty="0">
                    <a:cs typeface="Times New Roman" panose="02020603050405020304" pitchFamily="18" charset="0"/>
                  </a:rPr>
                  <a:t>，</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cs typeface="Times New Roman" panose="02020603050405020304" pitchFamily="18" charset="0"/>
                          </a:rPr>
                          <m:t>𝛿</m:t>
                        </m:r>
                      </m:e>
                      <m:sub>
                        <m:r>
                          <a:rPr lang="en-US" altLang="zh-CN" sz="1200" i="1" kern="100">
                            <a:latin typeface="Cambria Math" panose="02040503050406030204" pitchFamily="18" charset="0"/>
                            <a:cs typeface="Times New Roman" panose="02020603050405020304" pitchFamily="18" charset="0"/>
                          </a:rPr>
                          <m:t>𝑠</m:t>
                        </m:r>
                      </m:sub>
                    </m:sSub>
                    <m:r>
                      <a:rPr lang="en-US" altLang="zh-CN" sz="1200" i="1" kern="100">
                        <a:latin typeface="Cambria Math" panose="02040503050406030204" pitchFamily="18" charset="0"/>
                        <a:cs typeface="Times New Roman" panose="02020603050405020304" pitchFamily="18" charset="0"/>
                      </a:rPr>
                      <m:t>=1</m:t>
                    </m:r>
                  </m:oMath>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5393444" y="3860128"/>
                <a:ext cx="1245469" cy="276999"/>
              </a:xfrm>
              <a:prstGeom prst="rect">
                <a:avLst/>
              </a:prstGeom>
              <a:blipFill>
                <a:blip r:embed="rId13"/>
                <a:stretch>
                  <a:fillRect t="-2174" b="-13043"/>
                </a:stretch>
              </a:blipFill>
            </p:spPr>
            <p:txBody>
              <a:bodyPr/>
              <a:lstStyle/>
              <a:p>
                <a:r>
                  <a:rPr lang="zh-CN" altLang="en-US">
                    <a:noFill/>
                  </a:rPr>
                  <a:t> </a:t>
                </a:r>
              </a:p>
            </p:txBody>
          </p:sp>
        </mc:Fallback>
      </mc:AlternateContent>
      <p:sp>
        <p:nvSpPr>
          <p:cNvPr id="20" name="矩形 19"/>
          <p:cNvSpPr/>
          <p:nvPr/>
        </p:nvSpPr>
        <p:spPr>
          <a:xfrm>
            <a:off x="2985735" y="303036"/>
            <a:ext cx="3222357" cy="400110"/>
          </a:xfrm>
          <a:prstGeom prst="rect">
            <a:avLst/>
          </a:prstGeom>
        </p:spPr>
        <p:txBody>
          <a:bodyPr wrap="none">
            <a:spAutoFit/>
          </a:bodyPr>
          <a:lstStyle/>
          <a:p>
            <a:r>
              <a:rPr lang="en-US" altLang="zh-CN" sz="2000" b="1" dirty="0">
                <a:solidFill>
                  <a:srgbClr val="002060"/>
                </a:solidFill>
              </a:rPr>
              <a:t>3.12.4 </a:t>
            </a:r>
            <a:r>
              <a:rPr lang="zh-CN" altLang="en-US" sz="2000" b="1" dirty="0">
                <a:solidFill>
                  <a:srgbClr val="002060"/>
                </a:solidFill>
              </a:rPr>
              <a:t>移动机器人的机动性</a:t>
            </a:r>
          </a:p>
        </p:txBody>
      </p:sp>
    </p:spTree>
    <p:extLst>
      <p:ext uri="{BB962C8B-B14F-4D97-AF65-F5344CB8AC3E}">
        <p14:creationId xmlns:p14="http://schemas.microsoft.com/office/powerpoint/2010/main" val="204615306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880743" y="651014"/>
            <a:ext cx="3114955" cy="369332"/>
          </a:xfrm>
          <a:prstGeom prst="rect">
            <a:avLst/>
          </a:prstGeom>
        </p:spPr>
        <p:txBody>
          <a:bodyPr wrap="none">
            <a:spAutoFit/>
          </a:bodyPr>
          <a:lstStyle/>
          <a:p>
            <a:r>
              <a:rPr lang="en-US" altLang="zh-CN" b="1" dirty="0">
                <a:solidFill>
                  <a:srgbClr val="002060"/>
                </a:solidFill>
              </a:rPr>
              <a:t>Mobile Robot Maneuverability</a:t>
            </a:r>
            <a:endParaRPr lang="zh-CN" altLang="en-US" sz="1800" b="1" dirty="0">
              <a:solidFill>
                <a:srgbClr val="002060"/>
              </a:solidFill>
            </a:endParaRPr>
          </a:p>
        </p:txBody>
      </p:sp>
      <p:sp>
        <p:nvSpPr>
          <p:cNvPr id="22" name="椭圆 21"/>
          <p:cNvSpPr/>
          <p:nvPr>
            <p:custDataLst>
              <p:tags r:id="rId1"/>
            </p:custDataLst>
          </p:nvPr>
        </p:nvSpPr>
        <p:spPr>
          <a:xfrm>
            <a:off x="614131" y="1716987"/>
            <a:ext cx="1329162" cy="1329162"/>
          </a:xfrm>
          <a:prstGeom prst="ellipse">
            <a:avLst/>
          </a:prstGeom>
          <a:solidFill>
            <a:srgbClr val="0065B0"/>
          </a:solidFill>
          <a:ln w="63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27" name="Shape 647"/>
          <p:cNvSpPr/>
          <p:nvPr>
            <p:custDataLst>
              <p:tags r:id="rId2"/>
            </p:custDataLst>
          </p:nvPr>
        </p:nvSpPr>
        <p:spPr>
          <a:xfrm>
            <a:off x="962674" y="2141088"/>
            <a:ext cx="639397" cy="480960"/>
          </a:xfrm>
          <a:custGeom>
            <a:avLst/>
            <a:gdLst/>
            <a:ahLst/>
            <a:cxnLst/>
            <a:rect l="0" t="0" r="0" b="0"/>
            <a:pathLst>
              <a:path w="120000" h="120000" extrusionOk="0">
                <a:moveTo>
                  <a:pt x="117073" y="28695"/>
                </a:moveTo>
                <a:cubicBezTo>
                  <a:pt x="98536" y="2608"/>
                  <a:pt x="98536" y="2608"/>
                  <a:pt x="98536" y="2608"/>
                </a:cubicBezTo>
                <a:cubicBezTo>
                  <a:pt x="97560" y="1304"/>
                  <a:pt x="95609" y="0"/>
                  <a:pt x="93658" y="0"/>
                </a:cubicBezTo>
                <a:cubicBezTo>
                  <a:pt x="26341" y="0"/>
                  <a:pt x="26341" y="0"/>
                  <a:pt x="26341" y="0"/>
                </a:cubicBezTo>
                <a:cubicBezTo>
                  <a:pt x="24390" y="0"/>
                  <a:pt x="22439" y="1304"/>
                  <a:pt x="21463" y="2608"/>
                </a:cubicBezTo>
                <a:cubicBezTo>
                  <a:pt x="1951" y="28695"/>
                  <a:pt x="1951" y="28695"/>
                  <a:pt x="1951" y="28695"/>
                </a:cubicBezTo>
                <a:cubicBezTo>
                  <a:pt x="975" y="30000"/>
                  <a:pt x="0" y="32608"/>
                  <a:pt x="0" y="35217"/>
                </a:cubicBezTo>
                <a:cubicBezTo>
                  <a:pt x="0" y="37826"/>
                  <a:pt x="975" y="40434"/>
                  <a:pt x="1951" y="41739"/>
                </a:cubicBezTo>
                <a:cubicBezTo>
                  <a:pt x="54634" y="117391"/>
                  <a:pt x="54634" y="117391"/>
                  <a:pt x="54634" y="117391"/>
                </a:cubicBezTo>
                <a:cubicBezTo>
                  <a:pt x="55609" y="118695"/>
                  <a:pt x="57560" y="120000"/>
                  <a:pt x="59512" y="120000"/>
                </a:cubicBezTo>
                <a:cubicBezTo>
                  <a:pt x="62439" y="120000"/>
                  <a:pt x="64390" y="118695"/>
                  <a:pt x="65365" y="117391"/>
                </a:cubicBezTo>
                <a:cubicBezTo>
                  <a:pt x="118048" y="41739"/>
                  <a:pt x="118048" y="41739"/>
                  <a:pt x="118048" y="41739"/>
                </a:cubicBezTo>
                <a:cubicBezTo>
                  <a:pt x="119024" y="40434"/>
                  <a:pt x="120000" y="37826"/>
                  <a:pt x="120000" y="35217"/>
                </a:cubicBezTo>
                <a:cubicBezTo>
                  <a:pt x="120000" y="32608"/>
                  <a:pt x="119024" y="30000"/>
                  <a:pt x="117073" y="28695"/>
                </a:cubicBezTo>
                <a:close/>
                <a:moveTo>
                  <a:pt x="90731" y="10434"/>
                </a:moveTo>
                <a:cubicBezTo>
                  <a:pt x="83902" y="18260"/>
                  <a:pt x="83902" y="18260"/>
                  <a:pt x="83902" y="18260"/>
                </a:cubicBezTo>
                <a:cubicBezTo>
                  <a:pt x="77073" y="10434"/>
                  <a:pt x="77073" y="10434"/>
                  <a:pt x="77073" y="10434"/>
                </a:cubicBezTo>
                <a:lnTo>
                  <a:pt x="90731" y="10434"/>
                </a:lnTo>
                <a:close/>
                <a:moveTo>
                  <a:pt x="90731" y="35217"/>
                </a:moveTo>
                <a:cubicBezTo>
                  <a:pt x="74146" y="35217"/>
                  <a:pt x="74146" y="35217"/>
                  <a:pt x="74146" y="35217"/>
                </a:cubicBezTo>
                <a:cubicBezTo>
                  <a:pt x="82926" y="24782"/>
                  <a:pt x="82926" y="24782"/>
                  <a:pt x="82926" y="24782"/>
                </a:cubicBezTo>
                <a:lnTo>
                  <a:pt x="90731" y="35217"/>
                </a:lnTo>
                <a:close/>
                <a:moveTo>
                  <a:pt x="80975" y="20869"/>
                </a:moveTo>
                <a:cubicBezTo>
                  <a:pt x="71219" y="32608"/>
                  <a:pt x="71219" y="32608"/>
                  <a:pt x="71219" y="32608"/>
                </a:cubicBezTo>
                <a:cubicBezTo>
                  <a:pt x="62439" y="22173"/>
                  <a:pt x="62439" y="22173"/>
                  <a:pt x="62439" y="22173"/>
                </a:cubicBezTo>
                <a:cubicBezTo>
                  <a:pt x="73170" y="11739"/>
                  <a:pt x="73170" y="11739"/>
                  <a:pt x="73170" y="11739"/>
                </a:cubicBezTo>
                <a:lnTo>
                  <a:pt x="80975" y="20869"/>
                </a:lnTo>
                <a:close/>
                <a:moveTo>
                  <a:pt x="68292" y="35217"/>
                </a:moveTo>
                <a:cubicBezTo>
                  <a:pt x="51707" y="35217"/>
                  <a:pt x="51707" y="35217"/>
                  <a:pt x="51707" y="35217"/>
                </a:cubicBezTo>
                <a:cubicBezTo>
                  <a:pt x="59512" y="26086"/>
                  <a:pt x="59512" y="26086"/>
                  <a:pt x="59512" y="26086"/>
                </a:cubicBezTo>
                <a:lnTo>
                  <a:pt x="68292" y="35217"/>
                </a:lnTo>
                <a:close/>
                <a:moveTo>
                  <a:pt x="68292" y="10434"/>
                </a:moveTo>
                <a:cubicBezTo>
                  <a:pt x="59512" y="19565"/>
                  <a:pt x="59512" y="19565"/>
                  <a:pt x="59512" y="19565"/>
                </a:cubicBezTo>
                <a:cubicBezTo>
                  <a:pt x="51707" y="10434"/>
                  <a:pt x="51707" y="10434"/>
                  <a:pt x="51707" y="10434"/>
                </a:cubicBezTo>
                <a:lnTo>
                  <a:pt x="68292" y="10434"/>
                </a:lnTo>
                <a:close/>
                <a:moveTo>
                  <a:pt x="56585" y="22173"/>
                </a:moveTo>
                <a:cubicBezTo>
                  <a:pt x="48780" y="32608"/>
                  <a:pt x="48780" y="32608"/>
                  <a:pt x="48780" y="32608"/>
                </a:cubicBezTo>
                <a:cubicBezTo>
                  <a:pt x="39024" y="20869"/>
                  <a:pt x="39024" y="20869"/>
                  <a:pt x="39024" y="20869"/>
                </a:cubicBezTo>
                <a:cubicBezTo>
                  <a:pt x="46829" y="11739"/>
                  <a:pt x="46829" y="11739"/>
                  <a:pt x="46829" y="11739"/>
                </a:cubicBezTo>
                <a:lnTo>
                  <a:pt x="56585" y="22173"/>
                </a:lnTo>
                <a:close/>
                <a:moveTo>
                  <a:pt x="45853" y="35217"/>
                </a:moveTo>
                <a:cubicBezTo>
                  <a:pt x="29268" y="35217"/>
                  <a:pt x="29268" y="35217"/>
                  <a:pt x="29268" y="35217"/>
                </a:cubicBezTo>
                <a:cubicBezTo>
                  <a:pt x="36097" y="24782"/>
                  <a:pt x="36097" y="24782"/>
                  <a:pt x="36097" y="24782"/>
                </a:cubicBezTo>
                <a:lnTo>
                  <a:pt x="45853" y="35217"/>
                </a:lnTo>
                <a:close/>
                <a:moveTo>
                  <a:pt x="41951" y="10434"/>
                </a:moveTo>
                <a:cubicBezTo>
                  <a:pt x="36097" y="18260"/>
                  <a:pt x="36097" y="18260"/>
                  <a:pt x="36097" y="18260"/>
                </a:cubicBezTo>
                <a:cubicBezTo>
                  <a:pt x="29268" y="10434"/>
                  <a:pt x="29268" y="10434"/>
                  <a:pt x="29268" y="10434"/>
                </a:cubicBezTo>
                <a:lnTo>
                  <a:pt x="41951" y="10434"/>
                </a:lnTo>
                <a:close/>
                <a:moveTo>
                  <a:pt x="25365" y="11739"/>
                </a:moveTo>
                <a:cubicBezTo>
                  <a:pt x="33170" y="22173"/>
                  <a:pt x="33170" y="22173"/>
                  <a:pt x="33170" y="22173"/>
                </a:cubicBezTo>
                <a:cubicBezTo>
                  <a:pt x="23414" y="35217"/>
                  <a:pt x="23414" y="35217"/>
                  <a:pt x="23414" y="35217"/>
                </a:cubicBezTo>
                <a:cubicBezTo>
                  <a:pt x="7804" y="35217"/>
                  <a:pt x="7804" y="35217"/>
                  <a:pt x="7804" y="35217"/>
                </a:cubicBezTo>
                <a:lnTo>
                  <a:pt x="25365" y="11739"/>
                </a:lnTo>
                <a:close/>
                <a:moveTo>
                  <a:pt x="10731" y="40434"/>
                </a:moveTo>
                <a:cubicBezTo>
                  <a:pt x="24390" y="40434"/>
                  <a:pt x="24390" y="40434"/>
                  <a:pt x="24390" y="40434"/>
                </a:cubicBezTo>
                <a:cubicBezTo>
                  <a:pt x="47804" y="92608"/>
                  <a:pt x="47804" y="92608"/>
                  <a:pt x="47804" y="92608"/>
                </a:cubicBezTo>
                <a:lnTo>
                  <a:pt x="10731" y="40434"/>
                </a:lnTo>
                <a:close/>
                <a:moveTo>
                  <a:pt x="28292" y="40434"/>
                </a:moveTo>
                <a:cubicBezTo>
                  <a:pt x="46829" y="40434"/>
                  <a:pt x="46829" y="40434"/>
                  <a:pt x="46829" y="40434"/>
                </a:cubicBezTo>
                <a:cubicBezTo>
                  <a:pt x="55609" y="101739"/>
                  <a:pt x="55609" y="101739"/>
                  <a:pt x="55609" y="101739"/>
                </a:cubicBezTo>
                <a:lnTo>
                  <a:pt x="28292" y="40434"/>
                </a:lnTo>
                <a:close/>
                <a:moveTo>
                  <a:pt x="50731" y="40434"/>
                </a:moveTo>
                <a:cubicBezTo>
                  <a:pt x="69268" y="40434"/>
                  <a:pt x="69268" y="40434"/>
                  <a:pt x="69268" y="40434"/>
                </a:cubicBezTo>
                <a:cubicBezTo>
                  <a:pt x="59512" y="103043"/>
                  <a:pt x="59512" y="103043"/>
                  <a:pt x="59512" y="103043"/>
                </a:cubicBezTo>
                <a:lnTo>
                  <a:pt x="50731" y="40434"/>
                </a:lnTo>
                <a:close/>
                <a:moveTo>
                  <a:pt x="63414" y="101739"/>
                </a:moveTo>
                <a:cubicBezTo>
                  <a:pt x="73170" y="40434"/>
                  <a:pt x="73170" y="40434"/>
                  <a:pt x="73170" y="40434"/>
                </a:cubicBezTo>
                <a:cubicBezTo>
                  <a:pt x="91707" y="40434"/>
                  <a:pt x="91707" y="40434"/>
                  <a:pt x="91707" y="40434"/>
                </a:cubicBezTo>
                <a:lnTo>
                  <a:pt x="63414" y="101739"/>
                </a:lnTo>
                <a:close/>
                <a:moveTo>
                  <a:pt x="72195" y="92608"/>
                </a:moveTo>
                <a:cubicBezTo>
                  <a:pt x="95609" y="40434"/>
                  <a:pt x="95609" y="40434"/>
                  <a:pt x="95609" y="40434"/>
                </a:cubicBezTo>
                <a:cubicBezTo>
                  <a:pt x="109268" y="40434"/>
                  <a:pt x="109268" y="40434"/>
                  <a:pt x="109268" y="40434"/>
                </a:cubicBezTo>
                <a:lnTo>
                  <a:pt x="72195" y="92608"/>
                </a:lnTo>
                <a:close/>
                <a:moveTo>
                  <a:pt x="96585" y="35217"/>
                </a:moveTo>
                <a:cubicBezTo>
                  <a:pt x="85853" y="22173"/>
                  <a:pt x="85853" y="22173"/>
                  <a:pt x="85853" y="22173"/>
                </a:cubicBezTo>
                <a:cubicBezTo>
                  <a:pt x="94634" y="11739"/>
                  <a:pt x="94634" y="11739"/>
                  <a:pt x="94634" y="11739"/>
                </a:cubicBezTo>
                <a:cubicBezTo>
                  <a:pt x="112195" y="35217"/>
                  <a:pt x="112195" y="35217"/>
                  <a:pt x="112195" y="35217"/>
                </a:cubicBezTo>
                <a:lnTo>
                  <a:pt x="96585" y="35217"/>
                </a:lnTo>
                <a:close/>
                <a:moveTo>
                  <a:pt x="96585" y="35217"/>
                </a:moveTo>
                <a:cubicBezTo>
                  <a:pt x="96585" y="35217"/>
                  <a:pt x="96585" y="35217"/>
                  <a:pt x="96585" y="35217"/>
                </a:cubicBezTo>
              </a:path>
            </a:pathLst>
          </a:custGeom>
          <a:solidFill>
            <a:sysClr val="window" lastClr="FFFFFF"/>
          </a:solidFill>
          <a:ln>
            <a:noFill/>
          </a:ln>
        </p:spPr>
        <p:txBody>
          <a:bodyPr lIns="34284" tIns="17137" rIns="34284" bIns="17137" anchor="t" anchorCtr="0">
            <a:noAutofit/>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91969B"/>
              </a:solidFill>
              <a:effectLst/>
              <a:uLnTx/>
              <a:uFillTx/>
              <a:latin typeface="Arial" panose="020B0604020202020204" pitchFamily="34" charset="0"/>
              <a:ea typeface="微软雅黑" panose="020B0503020204020204" charset="-122"/>
              <a:cs typeface="Lato"/>
              <a:sym typeface="Arial" panose="020B0604020202020204" pitchFamily="34" charset="0"/>
            </a:endParaRPr>
          </a:p>
        </p:txBody>
      </p:sp>
      <p:sp>
        <p:nvSpPr>
          <p:cNvPr id="39" name="文本框 38"/>
          <p:cNvSpPr txBox="1"/>
          <p:nvPr>
            <p:custDataLst>
              <p:tags r:id="rId3"/>
            </p:custDataLst>
          </p:nvPr>
        </p:nvSpPr>
        <p:spPr>
          <a:xfrm>
            <a:off x="611560" y="3127254"/>
            <a:ext cx="1334305" cy="302775"/>
          </a:xfrm>
          <a:prstGeom prst="rect">
            <a:avLst/>
          </a:prstGeom>
          <a:noFill/>
        </p:spPr>
        <p:txBody>
          <a:bodyPr wrap="square" bIns="0" rtlCol="0" anchor="b" anchorCtr="0">
            <a:noAutofit/>
          </a:bodyPr>
          <a:lstStyle/>
          <a:p>
            <a:pPr algn="ctr">
              <a:lnSpc>
                <a:spcPct val="120000"/>
              </a:lnSpc>
            </a:pPr>
            <a:r>
              <a:rPr lang="zh-CN" altLang="en-US" sz="1600" b="1" spc="300" dirty="0">
                <a:latin typeface="Arial" panose="020B0604020202020204" pitchFamily="34" charset="0"/>
                <a:ea typeface="微软雅黑" panose="020B0503020204020204" charset="-122"/>
                <a:sym typeface="Arial" panose="020B0604020202020204" pitchFamily="34" charset="0"/>
              </a:rPr>
              <a:t>机动性</a:t>
            </a:r>
          </a:p>
        </p:txBody>
      </p:sp>
      <p:sp>
        <p:nvSpPr>
          <p:cNvPr id="42" name="文本框 18"/>
          <p:cNvSpPr txBox="1"/>
          <p:nvPr>
            <p:custDataLst>
              <p:tags r:id="rId4"/>
            </p:custDataLst>
          </p:nvPr>
        </p:nvSpPr>
        <p:spPr>
          <a:xfrm>
            <a:off x="213484" y="3511134"/>
            <a:ext cx="2130455" cy="656521"/>
          </a:xfrm>
          <a:prstGeom prst="rect">
            <a:avLst/>
          </a:prstGeom>
          <a:noFill/>
        </p:spPr>
        <p:txBody>
          <a:bodyPr wrap="square" lIns="67500" tIns="0" rIns="67500" bIns="35100">
            <a:noAutofit/>
          </a:bodyPr>
          <a:lstStyle>
            <a:defPPr>
              <a:defRPr lang="zh-CN"/>
            </a:defPPr>
            <a:lvl1pPr marL="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3765"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a:lnSpc>
                <a:spcPct val="120000"/>
              </a:lnSpc>
            </a:pPr>
            <a:r>
              <a:rPr lang="en-US" altLang="zh-CN" sz="1600" spc="150" dirty="0">
                <a:sym typeface="Arial" panose="020B0604020202020204" pitchFamily="34" charset="0"/>
              </a:rPr>
              <a:t>maneuverability</a:t>
            </a:r>
            <a:endParaRPr lang="zh-CN" altLang="en-US" sz="1600" spc="150" dirty="0">
              <a:sym typeface="Arial" panose="020B0604020202020204" pitchFamily="34" charset="0"/>
            </a:endParaRPr>
          </a:p>
        </p:txBody>
      </p:sp>
      <mc:AlternateContent xmlns:mc="http://schemas.openxmlformats.org/markup-compatibility/2006" xmlns:a14="http://schemas.microsoft.com/office/drawing/2010/main">
        <mc:Choice Requires="a14">
          <p:sp>
            <p:nvSpPr>
              <p:cNvPr id="2" name="矩形 1"/>
              <p:cNvSpPr/>
              <p:nvPr/>
            </p:nvSpPr>
            <p:spPr>
              <a:xfrm>
                <a:off x="3923928" y="1790801"/>
                <a:ext cx="159017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𝛿</m:t>
                          </m:r>
                        </m:e>
                        <m:sub>
                          <m:r>
                            <a:rPr lang="zh-CN" altLang="en-US" i="1">
                              <a:latin typeface="Cambria Math" panose="02040503050406030204" pitchFamily="18" charset="0"/>
                            </a:rPr>
                            <m:t>𝑀</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𝛿</m:t>
                          </m:r>
                        </m:e>
                        <m:sub>
                          <m:r>
                            <a:rPr lang="zh-CN" altLang="en-US" i="1">
                              <a:latin typeface="Cambria Math" panose="02040503050406030204" pitchFamily="18" charset="0"/>
                            </a:rPr>
                            <m:t>𝑚</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𝛿</m:t>
                          </m:r>
                        </m:e>
                        <m:sub>
                          <m:r>
                            <a:rPr lang="zh-CN" altLang="en-US" i="1">
                              <a:latin typeface="Cambria Math" panose="02040503050406030204" pitchFamily="18" charset="0"/>
                            </a:rPr>
                            <m:t>𝑠</m:t>
                          </m:r>
                        </m:sub>
                      </m:sSub>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3923928" y="1790801"/>
                <a:ext cx="1590179" cy="369332"/>
              </a:xfrm>
              <a:prstGeom prst="rect">
                <a:avLst/>
              </a:prstGeom>
              <a:blipFill>
                <a:blip r:embed="rId7"/>
                <a:stretch>
                  <a:fillRect/>
                </a:stretch>
              </a:blipFill>
            </p:spPr>
            <p:txBody>
              <a:bodyPr/>
              <a:lstStyle/>
              <a:p>
                <a:r>
                  <a:rPr lang="zh-CN" altLang="en-US">
                    <a:noFill/>
                  </a:rPr>
                  <a:t> </a:t>
                </a:r>
              </a:p>
            </p:txBody>
          </p:sp>
        </mc:Fallback>
      </mc:AlternateContent>
      <p:pic>
        <p:nvPicPr>
          <p:cNvPr id="6" name="图片 5"/>
          <p:cNvPicPr>
            <a:picLocks noChangeAspect="1"/>
          </p:cNvPicPr>
          <p:nvPr/>
        </p:nvPicPr>
        <p:blipFill>
          <a:blip r:embed="rId8"/>
          <a:stretch>
            <a:fillRect/>
          </a:stretch>
        </p:blipFill>
        <p:spPr>
          <a:xfrm>
            <a:off x="2411760" y="2296021"/>
            <a:ext cx="5273497" cy="1871634"/>
          </a:xfrm>
          <a:prstGeom prst="rect">
            <a:avLst/>
          </a:prstGeom>
        </p:spPr>
      </p:pic>
      <p:sp>
        <p:nvSpPr>
          <p:cNvPr id="14" name="矩形 13"/>
          <p:cNvSpPr/>
          <p:nvPr/>
        </p:nvSpPr>
        <p:spPr>
          <a:xfrm>
            <a:off x="2985735" y="303036"/>
            <a:ext cx="3222357" cy="400110"/>
          </a:xfrm>
          <a:prstGeom prst="rect">
            <a:avLst/>
          </a:prstGeom>
        </p:spPr>
        <p:txBody>
          <a:bodyPr wrap="none">
            <a:spAutoFit/>
          </a:bodyPr>
          <a:lstStyle/>
          <a:p>
            <a:r>
              <a:rPr lang="en-US" altLang="zh-CN" sz="2000" b="1" dirty="0">
                <a:solidFill>
                  <a:srgbClr val="002060"/>
                </a:solidFill>
              </a:rPr>
              <a:t>3.12.4 </a:t>
            </a:r>
            <a:r>
              <a:rPr lang="zh-CN" altLang="en-US" sz="2000" b="1" dirty="0">
                <a:solidFill>
                  <a:srgbClr val="002060"/>
                </a:solidFill>
              </a:rPr>
              <a:t>移动机器人的机动性</a:t>
            </a:r>
          </a:p>
        </p:txBody>
      </p:sp>
    </p:spTree>
    <p:extLst>
      <p:ext uri="{BB962C8B-B14F-4D97-AF65-F5344CB8AC3E}">
        <p14:creationId xmlns:p14="http://schemas.microsoft.com/office/powerpoint/2010/main" val="41256115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矩形 5"/>
              <p:cNvSpPr/>
              <p:nvPr/>
            </p:nvSpPr>
            <p:spPr>
              <a:xfrm>
                <a:off x="1069240" y="2850890"/>
                <a:ext cx="1773498" cy="459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𝑠</m:t>
                                        </m:r>
                                      </m:sub>
                                    </m:sSub>
                                  </m:e>
                                </m:d>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sub>
                                </m:sSub>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mr>
                            <m:mr>
                              <m:e>
                                <m:r>
                                  <a:rPr lang="zh-CN" altLang="en-US" sz="1200" i="0">
                                    <a:latin typeface="Cambria Math" panose="02040503050406030204" pitchFamily="18" charset="0"/>
                                  </a:rPr>
                                  <m:t>0</m:t>
                                </m:r>
                              </m:e>
                            </m:mr>
                          </m:m>
                        </m:e>
                      </m:d>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1069240" y="2850890"/>
                <a:ext cx="1773498" cy="459357"/>
              </a:xfrm>
              <a:prstGeom prst="rect">
                <a:avLst/>
              </a:prstGeom>
              <a:blipFill>
                <a:blip r:embed="rId4"/>
                <a:stretch>
                  <a:fillRect b="-5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031153" y="3310247"/>
                <a:ext cx="2113143" cy="5964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3"/>
                                                    <m:mcJc m:val="center"/>
                                                  </m:mcPr>
                                                </m:mc>
                                              </m:mcs>
                                              <m:ctrlPr>
                                                <a:rPr lang="zh-CN" altLang="en-US" sz="1200" i="1">
                                                  <a:latin typeface="Cambria Math" panose="02040503050406030204" pitchFamily="18" charset="0"/>
                                                </a:rPr>
                                              </m:ctrlPr>
                                            </m:mPr>
                                            <m:mr>
                                              <m:e>
                                                <m:r>
                                                  <a:rPr lang="zh-CN" altLang="en-US" sz="1200">
                                                    <a:latin typeface="Cambria Math" panose="02040503050406030204" pitchFamily="18" charset="0"/>
                                                  </a:rPr>
                                                  <m:t>1</m:t>
                                                </m:r>
                                              </m:e>
                                              <m:e>
                                                <m:r>
                                                  <a:rPr lang="zh-CN" altLang="en-US" sz="1200" i="0">
                                                    <a:latin typeface="Cambria Math" panose="02040503050406030204" pitchFamily="18" charset="0"/>
                                                  </a:rPr>
                                                  <m:t>0</m:t>
                                                </m:r>
                                              </m:e>
                                              <m:e>
                                                <m:r>
                                                  <a:rPr lang="zh-CN" altLang="en-US" sz="1200" i="1">
                                                    <a:latin typeface="Cambria Math" panose="02040503050406030204" pitchFamily="18" charset="0"/>
                                                  </a:rPr>
                                                  <m:t>𝑙</m:t>
                                                </m:r>
                                              </m:e>
                                            </m:mr>
                                          </m:m>
                                        </m:e>
                                      </m:mr>
                                      <m:m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e>
                                                <m:r>
                                                  <a:rPr lang="zh-CN" altLang="en-US" sz="1200" i="0">
                                                    <a:latin typeface="Cambria Math" panose="02040503050406030204" pitchFamily="18" charset="0"/>
                                                  </a:rPr>
                                                  <m:t>−</m:t>
                                                </m:r>
                                                <m:r>
                                                  <a:rPr lang="zh-CN" altLang="en-US" sz="1200" i="1">
                                                    <a:latin typeface="Cambria Math" panose="02040503050406030204" pitchFamily="18" charset="0"/>
                                                  </a:rPr>
                                                  <m:t>𝑙</m:t>
                                                </m:r>
                                              </m:e>
                                            </m:mr>
                                          </m:m>
                                        </m:e>
                                      </m:mr>
                                    </m:m>
                                  </m:e>
                                </m:d>
                              </m:e>
                            </m:mr>
                            <m:mr>
                              <m:e>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
                                  </m:e>
                                </m:d>
                              </m:e>
                            </m:mr>
                          </m:m>
                        </m:e>
                      </m:d>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sub>
                                </m:sSub>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mr>
                            <m:mr>
                              <m:e>
                                <m:r>
                                  <a:rPr lang="zh-CN" altLang="en-US" sz="1200" i="0">
                                    <a:latin typeface="Cambria Math" panose="02040503050406030204" pitchFamily="18" charset="0"/>
                                  </a:rPr>
                                  <m:t>0</m:t>
                                </m:r>
                              </m:e>
                            </m:mr>
                          </m:m>
                        </m:e>
                      </m:d>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1031153" y="3310247"/>
                <a:ext cx="2113143" cy="59644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851920" y="1069329"/>
                <a:ext cx="4572000" cy="96552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p>
                          <m:r>
                            <a:rPr lang="zh-CN" altLang="en-US" sz="1200" i="0">
                              <a:latin typeface="Cambria Math" panose="02040503050406030204" pitchFamily="18" charset="0"/>
                            </a:rPr>
                            <m:t>−1</m:t>
                          </m:r>
                        </m:sup>
                      </m:sSup>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e>
                                                    <m:r>
                                                      <a:rPr lang="zh-CN" altLang="en-US" sz="1200" i="1">
                                                        <a:latin typeface="Cambria Math" panose="02040503050406030204" pitchFamily="18" charset="0"/>
                                                      </a:rPr>
                                                      <m:t>𝑙</m:t>
                                                    </m:r>
                                                  </m:e>
                                                </m:mr>
                                              </m:m>
                                            </m:e>
                                          </m:mr>
                                          <m:m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e>
                                                    <m:r>
                                                      <a:rPr lang="zh-CN" altLang="en-US" sz="1200" i="0">
                                                        <a:latin typeface="Cambria Math" panose="02040503050406030204" pitchFamily="18" charset="0"/>
                                                      </a:rPr>
                                                      <m:t>−</m:t>
                                                    </m:r>
                                                    <m:r>
                                                      <a:rPr lang="zh-CN" altLang="en-US" sz="1200" i="1">
                                                        <a:latin typeface="Cambria Math" panose="02040503050406030204" pitchFamily="18" charset="0"/>
                                                      </a:rPr>
                                                      <m:t>𝑙</m:t>
                                                    </m:r>
                                                  </m:e>
                                                </m:mr>
                                              </m:m>
                                            </m:e>
                                          </m:mr>
                                        </m:m>
                                      </m:e>
                                    </m:d>
                                  </m:e>
                                </m:mr>
                                <m:mr>
                                  <m:e>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
                                      </m:e>
                                    </m:d>
                                  </m:e>
                                </m:mr>
                              </m:m>
                            </m:e>
                          </m:d>
                        </m:e>
                        <m:sup>
                          <m:r>
                            <a:rPr lang="zh-CN" altLang="en-US" sz="1200" i="0">
                              <a:latin typeface="Cambria Math" panose="02040503050406030204" pitchFamily="18" charset="0"/>
                            </a:rPr>
                            <m:t>−1</m:t>
                          </m:r>
                        </m:sup>
                      </m:sSup>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sub>
                                </m:sSub>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mr>
                            <m:mr>
                              <m:e>
                                <m:r>
                                  <a:rPr lang="zh-CN" altLang="en-US" sz="1200" i="0">
                                    <a:latin typeface="Cambria Math" panose="02040503050406030204" pitchFamily="18" charset="0"/>
                                  </a:rPr>
                                  <m:t>0</m:t>
                                </m:r>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𝑅</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p>
                          <m:r>
                            <a:rPr lang="zh-CN" altLang="en-US" sz="1200" i="0">
                              <a:latin typeface="Cambria Math" panose="02040503050406030204" pitchFamily="18" charset="0"/>
                            </a:rPr>
                            <m:t>−1</m:t>
                          </m:r>
                        </m:sup>
                      </m:sSup>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m>
                                        <m:mPr>
                                          <m:mcs>
                                            <m:mc>
                                              <m:mcPr>
                                                <m:count m:val="3"/>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e>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e>
                                          <m:e>
                                            <m:r>
                                              <a:rPr lang="zh-CN" altLang="en-US" sz="1200" i="0">
                                                <a:latin typeface="Cambria Math" panose="02040503050406030204" pitchFamily="18" charset="0"/>
                                              </a:rPr>
                                              <m:t>0</m:t>
                                            </m:r>
                                          </m:e>
                                        </m:mr>
                                      </m:m>
                                    </m:e>
                                  </m:mr>
                                  <m:m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mr>
                            <m:mr>
                              <m:e>
                                <m:m>
                                  <m:mPr>
                                    <m:mcs>
                                      <m:mc>
                                        <m:mcPr>
                                          <m:count m:val="3"/>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r>
                                            <a:rPr lang="zh-CN" altLang="en-US" sz="1200" i="1">
                                              <a:latin typeface="Cambria Math" panose="02040503050406030204" pitchFamily="18" charset="0"/>
                                            </a:rPr>
                                            <m:t>𝑙</m:t>
                                          </m:r>
                                        </m:den>
                                      </m:f>
                                    </m:e>
                                    <m:e>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r>
                                            <a:rPr lang="zh-CN" altLang="en-US" sz="1200" i="1">
                                              <a:latin typeface="Cambria Math" panose="02040503050406030204" pitchFamily="18" charset="0"/>
                                            </a:rPr>
                                            <m:t>𝑙</m:t>
                                          </m:r>
                                        </m:den>
                                      </m:f>
                                    </m:e>
                                    <m:e>
                                      <m:r>
                                        <a:rPr lang="zh-CN" altLang="en-US" sz="1200" i="0">
                                          <a:latin typeface="Cambria Math" panose="02040503050406030204" pitchFamily="18" charset="0"/>
                                        </a:rPr>
                                        <m:t>0</m:t>
                                      </m:r>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sub>
                                </m:sSub>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mr>
                            <m:mr>
                              <m:e>
                                <m:r>
                                  <a:rPr lang="zh-CN" altLang="en-US" sz="1200" i="0">
                                    <a:latin typeface="Cambria Math" panose="02040503050406030204" pitchFamily="18" charset="0"/>
                                  </a:rPr>
                                  <m:t>0</m:t>
                                </m:r>
                              </m:e>
                            </m:mr>
                          </m:m>
                        </m:e>
                      </m:d>
                    </m:oMath>
                  </m:oMathPara>
                </a14:m>
                <a:endParaRPr lang="zh-CN" altLang="en-US" sz="1200" dirty="0"/>
              </a:p>
            </p:txBody>
          </p:sp>
        </mc:Choice>
        <mc:Fallback xmlns="">
          <p:sp>
            <p:nvSpPr>
              <p:cNvPr id="12" name="矩形 11"/>
              <p:cNvSpPr>
                <a:spLocks noRot="1" noChangeAspect="1" noMove="1" noResize="1" noEditPoints="1" noAdjustHandles="1" noChangeArrowheads="1" noChangeShapeType="1" noTextEdit="1"/>
              </p:cNvSpPr>
              <p:nvPr/>
            </p:nvSpPr>
            <p:spPr>
              <a:xfrm>
                <a:off x="3851920" y="1069329"/>
                <a:ext cx="4572000" cy="96552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061405" y="2209736"/>
                <a:ext cx="1020856" cy="4379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sub>
                      </m:sSub>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e>
                            </m:mr>
                            <m:mr>
                              <m:e>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e>
                            </m:mr>
                          </m:m>
                        </m:e>
                      </m:d>
                    </m:oMath>
                  </m:oMathPara>
                </a14:m>
                <a:endParaRPr lang="zh-CN" altLang="en-US" sz="1200" dirty="0"/>
              </a:p>
            </p:txBody>
          </p:sp>
        </mc:Choice>
        <mc:Fallback xmlns="">
          <p:sp>
            <p:nvSpPr>
              <p:cNvPr id="16" name="矩形 15"/>
              <p:cNvSpPr>
                <a:spLocks noRot="1" noChangeAspect="1" noMove="1" noResize="1" noEditPoints="1" noAdjustHandles="1" noChangeArrowheads="1" noChangeShapeType="1" noTextEdit="1"/>
              </p:cNvSpPr>
              <p:nvPr/>
            </p:nvSpPr>
            <p:spPr>
              <a:xfrm>
                <a:off x="4061405" y="2209736"/>
                <a:ext cx="1020856" cy="437940"/>
              </a:xfrm>
              <a:prstGeom prst="rect">
                <a:avLst/>
              </a:prstGeom>
              <a:blipFill>
                <a:blip r:embed="rId7"/>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5291745" y="1945176"/>
                <a:ext cx="3023520" cy="9670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𝑦</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𝑐𝑜𝑠</m:t>
                                </m:r>
                                <m:r>
                                  <a:rPr lang="zh-CN" altLang="en-US" sz="1200" i="1">
                                    <a:latin typeface="Cambria Math" panose="02040503050406030204" pitchFamily="18" charset="0"/>
                                  </a:rPr>
                                  <m:t>𝜃</m:t>
                                </m:r>
                              </m:e>
                              <m:e>
                                <m:r>
                                  <a:rPr lang="zh-CN" altLang="en-US" sz="1200" i="0">
                                    <a:latin typeface="Cambria Math" panose="02040503050406030204" pitchFamily="18" charset="0"/>
                                  </a:rPr>
                                  <m:t>−</m:t>
                                </m:r>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e>
                                <m:r>
                                  <a:rPr lang="zh-CN" altLang="en-US" sz="1200" i="0">
                                    <a:latin typeface="Cambria Math" panose="02040503050406030204" pitchFamily="18" charset="0"/>
                                  </a:rPr>
                                  <m:t>0</m:t>
                                </m:r>
                              </m:e>
                            </m:mr>
                            <m:m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e>
                                <m:r>
                                  <a:rPr lang="zh-CN" altLang="en-US" sz="1200" i="1">
                                    <a:latin typeface="Cambria Math" panose="02040503050406030204" pitchFamily="18" charset="0"/>
                                  </a:rPr>
                                  <m:t>𝑐𝑜𝑠</m:t>
                                </m:r>
                                <m:r>
                                  <a:rPr lang="zh-CN" altLang="en-US" sz="1200" i="1">
                                    <a:latin typeface="Cambria Math" panose="02040503050406030204" pitchFamily="18" charset="0"/>
                                  </a:rPr>
                                  <m:t>𝜃</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num>
                                  <m:den>
                                    <m:r>
                                      <a:rPr lang="zh-CN" altLang="en-US" sz="1200" i="0">
                                        <a:latin typeface="Cambria Math" panose="02040503050406030204" pitchFamily="18" charset="0"/>
                                      </a:rPr>
                                      <m:t>2</m:t>
                                    </m:r>
                                  </m:den>
                                </m:f>
                              </m:e>
                            </m:mr>
                            <m:mr>
                              <m:e>
                                <m:r>
                                  <a:rPr lang="zh-CN" altLang="en-US" sz="1200" i="0">
                                    <a:latin typeface="Cambria Math" panose="02040503050406030204" pitchFamily="18" charset="0"/>
                                  </a:rPr>
                                  <m:t>0</m:t>
                                </m:r>
                              </m:e>
                            </m:mr>
                            <m:m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num>
                                  <m:den>
                                    <m:r>
                                      <a:rPr lang="zh-CN" altLang="en-US" sz="1200" i="0">
                                        <a:latin typeface="Cambria Math" panose="02040503050406030204" pitchFamily="18" charset="0"/>
                                      </a:rPr>
                                      <m:t>2</m:t>
                                    </m:r>
                                    <m:r>
                                      <a:rPr lang="zh-CN" altLang="en-US" sz="1200" i="1">
                                        <a:latin typeface="Cambria Math" panose="02040503050406030204" pitchFamily="18" charset="0"/>
                                      </a:rPr>
                                      <m:t>𝑙</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num>
                                  <m:den>
                                    <m:r>
                                      <a:rPr lang="zh-CN" altLang="en-US" sz="1200" i="0">
                                        <a:latin typeface="Cambria Math" panose="02040503050406030204" pitchFamily="18" charset="0"/>
                                      </a:rPr>
                                      <m:t>2</m:t>
                                    </m:r>
                                    <m:r>
                                      <a:rPr lang="zh-CN" altLang="en-US" sz="1200" i="1">
                                        <a:latin typeface="Cambria Math" panose="02040503050406030204" pitchFamily="18" charset="0"/>
                                      </a:rPr>
                                      <m:t>𝑙</m:t>
                                    </m:r>
                                  </m:den>
                                </m:f>
                              </m:e>
                            </m:mr>
                          </m:m>
                        </m:e>
                      </m:d>
                    </m:oMath>
                  </m:oMathPara>
                </a14:m>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5291745" y="1945176"/>
                <a:ext cx="3023520" cy="96706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786790" y="2931860"/>
                <a:ext cx="1710532" cy="5073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num>
                            <m:den>
                              <m:r>
                                <a:rPr lang="zh-CN" altLang="en-US" sz="1200" i="0">
                                  <a:latin typeface="Cambria Math" panose="02040503050406030204" pitchFamily="18" charset="0"/>
                                </a:rPr>
                                <m:t>2</m:t>
                              </m:r>
                            </m:den>
                          </m:f>
                        </m:e>
                      </m:d>
                      <m:r>
                        <a:rPr lang="zh-CN" altLang="en-US" sz="1200" i="1">
                          <a:latin typeface="Cambria Math" panose="02040503050406030204" pitchFamily="18" charset="0"/>
                        </a:rPr>
                        <m:t>𝑐𝑜𝑠</m:t>
                      </m:r>
                      <m:r>
                        <a:rPr lang="zh-CN" altLang="en-US" sz="1200" i="1">
                          <a:latin typeface="Cambria Math" panose="02040503050406030204" pitchFamily="18" charset="0"/>
                        </a:rPr>
                        <m:t>𝜃</m:t>
                      </m:r>
                    </m:oMath>
                  </m:oMathPara>
                </a14:m>
                <a:endParaRPr lang="zh-CN" altLang="en-US" sz="1200" dirty="0"/>
              </a:p>
            </p:txBody>
          </p:sp>
        </mc:Choice>
        <mc:Fallback xmlns="">
          <p:sp>
            <p:nvSpPr>
              <p:cNvPr id="18" name="矩形 17"/>
              <p:cNvSpPr>
                <a:spLocks noRot="1" noChangeAspect="1" noMove="1" noResize="1" noEditPoints="1" noAdjustHandles="1" noChangeArrowheads="1" noChangeShapeType="1" noTextEdit="1"/>
              </p:cNvSpPr>
              <p:nvPr/>
            </p:nvSpPr>
            <p:spPr>
              <a:xfrm>
                <a:off x="3786790" y="2931860"/>
                <a:ext cx="1710532" cy="507318"/>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5629526" y="2941874"/>
                <a:ext cx="1697260" cy="5073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𝑦</m:t>
                          </m:r>
                        </m:e>
                      </m:acc>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num>
                            <m:den>
                              <m:r>
                                <a:rPr lang="zh-CN" altLang="en-US" sz="1200" i="0">
                                  <a:latin typeface="Cambria Math" panose="02040503050406030204" pitchFamily="18" charset="0"/>
                                </a:rPr>
                                <m:t>2</m:t>
                              </m:r>
                            </m:den>
                          </m:f>
                        </m:e>
                      </m:d>
                      <m:r>
                        <a:rPr lang="zh-CN" altLang="en-US" sz="1200" i="1">
                          <a:latin typeface="Cambria Math" panose="02040503050406030204" pitchFamily="18" charset="0"/>
                        </a:rPr>
                        <m:t>𝑠𝑖𝑛</m:t>
                      </m:r>
                      <m:r>
                        <a:rPr lang="zh-CN" altLang="en-US" sz="1200" i="1">
                          <a:latin typeface="Cambria Math" panose="02040503050406030204" pitchFamily="18" charset="0"/>
                        </a:rPr>
                        <m:t>𝜃</m:t>
                      </m:r>
                    </m:oMath>
                  </m:oMathPara>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5629526" y="2941874"/>
                <a:ext cx="1697260" cy="507318"/>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7383029" y="2941874"/>
                <a:ext cx="1199046" cy="4399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num>
                        <m:den>
                          <m:r>
                            <a:rPr lang="zh-CN" altLang="en-US" sz="1200" i="0">
                              <a:latin typeface="Cambria Math" panose="02040503050406030204" pitchFamily="18" charset="0"/>
                            </a:rPr>
                            <m:t>2</m:t>
                          </m:r>
                          <m:r>
                            <a:rPr lang="zh-CN" altLang="en-US" sz="1200" i="1">
                              <a:latin typeface="Cambria Math" panose="02040503050406030204" pitchFamily="18" charset="0"/>
                            </a:rPr>
                            <m:t>𝑙</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𝑟</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num>
                        <m:den>
                          <m:r>
                            <a:rPr lang="zh-CN" altLang="en-US" sz="1200" i="0">
                              <a:latin typeface="Cambria Math" panose="02040503050406030204" pitchFamily="18" charset="0"/>
                            </a:rPr>
                            <m:t>2</m:t>
                          </m:r>
                          <m:r>
                            <a:rPr lang="zh-CN" altLang="en-US" sz="1200" i="1">
                              <a:latin typeface="Cambria Math" panose="02040503050406030204" pitchFamily="18" charset="0"/>
                            </a:rPr>
                            <m:t>𝑙</m:t>
                          </m:r>
                        </m:den>
                      </m:f>
                    </m:oMath>
                  </m:oMathPara>
                </a14:m>
                <a:endParaRPr lang="zh-CN" altLang="en-US" sz="1200" dirty="0"/>
              </a:p>
            </p:txBody>
          </p:sp>
        </mc:Choice>
        <mc:Fallback xmlns="">
          <p:sp>
            <p:nvSpPr>
              <p:cNvPr id="20" name="矩形 19"/>
              <p:cNvSpPr>
                <a:spLocks noRot="1" noChangeAspect="1" noMove="1" noResize="1" noEditPoints="1" noAdjustHandles="1" noChangeArrowheads="1" noChangeShapeType="1" noTextEdit="1"/>
              </p:cNvSpPr>
              <p:nvPr/>
            </p:nvSpPr>
            <p:spPr>
              <a:xfrm>
                <a:off x="7383029" y="2941874"/>
                <a:ext cx="1199046" cy="439992"/>
              </a:xfrm>
              <a:prstGeom prst="rect">
                <a:avLst/>
              </a:prstGeom>
              <a:blipFill>
                <a:blip r:embed="rId11"/>
                <a:stretch>
                  <a:fillRect b="-2778"/>
                </a:stretch>
              </a:blipFill>
            </p:spPr>
            <p:txBody>
              <a:bodyPr/>
              <a:lstStyle/>
              <a:p>
                <a:r>
                  <a:rPr lang="zh-CN" altLang="en-US">
                    <a:noFill/>
                  </a:rPr>
                  <a:t> </a:t>
                </a:r>
              </a:p>
            </p:txBody>
          </p:sp>
        </mc:Fallback>
      </mc:AlternateContent>
      <p:sp>
        <p:nvSpPr>
          <p:cNvPr id="21" name="圆角矩形 20"/>
          <p:cNvSpPr/>
          <p:nvPr/>
        </p:nvSpPr>
        <p:spPr>
          <a:xfrm>
            <a:off x="3786790" y="2859782"/>
            <a:ext cx="4961674" cy="58941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矩形 21"/>
              <p:cNvSpPr/>
              <p:nvPr/>
            </p:nvSpPr>
            <p:spPr>
              <a:xfrm>
                <a:off x="3818623" y="3507854"/>
                <a:ext cx="1358834" cy="4430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num>
                        <m:den>
                          <m:r>
                            <a:rPr lang="zh-CN" altLang="en-US" sz="1200" i="1">
                              <a:latin typeface="Cambria Math" panose="02040503050406030204" pitchFamily="18" charset="0"/>
                            </a:rPr>
                            <m:t>𝑟𝑐𝑜𝑠</m:t>
                          </m:r>
                          <m:r>
                            <a:rPr lang="zh-CN" altLang="en-US" sz="1200" i="1">
                              <a:latin typeface="Cambria Math" panose="02040503050406030204" pitchFamily="18" charset="0"/>
                            </a:rPr>
                            <m:t>𝜃</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𝑙</m:t>
                          </m:r>
                        </m:num>
                        <m:den>
                          <m:r>
                            <a:rPr lang="zh-CN" altLang="en-US" sz="1200" i="1">
                              <a:latin typeface="Cambria Math" panose="02040503050406030204" pitchFamily="18" charset="0"/>
                            </a:rPr>
                            <m:t>𝑟</m:t>
                          </m:r>
                        </m:den>
                      </m:f>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oMath>
                  </m:oMathPara>
                </a14:m>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3818623" y="3507854"/>
                <a:ext cx="1358834" cy="443006"/>
              </a:xfrm>
              <a:prstGeom prst="rect">
                <a:avLst/>
              </a:prstGeom>
              <a:blipFill>
                <a:blip r:embed="rId12"/>
                <a:stretch>
                  <a:fillRect b="-13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5312692" y="3541100"/>
                <a:ext cx="1362424" cy="4430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num>
                        <m:den>
                          <m:r>
                            <a:rPr lang="zh-CN" altLang="en-US" sz="1200" i="1">
                              <a:latin typeface="Cambria Math" panose="02040503050406030204" pitchFamily="18" charset="0"/>
                            </a:rPr>
                            <m:t>𝑟𝑐𝑜𝑠</m:t>
                          </m:r>
                          <m:r>
                            <a:rPr lang="zh-CN" altLang="en-US" sz="1200" i="1">
                              <a:latin typeface="Cambria Math" panose="02040503050406030204" pitchFamily="18" charset="0"/>
                            </a:rPr>
                            <m:t>𝜃</m:t>
                          </m:r>
                        </m:den>
                      </m:f>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𝑙</m:t>
                          </m:r>
                        </m:num>
                        <m:den>
                          <m:r>
                            <a:rPr lang="zh-CN" altLang="en-US" sz="1200" i="1">
                              <a:latin typeface="Cambria Math" panose="02040503050406030204" pitchFamily="18" charset="0"/>
                            </a:rPr>
                            <m:t>𝑟</m:t>
                          </m:r>
                        </m:den>
                      </m:f>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oMath>
                  </m:oMathPara>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5312692" y="3541100"/>
                <a:ext cx="1362424" cy="44300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3314409" y="4227934"/>
                <a:ext cx="2610522" cy="6792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𝐼</m:t>
                              </m:r>
                            </m:sub>
                          </m:sSub>
                        </m:e>
                      </m:acc>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𝑦</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𝑐𝑜𝑠</m:t>
                                      </m:r>
                                      <m:r>
                                        <a:rPr lang="zh-CN" altLang="en-US" sz="1200" i="1">
                                          <a:latin typeface="Cambria Math" panose="02040503050406030204" pitchFamily="18" charset="0"/>
                                        </a:rPr>
                                        <m:t>𝜃</m:t>
                                      </m:r>
                                    </m:e>
                                  </m:mr>
                                  <m:m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mr>
                                        <m:mr>
                                          <m:e>
                                            <m:r>
                                              <a:rPr lang="zh-CN" altLang="en-US" sz="1200" i="0">
                                                <a:latin typeface="Cambria Math" panose="02040503050406030204" pitchFamily="18" charset="0"/>
                                              </a:rPr>
                                              <m:t>0</m:t>
                                            </m:r>
                                          </m:e>
                                        </m:mr>
                                      </m:m>
                                    </m:e>
                                  </m:mr>
                                </m:m>
                              </m:e>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mr>
                                  <m:m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mr>
                                        <m:mr>
                                          <m:e>
                                            <m:r>
                                              <a:rPr lang="zh-CN" altLang="en-US" sz="1200" i="0">
                                                <a:latin typeface="Cambria Math" panose="02040503050406030204" pitchFamily="18" charset="0"/>
                                              </a:rPr>
                                              <m:t>1</m:t>
                                            </m:r>
                                          </m:e>
                                        </m:mr>
                                      </m:m>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𝑣</m:t>
                                </m:r>
                              </m:e>
                            </m:mr>
                            <m:mr>
                              <m:e>
                                <m:r>
                                  <a:rPr lang="zh-CN" altLang="en-US" sz="1200" i="1">
                                    <a:latin typeface="Cambria Math" panose="02040503050406030204" pitchFamily="18" charset="0"/>
                                  </a:rPr>
                                  <m:t>𝜔</m:t>
                                </m:r>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𝑣𝑐𝑜𝑠</m:t>
                                </m:r>
                                <m:r>
                                  <a:rPr lang="zh-CN" altLang="en-US" sz="1200" i="1">
                                    <a:latin typeface="Cambria Math" panose="02040503050406030204" pitchFamily="18" charset="0"/>
                                  </a:rPr>
                                  <m:t>𝜃</m:t>
                                </m:r>
                              </m:e>
                            </m:mr>
                            <m:mr>
                              <m:e>
                                <m:r>
                                  <a:rPr lang="zh-CN" altLang="en-US" sz="1200" i="1">
                                    <a:latin typeface="Cambria Math" panose="02040503050406030204" pitchFamily="18" charset="0"/>
                                  </a:rPr>
                                  <m:t>𝑣𝑠𝑖𝑛</m:t>
                                </m:r>
                                <m:r>
                                  <a:rPr lang="zh-CN" altLang="en-US" sz="1200" i="1">
                                    <a:latin typeface="Cambria Math" panose="02040503050406030204" pitchFamily="18" charset="0"/>
                                  </a:rPr>
                                  <m:t>𝜃</m:t>
                                </m:r>
                              </m:e>
                            </m:mr>
                            <m:mr>
                              <m:e>
                                <m:r>
                                  <a:rPr lang="zh-CN" altLang="en-US" sz="1200" i="1">
                                    <a:latin typeface="Cambria Math" panose="02040503050406030204" pitchFamily="18" charset="0"/>
                                  </a:rPr>
                                  <m:t>𝜔</m:t>
                                </m:r>
                              </m:e>
                            </m:mr>
                          </m:m>
                        </m:e>
                      </m:d>
                    </m:oMath>
                  </m:oMathPara>
                </a14:m>
                <a:endParaRPr lang="zh-CN" altLang="en-US" sz="1200" dirty="0"/>
              </a:p>
            </p:txBody>
          </p:sp>
        </mc:Choice>
        <mc:Fallback xmlns="">
          <p:sp>
            <p:nvSpPr>
              <p:cNvPr id="24" name="矩形 23"/>
              <p:cNvSpPr>
                <a:spLocks noRot="1" noChangeAspect="1" noMove="1" noResize="1" noEditPoints="1" noAdjustHandles="1" noChangeArrowheads="1" noChangeShapeType="1" noTextEdit="1"/>
              </p:cNvSpPr>
              <p:nvPr/>
            </p:nvSpPr>
            <p:spPr>
              <a:xfrm>
                <a:off x="3314409" y="4227934"/>
                <a:ext cx="2610522" cy="679289"/>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150486" y="4327499"/>
                <a:ext cx="1030410" cy="441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𝑣</m:t>
                          </m:r>
                          <m:r>
                            <a:rPr lang="zh-CN" altLang="en-US" sz="1200" i="0">
                              <a:latin typeface="Cambria Math" panose="02040503050406030204" pitchFamily="18" charset="0"/>
                            </a:rPr>
                            <m:t>+</m:t>
                          </m:r>
                          <m:r>
                            <a:rPr lang="zh-CN" altLang="en-US" sz="1200" i="1">
                              <a:latin typeface="Cambria Math" panose="02040503050406030204" pitchFamily="18" charset="0"/>
                            </a:rPr>
                            <m:t>𝜔</m:t>
                          </m:r>
                          <m:r>
                            <a:rPr lang="zh-CN" altLang="en-US" sz="1200" i="1">
                              <a:latin typeface="Cambria Math" panose="02040503050406030204" pitchFamily="18" charset="0"/>
                            </a:rPr>
                            <m:t>𝑙</m:t>
                          </m:r>
                        </m:num>
                        <m:den>
                          <m:r>
                            <a:rPr lang="zh-CN" altLang="en-US" sz="1200" i="1">
                              <a:latin typeface="Cambria Math" panose="02040503050406030204" pitchFamily="18" charset="0"/>
                            </a:rPr>
                            <m:t>𝑟</m:t>
                          </m:r>
                        </m:den>
                      </m:f>
                    </m:oMath>
                  </m:oMathPara>
                </a14:m>
                <a:endParaRPr lang="zh-CN" altLang="en-US" sz="1200" dirty="0"/>
              </a:p>
            </p:txBody>
          </p:sp>
        </mc:Choice>
        <mc:Fallback xmlns="">
          <p:sp>
            <p:nvSpPr>
              <p:cNvPr id="25" name="矩形 24"/>
              <p:cNvSpPr>
                <a:spLocks noRot="1" noChangeAspect="1" noMove="1" noResize="1" noEditPoints="1" noAdjustHandles="1" noChangeArrowheads="1" noChangeShapeType="1" noTextEdit="1"/>
              </p:cNvSpPr>
              <p:nvPr/>
            </p:nvSpPr>
            <p:spPr>
              <a:xfrm>
                <a:off x="6150486" y="4327499"/>
                <a:ext cx="1030410" cy="44172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7631196" y="4327436"/>
                <a:ext cx="1034001" cy="441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𝜑</m:t>
                              </m:r>
                            </m:e>
                          </m:acc>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𝑣</m:t>
                          </m:r>
                          <m:r>
                            <a:rPr lang="zh-CN" altLang="en-US" sz="1200" i="0">
                              <a:latin typeface="Cambria Math" panose="02040503050406030204" pitchFamily="18" charset="0"/>
                            </a:rPr>
                            <m:t>−</m:t>
                          </m:r>
                          <m:r>
                            <a:rPr lang="zh-CN" altLang="en-US" sz="1200" i="1">
                              <a:latin typeface="Cambria Math" panose="02040503050406030204" pitchFamily="18" charset="0"/>
                            </a:rPr>
                            <m:t>𝜔</m:t>
                          </m:r>
                          <m:r>
                            <a:rPr lang="zh-CN" altLang="en-US" sz="1200" i="1">
                              <a:latin typeface="Cambria Math" panose="02040503050406030204" pitchFamily="18" charset="0"/>
                            </a:rPr>
                            <m:t>𝑙</m:t>
                          </m:r>
                        </m:num>
                        <m:den>
                          <m:r>
                            <a:rPr lang="zh-CN" altLang="en-US" sz="1200" i="1">
                              <a:latin typeface="Cambria Math" panose="02040503050406030204" pitchFamily="18" charset="0"/>
                            </a:rPr>
                            <m:t>𝑟</m:t>
                          </m:r>
                        </m:den>
                      </m:f>
                    </m:oMath>
                  </m:oMathPara>
                </a14:m>
                <a:endParaRPr lang="zh-CN" altLang="en-US" sz="1200" dirty="0"/>
              </a:p>
            </p:txBody>
          </p:sp>
        </mc:Choice>
        <mc:Fallback xmlns="">
          <p:sp>
            <p:nvSpPr>
              <p:cNvPr id="26" name="矩形 25"/>
              <p:cNvSpPr>
                <a:spLocks noRot="1" noChangeAspect="1" noMove="1" noResize="1" noEditPoints="1" noAdjustHandles="1" noChangeArrowheads="1" noChangeShapeType="1" noTextEdit="1"/>
              </p:cNvSpPr>
              <p:nvPr/>
            </p:nvSpPr>
            <p:spPr>
              <a:xfrm>
                <a:off x="7631196" y="4327436"/>
                <a:ext cx="1034001" cy="441724"/>
              </a:xfrm>
              <a:prstGeom prst="rect">
                <a:avLst/>
              </a:prstGeom>
              <a:blipFill>
                <a:blip r:embed="rId16"/>
                <a:stretch>
                  <a:fillRect/>
                </a:stretch>
              </a:blipFill>
            </p:spPr>
            <p:txBody>
              <a:bodyPr/>
              <a:lstStyle/>
              <a:p>
                <a:r>
                  <a:rPr lang="zh-CN" altLang="en-US">
                    <a:noFill/>
                  </a:rPr>
                  <a:t> </a:t>
                </a:r>
              </a:p>
            </p:txBody>
          </p:sp>
        </mc:Fallback>
      </mc:AlternateContent>
      <p:sp>
        <p:nvSpPr>
          <p:cNvPr id="27" name="圆角矩形 26"/>
          <p:cNvSpPr/>
          <p:nvPr/>
        </p:nvSpPr>
        <p:spPr>
          <a:xfrm>
            <a:off x="3818623" y="3531008"/>
            <a:ext cx="2985625" cy="552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3256281" y="4227934"/>
            <a:ext cx="5420175" cy="6792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6851473" y="3614774"/>
            <a:ext cx="1800493" cy="307777"/>
          </a:xfrm>
          <a:prstGeom prst="rect">
            <a:avLst/>
          </a:prstGeom>
          <a:noFill/>
        </p:spPr>
        <p:txBody>
          <a:bodyPr wrap="none" rtlCol="0">
            <a:spAutoFit/>
          </a:bodyPr>
          <a:lstStyle/>
          <a:p>
            <a:r>
              <a:rPr lang="zh-CN" altLang="en-US" sz="1400" b="1" dirty="0" smtClean="0">
                <a:solidFill>
                  <a:srgbClr val="FF0000"/>
                </a:solidFill>
              </a:rPr>
              <a:t>正逆运动学速度方程</a:t>
            </a:r>
            <a:endParaRPr lang="zh-CN" altLang="en-US" sz="1400" b="1" dirty="0">
              <a:solidFill>
                <a:srgbClr val="FF0000"/>
              </a:solidFill>
            </a:endParaRPr>
          </a:p>
        </p:txBody>
      </p:sp>
      <p:graphicFrame>
        <p:nvGraphicFramePr>
          <p:cNvPr id="9" name="对象 8"/>
          <p:cNvGraphicFramePr>
            <a:graphicFrameLocks/>
          </p:cNvGraphicFramePr>
          <p:nvPr>
            <p:extLst>
              <p:ext uri="{D42A27DB-BD31-4B8C-83A1-F6EECF244321}">
                <p14:modId xmlns:p14="http://schemas.microsoft.com/office/powerpoint/2010/main" val="2967431784"/>
              </p:ext>
            </p:extLst>
          </p:nvPr>
        </p:nvGraphicFramePr>
        <p:xfrm>
          <a:off x="534675" y="1360663"/>
          <a:ext cx="2884046" cy="1418064"/>
        </p:xfrm>
        <a:graphic>
          <a:graphicData uri="http://schemas.openxmlformats.org/presentationml/2006/ole">
            <mc:AlternateContent xmlns:mc="http://schemas.openxmlformats.org/markup-compatibility/2006">
              <mc:Choice xmlns:v="urn:schemas-microsoft-com:vml" Requires="v">
                <p:oleObj spid="_x0000_s4110" name="Visio" r:id="rId17" imgW="4259403" imgH="2179147" progId="Visio.Drawing.15">
                  <p:embed/>
                </p:oleObj>
              </mc:Choice>
              <mc:Fallback>
                <p:oleObj name="Visio" r:id="rId17" imgW="4259403" imgH="2179147" progId="Visio.Drawing.15">
                  <p:embed/>
                  <p:pic>
                    <p:nvPicPr>
                      <p:cNvPr id="0" name="Object 1"/>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4675" y="1360663"/>
                        <a:ext cx="2884046" cy="1418064"/>
                      </a:xfrm>
                      <a:prstGeom prst="rect">
                        <a:avLst/>
                      </a:prstGeom>
                      <a:noFill/>
                    </p:spPr>
                  </p:pic>
                </p:oleObj>
              </mc:Fallback>
            </mc:AlternateContent>
          </a:graphicData>
        </a:graphic>
      </p:graphicFrame>
      <p:sp>
        <p:nvSpPr>
          <p:cNvPr id="30" name="矩形 29"/>
          <p:cNvSpPr/>
          <p:nvPr/>
        </p:nvSpPr>
        <p:spPr>
          <a:xfrm>
            <a:off x="2848774" y="396441"/>
            <a:ext cx="5803192" cy="400110"/>
          </a:xfrm>
          <a:prstGeom prst="rect">
            <a:avLst/>
          </a:prstGeom>
        </p:spPr>
        <p:txBody>
          <a:bodyPr wrap="none">
            <a:spAutoFit/>
          </a:bodyPr>
          <a:lstStyle/>
          <a:p>
            <a:r>
              <a:rPr lang="en-US" altLang="zh-CN" sz="2000" b="1" dirty="0" smtClean="0">
                <a:solidFill>
                  <a:srgbClr val="002060"/>
                </a:solidFill>
              </a:rPr>
              <a:t>3.12.5 </a:t>
            </a:r>
            <a:r>
              <a:rPr lang="zh-CN" altLang="en-US" sz="2000" b="1" dirty="0" smtClean="0">
                <a:solidFill>
                  <a:srgbClr val="002060"/>
                </a:solidFill>
              </a:rPr>
              <a:t>带</a:t>
            </a:r>
            <a:r>
              <a:rPr lang="zh-CN" altLang="en-US" sz="2000" b="1" dirty="0">
                <a:solidFill>
                  <a:srgbClr val="002060"/>
                </a:solidFill>
              </a:rPr>
              <a:t>小脚轮的两轮差速驱动机器人运动学实例</a:t>
            </a:r>
          </a:p>
        </p:txBody>
      </p:sp>
    </p:spTree>
    <p:extLst>
      <p:ext uri="{BB962C8B-B14F-4D97-AF65-F5344CB8AC3E}">
        <p14:creationId xmlns:p14="http://schemas.microsoft.com/office/powerpoint/2010/main" val="3909085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nvSpPr>
        <p:spPr>
          <a:xfrm>
            <a:off x="2848774" y="396441"/>
            <a:ext cx="5803192" cy="400110"/>
          </a:xfrm>
          <a:prstGeom prst="rect">
            <a:avLst/>
          </a:prstGeom>
        </p:spPr>
        <p:txBody>
          <a:bodyPr wrap="none">
            <a:spAutoFit/>
          </a:bodyPr>
          <a:lstStyle/>
          <a:p>
            <a:r>
              <a:rPr lang="en-US" altLang="zh-CN" sz="2000" b="1" dirty="0" smtClean="0">
                <a:solidFill>
                  <a:srgbClr val="002060"/>
                </a:solidFill>
              </a:rPr>
              <a:t>3.12.5 </a:t>
            </a:r>
            <a:r>
              <a:rPr lang="zh-CN" altLang="en-US" sz="2000" b="1" dirty="0" smtClean="0">
                <a:solidFill>
                  <a:srgbClr val="002060"/>
                </a:solidFill>
              </a:rPr>
              <a:t>带</a:t>
            </a:r>
            <a:r>
              <a:rPr lang="zh-CN" altLang="en-US" sz="2000" b="1" dirty="0">
                <a:solidFill>
                  <a:srgbClr val="002060"/>
                </a:solidFill>
              </a:rPr>
              <a:t>小脚轮的两轮差速驱动机器人运动学实例</a:t>
            </a:r>
          </a:p>
        </p:txBody>
      </p:sp>
      <p:pic>
        <p:nvPicPr>
          <p:cNvPr id="31" name="图片 30"/>
          <p:cNvPicPr/>
          <p:nvPr/>
        </p:nvPicPr>
        <p:blipFill rotWithShape="1">
          <a:blip r:embed="rId3">
            <a:extLst>
              <a:ext uri="{28A0092B-C50C-407E-A947-70E740481C1C}">
                <a14:useLocalDpi xmlns:a14="http://schemas.microsoft.com/office/drawing/2010/main" val="0"/>
              </a:ext>
            </a:extLst>
          </a:blip>
          <a:srcRect t="41610" r="54491" b="23136"/>
          <a:stretch/>
        </p:blipFill>
        <p:spPr bwMode="auto">
          <a:xfrm>
            <a:off x="691363" y="996908"/>
            <a:ext cx="4290586" cy="1820269"/>
          </a:xfrm>
          <a:prstGeom prst="rect">
            <a:avLst/>
          </a:prstGeom>
          <a:ln>
            <a:noFill/>
          </a:ln>
          <a:extLst>
            <a:ext uri="{53640926-AAD7-44D8-BBD7-CCE9431645EC}">
              <a14:shadowObscured xmlns:a14="http://schemas.microsoft.com/office/drawing/2010/main"/>
            </a:ext>
          </a:extLst>
        </p:spPr>
      </p:pic>
      <p:pic>
        <p:nvPicPr>
          <p:cNvPr id="32" name="图片 31"/>
          <p:cNvPicPr/>
          <p:nvPr/>
        </p:nvPicPr>
        <p:blipFill>
          <a:blip r:embed="rId4" cstate="print">
            <a:extLst>
              <a:ext uri="{28A0092B-C50C-407E-A947-70E740481C1C}">
                <a14:useLocalDpi xmlns:a14="http://schemas.microsoft.com/office/drawing/2010/main" val="0"/>
              </a:ext>
            </a:extLst>
          </a:blip>
          <a:stretch>
            <a:fillRect/>
          </a:stretch>
        </p:blipFill>
        <p:spPr>
          <a:xfrm>
            <a:off x="3659597" y="885386"/>
            <a:ext cx="4638501" cy="2540058"/>
          </a:xfrm>
          <a:prstGeom prst="rect">
            <a:avLst/>
          </a:prstGeom>
        </p:spPr>
      </p:pic>
      <p:pic>
        <p:nvPicPr>
          <p:cNvPr id="33" name="图片 32"/>
          <p:cNvPicPr/>
          <p:nvPr/>
        </p:nvPicPr>
        <p:blipFill>
          <a:blip r:embed="rId5" cstate="print">
            <a:extLst>
              <a:ext uri="{28A0092B-C50C-407E-A947-70E740481C1C}">
                <a14:useLocalDpi xmlns:a14="http://schemas.microsoft.com/office/drawing/2010/main" val="0"/>
              </a:ext>
            </a:extLst>
          </a:blip>
          <a:stretch>
            <a:fillRect/>
          </a:stretch>
        </p:blipFill>
        <p:spPr>
          <a:xfrm>
            <a:off x="4572000" y="2725835"/>
            <a:ext cx="3810333" cy="1872208"/>
          </a:xfrm>
          <a:prstGeom prst="rect">
            <a:avLst/>
          </a:prstGeom>
        </p:spPr>
      </p:pic>
      <p:pic>
        <p:nvPicPr>
          <p:cNvPr id="34" name="图片 33" descr="H:\FFOutput\格式工厂 屏幕录像20231021_181132 00_00_00-00_00_30.gif"/>
          <p:cNvPicPr/>
          <p:nvPr/>
        </p:nvPicPr>
        <p:blipFill>
          <a:blip r:embed="rId6">
            <a:extLst>
              <a:ext uri="{28A0092B-C50C-407E-A947-70E740481C1C}">
                <a14:useLocalDpi xmlns:a14="http://schemas.microsoft.com/office/drawing/2010/main" val="0"/>
              </a:ext>
            </a:extLst>
          </a:blip>
          <a:srcRect/>
          <a:stretch>
            <a:fillRect/>
          </a:stretch>
        </p:blipFill>
        <p:spPr bwMode="auto">
          <a:xfrm>
            <a:off x="744385" y="3661939"/>
            <a:ext cx="3131798" cy="1027571"/>
          </a:xfrm>
          <a:prstGeom prst="rect">
            <a:avLst/>
          </a:prstGeom>
          <a:noFill/>
          <a:ln>
            <a:noFill/>
          </a:ln>
        </p:spPr>
      </p:pic>
      <p:sp>
        <p:nvSpPr>
          <p:cNvPr id="2" name="矩形 1">
            <a:hlinkClick r:id="rId7"/>
          </p:cNvPr>
          <p:cNvSpPr/>
          <p:nvPr/>
        </p:nvSpPr>
        <p:spPr>
          <a:xfrm>
            <a:off x="535709" y="4835723"/>
            <a:ext cx="7996731" cy="307777"/>
          </a:xfrm>
          <a:prstGeom prst="rect">
            <a:avLst/>
          </a:prstGeom>
        </p:spPr>
        <p:txBody>
          <a:bodyPr wrap="square">
            <a:spAutoFit/>
          </a:bodyPr>
          <a:lstStyle/>
          <a:p>
            <a:r>
              <a:rPr lang="zh-CN" altLang="en-US" sz="1400" dirty="0"/>
              <a:t>https://github.com/mhuasong/Basics-of-Robotics-Theory-and-Technology/tree/main/ch3/differential_wmr</a:t>
            </a:r>
          </a:p>
        </p:txBody>
      </p:sp>
      <p:pic>
        <p:nvPicPr>
          <p:cNvPr id="35" name="图片 34"/>
          <p:cNvPicPr/>
          <p:nvPr/>
        </p:nvPicPr>
        <p:blipFill>
          <a:blip r:embed="rId8">
            <a:extLst>
              <a:ext uri="{28A0092B-C50C-407E-A947-70E740481C1C}">
                <a14:useLocalDpi xmlns:a14="http://schemas.microsoft.com/office/drawing/2010/main" val="0"/>
              </a:ext>
            </a:extLst>
          </a:blip>
          <a:srcRect/>
          <a:stretch>
            <a:fillRect/>
          </a:stretch>
        </p:blipFill>
        <p:spPr bwMode="auto">
          <a:xfrm>
            <a:off x="592581" y="2877795"/>
            <a:ext cx="3523218" cy="784144"/>
          </a:xfrm>
          <a:prstGeom prst="rect">
            <a:avLst/>
          </a:prstGeom>
          <a:noFill/>
          <a:ln>
            <a:noFill/>
          </a:ln>
        </p:spPr>
      </p:pic>
    </p:spTree>
    <p:extLst>
      <p:ext uri="{BB962C8B-B14F-4D97-AF65-F5344CB8AC3E}">
        <p14:creationId xmlns:p14="http://schemas.microsoft.com/office/powerpoint/2010/main" val="9513630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30" name="图片 29" descr="image"/>
          <p:cNvPicPr/>
          <p:nvPr/>
        </p:nvPicPr>
        <p:blipFill>
          <a:blip r:embed="rId3" cstate="print">
            <a:extLst>
              <a:ext uri="{28A0092B-C50C-407E-A947-70E740481C1C}">
                <a14:useLocalDpi xmlns:a14="http://schemas.microsoft.com/office/drawing/2010/main" val="0"/>
              </a:ext>
            </a:extLst>
          </a:blip>
          <a:srcRect l="12641" t="11739" r="12052" b="11690"/>
          <a:stretch>
            <a:fillRect/>
          </a:stretch>
        </p:blipFill>
        <p:spPr>
          <a:xfrm>
            <a:off x="1979712" y="1707654"/>
            <a:ext cx="1885950" cy="1917065"/>
          </a:xfrm>
          <a:prstGeom prst="rect">
            <a:avLst/>
          </a:prstGeom>
          <a:noFill/>
          <a:ln>
            <a:noFill/>
          </a:ln>
        </p:spPr>
      </p:pic>
      <p:pic>
        <p:nvPicPr>
          <p:cNvPr id="31" name="图片 30" descr="https://img2.baidu.com/it/u=4112377080,4081325800&amp;fm=26&amp;fmt=auto"/>
          <p:cNvPicPr/>
          <p:nvPr/>
        </p:nvPicPr>
        <p:blipFill>
          <a:blip r:embed="rId4">
            <a:extLst>
              <a:ext uri="{28A0092B-C50C-407E-A947-70E740481C1C}">
                <a14:useLocalDpi xmlns:a14="http://schemas.microsoft.com/office/drawing/2010/main" val="0"/>
              </a:ext>
            </a:extLst>
          </a:blip>
          <a:srcRect l="10545" t="4950" r="11636" b="6436"/>
          <a:stretch>
            <a:fillRect/>
          </a:stretch>
        </p:blipFill>
        <p:spPr>
          <a:xfrm>
            <a:off x="4296097" y="1707654"/>
            <a:ext cx="2299970" cy="1924050"/>
          </a:xfrm>
          <a:prstGeom prst="rect">
            <a:avLst/>
          </a:prstGeom>
          <a:noFill/>
          <a:ln>
            <a:noFill/>
          </a:ln>
        </p:spPr>
      </p:pic>
      <p:sp>
        <p:nvSpPr>
          <p:cNvPr id="2" name="矩形 1"/>
          <p:cNvSpPr/>
          <p:nvPr/>
        </p:nvSpPr>
        <p:spPr>
          <a:xfrm>
            <a:off x="2599372" y="3723878"/>
            <a:ext cx="877163" cy="369332"/>
          </a:xfrm>
          <a:prstGeom prst="rect">
            <a:avLst/>
          </a:prstGeom>
        </p:spPr>
        <p:txBody>
          <a:bodyPr wrap="none">
            <a:spAutoFit/>
          </a:bodyPr>
          <a:lstStyle/>
          <a:p>
            <a:r>
              <a:rPr lang="zh-CN" altLang="zh-CN" kern="100" dirty="0">
                <a:ea typeface="等线" panose="02010600030101010101" pitchFamily="2" charset="-122"/>
                <a:cs typeface="Times New Roman" panose="02020603050405020304" pitchFamily="18" charset="0"/>
              </a:rPr>
              <a:t>全向轮</a:t>
            </a:r>
            <a:endParaRPr lang="zh-CN" altLang="en-US" dirty="0"/>
          </a:p>
        </p:txBody>
      </p:sp>
      <p:sp>
        <p:nvSpPr>
          <p:cNvPr id="10" name="矩形 9"/>
          <p:cNvSpPr/>
          <p:nvPr/>
        </p:nvSpPr>
        <p:spPr>
          <a:xfrm>
            <a:off x="4892282" y="3723878"/>
            <a:ext cx="1338828" cy="369332"/>
          </a:xfrm>
          <a:prstGeom prst="rect">
            <a:avLst/>
          </a:prstGeom>
        </p:spPr>
        <p:txBody>
          <a:bodyPr wrap="none">
            <a:spAutoFit/>
          </a:bodyPr>
          <a:lstStyle/>
          <a:p>
            <a:r>
              <a:rPr lang="zh-CN" altLang="zh-CN" kern="100" dirty="0">
                <a:ea typeface="等线" panose="02010600030101010101" pitchFamily="2" charset="-122"/>
                <a:cs typeface="Times New Roman" panose="02020603050405020304" pitchFamily="18" charset="0"/>
              </a:rPr>
              <a:t>麦克纳姆轮</a:t>
            </a:r>
            <a:endParaRPr lang="zh-CN" altLang="en-US" dirty="0"/>
          </a:p>
        </p:txBody>
      </p:sp>
      <p:sp>
        <p:nvSpPr>
          <p:cNvPr id="12" name="矩形 11"/>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spTree>
    <p:extLst>
      <p:ext uri="{BB962C8B-B14F-4D97-AF65-F5344CB8AC3E}">
        <p14:creationId xmlns:p14="http://schemas.microsoft.com/office/powerpoint/2010/main" val="7037775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2237771" y="731823"/>
            <a:ext cx="4552785" cy="338554"/>
          </a:xfrm>
          <a:prstGeom prst="rect">
            <a:avLst/>
          </a:prstGeom>
        </p:spPr>
        <p:txBody>
          <a:bodyPr wrap="none">
            <a:spAutoFit/>
          </a:bodyPr>
          <a:lstStyle/>
          <a:p>
            <a:r>
              <a:rPr lang="en-US" altLang="zh-CN" sz="1600" b="1" dirty="0">
                <a:solidFill>
                  <a:srgbClr val="002060"/>
                </a:solidFill>
              </a:rPr>
              <a:t>Mobile Robot Kinematics: Non-Holonomic Systems </a:t>
            </a:r>
            <a:endParaRPr lang="zh-CN" altLang="en-US" sz="1600" b="1" dirty="0">
              <a:solidFill>
                <a:srgbClr val="002060"/>
              </a:solidFill>
            </a:endParaRPr>
          </a:p>
        </p:txBody>
      </p:sp>
      <p:sp>
        <p:nvSpPr>
          <p:cNvPr id="15" name="矩形 14"/>
          <p:cNvSpPr/>
          <p:nvPr/>
        </p:nvSpPr>
        <p:spPr>
          <a:xfrm>
            <a:off x="611560" y="2816094"/>
            <a:ext cx="4286160" cy="1600438"/>
          </a:xfrm>
          <a:prstGeom prst="rect">
            <a:avLst/>
          </a:prstGeom>
        </p:spPr>
        <p:txBody>
          <a:bodyPr wrap="square">
            <a:spAutoFit/>
          </a:bodyPr>
          <a:lstStyle/>
          <a:p>
            <a:r>
              <a:rPr lang="en-US" altLang="zh-CN" sz="1400" dirty="0" smtClean="0">
                <a:solidFill>
                  <a:srgbClr val="FF0000"/>
                </a:solidFill>
              </a:rPr>
              <a:t>■</a:t>
            </a:r>
            <a:r>
              <a:rPr lang="en-US" altLang="zh-CN" sz="1400" dirty="0" smtClean="0"/>
              <a:t>Non-holonomic </a:t>
            </a:r>
            <a:r>
              <a:rPr lang="en-US" altLang="zh-CN" sz="1400" dirty="0"/>
              <a:t>systems</a:t>
            </a:r>
          </a:p>
          <a:p>
            <a:r>
              <a:rPr lang="en-US" altLang="zh-CN" sz="1400" dirty="0">
                <a:solidFill>
                  <a:schemeClr val="accent1"/>
                </a:solidFill>
              </a:rPr>
              <a:t>■</a:t>
            </a:r>
            <a:r>
              <a:rPr lang="en-US" altLang="zh-CN" sz="1400" dirty="0">
                <a:solidFill>
                  <a:srgbClr val="FF0000"/>
                </a:solidFill>
              </a:rPr>
              <a:t> </a:t>
            </a:r>
            <a:r>
              <a:rPr lang="en-US" altLang="zh-CN" sz="1400" dirty="0" smtClean="0"/>
              <a:t>differential </a:t>
            </a:r>
            <a:r>
              <a:rPr lang="en-US" altLang="zh-CN" sz="1400" dirty="0"/>
              <a:t>equations are not </a:t>
            </a:r>
            <a:r>
              <a:rPr lang="en-US" altLang="zh-CN" sz="1400" dirty="0" err="1"/>
              <a:t>integrable</a:t>
            </a:r>
            <a:r>
              <a:rPr lang="en-US" altLang="zh-CN" sz="1400" dirty="0"/>
              <a:t> to the final position</a:t>
            </a:r>
            <a:r>
              <a:rPr lang="en-US" altLang="zh-CN" sz="1400" dirty="0" smtClean="0"/>
              <a:t>.</a:t>
            </a:r>
          </a:p>
          <a:p>
            <a:r>
              <a:rPr lang="en-US" altLang="zh-CN" sz="1400" dirty="0">
                <a:solidFill>
                  <a:schemeClr val="accent1"/>
                </a:solidFill>
              </a:rPr>
              <a:t>■</a:t>
            </a:r>
            <a:r>
              <a:rPr lang="en-US" altLang="zh-CN" sz="1400" dirty="0">
                <a:solidFill>
                  <a:srgbClr val="FF0000"/>
                </a:solidFill>
              </a:rPr>
              <a:t> </a:t>
            </a:r>
            <a:r>
              <a:rPr lang="en-US" altLang="zh-CN" sz="1400" dirty="0" smtClean="0"/>
              <a:t>the </a:t>
            </a:r>
            <a:r>
              <a:rPr lang="en-US" altLang="zh-CN" sz="1400" dirty="0"/>
              <a:t>measure of the traveled distance of each wheel is not sufficient to calculate the final position of the robot. One has also to know how this movement was executed as a function of time.</a:t>
            </a:r>
            <a:endParaRPr lang="zh-CN" altLang="en-US" sz="1400" dirty="0"/>
          </a:p>
        </p:txBody>
      </p:sp>
      <p:pic>
        <p:nvPicPr>
          <p:cNvPr id="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768" y="1186723"/>
            <a:ext cx="3390900" cy="160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7720" y="1192804"/>
            <a:ext cx="3429001" cy="283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1241497" y="4480951"/>
            <a:ext cx="7067089" cy="584775"/>
          </a:xfrm>
          <a:prstGeom prst="rect">
            <a:avLst/>
          </a:prstGeom>
        </p:spPr>
        <p:txBody>
          <a:bodyPr wrap="square">
            <a:spAutoFit/>
          </a:bodyPr>
          <a:lstStyle/>
          <a:p>
            <a:r>
              <a:rPr lang="zh-CN" altLang="zh-CN" sz="1600" dirty="0"/>
              <a:t>轮式移动机器人分成两大类：全向移动机器人</a:t>
            </a:r>
            <a:r>
              <a:rPr lang="en-US" altLang="zh-CN" sz="1600" dirty="0"/>
              <a:t>(Omnidirectional Mobile Robot)</a:t>
            </a:r>
            <a:r>
              <a:rPr lang="zh-CN" altLang="zh-CN" sz="1600" dirty="0"/>
              <a:t>和非完整类型移动机器人</a:t>
            </a:r>
            <a:r>
              <a:rPr lang="en-US" altLang="zh-CN" sz="1600" dirty="0"/>
              <a:t>(</a:t>
            </a:r>
            <a:r>
              <a:rPr lang="en-US" altLang="zh-CN" sz="1600" dirty="0" err="1"/>
              <a:t>Nonholonomic</a:t>
            </a:r>
            <a:r>
              <a:rPr lang="en-US" altLang="zh-CN" sz="1600" dirty="0"/>
              <a:t> Mobile Robot)</a:t>
            </a:r>
            <a:endParaRPr lang="zh-CN" altLang="en-US" sz="1600" dirty="0"/>
          </a:p>
        </p:txBody>
      </p:sp>
      <p:sp>
        <p:nvSpPr>
          <p:cNvPr id="6" name="圆角矩形 5"/>
          <p:cNvSpPr/>
          <p:nvPr/>
        </p:nvSpPr>
        <p:spPr>
          <a:xfrm>
            <a:off x="1115616" y="4480951"/>
            <a:ext cx="7128792" cy="5847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spTree>
    <p:extLst>
      <p:ext uri="{BB962C8B-B14F-4D97-AF65-F5344CB8AC3E}">
        <p14:creationId xmlns:p14="http://schemas.microsoft.com/office/powerpoint/2010/main" val="7181542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a:xfrm>
            <a:off x="1651635" y="1306103"/>
            <a:ext cx="5276850" cy="1962150"/>
          </a:xfrm>
          <a:prstGeom prst="rect">
            <a:avLst/>
          </a:prstGeom>
          <a:noFill/>
          <a:ln>
            <a:noFill/>
          </a:ln>
        </p:spPr>
      </p:pic>
      <p:sp>
        <p:nvSpPr>
          <p:cNvPr id="2" name="矩形 1"/>
          <p:cNvSpPr/>
          <p:nvPr/>
        </p:nvSpPr>
        <p:spPr>
          <a:xfrm>
            <a:off x="3289501" y="3268253"/>
            <a:ext cx="2236510" cy="338554"/>
          </a:xfrm>
          <a:prstGeom prst="rect">
            <a:avLst/>
          </a:prstGeom>
        </p:spPr>
        <p:txBody>
          <a:bodyPr wrap="none">
            <a:spAutoFit/>
          </a:bodyPr>
          <a:lstStyle/>
          <a:p>
            <a:r>
              <a:rPr lang="zh-CN" altLang="zh-CN" sz="1600" kern="100" dirty="0">
                <a:ea typeface="等线" panose="02010600030101010101" pitchFamily="2" charset="-122"/>
                <a:cs typeface="Times New Roman" panose="02020603050405020304" pitchFamily="18" charset="0"/>
              </a:rPr>
              <a:t>麦克纳姆轮的速度分解</a:t>
            </a:r>
            <a:endParaRPr lang="zh-CN" altLang="en-US" sz="1600" dirty="0"/>
          </a:p>
        </p:txBody>
      </p:sp>
      <mc:AlternateContent xmlns:mc="http://schemas.openxmlformats.org/markup-compatibility/2006" xmlns:a14="http://schemas.microsoft.com/office/drawing/2010/main">
        <mc:Choice Requires="a14">
          <p:sp>
            <p:nvSpPr>
              <p:cNvPr id="6" name="矩形 5"/>
              <p:cNvSpPr/>
              <p:nvPr/>
            </p:nvSpPr>
            <p:spPr>
              <a:xfrm>
                <a:off x="2599372" y="3867894"/>
                <a:ext cx="2250552" cy="4267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𝑉</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𝑥</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𝑦</m:t>
                                    </m:r>
                                  </m:sub>
                                </m:sSub>
                              </m:e>
                            </m:mr>
                          </m:m>
                        </m:e>
                      </m:d>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𝑑</m:t>
                          </m:r>
                        </m:sub>
                      </m:sSub>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mr>
                            <m:mr>
                              <m:e>
                                <m:r>
                                  <a:rPr lang="zh-CN" altLang="en-US" sz="1200" i="0">
                                    <a:latin typeface="Cambria Math" panose="02040503050406030204" pitchFamily="18" charset="0"/>
                                  </a:rPr>
                                  <m:t>0</m:t>
                                </m:r>
                              </m:e>
                            </m:mr>
                          </m:m>
                        </m:e>
                      </m:d>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𝑠</m:t>
                          </m:r>
                        </m:sub>
                      </m:sSub>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r>
                                  <a:rPr lang="zh-CN" altLang="en-US" sz="1200" i="1">
                                    <a:latin typeface="Cambria Math" panose="02040503050406030204" pitchFamily="18" charset="0"/>
                                  </a:rPr>
                                  <m:t>𝑠𝑖𝑛</m:t>
                                </m:r>
                                <m:r>
                                  <a:rPr lang="zh-CN" altLang="en-US" sz="1200" i="1">
                                    <a:latin typeface="Cambria Math" panose="02040503050406030204" pitchFamily="18" charset="0"/>
                                  </a:rPr>
                                  <m:t>𝛾</m:t>
                                </m:r>
                              </m:e>
                            </m:mr>
                            <m:mr>
                              <m:e>
                                <m:r>
                                  <a:rPr lang="zh-CN" altLang="en-US" sz="1200" i="1">
                                    <a:latin typeface="Cambria Math" panose="02040503050406030204" pitchFamily="18" charset="0"/>
                                  </a:rPr>
                                  <m:t>𝑐𝑜𝑠</m:t>
                                </m:r>
                                <m:r>
                                  <a:rPr lang="zh-CN" altLang="en-US" sz="1200" i="1">
                                    <a:latin typeface="Cambria Math" panose="02040503050406030204" pitchFamily="18" charset="0"/>
                                  </a:rPr>
                                  <m:t>𝛾</m:t>
                                </m:r>
                              </m:e>
                            </m:mr>
                          </m:m>
                        </m:e>
                      </m:d>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2599372" y="3867894"/>
                <a:ext cx="2250552" cy="42678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791243" y="4294678"/>
                <a:ext cx="1390445" cy="2916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𝑑</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𝑦</m:t>
                          </m:r>
                        </m:sub>
                      </m:sSub>
                      <m:r>
                        <a:rPr lang="zh-CN" altLang="en-US" sz="1200" i="1">
                          <a:latin typeface="Cambria Math" panose="02040503050406030204" pitchFamily="18" charset="0"/>
                        </a:rPr>
                        <m:t>𝑡𝑎𝑛</m:t>
                      </m:r>
                      <m:r>
                        <a:rPr lang="zh-CN" altLang="en-US" sz="1200" i="1">
                          <a:latin typeface="Cambria Math" panose="02040503050406030204" pitchFamily="18" charset="0"/>
                        </a:rPr>
                        <m:t>𝛾</m:t>
                      </m:r>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2791243" y="4294678"/>
                <a:ext cx="1390445" cy="29161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812937" y="4567574"/>
                <a:ext cx="1135246" cy="2916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𝑠</m:t>
                          </m:r>
                        </m:sub>
                      </m:sSub>
                      <m:r>
                        <a:rPr lang="zh-CN" altLang="en-US" sz="1200" i="0">
                          <a:latin typeface="Cambria Math" panose="02040503050406030204" pitchFamily="18" charset="0"/>
                        </a:rPr>
                        <m:t>=</m:t>
                      </m:r>
                      <m:f>
                        <m:fPr>
                          <m:type m:val="lin"/>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𝑦</m:t>
                              </m:r>
                            </m:sub>
                          </m:sSub>
                        </m:num>
                        <m:den>
                          <m:r>
                            <a:rPr lang="zh-CN" altLang="en-US" sz="1200" i="1">
                              <a:latin typeface="Cambria Math" panose="02040503050406030204" pitchFamily="18" charset="0"/>
                            </a:rPr>
                            <m:t>𝑐</m:t>
                          </m:r>
                        </m:den>
                      </m:f>
                      <m:r>
                        <a:rPr lang="zh-CN" altLang="en-US" sz="1200" i="1">
                          <a:latin typeface="Cambria Math" panose="02040503050406030204" pitchFamily="18" charset="0"/>
                        </a:rPr>
                        <m:t>𝑜𝑠</m:t>
                      </m:r>
                      <m:r>
                        <a:rPr lang="zh-CN" altLang="en-US" sz="1200" i="1">
                          <a:latin typeface="Cambria Math" panose="02040503050406030204" pitchFamily="18" charset="0"/>
                        </a:rPr>
                        <m:t>𝛾</m:t>
                      </m:r>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2812937" y="4567574"/>
                <a:ext cx="1135246" cy="291618"/>
              </a:xfrm>
              <a:prstGeom prst="rect">
                <a:avLst/>
              </a:prstGeom>
              <a:blipFill>
                <a:blip r:embed="rId6"/>
                <a:stretch>
                  <a:fillRect t="-87500" r="-2674" b="-135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752100" y="4217734"/>
                <a:ext cx="2225160" cy="495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𝑢</m:t>
                      </m:r>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𝑑</m:t>
                              </m:r>
                            </m:sub>
                          </m:sSub>
                        </m:num>
                        <m:den>
                          <m:r>
                            <a:rPr lang="zh-CN" altLang="en-US" sz="1400" i="1">
                              <a:latin typeface="Cambria Math" panose="02040503050406030204" pitchFamily="18" charset="0"/>
                            </a:rPr>
                            <m:t>𝑟</m:t>
                          </m:r>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1">
                              <a:latin typeface="Cambria Math" panose="02040503050406030204" pitchFamily="18" charset="0"/>
                            </a:rPr>
                            <m:t>𝑟</m:t>
                          </m:r>
                        </m:den>
                      </m:f>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𝑥</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𝑦</m:t>
                              </m:r>
                            </m:sub>
                          </m:sSub>
                          <m:r>
                            <a:rPr lang="zh-CN" altLang="en-US" sz="1400" i="1">
                              <a:latin typeface="Cambria Math" panose="02040503050406030204" pitchFamily="18" charset="0"/>
                            </a:rPr>
                            <m:t>𝑡𝑎𝑛</m:t>
                          </m:r>
                          <m:r>
                            <a:rPr lang="zh-CN" altLang="en-US" sz="1400" i="1">
                              <a:latin typeface="Cambria Math" panose="02040503050406030204" pitchFamily="18" charset="0"/>
                            </a:rPr>
                            <m:t>𝛾</m:t>
                          </m:r>
                        </m:e>
                      </m:d>
                    </m:oMath>
                  </m:oMathPara>
                </a14:m>
                <a:endParaRPr lang="zh-CN"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4752100" y="4217734"/>
                <a:ext cx="2225160" cy="495649"/>
              </a:xfrm>
              <a:prstGeom prst="rect">
                <a:avLst/>
              </a:prstGeom>
              <a:blipFill>
                <a:blip r:embed="rId7"/>
                <a:stretch>
                  <a:fillRect/>
                </a:stretch>
              </a:blipFill>
            </p:spPr>
            <p:txBody>
              <a:bodyPr/>
              <a:lstStyle/>
              <a:p>
                <a:r>
                  <a:rPr lang="zh-CN" altLang="en-US">
                    <a:noFill/>
                  </a:rPr>
                  <a:t> </a:t>
                </a:r>
              </a:p>
            </p:txBody>
          </p:sp>
        </mc:Fallback>
      </mc:AlternateContent>
      <p:sp>
        <p:nvSpPr>
          <p:cNvPr id="15" name="矩形 14"/>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spTree>
    <p:extLst>
      <p:ext uri="{BB962C8B-B14F-4D97-AF65-F5344CB8AC3E}">
        <p14:creationId xmlns:p14="http://schemas.microsoft.com/office/powerpoint/2010/main" val="30164279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a:xfrm>
            <a:off x="179512" y="1357227"/>
            <a:ext cx="5276850" cy="1638300"/>
          </a:xfrm>
          <a:prstGeom prst="rect">
            <a:avLst/>
          </a:prstGeom>
          <a:noFill/>
          <a:ln>
            <a:noFill/>
          </a:ln>
        </p:spPr>
      </p:pic>
      <p:sp>
        <p:nvSpPr>
          <p:cNvPr id="2" name="矩形 1"/>
          <p:cNvSpPr/>
          <p:nvPr/>
        </p:nvSpPr>
        <p:spPr>
          <a:xfrm>
            <a:off x="955757" y="1138931"/>
            <a:ext cx="3467616" cy="338554"/>
          </a:xfrm>
          <a:prstGeom prst="rect">
            <a:avLst/>
          </a:prstGeom>
        </p:spPr>
        <p:txBody>
          <a:bodyPr wrap="none">
            <a:spAutoFit/>
          </a:bodyPr>
          <a:lstStyle/>
          <a:p>
            <a:r>
              <a:rPr lang="zh-CN" altLang="en-US" sz="1600" kern="100" dirty="0">
                <a:ea typeface="等线" panose="02010600030101010101" pitchFamily="2" charset="-122"/>
                <a:cs typeface="Times New Roman" panose="02020603050405020304" pitchFamily="18" charset="0"/>
              </a:rPr>
              <a:t>全向</a:t>
            </a:r>
            <a:r>
              <a:rPr lang="zh-CN" altLang="zh-CN" sz="1600" kern="100" dirty="0" smtClean="0">
                <a:ea typeface="等线" panose="02010600030101010101" pitchFamily="2" charset="-122"/>
                <a:cs typeface="Times New Roman" panose="02020603050405020304" pitchFamily="18" charset="0"/>
              </a:rPr>
              <a:t>轮式</a:t>
            </a:r>
            <a:r>
              <a:rPr lang="zh-CN" altLang="zh-CN" sz="1600" kern="100" dirty="0">
                <a:ea typeface="等线" panose="02010600030101010101" pitchFamily="2" charset="-122"/>
                <a:cs typeface="Times New Roman" panose="02020603050405020304" pitchFamily="18" charset="0"/>
              </a:rPr>
              <a:t>移动机器人的两种典型结构</a:t>
            </a:r>
            <a:endParaRPr lang="zh-CN" altLang="en-US" sz="1600" dirty="0"/>
          </a:p>
        </p:txBody>
      </p:sp>
      <p:pic>
        <p:nvPicPr>
          <p:cNvPr id="10" name="图片 9"/>
          <p:cNvPicPr/>
          <p:nvPr/>
        </p:nvPicPr>
        <p:blipFill>
          <a:blip r:embed="rId4">
            <a:extLst>
              <a:ext uri="{28A0092B-C50C-407E-A947-70E740481C1C}">
                <a14:useLocalDpi xmlns:a14="http://schemas.microsoft.com/office/drawing/2010/main" val="0"/>
              </a:ext>
            </a:extLst>
          </a:blip>
          <a:srcRect/>
          <a:stretch>
            <a:fillRect/>
          </a:stretch>
        </p:blipFill>
        <p:spPr>
          <a:xfrm>
            <a:off x="5456362" y="1357227"/>
            <a:ext cx="3399606" cy="2707495"/>
          </a:xfrm>
          <a:prstGeom prst="rect">
            <a:avLst/>
          </a:prstGeom>
          <a:noFill/>
          <a:ln>
            <a:noFill/>
          </a:ln>
        </p:spPr>
      </p:pic>
      <p:sp>
        <p:nvSpPr>
          <p:cNvPr id="6" name="矩形 5"/>
          <p:cNvSpPr/>
          <p:nvPr/>
        </p:nvSpPr>
        <p:spPr>
          <a:xfrm>
            <a:off x="5456362" y="4151858"/>
            <a:ext cx="3798168" cy="276999"/>
          </a:xfrm>
          <a:prstGeom prst="rect">
            <a:avLst/>
          </a:prstGeom>
        </p:spPr>
        <p:txBody>
          <a:bodyPr wrap="square">
            <a:spAutoFit/>
          </a:bodyPr>
          <a:lstStyle/>
          <a:p>
            <a:r>
              <a:rPr lang="zh-CN" altLang="zh-CN" sz="1200" kern="100" dirty="0">
                <a:ea typeface="等线" panose="02010600030101010101" pitchFamily="2" charset="-122"/>
                <a:cs typeface="Times New Roman" panose="02020603050405020304" pitchFamily="18" charset="0"/>
              </a:rPr>
              <a:t>单轮速度与底盘坐标系以及全局坐标系的转换关系</a:t>
            </a:r>
            <a:endParaRPr lang="zh-CN" altLang="en-US" sz="1200" dirty="0"/>
          </a:p>
        </p:txBody>
      </p:sp>
      <mc:AlternateContent xmlns:mc="http://schemas.openxmlformats.org/markup-compatibility/2006" xmlns:a14="http://schemas.microsoft.com/office/drawing/2010/main">
        <mc:Choice Requires="a14">
          <p:sp>
            <p:nvSpPr>
              <p:cNvPr id="7" name="矩形 6"/>
              <p:cNvSpPr/>
              <p:nvPr/>
            </p:nvSpPr>
            <p:spPr>
              <a:xfrm>
                <a:off x="280982" y="3353212"/>
                <a:ext cx="5276850" cy="59279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den>
                                    </m:f>
                                  </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𝑡𝑎𝑛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𝛾</m:t>
                                            </m:r>
                                          </m:e>
                                          <m:sub>
                                            <m:r>
                                              <a:rPr lang="zh-CN" altLang="en-US" sz="1200" i="1">
                                                <a:latin typeface="Cambria Math" panose="02040503050406030204" pitchFamily="18" charset="0"/>
                                              </a:rPr>
                                              <m:t>𝑖</m:t>
                                            </m:r>
                                          </m:sub>
                                        </m:sSub>
                                      </m:num>
                                      <m:den>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den>
                                    </m:f>
                                  </m:e>
                                </m:mr>
                              </m:m>
                            </m:e>
                          </m:d>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𝑖</m:t>
                                        </m:r>
                                      </m:sub>
                                    </m:sSub>
                                  </m:e>
                                  <m:e>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𝑖</m:t>
                                        </m:r>
                                      </m:sub>
                                    </m:sSub>
                                  </m:e>
                                </m:mr>
                                <m:mr>
                                  <m:e>
                                    <m:r>
                                      <a:rPr lang="zh-CN" altLang="en-US" sz="1200" i="0">
                                        <a:latin typeface="Cambria Math" panose="02040503050406030204" pitchFamily="18" charset="0"/>
                                      </a:rPr>
                                      <m:t>−</m:t>
                                    </m:r>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𝑖</m:t>
                                        </m:r>
                                      </m:sub>
                                    </m:sSub>
                                  </m:e>
                                  <m:e>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𝛽</m:t>
                                        </m:r>
                                      </m:e>
                                      <m:sub>
                                        <m:r>
                                          <a:rPr lang="zh-CN" altLang="en-US" sz="1200" i="1">
                                            <a:latin typeface="Cambria Math" panose="02040503050406030204" pitchFamily="18" charset="0"/>
                                          </a:rPr>
                                          <m:t>𝑖</m:t>
                                        </m:r>
                                      </m:sub>
                                    </m:sSub>
                                  </m:e>
                                </m:mr>
                              </m:m>
                            </m:e>
                          </m:d>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1">
                                            <a:latin typeface="Cambria Math" panose="02040503050406030204" pitchFamily="18" charset="0"/>
                                          </a:rPr>
                                          <m:t>𝑖</m:t>
                                        </m:r>
                                      </m:sub>
                                    </m:sSub>
                                  </m:e>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1">
                                            <a:latin typeface="Cambria Math" panose="02040503050406030204" pitchFamily="18" charset="0"/>
                                          </a:rPr>
                                          <m:t>𝑖</m:t>
                                        </m:r>
                                      </m:sub>
                                    </m:sSub>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d>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1">
                                        <a:latin typeface="Cambria Math" panose="02040503050406030204" pitchFamily="18" charset="0"/>
                                      </a:rPr>
                                      <m:t>𝑐𝑜𝑠</m:t>
                                    </m:r>
                                    <m:r>
                                      <a:rPr lang="zh-CN" altLang="en-US" sz="1200" i="0">
                                        <a:latin typeface="Cambria Math" panose="02040503050406030204" pitchFamily="18" charset="0"/>
                                      </a:rPr>
                                      <m:t>∅</m:t>
                                    </m:r>
                                  </m:e>
                                  <m:e>
                                    <m:r>
                                      <a:rPr lang="zh-CN" altLang="en-US" sz="1200" i="1">
                                        <a:latin typeface="Cambria Math" panose="02040503050406030204" pitchFamily="18" charset="0"/>
                                      </a:rPr>
                                      <m:t>𝑠𝑖𝑛</m:t>
                                    </m:r>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m:t>
                                    </m:r>
                                    <m:r>
                                      <a:rPr lang="zh-CN" altLang="en-US" sz="1200" i="1">
                                        <a:latin typeface="Cambria Math" panose="02040503050406030204" pitchFamily="18" charset="0"/>
                                      </a:rPr>
                                      <m:t>𝑠𝑖𝑛</m:t>
                                    </m:r>
                                    <m:r>
                                      <a:rPr lang="zh-CN" altLang="en-US" sz="1200" i="0">
                                        <a:latin typeface="Cambria Math" panose="02040503050406030204" pitchFamily="18" charset="0"/>
                                      </a:rPr>
                                      <m:t>∅</m:t>
                                    </m:r>
                                  </m:e>
                                  <m:e>
                                    <m:r>
                                      <a:rPr lang="zh-CN" altLang="en-US" sz="1200" i="1">
                                        <a:latin typeface="Cambria Math" panose="02040503050406030204" pitchFamily="18" charset="0"/>
                                      </a:rPr>
                                      <m:t>𝑐𝑜𝑠</m:t>
                                    </m:r>
                                    <m:r>
                                      <a:rPr lang="zh-CN" altLang="en-US" sz="1200" i="0">
                                        <a:latin typeface="Cambria Math" panose="02040503050406030204" pitchFamily="18" charset="0"/>
                                      </a:rPr>
                                      <m:t>∅</m:t>
                                    </m:r>
                                  </m:e>
                                </m:mr>
                              </m:m>
                            </m:e>
                          </m:d>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r>
                                          <a:rPr lang="zh-CN" altLang="en-US" sz="1200" i="0">
                                            <a:latin typeface="Cambria Math" panose="02040503050406030204" pitchFamily="18" charset="0"/>
                                          </a:rPr>
                                          <m:t>∅</m:t>
                                        </m:r>
                                      </m:e>
                                    </m:acc>
                                  </m:e>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𝑦</m:t>
                                        </m:r>
                                      </m:e>
                                    </m:acc>
                                  </m:e>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e>
                                </m:mr>
                              </m:m>
                            </m:e>
                          </m:d>
                        </m:e>
                        <m:sup>
                          <m:r>
                            <a:rPr lang="zh-CN" altLang="en-US" sz="1200" i="1">
                              <a:latin typeface="Cambria Math" panose="02040503050406030204" pitchFamily="18" charset="0"/>
                            </a:rPr>
                            <m:t>𝑇</m:t>
                          </m:r>
                        </m:sup>
                      </m:sSup>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280982" y="3353212"/>
                <a:ext cx="5276850" cy="592791"/>
              </a:xfrm>
              <a:prstGeom prst="rect">
                <a:avLst/>
              </a:prstGeom>
              <a:blipFill>
                <a:blip r:embed="rId5"/>
                <a:stretch>
                  <a:fillRect b="-30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31937" y="3087540"/>
                <a:ext cx="4572000" cy="276999"/>
              </a:xfrm>
              <a:prstGeom prst="rect">
                <a:avLst/>
              </a:prstGeom>
            </p:spPr>
            <p:txBody>
              <a:bodyPr>
                <a:spAutoFit/>
              </a:bodyPr>
              <a:lstStyle/>
              <a:p>
                <a:r>
                  <a:rPr lang="zh-CN" altLang="zh-CN" sz="1200" kern="100" dirty="0">
                    <a:ea typeface="等线" panose="02010600030101010101" pitchFamily="2" charset="-122"/>
                    <a:cs typeface="Times New Roman" panose="02020603050405020304" pitchFamily="18" charset="0"/>
                  </a:rPr>
                  <a:t>全局坐标系</a:t>
                </a:r>
                <a14:m>
                  <m:oMath xmlns:m="http://schemas.openxmlformats.org/officeDocument/2006/math">
                    <m:d>
                      <m:dPr>
                        <m:begChr m:val="{"/>
                        <m:endChr m:val="}"/>
                        <m:ctrlPr>
                          <a:rPr lang="zh-CN" altLang="zh-CN" sz="1200" i="1">
                            <a:effectLst/>
                            <a:latin typeface="Cambria Math" panose="02040503050406030204" pitchFamily="18" charset="0"/>
                            <a:ea typeface="Cambria Math" panose="02040503050406030204" pitchFamily="18" charset="0"/>
                          </a:rPr>
                        </m:ctrlPr>
                      </m:d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𝑠</m:t>
                        </m:r>
                      </m:e>
                    </m:d>
                  </m:oMath>
                </a14:m>
                <a:r>
                  <a:rPr lang="zh-CN" altLang="zh-CN" sz="1200" kern="100" dirty="0">
                    <a:ea typeface="等线" panose="02010600030101010101" pitchFamily="2" charset="-122"/>
                    <a:cs typeface="Times New Roman" panose="02020603050405020304" pitchFamily="18" charset="0"/>
                  </a:rPr>
                  <a:t>下的底盘速度推导出轮子的驱动角速度</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𝑢</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𝑖</m:t>
                        </m:r>
                      </m:sub>
                    </m:sSub>
                  </m:oMath>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531937" y="3087540"/>
                <a:ext cx="4572000" cy="276999"/>
              </a:xfrm>
              <a:prstGeom prst="rect">
                <a:avLst/>
              </a:prstGeom>
              <a:blipFill>
                <a:blip r:embed="rId6"/>
                <a:stretch>
                  <a:fillRect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528808" y="4239909"/>
                <a:ext cx="2503634" cy="8174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𝑈</m:t>
                      </m:r>
                      <m:r>
                        <a:rPr lang="zh-CN" altLang="en-US" sz="1200" i="0">
                          <a:latin typeface="Cambria Math" panose="02040503050406030204" pitchFamily="18" charset="0"/>
                        </a:rPr>
                        <m:t>=</m:t>
                      </m:r>
                      <m:r>
                        <a:rPr lang="zh-CN" altLang="en-US" sz="1200" i="1">
                          <a:latin typeface="Cambria Math" panose="02040503050406030204" pitchFamily="18" charset="0"/>
                        </a:rPr>
                        <m:t>𝐻</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e>
                      </m:d>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𝑞</m:t>
                          </m:r>
                        </m:e>
                      </m:acc>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h</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e>
                                      </m:d>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h</m:t>
                                          </m:r>
                                        </m:e>
                                        <m:sub>
                                          <m:r>
                                            <a:rPr lang="zh-CN" altLang="en-US" sz="1200" i="0">
                                              <a:latin typeface="Cambria Math" panose="02040503050406030204" pitchFamily="18" charset="0"/>
                                            </a:rPr>
                                            <m:t>2</m:t>
                                          </m:r>
                                        </m:sub>
                                      </m:sSub>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e>
                                      </m:d>
                                    </m:e>
                                  </m:mr>
                                </m:m>
                              </m:e>
                            </m:mr>
                            <m:mr>
                              <m:e>
                                <m:r>
                                  <a:rPr lang="zh-CN" altLang="en-US" sz="1200" i="0">
                                    <a:latin typeface="Cambria Math" panose="02040503050406030204" pitchFamily="18" charset="0"/>
                                  </a:rPr>
                                  <m:t>⋮</m:t>
                                </m:r>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h</m:t>
                                    </m:r>
                                  </m:e>
                                  <m:sub>
                                    <m:r>
                                      <a:rPr lang="zh-CN" altLang="en-US" sz="1200" i="1">
                                        <a:latin typeface="Cambria Math" panose="02040503050406030204" pitchFamily="18" charset="0"/>
                                      </a:rPr>
                                      <m:t>𝑚</m:t>
                                    </m:r>
                                  </m:sub>
                                </m:sSub>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e>
                                </m:d>
                              </m:e>
                            </m:mr>
                          </m:m>
                        </m:e>
                      </m:d>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r>
                                          <a:rPr lang="zh-CN" altLang="en-US" sz="1200" i="0">
                                            <a:latin typeface="Cambria Math" panose="02040503050406030204" pitchFamily="18" charset="0"/>
                                          </a:rPr>
                                          <m:t>∅</m:t>
                                        </m:r>
                                      </m:e>
                                    </m:acc>
                                  </m:e>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𝑦</m:t>
                                        </m:r>
                                      </m:e>
                                    </m:acc>
                                  </m:e>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e>
                                </m:mr>
                              </m:m>
                            </m:e>
                          </m:d>
                        </m:e>
                        <m:sup>
                          <m:r>
                            <a:rPr lang="zh-CN" altLang="en-US" sz="1200" i="1">
                              <a:latin typeface="Cambria Math" panose="02040503050406030204" pitchFamily="18" charset="0"/>
                            </a:rPr>
                            <m:t>𝑇</m:t>
                          </m:r>
                        </m:sup>
                      </m:sSup>
                    </m:oMath>
                  </m:oMathPara>
                </a14:m>
                <a:endParaRPr lang="zh-CN" altLang="en-US" sz="1200" dirty="0"/>
              </a:p>
            </p:txBody>
          </p:sp>
        </mc:Choice>
        <mc:Fallback xmlns="">
          <p:sp>
            <p:nvSpPr>
              <p:cNvPr id="12" name="矩形 11"/>
              <p:cNvSpPr>
                <a:spLocks noRot="1" noChangeAspect="1" noMove="1" noResize="1" noEditPoints="1" noAdjustHandles="1" noChangeArrowheads="1" noChangeShapeType="1" noTextEdit="1"/>
              </p:cNvSpPr>
              <p:nvPr/>
            </p:nvSpPr>
            <p:spPr>
              <a:xfrm>
                <a:off x="528808" y="4239909"/>
                <a:ext cx="2503634" cy="81740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43314" y="3996961"/>
                <a:ext cx="5050716" cy="276999"/>
              </a:xfrm>
              <a:prstGeom prst="rect">
                <a:avLst/>
              </a:prstGeom>
            </p:spPr>
            <p:txBody>
              <a:bodyPr wrap="square">
                <a:spAutoFit/>
              </a:bodyPr>
              <a:lstStyle/>
              <a:p>
                <a:r>
                  <a:rPr lang="zh-CN" altLang="zh-CN" sz="1200" kern="100" dirty="0">
                    <a:ea typeface="等线" panose="02010600030101010101" pitchFamily="2" charset="-122"/>
                    <a:cs typeface="Times New Roman" panose="02020603050405020304" pitchFamily="18" charset="0"/>
                  </a:rPr>
                  <a:t>全向移动机器人轮子驱动速度向量</a:t>
                </a:r>
                <a14:m>
                  <m:oMath xmlns:m="http://schemas.openxmlformats.org/officeDocument/2006/math">
                    <m:r>
                      <m:rPr>
                        <m:sty m:val="p"/>
                      </m:rPr>
                      <a:rPr lang="en-US" altLang="zh-CN" sz="1200" kern="100">
                        <a:latin typeface="Cambria Math" panose="02040503050406030204" pitchFamily="18" charset="0"/>
                        <a:ea typeface="等线" panose="02010600030101010101" pitchFamily="2" charset="-122"/>
                        <a:cs typeface="Times New Roman" panose="02020603050405020304" pitchFamily="18" charset="0"/>
                      </a:rPr>
                      <m:t>U</m:t>
                    </m:r>
                    <m:r>
                      <a:rPr lang="en-US" altLang="zh-CN" sz="1200" kern="100">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𝑚</m:t>
                        </m:r>
                      </m:sup>
                    </m:sSup>
                  </m:oMath>
                </a14:m>
                <a:r>
                  <a:rPr lang="zh-CN" altLang="zh-CN" sz="1200" kern="100" dirty="0">
                    <a:ea typeface="等线" panose="02010600030101010101" pitchFamily="2" charset="-122"/>
                    <a:cs typeface="Times New Roman" panose="02020603050405020304" pitchFamily="18" charset="0"/>
                  </a:rPr>
                  <a:t>与底盘速度之间的联合表达式</a:t>
                </a:r>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343314" y="3996961"/>
                <a:ext cx="5050716" cy="276999"/>
              </a:xfrm>
              <a:prstGeom prst="rect">
                <a:avLst/>
              </a:prstGeom>
              <a:blipFill>
                <a:blip r:embed="rId8"/>
                <a:stretch>
                  <a:fillRect t="-2222"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125599" y="4239909"/>
                <a:ext cx="2175274" cy="8174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𝑈</m:t>
                      </m:r>
                      <m:r>
                        <a:rPr lang="zh-CN" altLang="en-US" sz="1200" i="0">
                          <a:latin typeface="Cambria Math" panose="02040503050406030204" pitchFamily="18" charset="0"/>
                        </a:rPr>
                        <m:t>=</m:t>
                      </m:r>
                      <m:r>
                        <a:rPr lang="zh-CN" altLang="en-US" sz="1200" i="1">
                          <a:latin typeface="Cambria Math" panose="02040503050406030204" pitchFamily="18" charset="0"/>
                        </a:rPr>
                        <m:t>𝐻</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0</m:t>
                          </m:r>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h</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r>
                                            <a:rPr lang="zh-CN" altLang="en-US" sz="1200" i="0">
                                              <a:latin typeface="Cambria Math" panose="02040503050406030204" pitchFamily="18" charset="0"/>
                                            </a:rPr>
                                            <m:t>0</m:t>
                                          </m:r>
                                        </m:e>
                                      </m:d>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h</m:t>
                                          </m:r>
                                        </m:e>
                                        <m:sub>
                                          <m:r>
                                            <a:rPr lang="zh-CN" altLang="en-US" sz="1200" i="0">
                                              <a:latin typeface="Cambria Math" panose="02040503050406030204" pitchFamily="18" charset="0"/>
                                            </a:rPr>
                                            <m:t>2</m:t>
                                          </m:r>
                                        </m:sub>
                                      </m:sSub>
                                      <m:d>
                                        <m:dPr>
                                          <m:ctrlPr>
                                            <a:rPr lang="zh-CN" altLang="en-US" sz="1200" i="1">
                                              <a:latin typeface="Cambria Math" panose="02040503050406030204" pitchFamily="18" charset="0"/>
                                            </a:rPr>
                                          </m:ctrlPr>
                                        </m:dPr>
                                        <m:e>
                                          <m:r>
                                            <a:rPr lang="zh-CN" altLang="en-US" sz="1200" i="0">
                                              <a:latin typeface="Cambria Math" panose="02040503050406030204" pitchFamily="18" charset="0"/>
                                            </a:rPr>
                                            <m:t>0</m:t>
                                          </m:r>
                                        </m:e>
                                      </m:d>
                                    </m:e>
                                  </m:mr>
                                </m:m>
                              </m:e>
                            </m:mr>
                            <m:mr>
                              <m:e>
                                <m:r>
                                  <a:rPr lang="zh-CN" altLang="en-US" sz="1200" i="0">
                                    <a:latin typeface="Cambria Math" panose="02040503050406030204" pitchFamily="18" charset="0"/>
                                  </a:rPr>
                                  <m:t>⋮</m:t>
                                </m:r>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h</m:t>
                                    </m:r>
                                  </m:e>
                                  <m:sub>
                                    <m:r>
                                      <a:rPr lang="zh-CN" altLang="en-US" sz="1200" i="1">
                                        <a:latin typeface="Cambria Math" panose="02040503050406030204" pitchFamily="18" charset="0"/>
                                      </a:rPr>
                                      <m:t>𝑚</m:t>
                                    </m:r>
                                  </m:sub>
                                </m:sSub>
                                <m:d>
                                  <m:dPr>
                                    <m:ctrlPr>
                                      <a:rPr lang="zh-CN" altLang="en-US" sz="1200" i="1">
                                        <a:latin typeface="Cambria Math" panose="02040503050406030204" pitchFamily="18" charset="0"/>
                                      </a:rPr>
                                    </m:ctrlPr>
                                  </m:dPr>
                                  <m:e>
                                    <m:r>
                                      <a:rPr lang="zh-CN" altLang="en-US" sz="1200" i="0">
                                        <a:latin typeface="Cambria Math" panose="02040503050406030204" pitchFamily="18" charset="0"/>
                                      </a:rPr>
                                      <m:t>0</m:t>
                                    </m:r>
                                  </m:e>
                                </m:d>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𝑏𝑧</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𝑏𝑥</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𝑏𝑦</m:t>
                                    </m:r>
                                  </m:sub>
                                </m:sSub>
                              </m:e>
                            </m:mr>
                          </m:m>
                        </m:e>
                      </m:d>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3125599" y="4239909"/>
                <a:ext cx="2175274" cy="817403"/>
              </a:xfrm>
              <a:prstGeom prst="rect">
                <a:avLst/>
              </a:prstGeom>
              <a:blipFill>
                <a:blip r:embed="rId9"/>
                <a:stretch>
                  <a:fillRect/>
                </a:stretch>
              </a:blipFill>
            </p:spPr>
            <p:txBody>
              <a:bodyPr/>
              <a:lstStyle/>
              <a:p>
                <a:r>
                  <a:rPr lang="zh-CN" altLang="en-US">
                    <a:noFill/>
                  </a:rPr>
                  <a:t> </a:t>
                </a:r>
              </a:p>
            </p:txBody>
          </p:sp>
        </mc:Fallback>
      </mc:AlternateContent>
      <p:sp>
        <p:nvSpPr>
          <p:cNvPr id="16" name="圆角矩形 15"/>
          <p:cNvSpPr/>
          <p:nvPr/>
        </p:nvSpPr>
        <p:spPr>
          <a:xfrm>
            <a:off x="179512" y="3087540"/>
            <a:ext cx="5276850" cy="90942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179512" y="4047919"/>
            <a:ext cx="5276850" cy="100939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spTree>
    <p:extLst>
      <p:ext uri="{BB962C8B-B14F-4D97-AF65-F5344CB8AC3E}">
        <p14:creationId xmlns:p14="http://schemas.microsoft.com/office/powerpoint/2010/main" val="2428991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a:xfrm>
            <a:off x="2123522" y="1462096"/>
            <a:ext cx="5267325" cy="2476500"/>
          </a:xfrm>
          <a:prstGeom prst="rect">
            <a:avLst/>
          </a:prstGeom>
          <a:noFill/>
          <a:ln>
            <a:noFill/>
          </a:ln>
        </p:spPr>
      </p:pic>
      <p:sp>
        <p:nvSpPr>
          <p:cNvPr id="2" name="矩形 1"/>
          <p:cNvSpPr/>
          <p:nvPr/>
        </p:nvSpPr>
        <p:spPr>
          <a:xfrm>
            <a:off x="2308708" y="1154319"/>
            <a:ext cx="4896954" cy="307777"/>
          </a:xfrm>
          <a:prstGeom prst="rect">
            <a:avLst/>
          </a:prstGeom>
        </p:spPr>
        <p:txBody>
          <a:bodyPr wrap="square">
            <a:spAutoFit/>
          </a:bodyPr>
          <a:lstStyle/>
          <a:p>
            <a:r>
              <a:rPr lang="zh-CN" altLang="zh-CN" sz="1400" kern="100" dirty="0">
                <a:ea typeface="等线" panose="02010600030101010101" pitchFamily="2" charset="-122"/>
                <a:cs typeface="Times New Roman" panose="02020603050405020304" pitchFamily="18" charset="0"/>
              </a:rPr>
              <a:t>两种典型全向移动机器人的运动学模型，所有轮子的半径为</a:t>
            </a:r>
            <a:r>
              <a:rPr lang="en-US" altLang="zh-CN" sz="1400" kern="100" dirty="0">
                <a:ea typeface="等线" panose="02010600030101010101" pitchFamily="2" charset="-122"/>
                <a:cs typeface="Times New Roman" panose="02020603050405020304" pitchFamily="18" charset="0"/>
              </a:rPr>
              <a:t>r</a:t>
            </a:r>
            <a:endParaRPr lang="zh-CN" altLang="en-US" sz="1400" dirty="0"/>
          </a:p>
        </p:txBody>
      </p:sp>
      <mc:AlternateContent xmlns:mc="http://schemas.openxmlformats.org/markup-compatibility/2006" xmlns:a14="http://schemas.microsoft.com/office/drawing/2010/main">
        <mc:Choice Requires="a14">
          <p:sp>
            <p:nvSpPr>
              <p:cNvPr id="6" name="矩形 5"/>
              <p:cNvSpPr/>
              <p:nvPr/>
            </p:nvSpPr>
            <p:spPr>
              <a:xfrm>
                <a:off x="683568" y="4155926"/>
                <a:ext cx="4572000" cy="772712"/>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𝑈</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1</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2</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3</m:t>
                                    </m:r>
                                  </m:sub>
                                </m:sSub>
                              </m:e>
                            </m:mr>
                          </m:m>
                        </m:e>
                      </m:d>
                      <m:r>
                        <a:rPr lang="zh-CN" altLang="en-US" sz="1200" i="0">
                          <a:latin typeface="Cambria Math" panose="02040503050406030204" pitchFamily="18" charset="0"/>
                        </a:rPr>
                        <m:t>=</m:t>
                      </m:r>
                      <m:r>
                        <a:rPr lang="zh-CN" altLang="en-US" sz="1200" i="1">
                          <a:latin typeface="Cambria Math" panose="02040503050406030204" pitchFamily="18" charset="0"/>
                        </a:rPr>
                        <m:t>𝐻</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0</m:t>
                          </m:r>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1">
                              <a:latin typeface="Cambria Math" panose="02040503050406030204" pitchFamily="18" charset="0"/>
                            </a:rPr>
                            <m:t>𝑟</m:t>
                          </m:r>
                        </m:den>
                      </m:f>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r>
                                  <a:rPr lang="zh-CN" altLang="en-US" sz="1200" i="1">
                                    <a:latin typeface="Cambria Math" panose="02040503050406030204" pitchFamily="18" charset="0"/>
                                  </a:rPr>
                                  <m:t>𝑑</m:t>
                                </m:r>
                              </m:e>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r>
                                  <a:rPr lang="zh-CN" altLang="en-US" sz="1200" i="1">
                                    <a:latin typeface="Cambria Math" panose="02040503050406030204" pitchFamily="18" charset="0"/>
                                  </a:rPr>
                                  <m:t>𝑑</m:t>
                                </m:r>
                              </m:e>
                              <m:e>
                                <m:r>
                                  <a:rPr lang="zh-CN" altLang="en-US" sz="1200" i="0">
                                    <a:latin typeface="Cambria Math" panose="02040503050406030204" pitchFamily="18" charset="0"/>
                                  </a:rPr>
                                  <m:t>−</m:t>
                                </m:r>
                                <m:f>
                                  <m:fPr>
                                    <m:type m:val="skw"/>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e>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r>
                                      <m:rPr>
                                        <m:sty m:val="p"/>
                                      </m:rPr>
                                      <a:rPr lang="zh-CN" altLang="en-US" sz="1200" i="0">
                                        <a:latin typeface="Cambria Math" panose="02040503050406030204" pitchFamily="18" charset="0"/>
                                      </a:rPr>
                                      <m:t>si</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n</m:t>
                                        </m:r>
                                      </m:fName>
                                      <m:e>
                                        <m:r>
                                          <a:rPr lang="zh-CN" altLang="en-US" sz="1200" i="0">
                                            <a:latin typeface="Cambria Math" panose="02040503050406030204" pitchFamily="18" charset="0"/>
                                          </a:rPr>
                                          <m:t>(</m:t>
                                        </m:r>
                                      </m:e>
                                    </m:func>
                                    <m:f>
                                      <m:fPr>
                                        <m:type m:val="skw"/>
                                        <m:ctrlPr>
                                          <a:rPr lang="zh-CN" altLang="en-US" sz="1200" i="1">
                                            <a:latin typeface="Cambria Math" panose="02040503050406030204" pitchFamily="18" charset="0"/>
                                          </a:rPr>
                                        </m:ctrlPr>
                                      </m:fPr>
                                      <m:num>
                                        <m:r>
                                          <a:rPr lang="zh-CN" altLang="en-US" sz="1200" i="1">
                                            <a:latin typeface="Cambria Math" panose="02040503050406030204" pitchFamily="18" charset="0"/>
                                          </a:rPr>
                                          <m:t>𝜋</m:t>
                                        </m:r>
                                      </m:num>
                                      <m:den>
                                        <m:r>
                                          <a:rPr lang="zh-CN" altLang="en-US" sz="1200" i="0">
                                            <a:latin typeface="Cambria Math" panose="02040503050406030204" pitchFamily="18" charset="0"/>
                                          </a:rPr>
                                          <m:t>3</m:t>
                                        </m:r>
                                      </m:den>
                                    </m:f>
                                  </m:e>
                                </m:d>
                              </m:e>
                            </m:mr>
                            <m:mr>
                              <m:e>
                                <m:r>
                                  <a:rPr lang="zh-CN" altLang="en-US" sz="1200" i="0">
                                    <a:latin typeface="Cambria Math" panose="02040503050406030204" pitchFamily="18" charset="0"/>
                                  </a:rPr>
                                  <m:t>−</m:t>
                                </m:r>
                                <m:r>
                                  <a:rPr lang="zh-CN" altLang="en-US" sz="1200" i="1">
                                    <a:latin typeface="Cambria Math" panose="02040503050406030204" pitchFamily="18" charset="0"/>
                                  </a:rPr>
                                  <m:t>𝑑</m:t>
                                </m:r>
                              </m:e>
                              <m:e>
                                <m:r>
                                  <a:rPr lang="zh-CN" altLang="en-US" sz="1200" i="0">
                                    <a:latin typeface="Cambria Math" panose="02040503050406030204" pitchFamily="18" charset="0"/>
                                  </a:rPr>
                                  <m:t>−</m:t>
                                </m:r>
                                <m:f>
                                  <m:fPr>
                                    <m:type m:val="skw"/>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e>
                              <m:e>
                                <m:d>
                                  <m:dPr>
                                    <m:beg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si</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n</m:t>
                                        </m:r>
                                      </m:fName>
                                      <m:e>
                                        <m:r>
                                          <a:rPr lang="zh-CN" altLang="en-US" sz="1200" i="0">
                                            <a:latin typeface="Cambria Math" panose="02040503050406030204" pitchFamily="18" charset="0"/>
                                          </a:rPr>
                                          <m:t>(</m:t>
                                        </m:r>
                                      </m:e>
                                    </m:func>
                                    <m:f>
                                      <m:fPr>
                                        <m:type m:val="skw"/>
                                        <m:ctrlPr>
                                          <a:rPr lang="zh-CN" altLang="en-US" sz="1200" i="1">
                                            <a:latin typeface="Cambria Math" panose="02040503050406030204" pitchFamily="18" charset="0"/>
                                          </a:rPr>
                                        </m:ctrlPr>
                                      </m:fPr>
                                      <m:num>
                                        <m:r>
                                          <a:rPr lang="zh-CN" altLang="en-US" sz="1200" i="1">
                                            <a:latin typeface="Cambria Math" panose="02040503050406030204" pitchFamily="18" charset="0"/>
                                          </a:rPr>
                                          <m:t>𝜋</m:t>
                                        </m:r>
                                      </m:num>
                                      <m:den>
                                        <m:r>
                                          <a:rPr lang="zh-CN" altLang="en-US" sz="1200" i="0">
                                            <a:latin typeface="Cambria Math" panose="02040503050406030204" pitchFamily="18" charset="0"/>
                                          </a:rPr>
                                          <m:t>3</m:t>
                                        </m:r>
                                      </m:den>
                                    </m:f>
                                  </m:e>
                                </m:d>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𝑏𝑧</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𝑏𝑥</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𝑏𝑦</m:t>
                                    </m:r>
                                  </m:sub>
                                </m:sSub>
                              </m:e>
                            </m:mr>
                          </m:m>
                        </m:e>
                      </m:d>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683568" y="4155926"/>
                <a:ext cx="4572000" cy="77271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489612" y="4153223"/>
                <a:ext cx="4572000" cy="772712"/>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𝑈</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1</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2</m:t>
                                    </m:r>
                                  </m:sub>
                                </m:sSub>
                              </m:e>
                            </m:mr>
                            <m:m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3</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𝑢</m:t>
                                          </m:r>
                                        </m:e>
                                        <m:sub>
                                          <m:r>
                                            <a:rPr lang="zh-CN" altLang="en-US" sz="1200" i="0">
                                              <a:latin typeface="Cambria Math" panose="02040503050406030204" pitchFamily="18" charset="0"/>
                                            </a:rPr>
                                            <m:t>4</m:t>
                                          </m:r>
                                        </m:sub>
                                      </m:sSub>
                                    </m:e>
                                  </m:mr>
                                </m:m>
                              </m:e>
                            </m:mr>
                          </m:m>
                        </m:e>
                      </m:d>
                      <m:r>
                        <a:rPr lang="zh-CN" altLang="en-US" sz="1200" i="0">
                          <a:latin typeface="Cambria Math" panose="02040503050406030204" pitchFamily="18" charset="0"/>
                        </a:rPr>
                        <m:t>=</m:t>
                      </m:r>
                      <m:r>
                        <a:rPr lang="zh-CN" altLang="en-US" sz="1200" i="1">
                          <a:latin typeface="Cambria Math" panose="02040503050406030204" pitchFamily="18" charset="0"/>
                        </a:rPr>
                        <m:t>𝐻</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0</m:t>
                          </m:r>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1">
                              <a:latin typeface="Cambria Math" panose="02040503050406030204" pitchFamily="18" charset="0"/>
                            </a:rPr>
                            <m:t>𝑟</m:t>
                          </m:r>
                        </m:den>
                      </m:f>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r>
                                  <a:rPr lang="zh-CN" altLang="en-US" sz="1200" i="1">
                                    <a:latin typeface="Cambria Math" panose="02040503050406030204" pitchFamily="18" charset="0"/>
                                  </a:rPr>
                                  <m:t>𝑙</m:t>
                                </m:r>
                                <m:r>
                                  <a:rPr lang="zh-CN" altLang="en-US" sz="1200" i="0">
                                    <a:latin typeface="Cambria Math" panose="02040503050406030204" pitchFamily="18" charset="0"/>
                                  </a:rPr>
                                  <m:t>−</m:t>
                                </m:r>
                                <m:r>
                                  <a:rPr lang="zh-CN" altLang="en-US" sz="1200" i="1">
                                    <a:latin typeface="Cambria Math" panose="02040503050406030204" pitchFamily="18" charset="0"/>
                                  </a:rPr>
                                  <m:t>𝑤</m:t>
                                </m:r>
                              </m:e>
                              <m:e>
                                <m:r>
                                  <a:rPr lang="zh-CN" altLang="en-US" sz="1200" i="0">
                                    <a:latin typeface="Cambria Math" panose="02040503050406030204" pitchFamily="18" charset="0"/>
                                  </a:rPr>
                                  <m:t>1</m:t>
                                </m:r>
                              </m:e>
                              <m:e>
                                <m:r>
                                  <a:rPr lang="zh-CN" altLang="en-US" sz="1200" i="0">
                                    <a:latin typeface="Cambria Math" panose="02040503050406030204" pitchFamily="18" charset="0"/>
                                  </a:rPr>
                                  <m:t>−1</m:t>
                                </m:r>
                              </m:e>
                            </m:mr>
                            <m:mr>
                              <m:e>
                                <m:r>
                                  <a:rPr lang="zh-CN" altLang="en-US" sz="1200" i="1">
                                    <a:latin typeface="Cambria Math" panose="02040503050406030204" pitchFamily="18" charset="0"/>
                                  </a:rPr>
                                  <m:t>𝑙</m:t>
                                </m:r>
                                <m:r>
                                  <a:rPr lang="zh-CN" altLang="en-US" sz="1200" i="0">
                                    <a:latin typeface="Cambria Math" panose="02040503050406030204" pitchFamily="18" charset="0"/>
                                  </a:rPr>
                                  <m:t>+</m:t>
                                </m:r>
                                <m:r>
                                  <a:rPr lang="zh-CN" altLang="en-US" sz="1200" i="1">
                                    <a:latin typeface="Cambria Math" panose="02040503050406030204" pitchFamily="18" charset="0"/>
                                  </a:rPr>
                                  <m:t>𝑤</m:t>
                                </m:r>
                              </m:e>
                              <m:e>
                                <m:r>
                                  <a:rPr lang="zh-CN" altLang="en-US" sz="1200" i="0">
                                    <a:latin typeface="Cambria Math" panose="02040503050406030204" pitchFamily="18" charset="0"/>
                                  </a:rPr>
                                  <m:t>1</m:t>
                                </m:r>
                              </m:e>
                              <m:e>
                                <m:r>
                                  <a:rPr lang="zh-CN" altLang="en-US" sz="1200" i="0">
                                    <a:latin typeface="Cambria Math" panose="02040503050406030204" pitchFamily="18" charset="0"/>
                                  </a:rPr>
                                  <m:t>1</m:t>
                                </m:r>
                              </m:e>
                            </m:mr>
                            <m:m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𝑙</m:t>
                                      </m:r>
                                      <m:r>
                                        <a:rPr lang="zh-CN" altLang="en-US" sz="1200" i="0">
                                          <a:latin typeface="Cambria Math" panose="02040503050406030204" pitchFamily="18" charset="0"/>
                                        </a:rPr>
                                        <m:t>+</m:t>
                                      </m:r>
                                      <m:r>
                                        <a:rPr lang="zh-CN" altLang="en-US" sz="1200" i="1">
                                          <a:latin typeface="Cambria Math" panose="02040503050406030204" pitchFamily="18" charset="0"/>
                                        </a:rPr>
                                        <m:t>𝑤</m:t>
                                      </m:r>
                                    </m:e>
                                  </m:mr>
                                  <m:mr>
                                    <m:e>
                                      <m:r>
                                        <a:rPr lang="zh-CN" altLang="en-US" sz="1200" i="0">
                                          <a:latin typeface="Cambria Math" panose="02040503050406030204" pitchFamily="18" charset="0"/>
                                        </a:rPr>
                                        <m:t>−</m:t>
                                      </m:r>
                                      <m:r>
                                        <a:rPr lang="zh-CN" altLang="en-US" sz="1200" i="1">
                                          <a:latin typeface="Cambria Math" panose="02040503050406030204" pitchFamily="18" charset="0"/>
                                        </a:rPr>
                                        <m:t>𝑙</m:t>
                                      </m:r>
                                      <m:r>
                                        <a:rPr lang="zh-CN" altLang="en-US" sz="1200" i="0">
                                          <a:latin typeface="Cambria Math" panose="02040503050406030204" pitchFamily="18" charset="0"/>
                                        </a:rPr>
                                        <m:t>−</m:t>
                                      </m:r>
                                      <m:r>
                                        <a:rPr lang="zh-CN" altLang="en-US" sz="1200" i="1">
                                          <a:latin typeface="Cambria Math" panose="02040503050406030204" pitchFamily="18" charset="0"/>
                                        </a:rPr>
                                        <m:t>𝑤</m:t>
                                      </m:r>
                                    </m:e>
                                  </m:mr>
                                </m:m>
                              </m:e>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mr>
                                  <m:mr>
                                    <m:e>
                                      <m:r>
                                        <a:rPr lang="zh-CN" altLang="en-US" sz="1200" i="0">
                                          <a:latin typeface="Cambria Math" panose="02040503050406030204" pitchFamily="18" charset="0"/>
                                        </a:rPr>
                                        <m:t>1</m:t>
                                      </m:r>
                                    </m:e>
                                  </m:mr>
                                </m:m>
                              </m:e>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mr>
                                  <m:mr>
                                    <m:e>
                                      <m:r>
                                        <a:rPr lang="zh-CN" altLang="en-US" sz="1200" i="0">
                                          <a:latin typeface="Cambria Math" panose="02040503050406030204" pitchFamily="18" charset="0"/>
                                        </a:rPr>
                                        <m:t>1</m:t>
                                      </m:r>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𝑏𝑧</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𝑏𝑥</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𝑏𝑦</m:t>
                                    </m:r>
                                  </m:sub>
                                </m:sSub>
                              </m:e>
                            </m:mr>
                          </m:m>
                        </m:e>
                      </m:d>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4489612" y="4153223"/>
                <a:ext cx="4572000" cy="772712"/>
              </a:xfrm>
              <a:prstGeom prst="rect">
                <a:avLst/>
              </a:prstGeom>
              <a:blipFill>
                <a:blip r:embed="rId5"/>
                <a:stretch>
                  <a:fillRect/>
                </a:stretch>
              </a:blipFill>
            </p:spPr>
            <p:txBody>
              <a:bodyPr/>
              <a:lstStyle/>
              <a:p>
                <a:r>
                  <a:rPr lang="zh-CN" altLang="en-US">
                    <a:noFill/>
                  </a:rPr>
                  <a:t> </a:t>
                </a:r>
              </a:p>
            </p:txBody>
          </p:sp>
        </mc:Fallback>
      </mc:AlternateContent>
      <p:sp>
        <p:nvSpPr>
          <p:cNvPr id="12" name="矩形 11"/>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spTree>
    <p:extLst>
      <p:ext uri="{BB962C8B-B14F-4D97-AF65-F5344CB8AC3E}">
        <p14:creationId xmlns:p14="http://schemas.microsoft.com/office/powerpoint/2010/main" val="28083644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6220" y="185621"/>
            <a:ext cx="5153660" cy="600075"/>
            <a:chOff x="-372" y="345"/>
            <a:chExt cx="8116" cy="945"/>
          </a:xfrm>
        </p:grpSpPr>
        <p:sp>
          <p:nvSpPr>
            <p:cNvPr id="3" name="矩形 2"/>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 name="文本框 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pic>
        <p:nvPicPr>
          <p:cNvPr id="12" name="图片 11"/>
          <p:cNvPicPr/>
          <p:nvPr/>
        </p:nvPicPr>
        <p:blipFill>
          <a:blip r:embed="rId3" cstate="print">
            <a:extLst>
              <a:ext uri="{28A0092B-C50C-407E-A947-70E740481C1C}">
                <a14:useLocalDpi xmlns:a14="http://schemas.microsoft.com/office/drawing/2010/main" val="0"/>
              </a:ext>
            </a:extLst>
          </a:blip>
          <a:stretch>
            <a:fillRect/>
          </a:stretch>
        </p:blipFill>
        <p:spPr>
          <a:xfrm>
            <a:off x="467544" y="1252127"/>
            <a:ext cx="3699520" cy="2014652"/>
          </a:xfrm>
          <a:prstGeom prst="rect">
            <a:avLst/>
          </a:prstGeom>
        </p:spPr>
      </p:pic>
      <p:graphicFrame>
        <p:nvGraphicFramePr>
          <p:cNvPr id="14" name="对象 13"/>
          <p:cNvGraphicFramePr>
            <a:graphicFrameLocks/>
          </p:cNvGraphicFramePr>
          <p:nvPr>
            <p:extLst>
              <p:ext uri="{D42A27DB-BD31-4B8C-83A1-F6EECF244321}">
                <p14:modId xmlns:p14="http://schemas.microsoft.com/office/powerpoint/2010/main" val="2557438907"/>
              </p:ext>
            </p:extLst>
          </p:nvPr>
        </p:nvGraphicFramePr>
        <p:xfrm>
          <a:off x="4917440" y="1252127"/>
          <a:ext cx="2521338" cy="1889293"/>
        </p:xfrm>
        <a:graphic>
          <a:graphicData uri="http://schemas.openxmlformats.org/presentationml/2006/ole">
            <mc:AlternateContent xmlns:mc="http://schemas.openxmlformats.org/markup-compatibility/2006">
              <mc:Choice xmlns:v="urn:schemas-microsoft-com:vml" Requires="v">
                <p:oleObj spid="_x0000_s6149" name="Visio" r:id="rId4" imgW="3946806" imgH="3070829" progId="Visio.Drawing.15">
                  <p:embed/>
                </p:oleObj>
              </mc:Choice>
              <mc:Fallback>
                <p:oleObj name="Visio" r:id="rId4" imgW="3946806" imgH="3070829" progId="Visio.Drawing.15">
                  <p:embed/>
                  <p:pic>
                    <p:nvPicPr>
                      <p:cNvPr id="0" name="Object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7440" y="1252127"/>
                        <a:ext cx="2521338" cy="1889293"/>
                      </a:xfrm>
                      <a:prstGeom prst="rect">
                        <a:avLst/>
                      </a:prstGeom>
                      <a:noFill/>
                    </p:spPr>
                  </p:pic>
                </p:oleObj>
              </mc:Fallback>
            </mc:AlternateContent>
          </a:graphicData>
        </a:graphic>
      </p:graphicFrame>
      <p:pic>
        <p:nvPicPr>
          <p:cNvPr id="15" name="图片 14"/>
          <p:cNvPicPr/>
          <p:nvPr/>
        </p:nvPicPr>
        <p:blipFill>
          <a:blip r:embed="rId6"/>
          <a:stretch>
            <a:fillRect/>
          </a:stretch>
        </p:blipFill>
        <p:spPr>
          <a:xfrm>
            <a:off x="4899791" y="3261956"/>
            <a:ext cx="3496488" cy="1780793"/>
          </a:xfrm>
          <a:prstGeom prst="rect">
            <a:avLst/>
          </a:prstGeom>
          <a:noFill/>
          <a:ln>
            <a:noFill/>
          </a:ln>
        </p:spPr>
      </p:pic>
      <p:pic>
        <p:nvPicPr>
          <p:cNvPr id="16" name="图片 15"/>
          <p:cNvPicPr>
            <a:picLocks noChangeAspect="1"/>
          </p:cNvPicPr>
          <p:nvPr/>
        </p:nvPicPr>
        <p:blipFill>
          <a:blip r:embed="rId7"/>
          <a:stretch>
            <a:fillRect/>
          </a:stretch>
        </p:blipFill>
        <p:spPr>
          <a:xfrm>
            <a:off x="405229" y="3084691"/>
            <a:ext cx="4119374" cy="1958058"/>
          </a:xfrm>
          <a:prstGeom prst="rect">
            <a:avLst/>
          </a:prstGeom>
        </p:spPr>
      </p:pic>
      <p:sp>
        <p:nvSpPr>
          <p:cNvPr id="17" name="矩形 16">
            <a:hlinkClick r:id="rId8"/>
          </p:cNvPr>
          <p:cNvSpPr/>
          <p:nvPr/>
        </p:nvSpPr>
        <p:spPr>
          <a:xfrm>
            <a:off x="611560" y="865023"/>
            <a:ext cx="7848872" cy="307777"/>
          </a:xfrm>
          <a:prstGeom prst="rect">
            <a:avLst/>
          </a:prstGeom>
        </p:spPr>
        <p:txBody>
          <a:bodyPr wrap="square">
            <a:spAutoFit/>
          </a:bodyPr>
          <a:lstStyle/>
          <a:p>
            <a:r>
              <a:rPr lang="zh-CN" altLang="en-US" sz="1400" dirty="0"/>
              <a:t>https://github.com/mhuasong/Basics-of-Robotics-Theory-and-Technology/tree/main/ch3/omni_robot</a:t>
            </a:r>
          </a:p>
        </p:txBody>
      </p:sp>
    </p:spTree>
    <p:extLst>
      <p:ext uri="{BB962C8B-B14F-4D97-AF65-F5344CB8AC3E}">
        <p14:creationId xmlns:p14="http://schemas.microsoft.com/office/powerpoint/2010/main" val="23575286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6220" y="185621"/>
            <a:ext cx="5153660" cy="600075"/>
            <a:chOff x="-372" y="345"/>
            <a:chExt cx="8116" cy="945"/>
          </a:xfrm>
        </p:grpSpPr>
        <p:sp>
          <p:nvSpPr>
            <p:cNvPr id="3" name="矩形 2"/>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 name="文本框 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848774" y="396441"/>
            <a:ext cx="5028941" cy="400110"/>
          </a:xfrm>
          <a:prstGeom prst="rect">
            <a:avLst/>
          </a:prstGeom>
        </p:spPr>
        <p:txBody>
          <a:bodyPr wrap="none">
            <a:spAutoFit/>
          </a:bodyPr>
          <a:lstStyle/>
          <a:p>
            <a:r>
              <a:rPr lang="en-US" altLang="zh-CN" sz="2000" b="1" dirty="0" smtClean="0">
                <a:solidFill>
                  <a:srgbClr val="002060"/>
                </a:solidFill>
              </a:rPr>
              <a:t>3.12.6 </a:t>
            </a:r>
            <a:r>
              <a:rPr lang="zh-CN" altLang="en-US" sz="2000" b="1" dirty="0" smtClean="0">
                <a:solidFill>
                  <a:srgbClr val="002060"/>
                </a:solidFill>
              </a:rPr>
              <a:t>全向</a:t>
            </a:r>
            <a:r>
              <a:rPr lang="zh-CN" altLang="en-US" sz="2000" b="1" dirty="0">
                <a:solidFill>
                  <a:srgbClr val="002060"/>
                </a:solidFill>
              </a:rPr>
              <a:t>轮式移动机器人运动学分析实例</a:t>
            </a:r>
          </a:p>
        </p:txBody>
      </p:sp>
      <p:sp>
        <p:nvSpPr>
          <p:cNvPr id="17" name="矩形 16">
            <a:hlinkClick r:id="rId2"/>
          </p:cNvPr>
          <p:cNvSpPr/>
          <p:nvPr/>
        </p:nvSpPr>
        <p:spPr>
          <a:xfrm>
            <a:off x="466375" y="865023"/>
            <a:ext cx="7994057" cy="307777"/>
          </a:xfrm>
          <a:prstGeom prst="rect">
            <a:avLst/>
          </a:prstGeom>
        </p:spPr>
        <p:txBody>
          <a:bodyPr wrap="square">
            <a:spAutoFit/>
          </a:bodyPr>
          <a:lstStyle/>
          <a:p>
            <a:r>
              <a:rPr lang="en-US" altLang="zh-CN" sz="1400" dirty="0"/>
              <a:t>https://github.com/mhuasong/Basics-of-Robotics-Theory-and-Technology/tree/main/ch3/mecanum_robot</a:t>
            </a:r>
            <a:endParaRPr lang="zh-CN" altLang="en-US" sz="1400" dirty="0"/>
          </a:p>
        </p:txBody>
      </p:sp>
      <p:pic>
        <p:nvPicPr>
          <p:cNvPr id="27650" name="图片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478" y="1252127"/>
            <a:ext cx="3580408" cy="194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图片 3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6375" y="3280283"/>
            <a:ext cx="1502347" cy="1800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5"/>
          <a:stretch>
            <a:fillRect/>
          </a:stretch>
        </p:blipFill>
        <p:spPr>
          <a:xfrm>
            <a:off x="2699792" y="3284366"/>
            <a:ext cx="5599699" cy="1803123"/>
          </a:xfrm>
          <a:prstGeom prst="rect">
            <a:avLst/>
          </a:prstGeom>
        </p:spPr>
      </p:pic>
      <p:pic>
        <p:nvPicPr>
          <p:cNvPr id="27652" name="图片 3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03960" y="1230070"/>
            <a:ext cx="4156472" cy="193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1518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409726" y="772448"/>
            <a:ext cx="2252540" cy="338554"/>
          </a:xfrm>
          <a:prstGeom prst="rect">
            <a:avLst/>
          </a:prstGeom>
        </p:spPr>
        <p:txBody>
          <a:bodyPr wrap="none">
            <a:spAutoFit/>
          </a:bodyPr>
          <a:lstStyle/>
          <a:p>
            <a:r>
              <a:rPr lang="zh-CN" altLang="en-US" sz="1600" b="1" dirty="0">
                <a:solidFill>
                  <a:srgbClr val="002060"/>
                </a:solidFill>
              </a:rPr>
              <a:t>移动机器人路径与轨迹</a:t>
            </a:r>
          </a:p>
        </p:txBody>
      </p:sp>
      <p:sp>
        <p:nvSpPr>
          <p:cNvPr id="12" name="内容占位符 1"/>
          <p:cNvSpPr txBox="1">
            <a:spLocks/>
          </p:cNvSpPr>
          <p:nvPr/>
        </p:nvSpPr>
        <p:spPr>
          <a:xfrm>
            <a:off x="467544" y="1275606"/>
            <a:ext cx="8136904" cy="3744416"/>
          </a:xfrm>
          <a:prstGeom prst="rect">
            <a:avLst/>
          </a:prstGeom>
        </p:spPr>
        <p:txBody>
          <a:bodyPr>
            <a:normAutofit/>
          </a:bodyPr>
          <a:lst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a:lstStyle>
          <a:p>
            <a:pPr>
              <a:buFont typeface="Wingdings" panose="05000000000000000000" pitchFamily="2" charset="2"/>
              <a:buChar char="Ø"/>
            </a:pPr>
            <a:r>
              <a:rPr lang="zh-CN" altLang="en-US" sz="1600" b="1" dirty="0" smtClean="0">
                <a:solidFill>
                  <a:srgbClr val="002060"/>
                </a:solidFill>
              </a:rPr>
              <a:t>运动规划</a:t>
            </a:r>
            <a:r>
              <a:rPr lang="zh-CN" altLang="en-US" sz="1600" dirty="0">
                <a:solidFill>
                  <a:srgbClr val="002060"/>
                </a:solidFill>
              </a:rPr>
              <a:t>：在移动机器人学中，我们不仅关心机器人到达目标位形的能力，还关心它如何到达，这被归入运动规划方面的研究范畴</a:t>
            </a:r>
            <a:r>
              <a:rPr lang="zh-CN" altLang="en-US" sz="1600" dirty="0" smtClean="0">
                <a:solidFill>
                  <a:srgbClr val="002060"/>
                </a:solidFill>
              </a:rPr>
              <a:t>。</a:t>
            </a:r>
            <a:endParaRPr lang="en-US" altLang="zh-CN" sz="1600" dirty="0" smtClean="0">
              <a:solidFill>
                <a:srgbClr val="002060"/>
              </a:solidFill>
            </a:endParaRPr>
          </a:p>
          <a:p>
            <a:pPr>
              <a:buFont typeface="Wingdings" panose="05000000000000000000" pitchFamily="2" charset="2"/>
              <a:buChar char="Ø"/>
            </a:pPr>
            <a:r>
              <a:rPr lang="zh-CN" altLang="en-US" sz="1600" dirty="0" smtClean="0">
                <a:solidFill>
                  <a:srgbClr val="002060"/>
                </a:solidFill>
              </a:rPr>
              <a:t>运动规划一般分解为</a:t>
            </a:r>
            <a:r>
              <a:rPr lang="zh-CN" altLang="en-US" sz="1600" b="1" dirty="0" smtClean="0">
                <a:solidFill>
                  <a:srgbClr val="002060"/>
                </a:solidFill>
              </a:rPr>
              <a:t>路径规划</a:t>
            </a:r>
            <a:r>
              <a:rPr lang="zh-CN" altLang="en-US" sz="1600" dirty="0" smtClean="0">
                <a:solidFill>
                  <a:srgbClr val="002060"/>
                </a:solidFill>
              </a:rPr>
              <a:t>和</a:t>
            </a:r>
            <a:r>
              <a:rPr lang="zh-CN" altLang="en-US" sz="1600" b="1" dirty="0" smtClean="0">
                <a:solidFill>
                  <a:srgbClr val="002060"/>
                </a:solidFill>
              </a:rPr>
              <a:t>轨迹规划</a:t>
            </a:r>
            <a:r>
              <a:rPr lang="zh-CN" altLang="en-US" sz="1600" dirty="0" smtClean="0">
                <a:solidFill>
                  <a:srgbClr val="002060"/>
                </a:solidFill>
              </a:rPr>
              <a:t>两个问题</a:t>
            </a:r>
          </a:p>
          <a:p>
            <a:pPr lvl="1">
              <a:buFont typeface="Wingdings" panose="05000000000000000000" pitchFamily="2" charset="2"/>
              <a:buChar char="p"/>
            </a:pPr>
            <a:r>
              <a:rPr lang="zh-CN" altLang="zh-CN" sz="1100" dirty="0">
                <a:solidFill>
                  <a:srgbClr val="002060"/>
                </a:solidFill>
              </a:rPr>
              <a:t>路径规划表示为针对机器人以恒定的前向速度从初始位形运动到目标位形的路径求解，不要求在时间上对运动进行约束。路径规划按其策略地图的适应范围，又分为全局路径规划和局部路径</a:t>
            </a:r>
            <a:r>
              <a:rPr lang="zh-CN" altLang="zh-CN" sz="1100" dirty="0" smtClean="0">
                <a:solidFill>
                  <a:srgbClr val="002060"/>
                </a:solidFill>
              </a:rPr>
              <a:t>规划</a:t>
            </a:r>
            <a:endParaRPr lang="en-US" altLang="zh-CN" sz="1100" dirty="0" smtClean="0">
              <a:solidFill>
                <a:srgbClr val="002060"/>
              </a:solidFill>
            </a:endParaRPr>
          </a:p>
          <a:p>
            <a:pPr lvl="1">
              <a:buFont typeface="Wingdings" panose="05000000000000000000" pitchFamily="2" charset="2"/>
              <a:buChar char="p"/>
            </a:pPr>
            <a:r>
              <a:rPr lang="zh-CN" altLang="en-US" sz="1100" dirty="0">
                <a:solidFill>
                  <a:srgbClr val="002060"/>
                </a:solidFill>
              </a:rPr>
              <a:t>得到规划路径后，需要我们根据实际的机器人运动学模型和约束，设计适当的路径跟随控制算法，将可行路径转化为可行轨迹，使机器人能鲁棒地跟随期望</a:t>
            </a:r>
            <a:r>
              <a:rPr lang="zh-CN" altLang="en-US" sz="1100" dirty="0" smtClean="0">
                <a:solidFill>
                  <a:srgbClr val="002060"/>
                </a:solidFill>
              </a:rPr>
              <a:t>路径</a:t>
            </a:r>
            <a:endParaRPr lang="en-US" altLang="zh-CN" sz="1100" dirty="0" smtClean="0">
              <a:solidFill>
                <a:srgbClr val="002060"/>
              </a:solidFill>
            </a:endParaRPr>
          </a:p>
          <a:p>
            <a:pPr lvl="1">
              <a:buFont typeface="Wingdings" panose="05000000000000000000" pitchFamily="2" charset="2"/>
              <a:buChar char="p"/>
            </a:pPr>
            <a:r>
              <a:rPr lang="zh-CN" altLang="en-US" sz="1100" dirty="0">
                <a:solidFill>
                  <a:srgbClr val="002060"/>
                </a:solidFill>
              </a:rPr>
              <a:t>轨迹规划表示为针对机器人以某种前向速度（包括加速度）从初始位形运动到目标位形的路径求解，并且加入了时间</a:t>
            </a:r>
            <a:r>
              <a:rPr lang="zh-CN" altLang="en-US" sz="1100" dirty="0" smtClean="0">
                <a:solidFill>
                  <a:srgbClr val="002060"/>
                </a:solidFill>
              </a:rPr>
              <a:t>约束</a:t>
            </a:r>
            <a:endParaRPr lang="en-US" altLang="zh-CN" sz="1100" dirty="0" smtClean="0">
              <a:solidFill>
                <a:srgbClr val="002060"/>
              </a:solidFill>
            </a:endParaRPr>
          </a:p>
          <a:p>
            <a:pPr lvl="1">
              <a:buFont typeface="Wingdings" panose="05000000000000000000" pitchFamily="2" charset="2"/>
              <a:buChar char="p"/>
            </a:pPr>
            <a:r>
              <a:rPr lang="zh-CN" altLang="en-US" sz="1100" dirty="0">
                <a:solidFill>
                  <a:srgbClr val="002060"/>
                </a:solidFill>
              </a:rPr>
              <a:t>得到规划轨迹后，需要我们根据实际的机器人运动学模型和约束，设计适当的轨迹跟踪控制算法，基于 速度控制、位置控制以及航向角控制等方式，控制机器人实现期望的运动</a:t>
            </a:r>
          </a:p>
          <a:p>
            <a:pPr>
              <a:buFont typeface="Wingdings" panose="05000000000000000000" pitchFamily="2" charset="2"/>
              <a:buChar char="Ø"/>
            </a:pPr>
            <a:r>
              <a:rPr lang="zh-CN" altLang="en-US" sz="1600" dirty="0" smtClean="0">
                <a:solidFill>
                  <a:srgbClr val="002060"/>
                </a:solidFill>
              </a:rPr>
              <a:t>路径不包含时间轴，而轨迹则包含时间轴</a:t>
            </a:r>
          </a:p>
          <a:p>
            <a:pPr>
              <a:buFont typeface="Wingdings" panose="05000000000000000000" pitchFamily="2" charset="2"/>
              <a:buChar char="Ø"/>
            </a:pPr>
            <a:r>
              <a:rPr lang="zh-CN" altLang="en-US" sz="1600" dirty="0" smtClean="0">
                <a:solidFill>
                  <a:srgbClr val="002060"/>
                </a:solidFill>
              </a:rPr>
              <a:t>完整移动机器人可以跟踪期望路径</a:t>
            </a:r>
          </a:p>
          <a:p>
            <a:pPr>
              <a:buFont typeface="Wingdings" panose="05000000000000000000" pitchFamily="2" charset="2"/>
              <a:buChar char="Ø"/>
            </a:pPr>
            <a:r>
              <a:rPr lang="zh-CN" altLang="en-US" sz="1600" dirty="0" smtClean="0">
                <a:solidFill>
                  <a:srgbClr val="002060"/>
                </a:solidFill>
              </a:rPr>
              <a:t>非完整移动机器人，仅有满足瞬间非完整性约束的运动才是可行的</a:t>
            </a:r>
          </a:p>
          <a:p>
            <a:pPr marL="0" indent="0">
              <a:buFont typeface="Arial" panose="020B0604020202020204" pitchFamily="34" charset="0"/>
              <a:buNone/>
            </a:pPr>
            <a:r>
              <a:rPr lang="en-US" altLang="zh-CN" sz="1600" dirty="0" smtClean="0">
                <a:solidFill>
                  <a:srgbClr val="002060"/>
                </a:solidFill>
              </a:rPr>
              <a:t>	–</a:t>
            </a:r>
            <a:r>
              <a:rPr lang="zh-CN" altLang="en-US" sz="1600" dirty="0" smtClean="0">
                <a:solidFill>
                  <a:srgbClr val="002060"/>
                </a:solidFill>
              </a:rPr>
              <a:t>非完整约束（如滑动约束）可大大改善运动的稳定性</a:t>
            </a:r>
            <a:endParaRPr lang="zh-CN" altLang="en-US" sz="1600" dirty="0">
              <a:solidFill>
                <a:srgbClr val="002060"/>
              </a:solidFill>
            </a:endParaRPr>
          </a:p>
        </p:txBody>
      </p:sp>
      <p:sp>
        <p:nvSpPr>
          <p:cNvPr id="2" name="矩形 1"/>
          <p:cNvSpPr/>
          <p:nvPr/>
        </p:nvSpPr>
        <p:spPr>
          <a:xfrm>
            <a:off x="3895058" y="370514"/>
            <a:ext cx="1417384" cy="369332"/>
          </a:xfrm>
          <a:prstGeom prst="rect">
            <a:avLst/>
          </a:prstGeom>
        </p:spPr>
        <p:txBody>
          <a:bodyPr wrap="square">
            <a:spAutoFit/>
          </a:bodyPr>
          <a:lstStyle/>
          <a:p>
            <a:pPr algn="ctr"/>
            <a:r>
              <a:rPr lang="zh-CN" altLang="en-US" b="1" dirty="0">
                <a:solidFill>
                  <a:schemeClr val="tx2"/>
                </a:solidFill>
              </a:rPr>
              <a:t>扩展</a:t>
            </a:r>
            <a:r>
              <a:rPr lang="zh-CN" altLang="en-US" b="1" dirty="0" smtClean="0">
                <a:solidFill>
                  <a:schemeClr val="tx2"/>
                </a:solidFill>
              </a:rPr>
              <a:t>讨论</a:t>
            </a:r>
            <a:endParaRPr lang="zh-CN" altLang="en-US" b="1" dirty="0">
              <a:solidFill>
                <a:schemeClr val="tx2"/>
              </a:solidFill>
            </a:endParaRPr>
          </a:p>
        </p:txBody>
      </p:sp>
      <p:sp>
        <p:nvSpPr>
          <p:cNvPr id="10" name="矩形 9"/>
          <p:cNvSpPr/>
          <p:nvPr/>
        </p:nvSpPr>
        <p:spPr>
          <a:xfrm>
            <a:off x="6588224" y="4587974"/>
            <a:ext cx="1539332" cy="338554"/>
          </a:xfrm>
          <a:prstGeom prst="rect">
            <a:avLst/>
          </a:prstGeom>
        </p:spPr>
        <p:txBody>
          <a:bodyPr wrap="none">
            <a:spAutoFit/>
          </a:bodyPr>
          <a:lstStyle/>
          <a:p>
            <a:r>
              <a:rPr lang="en-US" altLang="zh-CN" sz="1600" i="1" dirty="0">
                <a:solidFill>
                  <a:srgbClr val="FF0000"/>
                </a:solidFill>
              </a:rPr>
              <a:t> see in </a:t>
            </a:r>
            <a:r>
              <a:rPr lang="en-US" altLang="zh-CN" sz="1600" i="1" dirty="0" smtClean="0">
                <a:solidFill>
                  <a:srgbClr val="FF0000"/>
                </a:solidFill>
              </a:rPr>
              <a:t>chapter 5</a:t>
            </a:r>
            <a:endParaRPr lang="zh-CN" altLang="en-US" sz="1600" i="1" dirty="0">
              <a:solidFill>
                <a:srgbClr val="FF0000"/>
              </a:solidFill>
            </a:endParaRPr>
          </a:p>
        </p:txBody>
      </p:sp>
    </p:spTree>
    <p:extLst>
      <p:ext uri="{BB962C8B-B14F-4D97-AF65-F5344CB8AC3E}">
        <p14:creationId xmlns:p14="http://schemas.microsoft.com/office/powerpoint/2010/main" val="9585783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a:off x="467544" y="1131590"/>
            <a:ext cx="813690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409726" y="772448"/>
            <a:ext cx="1011815" cy="338554"/>
          </a:xfrm>
          <a:prstGeom prst="rect">
            <a:avLst/>
          </a:prstGeom>
        </p:spPr>
        <p:txBody>
          <a:bodyPr wrap="none">
            <a:spAutoFit/>
          </a:bodyPr>
          <a:lstStyle/>
          <a:p>
            <a:r>
              <a:rPr lang="zh-CN" altLang="en-US" sz="1600" b="1" dirty="0" smtClean="0">
                <a:solidFill>
                  <a:srgbClr val="002060"/>
                </a:solidFill>
              </a:rPr>
              <a:t>运动控制</a:t>
            </a:r>
            <a:endParaRPr lang="zh-CN" altLang="en-US" sz="1600" b="1" dirty="0">
              <a:solidFill>
                <a:srgbClr val="002060"/>
              </a:solidFill>
            </a:endParaRPr>
          </a:p>
        </p:txBody>
      </p:sp>
      <p:sp>
        <p:nvSpPr>
          <p:cNvPr id="9" name="TextBox 4"/>
          <p:cNvSpPr txBox="1"/>
          <p:nvPr/>
        </p:nvSpPr>
        <p:spPr>
          <a:xfrm>
            <a:off x="4290060" y="764394"/>
            <a:ext cx="1556323" cy="338554"/>
          </a:xfrm>
          <a:prstGeom prst="rect">
            <a:avLst/>
          </a:prstGeom>
          <a:noFill/>
        </p:spPr>
        <p:txBody>
          <a:bodyPr wrap="none" rtlCol="0">
            <a:spAutoFit/>
          </a:bodyPr>
          <a:lstStyle/>
          <a:p>
            <a:r>
              <a:rPr lang="en-US" altLang="zh-CN" sz="1600" b="1" dirty="0" smtClean="0">
                <a:solidFill>
                  <a:srgbClr val="FF0000"/>
                </a:solidFill>
                <a:latin typeface="Times New Roman" panose="02020603050405020304" pitchFamily="18" charset="0"/>
                <a:cs typeface="Times New Roman" panose="02020603050405020304" pitchFamily="18" charset="0"/>
              </a:rPr>
              <a:t>Motion Control</a:t>
            </a:r>
            <a:endParaRPr lang="zh-CN" altLang="en-US" sz="1600" b="1" dirty="0">
              <a:solidFill>
                <a:srgbClr val="FF0000"/>
              </a:solidFill>
              <a:latin typeface="Times New Roman" panose="02020603050405020304" pitchFamily="18" charset="0"/>
              <a:cs typeface="Times New Roman" panose="02020603050405020304" pitchFamily="18" charset="0"/>
            </a:endParaRPr>
          </a:p>
        </p:txBody>
      </p:sp>
      <p:sp>
        <p:nvSpPr>
          <p:cNvPr id="10" name="矩形 9"/>
          <p:cNvSpPr/>
          <p:nvPr/>
        </p:nvSpPr>
        <p:spPr>
          <a:xfrm>
            <a:off x="2579052" y="3415517"/>
            <a:ext cx="4588395" cy="584775"/>
          </a:xfrm>
          <a:prstGeom prst="rect">
            <a:avLst/>
          </a:prstGeom>
        </p:spPr>
        <p:txBody>
          <a:bodyPr wrap="square">
            <a:spAutoFit/>
          </a:bodyPr>
          <a:lstStyle/>
          <a:p>
            <a:r>
              <a:rPr lang="en-US" altLang="zh-CN" sz="1600" dirty="0" smtClean="0"/>
              <a:t>Open-Looped Control,  Closed-Looped Control</a:t>
            </a:r>
            <a:endParaRPr lang="zh-CN" altLang="en-US" sz="1600" dirty="0"/>
          </a:p>
          <a:p>
            <a:r>
              <a:rPr lang="en-US" altLang="zh-CN" sz="1600" dirty="0" smtClean="0"/>
              <a:t>Position Control, </a:t>
            </a:r>
            <a:r>
              <a:rPr lang="en-US" altLang="zh-CN" sz="1600" dirty="0"/>
              <a:t>Path following, </a:t>
            </a:r>
            <a:r>
              <a:rPr lang="en-US" altLang="zh-CN" sz="1600" dirty="0" smtClean="0"/>
              <a:t>Trajectory </a:t>
            </a:r>
            <a:r>
              <a:rPr lang="en-US" altLang="zh-CN" sz="1600" dirty="0"/>
              <a:t>tracking</a:t>
            </a:r>
            <a:endParaRPr lang="zh-CN" altLang="en-US" sz="1600" dirty="0"/>
          </a:p>
        </p:txBody>
      </p:sp>
      <p:sp>
        <p:nvSpPr>
          <p:cNvPr id="11" name="矩形 10"/>
          <p:cNvSpPr/>
          <p:nvPr/>
        </p:nvSpPr>
        <p:spPr>
          <a:xfrm>
            <a:off x="5462168" y="4227934"/>
            <a:ext cx="1539332" cy="338554"/>
          </a:xfrm>
          <a:prstGeom prst="rect">
            <a:avLst/>
          </a:prstGeom>
        </p:spPr>
        <p:txBody>
          <a:bodyPr wrap="none">
            <a:spAutoFit/>
          </a:bodyPr>
          <a:lstStyle/>
          <a:p>
            <a:r>
              <a:rPr lang="en-US" altLang="zh-CN" sz="1600" i="1" dirty="0">
                <a:solidFill>
                  <a:srgbClr val="FF0000"/>
                </a:solidFill>
              </a:rPr>
              <a:t> see in </a:t>
            </a:r>
            <a:r>
              <a:rPr lang="en-US" altLang="zh-CN" sz="1600" i="1" dirty="0" smtClean="0">
                <a:solidFill>
                  <a:srgbClr val="FF0000"/>
                </a:solidFill>
              </a:rPr>
              <a:t>chapter 6</a:t>
            </a:r>
            <a:endParaRPr lang="zh-CN" altLang="en-US" sz="1600" i="1" dirty="0">
              <a:solidFill>
                <a:srgbClr val="FF0000"/>
              </a:solidFill>
            </a:endParaRPr>
          </a:p>
        </p:txBody>
      </p:sp>
      <p:sp>
        <p:nvSpPr>
          <p:cNvPr id="2" name="矩形 1"/>
          <p:cNvSpPr/>
          <p:nvPr/>
        </p:nvSpPr>
        <p:spPr>
          <a:xfrm>
            <a:off x="1655315" y="1435016"/>
            <a:ext cx="5532452" cy="338554"/>
          </a:xfrm>
          <a:prstGeom prst="rect">
            <a:avLst/>
          </a:prstGeom>
        </p:spPr>
        <p:txBody>
          <a:bodyPr wrap="square">
            <a:spAutoFit/>
          </a:bodyPr>
          <a:lstStyle/>
          <a:p>
            <a:r>
              <a:rPr lang="zh-CN" altLang="zh-CN" sz="1600" dirty="0">
                <a:solidFill>
                  <a:srgbClr val="002060"/>
                </a:solidFill>
              </a:rPr>
              <a:t>三个基本的运动控制问题，即</a:t>
            </a:r>
            <a:r>
              <a:rPr lang="zh-CN" altLang="zh-CN" sz="1600" dirty="0">
                <a:solidFill>
                  <a:srgbClr val="FF0000"/>
                </a:solidFill>
              </a:rPr>
              <a:t>点镇定、路径跟随、轨迹跟踪</a:t>
            </a:r>
            <a:endParaRPr lang="zh-CN" altLang="en-US" sz="1600" dirty="0">
              <a:solidFill>
                <a:srgbClr val="FF0000"/>
              </a:solidFill>
            </a:endParaRPr>
          </a:p>
        </p:txBody>
      </p:sp>
      <p:pic>
        <p:nvPicPr>
          <p:cNvPr id="13" name="图片 12"/>
          <p:cNvPicPr/>
          <p:nvPr/>
        </p:nvPicPr>
        <p:blipFill>
          <a:blip r:embed="rId3">
            <a:extLst>
              <a:ext uri="{28A0092B-C50C-407E-A947-70E740481C1C}">
                <a14:useLocalDpi xmlns:a14="http://schemas.microsoft.com/office/drawing/2010/main" val="0"/>
              </a:ext>
            </a:extLst>
          </a:blip>
          <a:srcRect/>
          <a:stretch>
            <a:fillRect/>
          </a:stretch>
        </p:blipFill>
        <p:spPr>
          <a:xfrm>
            <a:off x="2257143" y="1851295"/>
            <a:ext cx="5086350" cy="1466850"/>
          </a:xfrm>
          <a:prstGeom prst="rect">
            <a:avLst/>
          </a:prstGeom>
          <a:noFill/>
          <a:ln>
            <a:noFill/>
          </a:ln>
        </p:spPr>
      </p:pic>
      <p:sp>
        <p:nvSpPr>
          <p:cNvPr id="15" name="矩形 14"/>
          <p:cNvSpPr/>
          <p:nvPr/>
        </p:nvSpPr>
        <p:spPr>
          <a:xfrm>
            <a:off x="3895058" y="370514"/>
            <a:ext cx="1417384" cy="369332"/>
          </a:xfrm>
          <a:prstGeom prst="rect">
            <a:avLst/>
          </a:prstGeom>
        </p:spPr>
        <p:txBody>
          <a:bodyPr wrap="square">
            <a:spAutoFit/>
          </a:bodyPr>
          <a:lstStyle/>
          <a:p>
            <a:pPr algn="ctr"/>
            <a:r>
              <a:rPr lang="zh-CN" altLang="en-US" b="1" dirty="0">
                <a:solidFill>
                  <a:schemeClr val="tx2"/>
                </a:solidFill>
              </a:rPr>
              <a:t>扩展</a:t>
            </a:r>
            <a:r>
              <a:rPr lang="zh-CN" altLang="en-US" b="1" dirty="0" smtClean="0">
                <a:solidFill>
                  <a:schemeClr val="tx2"/>
                </a:solidFill>
              </a:rPr>
              <a:t>讨论</a:t>
            </a:r>
            <a:endParaRPr lang="zh-CN" altLang="en-US" b="1" dirty="0">
              <a:solidFill>
                <a:schemeClr val="tx2"/>
              </a:solidFill>
            </a:endParaRPr>
          </a:p>
        </p:txBody>
      </p:sp>
    </p:spTree>
    <p:extLst>
      <p:ext uri="{BB962C8B-B14F-4D97-AF65-F5344CB8AC3E}">
        <p14:creationId xmlns:p14="http://schemas.microsoft.com/office/powerpoint/2010/main" val="12452118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flipV="1">
            <a:off x="179512" y="1111003"/>
            <a:ext cx="8752211" cy="28134"/>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106688" y="771175"/>
            <a:ext cx="3621504" cy="338554"/>
          </a:xfrm>
          <a:prstGeom prst="rect">
            <a:avLst/>
          </a:prstGeom>
        </p:spPr>
        <p:txBody>
          <a:bodyPr wrap="none">
            <a:spAutoFit/>
          </a:bodyPr>
          <a:lstStyle/>
          <a:p>
            <a:r>
              <a:rPr lang="zh-CN" altLang="en-US" sz="1600" b="1" dirty="0">
                <a:solidFill>
                  <a:srgbClr val="002060"/>
                </a:solidFill>
              </a:rPr>
              <a:t>轮式移动机器人运动学实例</a:t>
            </a:r>
            <a:r>
              <a:rPr lang="zh-CN" altLang="en-US" sz="1600" b="1" dirty="0" smtClean="0">
                <a:solidFill>
                  <a:srgbClr val="002060"/>
                </a:solidFill>
              </a:rPr>
              <a:t>分析</a:t>
            </a:r>
            <a:r>
              <a:rPr lang="en-US" altLang="zh-CN" sz="1600" b="1" dirty="0" smtClean="0">
                <a:solidFill>
                  <a:srgbClr val="002060"/>
                </a:solidFill>
              </a:rPr>
              <a:t>(</a:t>
            </a:r>
            <a:r>
              <a:rPr lang="zh-CN" altLang="en-US" sz="1600" b="1" dirty="0" smtClean="0">
                <a:solidFill>
                  <a:srgbClr val="002060"/>
                </a:solidFill>
              </a:rPr>
              <a:t>仿真</a:t>
            </a:r>
            <a:r>
              <a:rPr lang="en-US" altLang="zh-CN" sz="1600" b="1" dirty="0" smtClean="0">
                <a:solidFill>
                  <a:srgbClr val="002060"/>
                </a:solidFill>
              </a:rPr>
              <a:t>)</a:t>
            </a:r>
            <a:endParaRPr lang="zh-CN" altLang="en-US" sz="1600" b="1" dirty="0">
              <a:solidFill>
                <a:srgbClr val="002060"/>
              </a:solidFill>
            </a:endParaRPr>
          </a:p>
        </p:txBody>
      </p:sp>
      <p:pic>
        <p:nvPicPr>
          <p:cNvPr id="30" name="图片 29"/>
          <p:cNvPicPr/>
          <p:nvPr/>
        </p:nvPicPr>
        <p:blipFill>
          <a:blip r:embed="rId3"/>
          <a:stretch>
            <a:fillRect/>
          </a:stretch>
        </p:blipFill>
        <p:spPr>
          <a:xfrm>
            <a:off x="176501" y="1185747"/>
            <a:ext cx="2494240" cy="1820099"/>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832525" y="2931790"/>
                <a:ext cx="1139479" cy="4681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200">
                          <a:latin typeface="Cambria Math" panose="02040503050406030204" pitchFamily="18" charset="0"/>
                        </a:rPr>
                        <m:t>ρ</m:t>
                      </m:r>
                      <m:r>
                        <a:rPr lang="zh-CN" altLang="en-US" sz="1200" i="0">
                          <a:latin typeface="Cambria Math" panose="02040503050406030204" pitchFamily="18" charset="0"/>
                        </a:rPr>
                        <m:t>=</m:t>
                      </m:r>
                      <m:rad>
                        <m:radPr>
                          <m:degHide m:val="on"/>
                          <m:ctrlPr>
                            <a:rPr lang="zh-CN" altLang="en-US" sz="1200" i="1">
                              <a:latin typeface="Cambria Math" panose="02040503050406030204" pitchFamily="18" charset="0"/>
                            </a:rPr>
                          </m:ctrlPr>
                        </m:radPr>
                        <m:deg/>
                        <m:e>
                          <m:sSubSup>
                            <m:sSubSupPr>
                              <m:ctrlPr>
                                <a:rPr lang="zh-CN" altLang="en-US" sz="1200" i="1">
                                  <a:latin typeface="Cambria Math" panose="02040503050406030204" pitchFamily="18" charset="0"/>
                                </a:rPr>
                              </m:ctrlPr>
                            </m:sSubSupPr>
                            <m:e>
                              <m:r>
                                <a:rPr lang="zh-CN" altLang="en-US" sz="1200" i="0">
                                  <a:latin typeface="Cambria Math" panose="02040503050406030204" pitchFamily="18" charset="0"/>
                                </a:rPr>
                                <m:t>∆</m:t>
                              </m:r>
                            </m:e>
                            <m:sub>
                              <m:r>
                                <a:rPr lang="zh-CN" altLang="en-US" sz="1200" i="1">
                                  <a:latin typeface="Cambria Math" panose="02040503050406030204" pitchFamily="18" charset="0"/>
                                </a:rPr>
                                <m:t>𝑥</m:t>
                              </m:r>
                            </m:sub>
                            <m:sup>
                              <m:r>
                                <a:rPr lang="zh-CN" altLang="en-US" sz="1200" i="0">
                                  <a:latin typeface="Cambria Math" panose="02040503050406030204" pitchFamily="18" charset="0"/>
                                </a:rPr>
                                <m:t>2</m:t>
                              </m:r>
                            </m:sup>
                          </m:sSubSup>
                          <m:r>
                            <a:rPr lang="zh-CN" altLang="en-US" sz="1200" i="0">
                              <a:latin typeface="Cambria Math" panose="02040503050406030204" pitchFamily="18" charset="0"/>
                            </a:rPr>
                            <m:t>+</m:t>
                          </m:r>
                          <m:sSubSup>
                            <m:sSubSupPr>
                              <m:ctrlPr>
                                <a:rPr lang="zh-CN" altLang="en-US" sz="1200" i="1">
                                  <a:latin typeface="Cambria Math" panose="02040503050406030204" pitchFamily="18" charset="0"/>
                                </a:rPr>
                              </m:ctrlPr>
                            </m:sSubSupPr>
                            <m:e>
                              <m:r>
                                <a:rPr lang="zh-CN" altLang="en-US" sz="1200" i="0">
                                  <a:latin typeface="Cambria Math" panose="02040503050406030204" pitchFamily="18" charset="0"/>
                                </a:rPr>
                                <m:t>∆</m:t>
                              </m:r>
                            </m:e>
                            <m:sub>
                              <m:r>
                                <a:rPr lang="zh-CN" altLang="en-US" sz="1200" i="1">
                                  <a:latin typeface="Cambria Math" panose="02040503050406030204" pitchFamily="18" charset="0"/>
                                </a:rPr>
                                <m:t>𝑦</m:t>
                              </m:r>
                            </m:sub>
                            <m:sup>
                              <m:r>
                                <a:rPr lang="zh-CN" altLang="en-US" sz="1200" i="0">
                                  <a:latin typeface="Cambria Math" panose="02040503050406030204" pitchFamily="18" charset="0"/>
                                </a:rPr>
                                <m:t>2</m:t>
                              </m:r>
                            </m:sup>
                          </m:sSubSup>
                        </m:e>
                      </m:rad>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832525" y="2931790"/>
                <a:ext cx="1139479" cy="46814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832525" y="3259918"/>
                <a:ext cx="1577162" cy="5110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200">
                          <a:latin typeface="Cambria Math" panose="02040503050406030204" pitchFamily="18" charset="0"/>
                        </a:rPr>
                        <m:t>α</m:t>
                      </m:r>
                      <m:r>
                        <a:rPr lang="zh-CN" altLang="en-US" sz="1200" i="0">
                          <a:latin typeface="Cambria Math" panose="02040503050406030204" pitchFamily="18" charset="0"/>
                        </a:rPr>
                        <m:t>=</m:t>
                      </m:r>
                      <m:r>
                        <m:rPr>
                          <m:sty m:val="p"/>
                        </m:rPr>
                        <a:rPr lang="zh-CN" altLang="en-US" sz="1200" i="0">
                          <a:latin typeface="Cambria Math" panose="02040503050406030204" pitchFamily="18" charset="0"/>
                        </a:rPr>
                        <m:t>arctan</m:t>
                      </m:r>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e>
                                <m:sub>
                                  <m:r>
                                    <a:rPr lang="zh-CN" altLang="en-US" sz="1200" i="1">
                                      <a:latin typeface="Cambria Math" panose="02040503050406030204" pitchFamily="18" charset="0"/>
                                    </a:rPr>
                                    <m:t>𝑥</m:t>
                                  </m:r>
                                </m:sub>
                              </m:sSub>
                            </m:num>
                            <m:den>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e>
                                <m:sub>
                                  <m:r>
                                    <a:rPr lang="zh-CN" altLang="en-US" sz="1200" i="1">
                                      <a:latin typeface="Cambria Math" panose="02040503050406030204" pitchFamily="18" charset="0"/>
                                    </a:rPr>
                                    <m:t>𝑦</m:t>
                                  </m:r>
                                </m:sub>
                              </m:sSub>
                            </m:den>
                          </m:f>
                        </m:e>
                      </m:d>
                      <m:r>
                        <a:rPr lang="zh-CN" altLang="en-US" sz="1200" i="0">
                          <a:latin typeface="Cambria Math" panose="02040503050406030204" pitchFamily="18" charset="0"/>
                        </a:rPr>
                        <m:t>−</m:t>
                      </m:r>
                      <m:r>
                        <a:rPr lang="zh-CN" altLang="en-US" sz="1200" i="1">
                          <a:latin typeface="Cambria Math" panose="02040503050406030204" pitchFamily="18" charset="0"/>
                        </a:rPr>
                        <m:t>𝜃</m:t>
                      </m:r>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832525" y="3259918"/>
                <a:ext cx="1577162" cy="51103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832525" y="3651870"/>
                <a:ext cx="97815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200">
                          <a:latin typeface="Cambria Math" panose="02040503050406030204" pitchFamily="18" charset="0"/>
                        </a:rPr>
                        <m:t>β</m:t>
                      </m:r>
                      <m:r>
                        <a:rPr lang="zh-CN" altLang="en-US" sz="1200" i="0">
                          <a:latin typeface="Cambria Math" panose="02040503050406030204" pitchFamily="18" charset="0"/>
                        </a:rPr>
                        <m:t>=−</m:t>
                      </m:r>
                      <m:r>
                        <m:rPr>
                          <m:sty m:val="p"/>
                        </m:rPr>
                        <a:rPr lang="zh-CN" altLang="en-US" sz="1200" i="0">
                          <a:latin typeface="Cambria Math" panose="02040503050406030204" pitchFamily="18" charset="0"/>
                        </a:rPr>
                        <m:t>θ</m:t>
                      </m:r>
                      <m:r>
                        <a:rPr lang="zh-CN" altLang="en-US" sz="1200" i="0">
                          <a:latin typeface="Cambria Math" panose="02040503050406030204" pitchFamily="18" charset="0"/>
                        </a:rPr>
                        <m:t>−</m:t>
                      </m:r>
                      <m:r>
                        <m:rPr>
                          <m:sty m:val="p"/>
                        </m:rPr>
                        <a:rPr lang="zh-CN" altLang="en-US" sz="1200" i="0">
                          <a:latin typeface="Cambria Math" panose="02040503050406030204" pitchFamily="18" charset="0"/>
                        </a:rPr>
                        <m:t>α</m:t>
                      </m:r>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832525" y="3651870"/>
                <a:ext cx="978152" cy="276999"/>
              </a:xfrm>
              <a:prstGeom prst="rect">
                <a:avLst/>
              </a:prstGeom>
              <a:blipFill>
                <a:blip r:embed="rId6"/>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76501" y="3950404"/>
                <a:ext cx="2776208" cy="10243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𝜌</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𝛼</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𝛽</m:t>
                                    </m:r>
                                  </m:e>
                                </m:acc>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r>
                                  <a:rPr lang="zh-CN" altLang="en-US" sz="1200" i="1">
                                    <a:latin typeface="Cambria Math" panose="02040503050406030204" pitchFamily="18" charset="0"/>
                                  </a:rPr>
                                  <m:t>𝑐𝑜𝑠</m:t>
                                </m:r>
                                <m:r>
                                  <a:rPr lang="zh-CN" altLang="en-US" sz="1200" i="1">
                                    <a:latin typeface="Cambria Math" panose="02040503050406030204" pitchFamily="18" charset="0"/>
                                  </a:rPr>
                                  <m:t>𝛼</m:t>
                                </m:r>
                              </m:e>
                              <m:e>
                                <m:r>
                                  <a:rPr lang="zh-CN" altLang="en-US" sz="1200" i="0">
                                    <a:latin typeface="Cambria Math" panose="02040503050406030204" pitchFamily="18" charset="0"/>
                                  </a:rPr>
                                  <m:t>0</m:t>
                                </m:r>
                              </m:e>
                            </m:mr>
                            <m:mr>
                              <m:e>
                                <m:m>
                                  <m:mPr>
                                    <m:mcs>
                                      <m:mc>
                                        <m:mcPr>
                                          <m:count m:val="1"/>
                                          <m:mcJc m:val="center"/>
                                        </m:mcPr>
                                      </m:mc>
                                    </m:mcs>
                                    <m:ctrlPr>
                                      <a:rPr lang="zh-CN" altLang="en-US" sz="1200" i="1">
                                        <a:latin typeface="Cambria Math" panose="02040503050406030204" pitchFamily="18" charset="0"/>
                                      </a:rPr>
                                    </m:ctrlPr>
                                  </m:mPr>
                                  <m:m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𝑠𝑖𝑛</m:t>
                                          </m:r>
                                          <m:r>
                                            <a:rPr lang="zh-CN" altLang="en-US" sz="1200" i="1">
                                              <a:latin typeface="Cambria Math" panose="02040503050406030204" pitchFamily="18" charset="0"/>
                                            </a:rPr>
                                            <m:t>𝛼</m:t>
                                          </m:r>
                                        </m:num>
                                        <m:den>
                                          <m:r>
                                            <a:rPr lang="zh-CN" altLang="en-US" sz="1200" i="1">
                                              <a:latin typeface="Cambria Math" panose="02040503050406030204" pitchFamily="18" charset="0"/>
                                            </a:rPr>
                                            <m:t>𝜌</m:t>
                                          </m:r>
                                        </m:den>
                                      </m:f>
                                    </m:e>
                                  </m:mr>
                                  <m:mr>
                                    <m:e>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𝑠𝑖𝑛</m:t>
                                          </m:r>
                                          <m:r>
                                            <a:rPr lang="zh-CN" altLang="en-US" sz="1200" i="1">
                                              <a:latin typeface="Cambria Math" panose="02040503050406030204" pitchFamily="18" charset="0"/>
                                            </a:rPr>
                                            <m:t>𝛼</m:t>
                                          </m:r>
                                        </m:num>
                                        <m:den>
                                          <m:r>
                                            <a:rPr lang="zh-CN" altLang="en-US" sz="1200" i="1">
                                              <a:latin typeface="Cambria Math" panose="02040503050406030204" pitchFamily="18" charset="0"/>
                                            </a:rPr>
                                            <m:t>𝜌</m:t>
                                          </m:r>
                                        </m:den>
                                      </m:f>
                                    </m:e>
                                  </m:mr>
                                </m:m>
                              </m:e>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mr>
                                  <m:mr>
                                    <m:e>
                                      <m:r>
                                        <a:rPr lang="zh-CN" altLang="en-US" sz="1200" i="0">
                                          <a:latin typeface="Cambria Math" panose="02040503050406030204" pitchFamily="18" charset="0"/>
                                        </a:rPr>
                                        <m:t>0</m:t>
                                      </m:r>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𝑣</m:t>
                                </m:r>
                              </m:e>
                            </m:mr>
                            <m:mr>
                              <m:e>
                                <m:r>
                                  <a:rPr lang="zh-CN" altLang="en-US" sz="1200" i="1">
                                    <a:latin typeface="Cambria Math" panose="02040503050406030204" pitchFamily="18" charset="0"/>
                                  </a:rPr>
                                  <m:t>𝜔</m:t>
                                </m:r>
                              </m:e>
                            </m:mr>
                          </m:m>
                        </m:e>
                      </m:d>
                      <m:r>
                        <a:rPr lang="zh-CN" altLang="en-US" sz="1200" i="0">
                          <a:latin typeface="Cambria Math" panose="02040503050406030204" pitchFamily="18" charset="0"/>
                        </a:rPr>
                        <m:t>   </m:t>
                      </m:r>
                      <m:r>
                        <a:rPr lang="zh-CN" altLang="en-US" sz="1200" i="1">
                          <a:latin typeface="Cambria Math" panose="02040503050406030204" pitchFamily="18" charset="0"/>
                        </a:rPr>
                        <m:t>𝛼</m:t>
                      </m:r>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𝜋</m:t>
                              </m:r>
                            </m:num>
                            <m:den>
                              <m:r>
                                <a:rPr lang="zh-CN" altLang="en-US" sz="1200" i="0">
                                  <a:latin typeface="Cambria Math" panose="02040503050406030204" pitchFamily="18" charset="0"/>
                                </a:rPr>
                                <m:t>2</m:t>
                              </m:r>
                            </m:den>
                          </m:f>
                          <m:r>
                            <a:rPr lang="zh-CN" altLang="en-US" sz="1200" i="0">
                              <a:latin typeface="Cambria Math" panose="02040503050406030204" pitchFamily="18" charset="0"/>
                            </a:rPr>
                            <m:t>, </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𝜋</m:t>
                              </m:r>
                            </m:num>
                            <m:den>
                              <m:r>
                                <a:rPr lang="zh-CN" altLang="en-US" sz="1200" i="0">
                                  <a:latin typeface="Cambria Math" panose="02040503050406030204" pitchFamily="18" charset="0"/>
                                </a:rPr>
                                <m:t>2</m:t>
                              </m:r>
                            </m:den>
                          </m:f>
                        </m:e>
                      </m:d>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176501" y="3950404"/>
                <a:ext cx="2776208" cy="1024383"/>
              </a:xfrm>
              <a:prstGeom prst="rect">
                <a:avLst/>
              </a:prstGeom>
              <a:blipFill>
                <a:blip r:embed="rId7"/>
                <a:stretch>
                  <a:fillRect/>
                </a:stretch>
              </a:blipFill>
            </p:spPr>
            <p:txBody>
              <a:bodyPr/>
              <a:lstStyle/>
              <a:p>
                <a:r>
                  <a:rPr lang="zh-CN" altLang="en-US">
                    <a:noFill/>
                  </a:rPr>
                  <a:t> </a:t>
                </a:r>
              </a:p>
            </p:txBody>
          </p:sp>
        </mc:Fallback>
      </mc:AlternateContent>
      <p:sp>
        <p:nvSpPr>
          <p:cNvPr id="13" name="矩形 12"/>
          <p:cNvSpPr/>
          <p:nvPr/>
        </p:nvSpPr>
        <p:spPr>
          <a:xfrm>
            <a:off x="2915816" y="1287619"/>
            <a:ext cx="3309983" cy="246221"/>
          </a:xfrm>
          <a:prstGeom prst="rect">
            <a:avLst/>
          </a:prstGeom>
        </p:spPr>
        <p:txBody>
          <a:bodyPr wrap="square">
            <a:spAutoFit/>
          </a:bodyPr>
          <a:lstStyle/>
          <a:p>
            <a:r>
              <a:rPr lang="zh-CN" altLang="zh-CN" sz="1000" kern="100" dirty="0">
                <a:solidFill>
                  <a:srgbClr val="002060"/>
                </a:solidFill>
                <a:cs typeface="Times New Roman" panose="02020603050405020304" pitchFamily="18" charset="0"/>
              </a:rPr>
              <a:t>为了达到点镇定，我们可以设计一个简单的</a:t>
            </a:r>
            <a:r>
              <a:rPr lang="zh-CN" altLang="zh-CN" sz="1000" kern="100" dirty="0">
                <a:solidFill>
                  <a:srgbClr val="FF0000"/>
                </a:solidFill>
                <a:cs typeface="Times New Roman" panose="02020603050405020304" pitchFamily="18" charset="0"/>
              </a:rPr>
              <a:t>线性控制律</a:t>
            </a:r>
            <a:r>
              <a:rPr lang="zh-CN" altLang="zh-CN" sz="1000" kern="100" dirty="0">
                <a:solidFill>
                  <a:srgbClr val="002060"/>
                </a:solidFill>
                <a:cs typeface="Times New Roman" panose="02020603050405020304" pitchFamily="18" charset="0"/>
              </a:rPr>
              <a:t>：</a:t>
            </a:r>
            <a:endParaRPr lang="zh-CN" altLang="en-US" sz="1000" dirty="0">
              <a:solidFill>
                <a:srgbClr val="002060"/>
              </a:solidFill>
            </a:endParaRPr>
          </a:p>
        </p:txBody>
      </p:sp>
      <mc:AlternateContent xmlns:mc="http://schemas.openxmlformats.org/markup-compatibility/2006" xmlns:a14="http://schemas.microsoft.com/office/drawing/2010/main">
        <mc:Choice Requires="a14">
          <p:sp>
            <p:nvSpPr>
              <p:cNvPr id="31" name="矩形 30"/>
              <p:cNvSpPr/>
              <p:nvPr/>
            </p:nvSpPr>
            <p:spPr>
              <a:xfrm>
                <a:off x="3581348" y="1564618"/>
                <a:ext cx="755976" cy="2935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𝑣</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𝑘</m:t>
                          </m:r>
                        </m:e>
                        <m:sub>
                          <m:r>
                            <a:rPr lang="zh-CN" altLang="en-US" sz="1200" i="1">
                              <a:latin typeface="Cambria Math" panose="02040503050406030204" pitchFamily="18" charset="0"/>
                            </a:rPr>
                            <m:t>𝜌</m:t>
                          </m:r>
                        </m:sub>
                      </m:sSub>
                      <m:r>
                        <a:rPr lang="zh-CN" altLang="en-US" sz="1200" i="1">
                          <a:latin typeface="Cambria Math" panose="02040503050406030204" pitchFamily="18" charset="0"/>
                        </a:rPr>
                        <m:t>𝜌</m:t>
                      </m:r>
                    </m:oMath>
                  </m:oMathPara>
                </a14:m>
                <a:endParaRPr lang="zh-CN" altLang="en-US" sz="1200" dirty="0"/>
              </a:p>
            </p:txBody>
          </p:sp>
        </mc:Choice>
        <mc:Fallback xmlns="">
          <p:sp>
            <p:nvSpPr>
              <p:cNvPr id="31" name="矩形 30"/>
              <p:cNvSpPr>
                <a:spLocks noRot="1" noChangeAspect="1" noMove="1" noResize="1" noEditPoints="1" noAdjustHandles="1" noChangeArrowheads="1" noChangeShapeType="1" noTextEdit="1"/>
              </p:cNvSpPr>
              <p:nvPr/>
            </p:nvSpPr>
            <p:spPr>
              <a:xfrm>
                <a:off x="3581348" y="1564618"/>
                <a:ext cx="755976" cy="29354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4566371" y="1573907"/>
                <a:ext cx="1249701" cy="293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𝜔</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𝑘</m:t>
                          </m:r>
                        </m:e>
                        <m:sub>
                          <m:r>
                            <a:rPr lang="zh-CN" altLang="en-US" sz="1200" i="1">
                              <a:latin typeface="Cambria Math" panose="02040503050406030204" pitchFamily="18" charset="0"/>
                            </a:rPr>
                            <m:t>𝛼</m:t>
                          </m:r>
                        </m:sub>
                      </m:sSub>
                      <m:r>
                        <a:rPr lang="zh-CN" altLang="en-US" sz="1200" i="1">
                          <a:latin typeface="Cambria Math" panose="02040503050406030204" pitchFamily="18" charset="0"/>
                        </a:rPr>
                        <m:t>𝛼</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𝑘</m:t>
                          </m:r>
                        </m:e>
                        <m:sub>
                          <m:r>
                            <a:rPr lang="zh-CN" altLang="en-US" sz="1200" i="1">
                              <a:latin typeface="Cambria Math" panose="02040503050406030204" pitchFamily="18" charset="0"/>
                            </a:rPr>
                            <m:t>𝛽</m:t>
                          </m:r>
                        </m:sub>
                      </m:sSub>
                      <m:r>
                        <a:rPr lang="zh-CN" altLang="en-US" sz="1200" i="1">
                          <a:latin typeface="Cambria Math" panose="02040503050406030204" pitchFamily="18" charset="0"/>
                        </a:rPr>
                        <m:t>𝛽</m:t>
                      </m:r>
                    </m:oMath>
                  </m:oMathPara>
                </a14:m>
                <a:endParaRPr lang="zh-CN" altLang="en-US" sz="1200" dirty="0"/>
              </a:p>
            </p:txBody>
          </p:sp>
        </mc:Choice>
        <mc:Fallback xmlns="">
          <p:sp>
            <p:nvSpPr>
              <p:cNvPr id="32" name="矩形 31"/>
              <p:cNvSpPr>
                <a:spLocks noRot="1" noChangeAspect="1" noMove="1" noResize="1" noEditPoints="1" noAdjustHandles="1" noChangeArrowheads="1" noChangeShapeType="1" noTextEdit="1"/>
              </p:cNvSpPr>
              <p:nvPr/>
            </p:nvSpPr>
            <p:spPr>
              <a:xfrm>
                <a:off x="4566371" y="1573907"/>
                <a:ext cx="1249701" cy="293478"/>
              </a:xfrm>
              <a:prstGeom prst="rect">
                <a:avLst/>
              </a:prstGeom>
              <a:blipFill>
                <a:blip r:embed="rId9"/>
                <a:stretch>
                  <a:fillRect b="-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3915360" y="2066182"/>
                <a:ext cx="2160528" cy="690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𝜌</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𝛼</m:t>
                                    </m:r>
                                  </m:e>
                                </m:acc>
                              </m:e>
                            </m:mr>
                            <m:m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𝛽</m:t>
                                    </m:r>
                                  </m:e>
                                </m:acc>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𝜌</m:t>
                                    </m:r>
                                  </m:sub>
                                </m:sSub>
                                <m:r>
                                  <a:rPr lang="zh-CN" altLang="en-US" sz="1200" i="1">
                                    <a:latin typeface="Cambria Math" panose="02040503050406030204" pitchFamily="18" charset="0"/>
                                  </a:rPr>
                                  <m:t>𝑐𝑜𝑠</m:t>
                                </m:r>
                                <m:r>
                                  <a:rPr lang="zh-CN" altLang="en-US" sz="1200" i="1">
                                    <a:latin typeface="Cambria Math" panose="02040503050406030204" pitchFamily="18" charset="0"/>
                                  </a:rPr>
                                  <m:t>𝛼</m:t>
                                </m:r>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𝜌</m:t>
                                    </m:r>
                                  </m:sub>
                                </m:sSub>
                                <m:r>
                                  <a:rPr lang="zh-CN" altLang="en-US" sz="1200" i="1">
                                    <a:latin typeface="Cambria Math" panose="02040503050406030204" pitchFamily="18" charset="0"/>
                                  </a:rPr>
                                  <m:t>𝑠𝑖𝑛</m:t>
                                </m:r>
                                <m:r>
                                  <a:rPr lang="zh-CN" altLang="en-US" sz="1200" i="1">
                                    <a:latin typeface="Cambria Math" panose="02040503050406030204" pitchFamily="18" charset="0"/>
                                  </a:rPr>
                                  <m:t>𝛼</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𝛼</m:t>
                                    </m:r>
                                  </m:sub>
                                </m:sSub>
                                <m:r>
                                  <a:rPr lang="zh-CN" altLang="en-US" sz="1200" i="1">
                                    <a:latin typeface="Cambria Math" panose="02040503050406030204" pitchFamily="18" charset="0"/>
                                  </a:rPr>
                                  <m:t>𝛼</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𝛽</m:t>
                                    </m:r>
                                  </m:sub>
                                </m:sSub>
                                <m:r>
                                  <a:rPr lang="zh-CN" altLang="en-US" sz="1200" i="1">
                                    <a:latin typeface="Cambria Math" panose="02040503050406030204" pitchFamily="18" charset="0"/>
                                  </a:rPr>
                                  <m:t>𝛽</m:t>
                                </m:r>
                              </m:e>
                            </m:mr>
                            <m:m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𝜌</m:t>
                                    </m:r>
                                  </m:sub>
                                </m:sSub>
                                <m:r>
                                  <a:rPr lang="zh-CN" altLang="en-US" sz="1200" i="1">
                                    <a:latin typeface="Cambria Math" panose="02040503050406030204" pitchFamily="18" charset="0"/>
                                  </a:rPr>
                                  <m:t>𝑠𝑖𝑛</m:t>
                                </m:r>
                                <m:r>
                                  <a:rPr lang="zh-CN" altLang="en-US" sz="1200" i="1">
                                    <a:latin typeface="Cambria Math" panose="02040503050406030204" pitchFamily="18" charset="0"/>
                                  </a:rPr>
                                  <m:t>𝛼</m:t>
                                </m:r>
                              </m:e>
                            </m:mr>
                          </m:m>
                        </m:e>
                      </m:d>
                    </m:oMath>
                  </m:oMathPara>
                </a14:m>
                <a:endParaRPr lang="zh-CN" altLang="en-US" sz="1200" dirty="0"/>
              </a:p>
            </p:txBody>
          </p:sp>
        </mc:Choice>
        <mc:Fallback xmlns="">
          <p:sp>
            <p:nvSpPr>
              <p:cNvPr id="33" name="矩形 32"/>
              <p:cNvSpPr>
                <a:spLocks noRot="1" noChangeAspect="1" noMove="1" noResize="1" noEditPoints="1" noAdjustHandles="1" noChangeArrowheads="1" noChangeShapeType="1" noTextEdit="1"/>
              </p:cNvSpPr>
              <p:nvPr/>
            </p:nvSpPr>
            <p:spPr>
              <a:xfrm>
                <a:off x="3915360" y="2066182"/>
                <a:ext cx="2160528" cy="69070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2915816" y="1849576"/>
                <a:ext cx="2900256" cy="246221"/>
              </a:xfrm>
              <a:prstGeom prst="rect">
                <a:avLst/>
              </a:prstGeom>
            </p:spPr>
            <p:txBody>
              <a:bodyPr wrap="square">
                <a:spAutoFit/>
              </a:bodyPr>
              <a:lstStyle/>
              <a:p>
                <a:r>
                  <a:rPr lang="zh-CN" altLang="zh-CN" sz="1000" kern="100" dirty="0">
                    <a:cs typeface="Times New Roman" panose="02020603050405020304" pitchFamily="18" charset="0"/>
                  </a:rPr>
                  <a:t>控制机器人在位姿</a:t>
                </a:r>
                <a14:m>
                  <m:oMath xmlns:m="http://schemas.openxmlformats.org/officeDocument/2006/math">
                    <m:d>
                      <m:dPr>
                        <m:ctrlPr>
                          <a:rPr lang="zh-CN" altLang="zh-CN" sz="1000" i="1">
                            <a:latin typeface="Cambria Math" panose="02040503050406030204" pitchFamily="18" charset="0"/>
                            <a:ea typeface="Cambria Math" panose="02040503050406030204" pitchFamily="18" charset="0"/>
                          </a:rPr>
                        </m:ctrlPr>
                      </m:dPr>
                      <m:e>
                        <m:r>
                          <m:rPr>
                            <m:sty m:val="p"/>
                          </m:rPr>
                          <a:rPr lang="en-US" altLang="zh-CN" sz="1000" kern="100">
                            <a:latin typeface="Cambria Math" panose="02040503050406030204" pitchFamily="18" charset="0"/>
                            <a:cs typeface="Times New Roman" panose="02020603050405020304" pitchFamily="18" charset="0"/>
                          </a:rPr>
                          <m:t>ρ</m:t>
                        </m:r>
                        <m:r>
                          <a:rPr lang="en-US" altLang="zh-CN" sz="1000" kern="100">
                            <a:latin typeface="Cambria Math" panose="02040503050406030204" pitchFamily="18" charset="0"/>
                            <a:cs typeface="Times New Roman" panose="02020603050405020304" pitchFamily="18" charset="0"/>
                          </a:rPr>
                          <m:t>,</m:t>
                        </m:r>
                        <m:r>
                          <m:rPr>
                            <m:sty m:val="p"/>
                          </m:rPr>
                          <a:rPr lang="en-US" altLang="zh-CN" sz="1000" kern="100">
                            <a:latin typeface="Cambria Math" panose="02040503050406030204" pitchFamily="18" charset="0"/>
                            <a:cs typeface="Times New Roman" panose="02020603050405020304" pitchFamily="18" charset="0"/>
                          </a:rPr>
                          <m:t>α</m:t>
                        </m:r>
                        <m:r>
                          <a:rPr lang="en-US" altLang="zh-CN" sz="1000" kern="100">
                            <a:latin typeface="Cambria Math" panose="02040503050406030204" pitchFamily="18" charset="0"/>
                            <a:cs typeface="Times New Roman" panose="02020603050405020304" pitchFamily="18" charset="0"/>
                          </a:rPr>
                          <m:t>,</m:t>
                        </m:r>
                        <m:r>
                          <m:rPr>
                            <m:sty m:val="p"/>
                          </m:rPr>
                          <a:rPr lang="en-US" altLang="zh-CN" sz="1000" kern="100">
                            <a:latin typeface="Cambria Math" panose="02040503050406030204" pitchFamily="18" charset="0"/>
                            <a:cs typeface="Times New Roman" panose="02020603050405020304" pitchFamily="18" charset="0"/>
                          </a:rPr>
                          <m:t>β</m:t>
                        </m:r>
                      </m:e>
                    </m:d>
                    <m:r>
                      <a:rPr lang="en-US" altLang="zh-CN" sz="1000" kern="100">
                        <a:latin typeface="Cambria Math" panose="02040503050406030204" pitchFamily="18" charset="0"/>
                        <a:cs typeface="Times New Roman" panose="02020603050405020304" pitchFamily="18" charset="0"/>
                      </a:rPr>
                      <m:t>=(0,0,0)</m:t>
                    </m:r>
                  </m:oMath>
                </a14:m>
                <a:r>
                  <a:rPr lang="zh-CN" altLang="zh-CN" sz="1000" kern="100" dirty="0">
                    <a:cs typeface="Times New Roman" panose="02020603050405020304" pitchFamily="18" charset="0"/>
                  </a:rPr>
                  <a:t>时达到稳定</a:t>
                </a:r>
                <a:endParaRPr lang="zh-CN" altLang="en-US" sz="1000" dirty="0"/>
              </a:p>
            </p:txBody>
          </p:sp>
        </mc:Choice>
        <mc:Fallback xmlns="">
          <p:sp>
            <p:nvSpPr>
              <p:cNvPr id="34" name="矩形 33"/>
              <p:cNvSpPr>
                <a:spLocks noRot="1" noChangeAspect="1" noMove="1" noResize="1" noEditPoints="1" noAdjustHandles="1" noChangeArrowheads="1" noChangeShapeType="1" noTextEdit="1"/>
              </p:cNvSpPr>
              <p:nvPr/>
            </p:nvSpPr>
            <p:spPr>
              <a:xfrm>
                <a:off x="2915816" y="1849576"/>
                <a:ext cx="2900256" cy="246221"/>
              </a:xfrm>
              <a:prstGeom prst="rect">
                <a:avLst/>
              </a:prstGeom>
              <a:blipFill>
                <a:blip r:embed="rId11"/>
                <a:stretch>
                  <a:fillRect b="-9756"/>
                </a:stretch>
              </a:blipFill>
            </p:spPr>
            <p:txBody>
              <a:bodyPr/>
              <a:lstStyle/>
              <a:p>
                <a:r>
                  <a:rPr lang="zh-CN" altLang="en-US">
                    <a:noFill/>
                  </a:rPr>
                  <a:t> </a:t>
                </a:r>
              </a:p>
            </p:txBody>
          </p:sp>
        </mc:Fallback>
      </mc:AlternateContent>
      <p:sp>
        <p:nvSpPr>
          <p:cNvPr id="35" name="矩形 34"/>
          <p:cNvSpPr/>
          <p:nvPr/>
        </p:nvSpPr>
        <p:spPr>
          <a:xfrm>
            <a:off x="2921552" y="2213468"/>
            <a:ext cx="1146392" cy="246221"/>
          </a:xfrm>
          <a:prstGeom prst="rect">
            <a:avLst/>
          </a:prstGeom>
        </p:spPr>
        <p:txBody>
          <a:bodyPr wrap="square">
            <a:spAutoFit/>
          </a:bodyPr>
          <a:lstStyle/>
          <a:p>
            <a:r>
              <a:rPr lang="zh-CN" altLang="zh-CN" sz="1000" kern="100" dirty="0">
                <a:cs typeface="Times New Roman" panose="02020603050405020304" pitchFamily="18" charset="0"/>
              </a:rPr>
              <a:t>闭环控制方程为：</a:t>
            </a:r>
            <a:endParaRPr lang="zh-CN" altLang="en-US" sz="1000" dirty="0"/>
          </a:p>
        </p:txBody>
      </p:sp>
      <mc:AlternateContent xmlns:mc="http://schemas.openxmlformats.org/markup-compatibility/2006" xmlns:a14="http://schemas.microsoft.com/office/drawing/2010/main">
        <mc:Choice Requires="a14">
          <p:sp>
            <p:nvSpPr>
              <p:cNvPr id="36" name="矩形 35"/>
              <p:cNvSpPr/>
              <p:nvPr/>
            </p:nvSpPr>
            <p:spPr>
              <a:xfrm>
                <a:off x="3959336" y="2785019"/>
                <a:ext cx="2069156" cy="2935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𝜌</m:t>
                          </m:r>
                        </m:sub>
                      </m:sSub>
                      <m:r>
                        <a:rPr lang="zh-CN" altLang="en-US" sz="1200" i="0">
                          <a:latin typeface="Cambria Math" panose="02040503050406030204" pitchFamily="18" charset="0"/>
                        </a:rPr>
                        <m:t>&gt;0,</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𝛽</m:t>
                          </m:r>
                        </m:sub>
                      </m:sSub>
                      <m:r>
                        <a:rPr lang="zh-CN" altLang="en-US" sz="1200" i="0">
                          <a:latin typeface="Cambria Math" panose="02040503050406030204" pitchFamily="18" charset="0"/>
                        </a:rPr>
                        <m:t>&lt;0,</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𝛼</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𝐾</m:t>
                          </m:r>
                        </m:e>
                        <m:sub>
                          <m:r>
                            <a:rPr lang="zh-CN" altLang="en-US" sz="1200" i="1">
                              <a:latin typeface="Cambria Math" panose="02040503050406030204" pitchFamily="18" charset="0"/>
                            </a:rPr>
                            <m:t>𝜌</m:t>
                          </m:r>
                        </m:sub>
                      </m:sSub>
                      <m:r>
                        <a:rPr lang="zh-CN" altLang="en-US" sz="1200" i="0">
                          <a:latin typeface="Cambria Math" panose="02040503050406030204" pitchFamily="18" charset="0"/>
                        </a:rPr>
                        <m:t>&gt;0</m:t>
                      </m:r>
                    </m:oMath>
                  </m:oMathPara>
                </a14:m>
                <a:endParaRPr lang="zh-CN" altLang="en-US" sz="1200" dirty="0"/>
              </a:p>
            </p:txBody>
          </p:sp>
        </mc:Choice>
        <mc:Fallback xmlns="">
          <p:sp>
            <p:nvSpPr>
              <p:cNvPr id="36" name="矩形 35"/>
              <p:cNvSpPr>
                <a:spLocks noRot="1" noChangeAspect="1" noMove="1" noResize="1" noEditPoints="1" noAdjustHandles="1" noChangeArrowheads="1" noChangeShapeType="1" noTextEdit="1"/>
              </p:cNvSpPr>
              <p:nvPr/>
            </p:nvSpPr>
            <p:spPr>
              <a:xfrm>
                <a:off x="3959336" y="2785019"/>
                <a:ext cx="2069156" cy="293542"/>
              </a:xfrm>
              <a:prstGeom prst="rect">
                <a:avLst/>
              </a:prstGeom>
              <a:blipFill>
                <a:blip r:embed="rId12"/>
                <a:stretch>
                  <a:fillRect b="-2083"/>
                </a:stretch>
              </a:blipFill>
            </p:spPr>
            <p:txBody>
              <a:bodyPr/>
              <a:lstStyle/>
              <a:p>
                <a:r>
                  <a:rPr lang="zh-CN" altLang="en-US">
                    <a:noFill/>
                  </a:rPr>
                  <a:t> </a:t>
                </a:r>
              </a:p>
            </p:txBody>
          </p:sp>
        </mc:Fallback>
      </mc:AlternateContent>
      <p:pic>
        <p:nvPicPr>
          <p:cNvPr id="37" name="图片 36"/>
          <p:cNvPicPr>
            <a:picLocks noChangeAspect="1"/>
          </p:cNvPicPr>
          <p:nvPr/>
        </p:nvPicPr>
        <p:blipFill>
          <a:blip r:embed="rId13"/>
          <a:stretch>
            <a:fillRect/>
          </a:stretch>
        </p:blipFill>
        <p:spPr>
          <a:xfrm>
            <a:off x="3658226" y="3279952"/>
            <a:ext cx="5273497" cy="1694835"/>
          </a:xfrm>
          <a:prstGeom prst="rect">
            <a:avLst/>
          </a:prstGeom>
        </p:spPr>
      </p:pic>
      <p:pic>
        <p:nvPicPr>
          <p:cNvPr id="39" name="图片 38"/>
          <p:cNvPicPr/>
          <p:nvPr/>
        </p:nvPicPr>
        <p:blipFill>
          <a:blip r:embed="rId14"/>
          <a:stretch>
            <a:fillRect/>
          </a:stretch>
        </p:blipFill>
        <p:spPr>
          <a:xfrm>
            <a:off x="6158538" y="1187362"/>
            <a:ext cx="2773185" cy="2072002"/>
          </a:xfrm>
          <a:prstGeom prst="rect">
            <a:avLst/>
          </a:prstGeom>
        </p:spPr>
      </p:pic>
      <p:sp>
        <p:nvSpPr>
          <p:cNvPr id="6" name="矩形 5"/>
          <p:cNvSpPr/>
          <p:nvPr/>
        </p:nvSpPr>
        <p:spPr>
          <a:xfrm>
            <a:off x="4290060" y="95116"/>
            <a:ext cx="4572000" cy="553998"/>
          </a:xfrm>
          <a:prstGeom prst="rect">
            <a:avLst/>
          </a:prstGeom>
        </p:spPr>
        <p:txBody>
          <a:bodyPr>
            <a:spAutoFit/>
          </a:bodyPr>
          <a:lstStyle/>
          <a:p>
            <a:r>
              <a:rPr lang="zh-CN" altLang="en-US" sz="1000" dirty="0">
                <a:solidFill>
                  <a:srgbClr val="002060"/>
                </a:solidFill>
              </a:rPr>
              <a:t>所谓点镇定，也称为位姿镇定、姿态跟踪或设定点调节，简称镇定控制。也就是说我们需要为非完整移动机器人设计一个输入控制策略即控制律</a:t>
            </a:r>
            <a:r>
              <a:rPr lang="en-US" altLang="zh-CN" sz="1000" dirty="0">
                <a:solidFill>
                  <a:srgbClr val="002060"/>
                </a:solidFill>
              </a:rPr>
              <a:t>(control law)</a:t>
            </a:r>
            <a:r>
              <a:rPr lang="zh-CN" altLang="en-US" sz="1000" dirty="0">
                <a:solidFill>
                  <a:srgbClr val="002060"/>
                </a:solidFill>
              </a:rPr>
              <a:t>，使机器人能够到达任意给定的点，并在目标点保持稳定。</a:t>
            </a:r>
          </a:p>
        </p:txBody>
      </p:sp>
      <p:sp>
        <p:nvSpPr>
          <p:cNvPr id="23" name="矩形 22"/>
          <p:cNvSpPr/>
          <p:nvPr/>
        </p:nvSpPr>
        <p:spPr>
          <a:xfrm>
            <a:off x="6876256" y="4804946"/>
            <a:ext cx="1539332" cy="338554"/>
          </a:xfrm>
          <a:prstGeom prst="rect">
            <a:avLst/>
          </a:prstGeom>
        </p:spPr>
        <p:txBody>
          <a:bodyPr wrap="none">
            <a:spAutoFit/>
          </a:bodyPr>
          <a:lstStyle/>
          <a:p>
            <a:r>
              <a:rPr lang="en-US" altLang="zh-CN" sz="1600" i="1" dirty="0">
                <a:solidFill>
                  <a:srgbClr val="FF0000"/>
                </a:solidFill>
              </a:rPr>
              <a:t> see in </a:t>
            </a:r>
            <a:r>
              <a:rPr lang="en-US" altLang="zh-CN" sz="1600" i="1" dirty="0" smtClean="0">
                <a:solidFill>
                  <a:srgbClr val="FF0000"/>
                </a:solidFill>
              </a:rPr>
              <a:t>chapter 6</a:t>
            </a:r>
            <a:endParaRPr lang="zh-CN" altLang="en-US" sz="1600" i="1" dirty="0">
              <a:solidFill>
                <a:srgbClr val="FF0000"/>
              </a:solidFill>
            </a:endParaRPr>
          </a:p>
        </p:txBody>
      </p:sp>
      <p:sp>
        <p:nvSpPr>
          <p:cNvPr id="24" name="矩形 23"/>
          <p:cNvSpPr/>
          <p:nvPr/>
        </p:nvSpPr>
        <p:spPr>
          <a:xfrm>
            <a:off x="2952709" y="422522"/>
            <a:ext cx="1417384" cy="369332"/>
          </a:xfrm>
          <a:prstGeom prst="rect">
            <a:avLst/>
          </a:prstGeom>
        </p:spPr>
        <p:txBody>
          <a:bodyPr wrap="square">
            <a:spAutoFit/>
          </a:bodyPr>
          <a:lstStyle/>
          <a:p>
            <a:pPr algn="ctr"/>
            <a:r>
              <a:rPr lang="zh-CN" altLang="en-US" b="1" dirty="0">
                <a:solidFill>
                  <a:schemeClr val="tx2"/>
                </a:solidFill>
              </a:rPr>
              <a:t>扩展</a:t>
            </a:r>
            <a:r>
              <a:rPr lang="zh-CN" altLang="en-US" b="1" dirty="0" smtClean="0">
                <a:solidFill>
                  <a:schemeClr val="tx2"/>
                </a:solidFill>
              </a:rPr>
              <a:t>讨论</a:t>
            </a:r>
            <a:endParaRPr lang="zh-CN" altLang="en-US" b="1" dirty="0">
              <a:solidFill>
                <a:schemeClr val="tx2"/>
              </a:solidFill>
            </a:endParaRPr>
          </a:p>
        </p:txBody>
      </p:sp>
    </p:spTree>
    <p:extLst>
      <p:ext uri="{BB962C8B-B14F-4D97-AF65-F5344CB8AC3E}">
        <p14:creationId xmlns:p14="http://schemas.microsoft.com/office/powerpoint/2010/main" val="199919596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600075"/>
            <a:chOff x="-372" y="345"/>
            <a:chExt cx="8116" cy="945"/>
          </a:xfrm>
        </p:grpSpPr>
        <p:sp>
          <p:nvSpPr>
            <p:cNvPr id="4" name="矩形 3"/>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Mobile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移动机器人运动学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flipV="1">
            <a:off x="179512" y="1111003"/>
            <a:ext cx="8752211" cy="28134"/>
          </a:xfrm>
          <a:prstGeom prst="line">
            <a:avLst/>
          </a:prstGeom>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846925" y="670358"/>
            <a:ext cx="1417384" cy="369332"/>
          </a:xfrm>
          <a:prstGeom prst="rect">
            <a:avLst/>
          </a:prstGeom>
        </p:spPr>
        <p:txBody>
          <a:bodyPr wrap="square">
            <a:spAutoFit/>
          </a:bodyPr>
          <a:lstStyle/>
          <a:p>
            <a:pPr algn="ctr"/>
            <a:r>
              <a:rPr lang="zh-CN" altLang="en-US" b="1" dirty="0">
                <a:solidFill>
                  <a:schemeClr val="tx2"/>
                </a:solidFill>
              </a:rPr>
              <a:t>扩展</a:t>
            </a:r>
            <a:r>
              <a:rPr lang="zh-CN" altLang="en-US" b="1" dirty="0" smtClean="0">
                <a:solidFill>
                  <a:schemeClr val="tx2"/>
                </a:solidFill>
              </a:rPr>
              <a:t>讨论</a:t>
            </a:r>
            <a:endParaRPr lang="zh-CN" altLang="en-US" b="1" dirty="0">
              <a:solidFill>
                <a:schemeClr val="tx2"/>
              </a:solidFill>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227017107"/>
              </p:ext>
            </p:extLst>
          </p:nvPr>
        </p:nvGraphicFramePr>
        <p:xfrm>
          <a:off x="675565" y="1364997"/>
          <a:ext cx="3581400" cy="3019425"/>
        </p:xfrm>
        <a:graphic>
          <a:graphicData uri="http://schemas.openxmlformats.org/presentationml/2006/ole">
            <mc:AlternateContent xmlns:mc="http://schemas.openxmlformats.org/markup-compatibility/2006">
              <mc:Choice xmlns:v="urn:schemas-microsoft-com:vml" Requires="v">
                <p:oleObj spid="_x0000_s5130" name="Visio" r:id="rId4" imgW="8016098" imgH="6758877" progId="Visio.Drawing.15">
                  <p:embed/>
                </p:oleObj>
              </mc:Choice>
              <mc:Fallback>
                <p:oleObj name="Visio" r:id="rId4" imgW="8016098" imgH="6758877"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565" y="1364997"/>
                        <a:ext cx="3581400" cy="301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1917215" y="4425616"/>
            <a:ext cx="736933" cy="369332"/>
          </a:xfrm>
          <a:prstGeom prst="rect">
            <a:avLst/>
          </a:prstGeom>
        </p:spPr>
        <p:txBody>
          <a:bodyPr wrap="none">
            <a:spAutoFit/>
          </a:bodyPr>
          <a:lstStyle/>
          <a:p>
            <a:r>
              <a:rPr lang="en-US" altLang="zh-CN" dirty="0" err="1"/>
              <a:t>IKFast</a:t>
            </a:r>
            <a:endParaRPr lang="zh-CN" altLang="en-US" dirty="0"/>
          </a:p>
        </p:txBody>
      </p:sp>
      <p:sp>
        <p:nvSpPr>
          <p:cNvPr id="16" name="矩形 15"/>
          <p:cNvSpPr/>
          <p:nvPr/>
        </p:nvSpPr>
        <p:spPr>
          <a:xfrm>
            <a:off x="4555617" y="1995686"/>
            <a:ext cx="3768083" cy="369332"/>
          </a:xfrm>
          <a:prstGeom prst="rect">
            <a:avLst/>
          </a:prstGeom>
        </p:spPr>
        <p:txBody>
          <a:bodyPr wrap="none">
            <a:spAutoFit/>
          </a:bodyPr>
          <a:lstStyle/>
          <a:p>
            <a:r>
              <a:rPr lang="en-US" altLang="zh-CN" dirty="0"/>
              <a:t>KDL(Kinematics and Dynamics Library)</a:t>
            </a:r>
            <a:endParaRPr lang="zh-CN" altLang="en-US" dirty="0"/>
          </a:p>
        </p:txBody>
      </p:sp>
      <p:sp>
        <p:nvSpPr>
          <p:cNvPr id="17" name="矩形 16"/>
          <p:cNvSpPr/>
          <p:nvPr/>
        </p:nvSpPr>
        <p:spPr>
          <a:xfrm>
            <a:off x="4555617" y="2505377"/>
            <a:ext cx="814838" cy="369332"/>
          </a:xfrm>
          <a:prstGeom prst="rect">
            <a:avLst/>
          </a:prstGeom>
        </p:spPr>
        <p:txBody>
          <a:bodyPr wrap="none">
            <a:spAutoFit/>
          </a:bodyPr>
          <a:lstStyle/>
          <a:p>
            <a:r>
              <a:rPr lang="en-US" altLang="zh-CN" dirty="0" err="1"/>
              <a:t>Trac</a:t>
            </a:r>
            <a:r>
              <a:rPr lang="en-US" altLang="zh-CN" dirty="0"/>
              <a:t>-IK</a:t>
            </a:r>
            <a:endParaRPr lang="zh-CN" altLang="en-US" dirty="0"/>
          </a:p>
        </p:txBody>
      </p:sp>
      <p:sp>
        <p:nvSpPr>
          <p:cNvPr id="18" name="矩形 17"/>
          <p:cNvSpPr/>
          <p:nvPr/>
        </p:nvSpPr>
        <p:spPr>
          <a:xfrm>
            <a:off x="4788024" y="2876568"/>
            <a:ext cx="3960440" cy="276999"/>
          </a:xfrm>
          <a:prstGeom prst="rect">
            <a:avLst/>
          </a:prstGeom>
        </p:spPr>
        <p:txBody>
          <a:bodyPr wrap="square">
            <a:spAutoFit/>
          </a:bodyPr>
          <a:lstStyle/>
          <a:p>
            <a:r>
              <a:rPr lang="en-US" altLang="zh-CN" sz="1200" dirty="0"/>
              <a:t>SQP</a:t>
            </a:r>
            <a:r>
              <a:rPr lang="zh-CN" altLang="zh-CN" sz="1200" dirty="0"/>
              <a:t>（顺序二次规划：</a:t>
            </a:r>
            <a:r>
              <a:rPr lang="en-US" altLang="zh-CN" sz="1200" dirty="0"/>
              <a:t>Sequential Quadratic Programming</a:t>
            </a:r>
            <a:r>
              <a:rPr lang="zh-CN" altLang="zh-CN" sz="1200" dirty="0"/>
              <a:t>）</a:t>
            </a:r>
            <a:endParaRPr lang="zh-CN" altLang="en-US" sz="1200" dirty="0"/>
          </a:p>
        </p:txBody>
      </p:sp>
      <p:sp>
        <p:nvSpPr>
          <p:cNvPr id="19" name="矩形 18"/>
          <p:cNvSpPr/>
          <p:nvPr/>
        </p:nvSpPr>
        <p:spPr>
          <a:xfrm>
            <a:off x="4594895" y="3295785"/>
            <a:ext cx="1338828" cy="369332"/>
          </a:xfrm>
          <a:prstGeom prst="rect">
            <a:avLst/>
          </a:prstGeom>
        </p:spPr>
        <p:txBody>
          <a:bodyPr wrap="none">
            <a:spAutoFit/>
          </a:bodyPr>
          <a:lstStyle/>
          <a:p>
            <a:r>
              <a:rPr lang="zh-CN" altLang="zh-CN" dirty="0"/>
              <a:t>复合机器人</a:t>
            </a:r>
            <a:endParaRPr lang="zh-CN" altLang="en-US" dirty="0"/>
          </a:p>
        </p:txBody>
      </p:sp>
      <mc:AlternateContent xmlns:mc="http://schemas.openxmlformats.org/markup-compatibility/2006" xmlns:a14="http://schemas.microsoft.com/office/drawing/2010/main">
        <mc:Choice Requires="a14">
          <p:sp>
            <p:nvSpPr>
              <p:cNvPr id="20" name="矩形 19"/>
              <p:cNvSpPr/>
              <p:nvPr/>
            </p:nvSpPr>
            <p:spPr>
              <a:xfrm>
                <a:off x="4762285" y="3665117"/>
                <a:ext cx="3539687" cy="470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𝑉</m:t>
                          </m:r>
                        </m:e>
                        <m:sub>
                          <m:r>
                            <a:rPr lang="zh-CN" altLang="en-US" sz="1600" i="1">
                              <a:latin typeface="Cambria Math" panose="02040503050406030204" pitchFamily="18" charset="0"/>
                            </a:rPr>
                            <m:t>𝑒</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𝑒</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𝑢</m:t>
                                </m:r>
                              </m:e>
                            </m:m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mr>
                          </m:m>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𝑏𝑎𝑠𝑒</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𝑎𝑟𝑚</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d>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𝑢</m:t>
                                </m:r>
                              </m:e>
                            </m:m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mr>
                          </m:m>
                        </m:e>
                      </m:d>
                    </m:oMath>
                  </m:oMathPara>
                </a14:m>
                <a:endParaRPr lang="zh-CN" altLang="en-US" sz="1600" dirty="0"/>
              </a:p>
            </p:txBody>
          </p:sp>
        </mc:Choice>
        <mc:Fallback xmlns="">
          <p:sp>
            <p:nvSpPr>
              <p:cNvPr id="20" name="矩形 19"/>
              <p:cNvSpPr>
                <a:spLocks noRot="1" noChangeAspect="1" noMove="1" noResize="1" noEditPoints="1" noAdjustHandles="1" noChangeArrowheads="1" noChangeShapeType="1" noTextEdit="1"/>
              </p:cNvSpPr>
              <p:nvPr/>
            </p:nvSpPr>
            <p:spPr>
              <a:xfrm>
                <a:off x="4762285" y="3665117"/>
                <a:ext cx="3539687" cy="470578"/>
              </a:xfrm>
              <a:prstGeom prst="rect">
                <a:avLst/>
              </a:prstGeom>
              <a:blipFill>
                <a:blip r:embed="rId6"/>
                <a:stretch>
                  <a:fillRect b="-6494"/>
                </a:stretch>
              </a:blipFill>
            </p:spPr>
            <p:txBody>
              <a:bodyPr/>
              <a:lstStyle/>
              <a:p>
                <a:r>
                  <a:rPr lang="zh-CN" altLang="en-US">
                    <a:noFill/>
                  </a:rPr>
                  <a:t> </a:t>
                </a:r>
              </a:p>
            </p:txBody>
          </p:sp>
        </mc:Fallback>
      </mc:AlternateContent>
      <p:sp>
        <p:nvSpPr>
          <p:cNvPr id="21" name="矩形 20"/>
          <p:cNvSpPr/>
          <p:nvPr/>
        </p:nvSpPr>
        <p:spPr>
          <a:xfrm>
            <a:off x="4609427" y="4277913"/>
            <a:ext cx="2160656" cy="369332"/>
          </a:xfrm>
          <a:prstGeom prst="rect">
            <a:avLst/>
          </a:prstGeom>
        </p:spPr>
        <p:txBody>
          <a:bodyPr wrap="none">
            <a:spAutoFit/>
          </a:bodyPr>
          <a:lstStyle/>
          <a:p>
            <a:r>
              <a:rPr lang="zh-CN" altLang="en-US" dirty="0"/>
              <a:t>Mobile Manipulation</a:t>
            </a:r>
          </a:p>
        </p:txBody>
      </p:sp>
    </p:spTree>
    <p:extLst>
      <p:ext uri="{BB962C8B-B14F-4D97-AF65-F5344CB8AC3E}">
        <p14:creationId xmlns:p14="http://schemas.microsoft.com/office/powerpoint/2010/main" val="117424192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185621"/>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Kinematics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 name="文本框 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 name="直接连接符 7"/>
          <p:cNvCxnSpPr/>
          <p:nvPr/>
        </p:nvCxnSpPr>
        <p:spPr>
          <a:xfrm flipV="1">
            <a:off x="179512" y="1111003"/>
            <a:ext cx="8752211" cy="28134"/>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707904" y="737798"/>
            <a:ext cx="1425390" cy="338554"/>
          </a:xfrm>
          <a:prstGeom prst="rect">
            <a:avLst/>
          </a:prstGeom>
        </p:spPr>
        <p:txBody>
          <a:bodyPr wrap="none">
            <a:spAutoFit/>
          </a:bodyPr>
          <a:lstStyle/>
          <a:p>
            <a:r>
              <a:rPr lang="zh-CN" altLang="en-US" sz="1600" b="1" dirty="0" smtClean="0">
                <a:solidFill>
                  <a:srgbClr val="002060"/>
                </a:solidFill>
              </a:rPr>
              <a:t>机器人运动学</a:t>
            </a:r>
            <a:endParaRPr lang="zh-CN" altLang="en-US" sz="1600" b="1" dirty="0">
              <a:solidFill>
                <a:srgbClr val="002060"/>
              </a:solidFill>
            </a:endParaRPr>
          </a:p>
        </p:txBody>
      </p:sp>
      <p:sp>
        <p:nvSpPr>
          <p:cNvPr id="12" name="矩形 11"/>
          <p:cNvSpPr/>
          <p:nvPr/>
        </p:nvSpPr>
        <p:spPr>
          <a:xfrm>
            <a:off x="1709086" y="1455783"/>
            <a:ext cx="800219" cy="338554"/>
          </a:xfrm>
          <a:prstGeom prst="rect">
            <a:avLst/>
          </a:prstGeom>
        </p:spPr>
        <p:txBody>
          <a:bodyPr wrap="none">
            <a:spAutoFit/>
          </a:bodyPr>
          <a:lstStyle/>
          <a:p>
            <a:r>
              <a:rPr lang="zh-CN" altLang="en-US" sz="1600" dirty="0">
                <a:solidFill>
                  <a:srgbClr val="002060"/>
                </a:solidFill>
              </a:rPr>
              <a:t>作业：</a:t>
            </a:r>
          </a:p>
        </p:txBody>
      </p:sp>
      <p:sp>
        <p:nvSpPr>
          <p:cNvPr id="2" name="矩形 1"/>
          <p:cNvSpPr/>
          <p:nvPr/>
        </p:nvSpPr>
        <p:spPr>
          <a:xfrm>
            <a:off x="1691680" y="1779662"/>
            <a:ext cx="6246440" cy="2862322"/>
          </a:xfrm>
          <a:prstGeom prst="rect">
            <a:avLst/>
          </a:prstGeom>
        </p:spPr>
        <p:txBody>
          <a:bodyPr wrap="square">
            <a:spAutoFit/>
          </a:bodyPr>
          <a:lstStyle/>
          <a:p>
            <a:pPr>
              <a:spcBef>
                <a:spcPts val="600"/>
              </a:spcBef>
              <a:spcAft>
                <a:spcPts val="600"/>
              </a:spcAft>
            </a:pPr>
            <a:r>
              <a:rPr lang="en-US" altLang="zh-CN" sz="1400" dirty="0">
                <a:latin typeface="宋体" panose="02010600030101010101" pitchFamily="2" charset="-122"/>
                <a:cs typeface="宋体" panose="02010600030101010101" pitchFamily="2" charset="-122"/>
              </a:rPr>
              <a:t>1.</a:t>
            </a:r>
            <a:r>
              <a:rPr lang="zh-CN" altLang="zh-CN" sz="1400" dirty="0">
                <a:latin typeface="宋体" panose="02010600030101010101" pitchFamily="2" charset="-122"/>
                <a:cs typeface="宋体" panose="02010600030101010101" pitchFamily="2" charset="-122"/>
              </a:rPr>
              <a:t>分别采用</a:t>
            </a:r>
            <a:r>
              <a:rPr lang="en-US" altLang="zh-CN" sz="1400" i="1" dirty="0">
                <a:latin typeface="Times New Roman" panose="02020603050405020304" pitchFamily="18" charset="0"/>
                <a:cs typeface="宋体" panose="02010600030101010101" pitchFamily="2" charset="-122"/>
              </a:rPr>
              <a:t>SDH</a:t>
            </a:r>
            <a:r>
              <a:rPr lang="zh-CN" altLang="zh-CN" sz="1400" dirty="0">
                <a:latin typeface="宋体" panose="02010600030101010101" pitchFamily="2" charset="-122"/>
                <a:cs typeface="宋体" panose="02010600030101010101" pitchFamily="2" charset="-122"/>
              </a:rPr>
              <a:t>、</a:t>
            </a:r>
            <a:r>
              <a:rPr lang="en-US" altLang="zh-CN" sz="1400" i="1" dirty="0">
                <a:latin typeface="Times New Roman" panose="02020603050405020304" pitchFamily="18" charset="0"/>
                <a:cs typeface="宋体" panose="02010600030101010101" pitchFamily="2" charset="-122"/>
              </a:rPr>
              <a:t>MDH</a:t>
            </a:r>
            <a:r>
              <a:rPr lang="zh-CN" altLang="zh-CN" sz="1400" dirty="0">
                <a:latin typeface="宋体" panose="02010600030101010101" pitchFamily="2" charset="-122"/>
                <a:cs typeface="宋体" panose="02010600030101010101" pitchFamily="2" charset="-122"/>
              </a:rPr>
              <a:t>、旋量法、四元数法以及对偶四元数法编写</a:t>
            </a:r>
            <a:r>
              <a:rPr lang="en-US" altLang="zh-CN" sz="1400" dirty="0">
                <a:latin typeface="宋体" panose="02010600030101010101" pitchFamily="2" charset="-122"/>
                <a:cs typeface="宋体" panose="02010600030101010101" pitchFamily="2" charset="-122"/>
              </a:rPr>
              <a:t>AUBO-i5</a:t>
            </a:r>
            <a:r>
              <a:rPr lang="zh-CN" altLang="zh-CN" sz="1400" dirty="0">
                <a:latin typeface="宋体" panose="02010600030101010101" pitchFamily="2" charset="-122"/>
                <a:cs typeface="宋体" panose="02010600030101010101" pitchFamily="2" charset="-122"/>
              </a:rPr>
              <a:t>正运动学算法，并进行实验验证。</a:t>
            </a:r>
          </a:p>
          <a:p>
            <a:pPr>
              <a:spcBef>
                <a:spcPts val="600"/>
              </a:spcBef>
              <a:spcAft>
                <a:spcPts val="600"/>
              </a:spcAft>
            </a:pPr>
            <a:r>
              <a:rPr lang="en-US" altLang="zh-CN" sz="1400" dirty="0">
                <a:latin typeface="宋体" panose="02010600030101010101" pitchFamily="2" charset="-122"/>
                <a:cs typeface="宋体" panose="02010600030101010101" pitchFamily="2" charset="-122"/>
              </a:rPr>
              <a:t>2.</a:t>
            </a:r>
            <a:r>
              <a:rPr lang="zh-CN" altLang="zh-CN" sz="1400" dirty="0">
                <a:latin typeface="宋体" panose="02010600030101010101" pitchFamily="2" charset="-122"/>
                <a:cs typeface="宋体" panose="02010600030101010101" pitchFamily="2" charset="-122"/>
              </a:rPr>
              <a:t>分别用解析法（</a:t>
            </a:r>
            <a:r>
              <a:rPr lang="en-US" altLang="zh-CN" sz="1400" i="1" dirty="0">
                <a:latin typeface="Times New Roman" panose="02020603050405020304" pitchFamily="18" charset="0"/>
                <a:cs typeface="宋体" panose="02010600030101010101" pitchFamily="2" charset="-122"/>
              </a:rPr>
              <a:t>SDH</a:t>
            </a:r>
            <a:r>
              <a:rPr lang="zh-CN" altLang="zh-CN" sz="1400" i="1" dirty="0">
                <a:latin typeface="Times New Roman" panose="02020603050405020304" pitchFamily="18" charset="0"/>
                <a:cs typeface="Times New Roman" panose="02020603050405020304" pitchFamily="18" charset="0"/>
              </a:rPr>
              <a:t>、</a:t>
            </a:r>
            <a:r>
              <a:rPr lang="en-US" altLang="zh-CN" sz="1400" i="1" dirty="0">
                <a:latin typeface="Times New Roman" panose="02020603050405020304" pitchFamily="18" charset="0"/>
                <a:cs typeface="宋体" panose="02010600030101010101" pitchFamily="2" charset="-122"/>
              </a:rPr>
              <a:t>MDH</a:t>
            </a:r>
            <a:r>
              <a:rPr lang="zh-CN" altLang="zh-CN" sz="1400" dirty="0">
                <a:latin typeface="宋体" panose="02010600030101010101" pitchFamily="2" charset="-122"/>
                <a:cs typeface="宋体" panose="02010600030101010101" pitchFamily="2" charset="-122"/>
              </a:rPr>
              <a:t>）、解析法与几何法的混合求法、数值法（雅可比逆矩阵迭代法、雅可比转置矩阵迭代法、雅可比伪逆矩阵迭代法）编写</a:t>
            </a:r>
            <a:r>
              <a:rPr lang="en-US" altLang="zh-CN" sz="1400" i="1" dirty="0">
                <a:latin typeface="Times New Roman" panose="02020603050405020304" pitchFamily="18" charset="0"/>
                <a:cs typeface="宋体" panose="02010600030101010101" pitchFamily="2" charset="-122"/>
              </a:rPr>
              <a:t>AUBO-i5</a:t>
            </a:r>
            <a:r>
              <a:rPr lang="zh-CN" altLang="zh-CN" sz="1400" dirty="0">
                <a:latin typeface="宋体" panose="02010600030101010101" pitchFamily="2" charset="-122"/>
                <a:cs typeface="宋体" panose="02010600030101010101" pitchFamily="2" charset="-122"/>
              </a:rPr>
              <a:t>逆运动学算法，并进行实验验证。</a:t>
            </a:r>
          </a:p>
          <a:p>
            <a:pPr>
              <a:spcBef>
                <a:spcPts val="600"/>
              </a:spcBef>
              <a:spcAft>
                <a:spcPts val="600"/>
              </a:spcAft>
            </a:pPr>
            <a:r>
              <a:rPr lang="en-US" altLang="zh-CN" sz="1400" dirty="0">
                <a:latin typeface="宋体" panose="02010600030101010101" pitchFamily="2" charset="-122"/>
                <a:cs typeface="宋体" panose="02010600030101010101" pitchFamily="2" charset="-122"/>
              </a:rPr>
              <a:t>3. </a:t>
            </a:r>
            <a:r>
              <a:rPr lang="zh-CN" altLang="zh-CN" sz="1400" dirty="0">
                <a:latin typeface="宋体" panose="02010600030101010101" pitchFamily="2" charset="-122"/>
                <a:cs typeface="宋体" panose="02010600030101010101" pitchFamily="2" charset="-122"/>
              </a:rPr>
              <a:t>编程实现</a:t>
            </a:r>
            <a:r>
              <a:rPr lang="en-US" altLang="zh-CN" sz="1400" i="1" dirty="0">
                <a:latin typeface="Times New Roman" panose="02020603050405020304" pitchFamily="18" charset="0"/>
                <a:cs typeface="宋体" panose="02010600030101010101" pitchFamily="2" charset="-122"/>
              </a:rPr>
              <a:t>AUBO-i5</a:t>
            </a:r>
            <a:r>
              <a:rPr lang="zh-CN" altLang="zh-CN" sz="1400" dirty="0">
                <a:latin typeface="宋体" panose="02010600030101010101" pitchFamily="2" charset="-122"/>
                <a:cs typeface="宋体" panose="02010600030101010101" pitchFamily="2" charset="-122"/>
              </a:rPr>
              <a:t>工作空间的绘制，并进行适当分析。</a:t>
            </a:r>
          </a:p>
          <a:p>
            <a:pPr>
              <a:spcBef>
                <a:spcPts val="600"/>
              </a:spcBef>
              <a:spcAft>
                <a:spcPts val="600"/>
              </a:spcAft>
            </a:pPr>
            <a:r>
              <a:rPr lang="en-US" altLang="zh-CN" sz="1400" dirty="0">
                <a:latin typeface="宋体" panose="02010600030101010101" pitchFamily="2" charset="-122"/>
                <a:cs typeface="宋体" panose="02010600030101010101" pitchFamily="2" charset="-122"/>
              </a:rPr>
              <a:t>4. </a:t>
            </a:r>
            <a:r>
              <a:rPr lang="zh-CN" altLang="zh-CN" sz="1400" dirty="0">
                <a:latin typeface="宋体" panose="02010600030101010101" pitchFamily="2" charset="-122"/>
                <a:cs typeface="宋体" panose="02010600030101010101" pitchFamily="2" charset="-122"/>
              </a:rPr>
              <a:t>编写 </a:t>
            </a:r>
            <a:r>
              <a:rPr lang="en-US" altLang="zh-CN" sz="1400" i="1" dirty="0">
                <a:latin typeface="Times New Roman" panose="02020603050405020304" pitchFamily="18" charset="0"/>
                <a:cs typeface="宋体" panose="02010600030101010101" pitchFamily="2" charset="-122"/>
              </a:rPr>
              <a:t>delta</a:t>
            </a:r>
            <a:r>
              <a:rPr lang="zh-CN" altLang="zh-CN" sz="1400" dirty="0">
                <a:latin typeface="宋体" panose="02010600030101010101" pitchFamily="2" charset="-122"/>
                <a:cs typeface="宋体" panose="02010600030101010101" pitchFamily="2" charset="-122"/>
              </a:rPr>
              <a:t>机器人的运动学方程，进行工作空间与奇异性位形分析，并进行仿真实验。</a:t>
            </a:r>
          </a:p>
          <a:p>
            <a:pPr>
              <a:spcBef>
                <a:spcPts val="600"/>
              </a:spcBef>
              <a:spcAft>
                <a:spcPts val="600"/>
              </a:spcAft>
            </a:pPr>
            <a:r>
              <a:rPr lang="en-US" altLang="zh-CN" sz="1400" dirty="0">
                <a:latin typeface="宋体" panose="02010600030101010101" pitchFamily="2" charset="-122"/>
                <a:cs typeface="宋体" panose="02010600030101010101" pitchFamily="2" charset="-122"/>
              </a:rPr>
              <a:t>5. </a:t>
            </a:r>
            <a:r>
              <a:rPr lang="zh-CN" altLang="zh-CN" sz="1400" dirty="0">
                <a:latin typeface="宋体" panose="02010600030101010101" pitchFamily="2" charset="-122"/>
                <a:cs typeface="宋体" panose="02010600030101010101" pitchFamily="2" charset="-122"/>
              </a:rPr>
              <a:t>编程实现两轮差分驱动移动机器人、由三个全向轮组成的移动机器人以及由四个麦克拉姆轮组成的移动机器人的运动学建模。</a:t>
            </a:r>
          </a:p>
        </p:txBody>
      </p:sp>
    </p:spTree>
    <p:extLst>
      <p:ext uri="{BB962C8B-B14F-4D97-AF65-F5344CB8AC3E}">
        <p14:creationId xmlns:p14="http://schemas.microsoft.com/office/powerpoint/2010/main" val="8606477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5" name="矩形 4"/>
          <p:cNvSpPr/>
          <p:nvPr/>
        </p:nvSpPr>
        <p:spPr>
          <a:xfrm>
            <a:off x="1155383" y="2946400"/>
            <a:ext cx="7215505" cy="246221"/>
          </a:xfrm>
          <a:prstGeom prst="rect">
            <a:avLst/>
          </a:prstGeom>
        </p:spPr>
        <p:txBody>
          <a:bodyPr wrap="square">
            <a:spAutoFit/>
          </a:bodyPr>
          <a:lstStyle/>
          <a:p>
            <a:pPr algn="ctr">
              <a:lnSpc>
                <a:spcPct val="100000"/>
              </a:lnSpc>
            </a:pPr>
            <a:r>
              <a:rPr lang="zh-CN" altLang="en-US" sz="1000" dirty="0" smtClean="0">
                <a:solidFill>
                  <a:schemeClr val="tx1"/>
                </a:solidFill>
                <a:latin typeface="Arial" panose="020B0604020202020204" pitchFamily="34" charset="0"/>
                <a:ea typeface="微软雅黑" panose="020B0503020204020204" charset="-122"/>
              </a:rPr>
              <a:t>机器人学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289425" y="3444240"/>
            <a:ext cx="948055" cy="215900"/>
          </a:xfrm>
          <a:prstGeom prst="roundRect">
            <a:avLst/>
          </a:prstGeom>
          <a:no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17695" y="3429635"/>
            <a:ext cx="718466" cy="246221"/>
          </a:xfrm>
          <a:prstGeom prst="rect">
            <a:avLst/>
          </a:prstGeom>
          <a:noFill/>
        </p:spPr>
        <p:txBody>
          <a:bodyPr wrap="none" rtlCol="0">
            <a:spAutoFit/>
          </a:bodyPr>
          <a:lstStyle/>
          <a:p>
            <a:r>
              <a:rPr lang="en-US" altLang="zh-CN" sz="1000" dirty="0" smtClean="0">
                <a:latin typeface="微软雅黑" panose="020B0503020204020204" charset="-122"/>
                <a:ea typeface="微软雅黑" panose="020B0503020204020204" charset="-122"/>
              </a:rPr>
              <a:t>Robotics</a:t>
            </a:r>
            <a:endParaRPr lang="zh-CN" altLang="en-US" sz="10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0119_4*m_h_i*1_1_2"/>
  <p:tag name="KSO_WM_TEMPLATE_CATEGORY" val="diagram"/>
  <p:tag name="KSO_WM_TEMPLATE_INDEX" val="20200119"/>
  <p:tag name="KSO_WM_UNIT_LAYERLEVEL" val="1_1_1"/>
  <p:tag name="KSO_WM_TAG_VERSION" val="1.0"/>
  <p:tag name="KSO_WM_BEAUTIFY_FLAG" val="#wm#"/>
  <p:tag name="KSO_WM_UNIT_FILL_FORE_SCHEMECOLOR_INDEX" val="5"/>
  <p:tag name="KSO_WM_UNI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5"/>
  <p:tag name="KSO_WM_UNIT_ID" val="diagram20200119_4*m_h_i*1_3_5"/>
  <p:tag name="KSO_WM_TEMPLATE_CATEGORY" val="diagram"/>
  <p:tag name="KSO_WM_TEMPLATE_INDEX" val="20200119"/>
  <p:tag name="KSO_WM_UNIT_LAYERLEVEL" val="1_1_1"/>
  <p:tag name="KSO_WM_TAG_VERSION" val="1.0"/>
  <p:tag name="KSO_WM_BEAUTIFY_FLAG" val="#wm#"/>
  <p:tag name="KSO_WM_UNIT_FILL_FORE_SCHEMECOLOR_INDEX" val="7"/>
  <p:tag name="KSO_WM_UNI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4"/>
  <p:tag name="KSO_WM_UNIT_ID" val="diagram20200119_4*m_h_i*1_5_4"/>
  <p:tag name="KSO_WM_TEMPLATE_CATEGORY" val="diagram"/>
  <p:tag name="KSO_WM_TEMPLATE_INDEX" val="20200119"/>
  <p:tag name="KSO_WM_UNIT_LAYERLEVEL" val="1_1_1"/>
  <p:tag name="KSO_WM_TAG_VERSION" val="1.0"/>
  <p:tag name="KSO_WM_BEAUTIFY_FLAG" val="#wm#"/>
  <p:tag name="KSO_WM_UNIT_FILL_FORE_SCHEMECOLOR_INDEX" val="9"/>
  <p:tag name="KSO_WM_UNI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0119_4*m_h_i*1_1_1"/>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3"/>
  <p:tag name="KSO_WM_UNIT_ID" val="diagram20200119_4*m_h_i*1_5_3"/>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00119_4*m_h_i*1_5_2"/>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0119_4*m_h_i*1_3_4"/>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0119_4*m_h_i*1_3_3"/>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0119_4*m_h_i*1_3_2"/>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0119_4*m_h_a*1_1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0119_4*m_h_f*1_2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00119_4*m_h_a*1_3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0119_4*m_h_f*1_3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200119_4*m_h_a*1_4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00119_4*m_h_f*1_4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0119_4*m_h_i*1_1_2"/>
  <p:tag name="KSO_WM_TEMPLATE_CATEGORY" val="diagram"/>
  <p:tag name="KSO_WM_TEMPLATE_INDEX" val="20200119"/>
  <p:tag name="KSO_WM_UNIT_LAYERLEVEL" val="1_1_1"/>
  <p:tag name="KSO_WM_TAG_VERSION" val="1.0"/>
  <p:tag name="KSO_WM_BEAUTIFY_FLAG" val="#wm#"/>
  <p:tag name="KSO_WM_UNIT_FILL_FORE_SCHEMECOLOR_INDEX" val="5"/>
  <p:tag name="KSO_WM_UNI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0119_4*m_h_i*1_1_1"/>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0119_4*m_h_a*1_1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0119_4*m_h_f*1_2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0119_4*m_h_i*1_1_2"/>
  <p:tag name="KSO_WM_TEMPLATE_CATEGORY" val="diagram"/>
  <p:tag name="KSO_WM_TEMPLATE_INDEX" val="20200119"/>
  <p:tag name="KSO_WM_UNIT_LAYERLEVEL" val="1_1_1"/>
  <p:tag name="KSO_WM_TAG_VERSION" val="1.0"/>
  <p:tag name="KSO_WM_BEAUTIFY_FLAG" val="#wm#"/>
  <p:tag name="KSO_WM_UNIT_FILL_FORE_SCHEMECOLOR_INDEX" val="5"/>
  <p:tag name="KSO_WM_UNI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0119_4*m_h_i*1_1_1"/>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0119_4*m_h_a*1_1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0119_4*m_h_f*1_2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0119_4*m_h_i*1_1_2"/>
  <p:tag name="KSO_WM_TEMPLATE_CATEGORY" val="diagram"/>
  <p:tag name="KSO_WM_TEMPLATE_INDEX" val="20200119"/>
  <p:tag name="KSO_WM_UNIT_LAYERLEVEL" val="1_1_1"/>
  <p:tag name="KSO_WM_TAG_VERSION" val="1.0"/>
  <p:tag name="KSO_WM_BEAUTIFY_FLAG" val="#wm#"/>
  <p:tag name="KSO_WM_UNIT_FILL_FORE_SCHEMECOLOR_INDEX" val="5"/>
  <p:tag name="KSO_WM_UNI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0119_4*m_h_i*1_1_1"/>
  <p:tag name="KSO_WM_TEMPLATE_CATEGORY" val="diagram"/>
  <p:tag name="KSO_WM_TEMPLATE_INDEX" val="20200119"/>
  <p:tag name="KSO_WM_UNIT_LAYERLEVEL" val="1_1_1"/>
  <p:tag name="KSO_WM_TAG_VERSION" val="1.0"/>
  <p:tag name="KSO_WM_BEAUTIFY_FLAG" val="#wm#"/>
  <p:tag name="KSO_WM_UNIT_FILL_FORE_SCHEMECOLOR_INDEX" val="14"/>
  <p:tag name="KSO_WM_UNI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0119_4*m_h_a*1_1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0119_4*m_h_f*1_2_1"/>
  <p:tag name="KSO_WM_TEMPLATE_CATEGORY" val="diagram"/>
  <p:tag name="KSO_WM_TEMPLATE_INDEX" val="20200119"/>
  <p:tag name="KSO_WM_UNIT_LAYERLEVEL" val="1_1_1"/>
  <p:tag name="KSO_WM_TAG_VERSION" val="1.0"/>
  <p:tag name="KSO_WM_BEAUTIFY_FLAG" val="#wm#"/>
  <p:tag name="KSO_WM_UNIT_TEXT_FILL_FORE_SCHEMECOLOR_INDEX" val="13"/>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15256</Words>
  <Application>Microsoft Office PowerPoint</Application>
  <PresentationFormat>全屏显示(16:9)</PresentationFormat>
  <Paragraphs>636</Paragraphs>
  <Slides>40</Slides>
  <Notes>38</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40</vt:i4>
      </vt:variant>
    </vt:vector>
  </HeadingPairs>
  <TitlesOfParts>
    <vt:vector size="56" baseType="lpstr">
      <vt:lpstr>Lato</vt:lpstr>
      <vt:lpstr>等线</vt:lpstr>
      <vt:lpstr>楷体</vt:lpstr>
      <vt:lpstr>楷体_GB2312</vt:lpstr>
      <vt:lpstr>宋体</vt:lpstr>
      <vt:lpstr>宋体-简</vt:lpstr>
      <vt:lpstr>微软雅黑</vt:lpstr>
      <vt:lpstr>Arial</vt:lpstr>
      <vt:lpstr>Calibri</vt:lpstr>
      <vt:lpstr>Cambria Math</vt:lpstr>
      <vt:lpstr>Impact</vt:lpstr>
      <vt:lpstr>Times New Roman</vt:lpstr>
      <vt:lpstr>Wingdings</vt:lpstr>
      <vt:lpstr>Office 主题​​</vt:lpstr>
      <vt:lpstr>自定义设计方案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created xsi:type="dcterms:W3CDTF">2017-03-24T14:39:00Z</dcterms:created>
  <dcterms:modified xsi:type="dcterms:W3CDTF">2024-04-02T09:50:39Z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